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8.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48.xml"/><Relationship Id="rId11"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t7FcK8jV2yA" TargetMode="Externa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9.xml"/><Relationship Id="rId4" Type="http://schemas.openxmlformats.org/officeDocument/2006/relationships/slide" Target="slide30.xml"/><Relationship Id="rId5" Type="http://schemas.openxmlformats.org/officeDocument/2006/relationships/slide" Target="slide31.xml"/><Relationship Id="rId6"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 Target="slide36.xml"/><Relationship Id="rId6"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problem-solving.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1093596"/>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PROFESSIONAL SKILLS</a:t>
            </a:r>
          </a:p>
        </p:txBody>
      </p:sp>
      <p:sp>
        <p:nvSpPr>
          <p:cNvPr id="8" name="title:cover"/>
          <p:cNvSpPr txBox="1"/>
          <p:nvPr/>
        </p:nvSpPr>
        <p:spPr>
          <a:xfrm>
            <a:off x="841248" y="1550796"/>
            <a:ext cx="4187952" cy="764794"/>
          </a:xfrm>
          <a:prstGeom prst="rect">
            <a:avLst/>
          </a:prstGeom>
          <a:noFill/>
        </p:spPr>
        <p:txBody>
          <a:bodyPr wrap="square" lIns="0" rIns="0" tIns="0" bIns="0" anchor="t">
            <a:spAutoFit/>
          </a:bodyPr>
          <a:lstStyle/>
          <a:p>
            <a:pPr algn="l">
              <a:lnSpc>
                <a:spcPts val="5590"/>
              </a:lnSpc>
              <a:spcBef>
                <a:spcPts val="0"/>
              </a:spcBef>
              <a:spcAft>
                <a:spcPts val="0"/>
              </a:spcAft>
            </a:pPr>
            <a:r>
              <a:rPr sz="4300" b="0">
                <a:solidFill>
                  <a:srgbClr val="FFFFFF"/>
                </a:solidFill>
                <a:latin typeface="Segoe UI Semibold"/>
              </a:rPr>
              <a:t>Problem-Solving</a:t>
            </a:r>
          </a:p>
        </p:txBody>
      </p:sp>
      <p:cxnSp>
        <p:nvCxnSpPr>
          <p:cNvPr id="9" name="vis:rule"/>
          <p:cNvCxnSpPr/>
          <p:nvPr/>
        </p:nvCxnSpPr>
        <p:spPr>
          <a:xfrm>
            <a:off x="841248" y="2589911"/>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2864231"/>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Finding the actual cause before you spend a fortnight fixing the wrong thing.</a:t>
            </a:r>
          </a:p>
        </p:txBody>
      </p:sp>
      <p:sp>
        <p:nvSpPr>
          <p:cNvPr id="11" name="vis:chip"/>
          <p:cNvSpPr/>
          <p:nvPr/>
        </p:nvSpPr>
        <p:spPr>
          <a:xfrm>
            <a:off x="841248" y="4411091"/>
            <a:ext cx="961009" cy="310896"/>
          </a:xfrm>
          <a:prstGeom prst="roundRect">
            <a:avLst>
              <a:gd name="adj" fmla="val 14705"/>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456810"/>
            <a:ext cx="6501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PS-06</a:t>
            </a:r>
          </a:p>
        </p:txBody>
      </p:sp>
      <p:sp>
        <p:nvSpPr>
          <p:cNvPr id="13" name="vis:chip"/>
          <p:cNvSpPr/>
          <p:nvPr/>
        </p:nvSpPr>
        <p:spPr>
          <a:xfrm>
            <a:off x="1948561" y="4411091"/>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04009" y="4456810"/>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5" name="vis:chip"/>
          <p:cNvSpPr/>
          <p:nvPr/>
        </p:nvSpPr>
        <p:spPr>
          <a:xfrm>
            <a:off x="841248" y="4831715"/>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4877434"/>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PS-06  ·  Problem-Solving</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Bhavesh fixes it three times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17049" y="2252257"/>
            <a:ext cx="288477" cy="269731"/>
          </a:xfrm>
          <a:custGeom>
            <a:avLst/>
            <a:gdLst/>
            <a:ahLst/>
            <a:cxnLst/>
            <a:rect l="l" t="t" r="r" b="b"/>
            <a:pathLst>
              <a:path w="288477" h="269731">
                <a:moveTo>
                  <a:pt x="216513" y="0"/>
                </a:moveTo>
                <a:lnTo>
                  <a:pt x="252916" y="29875"/>
                </a:lnTo>
                <a:lnTo>
                  <a:pt x="277784" y="69866"/>
                </a:lnTo>
                <a:lnTo>
                  <a:pt x="288477" y="115729"/>
                </a:lnTo>
                <a:lnTo>
                  <a:pt x="283861" y="162594"/>
                </a:lnTo>
                <a:lnTo>
                  <a:pt x="264426" y="205489"/>
                </a:lnTo>
                <a:lnTo>
                  <a:pt x="232234" y="239860"/>
                </a:lnTo>
                <a:lnTo>
                  <a:pt x="190702" y="262060"/>
                </a:lnTo>
                <a:lnTo>
                  <a:pt x="144239" y="269731"/>
                </a:lnTo>
                <a:lnTo>
                  <a:pt x="97775" y="262060"/>
                </a:lnTo>
                <a:lnTo>
                  <a:pt x="56243" y="239860"/>
                </a:lnTo>
                <a:lnTo>
                  <a:pt x="24051" y="205489"/>
                </a:lnTo>
                <a:lnTo>
                  <a:pt x="4616" y="162594"/>
                </a:lnTo>
                <a:lnTo>
                  <a:pt x="0" y="115729"/>
                </a:lnTo>
                <a:lnTo>
                  <a:pt x="10693" y="69866"/>
                </a:lnTo>
                <a:lnTo>
                  <a:pt x="35561" y="29875"/>
                </a:lnTo>
                <a:lnTo>
                  <a:pt x="71964" y="0"/>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is:icon"/>
          <p:cNvSpPr/>
          <p:nvPr/>
        </p:nvSpPr>
        <p:spPr>
          <a:xfrm>
            <a:off x="1072752" y="2223496"/>
            <a:ext cx="66492" cy="57096"/>
          </a:xfrm>
          <a:custGeom>
            <a:avLst/>
            <a:gdLst/>
            <a:ahLst/>
            <a:cxnLst/>
            <a:rect l="l" t="t" r="r" b="b"/>
            <a:pathLst>
              <a:path w="66492" h="57096">
                <a:moveTo>
                  <a:pt x="66492" y="0"/>
                </a:moveTo>
                <a:lnTo>
                  <a:pt x="32523" y="57096"/>
                </a:lnTo>
                <a:lnTo>
                  <a:pt x="0" y="722"/>
                </a:lnTo>
                <a:close/>
              </a:path>
            </a:pathLst>
          </a:cu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Bhavesh maintains packing machines in Rajkot. The sealer keeps jamming. He replaces the belt in March, the roller in May and the motor in July. It jams again in August. Nobody has asked why it started jamming in February.</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Three repairs, three shutdowns, and the same fault.</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Five questions before any money is spent.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25094" y="1969559"/>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is:icon"/>
          <p:cNvSpPr/>
          <p:nvPr/>
        </p:nvSpPr>
        <p:spPr>
          <a:xfrm>
            <a:off x="1019431" y="2034415"/>
            <a:ext cx="82544" cy="8254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Separate the symptom from the cause, deliberately</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933938" y="2862723"/>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1007639" y="2883359"/>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4" name="vis:icon"/>
          <p:cNvSpPr/>
          <p:nvPr/>
        </p:nvSpPr>
        <p:spPr>
          <a:xfrm>
            <a:off x="933938" y="2951163"/>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1007639" y="2971800"/>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33938" y="3039604"/>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007639" y="3060240"/>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8"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Use five questions to reach the real cause in ten minutes</a:t>
            </a:r>
          </a:p>
        </p:txBody>
      </p:sp>
      <p:sp>
        <p:nvSpPr>
          <p:cNvPr id="29"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954575" y="3873808"/>
            <a:ext cx="76648" cy="7664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1031223" y="3785367"/>
            <a:ext cx="141505" cy="1650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Test a suspected cause before committing to a fix</a:t>
            </a:r>
          </a:p>
        </p:txBody>
      </p:sp>
      <p:sp>
        <p:nvSpPr>
          <p:cNvPr id="34"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930990" y="4634310"/>
            <a:ext cx="259426" cy="25942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flipV="1">
            <a:off x="1060704" y="4687375"/>
            <a:ext cx="0" cy="7664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60704" y="4764024"/>
            <a:ext cx="64856" cy="2358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when to stop analysing and just try something</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1004691" y="5533370"/>
            <a:ext cx="112024" cy="11202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942782" y="5689616"/>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up a problem so somebody else can help you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Symptom and cause</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Fixing the wrong thing</a:t>
            </a:r>
          </a:p>
        </p:txBody>
      </p:sp>
      <p:cxnSp>
        <p:nvCxnSpPr>
          <p:cNvPr id="13" name="vis:menuarrow"/>
          <p:cNvCxnSpPr/>
          <p:nvPr/>
        </p:nvCxnSpPr>
        <p:spPr>
          <a:xfrm>
            <a:off x="11213287" y="1997049"/>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Five whys</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Ten minutes, no cost</a:t>
            </a:r>
          </a:p>
        </p:txBody>
      </p:sp>
      <p:cxnSp>
        <p:nvCxnSpPr>
          <p:cNvPr id="19" name="vis:menuarrow"/>
          <p:cNvCxnSpPr/>
          <p:nvPr/>
        </p:nvCxnSpPr>
        <p:spPr>
          <a:xfrm>
            <a:off x="11213287" y="242498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Testing before spending</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cheap experiment</a:t>
            </a:r>
          </a:p>
        </p:txBody>
      </p:sp>
      <p:cxnSp>
        <p:nvCxnSpPr>
          <p:cNvPr id="25" name="vis:menuarrow"/>
          <p:cNvCxnSpPr/>
          <p:nvPr/>
        </p:nvCxnSpPr>
        <p:spPr>
          <a:xfrm>
            <a:off x="11213287" y="285292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When to stop analysing</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Analysis has a limit</a:t>
            </a:r>
          </a:p>
        </p:txBody>
      </p:sp>
      <p:cxnSp>
        <p:nvCxnSpPr>
          <p:cNvPr id="31" name="vis:menuarrow"/>
          <p:cNvCxnSpPr/>
          <p:nvPr/>
        </p:nvCxnSpPr>
        <p:spPr>
          <a:xfrm>
            <a:off x="11213287" y="3280867"/>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Work through a real problem</a:t>
            </a:r>
          </a:p>
        </p:txBody>
      </p:sp>
      <p:cxnSp>
        <p:nvCxnSpPr>
          <p:cNvPr id="37" name="vis:menuarrow"/>
          <p:cNvCxnSpPr/>
          <p:nvPr/>
        </p:nvCxnSpPr>
        <p:spPr>
          <a:xfrm>
            <a:off x="11213287" y="3708806"/>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breakdown decision</a:t>
            </a:r>
          </a:p>
        </p:txBody>
      </p:sp>
      <p:cxnSp>
        <p:nvCxnSpPr>
          <p:cNvPr id="43" name="vis:menuarrow"/>
          <p:cNvCxnSpPr/>
          <p:nvPr/>
        </p:nvCxnSpPr>
        <p:spPr>
          <a:xfrm>
            <a:off x="11213287" y="4136745"/>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An 8-minute outside explainer</a:t>
            </a:r>
          </a:p>
        </p:txBody>
      </p:sp>
      <p:cxnSp>
        <p:nvCxnSpPr>
          <p:cNvPr id="49" name="vis:menuarrow"/>
          <p:cNvCxnSpPr/>
          <p:nvPr/>
        </p:nvCxnSpPr>
        <p:spPr>
          <a:xfrm>
            <a:off x="11213287" y="456468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SYMPTOM AND CAUSE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Fixing what you can see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symptom is what interrupts you. The cause is usually somewhere quieter, and further back.</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167718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36629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THE SYMPTOM</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What you notice</a:t>
            </a:r>
          </a:p>
        </p:txBody>
      </p:sp>
      <p:cxnSp>
        <p:nvCxnSpPr>
          <p:cNvPr id="21" name="vis:icon"/>
          <p:cNvCxnSpPr/>
          <p:nvPr/>
        </p:nvCxnSpPr>
        <p:spPr>
          <a:xfrm>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H="1">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sealer jams</a:t>
            </a:r>
          </a:p>
        </p:txBody>
      </p:sp>
      <p:cxnSp>
        <p:nvCxnSpPr>
          <p:cNvPr id="24" name="vis:icon"/>
          <p:cNvCxnSpPr/>
          <p:nvPr/>
        </p:nvCxnSpPr>
        <p:spPr>
          <a:xfrm>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H="1">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report is late every month</a:t>
            </a:r>
          </a:p>
        </p:txBody>
      </p:sp>
      <p:cxnSp>
        <p:nvCxnSpPr>
          <p:cNvPr id="27" name="vis:icon"/>
          <p:cNvCxnSpPr/>
          <p:nvPr/>
        </p:nvCxnSpPr>
        <p:spPr>
          <a:xfrm>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H="1">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customer complains about damage</a:t>
            </a:r>
          </a:p>
        </p:txBody>
      </p:sp>
      <p:cxnSp>
        <p:nvCxnSpPr>
          <p:cNvPr id="30" name="vis:icon"/>
          <p:cNvCxnSpPr/>
          <p:nvPr/>
        </p:nvCxnSpPr>
        <p:spPr>
          <a:xfrm>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H="1">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Fixing this brings it back next month</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138450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10736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THE CAUSE</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What actually changed</a:t>
            </a:r>
          </a:p>
        </p:txBody>
      </p:sp>
      <p:cxnSp>
        <p:nvCxnSpPr>
          <p:cNvPr id="38" name="vis:icon"/>
          <p:cNvCxnSpPr/>
          <p:nvPr/>
        </p:nvCxnSpPr>
        <p:spPr>
          <a:xfrm>
            <a:off x="6560362" y="414131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6607911" y="408645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Film thickness changed with a new supplier</a:t>
            </a:r>
          </a:p>
        </p:txBody>
      </p:sp>
      <p:cxnSp>
        <p:nvCxnSpPr>
          <p:cNvPr id="41" name="vis:icon"/>
          <p:cNvCxnSpPr/>
          <p:nvPr/>
        </p:nvCxnSpPr>
        <p:spPr>
          <a:xfrm>
            <a:off x="6560362" y="458937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6607911" y="453450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source data arrives two days late</a:t>
            </a:r>
          </a:p>
        </p:txBody>
      </p:sp>
      <p:cxnSp>
        <p:nvCxnSpPr>
          <p:cNvPr id="44" name="vis:icon"/>
          <p:cNvCxnSpPr/>
          <p:nvPr/>
        </p:nvCxnSpPr>
        <p:spPr>
          <a:xfrm>
            <a:off x="6560362" y="503742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V="1">
            <a:off x="6607911" y="498256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Pallets are being stacked one layer higher</a:t>
            </a:r>
          </a:p>
        </p:txBody>
      </p:sp>
      <p:cxnSp>
        <p:nvCxnSpPr>
          <p:cNvPr id="47" name="vis:icon"/>
          <p:cNvCxnSpPr/>
          <p:nvPr/>
        </p:nvCxnSpPr>
        <p:spPr>
          <a:xfrm>
            <a:off x="6560362" y="548548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V="1">
            <a:off x="6607911" y="543062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Fixing this ends it permanently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SYMPTOM AND CAUSE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question nobody asks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broke</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Everyone focuses here, because it hurts.</a:t>
            </a:r>
          </a:p>
        </p:txBody>
      </p:sp>
      <p:cxnSp>
        <p:nvCxnSpPr>
          <p:cNvPr id="20" name="vis:flowarrow"/>
          <p:cNvCxnSpPr/>
          <p:nvPr/>
        </p:nvCxnSpPr>
        <p:spPr>
          <a:xfrm>
            <a:off x="3093643"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When did it start?</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single most useful question there is.</a:t>
            </a:r>
          </a:p>
        </p:txBody>
      </p:sp>
      <p:cxnSp>
        <p:nvCxnSpPr>
          <p:cNvPr id="26" name="vis:flowarrow"/>
          <p:cNvCxnSpPr/>
          <p:nvPr/>
        </p:nvCxnSpPr>
        <p:spPr>
          <a:xfrm>
            <a:off x="5986119"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What changed then?</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Suppliers, people, settings, volumes, weather.</a:t>
            </a:r>
          </a:p>
        </p:txBody>
      </p:sp>
      <p:cxnSp>
        <p:nvCxnSpPr>
          <p:cNvPr id="32" name="vis:flowarrow"/>
          <p:cNvCxnSpPr/>
          <p:nvPr/>
        </p:nvCxnSpPr>
        <p:spPr>
          <a:xfrm>
            <a:off x="8878595"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That is your candidate</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Test it before spending anything.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FIVE WHYS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whys, ten minutes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structure</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The sealer jams. Why? — The film is not feeding evenly. Why? — The tension arm is slipping. Why? — The film roll is heavier than before. Why? — We changed supplier in February. Why? — The new film is 20 microns thicker.</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Stop when the answer is something you can actually change.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Each answer must be a fact, not a guess.</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If you cannot answer a why, that is what to go and check.</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Five is a guide. Sometimes three is enough.</a:t>
            </a:r>
          </a:p>
        </p:txBody>
      </p:sp>
      <p:sp>
        <p:nvSpPr>
          <p:cNvPr id="39"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40" name="vis:chip"/>
          <p:cNvSpPr/>
          <p:nvPr/>
        </p:nvSpPr>
        <p:spPr>
          <a:xfrm>
            <a:off x="2221991" y="5660136"/>
            <a:ext cx="1712700"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chiptext"/>
          <p:cNvSpPr txBox="1"/>
          <p:nvPr/>
        </p:nvSpPr>
        <p:spPr>
          <a:xfrm>
            <a:off x="2377439" y="5687568"/>
            <a:ext cx="140180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ROOT CAUSE  ?</a:t>
            </a:r>
          </a:p>
        </p:txBody>
      </p:sp>
      <p:sp>
        <p:nvSpPr>
          <p:cNvPr id="42" name="nav:gloss">
            <a:hlinkClick action="ppaction://hlinksldjump" r:id="rId3"/>
          </p:cNvPr>
          <p:cNvSpPr/>
          <p:nvPr/>
        </p:nvSpPr>
        <p:spPr>
          <a:xfrm>
            <a:off x="2221991" y="5660136"/>
            <a:ext cx="1712700"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FIVE WHYS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the chain goes wrong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203911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210769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Answering with a guess</a:t>
            </a:r>
          </a:p>
        </p:txBody>
      </p:sp>
      <p:cxnSp>
        <p:nvCxnSpPr>
          <p:cNvPr id="20" name="vis:line"/>
          <p:cNvCxnSpPr/>
          <p:nvPr/>
        </p:nvCxnSpPr>
        <p:spPr>
          <a:xfrm>
            <a:off x="6008686" y="1865376"/>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One guessed link and everything after it is fiction, confidently pursued.</a:t>
            </a:r>
          </a:p>
        </p:txBody>
      </p:sp>
      <p:sp>
        <p:nvSpPr>
          <p:cNvPr id="22" name="vis:mistake"/>
          <p:cNvSpPr/>
          <p:nvPr/>
        </p:nvSpPr>
        <p:spPr>
          <a:xfrm>
            <a:off x="502920" y="2834639"/>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834639"/>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315467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322326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926079"/>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Stopping at "human error"</a:t>
            </a:r>
          </a:p>
        </p:txBody>
      </p:sp>
      <p:cxnSp>
        <p:nvCxnSpPr>
          <p:cNvPr id="27" name="vis:line"/>
          <p:cNvCxnSpPr/>
          <p:nvPr/>
        </p:nvCxnSpPr>
        <p:spPr>
          <a:xfrm>
            <a:off x="6008686" y="2980944"/>
            <a:ext cx="0" cy="658367"/>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926079"/>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Almost never the end. Why was the error possible, and why was it not caught?</a:t>
            </a:r>
          </a:p>
        </p:txBody>
      </p:sp>
      <p:sp>
        <p:nvSpPr>
          <p:cNvPr id="29" name="vis:mistake"/>
          <p:cNvSpPr/>
          <p:nvPr/>
        </p:nvSpPr>
        <p:spPr>
          <a:xfrm>
            <a:off x="502920" y="3950208"/>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950208"/>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427024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433882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4041648"/>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Stopping at something you cannot change</a:t>
            </a:r>
          </a:p>
        </p:txBody>
      </p:sp>
      <p:cxnSp>
        <p:nvCxnSpPr>
          <p:cNvPr id="34" name="vis:line"/>
          <p:cNvCxnSpPr/>
          <p:nvPr/>
        </p:nvCxnSpPr>
        <p:spPr>
          <a:xfrm>
            <a:off x="6008686" y="4096512"/>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4041648"/>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"Because it is monsoon season" ends the chain without producing an action.</a:t>
            </a:r>
          </a:p>
        </p:txBody>
      </p:sp>
      <p:sp>
        <p:nvSpPr>
          <p:cNvPr id="36" name="vis:mistake"/>
          <p:cNvSpPr/>
          <p:nvPr/>
        </p:nvSpPr>
        <p:spPr>
          <a:xfrm>
            <a:off x="502920" y="5065776"/>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5065776"/>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538581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5454396"/>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5157216"/>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Only asking why once</a:t>
            </a:r>
          </a:p>
        </p:txBody>
      </p:sp>
      <p:cxnSp>
        <p:nvCxnSpPr>
          <p:cNvPr id="41" name="vis:line"/>
          <p:cNvCxnSpPr/>
          <p:nvPr/>
        </p:nvCxnSpPr>
        <p:spPr>
          <a:xfrm>
            <a:off x="6008686" y="5212080"/>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5157216"/>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first answer is the symptom wearing a different coat.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TESTING BEFORE SPENDING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cheap experiment first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Before you spend money or a fortnight, find the smallest test that would prove you wrong.</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REVERSE IT — put the old film back on one machine for a day</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ISOLATE IT — run one line with the suspected cause removed</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COMPARE — is the fault on all machines, or only this one?</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TIMELINE — does the fault date match the change 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TESTING BEFORE SPENDING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day beats three repairs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59994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28904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FIXING WITHOUT TESTING</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Replace the belt. It jams again in six weeks.</a:t>
            </a:r>
          </a:p>
          <a:p>
            <a:pPr algn="l">
              <a:lnSpc>
                <a:spcPts val="1690"/>
              </a:lnSpc>
              <a:spcBef>
                <a:spcPts val="0"/>
              </a:spcBef>
              <a:spcAft>
                <a:spcPts val="600"/>
              </a:spcAft>
            </a:pPr>
            <a:r>
              <a:rPr sz="1300" b="0">
                <a:solidFill>
                  <a:srgbClr val="2A3547"/>
                </a:solidFill>
                <a:latin typeface="Segoe UI"/>
              </a:rPr>
              <a:t>Replace the roller. It jams again in eight weeks.</a:t>
            </a:r>
          </a:p>
          <a:p>
            <a:pPr algn="l">
              <a:lnSpc>
                <a:spcPts val="1690"/>
              </a:lnSpc>
              <a:spcBef>
                <a:spcPts val="0"/>
              </a:spcBef>
              <a:spcAft>
                <a:spcPts val="600"/>
              </a:spcAft>
            </a:pPr>
            <a:r>
              <a:rPr sz="1300" b="0">
                <a:solidFill>
                  <a:srgbClr val="2A3547"/>
                </a:solidFill>
                <a:latin typeface="Segoe UI"/>
              </a:rPr>
              <a:t>Three parts, three shutdowns, same fault in August.</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223775"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91287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ONE DAY OF TESTING</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Run the old film on one machine for a single shift.</a:t>
            </a:r>
          </a:p>
          <a:p>
            <a:pPr algn="l">
              <a:lnSpc>
                <a:spcPts val="1690"/>
              </a:lnSpc>
              <a:spcBef>
                <a:spcPts val="0"/>
              </a:spcBef>
              <a:spcAft>
                <a:spcPts val="600"/>
              </a:spcAft>
            </a:pPr>
            <a:r>
              <a:rPr sz="1300" b="0">
                <a:solidFill>
                  <a:srgbClr val="2A3547"/>
                </a:solidFill>
                <a:latin typeface="Segoe UI"/>
              </a:rPr>
              <a:t>No jams on that machine. Jams on the other three.</a:t>
            </a:r>
          </a:p>
          <a:p>
            <a:pPr algn="l">
              <a:lnSpc>
                <a:spcPts val="1690"/>
              </a:lnSpc>
              <a:spcBef>
                <a:spcPts val="0"/>
              </a:spcBef>
              <a:spcAft>
                <a:spcPts val="600"/>
              </a:spcAft>
            </a:pPr>
            <a:r>
              <a:rPr sz="1300" b="0">
                <a:solidFill>
                  <a:srgbClr val="2A3547"/>
                </a:solidFill>
                <a:latin typeface="Segoe UI"/>
              </a:rPr>
              <a:t>Cause confirmed for the cost of one day and no parts.</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 test that could prove you wrong is worth more than three fixes that assumed you were right.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WHEN TO STOP ANALYSING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Analysis has a limit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the fix cheaper than another day of investigation?</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Keep digging</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the fix costs real money, a shutdown, or is hard to undo, another day of asking why is very well spent indeed.</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Just try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a change costs an hour and reverses easily, trying it is the cheapest experiment available. Analysis is not free either.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WHEN TO STOP ANALYSING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Write it up so others can help</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PROBLEM: what is happening, in one sentence. STARTED: the date it first appeared. CHANGED THEN: anything that changed around that date. RULED OUT: what we have already tested and eliminated. NEXT TEST: the cheapest thing that would prove us wrong.</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Five lines. Anybody can now help you without a meeting.</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172364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41274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WHY IT WORKS</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"Started" and "changed then" together do most of the diagnostic work.</a:t>
            </a:r>
          </a:p>
          <a:p>
            <a:pPr algn="l">
              <a:lnSpc>
                <a:spcPts val="1690"/>
              </a:lnSpc>
              <a:spcBef>
                <a:spcPts val="0"/>
              </a:spcBef>
              <a:spcAft>
                <a:spcPts val="600"/>
              </a:spcAft>
            </a:pPr>
            <a:r>
              <a:rPr sz="1300" b="0">
                <a:solidFill>
                  <a:srgbClr val="2A3547"/>
                </a:solidFill>
                <a:latin typeface="Segoe UI"/>
              </a:rPr>
              <a:t>"Ruled out" stops three colleagues suggesting the same thing.</a:t>
            </a:r>
          </a:p>
          <a:p>
            <a:pPr algn="l">
              <a:lnSpc>
                <a:spcPts val="1690"/>
              </a:lnSpc>
              <a:spcBef>
                <a:spcPts val="0"/>
              </a:spcBef>
              <a:spcAft>
                <a:spcPts val="600"/>
              </a:spcAft>
            </a:pPr>
            <a:r>
              <a:rPr sz="1300" b="0">
                <a:solidFill>
                  <a:srgbClr val="2A3547"/>
                </a:solidFill>
                <a:latin typeface="Segoe UI"/>
              </a:rPr>
              <a:t>"Next test" turns a complaint into a plan somebody can act 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one real problem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Pick something that keeps coming back.</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exactly when it first appeared.</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List everything that changed in that fortnight.</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Design the cheapest test that would prove you wrong.</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have a recurring problem. Ask me one question at a time to work through five whys. Do not suggest causes yourself and do not skip ahead. If I answer with a guess rather than a fact, say so and ask how I could check it.</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"Do not suggest causes yourself" is what keeps this honest.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having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Ask when it started before asking what is wrong.</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Write the five whys down. Chains kept in the head skip links.</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Design a test that could prove you wrong, not right.</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Record what you ruled out, so nobody retests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Replacing the part that broke</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part broke for a reason. The new one will meet the same reason.</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Stopping the chain at human error</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real question is why the error was possible and why nothing caught it.</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Testing to confirm rather than to disprove</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will find confirmation for almost any theory if that is what you look for.</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Not writing down what was ruled out</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Three people test the same thing across two months and nobody knows.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Analysing something that costs an hour to just try</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Analysis is not free. Cheap, reversible fixes are their own experiment.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Problems that are not technical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late report</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Started in April. What changed? The source data moved to a different team.</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61435" y="2193652"/>
            <a:ext cx="130093" cy="13009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repeated complaint</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Started when a shift pattern changed. Nobody connected the two.</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595906" y="2210770"/>
            <a:ext cx="301269" cy="260187"/>
          </a:xfrm>
          <a:prstGeom prst="roundRect">
            <a:avLst>
              <a:gd name="adj" fmla="val 17571"/>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8595906" y="2292934"/>
            <a:ext cx="301269"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a:off x="8712305" y="2210770"/>
            <a:ext cx="0" cy="26018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a:off x="8595906" y="2381946"/>
            <a:ext cx="301269"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rising rejection rate</a:t>
            </a:r>
          </a:p>
        </p:txBody>
      </p:sp>
      <p:sp>
        <p:nvSpPr>
          <p:cNvPr id="35"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Started with a new material grade, three weeks before anyone noticed.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problem-solving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Ask when it started, find what changed then, and test that before you spend anything.</a:t>
            </a:r>
          </a:p>
          <a:p>
            <a:pPr algn="l">
              <a:lnSpc>
                <a:spcPts val="1755"/>
              </a:lnSpc>
              <a:spcBef>
                <a:spcPts val="0"/>
              </a:spcBef>
              <a:spcAft>
                <a:spcPts val="0"/>
              </a:spcAft>
            </a:pPr>
            <a:r>
              <a:rPr sz="1350" b="0">
                <a:solidFill>
                  <a:srgbClr val="FFFFFF"/>
                </a:solidFill>
                <a:latin typeface="Segoe UI"/>
              </a:rPr>
              <a:t>Most recurring problems at work have a start date and a change beside it.</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When did it start?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changed then?</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would prove me wrong?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Wednesday, 7:20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The sealer has jammed again, the third time this quarter. Production is stopped. Your supervisor wants to order a new motor today.</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Order the motor — it is the one part not yet replaced.</a:t>
            </a:r>
          </a:p>
        </p:txBody>
      </p:sp>
      <p:cxnSp>
        <p:nvCxnSpPr>
          <p:cNvPr id="23" name="vis:choicearrow"/>
          <p:cNvCxnSpPr/>
          <p:nvPr/>
        </p:nvCxnSpPr>
        <p:spPr>
          <a:xfrm>
            <a:off x="758952"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when it started, find what changed, and test that today.</a:t>
            </a:r>
          </a:p>
        </p:txBody>
      </p:sp>
      <p:cxnSp>
        <p:nvCxnSpPr>
          <p:cNvPr id="29" name="vis:choicearrow"/>
          <p:cNvCxnSpPr/>
          <p:nvPr/>
        </p:nvCxnSpPr>
        <p:spPr>
          <a:xfrm>
            <a:off x="4566818"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Order the motor and investigate in parallel.</a:t>
            </a:r>
          </a:p>
        </p:txBody>
      </p:sp>
      <p:cxnSp>
        <p:nvCxnSpPr>
          <p:cNvPr id="35" name="vis:choicearrow"/>
          <p:cNvCxnSpPr/>
          <p:nvPr/>
        </p:nvCxnSpPr>
        <p:spPr>
          <a:xfrm>
            <a:off x="8374684"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fourth part, and the same fault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motor arrives in nine days, is fitted over a weekend, and the machine jams again in October. Three parts and a motor have now been replaced, and nobody has yet asked what changed in February.</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Replacing parts in sequence is not diagnosis. It is elimination by spending.</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One shift, and the cause is confirmed</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started in February. The film supplier changed in February. You run the old film on this machine for one shift and it does not jam. The fix is a tension setting, not a motor.</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start date plus a change beside it solves most recurring problems.</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Safe, and it usually stops the investigating</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Reasonable when a shutdown is genuinely expensive. In practice, once the part is ordered the pressure lifts and the investigation quietly stops. If you do this, book the test before you place the order.</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Ordering the part removes the urgency that was driving the diagnosis.</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Eight minutes on five whys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The 5 Whys Explained - Root Cause Analysis</a:t>
            </a:r>
          </a:p>
        </p:txBody>
      </p:sp>
      <p:sp>
        <p:nvSpPr>
          <p:cNvPr id="19" name="vis:chip"/>
          <p:cNvSpPr/>
          <p:nvPr/>
        </p:nvSpPr>
        <p:spPr>
          <a:xfrm>
            <a:off x="868680" y="3858768"/>
            <a:ext cx="84289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53200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EPM</a:t>
            </a:r>
          </a:p>
        </p:txBody>
      </p:sp>
      <p:sp>
        <p:nvSpPr>
          <p:cNvPr id="21" name="vis:chip"/>
          <p:cNvSpPr/>
          <p:nvPr/>
        </p:nvSpPr>
        <p:spPr>
          <a:xfrm>
            <a:off x="1857883" y="3858768"/>
            <a:ext cx="12302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013331" y="3895344"/>
            <a:ext cx="9193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8:25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is the most useful first question?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is broken?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did this start happening?</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Who was operating 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How much will it cost to fix?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What is broken?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usually already know what is broken — that is the symptom that interrupted you. Knowing it rarely points at the cause.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did it start?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did this start happening?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start date lets you ask what changed around it, and changes are where causes live. It is the single highest-value question in the whole method.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did it start?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Who was operating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invites human error as an answer, which is almost always the end of a chain that should have continued for two more steps.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did it start?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How much will it cost to fix?</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An important question later. Asked first, it pushes you towards fixing the symptom because that is the thing with a price on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did it start?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not stop at "human error"?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unfair to the person involved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produces no change you can make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People rarely make mistakes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usually not true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unfair to the person involved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Fairness matters, and it is not the analytical reason. Even where somebody did make a mistake, stopping there produces no fix.</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why it was possible, and why nothing caught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produces no change you can make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 more careful" is not a fix. The useful questions are why the error was possible at all, and why nothing downstream caught it before it mattered.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why it was possible, and why nothing caught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People rarely make mistakes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People make mistakes constantly. Good processes assume that and are built so the mistake is caught cheaply.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why it was possible, and why nothing caught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is usually not true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often perfectly true and still not the end of the chain. Truth and usefulness are different things 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why it was possible, and why nothing caught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good test?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confirms your theory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would show you were wrong, if you were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thorough and takes a week</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fixes the problem at the same time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confirms your theory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can find confirmation for almost any theory if that is what you are looking for. Confirmation is the cheapest and least informative result.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could prove you wrong.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would show you were wrong, if you were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Running the old film for one shift either clears the fault or does not. Both outcomes teach you something, which is what makes it worth a day.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could prove you wrong.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is thorough and takes a week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Cheap and fast beats thorough here. A one-shift test you actually run is worth more than a perfect one nobody schedules.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could prove you wrong.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fixes the problem at the same time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a test fixes it, you learn nothing about why — and you will not know what to do when it returns on a different machine.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could prove you wrong.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should you stop analysing?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 are confident in your theory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fix is cheap and easy to reverse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your manager wants an answer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After exactly five whys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When you are confident in your theory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Confidence is not the criterion — people are confident about wrong theories all the time. Cost and reversibility are.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trying it is cheaper than another day of thinking.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the fix is cheap and easy to reverse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a change costs an hour and can be undone, trying it is the cheapest experiment available. Analysis consumes time too.</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trying it is cheaper than another day of thinking.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your manager wants an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Pressure is real and it is not evidence. This is exactly the moment the five-line write-up helps, because it shows progress without a false conclusion.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trying it is cheaper than another day of thinking.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After exactly five whys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Five is a rule of thumb, not a count. Stop when you reach something you can actually change, whether that is at three or at seven.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trying it is cheaper than another day of thinking.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"ruled out" achieve?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proves you worked hard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stops colleagues repeating the same test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shortens the write-up</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assigns responsibility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proves you worked hard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 the point, and it would be a poor reason to keep records. The value is entirely in what other people then do not repeat.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stops three people retesting the same 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stops colleagues repeating the same test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Without it, three people test the belt across two months and none of them knows the others did. Written down, the investigation moves forward instead of in circles.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stops three people retesting the same 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shortens the write-up</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lengthens it slightly, and saves far more time than the extra two lines cost.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stops three people retesting the same 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assigns responsibility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Nothing to do with responsibility. It is a record of what the evidence has already eliminated.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stops three people retesting the same 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Problem-solving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Symptom is not cause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symptom interrupts you. The cause is quieter and further back.</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Ask when it started</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Then ask what changed around that date. Most causes live there.</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Five whys, written down</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Chains kept in your head skip links. Each answer must be a fact.</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stop at human error</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 why it was possible, and why nothing downstream caught it.</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Test to be proved wrong</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 shift with the old film beats three replacement parts.</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Write down what you ruled out</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Otherwise three colleagues test the same thing over two months.</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A87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When did it start, what changed then, and what would prove me wrong?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400838"/>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19478"/>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863910" y="2480720"/>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930478" y="2499359"/>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863910" y="2560602"/>
            <a:ext cx="37278" cy="3727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930478" y="2579241"/>
            <a:ext cx="165090"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4"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five whys chain</a:t>
            </a:r>
          </a:p>
        </p:txBody>
      </p:sp>
      <p:sp>
        <p:nvSpPr>
          <p:cNvPr id="25"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Each answer a fact, stopping at something you can change.</a:t>
            </a:r>
          </a:p>
        </p:txBody>
      </p:sp>
      <p:sp>
        <p:nvSpPr>
          <p:cNvPr id="26"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93200" y="3284407"/>
            <a:ext cx="170414" cy="234320"/>
          </a:xfrm>
          <a:prstGeom prst="roundRect">
            <a:avLst>
              <a:gd name="adj" fmla="val 26828"/>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930478" y="3358964"/>
            <a:ext cx="95859"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a:off x="930478" y="3401568"/>
            <a:ext cx="95859"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a:off x="930478" y="3444171"/>
            <a:ext cx="63906"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five-line write-up</a:t>
            </a:r>
          </a:p>
        </p:txBody>
      </p:sp>
      <p:sp>
        <p:nvSpPr>
          <p:cNvPr id="33"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Problem, started, changed then, ruled out, next test.</a:t>
            </a:r>
          </a:p>
        </p:txBody>
      </p:sp>
      <p:sp>
        <p:nvSpPr>
          <p:cNvPr id="34"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882549" y="4309101"/>
            <a:ext cx="69231" cy="6923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951780" y="4229219"/>
            <a:ext cx="127811" cy="14911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cheap experiment</a:t>
            </a:r>
          </a:p>
        </p:txBody>
      </p:sp>
      <p:sp>
        <p:nvSpPr>
          <p:cNvPr id="39"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Reverse, isolate, compare, check the timeline.</a:t>
            </a:r>
          </a:p>
        </p:txBody>
      </p:sp>
      <p:sp>
        <p:nvSpPr>
          <p:cNvPr id="40"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LINKS THAT WORK</a:t>
            </a:r>
          </a:p>
        </p:txBody>
      </p:sp>
      <p:sp>
        <p:nvSpPr>
          <p:cNvPr id="41"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300630"/>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2443276"/>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5"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copilot.microsoft.com</a:t>
            </a:r>
          </a:p>
        </p:txBody>
      </p:sp>
      <p:sp>
        <p:nvSpPr>
          <p:cNvPr id="46"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2977286"/>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119932"/>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50"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chatgpt.com</a:t>
            </a:r>
          </a:p>
        </p:txBody>
      </p:sp>
      <p:sp>
        <p:nvSpPr>
          <p:cNvPr id="51"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icon"/>
          <p:cNvSpPr/>
          <p:nvPr/>
        </p:nvSpPr>
        <p:spPr>
          <a:xfrm>
            <a:off x="8339937" y="3653942"/>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3" name="vis:icon"/>
          <p:cNvCxnSpPr/>
          <p:nvPr/>
        </p:nvCxnSpPr>
        <p:spPr>
          <a:xfrm>
            <a:off x="8482584" y="3796588"/>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54"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5"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gemini.google.com</a:t>
            </a:r>
          </a:p>
        </p:txBody>
      </p:sp>
      <p:sp>
        <p:nvSpPr>
          <p:cNvPr id="56"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DO THIS NEXT</a:t>
            </a:r>
          </a:p>
        </p:txBody>
      </p:sp>
      <p:sp>
        <p:nvSpPr>
          <p:cNvPr id="58"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PS-07, Critical Thinking. Telling evidence from assertion, including in your own reasoning.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PS-06  ·  Problem-Solving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Symptom</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you notice when something is wrong. Usually not the thing to fix.</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Root cause</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change that started it. Fixing this stops the problem returning.</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Five whys</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Asking why repeatedly, with a fact at each step, until you reach something changeable.</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Falsification</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Designing a test that would show you were wrong. Worth more than confirmation.</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Ruled out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Something already tested and eliminated. Record it so nobody repeats it.</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Reversible</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change you can undo cheaply. Reversible fixes make good experiments.</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