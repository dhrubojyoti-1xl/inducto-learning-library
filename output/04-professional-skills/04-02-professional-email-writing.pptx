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1XctnF7C74s"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layer"/>
          <p:cNvSpPr/>
          <p:nvPr/>
        </p:nvSpPr>
        <p:spPr>
          <a:xfrm>
            <a:off x="7589520" y="3595420"/>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layer"/>
          <p:cNvSpPr/>
          <p:nvPr/>
        </p:nvSpPr>
        <p:spPr>
          <a:xfrm>
            <a:off x="7900416" y="3028492"/>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layer"/>
          <p:cNvSpPr/>
          <p:nvPr/>
        </p:nvSpPr>
        <p:spPr>
          <a:xfrm>
            <a:off x="8211312" y="2461564"/>
            <a:ext cx="2765145" cy="790041"/>
          </a:xfrm>
          <a:prstGeom prst="roundRect">
            <a:avLst>
              <a:gd name="adj" fmla="val 11574"/>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vis:coverlayer"/>
          <p:cNvSpPr/>
          <p:nvPr/>
        </p:nvSpPr>
        <p:spPr>
          <a:xfrm>
            <a:off x="8522208" y="1894636"/>
            <a:ext cx="2765145" cy="790041"/>
          </a:xfrm>
          <a:prstGeom prst="roundRect">
            <a:avLst>
              <a:gd name="adj" fmla="val 1157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960120" y="111404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PROFESSIONAL SKILLS</a:t>
            </a:r>
          </a:p>
        </p:txBody>
      </p:sp>
      <p:sp>
        <p:nvSpPr>
          <p:cNvPr id="9" name="title:cover"/>
          <p:cNvSpPr txBox="1"/>
          <p:nvPr/>
        </p:nvSpPr>
        <p:spPr>
          <a:xfrm>
            <a:off x="960120" y="1571244"/>
            <a:ext cx="5501487"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Professional Email Writing</a:t>
            </a:r>
          </a:p>
        </p:txBody>
      </p:sp>
      <p:cxnSp>
        <p:nvCxnSpPr>
          <p:cNvPr id="10" name="vis:rule"/>
          <p:cNvCxnSpPr/>
          <p:nvPr/>
        </p:nvCxnSpPr>
        <p:spPr>
          <a:xfrm>
            <a:off x="960120" y="335330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1" name="body:coversub"/>
          <p:cNvSpPr txBox="1"/>
          <p:nvPr/>
        </p:nvSpPr>
        <p:spPr>
          <a:xfrm>
            <a:off x="960120" y="362762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The mechanics — subject lines, openings, tone, and knowing when not to send at all.</a:t>
            </a:r>
          </a:p>
        </p:txBody>
      </p:sp>
      <p:sp>
        <p:nvSpPr>
          <p:cNvPr id="12" name="vis:chip"/>
          <p:cNvSpPr/>
          <p:nvPr/>
        </p:nvSpPr>
        <p:spPr>
          <a:xfrm>
            <a:off x="960120" y="4811268"/>
            <a:ext cx="961009" cy="310896"/>
          </a:xfrm>
          <a:prstGeom prst="roundRect">
            <a:avLst>
              <a:gd name="adj" fmla="val 14705"/>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3" name="vis:chiptext"/>
          <p:cNvSpPr txBox="1"/>
          <p:nvPr/>
        </p:nvSpPr>
        <p:spPr>
          <a:xfrm>
            <a:off x="1115568" y="4856988"/>
            <a:ext cx="65011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PS-02</a:t>
            </a:r>
          </a:p>
        </p:txBody>
      </p:sp>
      <p:sp>
        <p:nvSpPr>
          <p:cNvPr id="14" name="vis:chip"/>
          <p:cNvSpPr/>
          <p:nvPr/>
        </p:nvSpPr>
        <p:spPr>
          <a:xfrm>
            <a:off x="2067433" y="4811268"/>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chiptext"/>
          <p:cNvSpPr txBox="1"/>
          <p:nvPr/>
        </p:nvSpPr>
        <p:spPr>
          <a:xfrm>
            <a:off x="2222881" y="4856988"/>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6" name="vis:chip"/>
          <p:cNvSpPr/>
          <p:nvPr/>
        </p:nvSpPr>
        <p:spPr>
          <a:xfrm>
            <a:off x="3666871" y="481126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text"/>
          <p:cNvSpPr txBox="1"/>
          <p:nvPr/>
        </p:nvSpPr>
        <p:spPr>
          <a:xfrm>
            <a:off x="3822319" y="485698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8"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9"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PS-02  ·  Professional Email Writing</a:t>
            </a:r>
          </a:p>
        </p:txBody>
      </p:sp>
      <p:sp>
        <p:nvSpPr>
          <p:cNvPr id="20"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Pooja's email starts a fight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69028"/>
            <a:ext cx="318006" cy="216822"/>
          </a:xfrm>
          <a:prstGeom prst="roundRect">
            <a:avLst>
              <a:gd name="adj" fmla="val 21086"/>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02284" y="2283483"/>
            <a:ext cx="159004" cy="11563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1161288" y="2283483"/>
            <a:ext cx="159003" cy="11563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Pooja handles customer service in Kochi. She writes "As per my previous email, kindly do the needful urgently." She means it neutrally. The customer reads it as sarcasm and escalates to her director.</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routine query turned into a complaint about her.</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phrases to retire, and one structure that never reads badly.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6886" y="1969559"/>
            <a:ext cx="247634" cy="165089"/>
          </a:xfrm>
          <a:prstGeom prst="roundRect">
            <a:avLst>
              <a:gd name="adj" fmla="val 27694"/>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984055" y="2134648"/>
            <a:ext cx="11792" cy="6485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984055" y="2134648"/>
            <a:ext cx="64856" cy="6485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an opening line that is not throat-clearing</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30990" y="2842086"/>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969315" y="2880411"/>
            <a:ext cx="182777" cy="18277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Retire four phrases that read worse than you intend</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1004691" y="3741146"/>
            <a:ext cx="112024" cy="112024"/>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942782" y="3897392"/>
            <a:ext cx="235843" cy="103181"/>
          </a:xfrm>
          <a:custGeom>
            <a:avLst/>
            <a:gdLst/>
            <a:ahLst/>
            <a:cxnLst/>
            <a:rect l="l" t="t" r="r" b="b"/>
            <a:pathLst>
              <a:path w="235843" h="103181">
                <a:moveTo>
                  <a:pt x="0" y="103181"/>
                </a:moveTo>
                <a:lnTo>
                  <a:pt x="17689" y="0"/>
                </a:lnTo>
                <a:lnTo>
                  <a:pt x="218154" y="0"/>
                </a:lnTo>
                <a:lnTo>
                  <a:pt x="235843" y="103181"/>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Keep tone neutral when you are annoyed</a:t>
            </a:r>
          </a:p>
        </p:txBody>
      </p:sp>
      <p:sp>
        <p:nvSpPr>
          <p:cNvPr id="31"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30990" y="4634310"/>
            <a:ext cx="259426" cy="259426"/>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flipV="1">
            <a:off x="1060704" y="4687375"/>
            <a:ext cx="0" cy="7664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a:off x="1060704" y="4764024"/>
            <a:ext cx="64856" cy="2358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6"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the three times you should not send at all</a:t>
            </a:r>
          </a:p>
        </p:txBody>
      </p:sp>
      <p:sp>
        <p:nvSpPr>
          <p:cNvPr id="37"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954575" y="5666032"/>
            <a:ext cx="76648" cy="7664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40" name="vis:icon"/>
          <p:cNvCxnSpPr/>
          <p:nvPr/>
        </p:nvCxnSpPr>
        <p:spPr>
          <a:xfrm flipV="1">
            <a:off x="1031223" y="5577591"/>
            <a:ext cx="141505" cy="165089"/>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1"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Run a ten-second check before every external email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opening line</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Delete the first sentence</a:t>
            </a:r>
          </a:p>
        </p:txBody>
      </p:sp>
      <p:cxnSp>
        <p:nvCxnSpPr>
          <p:cNvPr id="13" name="vis:menuarrow"/>
          <p:cNvCxnSpPr/>
          <p:nvPr/>
        </p:nvCxnSpPr>
        <p:spPr>
          <a:xfrm>
            <a:off x="11213287" y="1997049"/>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Phrases to retire</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They read worse than you mean</a:t>
            </a:r>
          </a:p>
        </p:txBody>
      </p:sp>
      <p:cxnSp>
        <p:nvCxnSpPr>
          <p:cNvPr id="19" name="vis:menuarrow"/>
          <p:cNvCxnSpPr/>
          <p:nvPr/>
        </p:nvCxnSpPr>
        <p:spPr>
          <a:xfrm>
            <a:off x="11213287" y="242498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Tone when annoyed</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Neutral is a skill</a:t>
            </a:r>
          </a:p>
        </p:txBody>
      </p:sp>
      <p:cxnSp>
        <p:nvCxnSpPr>
          <p:cNvPr id="25" name="vis:menuarrow"/>
          <p:cNvCxnSpPr/>
          <p:nvPr/>
        </p:nvCxnSpPr>
        <p:spPr>
          <a:xfrm>
            <a:off x="11213287" y="2852928"/>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When not to send</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Three situations</a:t>
            </a:r>
          </a:p>
        </p:txBody>
      </p:sp>
      <p:cxnSp>
        <p:nvCxnSpPr>
          <p:cNvPr id="31" name="vis:menuarrow"/>
          <p:cNvCxnSpPr/>
          <p:nvPr/>
        </p:nvCxnSpPr>
        <p:spPr>
          <a:xfrm>
            <a:off x="11213287" y="3280867"/>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Fix one real email</a:t>
            </a:r>
          </a:p>
        </p:txBody>
      </p:sp>
      <p:cxnSp>
        <p:nvCxnSpPr>
          <p:cNvPr id="37" name="vis:menuarrow"/>
          <p:cNvCxnSpPr/>
          <p:nvPr/>
        </p:nvCxnSpPr>
        <p:spPr>
          <a:xfrm>
            <a:off x="11213287" y="3708806"/>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Monday morning decision</a:t>
            </a:r>
          </a:p>
        </p:txBody>
      </p:sp>
      <p:cxnSp>
        <p:nvCxnSpPr>
          <p:cNvPr id="43" name="vis:menuarrow"/>
          <p:cNvCxnSpPr/>
          <p:nvPr/>
        </p:nvCxnSpPr>
        <p:spPr>
          <a:xfrm>
            <a:off x="11213287" y="4136745"/>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7-minute outside guide</a:t>
            </a:r>
          </a:p>
        </p:txBody>
      </p:sp>
      <p:cxnSp>
        <p:nvCxnSpPr>
          <p:cNvPr id="49" name="vis:menuarrow"/>
          <p:cNvCxnSpPr/>
          <p:nvPr/>
        </p:nvCxnSpPr>
        <p:spPr>
          <a:xfrm>
            <a:off x="11213287" y="456468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8A5A0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OPENING LINE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Delete the first sentence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first sentence of most work emails carries no information. Try deleting it and see if anything is lost.</a:t>
            </a:r>
          </a:p>
        </p:txBody>
      </p:sp>
      <p:sp>
        <p:nvSpPr>
          <p:cNvPr id="16" name="vis:outcard"/>
          <p:cNvSpPr/>
          <p:nvPr/>
        </p:nvSpPr>
        <p:spPr>
          <a:xfrm>
            <a:off x="502920" y="2706624"/>
            <a:ext cx="5410047" cy="2743200"/>
          </a:xfrm>
          <a:prstGeom prst="roundRect">
            <a:avLst>
              <a:gd name="adj" fmla="val 333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outspine"/>
          <p:cNvSpPr/>
          <p:nvPr/>
        </p:nvSpPr>
        <p:spPr>
          <a:xfrm>
            <a:off x="502920" y="2706624"/>
            <a:ext cx="68580" cy="274320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58952" y="2907792"/>
            <a:ext cx="2030785"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14400" y="2935224"/>
            <a:ext cx="17198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THROAT-CLEARING</a:t>
            </a:r>
          </a:p>
        </p:txBody>
      </p:sp>
      <p:sp>
        <p:nvSpPr>
          <p:cNvPr id="20" name="vis:outbody"/>
          <p:cNvSpPr txBox="1"/>
          <p:nvPr/>
        </p:nvSpPr>
        <p:spPr>
          <a:xfrm>
            <a:off x="758952" y="3346704"/>
            <a:ext cx="4897983" cy="188366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"I hope this email finds you well."</a:t>
            </a:r>
          </a:p>
          <a:p>
            <a:pPr algn="l">
              <a:lnSpc>
                <a:spcPts val="1690"/>
              </a:lnSpc>
              <a:spcBef>
                <a:spcPts val="0"/>
              </a:spcBef>
              <a:spcAft>
                <a:spcPts val="600"/>
              </a:spcAft>
            </a:pPr>
            <a:r>
              <a:rPr sz="1300" b="0">
                <a:solidFill>
                  <a:srgbClr val="2A3547"/>
                </a:solidFill>
                <a:latin typeface="Segoe UI"/>
              </a:rPr>
              <a:t>"I am writing to you regarding the below matter."</a:t>
            </a:r>
          </a:p>
          <a:p>
            <a:pPr algn="l">
              <a:lnSpc>
                <a:spcPts val="1690"/>
              </a:lnSpc>
              <a:spcBef>
                <a:spcPts val="0"/>
              </a:spcBef>
              <a:spcAft>
                <a:spcPts val="600"/>
              </a:spcAft>
            </a:pPr>
            <a:r>
              <a:rPr sz="1300" b="0">
                <a:solidFill>
                  <a:srgbClr val="2A3547"/>
                </a:solidFill>
                <a:latin typeface="Segoe UI"/>
              </a:rPr>
              <a:t>"Further to our earlier correspondence on this subject..."</a:t>
            </a:r>
          </a:p>
        </p:txBody>
      </p:sp>
      <p:sp>
        <p:nvSpPr>
          <p:cNvPr id="21" name="vis:outcard"/>
          <p:cNvSpPr/>
          <p:nvPr/>
        </p:nvSpPr>
        <p:spPr>
          <a:xfrm>
            <a:off x="6278727" y="2706624"/>
            <a:ext cx="5410047" cy="2743200"/>
          </a:xfrm>
          <a:prstGeom prst="roundRect">
            <a:avLst>
              <a:gd name="adj" fmla="val 333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outspine"/>
          <p:cNvSpPr/>
          <p:nvPr/>
        </p:nvSpPr>
        <p:spPr>
          <a:xfrm>
            <a:off x="6278727" y="2706624"/>
            <a:ext cx="68580" cy="274320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
          <p:cNvSpPr/>
          <p:nvPr/>
        </p:nvSpPr>
        <p:spPr>
          <a:xfrm>
            <a:off x="6534759" y="2907792"/>
            <a:ext cx="153441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hiptext"/>
          <p:cNvSpPr txBox="1"/>
          <p:nvPr/>
        </p:nvSpPr>
        <p:spPr>
          <a:xfrm>
            <a:off x="6690207" y="2935224"/>
            <a:ext cx="122351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STRAIGHT IN</a:t>
            </a:r>
          </a:p>
        </p:txBody>
      </p:sp>
      <p:sp>
        <p:nvSpPr>
          <p:cNvPr id="25" name="vis:outbody"/>
          <p:cNvSpPr txBox="1"/>
          <p:nvPr/>
        </p:nvSpPr>
        <p:spPr>
          <a:xfrm>
            <a:off x="6534759" y="3346704"/>
            <a:ext cx="4897983" cy="188366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"Your order 4471 will now arrive on 15 March."</a:t>
            </a:r>
          </a:p>
          <a:p>
            <a:pPr algn="l">
              <a:lnSpc>
                <a:spcPts val="1690"/>
              </a:lnSpc>
              <a:spcBef>
                <a:spcPts val="0"/>
              </a:spcBef>
              <a:spcAft>
                <a:spcPts val="600"/>
              </a:spcAft>
            </a:pPr>
            <a:r>
              <a:rPr sz="1300" b="0">
                <a:solidFill>
                  <a:srgbClr val="2A3547"/>
                </a:solidFill>
                <a:latin typeface="Segoe UI"/>
              </a:rPr>
              <a:t>"I need your approval on the revised quote by Thursday."</a:t>
            </a:r>
          </a:p>
          <a:p>
            <a:pPr algn="l">
              <a:lnSpc>
                <a:spcPts val="1690"/>
              </a:lnSpc>
              <a:spcBef>
                <a:spcPts val="0"/>
              </a:spcBef>
              <a:spcAft>
                <a:spcPts val="600"/>
              </a:spcAft>
            </a:pPr>
            <a:r>
              <a:rPr sz="1300" b="0">
                <a:solidFill>
                  <a:srgbClr val="2A3547"/>
                </a:solidFill>
                <a:latin typeface="Segoe UI"/>
              </a:rPr>
              <a:t>"Two cartons were damaged. We are replacing them this week."</a:t>
            </a:r>
          </a:p>
        </p:txBody>
      </p:sp>
      <p:sp>
        <p:nvSpPr>
          <p:cNvPr id="26" name="cell:banote"/>
          <p:cNvSpPr txBox="1"/>
          <p:nvPr/>
        </p:nvSpPr>
        <p:spPr>
          <a:xfrm>
            <a:off x="502920" y="5632704"/>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Warmth comes from what you say and how you close, not from a sentence everybody skips.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OPENING LINE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four-part email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point</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has happened, or what you need.</a:t>
            </a:r>
          </a:p>
        </p:txBody>
      </p:sp>
      <p:cxnSp>
        <p:nvCxnSpPr>
          <p:cNvPr id="20" name="vis:flowarrow"/>
          <p:cNvCxnSpPr/>
          <p:nvPr/>
        </p:nvCxnSpPr>
        <p:spPr>
          <a:xfrm>
            <a:off x="3093643"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detail</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Dates, numbers, references. Short.</a:t>
            </a:r>
          </a:p>
        </p:txBody>
      </p:sp>
      <p:cxnSp>
        <p:nvCxnSpPr>
          <p:cNvPr id="26" name="vis:flowarrow"/>
          <p:cNvCxnSpPr/>
          <p:nvPr/>
        </p:nvCxnSpPr>
        <p:spPr>
          <a:xfrm>
            <a:off x="5986119"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ask</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One thing, with a date on it.</a:t>
            </a:r>
          </a:p>
        </p:txBody>
      </p:sp>
      <p:cxnSp>
        <p:nvCxnSpPr>
          <p:cNvPr id="32" name="vis:flowarrow"/>
          <p:cNvCxnSpPr/>
          <p:nvPr/>
        </p:nvCxnSpPr>
        <p:spPr>
          <a:xfrm>
            <a:off x="8878595" y="3182111"/>
            <a:ext cx="219456"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The close</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Where the warmth goes, in one 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PHRASES TO RETIRE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phrases to retire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203911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210769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 per my previous email"</a:t>
            </a:r>
          </a:p>
        </p:txBody>
      </p:sp>
      <p:cxnSp>
        <p:nvCxnSpPr>
          <p:cNvPr id="20" name="vis:line"/>
          <p:cNvCxnSpPr/>
          <p:nvPr/>
        </p:nvCxnSpPr>
        <p:spPr>
          <a:xfrm>
            <a:off x="6008686" y="1865376"/>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Reads as an accusation, whatever you intended. Say "following up on" instead.</a:t>
            </a:r>
          </a:p>
        </p:txBody>
      </p:sp>
      <p:sp>
        <p:nvSpPr>
          <p:cNvPr id="22" name="vis:mistake"/>
          <p:cNvSpPr/>
          <p:nvPr/>
        </p:nvSpPr>
        <p:spPr>
          <a:xfrm>
            <a:off x="502920" y="2834639"/>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834639"/>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31546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322326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926079"/>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"Kindly do the needful"</a:t>
            </a:r>
          </a:p>
        </p:txBody>
      </p:sp>
      <p:cxnSp>
        <p:nvCxnSpPr>
          <p:cNvPr id="27" name="vis:line"/>
          <p:cNvCxnSpPr/>
          <p:nvPr/>
        </p:nvCxnSpPr>
        <p:spPr>
          <a:xfrm>
            <a:off x="6008686" y="2980944"/>
            <a:ext cx="0" cy="658367"/>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926079"/>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Says nothing about what you actually want done. Name the action and the date.</a:t>
            </a:r>
          </a:p>
        </p:txBody>
      </p:sp>
      <p:sp>
        <p:nvSpPr>
          <p:cNvPr id="29" name="vis:mistake"/>
          <p:cNvSpPr/>
          <p:nvPr/>
        </p:nvSpPr>
        <p:spPr>
          <a:xfrm>
            <a:off x="502920" y="3950208"/>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950208"/>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427024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433882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4041648"/>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"Please revert"</a:t>
            </a:r>
          </a:p>
        </p:txBody>
      </p:sp>
      <p:cxnSp>
        <p:nvCxnSpPr>
          <p:cNvPr id="34" name="vis:line"/>
          <p:cNvCxnSpPr/>
          <p:nvPr/>
        </p:nvCxnSpPr>
        <p:spPr>
          <a:xfrm>
            <a:off x="6008686" y="4096512"/>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4041648"/>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In most of the world this means go back to a previous state. Say "please reply".</a:t>
            </a:r>
          </a:p>
        </p:txBody>
      </p:sp>
      <p:sp>
        <p:nvSpPr>
          <p:cNvPr id="36" name="vis:mistake"/>
          <p:cNvSpPr/>
          <p:nvPr/>
        </p:nvSpPr>
        <p:spPr>
          <a:xfrm>
            <a:off x="502920" y="5065776"/>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5065776"/>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538581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5454396"/>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5157216"/>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"Urgent" in every subject line</a:t>
            </a:r>
          </a:p>
        </p:txBody>
      </p:sp>
      <p:cxnSp>
        <p:nvCxnSpPr>
          <p:cNvPr id="41" name="vis:line"/>
          <p:cNvCxnSpPr/>
          <p:nvPr/>
        </p:nvCxnSpPr>
        <p:spPr>
          <a:xfrm>
            <a:off x="6008686" y="5212080"/>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5157216"/>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stops meaning anything after the second use, and hides the ones that 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PHRASES TO RETIRE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Say what you want instead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04971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73881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VAGUE</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Reader has to guess</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"Kindly do the needful"</a:t>
            </a:r>
          </a:p>
        </p:txBody>
      </p:sp>
      <p:cxnSp>
        <p:nvCxnSpPr>
          <p:cNvPr id="23" name="vis:icon"/>
          <p:cNvCxnSpPr/>
          <p:nvPr/>
        </p:nvCxnSpPr>
        <p:spPr>
          <a:xfrm>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"Please look into this"</a:t>
            </a:r>
          </a:p>
        </p:txBody>
      </p:sp>
      <p:cxnSp>
        <p:nvCxnSpPr>
          <p:cNvPr id="26" name="vis:icon"/>
          <p:cNvCxnSpPr/>
          <p:nvPr/>
        </p:nvCxnSpPr>
        <p:spPr>
          <a:xfrm>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"Awaiting your revert"</a:t>
            </a:r>
          </a:p>
        </p:txBody>
      </p:sp>
      <p:cxnSp>
        <p:nvCxnSpPr>
          <p:cNvPr id="29" name="vis:icon"/>
          <p:cNvCxnSpPr/>
          <p:nvPr/>
        </p:nvCxnSpPr>
        <p:spPr>
          <a:xfrm>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"Treat as most urgent"</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19849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8876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SPECIFIC</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Reader knows exactly</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"Please approve the revised quote"</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"Please confirm the new date"</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yes or no by Thursday would help"</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"We need this before the 3pm dispatch"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TONE WHEN ANNOYED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Neutral is a skill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When you are annoyed, the email you write will read angrier than you meant. Every time.</a:t>
            </a:r>
          </a:p>
        </p:txBody>
      </p:sp>
      <p:sp>
        <p:nvSpPr>
          <p:cNvPr id="16" name="vis:checktile"/>
          <p:cNvSpPr/>
          <p:nvPr/>
        </p:nvSpPr>
        <p:spPr>
          <a:xfrm>
            <a:off x="502920"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546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Remove every "you" that assigns blame. Use "the order", not "your team".</a:t>
            </a:r>
          </a:p>
        </p:txBody>
      </p:sp>
      <p:sp>
        <p:nvSpPr>
          <p:cNvPr id="21" name="vis:checktile"/>
          <p:cNvSpPr/>
          <p:nvPr/>
        </p:nvSpPr>
        <p:spPr>
          <a:xfrm>
            <a:off x="6205575" y="283464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387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546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494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980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Delete adverbs. "Repeatedly", "clearly", "again" all sharpen the tone.</a:t>
            </a:r>
          </a:p>
        </p:txBody>
      </p:sp>
      <p:sp>
        <p:nvSpPr>
          <p:cNvPr id="26" name="vis:checktile"/>
          <p:cNvSpPr/>
          <p:nvPr/>
        </p:nvSpPr>
        <p:spPr>
          <a:xfrm>
            <a:off x="502920"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502462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18355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State facts with dates. Facts do not need heat to land.</a:t>
            </a:r>
          </a:p>
        </p:txBody>
      </p:sp>
      <p:sp>
        <p:nvSpPr>
          <p:cNvPr id="31" name="vis:checktile"/>
          <p:cNvSpPr/>
          <p:nvPr/>
        </p:nvSpPr>
        <p:spPr>
          <a:xfrm>
            <a:off x="6205575" y="447141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5024628"/>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18355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513142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61772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Write it, then send it thirty minutes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TONE WHEN ANNOYED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neutral chaser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Following up on the revised drawings. These were due on the 8th and we have not received them yet. The install team is booked for the 19th, so we would need them by the 14th at the latest. Could you confirm a date today?</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Two missed deadlines, and not one word of heat in it.</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Dates do the work that adjectives would have done badly.</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No "you" appears, so nobody is being accused.</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ends with a small, easy request rather than a complaint.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WHEN NOT TO SEND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times not to send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48942" y="2190229"/>
            <a:ext cx="314963" cy="287575"/>
          </a:xfrm>
          <a:custGeom>
            <a:avLst/>
            <a:gdLst/>
            <a:ahLst/>
            <a:cxnLst/>
            <a:rect l="l" t="t" r="r" b="b"/>
            <a:pathLst>
              <a:path w="314963" h="287575">
                <a:moveTo>
                  <a:pt x="157482" y="0"/>
                </a:moveTo>
                <a:lnTo>
                  <a:pt x="314963" y="287575"/>
                </a:lnTo>
                <a:lnTo>
                  <a:pt x="0" y="287575"/>
                </a:lnTo>
                <a:close/>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vis:icon"/>
          <p:cNvCxnSpPr/>
          <p:nvPr/>
        </p:nvCxnSpPr>
        <p:spPr>
          <a:xfrm>
            <a:off x="1106424" y="2299781"/>
            <a:ext cx="0" cy="85588"/>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9306" y="2416181"/>
            <a:ext cx="34235" cy="34235"/>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When you are angry</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Write it, save it, reread it after lunch. You will change three things, every time.</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When it is about a person</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Performance, conduct, capability. Those conversations happen face to face.</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602753" y="2217617"/>
            <a:ext cx="287575" cy="191716"/>
          </a:xfrm>
          <a:prstGeom prst="roundRect">
            <a:avLst>
              <a:gd name="adj" fmla="val 23847"/>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flipH="1">
            <a:off x="8657529" y="2409334"/>
            <a:ext cx="13694" cy="753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8657529" y="2409334"/>
            <a:ext cx="75317" cy="7531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When it needs a discussion</a:t>
            </a:r>
          </a:p>
        </p:txBody>
      </p:sp>
      <p:sp>
        <p:nvSpPr>
          <p:cNvPr id="34"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If it will take four emails, it is a five-minute call you have not made yet.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WHEN NOT TO SEND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reply-all question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Does everyone on this thread need my reply?</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Reply to sender</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"Thanks", "Noted", or anything only the sender needs. Twelve people receiving "Thanks" is twelve interruptions for nothing.</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Reply all</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decision the group is waiting on, or information that stops others duplicating work. Rare, and genuinely useful when it applies.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fix one email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tepnum"/>
          <p:cNvSpPr/>
          <p:nvPr/>
        </p:nvSpPr>
        <p:spPr>
          <a:xfrm>
            <a:off x="502920" y="2027681"/>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a sent email you were slightly unhappy with.</a:t>
            </a:r>
          </a:p>
        </p:txBody>
      </p:sp>
      <p:sp>
        <p:nvSpPr>
          <p:cNvPr id="19" name="vis:stepnum"/>
          <p:cNvSpPr/>
          <p:nvPr/>
        </p:nvSpPr>
        <p:spPr>
          <a:xfrm>
            <a:off x="502920" y="3138677"/>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Delete the first sentence and see whether anything is lost.</a:t>
            </a:r>
          </a:p>
        </p:txBody>
      </p:sp>
      <p:sp>
        <p:nvSpPr>
          <p:cNvPr id="23" name="vis:stepnum"/>
          <p:cNvSpPr/>
          <p:nvPr/>
        </p:nvSpPr>
        <p:spPr>
          <a:xfrm>
            <a:off x="502920" y="4249674"/>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Remove every "you" that assigns blame, and every adverb.</a:t>
            </a:r>
          </a:p>
        </p:txBody>
      </p:sp>
      <p:sp>
        <p:nvSpPr>
          <p:cNvPr id="27" name="vis:stepnum"/>
          <p:cNvSpPr/>
          <p:nvPr/>
        </p:nvSpPr>
        <p:spPr>
          <a:xfrm>
            <a:off x="502920" y="5360670"/>
            <a:ext cx="347472" cy="34747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Check the subject line names the decision and the date.</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Rewrite this email to be neutral in tone. Remove any wording that assigns blame, delete adverbs, and state the facts with dates instead. Keep the same meaning and the same request. Under 100 words. Do not add an apology.</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Use this on anything you wrote while irritated.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ten-second check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Is the recipient right, and is anyone in CC unnecessary?</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Does the subject line name the decision and the date?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Is there exactly one ask, with a date on it?</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Would I be comfortable if this were forwarded to their director?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Writing while annoyed and sending immediately</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always reads sharper than you meant, and it is on the record forever.</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Reply-all with "Thanks"</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Twelve interruptions for a message eleven of them did not need.</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Marking everything urgent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flag stops meaning anything, including on the one that genuinely is.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Burying the ask in paragraph three</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reader stopped at paragraph two and meant to come back.</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Copying somebody's manager to apply pressure</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is read as an escalation, and it usually ends cooperation immediately.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close does the warmth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these closes</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"Thanks — shout if anything is unclear."  /  "Happy to talk it through if that is easier."  /  "Thanks for turning this around quickly."  /  "Let me know if the date is a problem and we will work around it."</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One line at the end does more than three at the start.</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arrives after the reader has the information.</a:t>
            </a:r>
          </a:p>
        </p:txBody>
      </p:sp>
      <p:cxnSp>
        <p:nvCxnSpPr>
          <p:cNvPr id="33" name="vis:icon"/>
          <p:cNvCxnSpPr/>
          <p:nvPr/>
        </p:nvCxnSpPr>
        <p:spPr>
          <a:xfrm>
            <a:off x="7850361" y="3250143"/>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offers something, rather than performing politeness.</a:t>
            </a:r>
          </a:p>
        </p:txBody>
      </p:sp>
      <p:cxnSp>
        <p:nvCxnSpPr>
          <p:cNvPr id="36" name="vis:icon"/>
          <p:cNvCxnSpPr/>
          <p:nvPr/>
        </p:nvCxnSpPr>
        <p:spPr>
          <a:xfrm>
            <a:off x="7850361" y="418283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works even when the news in the middle was bad.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Writing across cultures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Our email goes between India, the UAE and clients elsewhere. Plain and specific travels best.</a:t>
            </a:r>
          </a:p>
          <a:p>
            <a:pPr algn="l">
              <a:lnSpc>
                <a:spcPts val="1755"/>
              </a:lnSpc>
              <a:spcBef>
                <a:spcPts val="0"/>
              </a:spcBef>
              <a:spcAft>
                <a:spcPts val="0"/>
              </a:spcAft>
            </a:pPr>
            <a:r>
              <a:rPr sz="1350" b="0">
                <a:solidFill>
                  <a:srgbClr val="FFFFFF"/>
                </a:solidFill>
                <a:latin typeface="Segoe UI"/>
              </a:rPr>
              <a:t>Idiom, sarcasm and heavy formality all read differently in different offices.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Short sentences, one idea each.</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Dates written in full, never 03/04.</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idiom, no jokes about delays.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email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alertband"/>
          <p:cNvSpPr/>
          <p:nvPr/>
        </p:nvSpPr>
        <p:spPr>
          <a:xfrm>
            <a:off x="0" y="1719072"/>
            <a:ext cx="12191695" cy="96012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Say the thing, give the date, make one ask, and put the warmth at the end.</a:t>
            </a:r>
          </a:p>
          <a:p>
            <a:pPr algn="l">
              <a:lnSpc>
                <a:spcPts val="1755"/>
              </a:lnSpc>
              <a:spcBef>
                <a:spcPts val="0"/>
              </a:spcBef>
              <a:spcAft>
                <a:spcPts val="0"/>
              </a:spcAft>
            </a:pPr>
            <a:r>
              <a:rPr sz="1350" b="0">
                <a:solidFill>
                  <a:srgbClr val="FFFFFF"/>
                </a:solidFill>
                <a:latin typeface="Segoe UI"/>
              </a:rPr>
              <a:t>That order works for good news, bad news and everything routine in between.</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Point first.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One ask, one date.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Warmth in the close.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Monday, 9:05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supplier has missed a drawing deadline for the second time. Your install team is booked for the 19th. You are annoyed and you need the drawings by the 14th.</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Write it now while it is fresh, and copy their manager.</a:t>
            </a:r>
          </a:p>
        </p:txBody>
      </p:sp>
      <p:cxnSp>
        <p:nvCxnSpPr>
          <p:cNvPr id="23" name="vis:choicearrow"/>
          <p:cNvCxnSpPr/>
          <p:nvPr/>
        </p:nvCxnSpPr>
        <p:spPr>
          <a:xfrm>
            <a:off x="758952"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Send a neutral, dated chaser to your contact only.</a:t>
            </a:r>
          </a:p>
        </p:txBody>
      </p:sp>
      <p:cxnSp>
        <p:nvCxnSpPr>
          <p:cNvPr id="29" name="vis:choicearrow"/>
          <p:cNvCxnSpPr/>
          <p:nvPr/>
        </p:nvCxnSpPr>
        <p:spPr>
          <a:xfrm>
            <a:off x="4566818"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Ring them, then confirm the agreed date in writing.</a:t>
            </a:r>
          </a:p>
        </p:txBody>
      </p:sp>
      <p:cxnSp>
        <p:nvCxnSpPr>
          <p:cNvPr id="35" name="vis:choicearrow"/>
          <p:cNvCxnSpPr/>
          <p:nvPr/>
        </p:nvCxnSpPr>
        <p:spPr>
          <a:xfrm>
            <a:off x="8374684" y="5632704"/>
            <a:ext cx="292608" cy="0"/>
          </a:xfrm>
          <a:prstGeom prst="line">
            <a:avLst/>
          </a:prstGeom>
          <a:ln w="19050">
            <a:solidFill>
              <a:srgbClr val="8A5A0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mistakes in one message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Written while annoyed, it carries three adverbs and two accusations you would not have used after lunch. Copying their manager reads as an escalation on a second missed deadline, and cooperation stops immediately.</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send angry, and never escalate before you have asked once, clearly.</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Two missed deadlines, no heat at all</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"These were due on the 8th. Install is booked for the 19th, so we would need them by the 14th. Could you confirm a date today?" You get a date by eleven, and the relationship is intact for the next project.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Dates do the work that anger would have done badly.</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Often the fastest route of all</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minutes on the phone finds out that the drawings are waiting on an approval at their end. You agree the 13th, and your one-line confirmation email creates the record. Nothing escalated and nothing was written in anger.</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After a second miss, a call beats a better email.</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Seven minutes on the basics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8 Email Etiquette Tips - How to Write Better Emails at Work</a:t>
            </a:r>
          </a:p>
        </p:txBody>
      </p:sp>
      <p:sp>
        <p:nvSpPr>
          <p:cNvPr id="19" name="vis:chip"/>
          <p:cNvSpPr/>
          <p:nvPr/>
        </p:nvSpPr>
        <p:spPr>
          <a:xfrm>
            <a:off x="868680" y="3858768"/>
            <a:ext cx="278907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24781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HARVARD BUSINESS REVIEW</a:t>
            </a:r>
          </a:p>
        </p:txBody>
      </p:sp>
      <p:sp>
        <p:nvSpPr>
          <p:cNvPr id="21" name="vis:chip"/>
          <p:cNvSpPr/>
          <p:nvPr/>
        </p:nvSpPr>
        <p:spPr>
          <a:xfrm>
            <a:off x="3804058" y="3858768"/>
            <a:ext cx="122707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959506" y="3895344"/>
            <a:ext cx="9161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7:00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four-part structure above is the core.</a:t>
            </a:r>
          </a:p>
        </p:txBody>
      </p:sp>
      <p:cxnSp>
        <p:nvCxnSpPr>
          <p:cNvPr id="35" name="vis:icon"/>
          <p:cNvCxnSpPr/>
          <p:nvPr/>
        </p:nvCxnSpPr>
        <p:spPr>
          <a:xfrm>
            <a:off x="8439424" y="3743919"/>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like hearing the reasoning behind the rules.</a:t>
            </a:r>
          </a:p>
        </p:txBody>
      </p:sp>
      <p:cxnSp>
        <p:nvCxnSpPr>
          <p:cNvPr id="38" name="vis:icon"/>
          <p:cNvCxnSpPr/>
          <p:nvPr/>
        </p:nvCxnSpPr>
        <p:spPr>
          <a:xfrm>
            <a:off x="8439424" y="4859487"/>
            <a:ext cx="52304" cy="52304"/>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should the first line contain?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polite enquiry about the reader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point — what happened or what you need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reference to your previous email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full background to the situation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polite enquiry about the reader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Everybody skips it, and it delays the information by a line. Warmth belongs in the close, where it is actually read.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point, not a greeting about wellbeing.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The point — what happened or what you need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reader knows immediately whether the message concerns them. It also makes the email findable and forwardable later.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point, not a greeting about wellbeing.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reference to your previous email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"As per my previous email" reads as an accusation however you meant it. If you must refer back, say "following up 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point, not a greeting about wellbeing.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full background to the situation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Background belongs below the ask, for the minority who want it. Leading with it loses the majority.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point, not a greeting about wellbeing.</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avoid "kindly do the needful"?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too informal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never states the actual action required</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grammatically incorrect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Customers find it offensive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too informal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if anything over-formal. The problem is not register, it is that the reader is left guessing what action is required.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never says what you actually want.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never states the actual action required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reader has to infer what needful means here, and different people infer differently. Name the action and the date and the ambiguity disappears.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never says what you actually want.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is grammatically incorrect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grammatical. The objection is entirely practical — it transfers the work of deciding what to do onto the reader.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never says what you actually want.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Customers find it offensive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Most do not. They find it unclear, which costs you a round of emails rather than any goodwill.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never says what you actually want.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 are annoyed. What helps most?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Being very formal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Deleting every "you" that assigns blame, and every adverb</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Adding an apology to soften 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Copying their manager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Being very formal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Heavy formality when annoyed reads as cold anger, which is worse than plain irritation. It also makes the message longer.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Remove blame and adverbs; state dates.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Deleting every "you" that assigns blame, and every adverb</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"Your team repeatedly failed" becomes "the drawings were due on the 8th". The fact is unchanged, the accusation is gone, and it is harder to argue with.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Remove blame and adverbs; state dates.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Adding an apology to soften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have nothing to apologise for, and apologising for chasing makes the request read as optional.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Remove blame and adverbs; state dates.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Copying their manager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an escalation, not a tone adjustment. It usually ends cooperation and should come much later, if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Remove blame and adverbs; state dates.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should you reply all?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Whenever you were included in the original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whole group is waiting on the decision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you want visibility for your work</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thread is short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Whenever you were included in the original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Being in the To field does not mean everyone needs your answer. This habit is why people stop reading group threads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when everyone needs the reply.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the whole group is waiting on the decision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genuinely useful — it stops others chasing or duplicating work. Everything else, including "Thanks", goes to the sender only.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when everyone needs the reply.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you want visibility for your work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transparent and it costs everybody else attention. Visibility is better earned in the messages people actually needed.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when everyone needs the reply.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the thread is short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irrelevant. The test is whether each recipient needs your specific reply to do something.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when everyone needs the reply.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email should not be sent at all?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delivery date confirmation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Feedback on a colleague's performance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price correction</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meeting summary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delivery date confirmation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Factual and worth having in writing. Email is exactly the right channel for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about a person's performance.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Feedback on a colleague's performance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concerns a person, tone is unreadable in text, and it becomes a permanent record of a conversation that should have been two-way. Have it face to face.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about a person's performance.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price correction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Commercially important and needs a record. Write it, and make sure the correction is stated plainly rather than buried.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about a person's performance.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meeting summary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One of the most valuable emails there is, as long as it carries decisions, owners and dates rather than discussion.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Anything about a person's performance.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Email writing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Delete the first sentence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almost always carries no information. Start with the point.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Retire four phrases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 per my previous", "do the needful", "revert", "urgent" everywhere.</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Warmth goes at the end</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 line in the close does more than three in the opening.</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Dates instead of adverbs</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"Due on the 8th" lands harder than "repeatedly delayed".</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send angry</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Write it, wait thirty minutes, and change the three things you will spot.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Reply-all almost never</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Only when the whole group is genuinely waiting on your answer.</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A87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A8745"/>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Say the thing, give the date, make one ask, and put the warmth at the end.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6573" y="2403501"/>
            <a:ext cx="223669" cy="149113"/>
          </a:xfrm>
          <a:prstGeom prst="roundRect">
            <a:avLst>
              <a:gd name="adj" fmla="val 30661"/>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909176" y="2552614"/>
            <a:ext cx="1065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09176" y="2552614"/>
            <a:ext cx="58581" cy="5858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neutral chaser</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Dates, no blame, one small request at the end.</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72126" y="3309328"/>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s:icon"/>
          <p:cNvSpPr/>
          <p:nvPr/>
        </p:nvSpPr>
        <p:spPr>
          <a:xfrm>
            <a:off x="913171" y="3288135"/>
            <a:ext cx="48994" cy="42071"/>
          </a:xfrm>
          <a:custGeom>
            <a:avLst/>
            <a:gdLst/>
            <a:ahLst/>
            <a:cxnLst/>
            <a:rect l="l" t="t" r="r" b="b"/>
            <a:pathLst>
              <a:path w="48994" h="42071">
                <a:moveTo>
                  <a:pt x="48994" y="0"/>
                </a:moveTo>
                <a:lnTo>
                  <a:pt x="23964" y="42071"/>
                </a:lnTo>
                <a:lnTo>
                  <a:pt x="0" y="533"/>
                </a:lnTo>
                <a:close/>
              </a:path>
            </a:pathLst>
          </a:cu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de-escalation rewrite</a:t>
            </a:r>
          </a:p>
        </p:txBody>
      </p:sp>
      <p:sp>
        <p:nvSpPr>
          <p:cNvPr id="28"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Removes blame and adverbs, keeps the meaning.</a:t>
            </a:r>
          </a:p>
        </p:txBody>
      </p:sp>
      <p:sp>
        <p:nvSpPr>
          <p:cNvPr id="29"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882549" y="4309101"/>
            <a:ext cx="69231" cy="69231"/>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flipV="1">
            <a:off x="951780" y="4229219"/>
            <a:ext cx="127811" cy="149113"/>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3"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ten-second check</a:t>
            </a:r>
          </a:p>
        </p:txBody>
      </p:sp>
      <p:sp>
        <p:nvSpPr>
          <p:cNvPr id="34"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Recipients, subject, one ask, forwardable.</a:t>
            </a:r>
          </a:p>
        </p:txBody>
      </p:sp>
      <p:sp>
        <p:nvSpPr>
          <p:cNvPr id="35"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LINKS THAT WORK</a:t>
            </a:r>
          </a:p>
        </p:txBody>
      </p:sp>
      <p:sp>
        <p:nvSpPr>
          <p:cNvPr id="36"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8339937" y="2300630"/>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8482584" y="2443276"/>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39"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0"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copilot.microsoft.com</a:t>
            </a:r>
          </a:p>
        </p:txBody>
      </p:sp>
      <p:sp>
        <p:nvSpPr>
          <p:cNvPr id="41"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8339937" y="2977286"/>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82584" y="3119932"/>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4"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5"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chatgpt.com</a:t>
            </a:r>
          </a:p>
        </p:txBody>
      </p:sp>
      <p:sp>
        <p:nvSpPr>
          <p:cNvPr id="46"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7" name="vis:icon"/>
          <p:cNvSpPr/>
          <p:nvPr/>
        </p:nvSpPr>
        <p:spPr>
          <a:xfrm>
            <a:off x="8339937" y="3653942"/>
            <a:ext cx="164592" cy="164592"/>
          </a:xfrm>
          <a:prstGeom prst="ellipse">
            <a:avLst/>
          </a:prstGeom>
          <a:noFill/>
          <a:ln w="1905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8" name="vis:icon"/>
          <p:cNvCxnSpPr/>
          <p:nvPr/>
        </p:nvCxnSpPr>
        <p:spPr>
          <a:xfrm>
            <a:off x="8482584" y="3796588"/>
            <a:ext cx="65836" cy="65837"/>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49"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0"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a:rPr>
              <a:t>gemini.google.com</a:t>
            </a:r>
          </a:p>
        </p:txBody>
      </p:sp>
      <p:sp>
        <p:nvSpPr>
          <p:cNvPr id="51"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A8745"/>
                </a:solidFill>
                <a:latin typeface="Segoe UI Semibold"/>
              </a:rPr>
              <a:t>DO THIS NEXT</a:t>
            </a:r>
          </a:p>
        </p:txBody>
      </p:sp>
      <p:sp>
        <p:nvSpPr>
          <p:cNvPr id="53"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PS-03, English &amp; Grammar for the Workplace. The handful of patterns that cause most misunderstandings at work.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8A5A0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PS-02  ·  Professional Email Writing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8A5A0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A5A0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Throat-clearing</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opening sentence that carries no information. Usually safe to delete.</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Tone</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How a message reads, as distinct from what it says. Text reads sharper than speech.</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Escalation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Involving somebody's manager. A real step, and rarely the second one.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Reply all</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Sending to everyone on a thread. Appropriate only when all of them need it.</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Close</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final line, where warmth belongs. It is read; the opening often is not.</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Ask</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one action you need, with a date attached.</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