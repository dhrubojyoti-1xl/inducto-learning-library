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5.xml"/><Relationship Id="rId3" Type="http://schemas.openxmlformats.org/officeDocument/2006/relationships/slide" Target="slide7.xml"/><Relationship Id="rId4" Type="http://schemas.openxmlformats.org/officeDocument/2006/relationships/slide" Target="slide9.xml"/><Relationship Id="rId5" Type="http://schemas.openxmlformats.org/officeDocument/2006/relationships/slide" Target="slide11.xml"/><Relationship Id="rId6" Type="http://schemas.openxmlformats.org/officeDocument/2006/relationships/slide" Target="slide13.xml"/><Relationship Id="rId7" Type="http://schemas.openxmlformats.org/officeDocument/2006/relationships/slide" Target="slide19.xml"/><Relationship Id="rId8" Type="http://schemas.openxmlformats.org/officeDocument/2006/relationships/slide" Target="slide23.xml"/><Relationship Id="rId9" Type="http://schemas.openxmlformats.org/officeDocument/2006/relationships/slide" Target="slide24.xml"/><Relationship Id="rId10" Type="http://schemas.openxmlformats.org/officeDocument/2006/relationships/slide" Target="slide49.xml"/><Relationship Id="rId11" Type="http://schemas.openxmlformats.org/officeDocument/2006/relationships/slide" Target="slide5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20.xml"/><Relationship Id="rId4" Type="http://schemas.openxmlformats.org/officeDocument/2006/relationships/slide" Target="slide21.xml"/><Relationship Id="rId5" Type="http://schemas.openxmlformats.org/officeDocument/2006/relationships/slide" Target="slide2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9.xml"/><Relationship Id="rId3" Type="http://schemas.openxmlformats.org/officeDocument/2006/relationships/slide" Target="slide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9.xml"/><Relationship Id="rId3" Type="http://schemas.openxmlformats.org/officeDocument/2006/relationships/slide" Target="slide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9.xml"/><Relationship Id="rId3" Type="http://schemas.openxmlformats.org/officeDocument/2006/relationships/slide" Target="slide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youtube.com/watch?v=1XctnF7C74s" TargetMode="External"/><Relationship Id="rId3" Type="http://schemas.openxmlformats.org/officeDocument/2006/relationships/slide" Target="slide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25.xml"/><Relationship Id="rId4" Type="http://schemas.openxmlformats.org/officeDocument/2006/relationships/slide" Target="slide26.xml"/><Relationship Id="rId5" Type="http://schemas.openxmlformats.org/officeDocument/2006/relationships/slide" Target="slide27.xml"/><Relationship Id="rId6" Type="http://schemas.openxmlformats.org/officeDocument/2006/relationships/slide" Target="slide2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4.xml"/><Relationship Id="rId3" Type="http://schemas.openxmlformats.org/officeDocument/2006/relationships/slide" Target="slide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9.xml"/><Relationship Id="rId3" Type="http://schemas.openxmlformats.org/officeDocument/2006/relationships/slide" Target="slide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4.xml"/><Relationship Id="rId3" Type="http://schemas.openxmlformats.org/officeDocument/2006/relationships/slide" Target="slide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4.xml"/><Relationship Id="rId3" Type="http://schemas.openxmlformats.org/officeDocument/2006/relationships/slide" Target="slide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30.xml"/><Relationship Id="rId4" Type="http://schemas.openxmlformats.org/officeDocument/2006/relationships/slide" Target="slide31.xml"/><Relationship Id="rId5" Type="http://schemas.openxmlformats.org/officeDocument/2006/relationships/slide" Target="slide32.xml"/><Relationship Id="rId6" Type="http://schemas.openxmlformats.org/officeDocument/2006/relationships/slide" Target="slide3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9.xml"/><Relationship Id="rId3" Type="http://schemas.openxmlformats.org/officeDocument/2006/relationships/slide" Target="slide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4.xml"/><Relationship Id="rId3" Type="http://schemas.openxmlformats.org/officeDocument/2006/relationships/slide" Target="slide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9.xml"/><Relationship Id="rId3" Type="http://schemas.openxmlformats.org/officeDocument/2006/relationships/slide" Target="slide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9.xml"/><Relationship Id="rId3" Type="http://schemas.openxmlformats.org/officeDocument/2006/relationships/slide" Target="slide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35.xml"/><Relationship Id="rId4" Type="http://schemas.openxmlformats.org/officeDocument/2006/relationships/slide" Target="slide36.xml"/><Relationship Id="rId5" Type="http://schemas.openxmlformats.org/officeDocument/2006/relationships/slide" Target="slide37.xml"/><Relationship Id="rId6" Type="http://schemas.openxmlformats.org/officeDocument/2006/relationships/slide" Target="slide3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4.xml"/><Relationship Id="rId3" Type="http://schemas.openxmlformats.org/officeDocument/2006/relationships/slide" Target="slide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9.xml"/><Relationship Id="rId3" Type="http://schemas.openxmlformats.org/officeDocument/2006/relationships/slide" Target="slide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4.xml"/><Relationship Id="rId3" Type="http://schemas.openxmlformats.org/officeDocument/2006/relationships/slide" Target="slide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4.xml"/><Relationship Id="rId3" Type="http://schemas.openxmlformats.org/officeDocument/2006/relationships/slide" Target="slide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40.xml"/><Relationship Id="rId4" Type="http://schemas.openxmlformats.org/officeDocument/2006/relationships/slide" Target="slide41.xml"/><Relationship Id="rId5" Type="http://schemas.openxmlformats.org/officeDocument/2006/relationships/slide" Target="slide42.xml"/><Relationship Id="rId6" Type="http://schemas.openxmlformats.org/officeDocument/2006/relationships/slide" Target="slide4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9.xml"/><Relationship Id="rId3" Type="http://schemas.openxmlformats.org/officeDocument/2006/relationships/slide" Target="slide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4.xml"/><Relationship Id="rId3" Type="http://schemas.openxmlformats.org/officeDocument/2006/relationships/slide" Target="slide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9.xml"/><Relationship Id="rId3" Type="http://schemas.openxmlformats.org/officeDocument/2006/relationships/slide" Target="slide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9.xml"/><Relationship Id="rId3" Type="http://schemas.openxmlformats.org/officeDocument/2006/relationships/slide" Target="slide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45.xml"/><Relationship Id="rId4" Type="http://schemas.openxmlformats.org/officeDocument/2006/relationships/slide" Target="slide46.xml"/><Relationship Id="rId5" Type="http://schemas.openxmlformats.org/officeDocument/2006/relationships/slide" Target="slide47.xml"/><Relationship Id="rId6" Type="http://schemas.openxmlformats.org/officeDocument/2006/relationships/slide" Target="slide48.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4.xml"/><Relationship Id="rId3" Type="http://schemas.openxmlformats.org/officeDocument/2006/relationships/slide" Target="slide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9.xml"/><Relationship Id="rId3" Type="http://schemas.openxmlformats.org/officeDocument/2006/relationships/slide" Target="slide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4.xml"/><Relationship Id="rId3" Type="http://schemas.openxmlformats.org/officeDocument/2006/relationships/slide" Target="slide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4.xml"/><Relationship Id="rId3" Type="http://schemas.openxmlformats.org/officeDocument/2006/relationships/slide" Target="slide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opilot.microsoft.com" TargetMode="External"/><Relationship Id="rId3" Type="http://schemas.openxmlformats.org/officeDocument/2006/relationships/hyperlink" Target="https://chatgpt.com" TargetMode="External"/><Relationship Id="rId4" Type="http://schemas.openxmlformats.org/officeDocument/2006/relationships/hyperlink" Target="https://gemini.google.com" TargetMode="External"/><Relationship Id="rId5" Type="http://schemas.openxmlformats.org/officeDocument/2006/relationships/slide" Target="slide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vis:bg"/>
          <p:cNvSpPr/>
          <p:nvPr/>
        </p:nvSpPr>
        <p:spPr>
          <a:xfrm>
            <a:off x="0" y="0"/>
            <a:ext cx="12191695" cy="6858000"/>
          </a:xfrm>
          <a:prstGeom prst="rect">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vis:coverspine"/>
          <p:cNvSpPr/>
          <p:nvPr/>
        </p:nvSpPr>
        <p:spPr>
          <a:xfrm>
            <a:off x="0" y="0"/>
            <a:ext cx="201168" cy="6858000"/>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 name="vis:coverlayer"/>
          <p:cNvSpPr/>
          <p:nvPr/>
        </p:nvSpPr>
        <p:spPr>
          <a:xfrm>
            <a:off x="7589520" y="3595420"/>
            <a:ext cx="2765145" cy="790041"/>
          </a:xfrm>
          <a:prstGeom prst="roundRect">
            <a:avLst>
              <a:gd name="adj" fmla="val 11574"/>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 name="vis:coverlayer"/>
          <p:cNvSpPr/>
          <p:nvPr/>
        </p:nvSpPr>
        <p:spPr>
          <a:xfrm>
            <a:off x="7900416" y="3028492"/>
            <a:ext cx="2765145" cy="790041"/>
          </a:xfrm>
          <a:prstGeom prst="roundRect">
            <a:avLst>
              <a:gd name="adj" fmla="val 11574"/>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vis:coverlayer"/>
          <p:cNvSpPr/>
          <p:nvPr/>
        </p:nvSpPr>
        <p:spPr>
          <a:xfrm>
            <a:off x="8211312" y="2461564"/>
            <a:ext cx="2765145" cy="790041"/>
          </a:xfrm>
          <a:prstGeom prst="roundRect">
            <a:avLst>
              <a:gd name="adj" fmla="val 11574"/>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7" name="vis:coverlayer"/>
          <p:cNvSpPr/>
          <p:nvPr/>
        </p:nvSpPr>
        <p:spPr>
          <a:xfrm>
            <a:off x="8522208" y="1894636"/>
            <a:ext cx="2765145" cy="790041"/>
          </a:xfrm>
          <a:prstGeom prst="roundRect">
            <a:avLst>
              <a:gd name="adj" fmla="val 11574"/>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seclabel"/>
          <p:cNvSpPr txBox="1"/>
          <p:nvPr/>
        </p:nvSpPr>
        <p:spPr>
          <a:xfrm>
            <a:off x="960120" y="1114044"/>
            <a:ext cx="5501487"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AA8745"/>
                </a:solidFill>
                <a:latin typeface="Segoe UI Semibold"/>
              </a:rPr>
              <a:t>PROFESSIONAL SKILLS</a:t>
            </a:r>
          </a:p>
        </p:txBody>
      </p:sp>
      <p:sp>
        <p:nvSpPr>
          <p:cNvPr id="9" name="title:cover"/>
          <p:cNvSpPr txBox="1"/>
          <p:nvPr/>
        </p:nvSpPr>
        <p:spPr>
          <a:xfrm>
            <a:off x="960120" y="1571244"/>
            <a:ext cx="5501487" cy="1507744"/>
          </a:xfrm>
          <a:prstGeom prst="rect">
            <a:avLst/>
          </a:prstGeom>
          <a:noFill/>
        </p:spPr>
        <p:txBody>
          <a:bodyPr wrap="square" lIns="0" rIns="0" tIns="0" bIns="0" anchor="t">
            <a:spAutoFit/>
          </a:bodyPr>
          <a:lstStyle/>
          <a:p>
            <a:pPr algn="l">
              <a:lnSpc>
                <a:spcPts val="5720"/>
              </a:lnSpc>
              <a:spcBef>
                <a:spcPts val="0"/>
              </a:spcBef>
              <a:spcAft>
                <a:spcPts val="0"/>
              </a:spcAft>
            </a:pPr>
            <a:r>
              <a:rPr sz="4400" b="0">
                <a:solidFill>
                  <a:srgbClr val="FFFFFF"/>
                </a:solidFill>
                <a:latin typeface="Segoe UI Semibold"/>
              </a:rPr>
              <a:t>Professional Email Writing</a:t>
            </a:r>
          </a:p>
        </p:txBody>
      </p:sp>
      <p:cxnSp>
        <p:nvCxnSpPr>
          <p:cNvPr id="10" name="vis:rule"/>
          <p:cNvCxnSpPr/>
          <p:nvPr/>
        </p:nvCxnSpPr>
        <p:spPr>
          <a:xfrm>
            <a:off x="960120" y="3353308"/>
            <a:ext cx="3606698" cy="0"/>
          </a:xfrm>
          <a:prstGeom prst="line">
            <a:avLst/>
          </a:prstGeom>
          <a:ln w="1270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11" name="body:coversub"/>
          <p:cNvSpPr txBox="1"/>
          <p:nvPr/>
        </p:nvSpPr>
        <p:spPr>
          <a:xfrm>
            <a:off x="960120" y="3627628"/>
            <a:ext cx="5501487" cy="781304"/>
          </a:xfrm>
          <a:prstGeom prst="rect">
            <a:avLst/>
          </a:prstGeom>
          <a:noFill/>
        </p:spPr>
        <p:txBody>
          <a:bodyPr wrap="square" lIns="0" rIns="0" tIns="0" bIns="0" anchor="t">
            <a:spAutoFit/>
          </a:bodyPr>
          <a:lstStyle/>
          <a:p>
            <a:pPr algn="l">
              <a:lnSpc>
                <a:spcPts val="2860"/>
              </a:lnSpc>
              <a:spcBef>
                <a:spcPts val="0"/>
              </a:spcBef>
              <a:spcAft>
                <a:spcPts val="0"/>
              </a:spcAft>
            </a:pPr>
            <a:r>
              <a:rPr sz="2200" b="0">
                <a:solidFill>
                  <a:srgbClr val="C9D1DE"/>
                </a:solidFill>
                <a:latin typeface="Segoe UI"/>
              </a:rPr>
              <a:t>The mechanics — subject lines, openings, tone, and knowing when not to send at all.</a:t>
            </a:r>
          </a:p>
        </p:txBody>
      </p:sp>
      <p:sp>
        <p:nvSpPr>
          <p:cNvPr id="12" name="vis:chip"/>
          <p:cNvSpPr/>
          <p:nvPr/>
        </p:nvSpPr>
        <p:spPr>
          <a:xfrm>
            <a:off x="960120" y="4811268"/>
            <a:ext cx="961009" cy="310896"/>
          </a:xfrm>
          <a:prstGeom prst="roundRect">
            <a:avLst>
              <a:gd name="adj" fmla="val 14705"/>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3" name="vis:chiptext"/>
          <p:cNvSpPr txBox="1"/>
          <p:nvPr/>
        </p:nvSpPr>
        <p:spPr>
          <a:xfrm>
            <a:off x="1115568" y="4856988"/>
            <a:ext cx="650112"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PS-02</a:t>
            </a:r>
          </a:p>
        </p:txBody>
      </p:sp>
      <p:sp>
        <p:nvSpPr>
          <p:cNvPr id="14" name="vis:chip"/>
          <p:cNvSpPr/>
          <p:nvPr/>
        </p:nvSpPr>
        <p:spPr>
          <a:xfrm>
            <a:off x="2067433" y="4811268"/>
            <a:ext cx="1453134" cy="310896"/>
          </a:xfrm>
          <a:prstGeom prst="roundRect">
            <a:avLst>
              <a:gd name="adj" fmla="val 14705"/>
            </a:avLst>
          </a:prstGeom>
          <a:no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vis:chiptext"/>
          <p:cNvSpPr txBox="1"/>
          <p:nvPr/>
        </p:nvSpPr>
        <p:spPr>
          <a:xfrm>
            <a:off x="2222881" y="4856988"/>
            <a:ext cx="1142237"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C9D1DE"/>
                </a:solidFill>
                <a:latin typeface="Segoe UI Semibold"/>
              </a:rPr>
              <a:t>17 MINUTES</a:t>
            </a:r>
          </a:p>
        </p:txBody>
      </p:sp>
      <p:sp>
        <p:nvSpPr>
          <p:cNvPr id="16" name="vis:chip"/>
          <p:cNvSpPr/>
          <p:nvPr/>
        </p:nvSpPr>
        <p:spPr>
          <a:xfrm>
            <a:off x="3666871" y="4811268"/>
            <a:ext cx="2302029" cy="310896"/>
          </a:xfrm>
          <a:prstGeom prst="roundRect">
            <a:avLst>
              <a:gd name="adj" fmla="val 14705"/>
            </a:avLst>
          </a:prstGeom>
          <a:no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chiptext"/>
          <p:cNvSpPr txBox="1"/>
          <p:nvPr/>
        </p:nvSpPr>
        <p:spPr>
          <a:xfrm>
            <a:off x="3822319" y="4856988"/>
            <a:ext cx="199113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C9D1DE"/>
                </a:solidFill>
                <a:latin typeface="Segoe UI Semibold"/>
              </a:rPr>
              <a:t>NEW JOINERS + STAFF</a:t>
            </a:r>
          </a:p>
        </p:txBody>
      </p:sp>
      <p:sp>
        <p:nvSpPr>
          <p:cNvPr id="18" name="cell:coverhint"/>
          <p:cNvSpPr txBox="1"/>
          <p:nvPr/>
        </p:nvSpPr>
        <p:spPr>
          <a:xfrm>
            <a:off x="960120" y="5724144"/>
            <a:ext cx="5501487" cy="43891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48D9A"/>
                </a:solidFill>
                <a:latin typeface="Segoe UI"/>
              </a:rPr>
              <a:t>Start here  →  the next slide shows what this saves you.</a:t>
            </a:r>
          </a:p>
        </p:txBody>
      </p:sp>
      <p:sp>
        <p:nvSpPr>
          <p:cNvPr id="19"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48D9A"/>
                </a:solidFill>
                <a:latin typeface="Segoe UI"/>
              </a:rPr>
              <a:t>PS-02  ·  Professional Email Writing</a:t>
            </a:r>
          </a:p>
        </p:txBody>
      </p:sp>
      <p:sp>
        <p:nvSpPr>
          <p:cNvPr id="20"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848D9A"/>
                </a:solidFill>
                <a:latin typeface="Segoe UI"/>
              </a:rPr>
              <a:t>Inducto Learning Library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WHY THIS MATTERS TO YOU</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Pooja's email starts a fight</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PS-02  ·  Professional Email Writing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vis:story"/>
          <p:cNvSpPr/>
          <p:nvPr/>
        </p:nvSpPr>
        <p:spPr>
          <a:xfrm>
            <a:off x="502920" y="1719072"/>
            <a:ext cx="6448882" cy="3273552"/>
          </a:xfrm>
          <a:prstGeom prst="roundRect">
            <a:avLst>
              <a:gd name="adj" fmla="val 2793"/>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storyspine"/>
          <p:cNvSpPr/>
          <p:nvPr/>
        </p:nvSpPr>
        <p:spPr>
          <a:xfrm>
            <a:off x="502920" y="1719072"/>
            <a:ext cx="68580" cy="3273552"/>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badge"/>
          <p:cNvSpPr/>
          <p:nvPr/>
        </p:nvSpPr>
        <p:spPr>
          <a:xfrm>
            <a:off x="813816" y="2029967"/>
            <a:ext cx="694944" cy="694944"/>
          </a:xfrm>
          <a:prstGeom prst="roundRect">
            <a:avLst>
              <a:gd name="adj" fmla="val 131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icon"/>
          <p:cNvSpPr/>
          <p:nvPr/>
        </p:nvSpPr>
        <p:spPr>
          <a:xfrm>
            <a:off x="1002284" y="2269028"/>
            <a:ext cx="318006" cy="216822"/>
          </a:xfrm>
          <a:prstGeom prst="roundRect">
            <a:avLst>
              <a:gd name="adj" fmla="val 21086"/>
            </a:avLst>
          </a:prstGeom>
          <a:noFill/>
          <a:ln w="1905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02284" y="2283483"/>
            <a:ext cx="159004" cy="115639"/>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cxnSp>
        <p:nvCxnSpPr>
          <p:cNvPr id="20" name="vis:icon"/>
          <p:cNvCxnSpPr/>
          <p:nvPr/>
        </p:nvCxnSpPr>
        <p:spPr>
          <a:xfrm flipV="1">
            <a:off x="1161288" y="2283483"/>
            <a:ext cx="159003" cy="115639"/>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21" name="body:scenario"/>
          <p:cNvSpPr txBox="1"/>
          <p:nvPr/>
        </p:nvSpPr>
        <p:spPr>
          <a:xfrm>
            <a:off x="813816" y="2944368"/>
            <a:ext cx="5827090" cy="1792224"/>
          </a:xfrm>
          <a:prstGeom prst="rect">
            <a:avLst/>
          </a:prstGeom>
          <a:noFill/>
        </p:spPr>
        <p:txBody>
          <a:bodyPr wrap="square" lIns="0" rIns="0" tIns="0" bIns="0" anchor="t">
            <a:spAutoFit/>
          </a:bodyPr>
          <a:lstStyle/>
          <a:p>
            <a:pPr algn="l">
              <a:lnSpc>
                <a:spcPts val="2340"/>
              </a:lnSpc>
              <a:spcBef>
                <a:spcPts val="0"/>
              </a:spcBef>
              <a:spcAft>
                <a:spcPts val="0"/>
              </a:spcAft>
            </a:pPr>
            <a:r>
              <a:rPr sz="1800" b="0">
                <a:solidFill>
                  <a:srgbClr val="101826"/>
                </a:solidFill>
                <a:latin typeface="Segoe UI"/>
              </a:rPr>
              <a:t>Pooja handles customer service in Kochi. She writes "As per my previous email, kindly do the needful urgently." She means it neutrally. The customer reads it as sarcasm and escalates to her director.</a:t>
            </a:r>
          </a:p>
        </p:txBody>
      </p:sp>
      <p:sp>
        <p:nvSpPr>
          <p:cNvPr id="22" name="vis:cost"/>
          <p:cNvSpPr/>
          <p:nvPr/>
        </p:nvSpPr>
        <p:spPr>
          <a:xfrm>
            <a:off x="502920" y="5230368"/>
            <a:ext cx="6448882" cy="786384"/>
          </a:xfrm>
          <a:prstGeom prst="roundRect">
            <a:avLst>
              <a:gd name="adj" fmla="val 9302"/>
            </a:avLst>
          </a:prstGeom>
          <a:solidFill>
            <a:srgbClr val="FFFFFF"/>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costspine"/>
          <p:cNvSpPr/>
          <p:nvPr/>
        </p:nvSpPr>
        <p:spPr>
          <a:xfrm>
            <a:off x="502920" y="5230368"/>
            <a:ext cx="68580" cy="786384"/>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icon"/>
          <p:cNvSpPr/>
          <p:nvPr/>
        </p:nvSpPr>
        <p:spPr>
          <a:xfrm>
            <a:off x="826983" y="5478719"/>
            <a:ext cx="302849" cy="276514"/>
          </a:xfrm>
          <a:custGeom>
            <a:avLst/>
            <a:gdLst/>
            <a:ahLst/>
            <a:cxnLst/>
            <a:rect l="l" t="t" r="r" b="b"/>
            <a:pathLst>
              <a:path w="302849" h="276514">
                <a:moveTo>
                  <a:pt x="151425" y="0"/>
                </a:moveTo>
                <a:lnTo>
                  <a:pt x="302849" y="276514"/>
                </a:lnTo>
                <a:lnTo>
                  <a:pt x="0" y="276514"/>
                </a:lnTo>
                <a:close/>
              </a:path>
            </a:pathLst>
          </a:custGeom>
          <a:noFill/>
          <a:ln w="1905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5" name="vis:icon"/>
          <p:cNvCxnSpPr/>
          <p:nvPr/>
        </p:nvCxnSpPr>
        <p:spPr>
          <a:xfrm>
            <a:off x="978408" y="5584057"/>
            <a:ext cx="0" cy="82296"/>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sp>
        <p:nvSpPr>
          <p:cNvPr id="26" name="vis:icon"/>
          <p:cNvSpPr/>
          <p:nvPr/>
        </p:nvSpPr>
        <p:spPr>
          <a:xfrm>
            <a:off x="961948" y="5695980"/>
            <a:ext cx="32918" cy="32918"/>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body:cost"/>
          <p:cNvSpPr txBox="1"/>
          <p:nvPr/>
        </p:nvSpPr>
        <p:spPr>
          <a:xfrm>
            <a:off x="1362456" y="5358383"/>
            <a:ext cx="5315026" cy="530352"/>
          </a:xfrm>
          <a:prstGeom prst="rect">
            <a:avLst/>
          </a:prstGeom>
          <a:noFill/>
        </p:spPr>
        <p:txBody>
          <a:bodyPr wrap="square" lIns="0" rIns="0" tIns="0" bIns="0" anchor="ctr">
            <a:spAutoFit/>
          </a:bodyPr>
          <a:lstStyle/>
          <a:p>
            <a:pPr algn="l">
              <a:lnSpc>
                <a:spcPts val="2080"/>
              </a:lnSpc>
              <a:spcBef>
                <a:spcPts val="0"/>
              </a:spcBef>
              <a:spcAft>
                <a:spcPts val="0"/>
              </a:spcAft>
            </a:pPr>
            <a:r>
              <a:rPr sz="1600" b="0">
                <a:solidFill>
                  <a:srgbClr val="C62828"/>
                </a:solidFill>
                <a:latin typeface="Segoe UI Semibold"/>
              </a:rPr>
              <a:t>A routine query turned into a complaint about her.</a:t>
            </a:r>
          </a:p>
        </p:txBody>
      </p:sp>
      <p:sp>
        <p:nvSpPr>
          <p:cNvPr id="28" name="vis:fix"/>
          <p:cNvSpPr/>
          <p:nvPr/>
        </p:nvSpPr>
        <p:spPr>
          <a:xfrm>
            <a:off x="8082076" y="1719072"/>
            <a:ext cx="3606698" cy="4297680"/>
          </a:xfrm>
          <a:prstGeom prst="roundRect">
            <a:avLst>
              <a:gd name="adj" fmla="val 2535"/>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seclabel"/>
          <p:cNvSpPr txBox="1"/>
          <p:nvPr/>
        </p:nvSpPr>
        <p:spPr>
          <a:xfrm>
            <a:off x="8411260" y="2066543"/>
            <a:ext cx="2948330"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AA8745"/>
                </a:solidFill>
                <a:latin typeface="Segoe UI Semibold"/>
              </a:rPr>
              <a:t>AFTER THIS MODULE</a:t>
            </a:r>
          </a:p>
        </p:txBody>
      </p:sp>
      <p:cxnSp>
        <p:nvCxnSpPr>
          <p:cNvPr id="30" name="vis:rule"/>
          <p:cNvCxnSpPr/>
          <p:nvPr/>
        </p:nvCxnSpPr>
        <p:spPr>
          <a:xfrm>
            <a:off x="8411260" y="2505456"/>
            <a:ext cx="2948331" cy="0"/>
          </a:xfrm>
          <a:prstGeom prst="line">
            <a:avLst/>
          </a:prstGeom>
          <a:ln w="1270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31" name="body:fix"/>
          <p:cNvSpPr txBox="1"/>
          <p:nvPr/>
        </p:nvSpPr>
        <p:spPr>
          <a:xfrm>
            <a:off x="8411260" y="2724912"/>
            <a:ext cx="2948330" cy="2926080"/>
          </a:xfrm>
          <a:prstGeom prst="rect">
            <a:avLst/>
          </a:prstGeom>
          <a:noFill/>
        </p:spPr>
        <p:txBody>
          <a:bodyPr wrap="square" lIns="0" rIns="0" tIns="0" bIns="0" anchor="t">
            <a:spAutoFit/>
          </a:bodyPr>
          <a:lstStyle/>
          <a:p>
            <a:pPr algn="l">
              <a:lnSpc>
                <a:spcPts val="2730"/>
              </a:lnSpc>
              <a:spcBef>
                <a:spcPts val="0"/>
              </a:spcBef>
              <a:spcAft>
                <a:spcPts val="0"/>
              </a:spcAft>
            </a:pPr>
            <a:r>
              <a:rPr sz="2100" b="0">
                <a:solidFill>
                  <a:srgbClr val="FFFFFF"/>
                </a:solidFill>
                <a:latin typeface="Segoe UI Semibold"/>
              </a:rPr>
              <a:t>Four phrases to retire, and one structure that never reads badly.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WHAT YOU'LL BE ABLE TO DO</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By the end, you can do these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PS-02  ·  Professional Email Writing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vis:outcome"/>
          <p:cNvSpPr/>
          <p:nvPr/>
        </p:nvSpPr>
        <p:spPr>
          <a:xfrm>
            <a:off x="502920" y="1719072"/>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badge"/>
          <p:cNvSpPr/>
          <p:nvPr/>
        </p:nvSpPr>
        <p:spPr>
          <a:xfrm>
            <a:off x="777240" y="1792224"/>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936886" y="1969559"/>
            <a:ext cx="247634" cy="165089"/>
          </a:xfrm>
          <a:prstGeom prst="roundRect">
            <a:avLst>
              <a:gd name="adj" fmla="val 27694"/>
            </a:avLst>
          </a:prstGeom>
          <a:noFill/>
          <a:ln w="1905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flipH="1">
            <a:off x="984055" y="2134648"/>
            <a:ext cx="11792" cy="64857"/>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cxnSp>
        <p:nvCxnSpPr>
          <p:cNvPr id="19" name="vis:icon"/>
          <p:cNvCxnSpPr/>
          <p:nvPr/>
        </p:nvCxnSpPr>
        <p:spPr>
          <a:xfrm flipV="1">
            <a:off x="984055" y="2134648"/>
            <a:ext cx="64856" cy="64857"/>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20" name="cell:outcome"/>
          <p:cNvSpPr txBox="1"/>
          <p:nvPr/>
        </p:nvSpPr>
        <p:spPr>
          <a:xfrm>
            <a:off x="1545336" y="1828800"/>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Write an opening line that is not throat-clearing</a:t>
            </a:r>
          </a:p>
        </p:txBody>
      </p:sp>
      <p:sp>
        <p:nvSpPr>
          <p:cNvPr id="21" name="vis:outcome"/>
          <p:cNvSpPr/>
          <p:nvPr/>
        </p:nvSpPr>
        <p:spPr>
          <a:xfrm>
            <a:off x="502920" y="2615184"/>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badge"/>
          <p:cNvSpPr/>
          <p:nvPr/>
        </p:nvSpPr>
        <p:spPr>
          <a:xfrm>
            <a:off x="777240" y="2688336"/>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icon"/>
          <p:cNvSpPr/>
          <p:nvPr/>
        </p:nvSpPr>
        <p:spPr>
          <a:xfrm>
            <a:off x="930990" y="2842086"/>
            <a:ext cx="259426" cy="259426"/>
          </a:xfrm>
          <a:prstGeom prst="ellipse">
            <a:avLst/>
          </a:prstGeom>
          <a:noFill/>
          <a:ln w="1905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4" name="vis:icon"/>
          <p:cNvCxnSpPr/>
          <p:nvPr/>
        </p:nvCxnSpPr>
        <p:spPr>
          <a:xfrm>
            <a:off x="969315" y="2880411"/>
            <a:ext cx="182777" cy="182777"/>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25" name="cell:outcome"/>
          <p:cNvSpPr txBox="1"/>
          <p:nvPr/>
        </p:nvSpPr>
        <p:spPr>
          <a:xfrm>
            <a:off x="1545336" y="2724912"/>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Retire four phrases that read worse than you intend</a:t>
            </a:r>
          </a:p>
        </p:txBody>
      </p:sp>
      <p:sp>
        <p:nvSpPr>
          <p:cNvPr id="26" name="vis:outcome"/>
          <p:cNvSpPr/>
          <p:nvPr/>
        </p:nvSpPr>
        <p:spPr>
          <a:xfrm>
            <a:off x="502920" y="3511296"/>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vis:badge"/>
          <p:cNvSpPr/>
          <p:nvPr/>
        </p:nvSpPr>
        <p:spPr>
          <a:xfrm>
            <a:off x="777240" y="3584448"/>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icon"/>
          <p:cNvSpPr/>
          <p:nvPr/>
        </p:nvSpPr>
        <p:spPr>
          <a:xfrm>
            <a:off x="1004691" y="3741146"/>
            <a:ext cx="112024" cy="112024"/>
          </a:xfrm>
          <a:prstGeom prst="ellipse">
            <a:avLst/>
          </a:prstGeom>
          <a:noFill/>
          <a:ln w="1905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icon"/>
          <p:cNvSpPr/>
          <p:nvPr/>
        </p:nvSpPr>
        <p:spPr>
          <a:xfrm>
            <a:off x="942782" y="3897392"/>
            <a:ext cx="235843" cy="103181"/>
          </a:xfrm>
          <a:custGeom>
            <a:avLst/>
            <a:gdLst/>
            <a:ahLst/>
            <a:cxnLst/>
            <a:rect l="l" t="t" r="r" b="b"/>
            <a:pathLst>
              <a:path w="235843" h="103181">
                <a:moveTo>
                  <a:pt x="0" y="103181"/>
                </a:moveTo>
                <a:lnTo>
                  <a:pt x="17689" y="0"/>
                </a:lnTo>
                <a:lnTo>
                  <a:pt x="218154" y="0"/>
                </a:lnTo>
                <a:lnTo>
                  <a:pt x="235843" y="103181"/>
                </a:lnTo>
              </a:path>
            </a:pathLst>
          </a:custGeom>
          <a:noFill/>
          <a:ln w="1905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cell:outcome"/>
          <p:cNvSpPr txBox="1"/>
          <p:nvPr/>
        </p:nvSpPr>
        <p:spPr>
          <a:xfrm>
            <a:off x="1545336" y="3621024"/>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Keep tone neutral when you are annoyed</a:t>
            </a:r>
          </a:p>
        </p:txBody>
      </p:sp>
      <p:sp>
        <p:nvSpPr>
          <p:cNvPr id="31" name="vis:outcome"/>
          <p:cNvSpPr/>
          <p:nvPr/>
        </p:nvSpPr>
        <p:spPr>
          <a:xfrm>
            <a:off x="502920" y="4407408"/>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badge"/>
          <p:cNvSpPr/>
          <p:nvPr/>
        </p:nvSpPr>
        <p:spPr>
          <a:xfrm>
            <a:off x="777240" y="4480560"/>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icon"/>
          <p:cNvSpPr/>
          <p:nvPr/>
        </p:nvSpPr>
        <p:spPr>
          <a:xfrm>
            <a:off x="930990" y="4634310"/>
            <a:ext cx="259426" cy="259426"/>
          </a:xfrm>
          <a:prstGeom prst="ellipse">
            <a:avLst/>
          </a:prstGeom>
          <a:noFill/>
          <a:ln w="1905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4" name="vis:icon"/>
          <p:cNvCxnSpPr/>
          <p:nvPr/>
        </p:nvCxnSpPr>
        <p:spPr>
          <a:xfrm flipV="1">
            <a:off x="1060704" y="4687375"/>
            <a:ext cx="0" cy="76649"/>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cxnSp>
        <p:nvCxnSpPr>
          <p:cNvPr id="35" name="vis:icon"/>
          <p:cNvCxnSpPr/>
          <p:nvPr/>
        </p:nvCxnSpPr>
        <p:spPr>
          <a:xfrm>
            <a:off x="1060704" y="4764024"/>
            <a:ext cx="64856" cy="23584"/>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36" name="cell:outcome"/>
          <p:cNvSpPr txBox="1"/>
          <p:nvPr/>
        </p:nvSpPr>
        <p:spPr>
          <a:xfrm>
            <a:off x="1545336" y="4517136"/>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Know the three times you should not send at all</a:t>
            </a:r>
          </a:p>
        </p:txBody>
      </p:sp>
      <p:sp>
        <p:nvSpPr>
          <p:cNvPr id="37" name="vis:outcome"/>
          <p:cNvSpPr/>
          <p:nvPr/>
        </p:nvSpPr>
        <p:spPr>
          <a:xfrm>
            <a:off x="502920" y="5303520"/>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8" name="vis:badge"/>
          <p:cNvSpPr/>
          <p:nvPr/>
        </p:nvSpPr>
        <p:spPr>
          <a:xfrm>
            <a:off x="777240" y="5376672"/>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9" name="vis:icon"/>
          <p:cNvCxnSpPr/>
          <p:nvPr/>
        </p:nvCxnSpPr>
        <p:spPr>
          <a:xfrm>
            <a:off x="954575" y="5666032"/>
            <a:ext cx="76648" cy="76648"/>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cxnSp>
        <p:nvCxnSpPr>
          <p:cNvPr id="40" name="vis:icon"/>
          <p:cNvCxnSpPr/>
          <p:nvPr/>
        </p:nvCxnSpPr>
        <p:spPr>
          <a:xfrm flipV="1">
            <a:off x="1031223" y="5577591"/>
            <a:ext cx="141505" cy="165089"/>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41" name="cell:outcome"/>
          <p:cNvSpPr txBox="1"/>
          <p:nvPr/>
        </p:nvSpPr>
        <p:spPr>
          <a:xfrm>
            <a:off x="1545336" y="5413248"/>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Run a ten-second check before every external email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INTERACTIVE MENU</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Tap any line to jump straight there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PS-02  ·  Professional Email Writing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cell:menuhint"/>
          <p:cNvSpPr txBox="1"/>
          <p:nvPr/>
        </p:nvSpPr>
        <p:spPr>
          <a:xfrm>
            <a:off x="502920" y="1554480"/>
            <a:ext cx="11185855" cy="219456"/>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Every slide has a Menu button in the top-right corner to bring you back here.</a:t>
            </a:r>
          </a:p>
        </p:txBody>
      </p:sp>
      <p:sp>
        <p:nvSpPr>
          <p:cNvPr id="8" name="nav:menurow">
            <a:hlinkClick action="ppaction://hlinksldjump" r:id="rId2"/>
          </p:cNvPr>
          <p:cNvSpPr/>
          <p:nvPr/>
        </p:nvSpPr>
        <p:spPr>
          <a:xfrm>
            <a:off x="502920" y="1828800"/>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vis:menubar"/>
          <p:cNvSpPr/>
          <p:nvPr/>
        </p:nvSpPr>
        <p:spPr>
          <a:xfrm>
            <a:off x="502920" y="1828800"/>
            <a:ext cx="68580" cy="336499"/>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0" name="vis:menunum"/>
          <p:cNvSpPr txBox="1"/>
          <p:nvPr/>
        </p:nvSpPr>
        <p:spPr>
          <a:xfrm>
            <a:off x="813816" y="1883664"/>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8A5A00"/>
                </a:solidFill>
                <a:latin typeface="Segoe UI Semibold"/>
              </a:rPr>
              <a:t>01</a:t>
            </a:r>
          </a:p>
        </p:txBody>
      </p:sp>
      <p:sp>
        <p:nvSpPr>
          <p:cNvPr id="11" name="cell:menulabel"/>
          <p:cNvSpPr txBox="1"/>
          <p:nvPr/>
        </p:nvSpPr>
        <p:spPr>
          <a:xfrm>
            <a:off x="1344168" y="1883664"/>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The opening line</a:t>
            </a:r>
          </a:p>
        </p:txBody>
      </p:sp>
      <p:sp>
        <p:nvSpPr>
          <p:cNvPr id="12" name="cell:menusub"/>
          <p:cNvSpPr txBox="1"/>
          <p:nvPr/>
        </p:nvSpPr>
        <p:spPr>
          <a:xfrm>
            <a:off x="7134682" y="1883664"/>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Delete the first sentence</a:t>
            </a:r>
          </a:p>
        </p:txBody>
      </p:sp>
      <p:cxnSp>
        <p:nvCxnSpPr>
          <p:cNvPr id="13" name="vis:menuarrow"/>
          <p:cNvCxnSpPr/>
          <p:nvPr/>
        </p:nvCxnSpPr>
        <p:spPr>
          <a:xfrm>
            <a:off x="11213287" y="1997049"/>
            <a:ext cx="219456" cy="0"/>
          </a:xfrm>
          <a:prstGeom prst="line">
            <a:avLst/>
          </a:prstGeom>
          <a:ln w="19050">
            <a:solidFill>
              <a:srgbClr val="8A5A0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4" name="nav:menurow">
            <a:hlinkClick action="ppaction://hlinksldjump" r:id="rId3"/>
          </p:cNvPr>
          <p:cNvSpPr/>
          <p:nvPr/>
        </p:nvSpPr>
        <p:spPr>
          <a:xfrm>
            <a:off x="502920" y="2256739"/>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vis:menubar"/>
          <p:cNvSpPr/>
          <p:nvPr/>
        </p:nvSpPr>
        <p:spPr>
          <a:xfrm>
            <a:off x="502920" y="2256739"/>
            <a:ext cx="68580" cy="336499"/>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menunum"/>
          <p:cNvSpPr txBox="1"/>
          <p:nvPr/>
        </p:nvSpPr>
        <p:spPr>
          <a:xfrm>
            <a:off x="813816" y="2311603"/>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8A5A00"/>
                </a:solidFill>
                <a:latin typeface="Segoe UI Semibold"/>
              </a:rPr>
              <a:t>02</a:t>
            </a:r>
          </a:p>
        </p:txBody>
      </p:sp>
      <p:sp>
        <p:nvSpPr>
          <p:cNvPr id="17" name="cell:menulabel"/>
          <p:cNvSpPr txBox="1"/>
          <p:nvPr/>
        </p:nvSpPr>
        <p:spPr>
          <a:xfrm>
            <a:off x="1344168" y="2311603"/>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Phrases to retire</a:t>
            </a:r>
          </a:p>
        </p:txBody>
      </p:sp>
      <p:sp>
        <p:nvSpPr>
          <p:cNvPr id="18" name="cell:menusub"/>
          <p:cNvSpPr txBox="1"/>
          <p:nvPr/>
        </p:nvSpPr>
        <p:spPr>
          <a:xfrm>
            <a:off x="7134682" y="2311603"/>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They read worse than you mean</a:t>
            </a:r>
          </a:p>
        </p:txBody>
      </p:sp>
      <p:cxnSp>
        <p:nvCxnSpPr>
          <p:cNvPr id="19" name="vis:menuarrow"/>
          <p:cNvCxnSpPr/>
          <p:nvPr/>
        </p:nvCxnSpPr>
        <p:spPr>
          <a:xfrm>
            <a:off x="11213287" y="2424988"/>
            <a:ext cx="219456" cy="0"/>
          </a:xfrm>
          <a:prstGeom prst="line">
            <a:avLst/>
          </a:prstGeom>
          <a:ln w="19050">
            <a:solidFill>
              <a:srgbClr val="8A5A0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0" name="nav:menurow">
            <a:hlinkClick action="ppaction://hlinksldjump" r:id="rId4"/>
          </p:cNvPr>
          <p:cNvSpPr/>
          <p:nvPr/>
        </p:nvSpPr>
        <p:spPr>
          <a:xfrm>
            <a:off x="502920" y="2684678"/>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menubar"/>
          <p:cNvSpPr/>
          <p:nvPr/>
        </p:nvSpPr>
        <p:spPr>
          <a:xfrm>
            <a:off x="502920" y="2684678"/>
            <a:ext cx="68580" cy="336499"/>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menunum"/>
          <p:cNvSpPr txBox="1"/>
          <p:nvPr/>
        </p:nvSpPr>
        <p:spPr>
          <a:xfrm>
            <a:off x="813816" y="2739542"/>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8A5A00"/>
                </a:solidFill>
                <a:latin typeface="Segoe UI Semibold"/>
              </a:rPr>
              <a:t>03</a:t>
            </a:r>
          </a:p>
        </p:txBody>
      </p:sp>
      <p:sp>
        <p:nvSpPr>
          <p:cNvPr id="23" name="cell:menulabel"/>
          <p:cNvSpPr txBox="1"/>
          <p:nvPr/>
        </p:nvSpPr>
        <p:spPr>
          <a:xfrm>
            <a:off x="1344168" y="2739542"/>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Tone when annoyed</a:t>
            </a:r>
          </a:p>
        </p:txBody>
      </p:sp>
      <p:sp>
        <p:nvSpPr>
          <p:cNvPr id="24" name="cell:menusub"/>
          <p:cNvSpPr txBox="1"/>
          <p:nvPr/>
        </p:nvSpPr>
        <p:spPr>
          <a:xfrm>
            <a:off x="7134682" y="2739542"/>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Neutral is a skill</a:t>
            </a:r>
          </a:p>
        </p:txBody>
      </p:sp>
      <p:cxnSp>
        <p:nvCxnSpPr>
          <p:cNvPr id="25" name="vis:menuarrow"/>
          <p:cNvCxnSpPr/>
          <p:nvPr/>
        </p:nvCxnSpPr>
        <p:spPr>
          <a:xfrm>
            <a:off x="11213287" y="2852928"/>
            <a:ext cx="219456" cy="0"/>
          </a:xfrm>
          <a:prstGeom prst="line">
            <a:avLst/>
          </a:prstGeom>
          <a:ln w="19050">
            <a:solidFill>
              <a:srgbClr val="8A5A0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6" name="nav:menurow">
            <a:hlinkClick action="ppaction://hlinksldjump" r:id="rId5"/>
          </p:cNvPr>
          <p:cNvSpPr/>
          <p:nvPr/>
        </p:nvSpPr>
        <p:spPr>
          <a:xfrm>
            <a:off x="502920" y="3112617"/>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vis:menubar"/>
          <p:cNvSpPr/>
          <p:nvPr/>
        </p:nvSpPr>
        <p:spPr>
          <a:xfrm>
            <a:off x="502920" y="3112617"/>
            <a:ext cx="68580" cy="336499"/>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menunum"/>
          <p:cNvSpPr txBox="1"/>
          <p:nvPr/>
        </p:nvSpPr>
        <p:spPr>
          <a:xfrm>
            <a:off x="813816" y="3167481"/>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8A5A00"/>
                </a:solidFill>
                <a:latin typeface="Segoe UI Semibold"/>
              </a:rPr>
              <a:t>04</a:t>
            </a:r>
          </a:p>
        </p:txBody>
      </p:sp>
      <p:sp>
        <p:nvSpPr>
          <p:cNvPr id="29" name="cell:menulabel"/>
          <p:cNvSpPr txBox="1"/>
          <p:nvPr/>
        </p:nvSpPr>
        <p:spPr>
          <a:xfrm>
            <a:off x="1344168" y="3167481"/>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When not to send</a:t>
            </a:r>
          </a:p>
        </p:txBody>
      </p:sp>
      <p:sp>
        <p:nvSpPr>
          <p:cNvPr id="30" name="cell:menusub"/>
          <p:cNvSpPr txBox="1"/>
          <p:nvPr/>
        </p:nvSpPr>
        <p:spPr>
          <a:xfrm>
            <a:off x="7134682" y="3167481"/>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Three situations</a:t>
            </a:r>
          </a:p>
        </p:txBody>
      </p:sp>
      <p:cxnSp>
        <p:nvCxnSpPr>
          <p:cNvPr id="31" name="vis:menuarrow"/>
          <p:cNvCxnSpPr/>
          <p:nvPr/>
        </p:nvCxnSpPr>
        <p:spPr>
          <a:xfrm>
            <a:off x="11213287" y="3280867"/>
            <a:ext cx="219456" cy="0"/>
          </a:xfrm>
          <a:prstGeom prst="line">
            <a:avLst/>
          </a:prstGeom>
          <a:ln w="19050">
            <a:solidFill>
              <a:srgbClr val="8A5A0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2" name="nav:menurow">
            <a:hlinkClick action="ppaction://hlinksldjump" r:id="rId6"/>
          </p:cNvPr>
          <p:cNvSpPr/>
          <p:nvPr/>
        </p:nvSpPr>
        <p:spPr>
          <a:xfrm>
            <a:off x="502920" y="3540556"/>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menubar"/>
          <p:cNvSpPr/>
          <p:nvPr/>
        </p:nvSpPr>
        <p:spPr>
          <a:xfrm>
            <a:off x="502920" y="3540556"/>
            <a:ext cx="68580" cy="336499"/>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vis:menunum"/>
          <p:cNvSpPr txBox="1"/>
          <p:nvPr/>
        </p:nvSpPr>
        <p:spPr>
          <a:xfrm>
            <a:off x="813816" y="3595420"/>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8A5A00"/>
                </a:solidFill>
                <a:latin typeface="Segoe UI Semibold"/>
              </a:rPr>
              <a:t>05</a:t>
            </a:r>
          </a:p>
        </p:txBody>
      </p:sp>
      <p:sp>
        <p:nvSpPr>
          <p:cNvPr id="35" name="cell:menulabel"/>
          <p:cNvSpPr txBox="1"/>
          <p:nvPr/>
        </p:nvSpPr>
        <p:spPr>
          <a:xfrm>
            <a:off x="1344168" y="3595420"/>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Do this now</a:t>
            </a:r>
          </a:p>
        </p:txBody>
      </p:sp>
      <p:sp>
        <p:nvSpPr>
          <p:cNvPr id="36" name="cell:menusub"/>
          <p:cNvSpPr txBox="1"/>
          <p:nvPr/>
        </p:nvSpPr>
        <p:spPr>
          <a:xfrm>
            <a:off x="7134682" y="3595420"/>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Fix one real email</a:t>
            </a:r>
          </a:p>
        </p:txBody>
      </p:sp>
      <p:cxnSp>
        <p:nvCxnSpPr>
          <p:cNvPr id="37" name="vis:menuarrow"/>
          <p:cNvCxnSpPr/>
          <p:nvPr/>
        </p:nvCxnSpPr>
        <p:spPr>
          <a:xfrm>
            <a:off x="11213287" y="3708806"/>
            <a:ext cx="219456" cy="0"/>
          </a:xfrm>
          <a:prstGeom prst="line">
            <a:avLst/>
          </a:prstGeom>
          <a:ln w="19050">
            <a:solidFill>
              <a:srgbClr val="8A5A0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8" name="nav:menurow">
            <a:hlinkClick action="ppaction://hlinksldjump" r:id="rId7"/>
          </p:cNvPr>
          <p:cNvSpPr/>
          <p:nvPr/>
        </p:nvSpPr>
        <p:spPr>
          <a:xfrm>
            <a:off x="502920" y="3968496"/>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9" name="vis:menubar"/>
          <p:cNvSpPr/>
          <p:nvPr/>
        </p:nvSpPr>
        <p:spPr>
          <a:xfrm>
            <a:off x="502920" y="3968496"/>
            <a:ext cx="68580" cy="336499"/>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0" name="vis:menunum"/>
          <p:cNvSpPr txBox="1"/>
          <p:nvPr/>
        </p:nvSpPr>
        <p:spPr>
          <a:xfrm>
            <a:off x="813816" y="4023359"/>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8A5A00"/>
                </a:solidFill>
                <a:latin typeface="Segoe UI Semibold"/>
              </a:rPr>
              <a:t>06</a:t>
            </a:r>
          </a:p>
        </p:txBody>
      </p:sp>
      <p:sp>
        <p:nvSpPr>
          <p:cNvPr id="41" name="cell:menulabel"/>
          <p:cNvSpPr txBox="1"/>
          <p:nvPr/>
        </p:nvSpPr>
        <p:spPr>
          <a:xfrm>
            <a:off x="1344168" y="4023359"/>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Choose what you'd do</a:t>
            </a:r>
          </a:p>
        </p:txBody>
      </p:sp>
      <p:sp>
        <p:nvSpPr>
          <p:cNvPr id="42" name="cell:menusub"/>
          <p:cNvSpPr txBox="1"/>
          <p:nvPr/>
        </p:nvSpPr>
        <p:spPr>
          <a:xfrm>
            <a:off x="7134682" y="4023359"/>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A Monday morning decision</a:t>
            </a:r>
          </a:p>
        </p:txBody>
      </p:sp>
      <p:cxnSp>
        <p:nvCxnSpPr>
          <p:cNvPr id="43" name="vis:menuarrow"/>
          <p:cNvCxnSpPr/>
          <p:nvPr/>
        </p:nvCxnSpPr>
        <p:spPr>
          <a:xfrm>
            <a:off x="11213287" y="4136745"/>
            <a:ext cx="219456" cy="0"/>
          </a:xfrm>
          <a:prstGeom prst="line">
            <a:avLst/>
          </a:prstGeom>
          <a:ln w="19050">
            <a:solidFill>
              <a:srgbClr val="8A5A0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4" name="nav:menurow">
            <a:hlinkClick action="ppaction://hlinksldjump" r:id="rId8"/>
          </p:cNvPr>
          <p:cNvSpPr/>
          <p:nvPr/>
        </p:nvSpPr>
        <p:spPr>
          <a:xfrm>
            <a:off x="502920" y="4396435"/>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5" name="vis:menubar"/>
          <p:cNvSpPr/>
          <p:nvPr/>
        </p:nvSpPr>
        <p:spPr>
          <a:xfrm>
            <a:off x="502920" y="4396435"/>
            <a:ext cx="68580" cy="336499"/>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6" name="vis:menunum"/>
          <p:cNvSpPr txBox="1"/>
          <p:nvPr/>
        </p:nvSpPr>
        <p:spPr>
          <a:xfrm>
            <a:off x="813816" y="4451299"/>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8A5A00"/>
                </a:solidFill>
                <a:latin typeface="Segoe UI Semibold"/>
              </a:rPr>
              <a:t>07</a:t>
            </a:r>
          </a:p>
        </p:txBody>
      </p:sp>
      <p:sp>
        <p:nvSpPr>
          <p:cNvPr id="47" name="cell:menulabel"/>
          <p:cNvSpPr txBox="1"/>
          <p:nvPr/>
        </p:nvSpPr>
        <p:spPr>
          <a:xfrm>
            <a:off x="1344168" y="4451299"/>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Watch this</a:t>
            </a:r>
          </a:p>
        </p:txBody>
      </p:sp>
      <p:sp>
        <p:nvSpPr>
          <p:cNvPr id="48" name="cell:menusub"/>
          <p:cNvSpPr txBox="1"/>
          <p:nvPr/>
        </p:nvSpPr>
        <p:spPr>
          <a:xfrm>
            <a:off x="7134682" y="4451299"/>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A 7-minute outside guide</a:t>
            </a:r>
          </a:p>
        </p:txBody>
      </p:sp>
      <p:cxnSp>
        <p:nvCxnSpPr>
          <p:cNvPr id="49" name="vis:menuarrow"/>
          <p:cNvCxnSpPr/>
          <p:nvPr/>
        </p:nvCxnSpPr>
        <p:spPr>
          <a:xfrm>
            <a:off x="11213287" y="4564684"/>
            <a:ext cx="219456" cy="0"/>
          </a:xfrm>
          <a:prstGeom prst="line">
            <a:avLst/>
          </a:prstGeom>
          <a:ln w="19050">
            <a:solidFill>
              <a:srgbClr val="8A5A0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50" name="nav:menurow">
            <a:hlinkClick action="ppaction://hlinksldjump" r:id="rId9"/>
          </p:cNvPr>
          <p:cNvSpPr/>
          <p:nvPr/>
        </p:nvSpPr>
        <p:spPr>
          <a:xfrm>
            <a:off x="502920" y="4824374"/>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1" name="vis:menubar"/>
          <p:cNvSpPr/>
          <p:nvPr/>
        </p:nvSpPr>
        <p:spPr>
          <a:xfrm>
            <a:off x="502920" y="4824374"/>
            <a:ext cx="68580" cy="336499"/>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2" name="vis:menunum"/>
          <p:cNvSpPr txBox="1"/>
          <p:nvPr/>
        </p:nvSpPr>
        <p:spPr>
          <a:xfrm>
            <a:off x="813816" y="4879238"/>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8A5A00"/>
                </a:solidFill>
                <a:latin typeface="Segoe UI Semibold"/>
              </a:rPr>
              <a:t>08</a:t>
            </a:r>
          </a:p>
        </p:txBody>
      </p:sp>
      <p:sp>
        <p:nvSpPr>
          <p:cNvPr id="53" name="cell:menulabel"/>
          <p:cNvSpPr txBox="1"/>
          <p:nvPr/>
        </p:nvSpPr>
        <p:spPr>
          <a:xfrm>
            <a:off x="1344168" y="4879238"/>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Quiz</a:t>
            </a:r>
          </a:p>
        </p:txBody>
      </p:sp>
      <p:sp>
        <p:nvSpPr>
          <p:cNvPr id="54" name="cell:menusub"/>
          <p:cNvSpPr txBox="1"/>
          <p:nvPr/>
        </p:nvSpPr>
        <p:spPr>
          <a:xfrm>
            <a:off x="7134682" y="4879238"/>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5 questions, instant feedback</a:t>
            </a:r>
          </a:p>
        </p:txBody>
      </p:sp>
      <p:cxnSp>
        <p:nvCxnSpPr>
          <p:cNvPr id="55" name="vis:menuarrow"/>
          <p:cNvCxnSpPr/>
          <p:nvPr/>
        </p:nvCxnSpPr>
        <p:spPr>
          <a:xfrm>
            <a:off x="11213287" y="4992624"/>
            <a:ext cx="219456" cy="0"/>
          </a:xfrm>
          <a:prstGeom prst="line">
            <a:avLst/>
          </a:prstGeom>
          <a:ln w="19050">
            <a:solidFill>
              <a:srgbClr val="8A5A0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56" name="nav:menurow">
            <a:hlinkClick action="ppaction://hlinksldjump" r:id="rId10"/>
          </p:cNvPr>
          <p:cNvSpPr/>
          <p:nvPr/>
        </p:nvSpPr>
        <p:spPr>
          <a:xfrm>
            <a:off x="502920" y="5252313"/>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7" name="vis:menubar"/>
          <p:cNvSpPr/>
          <p:nvPr/>
        </p:nvSpPr>
        <p:spPr>
          <a:xfrm>
            <a:off x="502920" y="5252313"/>
            <a:ext cx="68580" cy="336499"/>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8" name="vis:menunum"/>
          <p:cNvSpPr txBox="1"/>
          <p:nvPr/>
        </p:nvSpPr>
        <p:spPr>
          <a:xfrm>
            <a:off x="813816" y="5307177"/>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8A5A00"/>
                </a:solidFill>
                <a:latin typeface="Segoe UI Semibold"/>
              </a:rPr>
              <a:t>09</a:t>
            </a:r>
          </a:p>
        </p:txBody>
      </p:sp>
      <p:sp>
        <p:nvSpPr>
          <p:cNvPr id="59" name="cell:menulabel"/>
          <p:cNvSpPr txBox="1"/>
          <p:nvPr/>
        </p:nvSpPr>
        <p:spPr>
          <a:xfrm>
            <a:off x="1344168" y="5307177"/>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Recap card</a:t>
            </a:r>
          </a:p>
        </p:txBody>
      </p:sp>
      <p:sp>
        <p:nvSpPr>
          <p:cNvPr id="60" name="cell:menusub"/>
          <p:cNvSpPr txBox="1"/>
          <p:nvPr/>
        </p:nvSpPr>
        <p:spPr>
          <a:xfrm>
            <a:off x="7134682" y="5307177"/>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The whole topic on one screen</a:t>
            </a:r>
          </a:p>
        </p:txBody>
      </p:sp>
      <p:cxnSp>
        <p:nvCxnSpPr>
          <p:cNvPr id="61" name="vis:menuarrow"/>
          <p:cNvCxnSpPr/>
          <p:nvPr/>
        </p:nvCxnSpPr>
        <p:spPr>
          <a:xfrm>
            <a:off x="11213287" y="5420563"/>
            <a:ext cx="219456" cy="0"/>
          </a:xfrm>
          <a:prstGeom prst="line">
            <a:avLst/>
          </a:prstGeom>
          <a:ln w="19050">
            <a:solidFill>
              <a:srgbClr val="8A5A0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62" name="nav:menurow">
            <a:hlinkClick action="ppaction://hlinksldjump" r:id="rId11"/>
          </p:cNvPr>
          <p:cNvSpPr/>
          <p:nvPr/>
        </p:nvSpPr>
        <p:spPr>
          <a:xfrm>
            <a:off x="502920" y="5680252"/>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3" name="vis:menubar"/>
          <p:cNvSpPr/>
          <p:nvPr/>
        </p:nvSpPr>
        <p:spPr>
          <a:xfrm>
            <a:off x="502920" y="5680252"/>
            <a:ext cx="68580" cy="336499"/>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4" name="vis:menunum"/>
          <p:cNvSpPr txBox="1"/>
          <p:nvPr/>
        </p:nvSpPr>
        <p:spPr>
          <a:xfrm>
            <a:off x="813816" y="5735116"/>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8A5A00"/>
                </a:solidFill>
                <a:latin typeface="Segoe UI Semibold"/>
              </a:rPr>
              <a:t>10</a:t>
            </a:r>
          </a:p>
        </p:txBody>
      </p:sp>
      <p:sp>
        <p:nvSpPr>
          <p:cNvPr id="65" name="cell:menulabel"/>
          <p:cNvSpPr txBox="1"/>
          <p:nvPr/>
        </p:nvSpPr>
        <p:spPr>
          <a:xfrm>
            <a:off x="1344168" y="5735116"/>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Your toolkit</a:t>
            </a:r>
          </a:p>
        </p:txBody>
      </p:sp>
      <p:sp>
        <p:nvSpPr>
          <p:cNvPr id="66" name="cell:menusub"/>
          <p:cNvSpPr txBox="1"/>
          <p:nvPr/>
        </p:nvSpPr>
        <p:spPr>
          <a:xfrm>
            <a:off x="7134682" y="5735116"/>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Templates, links, what to do next</a:t>
            </a:r>
          </a:p>
        </p:txBody>
      </p:sp>
      <p:cxnSp>
        <p:nvCxnSpPr>
          <p:cNvPr id="67" name="vis:menuarrow"/>
          <p:cNvCxnSpPr/>
          <p:nvPr/>
        </p:nvCxnSpPr>
        <p:spPr>
          <a:xfrm>
            <a:off x="11213287" y="5848502"/>
            <a:ext cx="219456" cy="0"/>
          </a:xfrm>
          <a:prstGeom prst="line">
            <a:avLst/>
          </a:prstGeom>
          <a:ln w="19050">
            <a:solidFill>
              <a:srgbClr val="8A5A00"/>
            </a:solidFill>
            <a:tailEnd type="triangle" w="med" len="med"/>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THE OPENING LINE</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Delete the first sentence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PS-02  ·  Professional Email Writing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body:lead"/>
          <p:cNvSpPr txBox="1"/>
          <p:nvPr/>
        </p:nvSpPr>
        <p:spPr>
          <a:xfrm>
            <a:off x="502920" y="1719072"/>
            <a:ext cx="8343671" cy="822959"/>
          </a:xfrm>
          <a:prstGeom prst="rect">
            <a:avLst/>
          </a:prstGeom>
          <a:noFill/>
        </p:spPr>
        <p:txBody>
          <a:bodyPr wrap="square" lIns="0" rIns="0" tIns="0" bIns="0" anchor="t">
            <a:spAutoFit/>
          </a:bodyPr>
          <a:lstStyle/>
          <a:p>
            <a:pPr algn="l">
              <a:lnSpc>
                <a:spcPts val="2340"/>
              </a:lnSpc>
              <a:spcBef>
                <a:spcPts val="0"/>
              </a:spcBef>
              <a:spcAft>
                <a:spcPts val="0"/>
              </a:spcAft>
            </a:pPr>
            <a:r>
              <a:rPr sz="1800" b="0">
                <a:solidFill>
                  <a:srgbClr val="2A3547"/>
                </a:solidFill>
                <a:latin typeface="Segoe UI"/>
              </a:rPr>
              <a:t>The first sentence of most work emails carries no information. Try deleting it and see if anything is lost.</a:t>
            </a:r>
          </a:p>
        </p:txBody>
      </p:sp>
      <p:sp>
        <p:nvSpPr>
          <p:cNvPr id="16" name="vis:outcard"/>
          <p:cNvSpPr/>
          <p:nvPr/>
        </p:nvSpPr>
        <p:spPr>
          <a:xfrm>
            <a:off x="502920" y="2706624"/>
            <a:ext cx="5410047" cy="2743200"/>
          </a:xfrm>
          <a:prstGeom prst="roundRect">
            <a:avLst>
              <a:gd name="adj" fmla="val 3333"/>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outspine"/>
          <p:cNvSpPr/>
          <p:nvPr/>
        </p:nvSpPr>
        <p:spPr>
          <a:xfrm>
            <a:off x="502920" y="2706624"/>
            <a:ext cx="68580" cy="274320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chip"/>
          <p:cNvSpPr/>
          <p:nvPr/>
        </p:nvSpPr>
        <p:spPr>
          <a:xfrm>
            <a:off x="758952" y="2907792"/>
            <a:ext cx="2030785" cy="274320"/>
          </a:xfrm>
          <a:prstGeom prst="roundRect">
            <a:avLst>
              <a:gd name="adj" fmla="val 16666"/>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9" name="vis:chiptext"/>
          <p:cNvSpPr txBox="1"/>
          <p:nvPr/>
        </p:nvSpPr>
        <p:spPr>
          <a:xfrm>
            <a:off x="914400" y="2935224"/>
            <a:ext cx="1719889"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THROAT-CLEARING</a:t>
            </a:r>
          </a:p>
        </p:txBody>
      </p:sp>
      <p:sp>
        <p:nvSpPr>
          <p:cNvPr id="20" name="vis:outbody"/>
          <p:cNvSpPr txBox="1"/>
          <p:nvPr/>
        </p:nvSpPr>
        <p:spPr>
          <a:xfrm>
            <a:off x="758952" y="3346704"/>
            <a:ext cx="4897983" cy="1883664"/>
          </a:xfrm>
          <a:prstGeom prst="rect">
            <a:avLst/>
          </a:prstGeom>
          <a:noFill/>
        </p:spPr>
        <p:txBody>
          <a:bodyPr wrap="square" lIns="0" rIns="0" tIns="0" bIns="0" anchor="t">
            <a:spAutoFit/>
          </a:bodyPr>
          <a:lstStyle/>
          <a:p>
            <a:pPr algn="l">
              <a:lnSpc>
                <a:spcPts val="1690"/>
              </a:lnSpc>
              <a:spcBef>
                <a:spcPts val="0"/>
              </a:spcBef>
              <a:spcAft>
                <a:spcPts val="600"/>
              </a:spcAft>
            </a:pPr>
            <a:r>
              <a:rPr sz="1300" b="0">
                <a:solidFill>
                  <a:srgbClr val="2A3547"/>
                </a:solidFill>
                <a:latin typeface="Segoe UI"/>
              </a:rPr>
              <a:t>"I hope this email finds you well."</a:t>
            </a:r>
          </a:p>
          <a:p>
            <a:pPr algn="l">
              <a:lnSpc>
                <a:spcPts val="1690"/>
              </a:lnSpc>
              <a:spcBef>
                <a:spcPts val="0"/>
              </a:spcBef>
              <a:spcAft>
                <a:spcPts val="600"/>
              </a:spcAft>
            </a:pPr>
            <a:r>
              <a:rPr sz="1300" b="0">
                <a:solidFill>
                  <a:srgbClr val="2A3547"/>
                </a:solidFill>
                <a:latin typeface="Segoe UI"/>
              </a:rPr>
              <a:t>"I am writing to you regarding the below matter."</a:t>
            </a:r>
          </a:p>
          <a:p>
            <a:pPr algn="l">
              <a:lnSpc>
                <a:spcPts val="1690"/>
              </a:lnSpc>
              <a:spcBef>
                <a:spcPts val="0"/>
              </a:spcBef>
              <a:spcAft>
                <a:spcPts val="600"/>
              </a:spcAft>
            </a:pPr>
            <a:r>
              <a:rPr sz="1300" b="0">
                <a:solidFill>
                  <a:srgbClr val="2A3547"/>
                </a:solidFill>
                <a:latin typeface="Segoe UI"/>
              </a:rPr>
              <a:t>"Further to our earlier correspondence on this subject..."</a:t>
            </a:r>
          </a:p>
        </p:txBody>
      </p:sp>
      <p:sp>
        <p:nvSpPr>
          <p:cNvPr id="21" name="vis:outcard"/>
          <p:cNvSpPr/>
          <p:nvPr/>
        </p:nvSpPr>
        <p:spPr>
          <a:xfrm>
            <a:off x="6278727" y="2706624"/>
            <a:ext cx="5410047" cy="2743200"/>
          </a:xfrm>
          <a:prstGeom prst="roundRect">
            <a:avLst>
              <a:gd name="adj" fmla="val 3333"/>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outspine"/>
          <p:cNvSpPr/>
          <p:nvPr/>
        </p:nvSpPr>
        <p:spPr>
          <a:xfrm>
            <a:off x="6278727" y="2706624"/>
            <a:ext cx="68580" cy="274320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chip"/>
          <p:cNvSpPr/>
          <p:nvPr/>
        </p:nvSpPr>
        <p:spPr>
          <a:xfrm>
            <a:off x="6534759" y="2907792"/>
            <a:ext cx="1534414" cy="274320"/>
          </a:xfrm>
          <a:prstGeom prst="roundRect">
            <a:avLst>
              <a:gd name="adj" fmla="val 16666"/>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chiptext"/>
          <p:cNvSpPr txBox="1"/>
          <p:nvPr/>
        </p:nvSpPr>
        <p:spPr>
          <a:xfrm>
            <a:off x="6690207" y="2935224"/>
            <a:ext cx="1223518"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STRAIGHT IN</a:t>
            </a:r>
          </a:p>
        </p:txBody>
      </p:sp>
      <p:sp>
        <p:nvSpPr>
          <p:cNvPr id="25" name="vis:outbody"/>
          <p:cNvSpPr txBox="1"/>
          <p:nvPr/>
        </p:nvSpPr>
        <p:spPr>
          <a:xfrm>
            <a:off x="6534759" y="3346704"/>
            <a:ext cx="4897983" cy="1883664"/>
          </a:xfrm>
          <a:prstGeom prst="rect">
            <a:avLst/>
          </a:prstGeom>
          <a:noFill/>
        </p:spPr>
        <p:txBody>
          <a:bodyPr wrap="square" lIns="0" rIns="0" tIns="0" bIns="0" anchor="t">
            <a:spAutoFit/>
          </a:bodyPr>
          <a:lstStyle/>
          <a:p>
            <a:pPr algn="l">
              <a:lnSpc>
                <a:spcPts val="1690"/>
              </a:lnSpc>
              <a:spcBef>
                <a:spcPts val="0"/>
              </a:spcBef>
              <a:spcAft>
                <a:spcPts val="600"/>
              </a:spcAft>
            </a:pPr>
            <a:r>
              <a:rPr sz="1300" b="0">
                <a:solidFill>
                  <a:srgbClr val="2A3547"/>
                </a:solidFill>
                <a:latin typeface="Segoe UI"/>
              </a:rPr>
              <a:t>"Your order 4471 will now arrive on 15 March."</a:t>
            </a:r>
          </a:p>
          <a:p>
            <a:pPr algn="l">
              <a:lnSpc>
                <a:spcPts val="1690"/>
              </a:lnSpc>
              <a:spcBef>
                <a:spcPts val="0"/>
              </a:spcBef>
              <a:spcAft>
                <a:spcPts val="600"/>
              </a:spcAft>
            </a:pPr>
            <a:r>
              <a:rPr sz="1300" b="0">
                <a:solidFill>
                  <a:srgbClr val="2A3547"/>
                </a:solidFill>
                <a:latin typeface="Segoe UI"/>
              </a:rPr>
              <a:t>"I need your approval on the revised quote by Thursday."</a:t>
            </a:r>
          </a:p>
          <a:p>
            <a:pPr algn="l">
              <a:lnSpc>
                <a:spcPts val="1690"/>
              </a:lnSpc>
              <a:spcBef>
                <a:spcPts val="0"/>
              </a:spcBef>
              <a:spcAft>
                <a:spcPts val="600"/>
              </a:spcAft>
            </a:pPr>
            <a:r>
              <a:rPr sz="1300" b="0">
                <a:solidFill>
                  <a:srgbClr val="2A3547"/>
                </a:solidFill>
                <a:latin typeface="Segoe UI"/>
              </a:rPr>
              <a:t>"Two cartons were damaged. We are replacing them this week."</a:t>
            </a:r>
          </a:p>
        </p:txBody>
      </p:sp>
      <p:sp>
        <p:nvSpPr>
          <p:cNvPr id="26" name="cell:banote"/>
          <p:cNvSpPr txBox="1"/>
          <p:nvPr/>
        </p:nvSpPr>
        <p:spPr>
          <a:xfrm>
            <a:off x="502920" y="5632704"/>
            <a:ext cx="11185855" cy="34747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Warmth comes from what you say and how you close, not from a sentence everybody skips.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THE OPENING LINE</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The four-part email</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PS-02  ·  Professional Email Writing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vis:flowcard"/>
          <p:cNvSpPr/>
          <p:nvPr/>
        </p:nvSpPr>
        <p:spPr>
          <a:xfrm>
            <a:off x="502920" y="2221991"/>
            <a:ext cx="2508427" cy="1920240"/>
          </a:xfrm>
          <a:prstGeom prst="roundRect">
            <a:avLst>
              <a:gd name="adj" fmla="val 476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flownum"/>
          <p:cNvSpPr/>
          <p:nvPr/>
        </p:nvSpPr>
        <p:spPr>
          <a:xfrm>
            <a:off x="685800" y="2039111"/>
            <a:ext cx="384048" cy="384048"/>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flownumtext"/>
          <p:cNvSpPr txBox="1"/>
          <p:nvPr/>
        </p:nvSpPr>
        <p:spPr>
          <a:xfrm>
            <a:off x="685800" y="2116835"/>
            <a:ext cx="384048" cy="237744"/>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1</a:t>
            </a:r>
          </a:p>
        </p:txBody>
      </p:sp>
      <p:sp>
        <p:nvSpPr>
          <p:cNvPr id="18" name="vis:flowtitle"/>
          <p:cNvSpPr txBox="1"/>
          <p:nvPr/>
        </p:nvSpPr>
        <p:spPr>
          <a:xfrm>
            <a:off x="704088" y="2587751"/>
            <a:ext cx="2106091" cy="512064"/>
          </a:xfrm>
          <a:prstGeom prst="rect">
            <a:avLst/>
          </a:prstGeom>
          <a:noFill/>
        </p:spPr>
        <p:txBody>
          <a:bodyPr wrap="square" lIns="0" rIns="0" tIns="0" bIns="0" anchor="t">
            <a:spAutoFit/>
          </a:bodyPr>
          <a:lstStyle/>
          <a:p>
            <a:pPr algn="l">
              <a:lnSpc>
                <a:spcPts val="2080"/>
              </a:lnSpc>
              <a:spcBef>
                <a:spcPts val="0"/>
              </a:spcBef>
              <a:spcAft>
                <a:spcPts val="0"/>
              </a:spcAft>
            </a:pPr>
            <a:r>
              <a:rPr sz="1600" b="0">
                <a:solidFill>
                  <a:srgbClr val="101826"/>
                </a:solidFill>
                <a:latin typeface="Segoe UI Semibold"/>
              </a:rPr>
              <a:t>The point</a:t>
            </a:r>
          </a:p>
        </p:txBody>
      </p:sp>
      <p:sp>
        <p:nvSpPr>
          <p:cNvPr id="19" name="vis:flowsub"/>
          <p:cNvSpPr txBox="1"/>
          <p:nvPr/>
        </p:nvSpPr>
        <p:spPr>
          <a:xfrm>
            <a:off x="704088" y="3136391"/>
            <a:ext cx="2106091" cy="84124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What has happened, or what you need.</a:t>
            </a:r>
          </a:p>
        </p:txBody>
      </p:sp>
      <p:cxnSp>
        <p:nvCxnSpPr>
          <p:cNvPr id="20" name="vis:flowarrow"/>
          <p:cNvCxnSpPr/>
          <p:nvPr/>
        </p:nvCxnSpPr>
        <p:spPr>
          <a:xfrm>
            <a:off x="3093643" y="3182111"/>
            <a:ext cx="219456" cy="0"/>
          </a:xfrm>
          <a:prstGeom prst="line">
            <a:avLst/>
          </a:prstGeom>
          <a:ln w="19050">
            <a:solidFill>
              <a:srgbClr val="8A5A0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1" name="vis:flowcard"/>
          <p:cNvSpPr/>
          <p:nvPr/>
        </p:nvSpPr>
        <p:spPr>
          <a:xfrm>
            <a:off x="3395395" y="2221991"/>
            <a:ext cx="2508427" cy="1920240"/>
          </a:xfrm>
          <a:prstGeom prst="roundRect">
            <a:avLst>
              <a:gd name="adj" fmla="val 476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flownum"/>
          <p:cNvSpPr/>
          <p:nvPr/>
        </p:nvSpPr>
        <p:spPr>
          <a:xfrm>
            <a:off x="3578275" y="2039111"/>
            <a:ext cx="384048" cy="384048"/>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flownumtext"/>
          <p:cNvSpPr txBox="1"/>
          <p:nvPr/>
        </p:nvSpPr>
        <p:spPr>
          <a:xfrm>
            <a:off x="3578275" y="2116835"/>
            <a:ext cx="384048" cy="237744"/>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2</a:t>
            </a:r>
          </a:p>
        </p:txBody>
      </p:sp>
      <p:sp>
        <p:nvSpPr>
          <p:cNvPr id="24" name="vis:flowtitle"/>
          <p:cNvSpPr txBox="1"/>
          <p:nvPr/>
        </p:nvSpPr>
        <p:spPr>
          <a:xfrm>
            <a:off x="3596563" y="2587751"/>
            <a:ext cx="2106091" cy="512064"/>
          </a:xfrm>
          <a:prstGeom prst="rect">
            <a:avLst/>
          </a:prstGeom>
          <a:noFill/>
        </p:spPr>
        <p:txBody>
          <a:bodyPr wrap="square" lIns="0" rIns="0" tIns="0" bIns="0" anchor="t">
            <a:spAutoFit/>
          </a:bodyPr>
          <a:lstStyle/>
          <a:p>
            <a:pPr algn="l">
              <a:lnSpc>
                <a:spcPts val="2080"/>
              </a:lnSpc>
              <a:spcBef>
                <a:spcPts val="0"/>
              </a:spcBef>
              <a:spcAft>
                <a:spcPts val="0"/>
              </a:spcAft>
            </a:pPr>
            <a:r>
              <a:rPr sz="1600" b="0">
                <a:solidFill>
                  <a:srgbClr val="101826"/>
                </a:solidFill>
                <a:latin typeface="Segoe UI Semibold"/>
              </a:rPr>
              <a:t>The detail</a:t>
            </a:r>
          </a:p>
        </p:txBody>
      </p:sp>
      <p:sp>
        <p:nvSpPr>
          <p:cNvPr id="25" name="vis:flowsub"/>
          <p:cNvSpPr txBox="1"/>
          <p:nvPr/>
        </p:nvSpPr>
        <p:spPr>
          <a:xfrm>
            <a:off x="3596563" y="3136391"/>
            <a:ext cx="2106091" cy="84124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Dates, numbers, references. Short.</a:t>
            </a:r>
          </a:p>
        </p:txBody>
      </p:sp>
      <p:cxnSp>
        <p:nvCxnSpPr>
          <p:cNvPr id="26" name="vis:flowarrow"/>
          <p:cNvCxnSpPr/>
          <p:nvPr/>
        </p:nvCxnSpPr>
        <p:spPr>
          <a:xfrm>
            <a:off x="5986119" y="3182111"/>
            <a:ext cx="219456" cy="0"/>
          </a:xfrm>
          <a:prstGeom prst="line">
            <a:avLst/>
          </a:prstGeom>
          <a:ln w="19050">
            <a:solidFill>
              <a:srgbClr val="8A5A0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7" name="vis:flowcard"/>
          <p:cNvSpPr/>
          <p:nvPr/>
        </p:nvSpPr>
        <p:spPr>
          <a:xfrm>
            <a:off x="6287871" y="2221991"/>
            <a:ext cx="2508427" cy="1920240"/>
          </a:xfrm>
          <a:prstGeom prst="roundRect">
            <a:avLst>
              <a:gd name="adj" fmla="val 476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flownum"/>
          <p:cNvSpPr/>
          <p:nvPr/>
        </p:nvSpPr>
        <p:spPr>
          <a:xfrm>
            <a:off x="6470751" y="2039111"/>
            <a:ext cx="384048" cy="384048"/>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flownumtext"/>
          <p:cNvSpPr txBox="1"/>
          <p:nvPr/>
        </p:nvSpPr>
        <p:spPr>
          <a:xfrm>
            <a:off x="6470751" y="2116835"/>
            <a:ext cx="384048" cy="237744"/>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3</a:t>
            </a:r>
          </a:p>
        </p:txBody>
      </p:sp>
      <p:sp>
        <p:nvSpPr>
          <p:cNvPr id="30" name="vis:flowtitle"/>
          <p:cNvSpPr txBox="1"/>
          <p:nvPr/>
        </p:nvSpPr>
        <p:spPr>
          <a:xfrm>
            <a:off x="6489039" y="2587751"/>
            <a:ext cx="2106091" cy="512064"/>
          </a:xfrm>
          <a:prstGeom prst="rect">
            <a:avLst/>
          </a:prstGeom>
          <a:noFill/>
        </p:spPr>
        <p:txBody>
          <a:bodyPr wrap="square" lIns="0" rIns="0" tIns="0" bIns="0" anchor="t">
            <a:spAutoFit/>
          </a:bodyPr>
          <a:lstStyle/>
          <a:p>
            <a:pPr algn="l">
              <a:lnSpc>
                <a:spcPts val="2080"/>
              </a:lnSpc>
              <a:spcBef>
                <a:spcPts val="0"/>
              </a:spcBef>
              <a:spcAft>
                <a:spcPts val="0"/>
              </a:spcAft>
            </a:pPr>
            <a:r>
              <a:rPr sz="1600" b="0">
                <a:solidFill>
                  <a:srgbClr val="101826"/>
                </a:solidFill>
                <a:latin typeface="Segoe UI Semibold"/>
              </a:rPr>
              <a:t>The ask</a:t>
            </a:r>
          </a:p>
        </p:txBody>
      </p:sp>
      <p:sp>
        <p:nvSpPr>
          <p:cNvPr id="31" name="vis:flowsub"/>
          <p:cNvSpPr txBox="1"/>
          <p:nvPr/>
        </p:nvSpPr>
        <p:spPr>
          <a:xfrm>
            <a:off x="6489039" y="3136391"/>
            <a:ext cx="2106091" cy="84124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One thing, with a date on it.</a:t>
            </a:r>
          </a:p>
        </p:txBody>
      </p:sp>
      <p:cxnSp>
        <p:nvCxnSpPr>
          <p:cNvPr id="32" name="vis:flowarrow"/>
          <p:cNvCxnSpPr/>
          <p:nvPr/>
        </p:nvCxnSpPr>
        <p:spPr>
          <a:xfrm>
            <a:off x="8878595" y="3182111"/>
            <a:ext cx="219456" cy="0"/>
          </a:xfrm>
          <a:prstGeom prst="line">
            <a:avLst/>
          </a:prstGeom>
          <a:ln w="19050">
            <a:solidFill>
              <a:srgbClr val="8A5A0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3" name="vis:flowcard"/>
          <p:cNvSpPr/>
          <p:nvPr/>
        </p:nvSpPr>
        <p:spPr>
          <a:xfrm>
            <a:off x="9180347" y="2221991"/>
            <a:ext cx="2508427" cy="1920240"/>
          </a:xfrm>
          <a:prstGeom prst="roundRect">
            <a:avLst>
              <a:gd name="adj" fmla="val 476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vis:flownum"/>
          <p:cNvSpPr/>
          <p:nvPr/>
        </p:nvSpPr>
        <p:spPr>
          <a:xfrm>
            <a:off x="9363227" y="2039111"/>
            <a:ext cx="384048" cy="384048"/>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5" name="vis:flownumtext"/>
          <p:cNvSpPr txBox="1"/>
          <p:nvPr/>
        </p:nvSpPr>
        <p:spPr>
          <a:xfrm>
            <a:off x="9363227" y="2116835"/>
            <a:ext cx="384048" cy="237744"/>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4</a:t>
            </a:r>
          </a:p>
        </p:txBody>
      </p:sp>
      <p:sp>
        <p:nvSpPr>
          <p:cNvPr id="36" name="vis:flowtitle"/>
          <p:cNvSpPr txBox="1"/>
          <p:nvPr/>
        </p:nvSpPr>
        <p:spPr>
          <a:xfrm>
            <a:off x="9381515" y="2587751"/>
            <a:ext cx="2106091" cy="512064"/>
          </a:xfrm>
          <a:prstGeom prst="rect">
            <a:avLst/>
          </a:prstGeom>
          <a:noFill/>
        </p:spPr>
        <p:txBody>
          <a:bodyPr wrap="square" lIns="0" rIns="0" tIns="0" bIns="0" anchor="t">
            <a:spAutoFit/>
          </a:bodyPr>
          <a:lstStyle/>
          <a:p>
            <a:pPr algn="l">
              <a:lnSpc>
                <a:spcPts val="2080"/>
              </a:lnSpc>
              <a:spcBef>
                <a:spcPts val="0"/>
              </a:spcBef>
              <a:spcAft>
                <a:spcPts val="0"/>
              </a:spcAft>
            </a:pPr>
            <a:r>
              <a:rPr sz="1600" b="0">
                <a:solidFill>
                  <a:srgbClr val="101826"/>
                </a:solidFill>
                <a:latin typeface="Segoe UI Semibold"/>
              </a:rPr>
              <a:t>The close</a:t>
            </a:r>
          </a:p>
        </p:txBody>
      </p:sp>
      <p:sp>
        <p:nvSpPr>
          <p:cNvPr id="37" name="vis:flowsub"/>
          <p:cNvSpPr txBox="1"/>
          <p:nvPr/>
        </p:nvSpPr>
        <p:spPr>
          <a:xfrm>
            <a:off x="9381515" y="3136391"/>
            <a:ext cx="2106091" cy="84124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Where the warmth goes, in one line.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PHRASES TO RETIRE</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Four phrases to retire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PS-02  ·  Professional Email Writing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vis:mistake"/>
          <p:cNvSpPr/>
          <p:nvPr/>
        </p:nvSpPr>
        <p:spPr>
          <a:xfrm>
            <a:off x="502920" y="1719072"/>
            <a:ext cx="11185855" cy="950976"/>
          </a:xfrm>
          <a:prstGeom prst="roundRect">
            <a:avLst>
              <a:gd name="adj" fmla="val 7692"/>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mistakebar"/>
          <p:cNvSpPr/>
          <p:nvPr/>
        </p:nvSpPr>
        <p:spPr>
          <a:xfrm>
            <a:off x="502920" y="1719072"/>
            <a:ext cx="68580" cy="950976"/>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mistakenum"/>
          <p:cNvSpPr/>
          <p:nvPr/>
        </p:nvSpPr>
        <p:spPr>
          <a:xfrm>
            <a:off x="740664" y="2039112"/>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mistakenumtext"/>
          <p:cNvSpPr txBox="1"/>
          <p:nvPr/>
        </p:nvSpPr>
        <p:spPr>
          <a:xfrm>
            <a:off x="740664" y="2107692"/>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1</a:t>
            </a:r>
          </a:p>
        </p:txBody>
      </p:sp>
      <p:sp>
        <p:nvSpPr>
          <p:cNvPr id="19" name="cell:mistake"/>
          <p:cNvSpPr txBox="1"/>
          <p:nvPr/>
        </p:nvSpPr>
        <p:spPr>
          <a:xfrm>
            <a:off x="1179576" y="1810512"/>
            <a:ext cx="4682806" cy="768096"/>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"As per my previous email"</a:t>
            </a:r>
          </a:p>
        </p:txBody>
      </p:sp>
      <p:cxnSp>
        <p:nvCxnSpPr>
          <p:cNvPr id="20" name="vis:line"/>
          <p:cNvCxnSpPr/>
          <p:nvPr/>
        </p:nvCxnSpPr>
        <p:spPr>
          <a:xfrm>
            <a:off x="6008686" y="1865376"/>
            <a:ext cx="0" cy="658368"/>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1" name="cell:mistakewhy"/>
          <p:cNvSpPr txBox="1"/>
          <p:nvPr/>
        </p:nvSpPr>
        <p:spPr>
          <a:xfrm>
            <a:off x="6173278" y="1810512"/>
            <a:ext cx="5296040" cy="768096"/>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Reads as an accusation, whatever you intended. Say "following up on" instead.</a:t>
            </a:r>
          </a:p>
        </p:txBody>
      </p:sp>
      <p:sp>
        <p:nvSpPr>
          <p:cNvPr id="22" name="vis:mistake"/>
          <p:cNvSpPr/>
          <p:nvPr/>
        </p:nvSpPr>
        <p:spPr>
          <a:xfrm>
            <a:off x="502920" y="2834639"/>
            <a:ext cx="11185855" cy="950976"/>
          </a:xfrm>
          <a:prstGeom prst="roundRect">
            <a:avLst>
              <a:gd name="adj" fmla="val 7692"/>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mistakebar"/>
          <p:cNvSpPr/>
          <p:nvPr/>
        </p:nvSpPr>
        <p:spPr>
          <a:xfrm>
            <a:off x="502920" y="2834639"/>
            <a:ext cx="68580" cy="950976"/>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mistakenum"/>
          <p:cNvSpPr/>
          <p:nvPr/>
        </p:nvSpPr>
        <p:spPr>
          <a:xfrm>
            <a:off x="740664" y="3154679"/>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mistakenumtext"/>
          <p:cNvSpPr txBox="1"/>
          <p:nvPr/>
        </p:nvSpPr>
        <p:spPr>
          <a:xfrm>
            <a:off x="740664" y="3223260"/>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2</a:t>
            </a:r>
          </a:p>
        </p:txBody>
      </p:sp>
      <p:sp>
        <p:nvSpPr>
          <p:cNvPr id="26" name="cell:mistake"/>
          <p:cNvSpPr txBox="1"/>
          <p:nvPr/>
        </p:nvSpPr>
        <p:spPr>
          <a:xfrm>
            <a:off x="1179576" y="2926079"/>
            <a:ext cx="4682806" cy="768096"/>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"Kindly do the needful"</a:t>
            </a:r>
          </a:p>
        </p:txBody>
      </p:sp>
      <p:cxnSp>
        <p:nvCxnSpPr>
          <p:cNvPr id="27" name="vis:line"/>
          <p:cNvCxnSpPr/>
          <p:nvPr/>
        </p:nvCxnSpPr>
        <p:spPr>
          <a:xfrm>
            <a:off x="6008686" y="2980944"/>
            <a:ext cx="0" cy="658367"/>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8" name="cell:mistakewhy"/>
          <p:cNvSpPr txBox="1"/>
          <p:nvPr/>
        </p:nvSpPr>
        <p:spPr>
          <a:xfrm>
            <a:off x="6173278" y="2926079"/>
            <a:ext cx="5296040" cy="768096"/>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Says nothing about what you actually want done. Name the action and the date.</a:t>
            </a:r>
          </a:p>
        </p:txBody>
      </p:sp>
      <p:sp>
        <p:nvSpPr>
          <p:cNvPr id="29" name="vis:mistake"/>
          <p:cNvSpPr/>
          <p:nvPr/>
        </p:nvSpPr>
        <p:spPr>
          <a:xfrm>
            <a:off x="502920" y="3950208"/>
            <a:ext cx="11185855" cy="950976"/>
          </a:xfrm>
          <a:prstGeom prst="roundRect">
            <a:avLst>
              <a:gd name="adj" fmla="val 7692"/>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mistakebar"/>
          <p:cNvSpPr/>
          <p:nvPr/>
        </p:nvSpPr>
        <p:spPr>
          <a:xfrm>
            <a:off x="502920" y="3950208"/>
            <a:ext cx="68580" cy="950976"/>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mistakenum"/>
          <p:cNvSpPr/>
          <p:nvPr/>
        </p:nvSpPr>
        <p:spPr>
          <a:xfrm>
            <a:off x="740664" y="4270248"/>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mistakenumtext"/>
          <p:cNvSpPr txBox="1"/>
          <p:nvPr/>
        </p:nvSpPr>
        <p:spPr>
          <a:xfrm>
            <a:off x="740664" y="4338828"/>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3</a:t>
            </a:r>
          </a:p>
        </p:txBody>
      </p:sp>
      <p:sp>
        <p:nvSpPr>
          <p:cNvPr id="33" name="cell:mistake"/>
          <p:cNvSpPr txBox="1"/>
          <p:nvPr/>
        </p:nvSpPr>
        <p:spPr>
          <a:xfrm>
            <a:off x="1179576" y="4041648"/>
            <a:ext cx="4682806" cy="768096"/>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"Please revert"</a:t>
            </a:r>
          </a:p>
        </p:txBody>
      </p:sp>
      <p:cxnSp>
        <p:nvCxnSpPr>
          <p:cNvPr id="34" name="vis:line"/>
          <p:cNvCxnSpPr/>
          <p:nvPr/>
        </p:nvCxnSpPr>
        <p:spPr>
          <a:xfrm>
            <a:off x="6008686" y="4096512"/>
            <a:ext cx="0" cy="658368"/>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35" name="cell:mistakewhy"/>
          <p:cNvSpPr txBox="1"/>
          <p:nvPr/>
        </p:nvSpPr>
        <p:spPr>
          <a:xfrm>
            <a:off x="6173278" y="4041648"/>
            <a:ext cx="5296040" cy="768096"/>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In most of the world this means go back to a previous state. Say "please reply".</a:t>
            </a:r>
          </a:p>
        </p:txBody>
      </p:sp>
      <p:sp>
        <p:nvSpPr>
          <p:cNvPr id="36" name="vis:mistake"/>
          <p:cNvSpPr/>
          <p:nvPr/>
        </p:nvSpPr>
        <p:spPr>
          <a:xfrm>
            <a:off x="502920" y="5065776"/>
            <a:ext cx="11185855" cy="950976"/>
          </a:xfrm>
          <a:prstGeom prst="roundRect">
            <a:avLst>
              <a:gd name="adj" fmla="val 7692"/>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vis:mistakebar"/>
          <p:cNvSpPr/>
          <p:nvPr/>
        </p:nvSpPr>
        <p:spPr>
          <a:xfrm>
            <a:off x="502920" y="5065776"/>
            <a:ext cx="68580" cy="950976"/>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8" name="vis:mistakenum"/>
          <p:cNvSpPr/>
          <p:nvPr/>
        </p:nvSpPr>
        <p:spPr>
          <a:xfrm>
            <a:off x="740664" y="5385816"/>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9" name="vis:mistakenumtext"/>
          <p:cNvSpPr txBox="1"/>
          <p:nvPr/>
        </p:nvSpPr>
        <p:spPr>
          <a:xfrm>
            <a:off x="740664" y="5454396"/>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4</a:t>
            </a:r>
          </a:p>
        </p:txBody>
      </p:sp>
      <p:sp>
        <p:nvSpPr>
          <p:cNvPr id="40" name="cell:mistake"/>
          <p:cNvSpPr txBox="1"/>
          <p:nvPr/>
        </p:nvSpPr>
        <p:spPr>
          <a:xfrm>
            <a:off x="1179576" y="5157216"/>
            <a:ext cx="4682806" cy="768096"/>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"Urgent" in every subject line</a:t>
            </a:r>
          </a:p>
        </p:txBody>
      </p:sp>
      <p:cxnSp>
        <p:nvCxnSpPr>
          <p:cNvPr id="41" name="vis:line"/>
          <p:cNvCxnSpPr/>
          <p:nvPr/>
        </p:nvCxnSpPr>
        <p:spPr>
          <a:xfrm>
            <a:off x="6008686" y="5212080"/>
            <a:ext cx="0" cy="658368"/>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42" name="cell:mistakewhy"/>
          <p:cNvSpPr txBox="1"/>
          <p:nvPr/>
        </p:nvSpPr>
        <p:spPr>
          <a:xfrm>
            <a:off x="6173278" y="5157216"/>
            <a:ext cx="5296040" cy="768096"/>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It stops meaning anything after the second use, and hides the ones that are.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PHRASES TO RETIRE</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Say what you want instead</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PS-02  ·  Professional Email Writing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vis:panel"/>
          <p:cNvSpPr/>
          <p:nvPr/>
        </p:nvSpPr>
        <p:spPr>
          <a:xfrm>
            <a:off x="502920" y="1719072"/>
            <a:ext cx="5437479" cy="4297680"/>
          </a:xfrm>
          <a:prstGeom prst="roundRect">
            <a:avLst>
              <a:gd name="adj" fmla="val 212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panelspine"/>
          <p:cNvSpPr/>
          <p:nvPr/>
        </p:nvSpPr>
        <p:spPr>
          <a:xfrm>
            <a:off x="502920" y="1719072"/>
            <a:ext cx="68580" cy="429768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chip"/>
          <p:cNvSpPr/>
          <p:nvPr/>
        </p:nvSpPr>
        <p:spPr>
          <a:xfrm>
            <a:off x="777240" y="1956815"/>
            <a:ext cx="1049710" cy="274320"/>
          </a:xfrm>
          <a:prstGeom prst="roundRect">
            <a:avLst>
              <a:gd name="adj" fmla="val 16666"/>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chiptext"/>
          <p:cNvSpPr txBox="1"/>
          <p:nvPr/>
        </p:nvSpPr>
        <p:spPr>
          <a:xfrm>
            <a:off x="932688" y="1984247"/>
            <a:ext cx="738814"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VAGUE</a:t>
            </a:r>
          </a:p>
        </p:txBody>
      </p:sp>
      <p:sp>
        <p:nvSpPr>
          <p:cNvPr id="19" name="vis:paneltitle"/>
          <p:cNvSpPr txBox="1"/>
          <p:nvPr/>
        </p:nvSpPr>
        <p:spPr>
          <a:xfrm>
            <a:off x="777240" y="2377439"/>
            <a:ext cx="4888839"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Reader has to guess</a:t>
            </a:r>
          </a:p>
        </p:txBody>
      </p:sp>
      <p:cxnSp>
        <p:nvCxnSpPr>
          <p:cNvPr id="20" name="vis:icon"/>
          <p:cNvCxnSpPr/>
          <p:nvPr/>
        </p:nvCxnSpPr>
        <p:spPr>
          <a:xfrm>
            <a:off x="819302" y="3091586"/>
            <a:ext cx="117043"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cxnSp>
        <p:nvCxnSpPr>
          <p:cNvPr id="21" name="vis:icon"/>
          <p:cNvCxnSpPr/>
          <p:nvPr/>
        </p:nvCxnSpPr>
        <p:spPr>
          <a:xfrm flipH="1">
            <a:off x="819302" y="3091586"/>
            <a:ext cx="117043"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sp>
        <p:nvSpPr>
          <p:cNvPr id="22" name="vis:panelitem"/>
          <p:cNvSpPr txBox="1"/>
          <p:nvPr/>
        </p:nvSpPr>
        <p:spPr>
          <a:xfrm>
            <a:off x="1078992" y="3017520"/>
            <a:ext cx="4587087" cy="64008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"Kindly do the needful"</a:t>
            </a:r>
          </a:p>
        </p:txBody>
      </p:sp>
      <p:cxnSp>
        <p:nvCxnSpPr>
          <p:cNvPr id="23" name="vis:icon"/>
          <p:cNvCxnSpPr/>
          <p:nvPr/>
        </p:nvCxnSpPr>
        <p:spPr>
          <a:xfrm>
            <a:off x="819302" y="3786530"/>
            <a:ext cx="117043"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cxnSp>
        <p:nvCxnSpPr>
          <p:cNvPr id="24" name="vis:icon"/>
          <p:cNvCxnSpPr/>
          <p:nvPr/>
        </p:nvCxnSpPr>
        <p:spPr>
          <a:xfrm flipH="1">
            <a:off x="819302" y="3786530"/>
            <a:ext cx="117043"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sp>
        <p:nvSpPr>
          <p:cNvPr id="25" name="vis:panelitem"/>
          <p:cNvSpPr txBox="1"/>
          <p:nvPr/>
        </p:nvSpPr>
        <p:spPr>
          <a:xfrm>
            <a:off x="1078992" y="3712463"/>
            <a:ext cx="4587087" cy="64008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"Please look into this"</a:t>
            </a:r>
          </a:p>
        </p:txBody>
      </p:sp>
      <p:cxnSp>
        <p:nvCxnSpPr>
          <p:cNvPr id="26" name="vis:icon"/>
          <p:cNvCxnSpPr/>
          <p:nvPr/>
        </p:nvCxnSpPr>
        <p:spPr>
          <a:xfrm>
            <a:off x="819302" y="4481474"/>
            <a:ext cx="117043"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cxnSp>
        <p:nvCxnSpPr>
          <p:cNvPr id="27" name="vis:icon"/>
          <p:cNvCxnSpPr/>
          <p:nvPr/>
        </p:nvCxnSpPr>
        <p:spPr>
          <a:xfrm flipH="1">
            <a:off x="819302" y="4481474"/>
            <a:ext cx="117043"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sp>
        <p:nvSpPr>
          <p:cNvPr id="28" name="vis:panelitem"/>
          <p:cNvSpPr txBox="1"/>
          <p:nvPr/>
        </p:nvSpPr>
        <p:spPr>
          <a:xfrm>
            <a:off x="1078992" y="4407407"/>
            <a:ext cx="4587087" cy="64008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"Awaiting your revert"</a:t>
            </a:r>
          </a:p>
        </p:txBody>
      </p:sp>
      <p:cxnSp>
        <p:nvCxnSpPr>
          <p:cNvPr id="29" name="vis:icon"/>
          <p:cNvCxnSpPr/>
          <p:nvPr/>
        </p:nvCxnSpPr>
        <p:spPr>
          <a:xfrm>
            <a:off x="819302" y="5176418"/>
            <a:ext cx="117043"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cxnSp>
        <p:nvCxnSpPr>
          <p:cNvPr id="30" name="vis:icon"/>
          <p:cNvCxnSpPr/>
          <p:nvPr/>
        </p:nvCxnSpPr>
        <p:spPr>
          <a:xfrm flipH="1">
            <a:off x="819302" y="5176418"/>
            <a:ext cx="117043"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sp>
        <p:nvSpPr>
          <p:cNvPr id="31" name="vis:panelitem"/>
          <p:cNvSpPr txBox="1"/>
          <p:nvPr/>
        </p:nvSpPr>
        <p:spPr>
          <a:xfrm>
            <a:off x="1078992" y="5102351"/>
            <a:ext cx="4587087" cy="64008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"Treat as most urgent"</a:t>
            </a:r>
          </a:p>
        </p:txBody>
      </p:sp>
      <p:sp>
        <p:nvSpPr>
          <p:cNvPr id="32" name="vis:panel"/>
          <p:cNvSpPr/>
          <p:nvPr/>
        </p:nvSpPr>
        <p:spPr>
          <a:xfrm>
            <a:off x="6251295" y="1719072"/>
            <a:ext cx="5437479" cy="4297680"/>
          </a:xfrm>
          <a:prstGeom prst="roundRect">
            <a:avLst>
              <a:gd name="adj" fmla="val 212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panelspine"/>
          <p:cNvSpPr/>
          <p:nvPr/>
        </p:nvSpPr>
        <p:spPr>
          <a:xfrm>
            <a:off x="6251295" y="1719072"/>
            <a:ext cx="68580" cy="429768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vis:chip"/>
          <p:cNvSpPr/>
          <p:nvPr/>
        </p:nvSpPr>
        <p:spPr>
          <a:xfrm>
            <a:off x="6525615" y="1956815"/>
            <a:ext cx="1198499" cy="274320"/>
          </a:xfrm>
          <a:prstGeom prst="roundRect">
            <a:avLst>
              <a:gd name="adj" fmla="val 16666"/>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5" name="vis:chiptext"/>
          <p:cNvSpPr txBox="1"/>
          <p:nvPr/>
        </p:nvSpPr>
        <p:spPr>
          <a:xfrm>
            <a:off x="6681063" y="1984247"/>
            <a:ext cx="88760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SPECIFIC</a:t>
            </a:r>
          </a:p>
        </p:txBody>
      </p:sp>
      <p:sp>
        <p:nvSpPr>
          <p:cNvPr id="36" name="vis:paneltitle"/>
          <p:cNvSpPr txBox="1"/>
          <p:nvPr/>
        </p:nvSpPr>
        <p:spPr>
          <a:xfrm>
            <a:off x="6525615" y="2377439"/>
            <a:ext cx="4888839"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Reader knows exactly</a:t>
            </a:r>
          </a:p>
        </p:txBody>
      </p:sp>
      <p:cxnSp>
        <p:nvCxnSpPr>
          <p:cNvPr id="37" name="vis:icon"/>
          <p:cNvCxnSpPr/>
          <p:nvPr/>
        </p:nvCxnSpPr>
        <p:spPr>
          <a:xfrm>
            <a:off x="6560362" y="3153765"/>
            <a:ext cx="47549" cy="47549"/>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cxnSp>
        <p:nvCxnSpPr>
          <p:cNvPr id="38" name="vis:icon"/>
          <p:cNvCxnSpPr/>
          <p:nvPr/>
        </p:nvCxnSpPr>
        <p:spPr>
          <a:xfrm flipV="1">
            <a:off x="6607911" y="3098901"/>
            <a:ext cx="87783" cy="102413"/>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sp>
        <p:nvSpPr>
          <p:cNvPr id="39" name="vis:panelitem"/>
          <p:cNvSpPr txBox="1"/>
          <p:nvPr/>
        </p:nvSpPr>
        <p:spPr>
          <a:xfrm>
            <a:off x="6827367" y="3017520"/>
            <a:ext cx="4587087" cy="64008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"Please approve the revised quote"</a:t>
            </a:r>
          </a:p>
        </p:txBody>
      </p:sp>
      <p:cxnSp>
        <p:nvCxnSpPr>
          <p:cNvPr id="40" name="vis:icon"/>
          <p:cNvCxnSpPr/>
          <p:nvPr/>
        </p:nvCxnSpPr>
        <p:spPr>
          <a:xfrm>
            <a:off x="6560362" y="3848709"/>
            <a:ext cx="47549" cy="47549"/>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cxnSp>
        <p:nvCxnSpPr>
          <p:cNvPr id="41" name="vis:icon"/>
          <p:cNvCxnSpPr/>
          <p:nvPr/>
        </p:nvCxnSpPr>
        <p:spPr>
          <a:xfrm flipV="1">
            <a:off x="6607911" y="3793845"/>
            <a:ext cx="87783" cy="102413"/>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sp>
        <p:nvSpPr>
          <p:cNvPr id="42" name="vis:panelitem"/>
          <p:cNvSpPr txBox="1"/>
          <p:nvPr/>
        </p:nvSpPr>
        <p:spPr>
          <a:xfrm>
            <a:off x="6827367" y="3712463"/>
            <a:ext cx="4587087" cy="64008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"Please confirm the new date"</a:t>
            </a:r>
          </a:p>
        </p:txBody>
      </p:sp>
      <p:cxnSp>
        <p:nvCxnSpPr>
          <p:cNvPr id="43" name="vis:icon"/>
          <p:cNvCxnSpPr/>
          <p:nvPr/>
        </p:nvCxnSpPr>
        <p:spPr>
          <a:xfrm>
            <a:off x="6560362" y="4543653"/>
            <a:ext cx="47549" cy="47549"/>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cxnSp>
        <p:nvCxnSpPr>
          <p:cNvPr id="44" name="vis:icon"/>
          <p:cNvCxnSpPr/>
          <p:nvPr/>
        </p:nvCxnSpPr>
        <p:spPr>
          <a:xfrm flipV="1">
            <a:off x="6607911" y="4488789"/>
            <a:ext cx="87783" cy="102413"/>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sp>
        <p:nvSpPr>
          <p:cNvPr id="45" name="vis:panelitem"/>
          <p:cNvSpPr txBox="1"/>
          <p:nvPr/>
        </p:nvSpPr>
        <p:spPr>
          <a:xfrm>
            <a:off x="6827367" y="4407407"/>
            <a:ext cx="4587087" cy="64008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"A yes or no by Thursday would help"</a:t>
            </a:r>
          </a:p>
        </p:txBody>
      </p:sp>
      <p:cxnSp>
        <p:nvCxnSpPr>
          <p:cNvPr id="46" name="vis:icon"/>
          <p:cNvCxnSpPr/>
          <p:nvPr/>
        </p:nvCxnSpPr>
        <p:spPr>
          <a:xfrm>
            <a:off x="6560362" y="5238597"/>
            <a:ext cx="47549" cy="47549"/>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cxnSp>
        <p:nvCxnSpPr>
          <p:cNvPr id="47" name="vis:icon"/>
          <p:cNvCxnSpPr/>
          <p:nvPr/>
        </p:nvCxnSpPr>
        <p:spPr>
          <a:xfrm flipV="1">
            <a:off x="6607911" y="5183733"/>
            <a:ext cx="87783" cy="102413"/>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sp>
        <p:nvSpPr>
          <p:cNvPr id="48" name="vis:panelitem"/>
          <p:cNvSpPr txBox="1"/>
          <p:nvPr/>
        </p:nvSpPr>
        <p:spPr>
          <a:xfrm>
            <a:off x="6827367" y="5102351"/>
            <a:ext cx="4587087" cy="64008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"We need this before the 3pm dispatch"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TONE WHEN ANNOYED</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Neutral is a skill</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PS-02  ·  Professional Email Writing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body:lead"/>
          <p:cNvSpPr txBox="1"/>
          <p:nvPr/>
        </p:nvSpPr>
        <p:spPr>
          <a:xfrm>
            <a:off x="502920" y="1719072"/>
            <a:ext cx="8343671" cy="822959"/>
          </a:xfrm>
          <a:prstGeom prst="rect">
            <a:avLst/>
          </a:prstGeom>
          <a:noFill/>
        </p:spPr>
        <p:txBody>
          <a:bodyPr wrap="square" lIns="0" rIns="0" tIns="0" bIns="0" anchor="t">
            <a:spAutoFit/>
          </a:bodyPr>
          <a:lstStyle/>
          <a:p>
            <a:pPr algn="l">
              <a:lnSpc>
                <a:spcPts val="2340"/>
              </a:lnSpc>
              <a:spcBef>
                <a:spcPts val="0"/>
              </a:spcBef>
              <a:spcAft>
                <a:spcPts val="0"/>
              </a:spcAft>
            </a:pPr>
            <a:r>
              <a:rPr sz="1800" b="0">
                <a:solidFill>
                  <a:srgbClr val="2A3547"/>
                </a:solidFill>
                <a:latin typeface="Segoe UI"/>
              </a:rPr>
              <a:t>When you are annoyed, the email you write will read angrier than you meant. Every time.</a:t>
            </a:r>
          </a:p>
        </p:txBody>
      </p:sp>
      <p:sp>
        <p:nvSpPr>
          <p:cNvPr id="16" name="vis:checktile"/>
          <p:cNvSpPr/>
          <p:nvPr/>
        </p:nvSpPr>
        <p:spPr>
          <a:xfrm>
            <a:off x="502920" y="2834640"/>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checkdot"/>
          <p:cNvSpPr/>
          <p:nvPr/>
        </p:nvSpPr>
        <p:spPr>
          <a:xfrm>
            <a:off x="722376" y="3387852"/>
            <a:ext cx="310896" cy="310896"/>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a:off x="815279" y="3546774"/>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19" name="vis:icon"/>
          <p:cNvCxnSpPr/>
          <p:nvPr/>
        </p:nvCxnSpPr>
        <p:spPr>
          <a:xfrm flipV="1">
            <a:off x="860450" y="3494653"/>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cell:checkitem"/>
          <p:cNvSpPr txBox="1"/>
          <p:nvPr/>
        </p:nvSpPr>
        <p:spPr>
          <a:xfrm>
            <a:off x="1161288" y="2980944"/>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Remove every "you" that assigns blame. Use "the order", not "your team".</a:t>
            </a:r>
          </a:p>
        </p:txBody>
      </p:sp>
      <p:sp>
        <p:nvSpPr>
          <p:cNvPr id="21" name="vis:checktile"/>
          <p:cNvSpPr/>
          <p:nvPr/>
        </p:nvSpPr>
        <p:spPr>
          <a:xfrm>
            <a:off x="6205575" y="2834640"/>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checkdot"/>
          <p:cNvSpPr/>
          <p:nvPr/>
        </p:nvSpPr>
        <p:spPr>
          <a:xfrm>
            <a:off x="6425031" y="3387852"/>
            <a:ext cx="310896" cy="310896"/>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3" name="vis:icon"/>
          <p:cNvCxnSpPr/>
          <p:nvPr/>
        </p:nvCxnSpPr>
        <p:spPr>
          <a:xfrm>
            <a:off x="6517934" y="3546774"/>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4" name="vis:icon"/>
          <p:cNvCxnSpPr/>
          <p:nvPr/>
        </p:nvCxnSpPr>
        <p:spPr>
          <a:xfrm flipV="1">
            <a:off x="6563106" y="3494653"/>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5" name="cell:checkitem"/>
          <p:cNvSpPr txBox="1"/>
          <p:nvPr/>
        </p:nvSpPr>
        <p:spPr>
          <a:xfrm>
            <a:off x="6863943" y="2980944"/>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Delete adverbs. "Repeatedly", "clearly", "again" all sharpen the tone.</a:t>
            </a:r>
          </a:p>
        </p:txBody>
      </p:sp>
      <p:sp>
        <p:nvSpPr>
          <p:cNvPr id="26" name="vis:checktile"/>
          <p:cNvSpPr/>
          <p:nvPr/>
        </p:nvSpPr>
        <p:spPr>
          <a:xfrm>
            <a:off x="502920" y="4471416"/>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vis:checkdot"/>
          <p:cNvSpPr/>
          <p:nvPr/>
        </p:nvSpPr>
        <p:spPr>
          <a:xfrm>
            <a:off x="722376" y="5024628"/>
            <a:ext cx="310896" cy="310896"/>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8" name="vis:icon"/>
          <p:cNvCxnSpPr/>
          <p:nvPr/>
        </p:nvCxnSpPr>
        <p:spPr>
          <a:xfrm>
            <a:off x="815279" y="5183550"/>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9" name="vis:icon"/>
          <p:cNvCxnSpPr/>
          <p:nvPr/>
        </p:nvCxnSpPr>
        <p:spPr>
          <a:xfrm flipV="1">
            <a:off x="860450" y="5131429"/>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0" name="cell:checkitem"/>
          <p:cNvSpPr txBox="1"/>
          <p:nvPr/>
        </p:nvSpPr>
        <p:spPr>
          <a:xfrm>
            <a:off x="1161288" y="4617720"/>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State facts with dates. Facts do not need heat to land.</a:t>
            </a:r>
          </a:p>
        </p:txBody>
      </p:sp>
      <p:sp>
        <p:nvSpPr>
          <p:cNvPr id="31" name="vis:checktile"/>
          <p:cNvSpPr/>
          <p:nvPr/>
        </p:nvSpPr>
        <p:spPr>
          <a:xfrm>
            <a:off x="6205575" y="4471416"/>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checkdot"/>
          <p:cNvSpPr/>
          <p:nvPr/>
        </p:nvSpPr>
        <p:spPr>
          <a:xfrm>
            <a:off x="6425031" y="5024628"/>
            <a:ext cx="310896" cy="310896"/>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3" name="vis:icon"/>
          <p:cNvCxnSpPr/>
          <p:nvPr/>
        </p:nvCxnSpPr>
        <p:spPr>
          <a:xfrm>
            <a:off x="6517934" y="5183550"/>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4" name="vis:icon"/>
          <p:cNvCxnSpPr/>
          <p:nvPr/>
        </p:nvCxnSpPr>
        <p:spPr>
          <a:xfrm flipV="1">
            <a:off x="6563106" y="5131429"/>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5" name="cell:checkitem"/>
          <p:cNvSpPr txBox="1"/>
          <p:nvPr/>
        </p:nvSpPr>
        <p:spPr>
          <a:xfrm>
            <a:off x="6863943" y="4617720"/>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Write it, then send it thirty minutes later.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TONE WHEN ANNOYED</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The neutral chaser</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PS-02  ·  Professional Email Writing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vis:promptcard"/>
          <p:cNvSpPr/>
          <p:nvPr/>
        </p:nvSpPr>
        <p:spPr>
          <a:xfrm>
            <a:off x="502920" y="1719072"/>
            <a:ext cx="6935230" cy="2146807"/>
          </a:xfrm>
          <a:prstGeom prst="roundRect">
            <a:avLst>
              <a:gd name="adj" fmla="val 4259"/>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promptbar"/>
          <p:cNvSpPr/>
          <p:nvPr/>
        </p:nvSpPr>
        <p:spPr>
          <a:xfrm>
            <a:off x="502920" y="1719072"/>
            <a:ext cx="6935230" cy="402336"/>
          </a:xfrm>
          <a:prstGeom prst="rect">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739932" y="1841235"/>
            <a:ext cx="184343" cy="122895"/>
          </a:xfrm>
          <a:prstGeom prst="roundRect">
            <a:avLst>
              <a:gd name="adj" fmla="val 37202"/>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flipH="1">
            <a:off x="775045" y="1964131"/>
            <a:ext cx="8778"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19" name="vis:icon"/>
          <p:cNvCxnSpPr/>
          <p:nvPr/>
        </p:nvCxnSpPr>
        <p:spPr>
          <a:xfrm flipV="1">
            <a:off x="775045" y="1964131"/>
            <a:ext cx="48280"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copybtn"/>
          <p:cNvSpPr/>
          <p:nvPr/>
        </p:nvSpPr>
        <p:spPr>
          <a:xfrm>
            <a:off x="5577981" y="1792224"/>
            <a:ext cx="1677289" cy="256032"/>
          </a:xfrm>
          <a:prstGeom prst="roundRect">
            <a:avLst>
              <a:gd name="adj" fmla="val 1785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icon"/>
          <p:cNvSpPr/>
          <p:nvPr/>
        </p:nvSpPr>
        <p:spPr>
          <a:xfrm>
            <a:off x="5761592" y="1858060"/>
            <a:ext cx="80832" cy="130576"/>
          </a:xfrm>
          <a:prstGeom prst="roundRect">
            <a:avLst>
              <a:gd name="adj" fmla="val 50000"/>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5780246" y="1895368"/>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3" name="vis:icon"/>
          <p:cNvCxnSpPr/>
          <p:nvPr/>
        </p:nvCxnSpPr>
        <p:spPr>
          <a:xfrm>
            <a:off x="5780246" y="1923348"/>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4" name="vis:icon"/>
          <p:cNvCxnSpPr/>
          <p:nvPr/>
        </p:nvCxnSpPr>
        <p:spPr>
          <a:xfrm>
            <a:off x="5780246" y="1951329"/>
            <a:ext cx="31090"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5" name="vis:copytext"/>
          <p:cNvSpPr txBox="1"/>
          <p:nvPr/>
        </p:nvSpPr>
        <p:spPr>
          <a:xfrm>
            <a:off x="5989461" y="1851660"/>
            <a:ext cx="1064641"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Select + copy</a:t>
            </a:r>
          </a:p>
        </p:txBody>
      </p:sp>
      <p:sp>
        <p:nvSpPr>
          <p:cNvPr id="26" name="vis:prompthdr"/>
          <p:cNvSpPr txBox="1"/>
          <p:nvPr/>
        </p:nvSpPr>
        <p:spPr>
          <a:xfrm>
            <a:off x="1051560" y="1828800"/>
            <a:ext cx="4416693" cy="201168"/>
          </a:xfrm>
          <a:prstGeom prst="rect">
            <a:avLst/>
          </a:prstGeom>
          <a:noFill/>
        </p:spPr>
        <p:txBody>
          <a:bodyPr wrap="square" lIns="0" rIns="0" tIns="0" bIns="0" anchor="t">
            <a:spAutoFit/>
          </a:bodyPr>
          <a:lstStyle/>
          <a:p>
            <a:pPr algn="l">
              <a:lnSpc>
                <a:spcPts val="1560"/>
              </a:lnSpc>
              <a:spcBef>
                <a:spcPts val="0"/>
              </a:spcBef>
              <a:spcAft>
                <a:spcPts val="0"/>
              </a:spcAft>
            </a:pPr>
            <a:r>
              <a:rPr sz="1200" b="0" spc="60">
                <a:solidFill>
                  <a:srgbClr val="FFFFFF"/>
                </a:solidFill>
                <a:latin typeface="Segoe UI Semibold"/>
              </a:rPr>
              <a:t>Copy this wording</a:t>
            </a:r>
          </a:p>
        </p:txBody>
      </p:sp>
      <p:sp>
        <p:nvSpPr>
          <p:cNvPr id="27" name="card:prompt"/>
          <p:cNvSpPr txBox="1"/>
          <p:nvPr/>
        </p:nvSpPr>
        <p:spPr>
          <a:xfrm>
            <a:off x="777240" y="2267712"/>
            <a:ext cx="6386590" cy="924559"/>
          </a:xfrm>
          <a:prstGeom prst="rect">
            <a:avLst/>
          </a:prstGeom>
          <a:noFill/>
        </p:spPr>
        <p:txBody>
          <a:bodyPr wrap="square" lIns="0" rIns="0" tIns="0" bIns="0" anchor="t">
            <a:spAutoFit/>
          </a:bodyPr>
          <a:lstStyle/>
          <a:p>
            <a:pPr algn="l">
              <a:lnSpc>
                <a:spcPts val="1755"/>
              </a:lnSpc>
              <a:spcBef>
                <a:spcPts val="0"/>
              </a:spcBef>
              <a:spcAft>
                <a:spcPts val="0"/>
              </a:spcAft>
            </a:pPr>
            <a:r>
              <a:rPr sz="1350" b="0">
                <a:solidFill>
                  <a:srgbClr val="FFFFFF"/>
                </a:solidFill>
                <a:latin typeface="Consolas"/>
              </a:rPr>
              <a:t>Following up on the revised drawings. These were due on the 8th and we have not received them yet. The install team is booked for the 19th, so we would need them by the 14th at the latest. Could you confirm a date today?</a:t>
            </a:r>
          </a:p>
        </p:txBody>
      </p:sp>
      <p:sp>
        <p:nvSpPr>
          <p:cNvPr id="28" name="vis:promptcap"/>
          <p:cNvSpPr txBox="1"/>
          <p:nvPr/>
        </p:nvSpPr>
        <p:spPr>
          <a:xfrm>
            <a:off x="777240" y="3393440"/>
            <a:ext cx="6386590" cy="252984"/>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C9D1DE"/>
                </a:solidFill>
                <a:latin typeface="Segoe UI"/>
              </a:rPr>
              <a:t>Two missed deadlines, and not one word of heat in it.</a:t>
            </a:r>
          </a:p>
        </p:txBody>
      </p:sp>
      <p:sp>
        <p:nvSpPr>
          <p:cNvPr id="29" name="seclabel"/>
          <p:cNvSpPr txBox="1"/>
          <p:nvPr/>
        </p:nvSpPr>
        <p:spPr>
          <a:xfrm>
            <a:off x="7803910" y="1773936"/>
            <a:ext cx="3884864"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WHY THIS WORKS</a:t>
            </a:r>
          </a:p>
        </p:txBody>
      </p:sp>
      <p:cxnSp>
        <p:nvCxnSpPr>
          <p:cNvPr id="30" name="vis:icon"/>
          <p:cNvCxnSpPr/>
          <p:nvPr/>
        </p:nvCxnSpPr>
        <p:spPr>
          <a:xfrm>
            <a:off x="7850361" y="2317455"/>
            <a:ext cx="52304" cy="52304"/>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cxnSp>
        <p:nvCxnSpPr>
          <p:cNvPr id="31" name="vis:icon"/>
          <p:cNvCxnSpPr/>
          <p:nvPr/>
        </p:nvCxnSpPr>
        <p:spPr>
          <a:xfrm flipV="1">
            <a:off x="7902665" y="2257104"/>
            <a:ext cx="96561" cy="112655"/>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32" name="cell:why"/>
          <p:cNvSpPr txBox="1"/>
          <p:nvPr/>
        </p:nvSpPr>
        <p:spPr>
          <a:xfrm>
            <a:off x="8187958" y="2157984"/>
            <a:ext cx="3500816" cy="78638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Dates do the work that adjectives would have done badly.</a:t>
            </a:r>
          </a:p>
        </p:txBody>
      </p:sp>
      <p:cxnSp>
        <p:nvCxnSpPr>
          <p:cNvPr id="33" name="vis:icon"/>
          <p:cNvCxnSpPr/>
          <p:nvPr/>
        </p:nvCxnSpPr>
        <p:spPr>
          <a:xfrm>
            <a:off x="7850361" y="3250143"/>
            <a:ext cx="52304" cy="52304"/>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cxnSp>
        <p:nvCxnSpPr>
          <p:cNvPr id="34" name="vis:icon"/>
          <p:cNvCxnSpPr/>
          <p:nvPr/>
        </p:nvCxnSpPr>
        <p:spPr>
          <a:xfrm flipV="1">
            <a:off x="7902665" y="3189792"/>
            <a:ext cx="96561" cy="112655"/>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35" name="cell:why"/>
          <p:cNvSpPr txBox="1"/>
          <p:nvPr/>
        </p:nvSpPr>
        <p:spPr>
          <a:xfrm>
            <a:off x="8187958" y="3090672"/>
            <a:ext cx="3500816" cy="78638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No "you" appears, so nobody is being accused.</a:t>
            </a:r>
          </a:p>
        </p:txBody>
      </p:sp>
      <p:cxnSp>
        <p:nvCxnSpPr>
          <p:cNvPr id="36" name="vis:icon"/>
          <p:cNvCxnSpPr/>
          <p:nvPr/>
        </p:nvCxnSpPr>
        <p:spPr>
          <a:xfrm>
            <a:off x="7850361" y="4182831"/>
            <a:ext cx="52304" cy="52304"/>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cxnSp>
        <p:nvCxnSpPr>
          <p:cNvPr id="37" name="vis:icon"/>
          <p:cNvCxnSpPr/>
          <p:nvPr/>
        </p:nvCxnSpPr>
        <p:spPr>
          <a:xfrm flipV="1">
            <a:off x="7902665" y="4122480"/>
            <a:ext cx="96561" cy="112655"/>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38" name="cell:why"/>
          <p:cNvSpPr txBox="1"/>
          <p:nvPr/>
        </p:nvSpPr>
        <p:spPr>
          <a:xfrm>
            <a:off x="8187958" y="4023360"/>
            <a:ext cx="3500816" cy="78638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It ends with a small, easy request rather than a complaint.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WHEN NOT TO SEND</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Three times not to send</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PS-02  ·  Professional Email Writing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vis:tile"/>
          <p:cNvSpPr/>
          <p:nvPr/>
        </p:nvSpPr>
        <p:spPr>
          <a:xfrm>
            <a:off x="502920" y="1719072"/>
            <a:ext cx="3545738" cy="2926080"/>
          </a:xfrm>
          <a:prstGeom prst="roundRect">
            <a:avLst>
              <a:gd name="adj" fmla="val 312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badge"/>
          <p:cNvSpPr/>
          <p:nvPr/>
        </p:nvSpPr>
        <p:spPr>
          <a:xfrm>
            <a:off x="777240" y="2011679"/>
            <a:ext cx="658368" cy="658368"/>
          </a:xfrm>
          <a:prstGeom prst="roundRect">
            <a:avLst>
              <a:gd name="adj" fmla="val 1388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948942" y="2190229"/>
            <a:ext cx="314963" cy="287575"/>
          </a:xfrm>
          <a:custGeom>
            <a:avLst/>
            <a:gdLst/>
            <a:ahLst/>
            <a:cxnLst/>
            <a:rect l="l" t="t" r="r" b="b"/>
            <a:pathLst>
              <a:path w="314963" h="287575">
                <a:moveTo>
                  <a:pt x="157482" y="0"/>
                </a:moveTo>
                <a:lnTo>
                  <a:pt x="314963" y="287575"/>
                </a:lnTo>
                <a:lnTo>
                  <a:pt x="0" y="287575"/>
                </a:lnTo>
                <a:close/>
              </a:path>
            </a:pathLst>
          </a:custGeom>
          <a:noFill/>
          <a:ln w="1905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8" name="vis:icon"/>
          <p:cNvCxnSpPr/>
          <p:nvPr/>
        </p:nvCxnSpPr>
        <p:spPr>
          <a:xfrm>
            <a:off x="1106424" y="2299781"/>
            <a:ext cx="0" cy="85588"/>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9" name="vis:icon"/>
          <p:cNvSpPr/>
          <p:nvPr/>
        </p:nvSpPr>
        <p:spPr>
          <a:xfrm>
            <a:off x="1089306" y="2416181"/>
            <a:ext cx="34235" cy="34235"/>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cell:tilelabel"/>
          <p:cNvSpPr txBox="1"/>
          <p:nvPr/>
        </p:nvSpPr>
        <p:spPr>
          <a:xfrm>
            <a:off x="777240" y="2852928"/>
            <a:ext cx="2997098"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When you are angry</a:t>
            </a:r>
          </a:p>
        </p:txBody>
      </p:sp>
      <p:sp>
        <p:nvSpPr>
          <p:cNvPr id="21" name="cell:tilesub"/>
          <p:cNvSpPr txBox="1"/>
          <p:nvPr/>
        </p:nvSpPr>
        <p:spPr>
          <a:xfrm>
            <a:off x="777240" y="3493008"/>
            <a:ext cx="2997098" cy="91440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Write it, save it, reread it after lunch. You will change three things, every time.</a:t>
            </a:r>
          </a:p>
        </p:txBody>
      </p:sp>
      <p:sp>
        <p:nvSpPr>
          <p:cNvPr id="22" name="vis:tile"/>
          <p:cNvSpPr/>
          <p:nvPr/>
        </p:nvSpPr>
        <p:spPr>
          <a:xfrm>
            <a:off x="4322978" y="1719072"/>
            <a:ext cx="3545738" cy="2926080"/>
          </a:xfrm>
          <a:prstGeom prst="roundRect">
            <a:avLst>
              <a:gd name="adj" fmla="val 312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badge"/>
          <p:cNvSpPr/>
          <p:nvPr/>
        </p:nvSpPr>
        <p:spPr>
          <a:xfrm>
            <a:off x="4597298" y="2011679"/>
            <a:ext cx="658368" cy="658368"/>
          </a:xfrm>
          <a:prstGeom prst="roundRect">
            <a:avLst>
              <a:gd name="adj" fmla="val 1388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icon"/>
          <p:cNvSpPr/>
          <p:nvPr/>
        </p:nvSpPr>
        <p:spPr>
          <a:xfrm>
            <a:off x="4861435" y="2193652"/>
            <a:ext cx="130093" cy="130093"/>
          </a:xfrm>
          <a:prstGeom prst="ellipse">
            <a:avLst/>
          </a:prstGeom>
          <a:noFill/>
          <a:ln w="1905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icon"/>
          <p:cNvSpPr/>
          <p:nvPr/>
        </p:nvSpPr>
        <p:spPr>
          <a:xfrm>
            <a:off x="4789541" y="2375099"/>
            <a:ext cx="273881" cy="119823"/>
          </a:xfrm>
          <a:custGeom>
            <a:avLst/>
            <a:gdLst/>
            <a:ahLst/>
            <a:cxnLst/>
            <a:rect l="l" t="t" r="r" b="b"/>
            <a:pathLst>
              <a:path w="273881" h="119823">
                <a:moveTo>
                  <a:pt x="0" y="119823"/>
                </a:moveTo>
                <a:lnTo>
                  <a:pt x="20541" y="0"/>
                </a:lnTo>
                <a:lnTo>
                  <a:pt x="253340" y="0"/>
                </a:lnTo>
                <a:lnTo>
                  <a:pt x="273881" y="119823"/>
                </a:lnTo>
              </a:path>
            </a:pathLst>
          </a:custGeom>
          <a:noFill/>
          <a:ln w="1905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cell:tilelabel"/>
          <p:cNvSpPr txBox="1"/>
          <p:nvPr/>
        </p:nvSpPr>
        <p:spPr>
          <a:xfrm>
            <a:off x="4597298" y="2852928"/>
            <a:ext cx="2997098"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When it is about a person</a:t>
            </a:r>
          </a:p>
        </p:txBody>
      </p:sp>
      <p:sp>
        <p:nvSpPr>
          <p:cNvPr id="27" name="cell:tilesub"/>
          <p:cNvSpPr txBox="1"/>
          <p:nvPr/>
        </p:nvSpPr>
        <p:spPr>
          <a:xfrm>
            <a:off x="4597298" y="3493008"/>
            <a:ext cx="2997098" cy="91440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Performance, conduct, capability. Those conversations happen face to face.</a:t>
            </a:r>
          </a:p>
        </p:txBody>
      </p:sp>
      <p:sp>
        <p:nvSpPr>
          <p:cNvPr id="28" name="vis:tile"/>
          <p:cNvSpPr/>
          <p:nvPr/>
        </p:nvSpPr>
        <p:spPr>
          <a:xfrm>
            <a:off x="8143036" y="1719072"/>
            <a:ext cx="3545738" cy="2926080"/>
          </a:xfrm>
          <a:prstGeom prst="roundRect">
            <a:avLst>
              <a:gd name="adj" fmla="val 312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badge"/>
          <p:cNvSpPr/>
          <p:nvPr/>
        </p:nvSpPr>
        <p:spPr>
          <a:xfrm>
            <a:off x="8417356" y="2011679"/>
            <a:ext cx="658368" cy="658368"/>
          </a:xfrm>
          <a:prstGeom prst="roundRect">
            <a:avLst>
              <a:gd name="adj" fmla="val 1388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icon"/>
          <p:cNvSpPr/>
          <p:nvPr/>
        </p:nvSpPr>
        <p:spPr>
          <a:xfrm>
            <a:off x="8602753" y="2217617"/>
            <a:ext cx="287575" cy="191716"/>
          </a:xfrm>
          <a:prstGeom prst="roundRect">
            <a:avLst>
              <a:gd name="adj" fmla="val 23847"/>
            </a:avLst>
          </a:prstGeom>
          <a:noFill/>
          <a:ln w="1905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1" name="vis:icon"/>
          <p:cNvCxnSpPr/>
          <p:nvPr/>
        </p:nvCxnSpPr>
        <p:spPr>
          <a:xfrm flipH="1">
            <a:off x="8657529" y="2409334"/>
            <a:ext cx="13694" cy="75317"/>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cxnSp>
        <p:nvCxnSpPr>
          <p:cNvPr id="32" name="vis:icon"/>
          <p:cNvCxnSpPr/>
          <p:nvPr/>
        </p:nvCxnSpPr>
        <p:spPr>
          <a:xfrm flipV="1">
            <a:off x="8657529" y="2409334"/>
            <a:ext cx="75317" cy="75317"/>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33" name="cell:tilelabel"/>
          <p:cNvSpPr txBox="1"/>
          <p:nvPr/>
        </p:nvSpPr>
        <p:spPr>
          <a:xfrm>
            <a:off x="8417356" y="2852928"/>
            <a:ext cx="2997098"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When it needs a discussion</a:t>
            </a:r>
          </a:p>
        </p:txBody>
      </p:sp>
      <p:sp>
        <p:nvSpPr>
          <p:cNvPr id="34" name="cell:tilesub"/>
          <p:cNvSpPr txBox="1"/>
          <p:nvPr/>
        </p:nvSpPr>
        <p:spPr>
          <a:xfrm>
            <a:off x="8417356" y="3493008"/>
            <a:ext cx="2997098" cy="91440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If it will take four emails, it is a five-minute call you have not made yet.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WHEN NOT TO SEND</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The reply-all question</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PS-02  ·  Professional Email Writing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vis:treeq"/>
          <p:cNvSpPr/>
          <p:nvPr/>
        </p:nvSpPr>
        <p:spPr>
          <a:xfrm>
            <a:off x="3746818" y="1810512"/>
            <a:ext cx="4698059" cy="841248"/>
          </a:xfrm>
          <a:prstGeom prst="roundRect">
            <a:avLst>
              <a:gd name="adj" fmla="val 10869"/>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treeqtext"/>
          <p:cNvSpPr txBox="1"/>
          <p:nvPr/>
        </p:nvSpPr>
        <p:spPr>
          <a:xfrm>
            <a:off x="3947986" y="1938528"/>
            <a:ext cx="4295723" cy="585216"/>
          </a:xfrm>
          <a:prstGeom prst="rect">
            <a:avLst/>
          </a:prstGeom>
          <a:noFill/>
        </p:spPr>
        <p:txBody>
          <a:bodyPr wrap="square" lIns="0" rIns="0" tIns="0" bIns="0" anchor="ctr">
            <a:spAutoFit/>
          </a:bodyPr>
          <a:lstStyle/>
          <a:p>
            <a:pPr algn="ctr">
              <a:lnSpc>
                <a:spcPts val="1950"/>
              </a:lnSpc>
              <a:spcBef>
                <a:spcPts val="0"/>
              </a:spcBef>
              <a:spcAft>
                <a:spcPts val="0"/>
              </a:spcAft>
            </a:pPr>
            <a:r>
              <a:rPr sz="1500" b="0">
                <a:solidFill>
                  <a:srgbClr val="FFFFFF"/>
                </a:solidFill>
                <a:latin typeface="Segoe UI Semibold"/>
              </a:rPr>
              <a:t>Does everyone on this thread need my reply?</a:t>
            </a:r>
          </a:p>
        </p:txBody>
      </p:sp>
      <p:cxnSp>
        <p:nvCxnSpPr>
          <p:cNvPr id="17" name="vis:line"/>
          <p:cNvCxnSpPr/>
          <p:nvPr/>
        </p:nvCxnSpPr>
        <p:spPr>
          <a:xfrm>
            <a:off x="6095847" y="2651760"/>
            <a:ext cx="0" cy="237743"/>
          </a:xfrm>
          <a:prstGeom prst="line">
            <a:avLst/>
          </a:prstGeom>
          <a:ln w="19050">
            <a:solidFill>
              <a:srgbClr val="C9D1DE"/>
            </a:solidFill>
          </a:ln>
          <a:effectLst/>
        </p:spPr>
        <p:style>
          <a:lnRef idx="2">
            <a:schemeClr val="accent1"/>
          </a:lnRef>
          <a:fillRef idx="0">
            <a:schemeClr val="accent1"/>
          </a:fillRef>
          <a:effectRef idx="1">
            <a:schemeClr val="accent1"/>
          </a:effectRef>
          <a:fontRef idx="minor">
            <a:schemeClr val="tx1"/>
          </a:fontRef>
        </p:style>
      </p:cxnSp>
      <p:cxnSp>
        <p:nvCxnSpPr>
          <p:cNvPr id="18" name="vis:line"/>
          <p:cNvCxnSpPr/>
          <p:nvPr/>
        </p:nvCxnSpPr>
        <p:spPr>
          <a:xfrm>
            <a:off x="2516373" y="2889503"/>
            <a:ext cx="7158948" cy="0"/>
          </a:xfrm>
          <a:prstGeom prst="line">
            <a:avLst/>
          </a:prstGeom>
          <a:ln w="19050">
            <a:solidFill>
              <a:srgbClr val="C9D1DE"/>
            </a:solidFill>
          </a:ln>
          <a:effectLst/>
        </p:spPr>
        <p:style>
          <a:lnRef idx="2">
            <a:schemeClr val="accent1"/>
          </a:lnRef>
          <a:fillRef idx="0">
            <a:schemeClr val="accent1"/>
          </a:fillRef>
          <a:effectRef idx="1">
            <a:schemeClr val="accent1"/>
          </a:effectRef>
          <a:fontRef idx="minor">
            <a:schemeClr val="tx1"/>
          </a:fontRef>
        </p:style>
      </p:cxnSp>
      <p:cxnSp>
        <p:nvCxnSpPr>
          <p:cNvPr id="19" name="vis:line"/>
          <p:cNvCxnSpPr/>
          <p:nvPr/>
        </p:nvCxnSpPr>
        <p:spPr>
          <a:xfrm>
            <a:off x="2516373" y="2889503"/>
            <a:ext cx="0" cy="274321"/>
          </a:xfrm>
          <a:prstGeom prst="line">
            <a:avLst/>
          </a:prstGeom>
          <a:ln w="19050">
            <a:solidFill>
              <a:srgbClr val="C9D1D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0" name="vis:chip"/>
          <p:cNvSpPr/>
          <p:nvPr/>
        </p:nvSpPr>
        <p:spPr>
          <a:xfrm>
            <a:off x="2138739" y="3026664"/>
            <a:ext cx="755269" cy="274320"/>
          </a:xfrm>
          <a:prstGeom prst="roundRect">
            <a:avLst>
              <a:gd name="adj" fmla="val 16666"/>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iptext"/>
          <p:cNvSpPr txBox="1"/>
          <p:nvPr/>
        </p:nvSpPr>
        <p:spPr>
          <a:xfrm>
            <a:off x="2294187" y="3054096"/>
            <a:ext cx="44437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NO</a:t>
            </a:r>
          </a:p>
        </p:txBody>
      </p:sp>
      <p:sp>
        <p:nvSpPr>
          <p:cNvPr id="22" name="vis:treebox"/>
          <p:cNvSpPr/>
          <p:nvPr/>
        </p:nvSpPr>
        <p:spPr>
          <a:xfrm>
            <a:off x="279202" y="3493008"/>
            <a:ext cx="4474342" cy="2523744"/>
          </a:xfrm>
          <a:prstGeom prst="roundRect">
            <a:avLst>
              <a:gd name="adj" fmla="val 3623"/>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treebar"/>
          <p:cNvSpPr/>
          <p:nvPr/>
        </p:nvSpPr>
        <p:spPr>
          <a:xfrm>
            <a:off x="279202" y="3493008"/>
            <a:ext cx="4474342" cy="6858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icon"/>
          <p:cNvSpPr/>
          <p:nvPr/>
        </p:nvSpPr>
        <p:spPr>
          <a:xfrm>
            <a:off x="550596" y="3819265"/>
            <a:ext cx="225308" cy="225308"/>
          </a:xfrm>
          <a:prstGeom prst="ellipse">
            <a:avLst/>
          </a:prstGeom>
          <a:noFill/>
          <a:ln w="1905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5" name="vis:icon"/>
          <p:cNvCxnSpPr/>
          <p:nvPr/>
        </p:nvCxnSpPr>
        <p:spPr>
          <a:xfrm>
            <a:off x="583880" y="3852550"/>
            <a:ext cx="158740" cy="158739"/>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sp>
        <p:nvSpPr>
          <p:cNvPr id="26" name="vis:treelabel"/>
          <p:cNvSpPr txBox="1"/>
          <p:nvPr/>
        </p:nvSpPr>
        <p:spPr>
          <a:xfrm>
            <a:off x="900994" y="3749039"/>
            <a:ext cx="3614806" cy="365760"/>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Reply to sender</a:t>
            </a:r>
          </a:p>
        </p:txBody>
      </p:sp>
      <p:sp>
        <p:nvSpPr>
          <p:cNvPr id="27" name="vis:treedetail"/>
          <p:cNvSpPr txBox="1"/>
          <p:nvPr/>
        </p:nvSpPr>
        <p:spPr>
          <a:xfrm>
            <a:off x="535234" y="4224528"/>
            <a:ext cx="3962278" cy="159105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"Thanks", "Noted", or anything only the sender needs. Twelve people receiving "Thanks" is twelve interruptions for nothing.</a:t>
            </a:r>
          </a:p>
        </p:txBody>
      </p:sp>
      <p:cxnSp>
        <p:nvCxnSpPr>
          <p:cNvPr id="28" name="vis:line"/>
          <p:cNvCxnSpPr/>
          <p:nvPr/>
        </p:nvCxnSpPr>
        <p:spPr>
          <a:xfrm>
            <a:off x="9675321" y="2889503"/>
            <a:ext cx="0" cy="274321"/>
          </a:xfrm>
          <a:prstGeom prst="line">
            <a:avLst/>
          </a:prstGeom>
          <a:ln w="19050">
            <a:solidFill>
              <a:srgbClr val="C9D1D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9" name="vis:chip"/>
          <p:cNvSpPr/>
          <p:nvPr/>
        </p:nvSpPr>
        <p:spPr>
          <a:xfrm>
            <a:off x="9282446" y="3026664"/>
            <a:ext cx="785749" cy="274320"/>
          </a:xfrm>
          <a:prstGeom prst="roundRect">
            <a:avLst>
              <a:gd name="adj" fmla="val 16666"/>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chiptext"/>
          <p:cNvSpPr txBox="1"/>
          <p:nvPr/>
        </p:nvSpPr>
        <p:spPr>
          <a:xfrm>
            <a:off x="9437894" y="3054096"/>
            <a:ext cx="474852"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YES</a:t>
            </a:r>
          </a:p>
        </p:txBody>
      </p:sp>
      <p:sp>
        <p:nvSpPr>
          <p:cNvPr id="31" name="vis:treebox"/>
          <p:cNvSpPr/>
          <p:nvPr/>
        </p:nvSpPr>
        <p:spPr>
          <a:xfrm>
            <a:off x="7438150" y="3493008"/>
            <a:ext cx="4474342" cy="2523744"/>
          </a:xfrm>
          <a:prstGeom prst="roundRect">
            <a:avLst>
              <a:gd name="adj" fmla="val 3623"/>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treebar"/>
          <p:cNvSpPr/>
          <p:nvPr/>
        </p:nvSpPr>
        <p:spPr>
          <a:xfrm>
            <a:off x="7438150" y="3493008"/>
            <a:ext cx="4474342" cy="6858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3" name="vis:icon"/>
          <p:cNvCxnSpPr/>
          <p:nvPr/>
        </p:nvCxnSpPr>
        <p:spPr>
          <a:xfrm>
            <a:off x="7730026" y="3937040"/>
            <a:ext cx="66569" cy="66568"/>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cxnSp>
        <p:nvCxnSpPr>
          <p:cNvPr id="34" name="vis:icon"/>
          <p:cNvCxnSpPr/>
          <p:nvPr/>
        </p:nvCxnSpPr>
        <p:spPr>
          <a:xfrm flipV="1">
            <a:off x="7796595" y="3860231"/>
            <a:ext cx="122895" cy="143377"/>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sp>
        <p:nvSpPr>
          <p:cNvPr id="35" name="vis:treelabel"/>
          <p:cNvSpPr txBox="1"/>
          <p:nvPr/>
        </p:nvSpPr>
        <p:spPr>
          <a:xfrm>
            <a:off x="8059942" y="3749039"/>
            <a:ext cx="3614806" cy="365760"/>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Reply all</a:t>
            </a:r>
          </a:p>
        </p:txBody>
      </p:sp>
      <p:sp>
        <p:nvSpPr>
          <p:cNvPr id="36" name="vis:treedetail"/>
          <p:cNvSpPr txBox="1"/>
          <p:nvPr/>
        </p:nvSpPr>
        <p:spPr>
          <a:xfrm>
            <a:off x="7694182" y="4224528"/>
            <a:ext cx="3962278" cy="159105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A decision the group is waiting on, or information that stops others duplicating work. Rare, and genuinely useful when it applies.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Do this now: fix one email</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PS-02  ·  Professional Email Writing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vis:stepnum"/>
          <p:cNvSpPr/>
          <p:nvPr/>
        </p:nvSpPr>
        <p:spPr>
          <a:xfrm>
            <a:off x="502920" y="2027681"/>
            <a:ext cx="347472" cy="34747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stepnumtext"/>
          <p:cNvSpPr txBox="1"/>
          <p:nvPr/>
        </p:nvSpPr>
        <p:spPr>
          <a:xfrm>
            <a:off x="502920" y="2105406"/>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1</a:t>
            </a:r>
          </a:p>
        </p:txBody>
      </p:sp>
      <p:cxnSp>
        <p:nvCxnSpPr>
          <p:cNvPr id="17" name="vis:line"/>
          <p:cNvCxnSpPr/>
          <p:nvPr/>
        </p:nvCxnSpPr>
        <p:spPr>
          <a:xfrm>
            <a:off x="676656" y="2375154"/>
            <a:ext cx="0" cy="76352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18" name="cell:step"/>
          <p:cNvSpPr txBox="1"/>
          <p:nvPr/>
        </p:nvSpPr>
        <p:spPr>
          <a:xfrm>
            <a:off x="1051560" y="1719072"/>
            <a:ext cx="5044287" cy="964692"/>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Open a sent email you were slightly unhappy with.</a:t>
            </a:r>
          </a:p>
        </p:txBody>
      </p:sp>
      <p:sp>
        <p:nvSpPr>
          <p:cNvPr id="19" name="vis:stepnum"/>
          <p:cNvSpPr/>
          <p:nvPr/>
        </p:nvSpPr>
        <p:spPr>
          <a:xfrm>
            <a:off x="502920" y="3138677"/>
            <a:ext cx="347472" cy="34747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stepnumtext"/>
          <p:cNvSpPr txBox="1"/>
          <p:nvPr/>
        </p:nvSpPr>
        <p:spPr>
          <a:xfrm>
            <a:off x="502920" y="3216401"/>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2</a:t>
            </a:r>
          </a:p>
        </p:txBody>
      </p:sp>
      <p:cxnSp>
        <p:nvCxnSpPr>
          <p:cNvPr id="21" name="vis:line"/>
          <p:cNvCxnSpPr/>
          <p:nvPr/>
        </p:nvCxnSpPr>
        <p:spPr>
          <a:xfrm>
            <a:off x="676656" y="3486150"/>
            <a:ext cx="0" cy="76352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2" name="cell:step"/>
          <p:cNvSpPr txBox="1"/>
          <p:nvPr/>
        </p:nvSpPr>
        <p:spPr>
          <a:xfrm>
            <a:off x="1051560" y="2830068"/>
            <a:ext cx="5044287" cy="964692"/>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Delete the first sentence and see whether anything is lost.</a:t>
            </a:r>
          </a:p>
        </p:txBody>
      </p:sp>
      <p:sp>
        <p:nvSpPr>
          <p:cNvPr id="23" name="vis:stepnum"/>
          <p:cNvSpPr/>
          <p:nvPr/>
        </p:nvSpPr>
        <p:spPr>
          <a:xfrm>
            <a:off x="502920" y="4249674"/>
            <a:ext cx="347472" cy="34747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stepnumtext"/>
          <p:cNvSpPr txBox="1"/>
          <p:nvPr/>
        </p:nvSpPr>
        <p:spPr>
          <a:xfrm>
            <a:off x="502920" y="4327398"/>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3</a:t>
            </a:r>
          </a:p>
        </p:txBody>
      </p:sp>
      <p:cxnSp>
        <p:nvCxnSpPr>
          <p:cNvPr id="25" name="vis:line"/>
          <p:cNvCxnSpPr/>
          <p:nvPr/>
        </p:nvCxnSpPr>
        <p:spPr>
          <a:xfrm>
            <a:off x="676656" y="4597146"/>
            <a:ext cx="0" cy="76352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6" name="cell:step"/>
          <p:cNvSpPr txBox="1"/>
          <p:nvPr/>
        </p:nvSpPr>
        <p:spPr>
          <a:xfrm>
            <a:off x="1051560" y="3941064"/>
            <a:ext cx="5044287" cy="964692"/>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Remove every "you" that assigns blame, and every adverb.</a:t>
            </a:r>
          </a:p>
        </p:txBody>
      </p:sp>
      <p:sp>
        <p:nvSpPr>
          <p:cNvPr id="27" name="vis:stepnum"/>
          <p:cNvSpPr/>
          <p:nvPr/>
        </p:nvSpPr>
        <p:spPr>
          <a:xfrm>
            <a:off x="502920" y="5360670"/>
            <a:ext cx="347472" cy="34747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stepnumtext"/>
          <p:cNvSpPr txBox="1"/>
          <p:nvPr/>
        </p:nvSpPr>
        <p:spPr>
          <a:xfrm>
            <a:off x="502920" y="5438394"/>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4</a:t>
            </a:r>
          </a:p>
        </p:txBody>
      </p:sp>
      <p:sp>
        <p:nvSpPr>
          <p:cNvPr id="29" name="cell:step"/>
          <p:cNvSpPr txBox="1"/>
          <p:nvPr/>
        </p:nvSpPr>
        <p:spPr>
          <a:xfrm>
            <a:off x="1051560" y="5052060"/>
            <a:ext cx="5044287" cy="964692"/>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Check the subject line names the decision and the date.</a:t>
            </a:r>
          </a:p>
        </p:txBody>
      </p:sp>
      <p:sp>
        <p:nvSpPr>
          <p:cNvPr id="30" name="vis:promptcard"/>
          <p:cNvSpPr/>
          <p:nvPr/>
        </p:nvSpPr>
        <p:spPr>
          <a:xfrm>
            <a:off x="6461607" y="1719072"/>
            <a:ext cx="5227167" cy="2609087"/>
          </a:xfrm>
          <a:prstGeom prst="roundRect">
            <a:avLst>
              <a:gd name="adj" fmla="val 3504"/>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promptbar"/>
          <p:cNvSpPr/>
          <p:nvPr/>
        </p:nvSpPr>
        <p:spPr>
          <a:xfrm>
            <a:off x="6461607" y="1719072"/>
            <a:ext cx="5227167" cy="402336"/>
          </a:xfrm>
          <a:prstGeom prst="rect">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icon"/>
          <p:cNvSpPr/>
          <p:nvPr/>
        </p:nvSpPr>
        <p:spPr>
          <a:xfrm>
            <a:off x="6698620" y="1841235"/>
            <a:ext cx="184343" cy="122895"/>
          </a:xfrm>
          <a:prstGeom prst="roundRect">
            <a:avLst>
              <a:gd name="adj" fmla="val 37202"/>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3" name="vis:icon"/>
          <p:cNvCxnSpPr/>
          <p:nvPr/>
        </p:nvCxnSpPr>
        <p:spPr>
          <a:xfrm flipH="1">
            <a:off x="6733733" y="1964131"/>
            <a:ext cx="8778"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4" name="vis:icon"/>
          <p:cNvCxnSpPr/>
          <p:nvPr/>
        </p:nvCxnSpPr>
        <p:spPr>
          <a:xfrm flipV="1">
            <a:off x="6733733" y="1964131"/>
            <a:ext cx="48280"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5" name="vis:copybtn"/>
          <p:cNvSpPr/>
          <p:nvPr/>
        </p:nvSpPr>
        <p:spPr>
          <a:xfrm>
            <a:off x="9828606" y="1792224"/>
            <a:ext cx="1677289" cy="256032"/>
          </a:xfrm>
          <a:prstGeom prst="roundRect">
            <a:avLst>
              <a:gd name="adj" fmla="val 1785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6" name="vis:icon"/>
          <p:cNvSpPr/>
          <p:nvPr/>
        </p:nvSpPr>
        <p:spPr>
          <a:xfrm>
            <a:off x="10012217" y="1858060"/>
            <a:ext cx="80832" cy="130576"/>
          </a:xfrm>
          <a:prstGeom prst="roundRect">
            <a:avLst>
              <a:gd name="adj" fmla="val 50000"/>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7" name="vis:icon"/>
          <p:cNvCxnSpPr/>
          <p:nvPr/>
        </p:nvCxnSpPr>
        <p:spPr>
          <a:xfrm>
            <a:off x="10030871" y="1895368"/>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8" name="vis:icon"/>
          <p:cNvCxnSpPr/>
          <p:nvPr/>
        </p:nvCxnSpPr>
        <p:spPr>
          <a:xfrm>
            <a:off x="10030871" y="1923348"/>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9" name="vis:icon"/>
          <p:cNvCxnSpPr/>
          <p:nvPr/>
        </p:nvCxnSpPr>
        <p:spPr>
          <a:xfrm>
            <a:off x="10030871" y="1951329"/>
            <a:ext cx="31090"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40" name="vis:copytext"/>
          <p:cNvSpPr txBox="1"/>
          <p:nvPr/>
        </p:nvSpPr>
        <p:spPr>
          <a:xfrm>
            <a:off x="10240086" y="1851660"/>
            <a:ext cx="1064641"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Select + copy</a:t>
            </a:r>
          </a:p>
        </p:txBody>
      </p:sp>
      <p:sp>
        <p:nvSpPr>
          <p:cNvPr id="41" name="vis:prompthdr"/>
          <p:cNvSpPr txBox="1"/>
          <p:nvPr/>
        </p:nvSpPr>
        <p:spPr>
          <a:xfrm>
            <a:off x="7010247" y="1828800"/>
            <a:ext cx="2708630" cy="201168"/>
          </a:xfrm>
          <a:prstGeom prst="rect">
            <a:avLst/>
          </a:prstGeom>
          <a:noFill/>
        </p:spPr>
        <p:txBody>
          <a:bodyPr wrap="square" lIns="0" rIns="0" tIns="0" bIns="0" anchor="t">
            <a:spAutoFit/>
          </a:bodyPr>
          <a:lstStyle/>
          <a:p>
            <a:pPr algn="l">
              <a:lnSpc>
                <a:spcPts val="1560"/>
              </a:lnSpc>
              <a:spcBef>
                <a:spcPts val="0"/>
              </a:spcBef>
              <a:spcAft>
                <a:spcPts val="0"/>
              </a:spcAft>
            </a:pPr>
            <a:r>
              <a:rPr sz="1200" b="0" spc="60">
                <a:solidFill>
                  <a:srgbClr val="FFFFFF"/>
                </a:solidFill>
                <a:latin typeface="Segoe UI Semibold"/>
              </a:rPr>
              <a:t>Copy this prompt</a:t>
            </a:r>
          </a:p>
        </p:txBody>
      </p:sp>
      <p:sp>
        <p:nvSpPr>
          <p:cNvPr id="42" name="card:prompt"/>
          <p:cNvSpPr txBox="1"/>
          <p:nvPr/>
        </p:nvSpPr>
        <p:spPr>
          <a:xfrm>
            <a:off x="6735927" y="2267712"/>
            <a:ext cx="4678527" cy="1386839"/>
          </a:xfrm>
          <a:prstGeom prst="rect">
            <a:avLst/>
          </a:prstGeom>
          <a:noFill/>
        </p:spPr>
        <p:txBody>
          <a:bodyPr wrap="square" lIns="0" rIns="0" tIns="0" bIns="0" anchor="t">
            <a:spAutoFit/>
          </a:bodyPr>
          <a:lstStyle/>
          <a:p>
            <a:pPr algn="l">
              <a:lnSpc>
                <a:spcPts val="1755"/>
              </a:lnSpc>
              <a:spcBef>
                <a:spcPts val="0"/>
              </a:spcBef>
              <a:spcAft>
                <a:spcPts val="0"/>
              </a:spcAft>
            </a:pPr>
            <a:r>
              <a:rPr sz="1350" b="0">
                <a:solidFill>
                  <a:srgbClr val="FFFFFF"/>
                </a:solidFill>
                <a:latin typeface="Consolas"/>
              </a:rPr>
              <a:t>Rewrite this email to be neutral in tone. Remove any wording that assigns blame, delete adverbs, and state the facts with dates instead. Keep the same meaning and the same request. Under 100 words. Do not add an apology.</a:t>
            </a:r>
          </a:p>
        </p:txBody>
      </p:sp>
      <p:sp>
        <p:nvSpPr>
          <p:cNvPr id="43" name="vis:promptcap"/>
          <p:cNvSpPr txBox="1"/>
          <p:nvPr/>
        </p:nvSpPr>
        <p:spPr>
          <a:xfrm>
            <a:off x="6735927" y="3855719"/>
            <a:ext cx="4678527" cy="252984"/>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C9D1DE"/>
                </a:solidFill>
                <a:latin typeface="Segoe UI"/>
              </a:rPr>
              <a:t>Use this on anything you wrote while irritated.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The ten-second check</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PS-02  ·  Professional Email Writing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vis:checktile"/>
          <p:cNvSpPr/>
          <p:nvPr/>
        </p:nvSpPr>
        <p:spPr>
          <a:xfrm>
            <a:off x="502920" y="2340864"/>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checkdot"/>
          <p:cNvSpPr/>
          <p:nvPr/>
        </p:nvSpPr>
        <p:spPr>
          <a:xfrm>
            <a:off x="722376" y="2894076"/>
            <a:ext cx="310896" cy="310896"/>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815279" y="3052998"/>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18" name="vis:icon"/>
          <p:cNvCxnSpPr/>
          <p:nvPr/>
        </p:nvCxnSpPr>
        <p:spPr>
          <a:xfrm flipV="1">
            <a:off x="860450" y="3000877"/>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9" name="cell:checkitem"/>
          <p:cNvSpPr txBox="1"/>
          <p:nvPr/>
        </p:nvSpPr>
        <p:spPr>
          <a:xfrm>
            <a:off x="1161288" y="2487168"/>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Is the recipient right, and is anyone in CC unnecessary?</a:t>
            </a:r>
          </a:p>
        </p:txBody>
      </p:sp>
      <p:sp>
        <p:nvSpPr>
          <p:cNvPr id="20" name="vis:checktile"/>
          <p:cNvSpPr/>
          <p:nvPr/>
        </p:nvSpPr>
        <p:spPr>
          <a:xfrm>
            <a:off x="6205575" y="2340864"/>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eckdot"/>
          <p:cNvSpPr/>
          <p:nvPr/>
        </p:nvSpPr>
        <p:spPr>
          <a:xfrm>
            <a:off x="6425031" y="2894076"/>
            <a:ext cx="310896" cy="310896"/>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6517934" y="3052998"/>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3" name="vis:icon"/>
          <p:cNvCxnSpPr/>
          <p:nvPr/>
        </p:nvCxnSpPr>
        <p:spPr>
          <a:xfrm flipV="1">
            <a:off x="6563106" y="3000877"/>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4" name="cell:checkitem"/>
          <p:cNvSpPr txBox="1"/>
          <p:nvPr/>
        </p:nvSpPr>
        <p:spPr>
          <a:xfrm>
            <a:off x="6863943" y="2487168"/>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Does the subject line name the decision and the date?</a:t>
            </a:r>
          </a:p>
        </p:txBody>
      </p:sp>
      <p:sp>
        <p:nvSpPr>
          <p:cNvPr id="25" name="vis:checktile"/>
          <p:cNvSpPr/>
          <p:nvPr/>
        </p:nvSpPr>
        <p:spPr>
          <a:xfrm>
            <a:off x="502920" y="3977639"/>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heckdot"/>
          <p:cNvSpPr/>
          <p:nvPr/>
        </p:nvSpPr>
        <p:spPr>
          <a:xfrm>
            <a:off x="722376" y="4530852"/>
            <a:ext cx="310896" cy="310896"/>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7" name="vis:icon"/>
          <p:cNvCxnSpPr/>
          <p:nvPr/>
        </p:nvCxnSpPr>
        <p:spPr>
          <a:xfrm>
            <a:off x="815279" y="4689774"/>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8" name="vis:icon"/>
          <p:cNvCxnSpPr/>
          <p:nvPr/>
        </p:nvCxnSpPr>
        <p:spPr>
          <a:xfrm flipV="1">
            <a:off x="860450" y="4637653"/>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9" name="cell:checkitem"/>
          <p:cNvSpPr txBox="1"/>
          <p:nvPr/>
        </p:nvSpPr>
        <p:spPr>
          <a:xfrm>
            <a:off x="1161288" y="4123944"/>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Is there exactly one ask, with a date on it?</a:t>
            </a:r>
          </a:p>
        </p:txBody>
      </p:sp>
      <p:sp>
        <p:nvSpPr>
          <p:cNvPr id="30" name="vis:checktile"/>
          <p:cNvSpPr/>
          <p:nvPr/>
        </p:nvSpPr>
        <p:spPr>
          <a:xfrm>
            <a:off x="6205575" y="3977639"/>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checkdot"/>
          <p:cNvSpPr/>
          <p:nvPr/>
        </p:nvSpPr>
        <p:spPr>
          <a:xfrm>
            <a:off x="6425031" y="4530852"/>
            <a:ext cx="310896" cy="310896"/>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2" name="vis:icon"/>
          <p:cNvCxnSpPr/>
          <p:nvPr/>
        </p:nvCxnSpPr>
        <p:spPr>
          <a:xfrm>
            <a:off x="6517934" y="4689774"/>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3" name="vis:icon"/>
          <p:cNvCxnSpPr/>
          <p:nvPr/>
        </p:nvCxnSpPr>
        <p:spPr>
          <a:xfrm flipV="1">
            <a:off x="6563106" y="4637653"/>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4" name="cell:checkitem"/>
          <p:cNvSpPr txBox="1"/>
          <p:nvPr/>
        </p:nvSpPr>
        <p:spPr>
          <a:xfrm>
            <a:off x="6863943" y="4123944"/>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Would I be comfortable if this were forwarded to their director?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Five mistakes people really make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PS-02  ·  Professional Email Writing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vis:mistake"/>
          <p:cNvSpPr/>
          <p:nvPr/>
        </p:nvSpPr>
        <p:spPr>
          <a:xfrm>
            <a:off x="502920" y="1719072"/>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mistakebar"/>
          <p:cNvSpPr/>
          <p:nvPr/>
        </p:nvSpPr>
        <p:spPr>
          <a:xfrm>
            <a:off x="502920" y="1719072"/>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mistakenum"/>
          <p:cNvSpPr/>
          <p:nvPr/>
        </p:nvSpPr>
        <p:spPr>
          <a:xfrm>
            <a:off x="740664" y="1927555"/>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mistakenumtext"/>
          <p:cNvSpPr txBox="1"/>
          <p:nvPr/>
        </p:nvSpPr>
        <p:spPr>
          <a:xfrm>
            <a:off x="740664" y="1996135"/>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1</a:t>
            </a:r>
          </a:p>
        </p:txBody>
      </p:sp>
      <p:sp>
        <p:nvSpPr>
          <p:cNvPr id="19" name="cell:mistake"/>
          <p:cNvSpPr txBox="1"/>
          <p:nvPr/>
        </p:nvSpPr>
        <p:spPr>
          <a:xfrm>
            <a:off x="1179576" y="1810512"/>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Writing while annoyed and sending immediately</a:t>
            </a:r>
          </a:p>
        </p:txBody>
      </p:sp>
      <p:cxnSp>
        <p:nvCxnSpPr>
          <p:cNvPr id="20" name="vis:line"/>
          <p:cNvCxnSpPr/>
          <p:nvPr/>
        </p:nvCxnSpPr>
        <p:spPr>
          <a:xfrm>
            <a:off x="6008686" y="1865376"/>
            <a:ext cx="0" cy="43525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1" name="cell:mistakewhy"/>
          <p:cNvSpPr txBox="1"/>
          <p:nvPr/>
        </p:nvSpPr>
        <p:spPr>
          <a:xfrm>
            <a:off x="6173278" y="1810512"/>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It always reads sharper than you meant, and it is on the record forever.</a:t>
            </a:r>
          </a:p>
        </p:txBody>
      </p:sp>
      <p:sp>
        <p:nvSpPr>
          <p:cNvPr id="22" name="vis:mistake"/>
          <p:cNvSpPr/>
          <p:nvPr/>
        </p:nvSpPr>
        <p:spPr>
          <a:xfrm>
            <a:off x="502920" y="2611526"/>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mistakebar"/>
          <p:cNvSpPr/>
          <p:nvPr/>
        </p:nvSpPr>
        <p:spPr>
          <a:xfrm>
            <a:off x="502920" y="2611526"/>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mistakenum"/>
          <p:cNvSpPr/>
          <p:nvPr/>
        </p:nvSpPr>
        <p:spPr>
          <a:xfrm>
            <a:off x="740664" y="2820009"/>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mistakenumtext"/>
          <p:cNvSpPr txBox="1"/>
          <p:nvPr/>
        </p:nvSpPr>
        <p:spPr>
          <a:xfrm>
            <a:off x="740664" y="2888589"/>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2</a:t>
            </a:r>
          </a:p>
        </p:txBody>
      </p:sp>
      <p:sp>
        <p:nvSpPr>
          <p:cNvPr id="26" name="cell:mistake"/>
          <p:cNvSpPr txBox="1"/>
          <p:nvPr/>
        </p:nvSpPr>
        <p:spPr>
          <a:xfrm>
            <a:off x="1179576" y="2702966"/>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Reply-all with "Thanks"</a:t>
            </a:r>
          </a:p>
        </p:txBody>
      </p:sp>
      <p:cxnSp>
        <p:nvCxnSpPr>
          <p:cNvPr id="27" name="vis:line"/>
          <p:cNvCxnSpPr/>
          <p:nvPr/>
        </p:nvCxnSpPr>
        <p:spPr>
          <a:xfrm>
            <a:off x="6008686" y="2757830"/>
            <a:ext cx="0" cy="43525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8" name="cell:mistakewhy"/>
          <p:cNvSpPr txBox="1"/>
          <p:nvPr/>
        </p:nvSpPr>
        <p:spPr>
          <a:xfrm>
            <a:off x="6173278" y="2702966"/>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Twelve interruptions for a message eleven of them did not need.</a:t>
            </a:r>
          </a:p>
        </p:txBody>
      </p:sp>
      <p:sp>
        <p:nvSpPr>
          <p:cNvPr id="29" name="vis:mistake"/>
          <p:cNvSpPr/>
          <p:nvPr/>
        </p:nvSpPr>
        <p:spPr>
          <a:xfrm>
            <a:off x="502920" y="3503980"/>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mistakebar"/>
          <p:cNvSpPr/>
          <p:nvPr/>
        </p:nvSpPr>
        <p:spPr>
          <a:xfrm>
            <a:off x="502920" y="3503980"/>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mistakenum"/>
          <p:cNvSpPr/>
          <p:nvPr/>
        </p:nvSpPr>
        <p:spPr>
          <a:xfrm>
            <a:off x="740664" y="3712463"/>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mistakenumtext"/>
          <p:cNvSpPr txBox="1"/>
          <p:nvPr/>
        </p:nvSpPr>
        <p:spPr>
          <a:xfrm>
            <a:off x="740664" y="3781044"/>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3</a:t>
            </a:r>
          </a:p>
        </p:txBody>
      </p:sp>
      <p:sp>
        <p:nvSpPr>
          <p:cNvPr id="33" name="cell:mistake"/>
          <p:cNvSpPr txBox="1"/>
          <p:nvPr/>
        </p:nvSpPr>
        <p:spPr>
          <a:xfrm>
            <a:off x="1179576" y="3595420"/>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Marking everything urgent</a:t>
            </a:r>
          </a:p>
        </p:txBody>
      </p:sp>
      <p:cxnSp>
        <p:nvCxnSpPr>
          <p:cNvPr id="34" name="vis:line"/>
          <p:cNvCxnSpPr/>
          <p:nvPr/>
        </p:nvCxnSpPr>
        <p:spPr>
          <a:xfrm>
            <a:off x="6008686" y="3650284"/>
            <a:ext cx="0" cy="435255"/>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35" name="cell:mistakewhy"/>
          <p:cNvSpPr txBox="1"/>
          <p:nvPr/>
        </p:nvSpPr>
        <p:spPr>
          <a:xfrm>
            <a:off x="6173278" y="3595420"/>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The flag stops meaning anything, including on the one that genuinely is.</a:t>
            </a:r>
          </a:p>
        </p:txBody>
      </p:sp>
      <p:sp>
        <p:nvSpPr>
          <p:cNvPr id="36" name="vis:mistake"/>
          <p:cNvSpPr/>
          <p:nvPr/>
        </p:nvSpPr>
        <p:spPr>
          <a:xfrm>
            <a:off x="502920" y="4396435"/>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vis:mistakebar"/>
          <p:cNvSpPr/>
          <p:nvPr/>
        </p:nvSpPr>
        <p:spPr>
          <a:xfrm>
            <a:off x="502920" y="4396435"/>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8" name="vis:mistakenum"/>
          <p:cNvSpPr/>
          <p:nvPr/>
        </p:nvSpPr>
        <p:spPr>
          <a:xfrm>
            <a:off x="740664" y="4604918"/>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9" name="vis:mistakenumtext"/>
          <p:cNvSpPr txBox="1"/>
          <p:nvPr/>
        </p:nvSpPr>
        <p:spPr>
          <a:xfrm>
            <a:off x="740664" y="4673498"/>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4</a:t>
            </a:r>
          </a:p>
        </p:txBody>
      </p:sp>
      <p:sp>
        <p:nvSpPr>
          <p:cNvPr id="40" name="cell:mistake"/>
          <p:cNvSpPr txBox="1"/>
          <p:nvPr/>
        </p:nvSpPr>
        <p:spPr>
          <a:xfrm>
            <a:off x="1179576" y="4487875"/>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Burying the ask in paragraph three</a:t>
            </a:r>
          </a:p>
        </p:txBody>
      </p:sp>
      <p:cxnSp>
        <p:nvCxnSpPr>
          <p:cNvPr id="41" name="vis:line"/>
          <p:cNvCxnSpPr/>
          <p:nvPr/>
        </p:nvCxnSpPr>
        <p:spPr>
          <a:xfrm>
            <a:off x="6008686" y="4542739"/>
            <a:ext cx="0" cy="43525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42" name="cell:mistakewhy"/>
          <p:cNvSpPr txBox="1"/>
          <p:nvPr/>
        </p:nvSpPr>
        <p:spPr>
          <a:xfrm>
            <a:off x="6173278" y="4487875"/>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The reader stopped at paragraph two and meant to come back.</a:t>
            </a:r>
          </a:p>
        </p:txBody>
      </p:sp>
      <p:sp>
        <p:nvSpPr>
          <p:cNvPr id="43" name="vis:mistake"/>
          <p:cNvSpPr/>
          <p:nvPr/>
        </p:nvSpPr>
        <p:spPr>
          <a:xfrm>
            <a:off x="502920" y="5288889"/>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4" name="vis:mistakebar"/>
          <p:cNvSpPr/>
          <p:nvPr/>
        </p:nvSpPr>
        <p:spPr>
          <a:xfrm>
            <a:off x="502920" y="5288889"/>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5" name="vis:mistakenum"/>
          <p:cNvSpPr/>
          <p:nvPr/>
        </p:nvSpPr>
        <p:spPr>
          <a:xfrm>
            <a:off x="740664" y="5497372"/>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6" name="vis:mistakenumtext"/>
          <p:cNvSpPr txBox="1"/>
          <p:nvPr/>
        </p:nvSpPr>
        <p:spPr>
          <a:xfrm>
            <a:off x="740664" y="5565952"/>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5</a:t>
            </a:r>
          </a:p>
        </p:txBody>
      </p:sp>
      <p:sp>
        <p:nvSpPr>
          <p:cNvPr id="47" name="cell:mistake"/>
          <p:cNvSpPr txBox="1"/>
          <p:nvPr/>
        </p:nvSpPr>
        <p:spPr>
          <a:xfrm>
            <a:off x="1179576" y="5380329"/>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Copying somebody's manager to apply pressure</a:t>
            </a:r>
          </a:p>
        </p:txBody>
      </p:sp>
      <p:cxnSp>
        <p:nvCxnSpPr>
          <p:cNvPr id="48" name="vis:line"/>
          <p:cNvCxnSpPr/>
          <p:nvPr/>
        </p:nvCxnSpPr>
        <p:spPr>
          <a:xfrm>
            <a:off x="6008686" y="5435193"/>
            <a:ext cx="0" cy="435255"/>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49" name="cell:mistakewhy"/>
          <p:cNvSpPr txBox="1"/>
          <p:nvPr/>
        </p:nvSpPr>
        <p:spPr>
          <a:xfrm>
            <a:off x="6173278" y="5380329"/>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It is read as an escalation, and it usually ends cooperation immediately.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The close does the warmth</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PS-02  ·  Professional Email Writing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vis:promptcard"/>
          <p:cNvSpPr/>
          <p:nvPr/>
        </p:nvSpPr>
        <p:spPr>
          <a:xfrm>
            <a:off x="502920" y="1719072"/>
            <a:ext cx="6935230" cy="2146807"/>
          </a:xfrm>
          <a:prstGeom prst="roundRect">
            <a:avLst>
              <a:gd name="adj" fmla="val 4259"/>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promptbar"/>
          <p:cNvSpPr/>
          <p:nvPr/>
        </p:nvSpPr>
        <p:spPr>
          <a:xfrm>
            <a:off x="502920" y="1719072"/>
            <a:ext cx="6935230" cy="402336"/>
          </a:xfrm>
          <a:prstGeom prst="rect">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739932" y="1841235"/>
            <a:ext cx="184343" cy="122895"/>
          </a:xfrm>
          <a:prstGeom prst="roundRect">
            <a:avLst>
              <a:gd name="adj" fmla="val 37202"/>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flipH="1">
            <a:off x="775045" y="1964131"/>
            <a:ext cx="8778"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19" name="vis:icon"/>
          <p:cNvCxnSpPr/>
          <p:nvPr/>
        </p:nvCxnSpPr>
        <p:spPr>
          <a:xfrm flipV="1">
            <a:off x="775045" y="1964131"/>
            <a:ext cx="48280"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copybtn"/>
          <p:cNvSpPr/>
          <p:nvPr/>
        </p:nvSpPr>
        <p:spPr>
          <a:xfrm>
            <a:off x="5577981" y="1792224"/>
            <a:ext cx="1677289" cy="256032"/>
          </a:xfrm>
          <a:prstGeom prst="roundRect">
            <a:avLst>
              <a:gd name="adj" fmla="val 1785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icon"/>
          <p:cNvSpPr/>
          <p:nvPr/>
        </p:nvSpPr>
        <p:spPr>
          <a:xfrm>
            <a:off x="5761592" y="1858060"/>
            <a:ext cx="80832" cy="130576"/>
          </a:xfrm>
          <a:prstGeom prst="roundRect">
            <a:avLst>
              <a:gd name="adj" fmla="val 50000"/>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5780246" y="1895368"/>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3" name="vis:icon"/>
          <p:cNvCxnSpPr/>
          <p:nvPr/>
        </p:nvCxnSpPr>
        <p:spPr>
          <a:xfrm>
            <a:off x="5780246" y="1923348"/>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4" name="vis:icon"/>
          <p:cNvCxnSpPr/>
          <p:nvPr/>
        </p:nvCxnSpPr>
        <p:spPr>
          <a:xfrm>
            <a:off x="5780246" y="1951329"/>
            <a:ext cx="31090"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5" name="vis:copytext"/>
          <p:cNvSpPr txBox="1"/>
          <p:nvPr/>
        </p:nvSpPr>
        <p:spPr>
          <a:xfrm>
            <a:off x="5989461" y="1851660"/>
            <a:ext cx="1064641"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Select + copy</a:t>
            </a:r>
          </a:p>
        </p:txBody>
      </p:sp>
      <p:sp>
        <p:nvSpPr>
          <p:cNvPr id="26" name="vis:prompthdr"/>
          <p:cNvSpPr txBox="1"/>
          <p:nvPr/>
        </p:nvSpPr>
        <p:spPr>
          <a:xfrm>
            <a:off x="1051560" y="1828800"/>
            <a:ext cx="4416693" cy="201168"/>
          </a:xfrm>
          <a:prstGeom prst="rect">
            <a:avLst/>
          </a:prstGeom>
          <a:noFill/>
        </p:spPr>
        <p:txBody>
          <a:bodyPr wrap="square" lIns="0" rIns="0" tIns="0" bIns="0" anchor="t">
            <a:spAutoFit/>
          </a:bodyPr>
          <a:lstStyle/>
          <a:p>
            <a:pPr algn="l">
              <a:lnSpc>
                <a:spcPts val="1560"/>
              </a:lnSpc>
              <a:spcBef>
                <a:spcPts val="0"/>
              </a:spcBef>
              <a:spcAft>
                <a:spcPts val="0"/>
              </a:spcAft>
            </a:pPr>
            <a:r>
              <a:rPr sz="1200" b="0" spc="60">
                <a:solidFill>
                  <a:srgbClr val="FFFFFF"/>
                </a:solidFill>
                <a:latin typeface="Segoe UI Semibold"/>
              </a:rPr>
              <a:t>Copy these closes</a:t>
            </a:r>
          </a:p>
        </p:txBody>
      </p:sp>
      <p:sp>
        <p:nvSpPr>
          <p:cNvPr id="27" name="card:prompt"/>
          <p:cNvSpPr txBox="1"/>
          <p:nvPr/>
        </p:nvSpPr>
        <p:spPr>
          <a:xfrm>
            <a:off x="777240" y="2267712"/>
            <a:ext cx="6386590" cy="924559"/>
          </a:xfrm>
          <a:prstGeom prst="rect">
            <a:avLst/>
          </a:prstGeom>
          <a:noFill/>
        </p:spPr>
        <p:txBody>
          <a:bodyPr wrap="square" lIns="0" rIns="0" tIns="0" bIns="0" anchor="t">
            <a:spAutoFit/>
          </a:bodyPr>
          <a:lstStyle/>
          <a:p>
            <a:pPr algn="l">
              <a:lnSpc>
                <a:spcPts val="1755"/>
              </a:lnSpc>
              <a:spcBef>
                <a:spcPts val="0"/>
              </a:spcBef>
              <a:spcAft>
                <a:spcPts val="0"/>
              </a:spcAft>
            </a:pPr>
            <a:r>
              <a:rPr sz="1350" b="0">
                <a:solidFill>
                  <a:srgbClr val="FFFFFF"/>
                </a:solidFill>
                <a:latin typeface="Consolas"/>
              </a:rPr>
              <a:t>"Thanks — shout if anything is unclear."  /  "Happy to talk it through if that is easier."  /  "Thanks for turning this around quickly."  /  "Let me know if the date is a problem and we will work around it."</a:t>
            </a:r>
          </a:p>
        </p:txBody>
      </p:sp>
      <p:sp>
        <p:nvSpPr>
          <p:cNvPr id="28" name="vis:promptcap"/>
          <p:cNvSpPr txBox="1"/>
          <p:nvPr/>
        </p:nvSpPr>
        <p:spPr>
          <a:xfrm>
            <a:off x="777240" y="3393440"/>
            <a:ext cx="6386590" cy="252984"/>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C9D1DE"/>
                </a:solidFill>
                <a:latin typeface="Segoe UI"/>
              </a:rPr>
              <a:t>One line at the end does more than three at the start.</a:t>
            </a:r>
          </a:p>
        </p:txBody>
      </p:sp>
      <p:sp>
        <p:nvSpPr>
          <p:cNvPr id="29" name="seclabel"/>
          <p:cNvSpPr txBox="1"/>
          <p:nvPr/>
        </p:nvSpPr>
        <p:spPr>
          <a:xfrm>
            <a:off x="7803910" y="1773936"/>
            <a:ext cx="3884864"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WHY THIS WORKS</a:t>
            </a:r>
          </a:p>
        </p:txBody>
      </p:sp>
      <p:cxnSp>
        <p:nvCxnSpPr>
          <p:cNvPr id="30" name="vis:icon"/>
          <p:cNvCxnSpPr/>
          <p:nvPr/>
        </p:nvCxnSpPr>
        <p:spPr>
          <a:xfrm>
            <a:off x="7850361" y="2317455"/>
            <a:ext cx="52304" cy="52304"/>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cxnSp>
        <p:nvCxnSpPr>
          <p:cNvPr id="31" name="vis:icon"/>
          <p:cNvCxnSpPr/>
          <p:nvPr/>
        </p:nvCxnSpPr>
        <p:spPr>
          <a:xfrm flipV="1">
            <a:off x="7902665" y="2257104"/>
            <a:ext cx="96561" cy="112655"/>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32" name="cell:why"/>
          <p:cNvSpPr txBox="1"/>
          <p:nvPr/>
        </p:nvSpPr>
        <p:spPr>
          <a:xfrm>
            <a:off x="8187958" y="2157984"/>
            <a:ext cx="3500816" cy="78638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It arrives after the reader has the information.</a:t>
            </a:r>
          </a:p>
        </p:txBody>
      </p:sp>
      <p:cxnSp>
        <p:nvCxnSpPr>
          <p:cNvPr id="33" name="vis:icon"/>
          <p:cNvCxnSpPr/>
          <p:nvPr/>
        </p:nvCxnSpPr>
        <p:spPr>
          <a:xfrm>
            <a:off x="7850361" y="3250143"/>
            <a:ext cx="52304" cy="52304"/>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cxnSp>
        <p:nvCxnSpPr>
          <p:cNvPr id="34" name="vis:icon"/>
          <p:cNvCxnSpPr/>
          <p:nvPr/>
        </p:nvCxnSpPr>
        <p:spPr>
          <a:xfrm flipV="1">
            <a:off x="7902665" y="3189792"/>
            <a:ext cx="96561" cy="112655"/>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35" name="cell:why"/>
          <p:cNvSpPr txBox="1"/>
          <p:nvPr/>
        </p:nvSpPr>
        <p:spPr>
          <a:xfrm>
            <a:off x="8187958" y="3090672"/>
            <a:ext cx="3500816" cy="78638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It offers something, rather than performing politeness.</a:t>
            </a:r>
          </a:p>
        </p:txBody>
      </p:sp>
      <p:cxnSp>
        <p:nvCxnSpPr>
          <p:cNvPr id="36" name="vis:icon"/>
          <p:cNvCxnSpPr/>
          <p:nvPr/>
        </p:nvCxnSpPr>
        <p:spPr>
          <a:xfrm>
            <a:off x="7850361" y="4182831"/>
            <a:ext cx="52304" cy="52304"/>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cxnSp>
        <p:nvCxnSpPr>
          <p:cNvPr id="37" name="vis:icon"/>
          <p:cNvCxnSpPr/>
          <p:nvPr/>
        </p:nvCxnSpPr>
        <p:spPr>
          <a:xfrm flipV="1">
            <a:off x="7902665" y="4122480"/>
            <a:ext cx="96561" cy="112655"/>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38" name="cell:why"/>
          <p:cNvSpPr txBox="1"/>
          <p:nvPr/>
        </p:nvSpPr>
        <p:spPr>
          <a:xfrm>
            <a:off x="8187958" y="4023360"/>
            <a:ext cx="3500816" cy="78638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It works even when the news in the middle was bad.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Writing across cultures</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PS-02  ·  Professional Email Writing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vis:alertband"/>
          <p:cNvSpPr/>
          <p:nvPr/>
        </p:nvSpPr>
        <p:spPr>
          <a:xfrm>
            <a:off x="0" y="1719072"/>
            <a:ext cx="12191695" cy="960120"/>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519744" y="2014057"/>
            <a:ext cx="386975" cy="353324"/>
          </a:xfrm>
          <a:custGeom>
            <a:avLst/>
            <a:gdLst/>
            <a:ahLst/>
            <a:cxnLst/>
            <a:rect l="l" t="t" r="r" b="b"/>
            <a:pathLst>
              <a:path w="386975" h="353324">
                <a:moveTo>
                  <a:pt x="193488" y="0"/>
                </a:moveTo>
                <a:lnTo>
                  <a:pt x="386975" y="353324"/>
                </a:lnTo>
                <a:lnTo>
                  <a:pt x="0" y="353324"/>
                </a:lnTo>
                <a:close/>
              </a:path>
            </a:pathLst>
          </a:cu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vis:icon"/>
          <p:cNvCxnSpPr/>
          <p:nvPr/>
        </p:nvCxnSpPr>
        <p:spPr>
          <a:xfrm>
            <a:off x="713232" y="2148657"/>
            <a:ext cx="0" cy="105156"/>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692200" y="2291669"/>
            <a:ext cx="42062" cy="4206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9" name="body:alert"/>
          <p:cNvSpPr txBox="1"/>
          <p:nvPr/>
        </p:nvSpPr>
        <p:spPr>
          <a:xfrm>
            <a:off x="1179576" y="1901952"/>
            <a:ext cx="10509199" cy="594360"/>
          </a:xfrm>
          <a:prstGeom prst="rect">
            <a:avLst/>
          </a:prstGeom>
          <a:noFill/>
        </p:spPr>
        <p:txBody>
          <a:bodyPr wrap="square" lIns="0" rIns="0" tIns="0" bIns="0" anchor="ctr">
            <a:spAutoFit/>
          </a:bodyPr>
          <a:lstStyle/>
          <a:p>
            <a:pPr algn="l">
              <a:lnSpc>
                <a:spcPts val="2470"/>
              </a:lnSpc>
              <a:spcBef>
                <a:spcPts val="0"/>
              </a:spcBef>
              <a:spcAft>
                <a:spcPts val="400"/>
              </a:spcAft>
            </a:pPr>
            <a:r>
              <a:rPr sz="1900" b="0">
                <a:solidFill>
                  <a:srgbClr val="FFFFFF"/>
                </a:solidFill>
                <a:latin typeface="Segoe UI Semibold"/>
              </a:rPr>
              <a:t>Our email goes between India, the UAE and clients elsewhere. Plain and specific travels best.</a:t>
            </a:r>
          </a:p>
          <a:p>
            <a:pPr algn="l">
              <a:lnSpc>
                <a:spcPts val="1755"/>
              </a:lnSpc>
              <a:spcBef>
                <a:spcPts val="0"/>
              </a:spcBef>
              <a:spcAft>
                <a:spcPts val="0"/>
              </a:spcAft>
            </a:pPr>
            <a:r>
              <a:rPr sz="1350" b="0">
                <a:solidFill>
                  <a:srgbClr val="FFFFFF"/>
                </a:solidFill>
                <a:latin typeface="Segoe UI"/>
              </a:rPr>
              <a:t>Idiom, sarcasm and heavy formality all read differently in different offices.</a:t>
            </a:r>
          </a:p>
        </p:txBody>
      </p:sp>
      <p:sp>
        <p:nvSpPr>
          <p:cNvPr id="20" name="vis:checktile"/>
          <p:cNvSpPr/>
          <p:nvPr/>
        </p:nvSpPr>
        <p:spPr>
          <a:xfrm>
            <a:off x="502920" y="2953512"/>
            <a:ext cx="3582314"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eckdot"/>
          <p:cNvSpPr/>
          <p:nvPr/>
        </p:nvSpPr>
        <p:spPr>
          <a:xfrm>
            <a:off x="722376" y="3506724"/>
            <a:ext cx="310896" cy="310896"/>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815279" y="3665646"/>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3" name="vis:icon"/>
          <p:cNvCxnSpPr/>
          <p:nvPr/>
        </p:nvCxnSpPr>
        <p:spPr>
          <a:xfrm flipV="1">
            <a:off x="860450" y="3613525"/>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4" name="cell:checkitem"/>
          <p:cNvSpPr txBox="1"/>
          <p:nvPr/>
        </p:nvSpPr>
        <p:spPr>
          <a:xfrm>
            <a:off x="1161288" y="3099816"/>
            <a:ext cx="2704490"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Short sentences, one idea each.</a:t>
            </a:r>
          </a:p>
        </p:txBody>
      </p:sp>
      <p:sp>
        <p:nvSpPr>
          <p:cNvPr id="25" name="vis:checktile"/>
          <p:cNvSpPr/>
          <p:nvPr/>
        </p:nvSpPr>
        <p:spPr>
          <a:xfrm>
            <a:off x="4304690" y="2953512"/>
            <a:ext cx="3582314"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heckdot"/>
          <p:cNvSpPr/>
          <p:nvPr/>
        </p:nvSpPr>
        <p:spPr>
          <a:xfrm>
            <a:off x="4524146" y="3506724"/>
            <a:ext cx="310896" cy="310896"/>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7" name="vis:icon"/>
          <p:cNvCxnSpPr/>
          <p:nvPr/>
        </p:nvCxnSpPr>
        <p:spPr>
          <a:xfrm>
            <a:off x="4617049" y="3665646"/>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8" name="vis:icon"/>
          <p:cNvCxnSpPr/>
          <p:nvPr/>
        </p:nvCxnSpPr>
        <p:spPr>
          <a:xfrm flipV="1">
            <a:off x="4662220" y="3613525"/>
            <a:ext cx="83394"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9" name="cell:checkitem"/>
          <p:cNvSpPr txBox="1"/>
          <p:nvPr/>
        </p:nvSpPr>
        <p:spPr>
          <a:xfrm>
            <a:off x="4963058" y="3099816"/>
            <a:ext cx="2704490"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Dates written in full, never 03/04.</a:t>
            </a:r>
          </a:p>
        </p:txBody>
      </p:sp>
      <p:sp>
        <p:nvSpPr>
          <p:cNvPr id="30" name="vis:checktile"/>
          <p:cNvSpPr/>
          <p:nvPr/>
        </p:nvSpPr>
        <p:spPr>
          <a:xfrm>
            <a:off x="8106460" y="2953512"/>
            <a:ext cx="3582314"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checkdot"/>
          <p:cNvSpPr/>
          <p:nvPr/>
        </p:nvSpPr>
        <p:spPr>
          <a:xfrm>
            <a:off x="8325916" y="3506724"/>
            <a:ext cx="310896" cy="310896"/>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2" name="vis:icon"/>
          <p:cNvCxnSpPr/>
          <p:nvPr/>
        </p:nvCxnSpPr>
        <p:spPr>
          <a:xfrm>
            <a:off x="8418819" y="3665646"/>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3" name="vis:icon"/>
          <p:cNvCxnSpPr/>
          <p:nvPr/>
        </p:nvCxnSpPr>
        <p:spPr>
          <a:xfrm flipV="1">
            <a:off x="8463991" y="3613525"/>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4" name="cell:checkitem"/>
          <p:cNvSpPr txBox="1"/>
          <p:nvPr/>
        </p:nvSpPr>
        <p:spPr>
          <a:xfrm>
            <a:off x="8764828" y="3099816"/>
            <a:ext cx="2704490"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No idiom, no jokes about delays.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The email rule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PS-02  ·  Professional Email Writing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vis:alertband"/>
          <p:cNvSpPr/>
          <p:nvPr/>
        </p:nvSpPr>
        <p:spPr>
          <a:xfrm>
            <a:off x="0" y="1719072"/>
            <a:ext cx="12191695" cy="960120"/>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519744" y="2014057"/>
            <a:ext cx="386975" cy="353324"/>
          </a:xfrm>
          <a:custGeom>
            <a:avLst/>
            <a:gdLst/>
            <a:ahLst/>
            <a:cxnLst/>
            <a:rect l="l" t="t" r="r" b="b"/>
            <a:pathLst>
              <a:path w="386975" h="353324">
                <a:moveTo>
                  <a:pt x="193488" y="0"/>
                </a:moveTo>
                <a:lnTo>
                  <a:pt x="386975" y="353324"/>
                </a:lnTo>
                <a:lnTo>
                  <a:pt x="0" y="353324"/>
                </a:lnTo>
                <a:close/>
              </a:path>
            </a:pathLst>
          </a:cu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vis:icon"/>
          <p:cNvCxnSpPr/>
          <p:nvPr/>
        </p:nvCxnSpPr>
        <p:spPr>
          <a:xfrm>
            <a:off x="713232" y="2148657"/>
            <a:ext cx="0" cy="105156"/>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692200" y="2291669"/>
            <a:ext cx="42062" cy="4206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9" name="body:alert"/>
          <p:cNvSpPr txBox="1"/>
          <p:nvPr/>
        </p:nvSpPr>
        <p:spPr>
          <a:xfrm>
            <a:off x="1179576" y="1901952"/>
            <a:ext cx="10509199" cy="594360"/>
          </a:xfrm>
          <a:prstGeom prst="rect">
            <a:avLst/>
          </a:prstGeom>
          <a:noFill/>
        </p:spPr>
        <p:txBody>
          <a:bodyPr wrap="square" lIns="0" rIns="0" tIns="0" bIns="0" anchor="ctr">
            <a:spAutoFit/>
          </a:bodyPr>
          <a:lstStyle/>
          <a:p>
            <a:pPr algn="l">
              <a:lnSpc>
                <a:spcPts val="2470"/>
              </a:lnSpc>
              <a:spcBef>
                <a:spcPts val="0"/>
              </a:spcBef>
              <a:spcAft>
                <a:spcPts val="400"/>
              </a:spcAft>
            </a:pPr>
            <a:r>
              <a:rPr sz="1900" b="0">
                <a:solidFill>
                  <a:srgbClr val="FFFFFF"/>
                </a:solidFill>
                <a:latin typeface="Segoe UI Semibold"/>
              </a:rPr>
              <a:t>Say the thing, give the date, make one ask, and put the warmth at the end.</a:t>
            </a:r>
          </a:p>
          <a:p>
            <a:pPr algn="l">
              <a:lnSpc>
                <a:spcPts val="1755"/>
              </a:lnSpc>
              <a:spcBef>
                <a:spcPts val="0"/>
              </a:spcBef>
              <a:spcAft>
                <a:spcPts val="0"/>
              </a:spcAft>
            </a:pPr>
            <a:r>
              <a:rPr sz="1350" b="0">
                <a:solidFill>
                  <a:srgbClr val="FFFFFF"/>
                </a:solidFill>
                <a:latin typeface="Segoe UI"/>
              </a:rPr>
              <a:t>That order works for good news, bad news and everything routine in between.</a:t>
            </a:r>
          </a:p>
        </p:txBody>
      </p:sp>
      <p:sp>
        <p:nvSpPr>
          <p:cNvPr id="20" name="vis:checktile"/>
          <p:cNvSpPr/>
          <p:nvPr/>
        </p:nvSpPr>
        <p:spPr>
          <a:xfrm>
            <a:off x="502920" y="2953512"/>
            <a:ext cx="3582314"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eckdot"/>
          <p:cNvSpPr/>
          <p:nvPr/>
        </p:nvSpPr>
        <p:spPr>
          <a:xfrm>
            <a:off x="722376" y="3506724"/>
            <a:ext cx="310896" cy="310896"/>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815279" y="3665646"/>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3" name="vis:icon"/>
          <p:cNvCxnSpPr/>
          <p:nvPr/>
        </p:nvCxnSpPr>
        <p:spPr>
          <a:xfrm flipV="1">
            <a:off x="860450" y="3613525"/>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4" name="cell:checkitem"/>
          <p:cNvSpPr txBox="1"/>
          <p:nvPr/>
        </p:nvSpPr>
        <p:spPr>
          <a:xfrm>
            <a:off x="1161288" y="3099816"/>
            <a:ext cx="2704490"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Point first.</a:t>
            </a:r>
          </a:p>
        </p:txBody>
      </p:sp>
      <p:sp>
        <p:nvSpPr>
          <p:cNvPr id="25" name="vis:checktile"/>
          <p:cNvSpPr/>
          <p:nvPr/>
        </p:nvSpPr>
        <p:spPr>
          <a:xfrm>
            <a:off x="4304690" y="2953512"/>
            <a:ext cx="3582314"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heckdot"/>
          <p:cNvSpPr/>
          <p:nvPr/>
        </p:nvSpPr>
        <p:spPr>
          <a:xfrm>
            <a:off x="4524146" y="3506724"/>
            <a:ext cx="310896" cy="310896"/>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7" name="vis:icon"/>
          <p:cNvCxnSpPr/>
          <p:nvPr/>
        </p:nvCxnSpPr>
        <p:spPr>
          <a:xfrm>
            <a:off x="4617049" y="3665646"/>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8" name="vis:icon"/>
          <p:cNvCxnSpPr/>
          <p:nvPr/>
        </p:nvCxnSpPr>
        <p:spPr>
          <a:xfrm flipV="1">
            <a:off x="4662220" y="3613525"/>
            <a:ext cx="83394"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9" name="cell:checkitem"/>
          <p:cNvSpPr txBox="1"/>
          <p:nvPr/>
        </p:nvSpPr>
        <p:spPr>
          <a:xfrm>
            <a:off x="4963058" y="3099816"/>
            <a:ext cx="2704490"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One ask, one date.</a:t>
            </a:r>
          </a:p>
        </p:txBody>
      </p:sp>
      <p:sp>
        <p:nvSpPr>
          <p:cNvPr id="30" name="vis:checktile"/>
          <p:cNvSpPr/>
          <p:nvPr/>
        </p:nvSpPr>
        <p:spPr>
          <a:xfrm>
            <a:off x="8106460" y="2953512"/>
            <a:ext cx="3582314"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checkdot"/>
          <p:cNvSpPr/>
          <p:nvPr/>
        </p:nvSpPr>
        <p:spPr>
          <a:xfrm>
            <a:off x="8325916" y="3506724"/>
            <a:ext cx="310896" cy="310896"/>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2" name="vis:icon"/>
          <p:cNvCxnSpPr/>
          <p:nvPr/>
        </p:nvCxnSpPr>
        <p:spPr>
          <a:xfrm>
            <a:off x="8418819" y="3665646"/>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3" name="vis:icon"/>
          <p:cNvCxnSpPr/>
          <p:nvPr/>
        </p:nvCxnSpPr>
        <p:spPr>
          <a:xfrm flipV="1">
            <a:off x="8463991" y="3613525"/>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4" name="cell:checkitem"/>
          <p:cNvSpPr txBox="1"/>
          <p:nvPr/>
        </p:nvSpPr>
        <p:spPr>
          <a:xfrm>
            <a:off x="8764828" y="3099816"/>
            <a:ext cx="2704490"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Warmth in the close.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CHOOSE WHAT YOU'D DO</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Monday, 9:05 am</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PS-02  ·  Professional Email Writing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vis:sccard"/>
          <p:cNvSpPr/>
          <p:nvPr/>
        </p:nvSpPr>
        <p:spPr>
          <a:xfrm>
            <a:off x="502920" y="1719072"/>
            <a:ext cx="11185855" cy="1097280"/>
          </a:xfrm>
          <a:prstGeom prst="roundRect">
            <a:avLst>
              <a:gd name="adj" fmla="val 8333"/>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942929" y="2063252"/>
            <a:ext cx="180685" cy="180685"/>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843076" y="2315260"/>
            <a:ext cx="380391" cy="166421"/>
          </a:xfrm>
          <a:custGeom>
            <a:avLst/>
            <a:gdLst/>
            <a:ahLst/>
            <a:cxnLst/>
            <a:rect l="l" t="t" r="r" b="b"/>
            <a:pathLst>
              <a:path w="380391" h="166421">
                <a:moveTo>
                  <a:pt x="0" y="166421"/>
                </a:moveTo>
                <a:lnTo>
                  <a:pt x="28530" y="0"/>
                </a:lnTo>
                <a:lnTo>
                  <a:pt x="351861" y="0"/>
                </a:lnTo>
                <a:lnTo>
                  <a:pt x="380391" y="166421"/>
                </a:lnTo>
              </a:path>
            </a:pathLst>
          </a:cu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ody:situation"/>
          <p:cNvSpPr txBox="1"/>
          <p:nvPr/>
        </p:nvSpPr>
        <p:spPr>
          <a:xfrm>
            <a:off x="1472184" y="1901952"/>
            <a:ext cx="9905695" cy="731520"/>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FFFFFF"/>
                </a:solidFill>
                <a:latin typeface="Segoe UI"/>
              </a:rPr>
              <a:t>A supplier has missed a drawing deadline for the second time. Your install team is booked for the 19th. You are annoyed and you need the drawings by the 14th.</a:t>
            </a:r>
          </a:p>
        </p:txBody>
      </p:sp>
      <p:sp>
        <p:nvSpPr>
          <p:cNvPr id="19" name="quiz:choice">
            <a:hlinkClick action="ppaction://hlinksldjump" r:id="rId3"/>
          </p:cNvPr>
          <p:cNvSpPr/>
          <p:nvPr/>
        </p:nvSpPr>
        <p:spPr>
          <a:xfrm>
            <a:off x="502920" y="3108960"/>
            <a:ext cx="3570122" cy="2907792"/>
          </a:xfrm>
          <a:prstGeom prst="roundRect">
            <a:avLst>
              <a:gd name="adj" fmla="val 3144"/>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chip"/>
          <p:cNvSpPr/>
          <p:nvPr/>
        </p:nvSpPr>
        <p:spPr>
          <a:xfrm>
            <a:off x="758952" y="3364991"/>
            <a:ext cx="1296924" cy="274320"/>
          </a:xfrm>
          <a:prstGeom prst="roundRect">
            <a:avLst>
              <a:gd name="adj" fmla="val 16666"/>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iptext"/>
          <p:cNvSpPr txBox="1"/>
          <p:nvPr/>
        </p:nvSpPr>
        <p:spPr>
          <a:xfrm>
            <a:off x="914400" y="3392423"/>
            <a:ext cx="986028"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OPTION A</a:t>
            </a:r>
          </a:p>
        </p:txBody>
      </p:sp>
      <p:sp>
        <p:nvSpPr>
          <p:cNvPr id="22" name="cell:choice"/>
          <p:cNvSpPr txBox="1"/>
          <p:nvPr/>
        </p:nvSpPr>
        <p:spPr>
          <a:xfrm>
            <a:off x="758952" y="3913632"/>
            <a:ext cx="3058058" cy="153619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a:rPr>
              <a:t>Write it now while it is fresh, and copy their manager.</a:t>
            </a:r>
          </a:p>
        </p:txBody>
      </p:sp>
      <p:cxnSp>
        <p:nvCxnSpPr>
          <p:cNvPr id="23" name="vis:choicearrow"/>
          <p:cNvCxnSpPr/>
          <p:nvPr/>
        </p:nvCxnSpPr>
        <p:spPr>
          <a:xfrm>
            <a:off x="758952" y="5632704"/>
            <a:ext cx="292608" cy="0"/>
          </a:xfrm>
          <a:prstGeom prst="line">
            <a:avLst/>
          </a:prstGeom>
          <a:ln w="19050">
            <a:solidFill>
              <a:srgbClr val="8A5A0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4" name="cell:choicego"/>
          <p:cNvSpPr txBox="1"/>
          <p:nvPr/>
        </p:nvSpPr>
        <p:spPr>
          <a:xfrm>
            <a:off x="1161288" y="5504688"/>
            <a:ext cx="2655722" cy="25603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See what happens</a:t>
            </a:r>
          </a:p>
        </p:txBody>
      </p:sp>
      <p:sp>
        <p:nvSpPr>
          <p:cNvPr id="25" name="quiz:choice">
            <a:hlinkClick action="ppaction://hlinksldjump" r:id="rId4"/>
          </p:cNvPr>
          <p:cNvSpPr/>
          <p:nvPr/>
        </p:nvSpPr>
        <p:spPr>
          <a:xfrm>
            <a:off x="4310786" y="3108960"/>
            <a:ext cx="3570122" cy="2907792"/>
          </a:xfrm>
          <a:prstGeom prst="roundRect">
            <a:avLst>
              <a:gd name="adj" fmla="val 3144"/>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hip"/>
          <p:cNvSpPr/>
          <p:nvPr/>
        </p:nvSpPr>
        <p:spPr>
          <a:xfrm>
            <a:off x="4566818" y="3364991"/>
            <a:ext cx="1287399" cy="274320"/>
          </a:xfrm>
          <a:prstGeom prst="roundRect">
            <a:avLst>
              <a:gd name="adj" fmla="val 16666"/>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vis:chiptext"/>
          <p:cNvSpPr txBox="1"/>
          <p:nvPr/>
        </p:nvSpPr>
        <p:spPr>
          <a:xfrm>
            <a:off x="4722266" y="3392423"/>
            <a:ext cx="97650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OPTION B</a:t>
            </a:r>
          </a:p>
        </p:txBody>
      </p:sp>
      <p:sp>
        <p:nvSpPr>
          <p:cNvPr id="28" name="cell:choice"/>
          <p:cNvSpPr txBox="1"/>
          <p:nvPr/>
        </p:nvSpPr>
        <p:spPr>
          <a:xfrm>
            <a:off x="4566818" y="3913632"/>
            <a:ext cx="3058058" cy="153619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a:rPr>
              <a:t>Send a neutral, dated chaser to your contact only.</a:t>
            </a:r>
          </a:p>
        </p:txBody>
      </p:sp>
      <p:cxnSp>
        <p:nvCxnSpPr>
          <p:cNvPr id="29" name="vis:choicearrow"/>
          <p:cNvCxnSpPr/>
          <p:nvPr/>
        </p:nvCxnSpPr>
        <p:spPr>
          <a:xfrm>
            <a:off x="4566818" y="5632704"/>
            <a:ext cx="292608" cy="0"/>
          </a:xfrm>
          <a:prstGeom prst="line">
            <a:avLst/>
          </a:prstGeom>
          <a:ln w="19050">
            <a:solidFill>
              <a:srgbClr val="8A5A0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0" name="cell:choicego"/>
          <p:cNvSpPr txBox="1"/>
          <p:nvPr/>
        </p:nvSpPr>
        <p:spPr>
          <a:xfrm>
            <a:off x="4969154" y="5504688"/>
            <a:ext cx="2655722" cy="25603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See what happens</a:t>
            </a:r>
          </a:p>
        </p:txBody>
      </p:sp>
      <p:sp>
        <p:nvSpPr>
          <p:cNvPr id="31" name="quiz:choice">
            <a:hlinkClick action="ppaction://hlinksldjump" r:id="rId5"/>
          </p:cNvPr>
          <p:cNvSpPr/>
          <p:nvPr/>
        </p:nvSpPr>
        <p:spPr>
          <a:xfrm>
            <a:off x="8118652" y="3108960"/>
            <a:ext cx="3570122" cy="2907792"/>
          </a:xfrm>
          <a:prstGeom prst="roundRect">
            <a:avLst>
              <a:gd name="adj" fmla="val 3144"/>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chip"/>
          <p:cNvSpPr/>
          <p:nvPr/>
        </p:nvSpPr>
        <p:spPr>
          <a:xfrm>
            <a:off x="8374684" y="3364991"/>
            <a:ext cx="1290574" cy="274320"/>
          </a:xfrm>
          <a:prstGeom prst="roundRect">
            <a:avLst>
              <a:gd name="adj" fmla="val 16666"/>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chiptext"/>
          <p:cNvSpPr txBox="1"/>
          <p:nvPr/>
        </p:nvSpPr>
        <p:spPr>
          <a:xfrm>
            <a:off x="8530132" y="3392423"/>
            <a:ext cx="979677"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OPTION C</a:t>
            </a:r>
          </a:p>
        </p:txBody>
      </p:sp>
      <p:sp>
        <p:nvSpPr>
          <p:cNvPr id="34" name="cell:choice"/>
          <p:cNvSpPr txBox="1"/>
          <p:nvPr/>
        </p:nvSpPr>
        <p:spPr>
          <a:xfrm>
            <a:off x="8374684" y="3913632"/>
            <a:ext cx="3058058" cy="153619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a:rPr>
              <a:t>Ring them, then confirm the agreed date in writing.</a:t>
            </a:r>
          </a:p>
        </p:txBody>
      </p:sp>
      <p:cxnSp>
        <p:nvCxnSpPr>
          <p:cNvPr id="35" name="vis:choicearrow"/>
          <p:cNvCxnSpPr/>
          <p:nvPr/>
        </p:nvCxnSpPr>
        <p:spPr>
          <a:xfrm>
            <a:off x="8374684" y="5632704"/>
            <a:ext cx="292608" cy="0"/>
          </a:xfrm>
          <a:prstGeom prst="line">
            <a:avLst/>
          </a:prstGeom>
          <a:ln w="19050">
            <a:solidFill>
              <a:srgbClr val="8A5A0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6" name="cell:choicego"/>
          <p:cNvSpPr txBox="1"/>
          <p:nvPr/>
        </p:nvSpPr>
        <p:spPr>
          <a:xfrm>
            <a:off x="8777020" y="5504688"/>
            <a:ext cx="2655722" cy="25603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See what happens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Two mistakes in one message</a:t>
            </a:r>
          </a:p>
        </p:txBody>
      </p:sp>
      <p:sp>
        <p:nvSpPr>
          <p:cNvPr id="6" name="body:consequence"/>
          <p:cNvSpPr txBox="1"/>
          <p:nvPr/>
        </p:nvSpPr>
        <p:spPr>
          <a:xfrm>
            <a:off x="502920" y="1517904"/>
            <a:ext cx="6448882" cy="265176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Written while annoyed, it carries three adverbs and two accusations you would not have used after lunch. Copying their manager reads as an escalation on a second missed deadline, and cooperation stops immediately.</a:t>
            </a:r>
          </a:p>
        </p:txBody>
      </p:sp>
      <p:sp>
        <p:nvSpPr>
          <p:cNvPr id="7" name="vis:fbcard"/>
          <p:cNvSpPr/>
          <p:nvPr/>
        </p:nvSpPr>
        <p:spPr>
          <a:xfrm>
            <a:off x="8082076" y="1517904"/>
            <a:ext cx="3606698" cy="2194560"/>
          </a:xfrm>
          <a:prstGeom prst="roundRect">
            <a:avLst>
              <a:gd name="adj" fmla="val 4166"/>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seclabel"/>
          <p:cNvSpPr txBox="1"/>
          <p:nvPr/>
        </p:nvSpPr>
        <p:spPr>
          <a:xfrm>
            <a:off x="8356396" y="1755648"/>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THE RULE</a:t>
            </a:r>
          </a:p>
        </p:txBody>
      </p:sp>
      <p:sp>
        <p:nvSpPr>
          <p:cNvPr id="9" name="cell:rule"/>
          <p:cNvSpPr txBox="1"/>
          <p:nvPr/>
        </p:nvSpPr>
        <p:spPr>
          <a:xfrm>
            <a:off x="8356396" y="2121408"/>
            <a:ext cx="3058058" cy="137160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Never send angry, and never escalate before you have asked once, clearly.</a:t>
            </a:r>
          </a:p>
        </p:txBody>
      </p:sp>
      <p:sp>
        <p:nvSpPr>
          <p:cNvPr id="10" name="nav:scback">
            <a:hlinkClick action="ppaction://hlinksldjump" r:id="rId2"/>
          </p:cNvPr>
          <p:cNvSpPr/>
          <p:nvPr/>
        </p:nvSpPr>
        <p:spPr>
          <a:xfrm>
            <a:off x="502920" y="4718304"/>
            <a:ext cx="301752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1" name="nav:scbacktext"/>
          <p:cNvSpPr txBox="1"/>
          <p:nvPr/>
        </p:nvSpPr>
        <p:spPr>
          <a:xfrm>
            <a:off x="777240" y="4882896"/>
            <a:ext cx="246888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Back to the situation  →</a:t>
            </a:r>
          </a:p>
        </p:txBody>
      </p:sp>
      <p:sp>
        <p:nvSpPr>
          <p:cNvPr id="12"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PS-02  ·  Professional Email Writing</a:t>
            </a:r>
          </a:p>
        </p:txBody>
      </p:sp>
      <p:sp>
        <p:nvSpPr>
          <p:cNvPr id="13"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4"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6"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7"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9"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0"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1"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Two missed deadlines, no heat at all</a:t>
            </a:r>
          </a:p>
        </p:txBody>
      </p:sp>
      <p:sp>
        <p:nvSpPr>
          <p:cNvPr id="6" name="body:consequence"/>
          <p:cNvSpPr txBox="1"/>
          <p:nvPr/>
        </p:nvSpPr>
        <p:spPr>
          <a:xfrm>
            <a:off x="502920" y="1517904"/>
            <a:ext cx="6448882" cy="265176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"These were due on the 8th. Install is booked for the 19th, so we would need them by the 14th. Could you confirm a date today?" You get a date by eleven, and the relationship is intact for the next project.</a:t>
            </a:r>
          </a:p>
        </p:txBody>
      </p:sp>
      <p:sp>
        <p:nvSpPr>
          <p:cNvPr id="7" name="vis:fbcard"/>
          <p:cNvSpPr/>
          <p:nvPr/>
        </p:nvSpPr>
        <p:spPr>
          <a:xfrm>
            <a:off x="8082076" y="1517904"/>
            <a:ext cx="3606698" cy="2194560"/>
          </a:xfrm>
          <a:prstGeom prst="roundRect">
            <a:avLst>
              <a:gd name="adj" fmla="val 4166"/>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seclabel"/>
          <p:cNvSpPr txBox="1"/>
          <p:nvPr/>
        </p:nvSpPr>
        <p:spPr>
          <a:xfrm>
            <a:off x="8356396" y="1755648"/>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THE RULE</a:t>
            </a:r>
          </a:p>
        </p:txBody>
      </p:sp>
      <p:sp>
        <p:nvSpPr>
          <p:cNvPr id="9" name="cell:rule"/>
          <p:cNvSpPr txBox="1"/>
          <p:nvPr/>
        </p:nvSpPr>
        <p:spPr>
          <a:xfrm>
            <a:off x="8356396" y="2121408"/>
            <a:ext cx="3058058" cy="137160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Dates do the work that anger would have done badly.</a:t>
            </a:r>
          </a:p>
        </p:txBody>
      </p:sp>
      <p:sp>
        <p:nvSpPr>
          <p:cNvPr id="10" name="nav:scback">
            <a:hlinkClick action="ppaction://hlinksldjump" r:id="rId2"/>
          </p:cNvPr>
          <p:cNvSpPr/>
          <p:nvPr/>
        </p:nvSpPr>
        <p:spPr>
          <a:xfrm>
            <a:off x="502920" y="4718304"/>
            <a:ext cx="301752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1" name="nav:scbacktext"/>
          <p:cNvSpPr txBox="1"/>
          <p:nvPr/>
        </p:nvSpPr>
        <p:spPr>
          <a:xfrm>
            <a:off x="777240" y="4882896"/>
            <a:ext cx="246888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Back to the situation  →</a:t>
            </a:r>
          </a:p>
        </p:txBody>
      </p:sp>
      <p:sp>
        <p:nvSpPr>
          <p:cNvPr id="12"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PS-02  ·  Professional Email Writing</a:t>
            </a:r>
          </a:p>
        </p:txBody>
      </p:sp>
      <p:sp>
        <p:nvSpPr>
          <p:cNvPr id="13"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4"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6"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7"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9"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0"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1"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Often the fastest route of all</a:t>
            </a:r>
          </a:p>
        </p:txBody>
      </p:sp>
      <p:sp>
        <p:nvSpPr>
          <p:cNvPr id="6" name="body:consequence"/>
          <p:cNvSpPr txBox="1"/>
          <p:nvPr/>
        </p:nvSpPr>
        <p:spPr>
          <a:xfrm>
            <a:off x="502920" y="1517904"/>
            <a:ext cx="6448882" cy="265176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Two minutes on the phone finds out that the drawings are waiting on an approval at their end. You agree the 13th, and your one-line confirmation email creates the record. Nothing escalated and nothing was written in anger.</a:t>
            </a:r>
          </a:p>
        </p:txBody>
      </p:sp>
      <p:sp>
        <p:nvSpPr>
          <p:cNvPr id="7" name="vis:fbcard"/>
          <p:cNvSpPr/>
          <p:nvPr/>
        </p:nvSpPr>
        <p:spPr>
          <a:xfrm>
            <a:off x="8082076" y="1517904"/>
            <a:ext cx="3606698" cy="2194560"/>
          </a:xfrm>
          <a:prstGeom prst="roundRect">
            <a:avLst>
              <a:gd name="adj" fmla="val 4166"/>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seclabel"/>
          <p:cNvSpPr txBox="1"/>
          <p:nvPr/>
        </p:nvSpPr>
        <p:spPr>
          <a:xfrm>
            <a:off x="8356396" y="1755648"/>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THE RULE</a:t>
            </a:r>
          </a:p>
        </p:txBody>
      </p:sp>
      <p:sp>
        <p:nvSpPr>
          <p:cNvPr id="9" name="cell:rule"/>
          <p:cNvSpPr txBox="1"/>
          <p:nvPr/>
        </p:nvSpPr>
        <p:spPr>
          <a:xfrm>
            <a:off x="8356396" y="2121408"/>
            <a:ext cx="3058058" cy="137160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After a second miss, a call beats a better email.</a:t>
            </a:r>
          </a:p>
        </p:txBody>
      </p:sp>
      <p:sp>
        <p:nvSpPr>
          <p:cNvPr id="10" name="nav:scback">
            <a:hlinkClick action="ppaction://hlinksldjump" r:id="rId2"/>
          </p:cNvPr>
          <p:cNvSpPr/>
          <p:nvPr/>
        </p:nvSpPr>
        <p:spPr>
          <a:xfrm>
            <a:off x="502920" y="4718304"/>
            <a:ext cx="301752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1" name="nav:scbacktext"/>
          <p:cNvSpPr txBox="1"/>
          <p:nvPr/>
        </p:nvSpPr>
        <p:spPr>
          <a:xfrm>
            <a:off x="777240" y="4882896"/>
            <a:ext cx="246888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Back to the situation  →</a:t>
            </a:r>
          </a:p>
        </p:txBody>
      </p:sp>
      <p:sp>
        <p:nvSpPr>
          <p:cNvPr id="12"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PS-02  ·  Professional Email Writing</a:t>
            </a:r>
          </a:p>
        </p:txBody>
      </p:sp>
      <p:sp>
        <p:nvSpPr>
          <p:cNvPr id="13"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4"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6"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7"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9"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0"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1"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WATCH THIS</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Seven minutes on the basics</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PS-02  ·  Professional Email Writing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3"/>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nav:video">
            <a:hlinkClick r:id="rId2"/>
          </p:cNvPr>
          <p:cNvSpPr/>
          <p:nvPr/>
        </p:nvSpPr>
        <p:spPr>
          <a:xfrm>
            <a:off x="502920" y="1719072"/>
            <a:ext cx="6448882" cy="4297680"/>
          </a:xfrm>
          <a:prstGeom prst="roundRect">
            <a:avLst>
              <a:gd name="adj" fmla="val 2127"/>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play"/>
          <p:cNvSpPr/>
          <p:nvPr/>
        </p:nvSpPr>
        <p:spPr>
          <a:xfrm>
            <a:off x="1161288" y="2432303"/>
            <a:ext cx="950976" cy="950976"/>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playtri"/>
          <p:cNvSpPr/>
          <p:nvPr/>
        </p:nvSpPr>
        <p:spPr>
          <a:xfrm>
            <a:off x="1499616" y="2679191"/>
            <a:ext cx="384048" cy="457200"/>
          </a:xfrm>
          <a:custGeom>
            <a:avLst/>
            <a:gdLst/>
            <a:ahLst/>
            <a:cxnLst/>
            <a:rect l="l" t="t" r="r" b="b"/>
            <a:pathLst>
              <a:path w="384048" h="457200">
                <a:moveTo>
                  <a:pt x="0" y="0"/>
                </a:moveTo>
                <a:lnTo>
                  <a:pt x="384048" y="228600"/>
                </a:lnTo>
                <a:lnTo>
                  <a:pt x="0" y="457200"/>
                </a:lnTo>
                <a:close/>
              </a:path>
            </a:pathLst>
          </a:cu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ody:videotitle"/>
          <p:cNvSpPr txBox="1"/>
          <p:nvPr/>
        </p:nvSpPr>
        <p:spPr>
          <a:xfrm>
            <a:off x="2514600" y="2231136"/>
            <a:ext cx="4126306" cy="1371600"/>
          </a:xfrm>
          <a:prstGeom prst="rect">
            <a:avLst/>
          </a:prstGeom>
          <a:noFill/>
        </p:spPr>
        <p:txBody>
          <a:bodyPr wrap="square" lIns="0" rIns="0" tIns="0" bIns="0" anchor="t">
            <a:spAutoFit/>
          </a:bodyPr>
          <a:lstStyle/>
          <a:p>
            <a:pPr algn="l">
              <a:lnSpc>
                <a:spcPts val="2730"/>
              </a:lnSpc>
              <a:spcBef>
                <a:spcPts val="0"/>
              </a:spcBef>
              <a:spcAft>
                <a:spcPts val="0"/>
              </a:spcAft>
            </a:pPr>
            <a:r>
              <a:rPr sz="2100" b="0">
                <a:solidFill>
                  <a:srgbClr val="FFFFFF"/>
                </a:solidFill>
                <a:latin typeface="Segoe UI Semibold"/>
              </a:rPr>
              <a:t>8 Email Etiquette Tips - How to Write Better Emails at Work</a:t>
            </a:r>
          </a:p>
        </p:txBody>
      </p:sp>
      <p:sp>
        <p:nvSpPr>
          <p:cNvPr id="19" name="vis:chip"/>
          <p:cNvSpPr/>
          <p:nvPr/>
        </p:nvSpPr>
        <p:spPr>
          <a:xfrm>
            <a:off x="868680" y="3858768"/>
            <a:ext cx="2789074" cy="292608"/>
          </a:xfrm>
          <a:prstGeom prst="roundRect">
            <a:avLst>
              <a:gd name="adj" fmla="val 15625"/>
            </a:avLst>
          </a:prstGeom>
          <a:noFill/>
          <a:ln w="12700">
            <a:solidFill>
              <a:srgbClr val="848D9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chiptext"/>
          <p:cNvSpPr txBox="1"/>
          <p:nvPr/>
        </p:nvSpPr>
        <p:spPr>
          <a:xfrm>
            <a:off x="1024128" y="3895344"/>
            <a:ext cx="2478178"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848D9A"/>
                </a:solidFill>
                <a:latin typeface="Segoe UI Semibold"/>
              </a:rPr>
              <a:t>HARVARD BUSINESS REVIEW</a:t>
            </a:r>
          </a:p>
        </p:txBody>
      </p:sp>
      <p:sp>
        <p:nvSpPr>
          <p:cNvPr id="21" name="vis:chip"/>
          <p:cNvSpPr/>
          <p:nvPr/>
        </p:nvSpPr>
        <p:spPr>
          <a:xfrm>
            <a:off x="3804058" y="3858768"/>
            <a:ext cx="1227074" cy="292608"/>
          </a:xfrm>
          <a:prstGeom prst="roundRect">
            <a:avLst>
              <a:gd name="adj" fmla="val 15625"/>
            </a:avLst>
          </a:prstGeom>
          <a:noFill/>
          <a:ln w="12700">
            <a:solidFill>
              <a:srgbClr val="848D9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chiptext"/>
          <p:cNvSpPr txBox="1"/>
          <p:nvPr/>
        </p:nvSpPr>
        <p:spPr>
          <a:xfrm>
            <a:off x="3959506" y="3895344"/>
            <a:ext cx="916178"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848D9A"/>
                </a:solidFill>
                <a:latin typeface="Segoe UI Semibold"/>
              </a:rPr>
              <a:t>7:00 MIN</a:t>
            </a:r>
          </a:p>
        </p:txBody>
      </p:sp>
      <p:cxnSp>
        <p:nvCxnSpPr>
          <p:cNvPr id="23" name="vis:rule"/>
          <p:cNvCxnSpPr/>
          <p:nvPr/>
        </p:nvCxnSpPr>
        <p:spPr>
          <a:xfrm>
            <a:off x="868680" y="4425696"/>
            <a:ext cx="5717362" cy="0"/>
          </a:xfrm>
          <a:prstGeom prst="line">
            <a:avLst/>
          </a:prstGeom>
          <a:ln w="1270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24" name="body:videonote"/>
          <p:cNvSpPr txBox="1"/>
          <p:nvPr/>
        </p:nvSpPr>
        <p:spPr>
          <a:xfrm>
            <a:off x="868680" y="4645152"/>
            <a:ext cx="5717362" cy="548640"/>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848D9A"/>
                </a:solidFill>
                <a:latin typeface="Segoe UI"/>
              </a:rPr>
              <a:t>An outside video, not company material. Where it differs from this module, follow this module.</a:t>
            </a:r>
          </a:p>
        </p:txBody>
      </p:sp>
      <p:sp>
        <p:nvSpPr>
          <p:cNvPr id="25" name="nav:videobtn">
            <a:hlinkClick r:id="rId2"/>
          </p:cNvPr>
          <p:cNvSpPr/>
          <p:nvPr/>
        </p:nvSpPr>
        <p:spPr>
          <a:xfrm>
            <a:off x="868680" y="5230368"/>
            <a:ext cx="3017520" cy="493776"/>
          </a:xfrm>
          <a:prstGeom prst="roundRect">
            <a:avLst>
              <a:gd name="adj" fmla="val 11111"/>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icon"/>
          <p:cNvSpPr/>
          <p:nvPr/>
        </p:nvSpPr>
        <p:spPr>
          <a:xfrm>
            <a:off x="1069116" y="5370819"/>
            <a:ext cx="153619" cy="153619"/>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7" name="vis:icon"/>
          <p:cNvCxnSpPr/>
          <p:nvPr/>
        </p:nvCxnSpPr>
        <p:spPr>
          <a:xfrm>
            <a:off x="1202253" y="5503956"/>
            <a:ext cx="61447" cy="61448"/>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8" name="nav:videobtntext"/>
          <p:cNvSpPr txBox="1"/>
          <p:nvPr/>
        </p:nvSpPr>
        <p:spPr>
          <a:xfrm>
            <a:off x="1417320" y="5358384"/>
            <a:ext cx="2286000" cy="23774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Click to open on YouTube</a:t>
            </a:r>
          </a:p>
        </p:txBody>
      </p:sp>
      <p:sp>
        <p:nvSpPr>
          <p:cNvPr id="29" name="vis:videohow"/>
          <p:cNvSpPr/>
          <p:nvPr/>
        </p:nvSpPr>
        <p:spPr>
          <a:xfrm>
            <a:off x="8082076" y="1719072"/>
            <a:ext cx="3606698" cy="4297680"/>
          </a:xfrm>
          <a:prstGeom prst="roundRect">
            <a:avLst>
              <a:gd name="adj" fmla="val 253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videospine"/>
          <p:cNvSpPr/>
          <p:nvPr/>
        </p:nvSpPr>
        <p:spPr>
          <a:xfrm>
            <a:off x="8082076" y="1719072"/>
            <a:ext cx="68580" cy="4297680"/>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seclabel"/>
          <p:cNvSpPr txBox="1"/>
          <p:nvPr/>
        </p:nvSpPr>
        <p:spPr>
          <a:xfrm>
            <a:off x="8392972" y="2029967"/>
            <a:ext cx="2984906"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HOW TO USE IT</a:t>
            </a:r>
          </a:p>
        </p:txBody>
      </p:sp>
      <p:cxnSp>
        <p:nvCxnSpPr>
          <p:cNvPr id="32" name="vis:icon"/>
          <p:cNvCxnSpPr/>
          <p:nvPr/>
        </p:nvCxnSpPr>
        <p:spPr>
          <a:xfrm>
            <a:off x="8439424" y="2628351"/>
            <a:ext cx="52304" cy="52304"/>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cxnSp>
        <p:nvCxnSpPr>
          <p:cNvPr id="33" name="vis:icon"/>
          <p:cNvCxnSpPr/>
          <p:nvPr/>
        </p:nvCxnSpPr>
        <p:spPr>
          <a:xfrm flipV="1">
            <a:off x="8491728" y="2568000"/>
            <a:ext cx="96560" cy="112655"/>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34" name="cell:why"/>
          <p:cNvSpPr txBox="1"/>
          <p:nvPr/>
        </p:nvSpPr>
        <p:spPr>
          <a:xfrm>
            <a:off x="8777020" y="2468879"/>
            <a:ext cx="2600858" cy="96926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Optional. The four-part structure above is the core.</a:t>
            </a:r>
          </a:p>
        </p:txBody>
      </p:sp>
      <p:cxnSp>
        <p:nvCxnSpPr>
          <p:cNvPr id="35" name="vis:icon"/>
          <p:cNvCxnSpPr/>
          <p:nvPr/>
        </p:nvCxnSpPr>
        <p:spPr>
          <a:xfrm>
            <a:off x="8439424" y="3743919"/>
            <a:ext cx="52304" cy="52304"/>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cxnSp>
        <p:nvCxnSpPr>
          <p:cNvPr id="36" name="vis:icon"/>
          <p:cNvCxnSpPr/>
          <p:nvPr/>
        </p:nvCxnSpPr>
        <p:spPr>
          <a:xfrm flipV="1">
            <a:off x="8491728" y="3683568"/>
            <a:ext cx="96560" cy="112655"/>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37" name="cell:why"/>
          <p:cNvSpPr txBox="1"/>
          <p:nvPr/>
        </p:nvSpPr>
        <p:spPr>
          <a:xfrm>
            <a:off x="8777020" y="3584448"/>
            <a:ext cx="2600858" cy="96926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Useful if you like hearing the reasoning behind the rules.</a:t>
            </a:r>
          </a:p>
        </p:txBody>
      </p:sp>
      <p:cxnSp>
        <p:nvCxnSpPr>
          <p:cNvPr id="38" name="vis:icon"/>
          <p:cNvCxnSpPr/>
          <p:nvPr/>
        </p:nvCxnSpPr>
        <p:spPr>
          <a:xfrm>
            <a:off x="8439424" y="4859487"/>
            <a:ext cx="52304" cy="52304"/>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cxnSp>
        <p:nvCxnSpPr>
          <p:cNvPr id="39" name="vis:icon"/>
          <p:cNvCxnSpPr/>
          <p:nvPr/>
        </p:nvCxnSpPr>
        <p:spPr>
          <a:xfrm flipV="1">
            <a:off x="8491728" y="4799136"/>
            <a:ext cx="96560" cy="112655"/>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40" name="cell:why"/>
          <p:cNvSpPr txBox="1"/>
          <p:nvPr/>
        </p:nvSpPr>
        <p:spPr>
          <a:xfrm>
            <a:off x="8777020" y="4700016"/>
            <a:ext cx="2600858" cy="96926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It opens in your browser. Turn the sound on.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QUIZ  ·  QUESTION 1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What should the first line contain?</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PS-02  ·  Professional Email Writing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A polite enquiry about the reader</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The point — what happened or what you need</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A reference to your previous email</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The full background to the situation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A polite enquiry about the reader</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Everybody skips it, and it delays the information by a line. Warmth belongs in the close, where it is actually read.</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The point, not a greeting about wellbeing.</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PS-02  ·  Professional Email Writing</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The point — what happened or what you need</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The reader knows immediately whether the message concerns them. It also makes the email findable and forwardable later.</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The point, not a greeting about wellbeing.</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Next question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PS-02  ·  Professional Email Writing</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A reference to your previous email</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"As per my previous email" reads as an accusation however you meant it. If you must refer back, say "following up on".</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The point, not a greeting about wellbeing.</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PS-02  ·  Professional Email Writing</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The full background to the situation</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Background belongs below the ask, for the minority who want it. Leading with it loses the majority.</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The point, not a greeting about wellbeing.</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PS-02  ·  Professional Email Writing</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QUIZ  ·  QUESTION 2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Why avoid "kindly do the needful"?</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PS-02  ·  Professional Email Writing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It is too informal</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It never states the actual action required</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It is grammatically incorrect</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Customers find it offensive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It is too informal</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It is if anything over-formal. The problem is not register, it is that the reader is left guessing what action is required.</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It never says what you actually want.</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PS-02  ·  Professional Email Writing</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It never states the actual action required</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The reader has to infer what needful means here, and different people infer differently. Name the action and the date and the ambiguity disappears.</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It never says what you actually want.</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Next question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PS-02  ·  Professional Email Writing</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It is grammatically incorrect</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It is grammatical. The objection is entirely practical — it transfers the work of deciding what to do onto the reader.</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It never says what you actually want.</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PS-02  ·  Professional Email Writing</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Customers find it offensive</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Most do not. They find it unclear, which costs you a round of emails rather than any goodwill.</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It never says what you actually want.</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PS-02  ·  Professional Email Writing</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QUIZ  ·  QUESTION 3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You are annoyed. What helps most?</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PS-02  ·  Professional Email Writing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Being very formal</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Deleting every "you" that assigns blame, and every adverb</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Adding an apology to soften it</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Copying their manager</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Being very formal</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Heavy formality when annoyed reads as cold anger, which is worse than plain irritation. It also makes the message longer.</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Remove blame and adverbs; state dates.</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PS-02  ·  Professional Email Writing</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Deleting every "you" that assigns blame, and every adverb</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"Your team repeatedly failed" becomes "the drawings were due on the 8th". The fact is unchanged, the accusation is gone, and it is harder to argue with.</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Remove blame and adverbs; state dates.</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Next question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PS-02  ·  Professional Email Writing</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Adding an apology to soften it</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You have nothing to apologise for, and apologising for chasing makes the request read as optional.</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Remove blame and adverbs; state dates.</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PS-02  ·  Professional Email Writing</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Copying their manager</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That is an escalation, not a tone adjustment. It usually ends cooperation and should come much later, if at all.</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Remove blame and adverbs; state dates.</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PS-02  ·  Professional Email Writing</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QUIZ  ·  QUESTION 4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When should you reply all?</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PS-02  ·  Professional Email Writing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Whenever you were included in the original</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When the whole group is waiting on the decision</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When you want visibility for your work</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When the thread is short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Whenever you were included in the original</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Being in the To field does not mean everyone needs your answer. This habit is why people stop reading group threads at all.</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Only when everyone needs the reply.</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PS-02  ·  Professional Email Writing</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When the whole group is waiting on the decision</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That is genuinely useful — it stops others chasing or duplicating work. Everything else, including "Thanks", goes to the sender only.</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Only when everyone needs the reply.</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Next question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PS-02  ·  Professional Email Writing</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When you want visibility for your work</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It is transparent and it costs everybody else attention. Visibility is better earned in the messages people actually needed.</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Only when everyone needs the reply.</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PS-02  ·  Professional Email Writing</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When the thread is short</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Length is irrelevant. The test is whether each recipient needs your specific reply to do something.</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Only when everyone needs the reply.</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PS-02  ·  Professional Email Writing</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QUIZ  ·  QUESTION 5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Which email should not be sent at all?</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PS-02  ·  Professional Email Writing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A delivery date confirmation</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Feedback on a colleague's performance</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A price correction</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A meeting summary</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A delivery date confirmation</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Factual and worth having in writing. Email is exactly the right channel for it.</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Anything about a person's performance.</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PS-02  ·  Professional Email Writing</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Feedback on a colleague's performance</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It concerns a person, tone is unreadable in text, and it becomes a permanent record of a conversation that should have been two-way. Have it face to face.</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Anything about a person's performance.</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See the recap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PS-02  ·  Professional Email Writing</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A price correction</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Commercially important and needs a record. Write it, and make sure the correction is stated plainly rather than buried.</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Anything about a person's performance.</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PS-02  ·  Professional Email Writing</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A meeting summary</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One of the most valuable emails there is, as long as it carries decisions, owners and dates rather than discussion.</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Anything about a person's performance.</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PS-02  ·  Professional Email Writing</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RECAP CARD</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Email writing on one screen</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PS-02  ·  Professional Email Writing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cell:recaphint"/>
          <p:cNvSpPr txBox="1"/>
          <p:nvPr/>
        </p:nvSpPr>
        <p:spPr>
          <a:xfrm>
            <a:off x="502920" y="1591056"/>
            <a:ext cx="11185855" cy="25603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Screenshot this slide. It is the whole module in one screen.</a:t>
            </a:r>
          </a:p>
        </p:txBody>
      </p:sp>
      <p:sp>
        <p:nvSpPr>
          <p:cNvPr id="16" name="vis:recaptile"/>
          <p:cNvSpPr/>
          <p:nvPr/>
        </p:nvSpPr>
        <p:spPr>
          <a:xfrm>
            <a:off x="502920" y="190195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recapbar"/>
          <p:cNvSpPr/>
          <p:nvPr/>
        </p:nvSpPr>
        <p:spPr>
          <a:xfrm>
            <a:off x="502920" y="1901952"/>
            <a:ext cx="54864" cy="963168"/>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cell:recaphead"/>
          <p:cNvSpPr txBox="1"/>
          <p:nvPr/>
        </p:nvSpPr>
        <p:spPr>
          <a:xfrm>
            <a:off x="740664" y="201168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Delete the first sentence</a:t>
            </a:r>
          </a:p>
        </p:txBody>
      </p:sp>
      <p:sp>
        <p:nvSpPr>
          <p:cNvPr id="19" name="cell:recapsub"/>
          <p:cNvSpPr txBox="1"/>
          <p:nvPr/>
        </p:nvSpPr>
        <p:spPr>
          <a:xfrm>
            <a:off x="740664" y="232257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It almost always carries no information. Start with the point.</a:t>
            </a:r>
          </a:p>
        </p:txBody>
      </p:sp>
      <p:sp>
        <p:nvSpPr>
          <p:cNvPr id="20" name="vis:recaptile"/>
          <p:cNvSpPr/>
          <p:nvPr/>
        </p:nvSpPr>
        <p:spPr>
          <a:xfrm>
            <a:off x="6178143" y="190195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recapbar"/>
          <p:cNvSpPr/>
          <p:nvPr/>
        </p:nvSpPr>
        <p:spPr>
          <a:xfrm>
            <a:off x="6178143" y="1901952"/>
            <a:ext cx="54864" cy="963168"/>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cell:recaphead"/>
          <p:cNvSpPr txBox="1"/>
          <p:nvPr/>
        </p:nvSpPr>
        <p:spPr>
          <a:xfrm>
            <a:off x="6415887" y="201168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Retire four phrases</a:t>
            </a:r>
          </a:p>
        </p:txBody>
      </p:sp>
      <p:sp>
        <p:nvSpPr>
          <p:cNvPr id="23" name="cell:recapsub"/>
          <p:cNvSpPr txBox="1"/>
          <p:nvPr/>
        </p:nvSpPr>
        <p:spPr>
          <a:xfrm>
            <a:off x="6415887" y="232257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"As per my previous", "do the needful", "revert", "urgent" everywhere.</a:t>
            </a:r>
          </a:p>
        </p:txBody>
      </p:sp>
      <p:sp>
        <p:nvSpPr>
          <p:cNvPr id="24" name="vis:recaptile"/>
          <p:cNvSpPr/>
          <p:nvPr/>
        </p:nvSpPr>
        <p:spPr>
          <a:xfrm>
            <a:off x="502920" y="302971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recapbar"/>
          <p:cNvSpPr/>
          <p:nvPr/>
        </p:nvSpPr>
        <p:spPr>
          <a:xfrm>
            <a:off x="502920" y="3029712"/>
            <a:ext cx="54864" cy="963168"/>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cell:recaphead"/>
          <p:cNvSpPr txBox="1"/>
          <p:nvPr/>
        </p:nvSpPr>
        <p:spPr>
          <a:xfrm>
            <a:off x="740664" y="313944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Warmth goes at the end</a:t>
            </a:r>
          </a:p>
        </p:txBody>
      </p:sp>
      <p:sp>
        <p:nvSpPr>
          <p:cNvPr id="27" name="cell:recapsub"/>
          <p:cNvSpPr txBox="1"/>
          <p:nvPr/>
        </p:nvSpPr>
        <p:spPr>
          <a:xfrm>
            <a:off x="740664" y="345033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One line in the close does more than three in the opening.</a:t>
            </a:r>
          </a:p>
        </p:txBody>
      </p:sp>
      <p:sp>
        <p:nvSpPr>
          <p:cNvPr id="28" name="vis:recaptile"/>
          <p:cNvSpPr/>
          <p:nvPr/>
        </p:nvSpPr>
        <p:spPr>
          <a:xfrm>
            <a:off x="6178143" y="302971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recapbar"/>
          <p:cNvSpPr/>
          <p:nvPr/>
        </p:nvSpPr>
        <p:spPr>
          <a:xfrm>
            <a:off x="6178143" y="3029712"/>
            <a:ext cx="54864" cy="963168"/>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cell:recaphead"/>
          <p:cNvSpPr txBox="1"/>
          <p:nvPr/>
        </p:nvSpPr>
        <p:spPr>
          <a:xfrm>
            <a:off x="6415887" y="313944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Dates instead of adverbs</a:t>
            </a:r>
          </a:p>
        </p:txBody>
      </p:sp>
      <p:sp>
        <p:nvSpPr>
          <p:cNvPr id="31" name="cell:recapsub"/>
          <p:cNvSpPr txBox="1"/>
          <p:nvPr/>
        </p:nvSpPr>
        <p:spPr>
          <a:xfrm>
            <a:off x="6415887" y="345033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"Due on the 8th" lands harder than "repeatedly delayed".</a:t>
            </a:r>
          </a:p>
        </p:txBody>
      </p:sp>
      <p:sp>
        <p:nvSpPr>
          <p:cNvPr id="32" name="vis:recaptile"/>
          <p:cNvSpPr/>
          <p:nvPr/>
        </p:nvSpPr>
        <p:spPr>
          <a:xfrm>
            <a:off x="502920" y="415747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recapbar"/>
          <p:cNvSpPr/>
          <p:nvPr/>
        </p:nvSpPr>
        <p:spPr>
          <a:xfrm>
            <a:off x="502920" y="4157472"/>
            <a:ext cx="54864" cy="963168"/>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cell:recaphead"/>
          <p:cNvSpPr txBox="1"/>
          <p:nvPr/>
        </p:nvSpPr>
        <p:spPr>
          <a:xfrm>
            <a:off x="740664" y="426720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Never send angry</a:t>
            </a:r>
          </a:p>
        </p:txBody>
      </p:sp>
      <p:sp>
        <p:nvSpPr>
          <p:cNvPr id="35" name="cell:recapsub"/>
          <p:cNvSpPr txBox="1"/>
          <p:nvPr/>
        </p:nvSpPr>
        <p:spPr>
          <a:xfrm>
            <a:off x="740664" y="457809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Write it, wait thirty minutes, and change the three things you will spot.</a:t>
            </a:r>
          </a:p>
        </p:txBody>
      </p:sp>
      <p:sp>
        <p:nvSpPr>
          <p:cNvPr id="36" name="vis:recaptile"/>
          <p:cNvSpPr/>
          <p:nvPr/>
        </p:nvSpPr>
        <p:spPr>
          <a:xfrm>
            <a:off x="6178143" y="415747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vis:recapbar"/>
          <p:cNvSpPr/>
          <p:nvPr/>
        </p:nvSpPr>
        <p:spPr>
          <a:xfrm>
            <a:off x="6178143" y="4157472"/>
            <a:ext cx="54864" cy="963168"/>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8" name="cell:recaphead"/>
          <p:cNvSpPr txBox="1"/>
          <p:nvPr/>
        </p:nvSpPr>
        <p:spPr>
          <a:xfrm>
            <a:off x="6415887" y="426720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Reply-all almost never</a:t>
            </a:r>
          </a:p>
        </p:txBody>
      </p:sp>
      <p:sp>
        <p:nvSpPr>
          <p:cNvPr id="39" name="cell:recapsub"/>
          <p:cNvSpPr txBox="1"/>
          <p:nvPr/>
        </p:nvSpPr>
        <p:spPr>
          <a:xfrm>
            <a:off x="6415887" y="457809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Only when the whole group is genuinely waiting on your answer.</a:t>
            </a:r>
          </a:p>
        </p:txBody>
      </p:sp>
      <p:sp>
        <p:nvSpPr>
          <p:cNvPr id="40" name="vis:recapline"/>
          <p:cNvSpPr/>
          <p:nvPr/>
        </p:nvSpPr>
        <p:spPr>
          <a:xfrm>
            <a:off x="502920" y="5266944"/>
            <a:ext cx="11185855" cy="749808"/>
          </a:xfrm>
          <a:prstGeom prst="roundRect">
            <a:avLst>
              <a:gd name="adj" fmla="val 12195"/>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1" name="vis:icon"/>
          <p:cNvSpPr/>
          <p:nvPr/>
        </p:nvSpPr>
        <p:spPr>
          <a:xfrm>
            <a:off x="875995" y="5464820"/>
            <a:ext cx="241401" cy="241401"/>
          </a:xfrm>
          <a:prstGeom prst="ellipse">
            <a:avLst/>
          </a:prstGeom>
          <a:noFill/>
          <a:ln w="19050">
            <a:solidFill>
              <a:srgbClr val="AA874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42" name="vis:icon"/>
          <p:cNvCxnSpPr/>
          <p:nvPr/>
        </p:nvCxnSpPr>
        <p:spPr>
          <a:xfrm>
            <a:off x="932322" y="5738408"/>
            <a:ext cx="128747" cy="0"/>
          </a:xfrm>
          <a:prstGeom prst="line">
            <a:avLst/>
          </a:prstGeom>
          <a:ln w="19050">
            <a:solidFill>
              <a:srgbClr val="AA8745"/>
            </a:solidFill>
          </a:ln>
          <a:effectLst/>
        </p:spPr>
        <p:style>
          <a:lnRef idx="2">
            <a:schemeClr val="accent1"/>
          </a:lnRef>
          <a:fillRef idx="0">
            <a:schemeClr val="accent1"/>
          </a:fillRef>
          <a:effectRef idx="1">
            <a:schemeClr val="accent1"/>
          </a:effectRef>
          <a:fontRef idx="minor">
            <a:schemeClr val="tx1"/>
          </a:fontRef>
        </p:style>
      </p:cxnSp>
      <p:cxnSp>
        <p:nvCxnSpPr>
          <p:cNvPr id="43" name="vis:icon"/>
          <p:cNvCxnSpPr/>
          <p:nvPr/>
        </p:nvCxnSpPr>
        <p:spPr>
          <a:xfrm>
            <a:off x="948415" y="5802782"/>
            <a:ext cx="96561" cy="0"/>
          </a:xfrm>
          <a:prstGeom prst="line">
            <a:avLst/>
          </a:prstGeom>
          <a:ln w="19050">
            <a:solidFill>
              <a:srgbClr val="AA8745"/>
            </a:solidFill>
          </a:ln>
          <a:effectLst/>
        </p:spPr>
        <p:style>
          <a:lnRef idx="2">
            <a:schemeClr val="accent1"/>
          </a:lnRef>
          <a:fillRef idx="0">
            <a:schemeClr val="accent1"/>
          </a:fillRef>
          <a:effectRef idx="1">
            <a:schemeClr val="accent1"/>
          </a:effectRef>
          <a:fontRef idx="minor">
            <a:schemeClr val="tx1"/>
          </a:fontRef>
        </p:style>
      </p:cxnSp>
      <p:sp>
        <p:nvSpPr>
          <p:cNvPr id="44" name="cell:recapone"/>
          <p:cNvSpPr txBox="1"/>
          <p:nvPr/>
        </p:nvSpPr>
        <p:spPr>
          <a:xfrm>
            <a:off x="1417320" y="5394959"/>
            <a:ext cx="9960559" cy="493776"/>
          </a:xfrm>
          <a:prstGeom prst="rect">
            <a:avLst/>
          </a:prstGeom>
          <a:noFill/>
        </p:spPr>
        <p:txBody>
          <a:bodyPr wrap="square" lIns="0" rIns="0" tIns="0" bIns="0" anchor="ctr">
            <a:spAutoFit/>
          </a:bodyPr>
          <a:lstStyle/>
          <a:p>
            <a:pPr algn="l">
              <a:lnSpc>
                <a:spcPts val="2600"/>
              </a:lnSpc>
              <a:spcBef>
                <a:spcPts val="0"/>
              </a:spcBef>
              <a:spcAft>
                <a:spcPts val="0"/>
              </a:spcAft>
            </a:pPr>
            <a:r>
              <a:rPr sz="2000" b="0">
                <a:solidFill>
                  <a:srgbClr val="FFFFFF"/>
                </a:solidFill>
                <a:latin typeface="Segoe UI Semibold"/>
              </a:rPr>
              <a:t>Say the thing, give the date, make one ask, and put the warmth at the end.</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YOUR TOOLKIT</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Take these three things with you</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PS-02  ·  Professional Email Writing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5"/>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seclabel"/>
          <p:cNvSpPr txBox="1"/>
          <p:nvPr/>
        </p:nvSpPr>
        <p:spPr>
          <a:xfrm>
            <a:off x="502920" y="1719072"/>
            <a:ext cx="6448882"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TEMPLATES YOU CAN REUSE TODAY</a:t>
            </a:r>
          </a:p>
        </p:txBody>
      </p:sp>
      <p:sp>
        <p:nvSpPr>
          <p:cNvPr id="16" name="vis:tk"/>
          <p:cNvSpPr/>
          <p:nvPr/>
        </p:nvSpPr>
        <p:spPr>
          <a:xfrm>
            <a:off x="502920" y="2121408"/>
            <a:ext cx="6448882" cy="755904"/>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badge"/>
          <p:cNvSpPr/>
          <p:nvPr/>
        </p:nvSpPr>
        <p:spPr>
          <a:xfrm>
            <a:off x="722376" y="2243328"/>
            <a:ext cx="512064" cy="512064"/>
          </a:xfrm>
          <a:prstGeom prst="roundRect">
            <a:avLst>
              <a:gd name="adj" fmla="val 178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icon"/>
          <p:cNvSpPr/>
          <p:nvPr/>
        </p:nvSpPr>
        <p:spPr>
          <a:xfrm>
            <a:off x="866573" y="2403501"/>
            <a:ext cx="223669" cy="149113"/>
          </a:xfrm>
          <a:prstGeom prst="roundRect">
            <a:avLst>
              <a:gd name="adj" fmla="val 30661"/>
            </a:avLst>
          </a:prstGeom>
          <a:noFill/>
          <a:ln w="1905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flipH="1">
            <a:off x="909176" y="2552614"/>
            <a:ext cx="10651" cy="5858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cxnSp>
        <p:nvCxnSpPr>
          <p:cNvPr id="20" name="vis:icon"/>
          <p:cNvCxnSpPr/>
          <p:nvPr/>
        </p:nvCxnSpPr>
        <p:spPr>
          <a:xfrm flipV="1">
            <a:off x="909176" y="2552614"/>
            <a:ext cx="58581" cy="5858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21" name="cell:tkname"/>
          <p:cNvSpPr txBox="1"/>
          <p:nvPr/>
        </p:nvSpPr>
        <p:spPr>
          <a:xfrm>
            <a:off x="1417320" y="2212848"/>
            <a:ext cx="5278450" cy="37795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The neutral chaser</a:t>
            </a:r>
          </a:p>
        </p:txBody>
      </p:sp>
      <p:sp>
        <p:nvSpPr>
          <p:cNvPr id="22" name="cell:tksub"/>
          <p:cNvSpPr txBox="1"/>
          <p:nvPr/>
        </p:nvSpPr>
        <p:spPr>
          <a:xfrm>
            <a:off x="1417320" y="2517648"/>
            <a:ext cx="5278450" cy="332597"/>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Dates, no blame, one small request at the end.</a:t>
            </a:r>
          </a:p>
        </p:txBody>
      </p:sp>
      <p:sp>
        <p:nvSpPr>
          <p:cNvPr id="23" name="vis:tk"/>
          <p:cNvSpPr/>
          <p:nvPr/>
        </p:nvSpPr>
        <p:spPr>
          <a:xfrm>
            <a:off x="502920" y="3023616"/>
            <a:ext cx="6448882" cy="755904"/>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badge"/>
          <p:cNvSpPr/>
          <p:nvPr/>
        </p:nvSpPr>
        <p:spPr>
          <a:xfrm>
            <a:off x="722376" y="3145536"/>
            <a:ext cx="512064" cy="512064"/>
          </a:xfrm>
          <a:prstGeom prst="roundRect">
            <a:avLst>
              <a:gd name="adj" fmla="val 178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icon"/>
          <p:cNvSpPr/>
          <p:nvPr/>
        </p:nvSpPr>
        <p:spPr>
          <a:xfrm>
            <a:off x="872126" y="3309328"/>
            <a:ext cx="212563" cy="198749"/>
          </a:xfrm>
          <a:custGeom>
            <a:avLst/>
            <a:gdLst/>
            <a:ahLst/>
            <a:cxnLst/>
            <a:rect l="l" t="t" r="r" b="b"/>
            <a:pathLst>
              <a:path w="212563" h="198749">
                <a:moveTo>
                  <a:pt x="159536" y="0"/>
                </a:moveTo>
                <a:lnTo>
                  <a:pt x="186359" y="22013"/>
                </a:lnTo>
                <a:lnTo>
                  <a:pt x="204683" y="51480"/>
                </a:lnTo>
                <a:lnTo>
                  <a:pt x="212563" y="85273"/>
                </a:lnTo>
                <a:lnTo>
                  <a:pt x="209162" y="119806"/>
                </a:lnTo>
                <a:lnTo>
                  <a:pt x="194841" y="151413"/>
                </a:lnTo>
                <a:lnTo>
                  <a:pt x="171120" y="176739"/>
                </a:lnTo>
                <a:lnTo>
                  <a:pt x="140518" y="193096"/>
                </a:lnTo>
                <a:lnTo>
                  <a:pt x="106282" y="198749"/>
                </a:lnTo>
                <a:lnTo>
                  <a:pt x="72045" y="193096"/>
                </a:lnTo>
                <a:lnTo>
                  <a:pt x="41443" y="176739"/>
                </a:lnTo>
                <a:lnTo>
                  <a:pt x="17722" y="151413"/>
                </a:lnTo>
                <a:lnTo>
                  <a:pt x="3401" y="119806"/>
                </a:lnTo>
                <a:lnTo>
                  <a:pt x="0" y="85273"/>
                </a:lnTo>
                <a:lnTo>
                  <a:pt x="7880" y="51480"/>
                </a:lnTo>
                <a:lnTo>
                  <a:pt x="26204" y="22013"/>
                </a:lnTo>
                <a:lnTo>
                  <a:pt x="53027" y="0"/>
                </a:lnTo>
              </a:path>
            </a:pathLst>
          </a:custGeom>
          <a:noFill/>
          <a:ln w="1905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vis:icon"/>
          <p:cNvSpPr/>
          <p:nvPr/>
        </p:nvSpPr>
        <p:spPr>
          <a:xfrm>
            <a:off x="913171" y="3288135"/>
            <a:ext cx="48994" cy="42071"/>
          </a:xfrm>
          <a:custGeom>
            <a:avLst/>
            <a:gdLst/>
            <a:ahLst/>
            <a:cxnLst/>
            <a:rect l="l" t="t" r="r" b="b"/>
            <a:pathLst>
              <a:path w="48994" h="42071">
                <a:moveTo>
                  <a:pt x="48994" y="0"/>
                </a:moveTo>
                <a:lnTo>
                  <a:pt x="23964" y="42071"/>
                </a:lnTo>
                <a:lnTo>
                  <a:pt x="0" y="533"/>
                </a:lnTo>
                <a:close/>
              </a:path>
            </a:pathLst>
          </a:cu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cell:tkname"/>
          <p:cNvSpPr txBox="1"/>
          <p:nvPr/>
        </p:nvSpPr>
        <p:spPr>
          <a:xfrm>
            <a:off x="1417320" y="3115056"/>
            <a:ext cx="5278450" cy="37795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The de-escalation rewrite</a:t>
            </a:r>
          </a:p>
        </p:txBody>
      </p:sp>
      <p:sp>
        <p:nvSpPr>
          <p:cNvPr id="28" name="cell:tksub"/>
          <p:cNvSpPr txBox="1"/>
          <p:nvPr/>
        </p:nvSpPr>
        <p:spPr>
          <a:xfrm>
            <a:off x="1417320" y="3419856"/>
            <a:ext cx="5278450" cy="332597"/>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Removes blame and adverbs, keeps the meaning.</a:t>
            </a:r>
          </a:p>
        </p:txBody>
      </p:sp>
      <p:sp>
        <p:nvSpPr>
          <p:cNvPr id="29" name="vis:tk"/>
          <p:cNvSpPr/>
          <p:nvPr/>
        </p:nvSpPr>
        <p:spPr>
          <a:xfrm>
            <a:off x="502920" y="3925823"/>
            <a:ext cx="6448882" cy="755904"/>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badge"/>
          <p:cNvSpPr/>
          <p:nvPr/>
        </p:nvSpPr>
        <p:spPr>
          <a:xfrm>
            <a:off x="722376" y="4047743"/>
            <a:ext cx="512064" cy="512064"/>
          </a:xfrm>
          <a:prstGeom prst="roundRect">
            <a:avLst>
              <a:gd name="adj" fmla="val 178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1" name="vis:icon"/>
          <p:cNvCxnSpPr/>
          <p:nvPr/>
        </p:nvCxnSpPr>
        <p:spPr>
          <a:xfrm>
            <a:off x="882549" y="4309101"/>
            <a:ext cx="69231" cy="69231"/>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cxnSp>
        <p:nvCxnSpPr>
          <p:cNvPr id="32" name="vis:icon"/>
          <p:cNvCxnSpPr/>
          <p:nvPr/>
        </p:nvCxnSpPr>
        <p:spPr>
          <a:xfrm flipV="1">
            <a:off x="951780" y="4229219"/>
            <a:ext cx="127811" cy="149113"/>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33" name="cell:tkname"/>
          <p:cNvSpPr txBox="1"/>
          <p:nvPr/>
        </p:nvSpPr>
        <p:spPr>
          <a:xfrm>
            <a:off x="1417320" y="4017263"/>
            <a:ext cx="5278450" cy="37795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The ten-second check</a:t>
            </a:r>
          </a:p>
        </p:txBody>
      </p:sp>
      <p:sp>
        <p:nvSpPr>
          <p:cNvPr id="34" name="cell:tksub"/>
          <p:cNvSpPr txBox="1"/>
          <p:nvPr/>
        </p:nvSpPr>
        <p:spPr>
          <a:xfrm>
            <a:off x="1417320" y="4322063"/>
            <a:ext cx="5278450" cy="332597"/>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Recipients, subject, one ask, forwardable.</a:t>
            </a:r>
          </a:p>
        </p:txBody>
      </p:sp>
      <p:sp>
        <p:nvSpPr>
          <p:cNvPr id="35" name="seclabel"/>
          <p:cNvSpPr txBox="1"/>
          <p:nvPr/>
        </p:nvSpPr>
        <p:spPr>
          <a:xfrm>
            <a:off x="8082076" y="1719072"/>
            <a:ext cx="3606698"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LINKS THAT WORK</a:t>
            </a:r>
          </a:p>
        </p:txBody>
      </p:sp>
      <p:sp>
        <p:nvSpPr>
          <p:cNvPr id="36" name="nav:link">
            <a:hlinkClick r:id="rId2"/>
          </p:cNvPr>
          <p:cNvSpPr/>
          <p:nvPr/>
        </p:nvSpPr>
        <p:spPr>
          <a:xfrm>
            <a:off x="8082076" y="2121408"/>
            <a:ext cx="3606698" cy="566928"/>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vis:icon"/>
          <p:cNvSpPr/>
          <p:nvPr/>
        </p:nvSpPr>
        <p:spPr>
          <a:xfrm>
            <a:off x="8339937" y="2300630"/>
            <a:ext cx="164592" cy="164592"/>
          </a:xfrm>
          <a:prstGeom prst="ellipse">
            <a:avLst/>
          </a:prstGeom>
          <a:noFill/>
          <a:ln w="1905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8" name="vis:icon"/>
          <p:cNvCxnSpPr/>
          <p:nvPr/>
        </p:nvCxnSpPr>
        <p:spPr>
          <a:xfrm>
            <a:off x="8482584" y="2443276"/>
            <a:ext cx="65836" cy="65837"/>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39" name="cell:linklabel"/>
          <p:cNvSpPr txBox="1"/>
          <p:nvPr/>
        </p:nvSpPr>
        <p:spPr>
          <a:xfrm>
            <a:off x="8703868" y="2203703"/>
            <a:ext cx="2747162" cy="21945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101826"/>
                </a:solidFill>
                <a:latin typeface="Segoe UI Semibold"/>
              </a:rPr>
              <a:t>Microsoft Copilot</a:t>
            </a:r>
          </a:p>
        </p:txBody>
      </p:sp>
      <p:sp>
        <p:nvSpPr>
          <p:cNvPr id="40" name="cell:linkurl"/>
          <p:cNvSpPr txBox="1"/>
          <p:nvPr/>
        </p:nvSpPr>
        <p:spPr>
          <a:xfrm>
            <a:off x="8703868" y="2423160"/>
            <a:ext cx="2747162"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a:rPr>
              <a:t>copilot.microsoft.com</a:t>
            </a:r>
          </a:p>
        </p:txBody>
      </p:sp>
      <p:sp>
        <p:nvSpPr>
          <p:cNvPr id="41" name="nav:link">
            <a:hlinkClick r:id="rId3"/>
          </p:cNvPr>
          <p:cNvSpPr/>
          <p:nvPr/>
        </p:nvSpPr>
        <p:spPr>
          <a:xfrm>
            <a:off x="8082076" y="2798063"/>
            <a:ext cx="3606698" cy="566928"/>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2" name="vis:icon"/>
          <p:cNvSpPr/>
          <p:nvPr/>
        </p:nvSpPr>
        <p:spPr>
          <a:xfrm>
            <a:off x="8339937" y="2977286"/>
            <a:ext cx="164592" cy="164592"/>
          </a:xfrm>
          <a:prstGeom prst="ellipse">
            <a:avLst/>
          </a:prstGeom>
          <a:noFill/>
          <a:ln w="1905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43" name="vis:icon"/>
          <p:cNvCxnSpPr/>
          <p:nvPr/>
        </p:nvCxnSpPr>
        <p:spPr>
          <a:xfrm>
            <a:off x="8482584" y="3119932"/>
            <a:ext cx="65836" cy="65837"/>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44" name="cell:linklabel"/>
          <p:cNvSpPr txBox="1"/>
          <p:nvPr/>
        </p:nvSpPr>
        <p:spPr>
          <a:xfrm>
            <a:off x="8703868" y="2880359"/>
            <a:ext cx="2747162" cy="21945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101826"/>
                </a:solidFill>
                <a:latin typeface="Segoe UI Semibold"/>
              </a:rPr>
              <a:t>ChatGPT</a:t>
            </a:r>
          </a:p>
        </p:txBody>
      </p:sp>
      <p:sp>
        <p:nvSpPr>
          <p:cNvPr id="45" name="cell:linkurl"/>
          <p:cNvSpPr txBox="1"/>
          <p:nvPr/>
        </p:nvSpPr>
        <p:spPr>
          <a:xfrm>
            <a:off x="8703868" y="3099815"/>
            <a:ext cx="2747162"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a:rPr>
              <a:t>chatgpt.com</a:t>
            </a:r>
          </a:p>
        </p:txBody>
      </p:sp>
      <p:sp>
        <p:nvSpPr>
          <p:cNvPr id="46" name="nav:link">
            <a:hlinkClick r:id="rId4"/>
          </p:cNvPr>
          <p:cNvSpPr/>
          <p:nvPr/>
        </p:nvSpPr>
        <p:spPr>
          <a:xfrm>
            <a:off x="8082076" y="3474720"/>
            <a:ext cx="3606698" cy="566928"/>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7" name="vis:icon"/>
          <p:cNvSpPr/>
          <p:nvPr/>
        </p:nvSpPr>
        <p:spPr>
          <a:xfrm>
            <a:off x="8339937" y="3653942"/>
            <a:ext cx="164592" cy="164592"/>
          </a:xfrm>
          <a:prstGeom prst="ellipse">
            <a:avLst/>
          </a:prstGeom>
          <a:noFill/>
          <a:ln w="1905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48" name="vis:icon"/>
          <p:cNvCxnSpPr/>
          <p:nvPr/>
        </p:nvCxnSpPr>
        <p:spPr>
          <a:xfrm>
            <a:off x="8482584" y="3796588"/>
            <a:ext cx="65836" cy="65837"/>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49" name="cell:linklabel"/>
          <p:cNvSpPr txBox="1"/>
          <p:nvPr/>
        </p:nvSpPr>
        <p:spPr>
          <a:xfrm>
            <a:off x="8703868" y="3557015"/>
            <a:ext cx="2747162" cy="21945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101826"/>
                </a:solidFill>
                <a:latin typeface="Segoe UI Semibold"/>
              </a:rPr>
              <a:t>Google Gemini</a:t>
            </a:r>
          </a:p>
        </p:txBody>
      </p:sp>
      <p:sp>
        <p:nvSpPr>
          <p:cNvPr id="50" name="cell:linkurl"/>
          <p:cNvSpPr txBox="1"/>
          <p:nvPr/>
        </p:nvSpPr>
        <p:spPr>
          <a:xfrm>
            <a:off x="8703868" y="3776472"/>
            <a:ext cx="2747162"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a:rPr>
              <a:t>gemini.google.com</a:t>
            </a:r>
          </a:p>
        </p:txBody>
      </p:sp>
      <p:sp>
        <p:nvSpPr>
          <p:cNvPr id="51" name="vis:next"/>
          <p:cNvSpPr/>
          <p:nvPr/>
        </p:nvSpPr>
        <p:spPr>
          <a:xfrm>
            <a:off x="8082076" y="4297680"/>
            <a:ext cx="3606698" cy="1719072"/>
          </a:xfrm>
          <a:prstGeom prst="roundRect">
            <a:avLst>
              <a:gd name="adj" fmla="val 4255"/>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2" name="seclabel"/>
          <p:cNvSpPr txBox="1"/>
          <p:nvPr/>
        </p:nvSpPr>
        <p:spPr>
          <a:xfrm>
            <a:off x="8338108" y="4480560"/>
            <a:ext cx="3094634"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AA8745"/>
                </a:solidFill>
                <a:latin typeface="Segoe UI Semibold"/>
              </a:rPr>
              <a:t>DO THIS NEXT</a:t>
            </a:r>
          </a:p>
        </p:txBody>
      </p:sp>
      <p:sp>
        <p:nvSpPr>
          <p:cNvPr id="53" name="cell:next"/>
          <p:cNvSpPr txBox="1"/>
          <p:nvPr/>
        </p:nvSpPr>
        <p:spPr>
          <a:xfrm>
            <a:off x="8338108" y="4809744"/>
            <a:ext cx="3094634" cy="987551"/>
          </a:xfrm>
          <a:prstGeom prst="rect">
            <a:avLst/>
          </a:prstGeom>
          <a:noFill/>
        </p:spPr>
        <p:txBody>
          <a:bodyPr wrap="square" lIns="0" rIns="0" tIns="0" bIns="0" anchor="t">
            <a:spAutoFit/>
          </a:bodyPr>
          <a:lstStyle/>
          <a:p>
            <a:pPr algn="l">
              <a:lnSpc>
                <a:spcPts val="1885"/>
              </a:lnSpc>
              <a:spcBef>
                <a:spcPts val="0"/>
              </a:spcBef>
              <a:spcAft>
                <a:spcPts val="0"/>
              </a:spcAft>
            </a:pPr>
            <a:r>
              <a:rPr sz="1450" b="0">
                <a:solidFill>
                  <a:srgbClr val="FFFFFF"/>
                </a:solidFill>
                <a:latin typeface="Segoe UI"/>
              </a:rPr>
              <a:t>Next module: PS-03, English &amp; Grammar for the Workplace. The handful of patterns that cause most misunderstandings at work.</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GLOSSARY</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Words people use around AI</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PS-02  ·  Professional Email Writing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vis:gloss"/>
          <p:cNvSpPr/>
          <p:nvPr/>
        </p:nvSpPr>
        <p:spPr>
          <a:xfrm>
            <a:off x="502920" y="1719072"/>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glossbar"/>
          <p:cNvSpPr/>
          <p:nvPr/>
        </p:nvSpPr>
        <p:spPr>
          <a:xfrm>
            <a:off x="502920" y="1719072"/>
            <a:ext cx="54864" cy="1078992"/>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cell:glossterm"/>
          <p:cNvSpPr txBox="1"/>
          <p:nvPr/>
        </p:nvSpPr>
        <p:spPr>
          <a:xfrm>
            <a:off x="740664" y="182880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Throat-clearing</a:t>
            </a:r>
          </a:p>
        </p:txBody>
      </p:sp>
      <p:sp>
        <p:nvSpPr>
          <p:cNvPr id="18" name="cell:glossdef"/>
          <p:cNvSpPr txBox="1"/>
          <p:nvPr/>
        </p:nvSpPr>
        <p:spPr>
          <a:xfrm>
            <a:off x="740664" y="2139696"/>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An opening sentence that carries no information. Usually safe to delete.</a:t>
            </a:r>
          </a:p>
        </p:txBody>
      </p:sp>
      <p:sp>
        <p:nvSpPr>
          <p:cNvPr id="19" name="vis:gloss"/>
          <p:cNvSpPr/>
          <p:nvPr/>
        </p:nvSpPr>
        <p:spPr>
          <a:xfrm>
            <a:off x="6178143" y="1719072"/>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glossbar"/>
          <p:cNvSpPr/>
          <p:nvPr/>
        </p:nvSpPr>
        <p:spPr>
          <a:xfrm>
            <a:off x="6178143" y="1719072"/>
            <a:ext cx="54864" cy="1078992"/>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cell:glossterm"/>
          <p:cNvSpPr txBox="1"/>
          <p:nvPr/>
        </p:nvSpPr>
        <p:spPr>
          <a:xfrm>
            <a:off x="6415887" y="182880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Tone</a:t>
            </a:r>
          </a:p>
        </p:txBody>
      </p:sp>
      <p:sp>
        <p:nvSpPr>
          <p:cNvPr id="22" name="cell:glossdef"/>
          <p:cNvSpPr txBox="1"/>
          <p:nvPr/>
        </p:nvSpPr>
        <p:spPr>
          <a:xfrm>
            <a:off x="6415887" y="2139696"/>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How a message reads, as distinct from what it says. Text reads sharper than speech.</a:t>
            </a:r>
          </a:p>
        </p:txBody>
      </p:sp>
      <p:sp>
        <p:nvSpPr>
          <p:cNvPr id="23" name="vis:gloss"/>
          <p:cNvSpPr/>
          <p:nvPr/>
        </p:nvSpPr>
        <p:spPr>
          <a:xfrm>
            <a:off x="502920" y="2962656"/>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glossbar"/>
          <p:cNvSpPr/>
          <p:nvPr/>
        </p:nvSpPr>
        <p:spPr>
          <a:xfrm>
            <a:off x="502920" y="2962656"/>
            <a:ext cx="54864" cy="1078992"/>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cell:glossterm"/>
          <p:cNvSpPr txBox="1"/>
          <p:nvPr/>
        </p:nvSpPr>
        <p:spPr>
          <a:xfrm>
            <a:off x="740664" y="3072384"/>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Escalation</a:t>
            </a:r>
          </a:p>
        </p:txBody>
      </p:sp>
      <p:sp>
        <p:nvSpPr>
          <p:cNvPr id="26" name="cell:glossdef"/>
          <p:cNvSpPr txBox="1"/>
          <p:nvPr/>
        </p:nvSpPr>
        <p:spPr>
          <a:xfrm>
            <a:off x="740664" y="3383280"/>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Involving somebody's manager. A real step, and rarely the second one.</a:t>
            </a:r>
          </a:p>
        </p:txBody>
      </p:sp>
      <p:sp>
        <p:nvSpPr>
          <p:cNvPr id="27" name="vis:gloss"/>
          <p:cNvSpPr/>
          <p:nvPr/>
        </p:nvSpPr>
        <p:spPr>
          <a:xfrm>
            <a:off x="6178143" y="2962656"/>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glossbar"/>
          <p:cNvSpPr/>
          <p:nvPr/>
        </p:nvSpPr>
        <p:spPr>
          <a:xfrm>
            <a:off x="6178143" y="2962656"/>
            <a:ext cx="54864" cy="1078992"/>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cell:glossterm"/>
          <p:cNvSpPr txBox="1"/>
          <p:nvPr/>
        </p:nvSpPr>
        <p:spPr>
          <a:xfrm>
            <a:off x="6415887" y="3072384"/>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Reply all</a:t>
            </a:r>
          </a:p>
        </p:txBody>
      </p:sp>
      <p:sp>
        <p:nvSpPr>
          <p:cNvPr id="30" name="cell:glossdef"/>
          <p:cNvSpPr txBox="1"/>
          <p:nvPr/>
        </p:nvSpPr>
        <p:spPr>
          <a:xfrm>
            <a:off x="6415887" y="3383280"/>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Sending to everyone on a thread. Appropriate only when all of them need it.</a:t>
            </a:r>
          </a:p>
        </p:txBody>
      </p:sp>
      <p:sp>
        <p:nvSpPr>
          <p:cNvPr id="31" name="vis:gloss"/>
          <p:cNvSpPr/>
          <p:nvPr/>
        </p:nvSpPr>
        <p:spPr>
          <a:xfrm>
            <a:off x="502920" y="4206240"/>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glossbar"/>
          <p:cNvSpPr/>
          <p:nvPr/>
        </p:nvSpPr>
        <p:spPr>
          <a:xfrm>
            <a:off x="502920" y="4206240"/>
            <a:ext cx="54864" cy="1078992"/>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cell:glossterm"/>
          <p:cNvSpPr txBox="1"/>
          <p:nvPr/>
        </p:nvSpPr>
        <p:spPr>
          <a:xfrm>
            <a:off x="740664" y="4315968"/>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Close</a:t>
            </a:r>
          </a:p>
        </p:txBody>
      </p:sp>
      <p:sp>
        <p:nvSpPr>
          <p:cNvPr id="34" name="cell:glossdef"/>
          <p:cNvSpPr txBox="1"/>
          <p:nvPr/>
        </p:nvSpPr>
        <p:spPr>
          <a:xfrm>
            <a:off x="740664" y="4626864"/>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The final line, where warmth belongs. It is read; the opening often is not.</a:t>
            </a:r>
          </a:p>
        </p:txBody>
      </p:sp>
      <p:sp>
        <p:nvSpPr>
          <p:cNvPr id="35" name="vis:gloss"/>
          <p:cNvSpPr/>
          <p:nvPr/>
        </p:nvSpPr>
        <p:spPr>
          <a:xfrm>
            <a:off x="6178143" y="4206240"/>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6" name="vis:glossbar"/>
          <p:cNvSpPr/>
          <p:nvPr/>
        </p:nvSpPr>
        <p:spPr>
          <a:xfrm>
            <a:off x="6178143" y="4206240"/>
            <a:ext cx="54864" cy="1078992"/>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cell:glossterm"/>
          <p:cNvSpPr txBox="1"/>
          <p:nvPr/>
        </p:nvSpPr>
        <p:spPr>
          <a:xfrm>
            <a:off x="6415887" y="4315968"/>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Ask</a:t>
            </a:r>
          </a:p>
        </p:txBody>
      </p:sp>
      <p:sp>
        <p:nvSpPr>
          <p:cNvPr id="38" name="cell:glossdef"/>
          <p:cNvSpPr txBox="1"/>
          <p:nvPr/>
        </p:nvSpPr>
        <p:spPr>
          <a:xfrm>
            <a:off x="6415887" y="4626864"/>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The one action you need, with a date attached.</a:t>
            </a:r>
          </a:p>
        </p:txBody>
      </p:sp>
      <p:sp>
        <p:nvSpPr>
          <p:cNvPr id="39" name="nav:glossback">
            <a:hlinkClick action="ppaction://hlinksldjump" r:id="rId2"/>
          </p:cNvPr>
          <p:cNvSpPr/>
          <p:nvPr/>
        </p:nvSpPr>
        <p:spPr>
          <a:xfrm>
            <a:off x="502920" y="5504688"/>
            <a:ext cx="2651760" cy="512064"/>
          </a:xfrm>
          <a:prstGeom prst="roundRect">
            <a:avLst>
              <a:gd name="adj" fmla="val 10714"/>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0" name="nav:glossbacktext"/>
          <p:cNvSpPr txBox="1"/>
          <p:nvPr/>
        </p:nvSpPr>
        <p:spPr>
          <a:xfrm>
            <a:off x="758952" y="5650992"/>
            <a:ext cx="2139696" cy="23774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Back to the menu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