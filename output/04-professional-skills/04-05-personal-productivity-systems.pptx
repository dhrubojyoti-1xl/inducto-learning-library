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8.xml"/><Relationship Id="rId8" Type="http://schemas.openxmlformats.org/officeDocument/2006/relationships/slide" Target="slide22.xml"/><Relationship Id="rId9" Type="http://schemas.openxmlformats.org/officeDocument/2006/relationships/slide" Target="slide23.xml"/><Relationship Id="rId10" Type="http://schemas.openxmlformats.org/officeDocument/2006/relationships/slide" Target="slide48.xml"/><Relationship Id="rId11" Type="http://schemas.openxmlformats.org/officeDocument/2006/relationships/slide" Target="slide4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7M6bIeVbCqA" TargetMode="Externa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4.xml"/><Relationship Id="rId4" Type="http://schemas.openxmlformats.org/officeDocument/2006/relationships/slide" Target="slide25.xml"/><Relationship Id="rId5" Type="http://schemas.openxmlformats.org/officeDocument/2006/relationships/slide" Target="slide26.xml"/><Relationship Id="rId6" Type="http://schemas.openxmlformats.org/officeDocument/2006/relationships/slide" Target="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9.xml"/><Relationship Id="rId4" Type="http://schemas.openxmlformats.org/officeDocument/2006/relationships/slide" Target="slide30.xml"/><Relationship Id="rId5" Type="http://schemas.openxmlformats.org/officeDocument/2006/relationships/slide" Target="slide31.xml"/><Relationship Id="rId6" Type="http://schemas.openxmlformats.org/officeDocument/2006/relationships/slide" Target="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4.xml"/><Relationship Id="rId4" Type="http://schemas.openxmlformats.org/officeDocument/2006/relationships/slide" Target="slide35.xml"/><Relationship Id="rId5" Type="http://schemas.openxmlformats.org/officeDocument/2006/relationships/slide" Target="slide36.xml"/><Relationship Id="rId6" Type="http://schemas.openxmlformats.org/officeDocument/2006/relationships/slide" Target="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9.xml"/><Relationship Id="rId4" Type="http://schemas.openxmlformats.org/officeDocument/2006/relationships/slide" Target="slide40.xml"/><Relationship Id="rId5" Type="http://schemas.openxmlformats.org/officeDocument/2006/relationships/slide" Target="slide41.xml"/><Relationship Id="rId6" Type="http://schemas.openxmlformats.org/officeDocument/2006/relationships/slide" Target="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block"/>
          <p:cNvSpPr/>
          <p:nvPr/>
        </p:nvSpPr>
        <p:spPr>
          <a:xfrm>
            <a:off x="7589520"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 name="vis:coverline"/>
          <p:cNvCxnSpPr/>
          <p:nvPr/>
        </p:nvCxnSpPr>
        <p:spPr>
          <a:xfrm flipV="1">
            <a:off x="8355787"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vis:coverblock"/>
          <p:cNvSpPr/>
          <p:nvPr/>
        </p:nvSpPr>
        <p:spPr>
          <a:xfrm>
            <a:off x="8626449" y="2838297"/>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7" name="vis:coverline"/>
          <p:cNvCxnSpPr/>
          <p:nvPr/>
        </p:nvCxnSpPr>
        <p:spPr>
          <a:xfrm>
            <a:off x="9392716" y="3152064"/>
            <a:ext cx="234087"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vis:coverblock"/>
          <p:cNvSpPr/>
          <p:nvPr/>
        </p:nvSpPr>
        <p:spPr>
          <a:xfrm>
            <a:off x="9663379"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coverline"/>
          <p:cNvCxnSpPr/>
          <p:nvPr/>
        </p:nvCxnSpPr>
        <p:spPr>
          <a:xfrm flipV="1">
            <a:off x="10429646"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vis:coverblock"/>
          <p:cNvSpPr/>
          <p:nvPr/>
        </p:nvSpPr>
        <p:spPr>
          <a:xfrm>
            <a:off x="10700308" y="2838297"/>
            <a:ext cx="729691" cy="627534"/>
          </a:xfrm>
          <a:prstGeom prst="roundRect">
            <a:avLst>
              <a:gd name="adj" fmla="val 14571"/>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seclabel"/>
          <p:cNvSpPr txBox="1"/>
          <p:nvPr/>
        </p:nvSpPr>
        <p:spPr>
          <a:xfrm>
            <a:off x="960120" y="1477263"/>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PROFESSIONAL SKILLS</a:t>
            </a:r>
          </a:p>
        </p:txBody>
      </p:sp>
      <p:sp>
        <p:nvSpPr>
          <p:cNvPr id="12" name="title:cover"/>
          <p:cNvSpPr txBox="1"/>
          <p:nvPr/>
        </p:nvSpPr>
        <p:spPr>
          <a:xfrm>
            <a:off x="960120" y="1934463"/>
            <a:ext cx="5501487" cy="78130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Productivity Systems</a:t>
            </a:r>
          </a:p>
        </p:txBody>
      </p:sp>
      <p:cxnSp>
        <p:nvCxnSpPr>
          <p:cNvPr id="13" name="vis:rule"/>
          <p:cNvCxnSpPr/>
          <p:nvPr/>
        </p:nvCxnSpPr>
        <p:spPr>
          <a:xfrm>
            <a:off x="960120" y="299008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4" name="body:coversub"/>
          <p:cNvSpPr txBox="1"/>
          <p:nvPr/>
        </p:nvSpPr>
        <p:spPr>
          <a:xfrm>
            <a:off x="960120" y="3264408"/>
            <a:ext cx="5501487" cy="78130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A system simple enough that you will still be using it in March.</a:t>
            </a:r>
          </a:p>
        </p:txBody>
      </p:sp>
      <p:sp>
        <p:nvSpPr>
          <p:cNvPr id="15" name="vis:chip"/>
          <p:cNvSpPr/>
          <p:nvPr/>
        </p:nvSpPr>
        <p:spPr>
          <a:xfrm>
            <a:off x="960120" y="4448048"/>
            <a:ext cx="961009" cy="310896"/>
          </a:xfrm>
          <a:prstGeom prst="roundRect">
            <a:avLst>
              <a:gd name="adj" fmla="val 14705"/>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1115568" y="4493768"/>
            <a:ext cx="65011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PS-05</a:t>
            </a:r>
          </a:p>
        </p:txBody>
      </p:sp>
      <p:sp>
        <p:nvSpPr>
          <p:cNvPr id="17" name="vis:chip"/>
          <p:cNvSpPr/>
          <p:nvPr/>
        </p:nvSpPr>
        <p:spPr>
          <a:xfrm>
            <a:off x="2067433" y="4448048"/>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2222881" y="4493768"/>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16 MINUTES</a:t>
            </a:r>
          </a:p>
        </p:txBody>
      </p:sp>
      <p:sp>
        <p:nvSpPr>
          <p:cNvPr id="19" name="vis:chip"/>
          <p:cNvSpPr/>
          <p:nvPr/>
        </p:nvSpPr>
        <p:spPr>
          <a:xfrm>
            <a:off x="3670045" y="444804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3825493" y="449376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21"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2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PS-05  ·  Productivity Systems</a:t>
            </a:r>
          </a:p>
        </p:txBody>
      </p:sp>
      <p:sp>
        <p:nvSpPr>
          <p:cNvPr id="2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Latika's fourth system this year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17049" y="2252257"/>
            <a:ext cx="288477" cy="269731"/>
          </a:xfrm>
          <a:custGeom>
            <a:avLst/>
            <a:gdLst/>
            <a:ahLst/>
            <a:cxnLst/>
            <a:rect l="l" t="t" r="r" b="b"/>
            <a:pathLst>
              <a:path w="288477" h="269731">
                <a:moveTo>
                  <a:pt x="216513" y="0"/>
                </a:moveTo>
                <a:lnTo>
                  <a:pt x="252916" y="29875"/>
                </a:lnTo>
                <a:lnTo>
                  <a:pt x="277784" y="69866"/>
                </a:lnTo>
                <a:lnTo>
                  <a:pt x="288477" y="115729"/>
                </a:lnTo>
                <a:lnTo>
                  <a:pt x="283861" y="162594"/>
                </a:lnTo>
                <a:lnTo>
                  <a:pt x="264426" y="205489"/>
                </a:lnTo>
                <a:lnTo>
                  <a:pt x="232234" y="239860"/>
                </a:lnTo>
                <a:lnTo>
                  <a:pt x="190702" y="262060"/>
                </a:lnTo>
                <a:lnTo>
                  <a:pt x="144239" y="269731"/>
                </a:lnTo>
                <a:lnTo>
                  <a:pt x="97775" y="262060"/>
                </a:lnTo>
                <a:lnTo>
                  <a:pt x="56243" y="239860"/>
                </a:lnTo>
                <a:lnTo>
                  <a:pt x="24051" y="205489"/>
                </a:lnTo>
                <a:lnTo>
                  <a:pt x="4616" y="162594"/>
                </a:lnTo>
                <a:lnTo>
                  <a:pt x="0" y="115729"/>
                </a:lnTo>
                <a:lnTo>
                  <a:pt x="10693" y="69866"/>
                </a:lnTo>
                <a:lnTo>
                  <a:pt x="35561" y="29875"/>
                </a:lnTo>
                <a:lnTo>
                  <a:pt x="71964" y="0"/>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vis:icon"/>
          <p:cNvSpPr/>
          <p:nvPr/>
        </p:nvSpPr>
        <p:spPr>
          <a:xfrm>
            <a:off x="1072752" y="2223496"/>
            <a:ext cx="66492" cy="57096"/>
          </a:xfrm>
          <a:custGeom>
            <a:avLst/>
            <a:gdLst/>
            <a:ahLst/>
            <a:cxnLst/>
            <a:rect l="l" t="t" r="r" b="b"/>
            <a:pathLst>
              <a:path w="66492" h="57096">
                <a:moveTo>
                  <a:pt x="66492" y="0"/>
                </a:moveTo>
                <a:lnTo>
                  <a:pt x="32523" y="57096"/>
                </a:lnTo>
                <a:lnTo>
                  <a:pt x="0" y="722"/>
                </a:lnTo>
                <a:close/>
              </a:path>
            </a:pathLst>
          </a:cu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Latika manages purchasing in Jaipur. In January she started a new app. In March she moved to a notebook. In June she tried colour-coded folders. Each lasted about three weeks, and things still slip through.</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Four fresh starts, and the same forgotten commitments.</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One place, one daily review, and a rule for what goes where.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3938" y="1966611"/>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07639" y="1987247"/>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33938" y="2055051"/>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07639" y="2075688"/>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33938" y="2143492"/>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07639" y="2164128"/>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3"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Keep one place for commitments instead of six</a:t>
            </a:r>
          </a:p>
        </p:txBody>
      </p:sp>
      <p:sp>
        <p:nvSpPr>
          <p:cNvPr id="24"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930990" y="2842086"/>
            <a:ext cx="259426" cy="25942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flipV="1">
            <a:off x="1060704" y="2895151"/>
            <a:ext cx="0" cy="7664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a:off x="1060704" y="2971800"/>
            <a:ext cx="64856" cy="2358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9"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Run a two-minute daily review you will actually do</a:t>
            </a:r>
          </a:p>
        </p:txBody>
      </p:sp>
      <p:sp>
        <p:nvSpPr>
          <p:cNvPr id="30"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954575" y="3873808"/>
            <a:ext cx="76648" cy="76648"/>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1031223" y="3785367"/>
            <a:ext cx="141505" cy="16508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Capture a commitment in under ten seconds</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925094" y="4657895"/>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vis:icon"/>
          <p:cNvSpPr/>
          <p:nvPr/>
        </p:nvSpPr>
        <p:spPr>
          <a:xfrm>
            <a:off x="1019431" y="4722751"/>
            <a:ext cx="82544" cy="8254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Recognise why your last system stopped working</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943035" y="5558013"/>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vis:icon"/>
          <p:cNvSpPr/>
          <p:nvPr/>
        </p:nvSpPr>
        <p:spPr>
          <a:xfrm>
            <a:off x="988477" y="5534550"/>
            <a:ext cx="54244" cy="46578"/>
          </a:xfrm>
          <a:custGeom>
            <a:avLst/>
            <a:gdLst/>
            <a:ahLst/>
            <a:cxnLst/>
            <a:rect l="l" t="t" r="r" b="b"/>
            <a:pathLst>
              <a:path w="54244" h="46578">
                <a:moveTo>
                  <a:pt x="54244" y="0"/>
                </a:moveTo>
                <a:lnTo>
                  <a:pt x="26532" y="46578"/>
                </a:lnTo>
                <a:lnTo>
                  <a:pt x="0" y="589"/>
                </a:lnTo>
                <a:close/>
              </a:path>
            </a:pathLst>
          </a:cu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Recover from a week where you abandoned it entirely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Why systems fail</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Complexity, not discipline</a:t>
            </a:r>
          </a:p>
        </p:txBody>
      </p:sp>
      <p:cxnSp>
        <p:nvCxnSpPr>
          <p:cNvPr id="13" name="vis:menuarrow"/>
          <p:cNvCxnSpPr/>
          <p:nvPr/>
        </p:nvCxnSpPr>
        <p:spPr>
          <a:xfrm>
            <a:off x="11213287" y="1997049"/>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One place for everything</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capture rule</a:t>
            </a:r>
          </a:p>
        </p:txBody>
      </p:sp>
      <p:cxnSp>
        <p:nvCxnSpPr>
          <p:cNvPr id="19" name="vis:menuarrow"/>
          <p:cNvCxnSpPr/>
          <p:nvPr/>
        </p:nvCxnSpPr>
        <p:spPr>
          <a:xfrm>
            <a:off x="11213287" y="242498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two-minute review</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Daily, not weekly</a:t>
            </a:r>
          </a:p>
        </p:txBody>
      </p:sp>
      <p:cxnSp>
        <p:nvCxnSpPr>
          <p:cNvPr id="25" name="vis:menuarrow"/>
          <p:cNvCxnSpPr/>
          <p:nvPr/>
        </p:nvCxnSpPr>
        <p:spPr>
          <a:xfrm>
            <a:off x="11213287" y="285292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When it collapses</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Restarting without guilt</a:t>
            </a:r>
          </a:p>
        </p:txBody>
      </p:sp>
      <p:cxnSp>
        <p:nvCxnSpPr>
          <p:cNvPr id="31" name="vis:menuarrow"/>
          <p:cNvCxnSpPr/>
          <p:nvPr/>
        </p:nvCxnSpPr>
        <p:spPr>
          <a:xfrm>
            <a:off x="11213287" y="3280867"/>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Set up the minimum</a:t>
            </a:r>
          </a:p>
        </p:txBody>
      </p:sp>
      <p:cxnSp>
        <p:nvCxnSpPr>
          <p:cNvPr id="37" name="vis:menuarrow"/>
          <p:cNvCxnSpPr/>
          <p:nvPr/>
        </p:nvCxnSpPr>
        <p:spPr>
          <a:xfrm>
            <a:off x="11213287" y="3708806"/>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Thursday morning decision</a:t>
            </a:r>
          </a:p>
        </p:txBody>
      </p:sp>
      <p:cxnSp>
        <p:nvCxnSpPr>
          <p:cNvPr id="43" name="vis:menuarrow"/>
          <p:cNvCxnSpPr/>
          <p:nvPr/>
        </p:nvCxnSpPr>
        <p:spPr>
          <a:xfrm>
            <a:off x="11213287" y="4136745"/>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7-minute outside walkthrough</a:t>
            </a:r>
          </a:p>
        </p:txBody>
      </p:sp>
      <p:cxnSp>
        <p:nvCxnSpPr>
          <p:cNvPr id="49" name="vis:menuarrow"/>
          <p:cNvCxnSpPr/>
          <p:nvPr/>
        </p:nvCxnSpPr>
        <p:spPr>
          <a:xfrm>
            <a:off x="11213287" y="456468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SYSTEMS FAIL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Complexity, not discipline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People blame themselves for abandoning a system. Usually the system was asking for more than any working week allows.</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2088421"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177752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SYSTEMS THAT FAIL</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Too much structure</a:t>
            </a:r>
          </a:p>
        </p:txBody>
      </p:sp>
      <p:cxnSp>
        <p:nvCxnSpPr>
          <p:cNvPr id="21" name="vis:icon"/>
          <p:cNvCxnSpPr/>
          <p:nvPr/>
        </p:nvCxnSpPr>
        <p:spPr>
          <a:xfrm>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2" name="vis:icon"/>
          <p:cNvCxnSpPr/>
          <p:nvPr/>
        </p:nvCxnSpPr>
        <p:spPr>
          <a:xfrm flipH="1">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Projects, contexts, energy levels and tags</a:t>
            </a:r>
          </a:p>
        </p:txBody>
      </p:sp>
      <p:cxnSp>
        <p:nvCxnSpPr>
          <p:cNvPr id="24" name="vis:icon"/>
          <p:cNvCxnSpPr/>
          <p:nvPr/>
        </p:nvCxnSpPr>
        <p:spPr>
          <a:xfrm>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H="1">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weekly review that takes ninety minutes</a:t>
            </a:r>
          </a:p>
        </p:txBody>
      </p:sp>
      <p:cxnSp>
        <p:nvCxnSpPr>
          <p:cNvPr id="27" name="vis:icon"/>
          <p:cNvCxnSpPr/>
          <p:nvPr/>
        </p:nvCxnSpPr>
        <p:spPr>
          <a:xfrm>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H="1">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9"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Three apps that need to stay in sync</a:t>
            </a:r>
          </a:p>
        </p:txBody>
      </p:sp>
      <p:cxnSp>
        <p:nvCxnSpPr>
          <p:cNvPr id="30" name="vis:icon"/>
          <p:cNvCxnSpPr/>
          <p:nvPr/>
        </p:nvCxnSpPr>
        <p:spPr>
          <a:xfrm>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H="1">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Perfect for two weeks, abandoned in the third</a:t>
            </a:r>
          </a:p>
        </p:txBody>
      </p:sp>
      <p:sp>
        <p:nvSpPr>
          <p:cNvPr id="33"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706624"/>
            <a:ext cx="68580" cy="331012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944368"/>
            <a:ext cx="213307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971799"/>
            <a:ext cx="182217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SYSTEMS THAT LAST</a:t>
            </a:r>
          </a:p>
        </p:txBody>
      </p:sp>
      <p:sp>
        <p:nvSpPr>
          <p:cNvPr id="37"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Almost no structure</a:t>
            </a:r>
          </a:p>
        </p:txBody>
      </p:sp>
      <p:cxnSp>
        <p:nvCxnSpPr>
          <p:cNvPr id="38" name="vis:icon"/>
          <p:cNvCxnSpPr/>
          <p:nvPr/>
        </p:nvCxnSpPr>
        <p:spPr>
          <a:xfrm>
            <a:off x="6560362" y="414131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6607911" y="408645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One list, one file, one place</a:t>
            </a:r>
          </a:p>
        </p:txBody>
      </p:sp>
      <p:cxnSp>
        <p:nvCxnSpPr>
          <p:cNvPr id="41" name="vis:icon"/>
          <p:cNvCxnSpPr/>
          <p:nvPr/>
        </p:nvCxnSpPr>
        <p:spPr>
          <a:xfrm>
            <a:off x="6560362" y="458937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V="1">
            <a:off x="6607911" y="453450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review that takes two minutes</a:t>
            </a:r>
          </a:p>
        </p:txBody>
      </p:sp>
      <p:cxnSp>
        <p:nvCxnSpPr>
          <p:cNvPr id="44" name="vis:icon"/>
          <p:cNvCxnSpPr/>
          <p:nvPr/>
        </p:nvCxnSpPr>
        <p:spPr>
          <a:xfrm>
            <a:off x="6560362" y="503742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V="1">
            <a:off x="6607911" y="498256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Works on paper if the laptop dies</a:t>
            </a:r>
          </a:p>
        </p:txBody>
      </p:sp>
      <p:cxnSp>
        <p:nvCxnSpPr>
          <p:cNvPr id="47" name="vis:icon"/>
          <p:cNvCxnSpPr/>
          <p:nvPr/>
        </p:nvCxnSpPr>
        <p:spPr>
          <a:xfrm>
            <a:off x="6560362" y="548548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V="1">
            <a:off x="6607911" y="543062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Survives a bad week without collapsing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SYSTEMS FAIL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third-week test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Week one</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Everything is captured. It feels excellent.</a:t>
            </a:r>
          </a:p>
        </p:txBody>
      </p:sp>
      <p:cxnSp>
        <p:nvCxnSpPr>
          <p:cNvPr id="20" name="vis:flowarrow"/>
          <p:cNvCxnSpPr/>
          <p:nvPr/>
        </p:nvCxnSpPr>
        <p:spPr>
          <a:xfrm>
            <a:off x="3093643"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Week two</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Still going, with a little effort.</a:t>
            </a:r>
          </a:p>
        </p:txBody>
      </p:sp>
      <p:cxnSp>
        <p:nvCxnSpPr>
          <p:cNvPr id="26" name="vis:flowarrow"/>
          <p:cNvCxnSpPr/>
          <p:nvPr/>
        </p:nvCxnSpPr>
        <p:spPr>
          <a:xfrm>
            <a:off x="5986119"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Week three</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 crisis arrives. The system is skipped.</a:t>
            </a:r>
          </a:p>
        </p:txBody>
      </p:sp>
      <p:cxnSp>
        <p:nvCxnSpPr>
          <p:cNvPr id="32" name="vis:flowarrow"/>
          <p:cNvCxnSpPr/>
          <p:nvPr/>
        </p:nvCxnSpPr>
        <p:spPr>
          <a:xfrm>
            <a:off x="8878595"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Week four</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It is now out of date, so it is abandoned.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ONE PLACE FOR EVERYTHING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One place, always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10312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65633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281525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276313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24942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 LIST — every commitment you make, wherever you made it</a:t>
            </a:r>
          </a:p>
        </p:txBody>
      </p:sp>
      <p:sp>
        <p:nvSpPr>
          <p:cNvPr id="20" name="vis:checktile"/>
          <p:cNvSpPr/>
          <p:nvPr/>
        </p:nvSpPr>
        <p:spPr>
          <a:xfrm>
            <a:off x="6205575" y="210312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65633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281525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276313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24942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TEN SECONDS — if capturing takes longer, you will stop</a:t>
            </a:r>
          </a:p>
        </p:txBody>
      </p:sp>
      <p:sp>
        <p:nvSpPr>
          <p:cNvPr id="25" name="vis:checktile"/>
          <p:cNvSpPr/>
          <p:nvPr/>
        </p:nvSpPr>
        <p:spPr>
          <a:xfrm>
            <a:off x="502920" y="373989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293108"/>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45203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39990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388620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SORTING AT CAPTURE — write it down, sort it later</a:t>
            </a:r>
          </a:p>
        </p:txBody>
      </p:sp>
      <p:sp>
        <p:nvSpPr>
          <p:cNvPr id="30" name="vis:checktile"/>
          <p:cNvSpPr/>
          <p:nvPr/>
        </p:nvSpPr>
        <p:spPr>
          <a:xfrm>
            <a:off x="6205575" y="373989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293108"/>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45203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39990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388620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ALWAYS WITH YOU — phone or notebook, not the desktop</a:t>
            </a:r>
          </a:p>
        </p:txBody>
      </p:sp>
      <p:sp>
        <p:nvSpPr>
          <p:cNvPr id="35"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36" name="vis:chip"/>
          <p:cNvSpPr/>
          <p:nvPr/>
        </p:nvSpPr>
        <p:spPr>
          <a:xfrm>
            <a:off x="2221991" y="5660136"/>
            <a:ext cx="1415034"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chiptext"/>
          <p:cNvSpPr txBox="1"/>
          <p:nvPr/>
        </p:nvSpPr>
        <p:spPr>
          <a:xfrm>
            <a:off x="2377439" y="5687568"/>
            <a:ext cx="11041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CAPTURE  ?</a:t>
            </a:r>
          </a:p>
        </p:txBody>
      </p:sp>
      <p:sp>
        <p:nvSpPr>
          <p:cNvPr id="38" name="nav:gloss">
            <a:hlinkClick action="ppaction://hlinksldjump" r:id="rId3"/>
          </p:cNvPr>
          <p:cNvSpPr/>
          <p:nvPr/>
        </p:nvSpPr>
        <p:spPr>
          <a:xfrm>
            <a:off x="2221991" y="5660136"/>
            <a:ext cx="1415034"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ONE PLACE FOR EVERYTHING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commitments actually arrive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62636" y="2217617"/>
            <a:ext cx="287575" cy="191716"/>
          </a:xfrm>
          <a:prstGeom prst="roundRect">
            <a:avLst>
              <a:gd name="adj" fmla="val 23847"/>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1017412" y="2409334"/>
            <a:ext cx="13694" cy="7531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1017412" y="2409334"/>
            <a:ext cx="75317" cy="7531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In corridors</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"Can you look at that by Friday?" Half of all commitments are made standing up.</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61435" y="2193652"/>
            <a:ext cx="130093" cy="130093"/>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In meetings</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Agreed verbally, minuted vaguely, remembered differently by everyone present.</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595906" y="2238158"/>
            <a:ext cx="301269" cy="205410"/>
          </a:xfrm>
          <a:prstGeom prst="roundRect">
            <a:avLst>
              <a:gd name="adj" fmla="val 22257"/>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8595906" y="2251852"/>
            <a:ext cx="150634" cy="109553"/>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8746540" y="2251852"/>
            <a:ext cx="150635" cy="109553"/>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3"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In messages</a:t>
            </a:r>
          </a:p>
        </p:txBody>
      </p:sp>
      <p:sp>
        <p:nvSpPr>
          <p:cNvPr id="34"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Buried in a thread you will not find again in three days.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TWO-MINUTE REVIEW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Two minutes, daily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 weekly review is a good idea that most people never do twice. A daily one takes two minutes and survives.</a:t>
            </a:r>
          </a:p>
        </p:txBody>
      </p:sp>
      <p:sp>
        <p:nvSpPr>
          <p:cNvPr id="16" name="vis:promptcard"/>
          <p:cNvSpPr/>
          <p:nvPr/>
        </p:nvSpPr>
        <p:spPr>
          <a:xfrm>
            <a:off x="502920" y="2706624"/>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779776"/>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88292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9109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these four questions</a:t>
            </a:r>
          </a:p>
        </p:txBody>
      </p:sp>
      <p:sp>
        <p:nvSpPr>
          <p:cNvPr id="28" name="card:prompt"/>
          <p:cNvSpPr txBox="1"/>
          <p:nvPr/>
        </p:nvSpPr>
        <p:spPr>
          <a:xfrm>
            <a:off x="777240" y="3255264"/>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1. What did I commit to today that is not written down?  2. What is overdue that I have quietly stopped looking at?  3. What is the one thing that must move tomorrow?  4. What can I strike off entirely?</a:t>
            </a:r>
          </a:p>
        </p:txBody>
      </p:sp>
      <p:sp>
        <p:nvSpPr>
          <p:cNvPr id="29" name="vis:promptcap"/>
          <p:cNvSpPr txBox="1"/>
          <p:nvPr/>
        </p:nvSpPr>
        <p:spPr>
          <a:xfrm>
            <a:off x="777240" y="4380992"/>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Ask these at the same point every day. The end of the day works best.</a:t>
            </a:r>
          </a:p>
        </p:txBody>
      </p:sp>
      <p:sp>
        <p:nvSpPr>
          <p:cNvPr id="30" name="seclabel"/>
          <p:cNvSpPr txBox="1"/>
          <p:nvPr/>
        </p:nvSpPr>
        <p:spPr>
          <a:xfrm>
            <a:off x="7803910" y="276148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1" name="vis:icon"/>
          <p:cNvCxnSpPr/>
          <p:nvPr/>
        </p:nvCxnSpPr>
        <p:spPr>
          <a:xfrm>
            <a:off x="7850361" y="330500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3244656"/>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314553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Question one catches corridor commitments before they vanish.</a:t>
            </a:r>
          </a:p>
        </p:txBody>
      </p:sp>
      <p:cxnSp>
        <p:nvCxnSpPr>
          <p:cNvPr id="34" name="vis:icon"/>
          <p:cNvCxnSpPr/>
          <p:nvPr/>
        </p:nvCxnSpPr>
        <p:spPr>
          <a:xfrm>
            <a:off x="7850361" y="423769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417734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407822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Question two is the one people avoid, and the most useful.</a:t>
            </a:r>
          </a:p>
        </p:txBody>
      </p:sp>
      <p:cxnSp>
        <p:nvCxnSpPr>
          <p:cNvPr id="37" name="vis:icon"/>
          <p:cNvCxnSpPr/>
          <p:nvPr/>
        </p:nvCxnSpPr>
        <p:spPr>
          <a:xfrm>
            <a:off x="7850361" y="517038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511003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501091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Question four is why the list does not grow forever.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TWO-MINUTE REVIEW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Daily beats weekly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1521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8412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THE WEEKLY REVIEW</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Ninety minutes, scheduled for Friday afternoon.</a:t>
            </a:r>
          </a:p>
          <a:p>
            <a:pPr algn="l">
              <a:lnSpc>
                <a:spcPts val="1690"/>
              </a:lnSpc>
              <a:spcBef>
                <a:spcPts val="0"/>
              </a:spcBef>
              <a:spcAft>
                <a:spcPts val="600"/>
              </a:spcAft>
            </a:pPr>
            <a:r>
              <a:rPr sz="1300" b="0">
                <a:solidFill>
                  <a:srgbClr val="2A3547"/>
                </a:solidFill>
                <a:latin typeface="Segoe UI"/>
              </a:rPr>
              <a:t>Skipped whenever Friday is busy, which is most Fridays.</a:t>
            </a:r>
          </a:p>
          <a:p>
            <a:pPr algn="l">
              <a:lnSpc>
                <a:spcPts val="1690"/>
              </a:lnSpc>
              <a:spcBef>
                <a:spcPts val="0"/>
              </a:spcBef>
              <a:spcAft>
                <a:spcPts val="600"/>
              </a:spcAft>
            </a:pPr>
            <a:r>
              <a:rPr sz="1300" b="0">
                <a:solidFill>
                  <a:srgbClr val="2A3547"/>
                </a:solidFill>
                <a:latin typeface="Segoe UI"/>
              </a:rPr>
              <a:t>After two skips the list is stale and gets abandoned.</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550265"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223936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THE DAILY TWO MINUTES</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Four questions, at the end of the day, every day.</a:t>
            </a:r>
          </a:p>
          <a:p>
            <a:pPr algn="l">
              <a:lnSpc>
                <a:spcPts val="1690"/>
              </a:lnSpc>
              <a:spcBef>
                <a:spcPts val="0"/>
              </a:spcBef>
              <a:spcAft>
                <a:spcPts val="600"/>
              </a:spcAft>
            </a:pPr>
            <a:r>
              <a:rPr sz="1300" b="0">
                <a:solidFill>
                  <a:srgbClr val="2A3547"/>
                </a:solidFill>
                <a:latin typeface="Segoe UI"/>
              </a:rPr>
              <a:t>Skipping one day costs nothing at all.</a:t>
            </a:r>
          </a:p>
          <a:p>
            <a:pPr algn="l">
              <a:lnSpc>
                <a:spcPts val="1690"/>
              </a:lnSpc>
              <a:spcBef>
                <a:spcPts val="0"/>
              </a:spcBef>
              <a:spcAft>
                <a:spcPts val="600"/>
              </a:spcAft>
            </a:pPr>
            <a:r>
              <a:rPr sz="1300" b="0">
                <a:solidFill>
                  <a:srgbClr val="2A3547"/>
                </a:solidFill>
                <a:latin typeface="Segoe UI"/>
              </a:rPr>
              <a:t>The list is never more than a day out of date.</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 system's real quality is how well it survives the week you ignore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WHEN IT COLLAPSES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Restarting without guilt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epnum"/>
          <p:cNvSpPr/>
          <p:nvPr/>
        </p:nvSpPr>
        <p:spPr>
          <a:xfrm>
            <a:off x="502920" y="2027681"/>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Do not read the old list. It is stale and it will depress you.</a:t>
            </a:r>
          </a:p>
        </p:txBody>
      </p:sp>
      <p:sp>
        <p:nvSpPr>
          <p:cNvPr id="19" name="vis:stepnum"/>
          <p:cNvSpPr/>
          <p:nvPr/>
        </p:nvSpPr>
        <p:spPr>
          <a:xfrm>
            <a:off x="502920" y="3138677"/>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down everything on your mind right now, in five minutes.</a:t>
            </a:r>
          </a:p>
        </p:txBody>
      </p:sp>
      <p:sp>
        <p:nvSpPr>
          <p:cNvPr id="23" name="vis:stepnum"/>
          <p:cNvSpPr/>
          <p:nvPr/>
        </p:nvSpPr>
        <p:spPr>
          <a:xfrm>
            <a:off x="502920" y="4249674"/>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Then skim the old list and move across only what is still live.</a:t>
            </a:r>
          </a:p>
        </p:txBody>
      </p:sp>
      <p:sp>
        <p:nvSpPr>
          <p:cNvPr id="27" name="vis:stepnum"/>
          <p:cNvSpPr/>
          <p:nvPr/>
        </p:nvSpPr>
        <p:spPr>
          <a:xfrm>
            <a:off x="502920" y="5360670"/>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Delete the rest. Nothing bad has ever come of this.</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Here is a long, messy list of things I have committed to. Sort it into: OVERDUE, THIS WEEK, NOT NOW. Put each item in exactly one group. Then tell me the three I should do first. No commentary.</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Use this when the list has become a source of guilt rather than a tool.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WHEN IT COLLAPSES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list is not the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Time spent organising the list is not time spent doing the work.</a:t>
            </a:r>
          </a:p>
          <a:p>
            <a:pPr algn="l">
              <a:lnSpc>
                <a:spcPts val="1755"/>
              </a:lnSpc>
              <a:spcBef>
                <a:spcPts val="0"/>
              </a:spcBef>
              <a:spcAft>
                <a:spcPts val="0"/>
              </a:spcAft>
            </a:pPr>
            <a:r>
              <a:rPr sz="1350" b="0">
                <a:solidFill>
                  <a:srgbClr val="FFFFFF"/>
                </a:solidFill>
                <a:latin typeface="Segoe UI"/>
              </a:rPr>
              <a:t>Tidying a system is the most convincing form of procrastination there is.</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Two minutes a day is the budget.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New app is almost never the answer.</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If it is tidy and nothing moved, that is a bad 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set the minimum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epnum"/>
          <p:cNvSpPr/>
          <p:nvPr/>
        </p:nvSpPr>
        <p:spPr>
          <a:xfrm>
            <a:off x="502920" y="2027681"/>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Pick one place. A note on your phone is genuinely fine.</a:t>
            </a:r>
          </a:p>
        </p:txBody>
      </p:sp>
      <p:sp>
        <p:nvSpPr>
          <p:cNvPr id="19" name="vis:stepnum"/>
          <p:cNvSpPr/>
          <p:nvPr/>
        </p:nvSpPr>
        <p:spPr>
          <a:xfrm>
            <a:off x="502920" y="3138677"/>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down every commitment you can remember making.</a:t>
            </a:r>
          </a:p>
        </p:txBody>
      </p:sp>
      <p:sp>
        <p:nvSpPr>
          <p:cNvPr id="23" name="vis:stepnum"/>
          <p:cNvSpPr/>
          <p:nvPr/>
        </p:nvSpPr>
        <p:spPr>
          <a:xfrm>
            <a:off x="502920" y="4249674"/>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Set a daily reminder for the four review questions.</a:t>
            </a:r>
          </a:p>
        </p:txBody>
      </p:sp>
      <p:sp>
        <p:nvSpPr>
          <p:cNvPr id="27" name="vis:stepnum"/>
          <p:cNvSpPr/>
          <p:nvPr/>
        </p:nvSpPr>
        <p:spPr>
          <a:xfrm>
            <a:off x="502920" y="5360670"/>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Do it tomorrow, even if you write nothing new down.</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Ask me the four review questions one at a time, wait for my answer to each, and at the end give me back a short list of what I said. Do not add advice, do not add tasks I did not mention, and do not ask about anything else.</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Useful on the days you cannot face the list alone.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goes where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Does this have a fixed time attached to it?</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list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Everything else. Tasks, commitments, things to chase, things to read. One list, sorted by consequence rather than by date.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Calendar</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Meetings, deadlines, protected blocks and anything that must happen at a particular moment. If it is not in the calendar, it does not exist.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worth having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Capture in ten seconds, wherever you are standing.</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 list. Never two, and never an app you are trialling.</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Four questions daily, at the same point every day.</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Strike things off deliberately, not by forgetting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Starting a new app when the old one fails</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app was never the problem. The setup cost buys three more weeks and the same collapse.</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Sorting at the moment of capture</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Ten seconds becomes ninety, so you stop capturing at all.</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Keeping commitments in your head</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ones made in corridors are exactly the ones that get forgotten.</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weekly review that takes ninety minutes</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gets skipped twice and then abandoned. Daily and tiny survives.</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Treating an out-of-date list as a failure</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Every list goes stale. Restarting takes five minutes and no guilt is required.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productivity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The best system is the one still running in March.</a:t>
            </a:r>
          </a:p>
          <a:p>
            <a:pPr algn="l">
              <a:lnSpc>
                <a:spcPts val="1755"/>
              </a:lnSpc>
              <a:spcBef>
                <a:spcPts val="0"/>
              </a:spcBef>
              <a:spcAft>
                <a:spcPts val="0"/>
              </a:spcAft>
            </a:pPr>
            <a:r>
              <a:rPr sz="1350" b="0">
                <a:solidFill>
                  <a:srgbClr val="FFFFFF"/>
                </a:solidFill>
                <a:latin typeface="Segoe UI"/>
              </a:rPr>
              <a:t>Simplicity is not a compromise here. It is the whole design requirement.</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 place to capture.</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Two minutes to review.</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Restart without guilt.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Thursday, 8:40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have not opened your task list in nine days. It is long, out of date and slightly frightening. Two things have already been chased this week.</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Set up a proper system this weekend and start fresh Monday.</a:t>
            </a:r>
          </a:p>
        </p:txBody>
      </p:sp>
      <p:cxnSp>
        <p:nvCxnSpPr>
          <p:cNvPr id="23" name="vis:choicearrow"/>
          <p:cNvCxnSpPr/>
          <p:nvPr/>
        </p:nvCxnSpPr>
        <p:spPr>
          <a:xfrm>
            <a:off x="758952"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Spend five minutes writing down everything on your mind, then skim the old list.</a:t>
            </a:r>
          </a:p>
        </p:txBody>
      </p:sp>
      <p:cxnSp>
        <p:nvCxnSpPr>
          <p:cNvPr id="29" name="vis:choicearrow"/>
          <p:cNvCxnSpPr/>
          <p:nvPr/>
        </p:nvCxnSpPr>
        <p:spPr>
          <a:xfrm>
            <a:off x="4566818"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Work from your inbox until things calm down.</a:t>
            </a:r>
          </a:p>
        </p:txBody>
      </p:sp>
      <p:cxnSp>
        <p:nvCxnSpPr>
          <p:cNvPr id="35" name="vis:choicearrow"/>
          <p:cNvCxnSpPr/>
          <p:nvPr/>
        </p:nvCxnSpPr>
        <p:spPr>
          <a:xfrm>
            <a:off x="8374684"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The fourth system this year</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spend Saturday choosing an app and designing categories. It works beautifully for eleven days. Then a crisis week arrives, you skip it twice, and by the end of the month you are back exactly here.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setup is never the problem. The third week is.</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Five minutes, and you are current again</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Writing from memory captures the live commitments, because the live ones are the ones you are worrying about. Skimming the old list adds four more and lets you delete nineteen. You are current by nine o'clock.</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Start from your head, not from the stale list.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The inbox is somebody else's priorities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are busy all day and everything you do was chosen by whoever emailed most recently. The two things being chased are not in your inbox, because the people chasing gave up on email and rang your manager instead.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 inbox is a list of other people's priorities, sorted by time.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Seven minutes, one simple system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My Simple Productivity System (for normal people)!</a:t>
            </a:r>
          </a:p>
        </p:txBody>
      </p:sp>
      <p:sp>
        <p:nvSpPr>
          <p:cNvPr id="19" name="vis:chip"/>
          <p:cNvSpPr/>
          <p:nvPr/>
        </p:nvSpPr>
        <p:spPr>
          <a:xfrm>
            <a:off x="868680" y="3858768"/>
            <a:ext cx="110451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79362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JEFF SU</a:t>
            </a:r>
          </a:p>
        </p:txBody>
      </p:sp>
      <p:sp>
        <p:nvSpPr>
          <p:cNvPr id="21" name="vis:chip"/>
          <p:cNvSpPr/>
          <p:nvPr/>
        </p:nvSpPr>
        <p:spPr>
          <a:xfrm>
            <a:off x="2119503" y="3858768"/>
            <a:ext cx="12302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274951" y="3895344"/>
            <a:ext cx="9193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7:04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do most systems get abandoned?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People lack discipline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They demand more upkeep than a bad week allows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apps are not good enough</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Work is too unpredictable to plan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People lack discipline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same people run complex operations reliably every day. If a system only works in calm weeks, the system is badly designed for the job.</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ask for more than a bad week allows.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They demand more upkeep than a bad week allows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Week three always brings a crisis. A system needing ninety minutes weekly gets skipped, goes stale, and is then abandoned because it is out of date.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ask for more than a bad week allows.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apps are not good enough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Apps are not the constraint. People run perfectly good systems on paper, and abandon excellent apps for the same reason.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ask for more than a bad week allows.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Work is too unpredictable to plan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Unpredictability is exactly why capture matters. It is an argument for a simpler system, not for none.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ask for more than a bad week allows.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matters most about capture?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That it is in the right category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That it takes under ten seconds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That it is typed rather than written</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That you review it immediately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That it is in the right category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Sorting at capture is what turns ten seconds into ninety. Write it down anywhere in the one place, and sort during the review.</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Under ten seconds, or you will stop.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That it takes under ten seconds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capturing is slow, you skip it when you are busy — which is exactly when commitments are being made at you in corridors.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Under ten seconds, or you will stop.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That it is typed rather than written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Either is fine. What matters is that the one place is always with you, whether that is a phone or a notebook.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Under ten seconds, or you will stop.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That you review it immediately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Immediate review defeats the point of fast capture. Capture now, review once a day.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Under ten seconds, or you will stop.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daily rather than weekly review?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Daily reviews are more thorough</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Missing one day does no damage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Weekly reviews are old-fashioned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Managers expect daily updates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Daily reviews are more thorough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are far less thorough, deliberately. Two minutes cannot be thorough, and that is what makes it survive.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Skipping a day costs nothing.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Missing one day does no damage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Missing one weekly review leaves the list a fortnight stale, which is usually the point of abandonment. Missing one daily review costs a day.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Skipping a day costs nothing.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Weekly reviews are old-fashioned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work well for people who genuinely do them. The problem is empirical rather than fashionable — most people do not.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Skipping a day costs nothing.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Managers expect daily updates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about your own system, not reporting. Nobody else needs to see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Skipping a day costs nothing.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list is nine days stale. Best move?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Read the whole old list carefully first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Write everything on your mind, then skim the old list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Delete it and start completely fresh</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Rebuild it properly over the weekend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Read the whole old list carefully first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demoralising and most of it is dead. Reading it first is how people decide the system has failed and give up entirely.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Start from your head, then skim the old list.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Write everything on your mind, then skim the old list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live commitments are the ones you are already worrying about, so five minutes from memory captures them. The old list then adds a few and lets you delete many.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Start from your head, then skim the old list.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Delete it and start completely fresh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Close, and you would lose the handful of genuine commitments in there. Skim it once before deleting.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Start from your head, then skim the old list.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Rebuild it properly over the weekend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Weekend rebuilding is the pattern that produces four systems a year. Five minutes on a Thursday morning is enough.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Start from your head, then skim the old list.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belongs in the calendar?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Everything, so nothing is forgotten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Anything that must happen at a particular time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meetings with other people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Nothing — the list covers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Everything, so nothing is forgotten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calendar full of tasks with invented times becomes unreadable, and you start ignoring it — including the real appointments.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with a fixed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Anything that must happen at a particular time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Meetings, deadlines and protected blocks. Everything else lives on the list, sorted by consequence rather than by an arbitrary time.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with a fixed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Only meetings with other people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Your protected block is the most important appointment in the week, and it only survives if it is booked like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with a fixed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Nothing — the list covers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list cannot hold a time-specific commitment safely. Anything with a clock on it needs to be where the clock is.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with a fixed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Productivity systems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Simplicity is the requirement</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best system is the one still running in March, not the cleverest one.</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 place to capture</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Always with you, under ten seconds, no sorting at the moment of writing.</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Two minutes daily</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Four questions at the same point every day. Skipping one costs nothing.</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Calendar for times, list for everything else</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If it has a clock on it, it belongs where the clock is.</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Restart from your head</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live commitments are the ones you are already worrying about.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Tidying is not working</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Organising the list is the most convincing procrastination there is.</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A87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The best system is the one you are still using in March.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3910" y="2400838"/>
            <a:ext cx="37278" cy="3727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30478" y="2419478"/>
            <a:ext cx="165090"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863910" y="2480720"/>
            <a:ext cx="37278" cy="3727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930478" y="2499359"/>
            <a:ext cx="165090"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863910" y="2560602"/>
            <a:ext cx="37278" cy="3727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930478" y="2579241"/>
            <a:ext cx="165090"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4"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 review questions</a:t>
            </a:r>
          </a:p>
        </p:txBody>
      </p:sp>
      <p:sp>
        <p:nvSpPr>
          <p:cNvPr id="25"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Uncaptured, overdue, tomorrow's one thing, what to strike.</a:t>
            </a:r>
          </a:p>
        </p:txBody>
      </p:sp>
      <p:sp>
        <p:nvSpPr>
          <p:cNvPr id="26"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872126" y="3309328"/>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s:icon"/>
          <p:cNvSpPr/>
          <p:nvPr/>
        </p:nvSpPr>
        <p:spPr>
          <a:xfrm>
            <a:off x="913171" y="3288135"/>
            <a:ext cx="48994" cy="42071"/>
          </a:xfrm>
          <a:custGeom>
            <a:avLst/>
            <a:gdLst/>
            <a:ahLst/>
            <a:cxnLst/>
            <a:rect l="l" t="t" r="r" b="b"/>
            <a:pathLst>
              <a:path w="48994" h="42071">
                <a:moveTo>
                  <a:pt x="48994" y="0"/>
                </a:moveTo>
                <a:lnTo>
                  <a:pt x="23964" y="42071"/>
                </a:lnTo>
                <a:lnTo>
                  <a:pt x="0" y="533"/>
                </a:lnTo>
                <a:close/>
              </a:path>
            </a:pathLst>
          </a:cu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restart routine</a:t>
            </a:r>
          </a:p>
        </p:txBody>
      </p:sp>
      <p:sp>
        <p:nvSpPr>
          <p:cNvPr id="31"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Five minutes from memory, then skim and delete.</a:t>
            </a:r>
          </a:p>
        </p:txBody>
      </p:sp>
      <p:sp>
        <p:nvSpPr>
          <p:cNvPr id="32"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882549" y="4309101"/>
            <a:ext cx="69231" cy="6923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951780" y="4229219"/>
            <a:ext cx="127811" cy="149113"/>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6"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where-does-it-go test</a:t>
            </a:r>
          </a:p>
        </p:txBody>
      </p:sp>
      <p:sp>
        <p:nvSpPr>
          <p:cNvPr id="37"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Fixed time means calendar. Everything else means list.</a:t>
            </a:r>
          </a:p>
        </p:txBody>
      </p:sp>
      <p:sp>
        <p:nvSpPr>
          <p:cNvPr id="38"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LINKS THAT WORK</a:t>
            </a:r>
          </a:p>
        </p:txBody>
      </p:sp>
      <p:sp>
        <p:nvSpPr>
          <p:cNvPr id="39"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8339937" y="2300630"/>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1" name="vis:icon"/>
          <p:cNvCxnSpPr/>
          <p:nvPr/>
        </p:nvCxnSpPr>
        <p:spPr>
          <a:xfrm>
            <a:off x="8482584" y="2443276"/>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2"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3"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copilot.microsoft.com</a:t>
            </a:r>
          </a:p>
        </p:txBody>
      </p:sp>
      <p:sp>
        <p:nvSpPr>
          <p:cNvPr id="44"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icon"/>
          <p:cNvSpPr/>
          <p:nvPr/>
        </p:nvSpPr>
        <p:spPr>
          <a:xfrm>
            <a:off x="8339937" y="2977286"/>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6" name="vis:icon"/>
          <p:cNvCxnSpPr/>
          <p:nvPr/>
        </p:nvCxnSpPr>
        <p:spPr>
          <a:xfrm>
            <a:off x="8482584" y="3119932"/>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7"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8"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chatgpt.com</a:t>
            </a:r>
          </a:p>
        </p:txBody>
      </p:sp>
      <p:sp>
        <p:nvSpPr>
          <p:cNvPr id="49"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vis:icon"/>
          <p:cNvSpPr/>
          <p:nvPr/>
        </p:nvSpPr>
        <p:spPr>
          <a:xfrm>
            <a:off x="8339937" y="3653942"/>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1" name="vis:icon"/>
          <p:cNvCxnSpPr/>
          <p:nvPr/>
        </p:nvCxnSpPr>
        <p:spPr>
          <a:xfrm>
            <a:off x="8482584" y="3796588"/>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52"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3"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gemini.google.com</a:t>
            </a:r>
          </a:p>
        </p:txBody>
      </p:sp>
      <p:sp>
        <p:nvSpPr>
          <p:cNvPr id="54"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5"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DO THIS NEXT</a:t>
            </a:r>
          </a:p>
        </p:txBody>
      </p:sp>
      <p:sp>
        <p:nvSpPr>
          <p:cNvPr id="56"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PS-06, Problem-Solving. Finding the actual cause before you spend a fortnight fixing the wrong thing.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PS-05  ·  Productivity Systems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Capture</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Writing a commitment down the moment it is made, in under ten seconds.</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Daily review</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Four questions at the same point each day. Two minutes, and it survives bad weeks.</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Stale list</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list nobody has opened for days. Restart from memory rather than reading it.</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Consequence</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breaks if a task slips. A better sort order than urgency or date.</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Protected block</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Time booked in the calendar for work needing concentration.</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Inbox</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list of other people's priorities, sorted by when they were sent.</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