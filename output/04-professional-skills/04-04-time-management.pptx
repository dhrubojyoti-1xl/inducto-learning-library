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5.xml"/><Relationship Id="rId3" Type="http://schemas.openxmlformats.org/officeDocument/2006/relationships/slide" Target="slide7.xml"/><Relationship Id="rId4" Type="http://schemas.openxmlformats.org/officeDocument/2006/relationships/slide" Target="slide9.xml"/><Relationship Id="rId5" Type="http://schemas.openxmlformats.org/officeDocument/2006/relationships/slide" Target="slide11.xml"/><Relationship Id="rId6" Type="http://schemas.openxmlformats.org/officeDocument/2006/relationships/slide" Target="slide13.xml"/><Relationship Id="rId7" Type="http://schemas.openxmlformats.org/officeDocument/2006/relationships/slide" Target="slide18.xml"/><Relationship Id="rId8" Type="http://schemas.openxmlformats.org/officeDocument/2006/relationships/slide" Target="slide22.xml"/><Relationship Id="rId9" Type="http://schemas.openxmlformats.org/officeDocument/2006/relationships/slide" Target="slide23.xml"/><Relationship Id="rId10" Type="http://schemas.openxmlformats.org/officeDocument/2006/relationships/slide" Target="slide48.xml"/><Relationship Id="rId11" Type="http://schemas.openxmlformats.org/officeDocument/2006/relationships/slide" Target="slide49.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19.xml"/><Relationship Id="rId4" Type="http://schemas.openxmlformats.org/officeDocument/2006/relationships/slide" Target="slide20.xml"/><Relationship Id="rId5" Type="http://schemas.openxmlformats.org/officeDocument/2006/relationships/slide" Target="slide2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8.xml"/><Relationship Id="rId3" Type="http://schemas.openxmlformats.org/officeDocument/2006/relationships/slide" Target="slide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8.xml"/><Relationship Id="rId3" Type="http://schemas.openxmlformats.org/officeDocument/2006/relationships/slide" Target="slide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8.xml"/><Relationship Id="rId3" Type="http://schemas.openxmlformats.org/officeDocument/2006/relationships/slide" Target="slide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youtube.com/watch?v=A895Mu8GcGw" TargetMode="External"/><Relationship Id="rId3" Type="http://schemas.openxmlformats.org/officeDocument/2006/relationships/slide" Target="slide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24.xml"/><Relationship Id="rId4" Type="http://schemas.openxmlformats.org/officeDocument/2006/relationships/slide" Target="slide25.xml"/><Relationship Id="rId5" Type="http://schemas.openxmlformats.org/officeDocument/2006/relationships/slide" Target="slide26.xml"/><Relationship Id="rId6" Type="http://schemas.openxmlformats.org/officeDocument/2006/relationships/slide" Target="slide2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3.xml"/><Relationship Id="rId3" Type="http://schemas.openxmlformats.org/officeDocument/2006/relationships/slide" Target="slide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8.xml"/><Relationship Id="rId3" Type="http://schemas.openxmlformats.org/officeDocument/2006/relationships/slide" Target="slide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3.xml"/><Relationship Id="rId3" Type="http://schemas.openxmlformats.org/officeDocument/2006/relationships/slide" Target="slide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3.xml"/><Relationship Id="rId3" Type="http://schemas.openxmlformats.org/officeDocument/2006/relationships/slide" Target="slide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29.xml"/><Relationship Id="rId4" Type="http://schemas.openxmlformats.org/officeDocument/2006/relationships/slide" Target="slide30.xml"/><Relationship Id="rId5" Type="http://schemas.openxmlformats.org/officeDocument/2006/relationships/slide" Target="slide31.xml"/><Relationship Id="rId6" Type="http://schemas.openxmlformats.org/officeDocument/2006/relationships/slide" Target="slide3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8.xml"/><Relationship Id="rId3" Type="http://schemas.openxmlformats.org/officeDocument/2006/relationships/slide" Target="slide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3.xml"/><Relationship Id="rId3" Type="http://schemas.openxmlformats.org/officeDocument/2006/relationships/slide" Target="slide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8.xml"/><Relationship Id="rId3" Type="http://schemas.openxmlformats.org/officeDocument/2006/relationships/slide" Target="slide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8.xml"/><Relationship Id="rId3" Type="http://schemas.openxmlformats.org/officeDocument/2006/relationships/slide" Target="slide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34.xml"/><Relationship Id="rId4" Type="http://schemas.openxmlformats.org/officeDocument/2006/relationships/slide" Target="slide35.xml"/><Relationship Id="rId5" Type="http://schemas.openxmlformats.org/officeDocument/2006/relationships/slide" Target="slide36.xml"/><Relationship Id="rId6" Type="http://schemas.openxmlformats.org/officeDocument/2006/relationships/slide" Target="slide3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3.xml"/><Relationship Id="rId3" Type="http://schemas.openxmlformats.org/officeDocument/2006/relationships/slide" Target="slide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8.xml"/><Relationship Id="rId3" Type="http://schemas.openxmlformats.org/officeDocument/2006/relationships/slide" Target="slide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3.xml"/><Relationship Id="rId3" Type="http://schemas.openxmlformats.org/officeDocument/2006/relationships/slide" Target="slide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3.xml"/><Relationship Id="rId3" Type="http://schemas.openxmlformats.org/officeDocument/2006/relationships/slide" Target="slide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39.xml"/><Relationship Id="rId4" Type="http://schemas.openxmlformats.org/officeDocument/2006/relationships/slide" Target="slide40.xml"/><Relationship Id="rId5" Type="http://schemas.openxmlformats.org/officeDocument/2006/relationships/slide" Target="slide41.xml"/><Relationship Id="rId6" Type="http://schemas.openxmlformats.org/officeDocument/2006/relationships/slide" Target="slide4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8.xml"/><Relationship Id="rId3" Type="http://schemas.openxmlformats.org/officeDocument/2006/relationships/slide" Target="slide4.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3.xml"/><Relationship Id="rId3" Type="http://schemas.openxmlformats.org/officeDocument/2006/relationships/slide" Target="slide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8.xml"/><Relationship Id="rId3" Type="http://schemas.openxmlformats.org/officeDocument/2006/relationships/slide" Target="slide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8.xml"/><Relationship Id="rId3" Type="http://schemas.openxmlformats.org/officeDocument/2006/relationships/slide" Target="slide4.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44.xml"/><Relationship Id="rId4" Type="http://schemas.openxmlformats.org/officeDocument/2006/relationships/slide" Target="slide45.xml"/><Relationship Id="rId5" Type="http://schemas.openxmlformats.org/officeDocument/2006/relationships/slide" Target="slide46.xml"/><Relationship Id="rId6" Type="http://schemas.openxmlformats.org/officeDocument/2006/relationships/slide" Target="slide4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3.xml"/><Relationship Id="rId3" Type="http://schemas.openxmlformats.org/officeDocument/2006/relationships/slide" Target="slide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8.xml"/><Relationship Id="rId3" Type="http://schemas.openxmlformats.org/officeDocument/2006/relationships/slide" Target="slide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3.xml"/><Relationship Id="rId3" Type="http://schemas.openxmlformats.org/officeDocument/2006/relationships/slide" Target="slide4.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3.xml"/><Relationship Id="rId3" Type="http://schemas.openxmlformats.org/officeDocument/2006/relationships/slide" Target="slide4.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opilot.microsoft.com" TargetMode="External"/><Relationship Id="rId3" Type="http://schemas.openxmlformats.org/officeDocument/2006/relationships/hyperlink" Target="https://chatgpt.com" TargetMode="External"/><Relationship Id="rId4" Type="http://schemas.openxmlformats.org/officeDocument/2006/relationships/hyperlink" Target="https://gemini.google.com" TargetMode="External"/><Relationship Id="rId5" Type="http://schemas.openxmlformats.org/officeDocument/2006/relationships/slide" Target="slide4.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vis:bg"/>
          <p:cNvSpPr/>
          <p:nvPr/>
        </p:nvSpPr>
        <p:spPr>
          <a:xfrm>
            <a:off x="0" y="0"/>
            <a:ext cx="12191695" cy="6858000"/>
          </a:xfrm>
          <a:prstGeom prst="rect">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pic>
        <p:nvPicPr>
          <p:cNvPr id="3" name="vis:coverphoto" descr="hero-time-management.jpg"/>
          <p:cNvPicPr>
            <a:picLocks noChangeAspect="1"/>
          </p:cNvPicPr>
          <p:nvPr/>
        </p:nvPicPr>
        <p:blipFill>
          <a:blip r:embed="rId2"/>
          <a:srcRect l="22674" r="22674"/>
          <a:stretch>
            <a:fillRect/>
          </a:stretch>
        </p:blipFill>
        <p:spPr>
          <a:xfrm>
            <a:off x="5532120" y="0"/>
            <a:ext cx="6659575" cy="6858000"/>
          </a:xfrm>
          <a:prstGeom prst="rect">
            <a:avLst/>
          </a:prstGeom>
        </p:spPr>
      </p:pic>
      <p:sp>
        <p:nvSpPr>
          <p:cNvPr id="4" name="vis:coverpanel"/>
          <p:cNvSpPr/>
          <p:nvPr/>
        </p:nvSpPr>
        <p:spPr>
          <a:xfrm>
            <a:off x="0" y="0"/>
            <a:ext cx="5532120" cy="6858000"/>
          </a:xfrm>
          <a:prstGeom prst="rect">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 name="vis:coveredge"/>
          <p:cNvSpPr/>
          <p:nvPr/>
        </p:nvSpPr>
        <p:spPr>
          <a:xfrm>
            <a:off x="5532120" y="0"/>
            <a:ext cx="64008" cy="6858000"/>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6" name="vis:coverspine"/>
          <p:cNvSpPr/>
          <p:nvPr/>
        </p:nvSpPr>
        <p:spPr>
          <a:xfrm>
            <a:off x="0" y="0"/>
            <a:ext cx="201168" cy="6858000"/>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7" name="seclabel"/>
          <p:cNvSpPr txBox="1"/>
          <p:nvPr/>
        </p:nvSpPr>
        <p:spPr>
          <a:xfrm>
            <a:off x="841248" y="566420"/>
            <a:ext cx="4187952"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AA8745"/>
                </a:solidFill>
                <a:latin typeface="Segoe UI Semibold"/>
              </a:rPr>
              <a:t>PROFESSIONAL SKILLS</a:t>
            </a:r>
          </a:p>
        </p:txBody>
      </p:sp>
      <p:sp>
        <p:nvSpPr>
          <p:cNvPr id="8" name="title:cover"/>
          <p:cNvSpPr txBox="1"/>
          <p:nvPr/>
        </p:nvSpPr>
        <p:spPr>
          <a:xfrm>
            <a:off x="841248" y="1023620"/>
            <a:ext cx="4187952" cy="1507744"/>
          </a:xfrm>
          <a:prstGeom prst="rect">
            <a:avLst/>
          </a:prstGeom>
          <a:noFill/>
        </p:spPr>
        <p:txBody>
          <a:bodyPr wrap="square" lIns="0" rIns="0" tIns="0" bIns="0" anchor="t">
            <a:spAutoFit/>
          </a:bodyPr>
          <a:lstStyle/>
          <a:p>
            <a:pPr algn="l">
              <a:lnSpc>
                <a:spcPts val="5720"/>
              </a:lnSpc>
              <a:spcBef>
                <a:spcPts val="0"/>
              </a:spcBef>
              <a:spcAft>
                <a:spcPts val="0"/>
              </a:spcAft>
            </a:pPr>
            <a:r>
              <a:rPr sz="4400" b="0">
                <a:solidFill>
                  <a:srgbClr val="FFFFFF"/>
                </a:solidFill>
                <a:latin typeface="Segoe UI Semibold"/>
              </a:rPr>
              <a:t>Time Management</a:t>
            </a:r>
          </a:p>
        </p:txBody>
      </p:sp>
      <p:cxnSp>
        <p:nvCxnSpPr>
          <p:cNvPr id="9" name="vis:rule"/>
          <p:cNvCxnSpPr/>
          <p:nvPr/>
        </p:nvCxnSpPr>
        <p:spPr>
          <a:xfrm>
            <a:off x="841248" y="2805684"/>
            <a:ext cx="3606698" cy="0"/>
          </a:xfrm>
          <a:prstGeom prst="line">
            <a:avLst/>
          </a:prstGeom>
          <a:ln w="1270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10" name="body:coversub"/>
          <p:cNvSpPr txBox="1"/>
          <p:nvPr/>
        </p:nvSpPr>
        <p:spPr>
          <a:xfrm>
            <a:off x="841248" y="3080004"/>
            <a:ext cx="4187952" cy="1144524"/>
          </a:xfrm>
          <a:prstGeom prst="rect">
            <a:avLst/>
          </a:prstGeom>
          <a:noFill/>
        </p:spPr>
        <p:txBody>
          <a:bodyPr wrap="square" lIns="0" rIns="0" tIns="0" bIns="0" anchor="t">
            <a:spAutoFit/>
          </a:bodyPr>
          <a:lstStyle/>
          <a:p>
            <a:pPr algn="l">
              <a:lnSpc>
                <a:spcPts val="2860"/>
              </a:lnSpc>
              <a:spcBef>
                <a:spcPts val="0"/>
              </a:spcBef>
              <a:spcAft>
                <a:spcPts val="0"/>
              </a:spcAft>
            </a:pPr>
            <a:r>
              <a:rPr sz="2200" b="0">
                <a:solidFill>
                  <a:srgbClr val="C9D1DE"/>
                </a:solidFill>
                <a:latin typeface="Segoe UI"/>
              </a:rPr>
              <a:t>Protecting the two hours a day where your real work actually gets done.</a:t>
            </a:r>
          </a:p>
        </p:txBody>
      </p:sp>
      <p:sp>
        <p:nvSpPr>
          <p:cNvPr id="11" name="vis:chip"/>
          <p:cNvSpPr/>
          <p:nvPr/>
        </p:nvSpPr>
        <p:spPr>
          <a:xfrm>
            <a:off x="841248" y="4626864"/>
            <a:ext cx="964184" cy="310896"/>
          </a:xfrm>
          <a:prstGeom prst="roundRect">
            <a:avLst>
              <a:gd name="adj" fmla="val 14705"/>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vis:chiptext"/>
          <p:cNvSpPr txBox="1"/>
          <p:nvPr/>
        </p:nvSpPr>
        <p:spPr>
          <a:xfrm>
            <a:off x="996696" y="4672583"/>
            <a:ext cx="653288"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PS-04</a:t>
            </a:r>
          </a:p>
        </p:txBody>
      </p:sp>
      <p:sp>
        <p:nvSpPr>
          <p:cNvPr id="13" name="vis:chip"/>
          <p:cNvSpPr/>
          <p:nvPr/>
        </p:nvSpPr>
        <p:spPr>
          <a:xfrm>
            <a:off x="1951736" y="4626864"/>
            <a:ext cx="1456309" cy="310896"/>
          </a:xfrm>
          <a:prstGeom prst="roundRect">
            <a:avLst>
              <a:gd name="adj" fmla="val 14705"/>
            </a:avLst>
          </a:prstGeom>
          <a:no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4" name="vis:chiptext"/>
          <p:cNvSpPr txBox="1"/>
          <p:nvPr/>
        </p:nvSpPr>
        <p:spPr>
          <a:xfrm>
            <a:off x="2107184" y="4672583"/>
            <a:ext cx="114541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C9D1DE"/>
                </a:solidFill>
                <a:latin typeface="Segoe UI Semibold"/>
              </a:rPr>
              <a:t>16 MINUTES</a:t>
            </a:r>
          </a:p>
        </p:txBody>
      </p:sp>
      <p:sp>
        <p:nvSpPr>
          <p:cNvPr id="15" name="vis:chip"/>
          <p:cNvSpPr/>
          <p:nvPr/>
        </p:nvSpPr>
        <p:spPr>
          <a:xfrm>
            <a:off x="841248" y="5047488"/>
            <a:ext cx="2302029" cy="310896"/>
          </a:xfrm>
          <a:prstGeom prst="roundRect">
            <a:avLst>
              <a:gd name="adj" fmla="val 14705"/>
            </a:avLst>
          </a:prstGeom>
          <a:no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chiptext"/>
          <p:cNvSpPr txBox="1"/>
          <p:nvPr/>
        </p:nvSpPr>
        <p:spPr>
          <a:xfrm>
            <a:off x="996696" y="5093207"/>
            <a:ext cx="199113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C9D1DE"/>
                </a:solidFill>
                <a:latin typeface="Segoe UI Semibold"/>
              </a:rPr>
              <a:t>NEW JOINERS + STAFF</a:t>
            </a:r>
          </a:p>
        </p:txBody>
      </p:sp>
      <p:sp>
        <p:nvSpPr>
          <p:cNvPr id="17" name="cell:coverhint"/>
          <p:cNvSpPr txBox="1"/>
          <p:nvPr/>
        </p:nvSpPr>
        <p:spPr>
          <a:xfrm>
            <a:off x="841248" y="5724144"/>
            <a:ext cx="4187952" cy="43891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48D9A"/>
                </a:solidFill>
                <a:latin typeface="Segoe UI"/>
              </a:rPr>
              <a:t>Start here  →  the next slide shows what this saves you.</a:t>
            </a:r>
          </a:p>
        </p:txBody>
      </p:sp>
      <p:sp>
        <p:nvSpPr>
          <p:cNvPr id="18"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48D9A"/>
                </a:solidFill>
                <a:latin typeface="Segoe UI"/>
              </a:rPr>
              <a:t>PS-04  ·  Time Management</a:t>
            </a:r>
          </a:p>
        </p:txBody>
      </p:sp>
      <p:sp>
        <p:nvSpPr>
          <p:cNvPr id="19"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848D9A"/>
                </a:solidFill>
                <a:latin typeface="Segoe UI"/>
              </a:rPr>
              <a:t>Inducto Learning Library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WHY THIS MATTERS TO YOU</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Arjun is busy from nine to seven</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PS-04  ·  Time Management</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vis:story"/>
          <p:cNvSpPr/>
          <p:nvPr/>
        </p:nvSpPr>
        <p:spPr>
          <a:xfrm>
            <a:off x="502920" y="1719072"/>
            <a:ext cx="6448882" cy="3273552"/>
          </a:xfrm>
          <a:prstGeom prst="roundRect">
            <a:avLst>
              <a:gd name="adj" fmla="val 2793"/>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storyspine"/>
          <p:cNvSpPr/>
          <p:nvPr/>
        </p:nvSpPr>
        <p:spPr>
          <a:xfrm>
            <a:off x="502920" y="1719072"/>
            <a:ext cx="68580" cy="3273552"/>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badge"/>
          <p:cNvSpPr/>
          <p:nvPr/>
        </p:nvSpPr>
        <p:spPr>
          <a:xfrm>
            <a:off x="813816" y="2029967"/>
            <a:ext cx="694944" cy="694944"/>
          </a:xfrm>
          <a:prstGeom prst="roundRect">
            <a:avLst>
              <a:gd name="adj" fmla="val 1315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icon"/>
          <p:cNvSpPr/>
          <p:nvPr/>
        </p:nvSpPr>
        <p:spPr>
          <a:xfrm>
            <a:off x="1002284" y="2218436"/>
            <a:ext cx="318006" cy="318006"/>
          </a:xfrm>
          <a:prstGeom prst="ellipse">
            <a:avLst/>
          </a:prstGeom>
          <a:noFill/>
          <a:ln w="1905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flipV="1">
            <a:off x="1161288" y="2283483"/>
            <a:ext cx="0" cy="93956"/>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cxnSp>
        <p:nvCxnSpPr>
          <p:cNvPr id="20" name="vis:icon"/>
          <p:cNvCxnSpPr/>
          <p:nvPr/>
        </p:nvCxnSpPr>
        <p:spPr>
          <a:xfrm>
            <a:off x="1161288" y="2377439"/>
            <a:ext cx="79501" cy="2891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21" name="body:scenario"/>
          <p:cNvSpPr txBox="1"/>
          <p:nvPr/>
        </p:nvSpPr>
        <p:spPr>
          <a:xfrm>
            <a:off x="813816" y="2944368"/>
            <a:ext cx="5827090" cy="1792224"/>
          </a:xfrm>
          <a:prstGeom prst="rect">
            <a:avLst/>
          </a:prstGeom>
          <a:noFill/>
        </p:spPr>
        <p:txBody>
          <a:bodyPr wrap="square" lIns="0" rIns="0" tIns="0" bIns="0" anchor="t">
            <a:spAutoFit/>
          </a:bodyPr>
          <a:lstStyle/>
          <a:p>
            <a:pPr algn="l">
              <a:lnSpc>
                <a:spcPts val="2340"/>
              </a:lnSpc>
              <a:spcBef>
                <a:spcPts val="0"/>
              </a:spcBef>
              <a:spcAft>
                <a:spcPts val="0"/>
              </a:spcAft>
            </a:pPr>
            <a:r>
              <a:rPr sz="1800" b="0">
                <a:solidFill>
                  <a:srgbClr val="101826"/>
                </a:solidFill>
                <a:latin typeface="Segoe UI"/>
              </a:rPr>
              <a:t>Arjun coordinates dispatch in Surat. He arrives at nine and leaves at seven. He is genuinely busy the whole time. The two things his manager actually asked for have not moved in a fortnight.</a:t>
            </a:r>
          </a:p>
        </p:txBody>
      </p:sp>
      <p:sp>
        <p:nvSpPr>
          <p:cNvPr id="22" name="vis:cost"/>
          <p:cNvSpPr/>
          <p:nvPr/>
        </p:nvSpPr>
        <p:spPr>
          <a:xfrm>
            <a:off x="502920" y="5230368"/>
            <a:ext cx="6448882" cy="786384"/>
          </a:xfrm>
          <a:prstGeom prst="roundRect">
            <a:avLst>
              <a:gd name="adj" fmla="val 9302"/>
            </a:avLst>
          </a:prstGeom>
          <a:solidFill>
            <a:srgbClr val="FFFFFF"/>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costspine"/>
          <p:cNvSpPr/>
          <p:nvPr/>
        </p:nvSpPr>
        <p:spPr>
          <a:xfrm>
            <a:off x="502920" y="5230368"/>
            <a:ext cx="68580" cy="786384"/>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icon"/>
          <p:cNvSpPr/>
          <p:nvPr/>
        </p:nvSpPr>
        <p:spPr>
          <a:xfrm>
            <a:off x="826983" y="5478719"/>
            <a:ext cx="302849" cy="276514"/>
          </a:xfrm>
          <a:custGeom>
            <a:avLst/>
            <a:gdLst/>
            <a:ahLst/>
            <a:cxnLst/>
            <a:rect l="l" t="t" r="r" b="b"/>
            <a:pathLst>
              <a:path w="302849" h="276514">
                <a:moveTo>
                  <a:pt x="151425" y="0"/>
                </a:moveTo>
                <a:lnTo>
                  <a:pt x="302849" y="276514"/>
                </a:lnTo>
                <a:lnTo>
                  <a:pt x="0" y="276514"/>
                </a:lnTo>
                <a:close/>
              </a:path>
            </a:pathLst>
          </a:custGeom>
          <a:noFill/>
          <a:ln w="1905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5" name="vis:icon"/>
          <p:cNvCxnSpPr/>
          <p:nvPr/>
        </p:nvCxnSpPr>
        <p:spPr>
          <a:xfrm>
            <a:off x="978408" y="5584057"/>
            <a:ext cx="0" cy="82296"/>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sp>
        <p:nvSpPr>
          <p:cNvPr id="26" name="vis:icon"/>
          <p:cNvSpPr/>
          <p:nvPr/>
        </p:nvSpPr>
        <p:spPr>
          <a:xfrm>
            <a:off x="961948" y="5695980"/>
            <a:ext cx="32918" cy="32918"/>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7" name="body:cost"/>
          <p:cNvSpPr txBox="1"/>
          <p:nvPr/>
        </p:nvSpPr>
        <p:spPr>
          <a:xfrm>
            <a:off x="1362456" y="5358383"/>
            <a:ext cx="5315026" cy="530352"/>
          </a:xfrm>
          <a:prstGeom prst="rect">
            <a:avLst/>
          </a:prstGeom>
          <a:noFill/>
        </p:spPr>
        <p:txBody>
          <a:bodyPr wrap="square" lIns="0" rIns="0" tIns="0" bIns="0" anchor="ctr">
            <a:spAutoFit/>
          </a:bodyPr>
          <a:lstStyle/>
          <a:p>
            <a:pPr algn="l">
              <a:lnSpc>
                <a:spcPts val="2080"/>
              </a:lnSpc>
              <a:spcBef>
                <a:spcPts val="0"/>
              </a:spcBef>
              <a:spcAft>
                <a:spcPts val="0"/>
              </a:spcAft>
            </a:pPr>
            <a:r>
              <a:rPr sz="1600" b="0">
                <a:solidFill>
                  <a:srgbClr val="C62828"/>
                </a:solidFill>
                <a:latin typeface="Segoe UI Semibold"/>
              </a:rPr>
              <a:t>Ten hours a day, and the important work untouched.</a:t>
            </a:r>
          </a:p>
        </p:txBody>
      </p:sp>
      <p:sp>
        <p:nvSpPr>
          <p:cNvPr id="28" name="vis:fix"/>
          <p:cNvSpPr/>
          <p:nvPr/>
        </p:nvSpPr>
        <p:spPr>
          <a:xfrm>
            <a:off x="8082076" y="1719072"/>
            <a:ext cx="3606698" cy="4297680"/>
          </a:xfrm>
          <a:prstGeom prst="roundRect">
            <a:avLst>
              <a:gd name="adj" fmla="val 2535"/>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seclabel"/>
          <p:cNvSpPr txBox="1"/>
          <p:nvPr/>
        </p:nvSpPr>
        <p:spPr>
          <a:xfrm>
            <a:off x="8411260" y="2066543"/>
            <a:ext cx="2948330"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AA8745"/>
                </a:solidFill>
                <a:latin typeface="Segoe UI Semibold"/>
              </a:rPr>
              <a:t>AFTER THIS MODULE</a:t>
            </a:r>
          </a:p>
        </p:txBody>
      </p:sp>
      <p:cxnSp>
        <p:nvCxnSpPr>
          <p:cNvPr id="30" name="vis:rule"/>
          <p:cNvCxnSpPr/>
          <p:nvPr/>
        </p:nvCxnSpPr>
        <p:spPr>
          <a:xfrm>
            <a:off x="8411260" y="2505456"/>
            <a:ext cx="2948331" cy="0"/>
          </a:xfrm>
          <a:prstGeom prst="line">
            <a:avLst/>
          </a:prstGeom>
          <a:ln w="1270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31" name="body:fix"/>
          <p:cNvSpPr txBox="1"/>
          <p:nvPr/>
        </p:nvSpPr>
        <p:spPr>
          <a:xfrm>
            <a:off x="8411260" y="2724912"/>
            <a:ext cx="2948330" cy="2926080"/>
          </a:xfrm>
          <a:prstGeom prst="rect">
            <a:avLst/>
          </a:prstGeom>
          <a:noFill/>
        </p:spPr>
        <p:txBody>
          <a:bodyPr wrap="square" lIns="0" rIns="0" tIns="0" bIns="0" anchor="t">
            <a:spAutoFit/>
          </a:bodyPr>
          <a:lstStyle/>
          <a:p>
            <a:pPr algn="l">
              <a:lnSpc>
                <a:spcPts val="2730"/>
              </a:lnSpc>
              <a:spcBef>
                <a:spcPts val="0"/>
              </a:spcBef>
              <a:spcAft>
                <a:spcPts val="0"/>
              </a:spcAft>
            </a:pPr>
            <a:r>
              <a:rPr sz="2100" b="0">
                <a:solidFill>
                  <a:srgbClr val="FFFFFF"/>
                </a:solidFill>
                <a:latin typeface="Segoe UI Semibold"/>
              </a:rPr>
              <a:t>Two protected hours, and a rule for everything that interrupts.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WHAT YOU'LL BE ABLE TO DO</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By the end, you can do these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PS-04  ·  Time Management</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vis:outcome"/>
          <p:cNvSpPr/>
          <p:nvPr/>
        </p:nvSpPr>
        <p:spPr>
          <a:xfrm>
            <a:off x="502920" y="1719072"/>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badge"/>
          <p:cNvSpPr/>
          <p:nvPr/>
        </p:nvSpPr>
        <p:spPr>
          <a:xfrm>
            <a:off x="777240" y="1792224"/>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icon"/>
          <p:cNvSpPr/>
          <p:nvPr/>
        </p:nvSpPr>
        <p:spPr>
          <a:xfrm>
            <a:off x="930990" y="1945974"/>
            <a:ext cx="259426" cy="259426"/>
          </a:xfrm>
          <a:prstGeom prst="ellipse">
            <a:avLst/>
          </a:prstGeom>
          <a:noFill/>
          <a:ln w="1905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flipV="1">
            <a:off x="1060704" y="1999039"/>
            <a:ext cx="0" cy="76649"/>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cxnSp>
        <p:nvCxnSpPr>
          <p:cNvPr id="19" name="vis:icon"/>
          <p:cNvCxnSpPr/>
          <p:nvPr/>
        </p:nvCxnSpPr>
        <p:spPr>
          <a:xfrm>
            <a:off x="1060704" y="2075688"/>
            <a:ext cx="64856" cy="23584"/>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20" name="cell:outcome"/>
          <p:cNvSpPr txBox="1"/>
          <p:nvPr/>
        </p:nvSpPr>
        <p:spPr>
          <a:xfrm>
            <a:off x="1545336" y="1828800"/>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Protect two hours a day for work that needs concentration</a:t>
            </a:r>
          </a:p>
        </p:txBody>
      </p:sp>
      <p:sp>
        <p:nvSpPr>
          <p:cNvPr id="21" name="vis:outcome"/>
          <p:cNvSpPr/>
          <p:nvPr/>
        </p:nvSpPr>
        <p:spPr>
          <a:xfrm>
            <a:off x="502920" y="2615184"/>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badge"/>
          <p:cNvSpPr/>
          <p:nvPr/>
        </p:nvSpPr>
        <p:spPr>
          <a:xfrm>
            <a:off x="777240" y="2688336"/>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icon"/>
          <p:cNvSpPr/>
          <p:nvPr/>
        </p:nvSpPr>
        <p:spPr>
          <a:xfrm>
            <a:off x="930990" y="2842086"/>
            <a:ext cx="259426" cy="259426"/>
          </a:xfrm>
          <a:prstGeom prst="ellipse">
            <a:avLst/>
          </a:prstGeom>
          <a:noFill/>
          <a:ln w="1905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4" name="vis:icon"/>
          <p:cNvCxnSpPr/>
          <p:nvPr/>
        </p:nvCxnSpPr>
        <p:spPr>
          <a:xfrm>
            <a:off x="969315" y="2880411"/>
            <a:ext cx="182777" cy="182777"/>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25" name="cell:outcome"/>
          <p:cNvSpPr txBox="1"/>
          <p:nvPr/>
        </p:nvSpPr>
        <p:spPr>
          <a:xfrm>
            <a:off x="1545336" y="2724912"/>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Say no to a request without damaging the relationship</a:t>
            </a:r>
          </a:p>
        </p:txBody>
      </p:sp>
      <p:sp>
        <p:nvSpPr>
          <p:cNvPr id="26" name="vis:outcome"/>
          <p:cNvSpPr/>
          <p:nvPr/>
        </p:nvSpPr>
        <p:spPr>
          <a:xfrm>
            <a:off x="502920" y="3511296"/>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7" name="vis:badge"/>
          <p:cNvSpPr/>
          <p:nvPr/>
        </p:nvSpPr>
        <p:spPr>
          <a:xfrm>
            <a:off x="777240" y="3584448"/>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icon"/>
          <p:cNvSpPr/>
          <p:nvPr/>
        </p:nvSpPr>
        <p:spPr>
          <a:xfrm>
            <a:off x="933938" y="3758835"/>
            <a:ext cx="41272" cy="4127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9" name="vis:icon"/>
          <p:cNvCxnSpPr/>
          <p:nvPr/>
        </p:nvCxnSpPr>
        <p:spPr>
          <a:xfrm>
            <a:off x="1007639" y="3779471"/>
            <a:ext cx="182778"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30" name="vis:icon"/>
          <p:cNvSpPr/>
          <p:nvPr/>
        </p:nvSpPr>
        <p:spPr>
          <a:xfrm>
            <a:off x="933938" y="3847275"/>
            <a:ext cx="41272" cy="4127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1" name="vis:icon"/>
          <p:cNvCxnSpPr/>
          <p:nvPr/>
        </p:nvCxnSpPr>
        <p:spPr>
          <a:xfrm>
            <a:off x="1007639" y="3867911"/>
            <a:ext cx="182778"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32" name="vis:icon"/>
          <p:cNvSpPr/>
          <p:nvPr/>
        </p:nvSpPr>
        <p:spPr>
          <a:xfrm>
            <a:off x="933938" y="3935716"/>
            <a:ext cx="41272" cy="4127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3" name="vis:icon"/>
          <p:cNvCxnSpPr/>
          <p:nvPr/>
        </p:nvCxnSpPr>
        <p:spPr>
          <a:xfrm>
            <a:off x="1007639" y="3956352"/>
            <a:ext cx="182778"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34" name="cell:outcome"/>
          <p:cNvSpPr txBox="1"/>
          <p:nvPr/>
        </p:nvSpPr>
        <p:spPr>
          <a:xfrm>
            <a:off x="1545336" y="3621024"/>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Handle an interruption in under thirty seconds</a:t>
            </a:r>
          </a:p>
        </p:txBody>
      </p:sp>
      <p:sp>
        <p:nvSpPr>
          <p:cNvPr id="35" name="vis:outcome"/>
          <p:cNvSpPr/>
          <p:nvPr/>
        </p:nvSpPr>
        <p:spPr>
          <a:xfrm>
            <a:off x="502920" y="4407408"/>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6" name="vis:badge"/>
          <p:cNvSpPr/>
          <p:nvPr/>
        </p:nvSpPr>
        <p:spPr>
          <a:xfrm>
            <a:off x="777240" y="4480560"/>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7" name="vis:icon"/>
          <p:cNvSpPr/>
          <p:nvPr/>
        </p:nvSpPr>
        <p:spPr>
          <a:xfrm>
            <a:off x="925094" y="4657895"/>
            <a:ext cx="271219" cy="212257"/>
          </a:xfrm>
          <a:custGeom>
            <a:avLst/>
            <a:gdLst/>
            <a:ahLst/>
            <a:cxnLst/>
            <a:rect l="l" t="t" r="r" b="b"/>
            <a:pathLst>
              <a:path w="271219" h="212257">
                <a:moveTo>
                  <a:pt x="0" y="106129"/>
                </a:moveTo>
                <a:lnTo>
                  <a:pt x="135610" y="0"/>
                </a:lnTo>
                <a:lnTo>
                  <a:pt x="271219" y="106129"/>
                </a:lnTo>
                <a:lnTo>
                  <a:pt x="135610" y="212257"/>
                </a:lnTo>
                <a:close/>
              </a:path>
            </a:pathLst>
          </a:custGeom>
          <a:noFill/>
          <a:ln w="1905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vis:icon"/>
          <p:cNvSpPr/>
          <p:nvPr/>
        </p:nvSpPr>
        <p:spPr>
          <a:xfrm>
            <a:off x="1019431" y="4722751"/>
            <a:ext cx="82544" cy="82544"/>
          </a:xfrm>
          <a:prstGeom prst="ellipse">
            <a:avLst/>
          </a:prstGeom>
          <a:noFill/>
          <a:ln w="1905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9" name="cell:outcome"/>
          <p:cNvSpPr txBox="1"/>
          <p:nvPr/>
        </p:nvSpPr>
        <p:spPr>
          <a:xfrm>
            <a:off x="1545336" y="4517136"/>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Tell the difference between busy and productive, honestly</a:t>
            </a:r>
          </a:p>
        </p:txBody>
      </p:sp>
      <p:sp>
        <p:nvSpPr>
          <p:cNvPr id="40" name="vis:outcome"/>
          <p:cNvSpPr/>
          <p:nvPr/>
        </p:nvSpPr>
        <p:spPr>
          <a:xfrm>
            <a:off x="502920" y="5303520"/>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1" name="vis:badge"/>
          <p:cNvSpPr/>
          <p:nvPr/>
        </p:nvSpPr>
        <p:spPr>
          <a:xfrm>
            <a:off x="777240" y="5376672"/>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42" name="vis:icon"/>
          <p:cNvCxnSpPr/>
          <p:nvPr/>
        </p:nvCxnSpPr>
        <p:spPr>
          <a:xfrm>
            <a:off x="954575" y="5666032"/>
            <a:ext cx="76648" cy="76648"/>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cxnSp>
        <p:nvCxnSpPr>
          <p:cNvPr id="43" name="vis:icon"/>
          <p:cNvCxnSpPr/>
          <p:nvPr/>
        </p:nvCxnSpPr>
        <p:spPr>
          <a:xfrm flipV="1">
            <a:off x="1031223" y="5577591"/>
            <a:ext cx="141505" cy="165089"/>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44" name="cell:outcome"/>
          <p:cNvSpPr txBox="1"/>
          <p:nvPr/>
        </p:nvSpPr>
        <p:spPr>
          <a:xfrm>
            <a:off x="1545336" y="5413248"/>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Finish the day knowing what actually moved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INTERACTIVE MENU</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Tap any line to jump straight there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PS-04  ·  Time Management</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cell:menuhint"/>
          <p:cNvSpPr txBox="1"/>
          <p:nvPr/>
        </p:nvSpPr>
        <p:spPr>
          <a:xfrm>
            <a:off x="502920" y="1554480"/>
            <a:ext cx="11185855" cy="219456"/>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Every slide has a Menu button in the top-right corner to bring you back here.</a:t>
            </a:r>
          </a:p>
        </p:txBody>
      </p:sp>
      <p:sp>
        <p:nvSpPr>
          <p:cNvPr id="8" name="nav:menurow">
            <a:hlinkClick action="ppaction://hlinksldjump" r:id="rId2"/>
          </p:cNvPr>
          <p:cNvSpPr/>
          <p:nvPr/>
        </p:nvSpPr>
        <p:spPr>
          <a:xfrm>
            <a:off x="502920" y="1828800"/>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vis:menubar"/>
          <p:cNvSpPr/>
          <p:nvPr/>
        </p:nvSpPr>
        <p:spPr>
          <a:xfrm>
            <a:off x="502920" y="1828800"/>
            <a:ext cx="68580" cy="336499"/>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0" name="vis:menunum"/>
          <p:cNvSpPr txBox="1"/>
          <p:nvPr/>
        </p:nvSpPr>
        <p:spPr>
          <a:xfrm>
            <a:off x="813816" y="1883664"/>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8A5A00"/>
                </a:solidFill>
                <a:latin typeface="Segoe UI Semibold"/>
              </a:rPr>
              <a:t>01</a:t>
            </a:r>
          </a:p>
        </p:txBody>
      </p:sp>
      <p:sp>
        <p:nvSpPr>
          <p:cNvPr id="11" name="cell:menulabel"/>
          <p:cNvSpPr txBox="1"/>
          <p:nvPr/>
        </p:nvSpPr>
        <p:spPr>
          <a:xfrm>
            <a:off x="1344168" y="1883664"/>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Busy is not productive</a:t>
            </a:r>
          </a:p>
        </p:txBody>
      </p:sp>
      <p:sp>
        <p:nvSpPr>
          <p:cNvPr id="12" name="cell:menusub"/>
          <p:cNvSpPr txBox="1"/>
          <p:nvPr/>
        </p:nvSpPr>
        <p:spPr>
          <a:xfrm>
            <a:off x="7134682" y="1883664"/>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Ten hours, nothing moved</a:t>
            </a:r>
          </a:p>
        </p:txBody>
      </p:sp>
      <p:cxnSp>
        <p:nvCxnSpPr>
          <p:cNvPr id="13" name="vis:menuarrow"/>
          <p:cNvCxnSpPr/>
          <p:nvPr/>
        </p:nvCxnSpPr>
        <p:spPr>
          <a:xfrm>
            <a:off x="11213287" y="1997049"/>
            <a:ext cx="219456" cy="0"/>
          </a:xfrm>
          <a:prstGeom prst="line">
            <a:avLst/>
          </a:prstGeom>
          <a:ln w="19050">
            <a:solidFill>
              <a:srgbClr val="8A5A0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nav:menurow">
            <a:hlinkClick action="ppaction://hlinksldjump" r:id="rId3"/>
          </p:cNvPr>
          <p:cNvSpPr/>
          <p:nvPr/>
        </p:nvSpPr>
        <p:spPr>
          <a:xfrm>
            <a:off x="502920" y="2256739"/>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5" name="vis:menubar"/>
          <p:cNvSpPr/>
          <p:nvPr/>
        </p:nvSpPr>
        <p:spPr>
          <a:xfrm>
            <a:off x="502920" y="2256739"/>
            <a:ext cx="68580" cy="336499"/>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menunum"/>
          <p:cNvSpPr txBox="1"/>
          <p:nvPr/>
        </p:nvSpPr>
        <p:spPr>
          <a:xfrm>
            <a:off x="813816" y="2311603"/>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8A5A00"/>
                </a:solidFill>
                <a:latin typeface="Segoe UI Semibold"/>
              </a:rPr>
              <a:t>02</a:t>
            </a:r>
          </a:p>
        </p:txBody>
      </p:sp>
      <p:sp>
        <p:nvSpPr>
          <p:cNvPr id="17" name="cell:menulabel"/>
          <p:cNvSpPr txBox="1"/>
          <p:nvPr/>
        </p:nvSpPr>
        <p:spPr>
          <a:xfrm>
            <a:off x="1344168" y="2311603"/>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The protected block</a:t>
            </a:r>
          </a:p>
        </p:txBody>
      </p:sp>
      <p:sp>
        <p:nvSpPr>
          <p:cNvPr id="18" name="cell:menusub"/>
          <p:cNvSpPr txBox="1"/>
          <p:nvPr/>
        </p:nvSpPr>
        <p:spPr>
          <a:xfrm>
            <a:off x="7134682" y="2311603"/>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Two hours, defended</a:t>
            </a:r>
          </a:p>
        </p:txBody>
      </p:sp>
      <p:cxnSp>
        <p:nvCxnSpPr>
          <p:cNvPr id="19" name="vis:menuarrow"/>
          <p:cNvCxnSpPr/>
          <p:nvPr/>
        </p:nvCxnSpPr>
        <p:spPr>
          <a:xfrm>
            <a:off x="11213287" y="2424988"/>
            <a:ext cx="219456" cy="0"/>
          </a:xfrm>
          <a:prstGeom prst="line">
            <a:avLst/>
          </a:prstGeom>
          <a:ln w="19050">
            <a:solidFill>
              <a:srgbClr val="8A5A0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nav:menurow">
            <a:hlinkClick action="ppaction://hlinksldjump" r:id="rId4"/>
          </p:cNvPr>
          <p:cNvSpPr/>
          <p:nvPr/>
        </p:nvSpPr>
        <p:spPr>
          <a:xfrm>
            <a:off x="502920" y="2684678"/>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menubar"/>
          <p:cNvSpPr/>
          <p:nvPr/>
        </p:nvSpPr>
        <p:spPr>
          <a:xfrm>
            <a:off x="502920" y="2684678"/>
            <a:ext cx="68580" cy="336499"/>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menunum"/>
          <p:cNvSpPr txBox="1"/>
          <p:nvPr/>
        </p:nvSpPr>
        <p:spPr>
          <a:xfrm>
            <a:off x="813816" y="2739542"/>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8A5A00"/>
                </a:solidFill>
                <a:latin typeface="Segoe UI Semibold"/>
              </a:rPr>
              <a:t>03</a:t>
            </a:r>
          </a:p>
        </p:txBody>
      </p:sp>
      <p:sp>
        <p:nvSpPr>
          <p:cNvPr id="23" name="cell:menulabel"/>
          <p:cNvSpPr txBox="1"/>
          <p:nvPr/>
        </p:nvSpPr>
        <p:spPr>
          <a:xfrm>
            <a:off x="1344168" y="2739542"/>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Handling interruptions</a:t>
            </a:r>
          </a:p>
        </p:txBody>
      </p:sp>
      <p:sp>
        <p:nvSpPr>
          <p:cNvPr id="24" name="cell:menusub"/>
          <p:cNvSpPr txBox="1"/>
          <p:nvPr/>
        </p:nvSpPr>
        <p:spPr>
          <a:xfrm>
            <a:off x="7134682" y="2739542"/>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Thirty seconds each</a:t>
            </a:r>
          </a:p>
        </p:txBody>
      </p:sp>
      <p:cxnSp>
        <p:nvCxnSpPr>
          <p:cNvPr id="25" name="vis:menuarrow"/>
          <p:cNvCxnSpPr/>
          <p:nvPr/>
        </p:nvCxnSpPr>
        <p:spPr>
          <a:xfrm>
            <a:off x="11213287" y="2852928"/>
            <a:ext cx="219456" cy="0"/>
          </a:xfrm>
          <a:prstGeom prst="line">
            <a:avLst/>
          </a:prstGeom>
          <a:ln w="19050">
            <a:solidFill>
              <a:srgbClr val="8A5A0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6" name="nav:menurow">
            <a:hlinkClick action="ppaction://hlinksldjump" r:id="rId5"/>
          </p:cNvPr>
          <p:cNvSpPr/>
          <p:nvPr/>
        </p:nvSpPr>
        <p:spPr>
          <a:xfrm>
            <a:off x="502920" y="3112617"/>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7" name="vis:menubar"/>
          <p:cNvSpPr/>
          <p:nvPr/>
        </p:nvSpPr>
        <p:spPr>
          <a:xfrm>
            <a:off x="502920" y="3112617"/>
            <a:ext cx="68580" cy="336499"/>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menunum"/>
          <p:cNvSpPr txBox="1"/>
          <p:nvPr/>
        </p:nvSpPr>
        <p:spPr>
          <a:xfrm>
            <a:off x="813816" y="3167481"/>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8A5A00"/>
                </a:solidFill>
                <a:latin typeface="Segoe UI Semibold"/>
              </a:rPr>
              <a:t>04</a:t>
            </a:r>
          </a:p>
        </p:txBody>
      </p:sp>
      <p:sp>
        <p:nvSpPr>
          <p:cNvPr id="29" name="cell:menulabel"/>
          <p:cNvSpPr txBox="1"/>
          <p:nvPr/>
        </p:nvSpPr>
        <p:spPr>
          <a:xfrm>
            <a:off x="1344168" y="3167481"/>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Saying no</a:t>
            </a:r>
          </a:p>
        </p:txBody>
      </p:sp>
      <p:sp>
        <p:nvSpPr>
          <p:cNvPr id="30" name="cell:menusub"/>
          <p:cNvSpPr txBox="1"/>
          <p:nvPr/>
        </p:nvSpPr>
        <p:spPr>
          <a:xfrm>
            <a:off x="7134682" y="3167481"/>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Without damaging anything</a:t>
            </a:r>
          </a:p>
        </p:txBody>
      </p:sp>
      <p:cxnSp>
        <p:nvCxnSpPr>
          <p:cNvPr id="31" name="vis:menuarrow"/>
          <p:cNvCxnSpPr/>
          <p:nvPr/>
        </p:nvCxnSpPr>
        <p:spPr>
          <a:xfrm>
            <a:off x="11213287" y="3280867"/>
            <a:ext cx="219456" cy="0"/>
          </a:xfrm>
          <a:prstGeom prst="line">
            <a:avLst/>
          </a:prstGeom>
          <a:ln w="19050">
            <a:solidFill>
              <a:srgbClr val="8A5A0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2" name="nav:menurow">
            <a:hlinkClick action="ppaction://hlinksldjump" r:id="rId6"/>
          </p:cNvPr>
          <p:cNvSpPr/>
          <p:nvPr/>
        </p:nvSpPr>
        <p:spPr>
          <a:xfrm>
            <a:off x="502920" y="3540556"/>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menubar"/>
          <p:cNvSpPr/>
          <p:nvPr/>
        </p:nvSpPr>
        <p:spPr>
          <a:xfrm>
            <a:off x="502920" y="3540556"/>
            <a:ext cx="68580" cy="336499"/>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vis:menunum"/>
          <p:cNvSpPr txBox="1"/>
          <p:nvPr/>
        </p:nvSpPr>
        <p:spPr>
          <a:xfrm>
            <a:off x="813816" y="3595420"/>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8A5A00"/>
                </a:solidFill>
                <a:latin typeface="Segoe UI Semibold"/>
              </a:rPr>
              <a:t>05</a:t>
            </a:r>
          </a:p>
        </p:txBody>
      </p:sp>
      <p:sp>
        <p:nvSpPr>
          <p:cNvPr id="35" name="cell:menulabel"/>
          <p:cNvSpPr txBox="1"/>
          <p:nvPr/>
        </p:nvSpPr>
        <p:spPr>
          <a:xfrm>
            <a:off x="1344168" y="3595420"/>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Do this now</a:t>
            </a:r>
          </a:p>
        </p:txBody>
      </p:sp>
      <p:sp>
        <p:nvSpPr>
          <p:cNvPr id="36" name="cell:menusub"/>
          <p:cNvSpPr txBox="1"/>
          <p:nvPr/>
        </p:nvSpPr>
        <p:spPr>
          <a:xfrm>
            <a:off x="7134682" y="3595420"/>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Book tomorrow's block</a:t>
            </a:r>
          </a:p>
        </p:txBody>
      </p:sp>
      <p:cxnSp>
        <p:nvCxnSpPr>
          <p:cNvPr id="37" name="vis:menuarrow"/>
          <p:cNvCxnSpPr/>
          <p:nvPr/>
        </p:nvCxnSpPr>
        <p:spPr>
          <a:xfrm>
            <a:off x="11213287" y="3708806"/>
            <a:ext cx="219456" cy="0"/>
          </a:xfrm>
          <a:prstGeom prst="line">
            <a:avLst/>
          </a:prstGeom>
          <a:ln w="19050">
            <a:solidFill>
              <a:srgbClr val="8A5A0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8" name="nav:menurow">
            <a:hlinkClick action="ppaction://hlinksldjump" r:id="rId7"/>
          </p:cNvPr>
          <p:cNvSpPr/>
          <p:nvPr/>
        </p:nvSpPr>
        <p:spPr>
          <a:xfrm>
            <a:off x="502920" y="3968496"/>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9" name="vis:menubar"/>
          <p:cNvSpPr/>
          <p:nvPr/>
        </p:nvSpPr>
        <p:spPr>
          <a:xfrm>
            <a:off x="502920" y="3968496"/>
            <a:ext cx="68580" cy="336499"/>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0" name="vis:menunum"/>
          <p:cNvSpPr txBox="1"/>
          <p:nvPr/>
        </p:nvSpPr>
        <p:spPr>
          <a:xfrm>
            <a:off x="813816" y="4023359"/>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8A5A00"/>
                </a:solidFill>
                <a:latin typeface="Segoe UI Semibold"/>
              </a:rPr>
              <a:t>06</a:t>
            </a:r>
          </a:p>
        </p:txBody>
      </p:sp>
      <p:sp>
        <p:nvSpPr>
          <p:cNvPr id="41" name="cell:menulabel"/>
          <p:cNvSpPr txBox="1"/>
          <p:nvPr/>
        </p:nvSpPr>
        <p:spPr>
          <a:xfrm>
            <a:off x="1344168" y="4023359"/>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Choose what you'd do</a:t>
            </a:r>
          </a:p>
        </p:txBody>
      </p:sp>
      <p:sp>
        <p:nvSpPr>
          <p:cNvPr id="42" name="cell:menusub"/>
          <p:cNvSpPr txBox="1"/>
          <p:nvPr/>
        </p:nvSpPr>
        <p:spPr>
          <a:xfrm>
            <a:off x="7134682" y="4023359"/>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A Tuesday morning decision</a:t>
            </a:r>
          </a:p>
        </p:txBody>
      </p:sp>
      <p:cxnSp>
        <p:nvCxnSpPr>
          <p:cNvPr id="43" name="vis:menuarrow"/>
          <p:cNvCxnSpPr/>
          <p:nvPr/>
        </p:nvCxnSpPr>
        <p:spPr>
          <a:xfrm>
            <a:off x="11213287" y="4136745"/>
            <a:ext cx="219456" cy="0"/>
          </a:xfrm>
          <a:prstGeom prst="line">
            <a:avLst/>
          </a:prstGeom>
          <a:ln w="19050">
            <a:solidFill>
              <a:srgbClr val="8A5A0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44" name="nav:menurow">
            <a:hlinkClick action="ppaction://hlinksldjump" r:id="rId8"/>
          </p:cNvPr>
          <p:cNvSpPr/>
          <p:nvPr/>
        </p:nvSpPr>
        <p:spPr>
          <a:xfrm>
            <a:off x="502920" y="4396435"/>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5" name="vis:menubar"/>
          <p:cNvSpPr/>
          <p:nvPr/>
        </p:nvSpPr>
        <p:spPr>
          <a:xfrm>
            <a:off x="502920" y="4396435"/>
            <a:ext cx="68580" cy="336499"/>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6" name="vis:menunum"/>
          <p:cNvSpPr txBox="1"/>
          <p:nvPr/>
        </p:nvSpPr>
        <p:spPr>
          <a:xfrm>
            <a:off x="813816" y="4451299"/>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8A5A00"/>
                </a:solidFill>
                <a:latin typeface="Segoe UI Semibold"/>
              </a:rPr>
              <a:t>07</a:t>
            </a:r>
          </a:p>
        </p:txBody>
      </p:sp>
      <p:sp>
        <p:nvSpPr>
          <p:cNvPr id="47" name="cell:menulabel"/>
          <p:cNvSpPr txBox="1"/>
          <p:nvPr/>
        </p:nvSpPr>
        <p:spPr>
          <a:xfrm>
            <a:off x="1344168" y="4451299"/>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Watch this</a:t>
            </a:r>
          </a:p>
        </p:txBody>
      </p:sp>
      <p:sp>
        <p:nvSpPr>
          <p:cNvPr id="48" name="cell:menusub"/>
          <p:cNvSpPr txBox="1"/>
          <p:nvPr/>
        </p:nvSpPr>
        <p:spPr>
          <a:xfrm>
            <a:off x="7134682" y="4451299"/>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A 3-minute outside summary</a:t>
            </a:r>
          </a:p>
        </p:txBody>
      </p:sp>
      <p:cxnSp>
        <p:nvCxnSpPr>
          <p:cNvPr id="49" name="vis:menuarrow"/>
          <p:cNvCxnSpPr/>
          <p:nvPr/>
        </p:nvCxnSpPr>
        <p:spPr>
          <a:xfrm>
            <a:off x="11213287" y="4564684"/>
            <a:ext cx="219456" cy="0"/>
          </a:xfrm>
          <a:prstGeom prst="line">
            <a:avLst/>
          </a:prstGeom>
          <a:ln w="19050">
            <a:solidFill>
              <a:srgbClr val="8A5A0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50" name="nav:menurow">
            <a:hlinkClick action="ppaction://hlinksldjump" r:id="rId9"/>
          </p:cNvPr>
          <p:cNvSpPr/>
          <p:nvPr/>
        </p:nvSpPr>
        <p:spPr>
          <a:xfrm>
            <a:off x="502920" y="4824374"/>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1" name="vis:menubar"/>
          <p:cNvSpPr/>
          <p:nvPr/>
        </p:nvSpPr>
        <p:spPr>
          <a:xfrm>
            <a:off x="502920" y="4824374"/>
            <a:ext cx="68580" cy="336499"/>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2" name="vis:menunum"/>
          <p:cNvSpPr txBox="1"/>
          <p:nvPr/>
        </p:nvSpPr>
        <p:spPr>
          <a:xfrm>
            <a:off x="813816" y="4879238"/>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8A5A00"/>
                </a:solidFill>
                <a:latin typeface="Segoe UI Semibold"/>
              </a:rPr>
              <a:t>08</a:t>
            </a:r>
          </a:p>
        </p:txBody>
      </p:sp>
      <p:sp>
        <p:nvSpPr>
          <p:cNvPr id="53" name="cell:menulabel"/>
          <p:cNvSpPr txBox="1"/>
          <p:nvPr/>
        </p:nvSpPr>
        <p:spPr>
          <a:xfrm>
            <a:off x="1344168" y="4879238"/>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Quiz</a:t>
            </a:r>
          </a:p>
        </p:txBody>
      </p:sp>
      <p:sp>
        <p:nvSpPr>
          <p:cNvPr id="54" name="cell:menusub"/>
          <p:cNvSpPr txBox="1"/>
          <p:nvPr/>
        </p:nvSpPr>
        <p:spPr>
          <a:xfrm>
            <a:off x="7134682" y="4879238"/>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5 questions, instant feedback</a:t>
            </a:r>
          </a:p>
        </p:txBody>
      </p:sp>
      <p:cxnSp>
        <p:nvCxnSpPr>
          <p:cNvPr id="55" name="vis:menuarrow"/>
          <p:cNvCxnSpPr/>
          <p:nvPr/>
        </p:nvCxnSpPr>
        <p:spPr>
          <a:xfrm>
            <a:off x="11213287" y="4992624"/>
            <a:ext cx="219456" cy="0"/>
          </a:xfrm>
          <a:prstGeom prst="line">
            <a:avLst/>
          </a:prstGeom>
          <a:ln w="19050">
            <a:solidFill>
              <a:srgbClr val="8A5A0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56" name="nav:menurow">
            <a:hlinkClick action="ppaction://hlinksldjump" r:id="rId10"/>
          </p:cNvPr>
          <p:cNvSpPr/>
          <p:nvPr/>
        </p:nvSpPr>
        <p:spPr>
          <a:xfrm>
            <a:off x="502920" y="5252313"/>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7" name="vis:menubar"/>
          <p:cNvSpPr/>
          <p:nvPr/>
        </p:nvSpPr>
        <p:spPr>
          <a:xfrm>
            <a:off x="502920" y="5252313"/>
            <a:ext cx="68580" cy="336499"/>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8" name="vis:menunum"/>
          <p:cNvSpPr txBox="1"/>
          <p:nvPr/>
        </p:nvSpPr>
        <p:spPr>
          <a:xfrm>
            <a:off x="813816" y="5307177"/>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8A5A00"/>
                </a:solidFill>
                <a:latin typeface="Segoe UI Semibold"/>
              </a:rPr>
              <a:t>09</a:t>
            </a:r>
          </a:p>
        </p:txBody>
      </p:sp>
      <p:sp>
        <p:nvSpPr>
          <p:cNvPr id="59" name="cell:menulabel"/>
          <p:cNvSpPr txBox="1"/>
          <p:nvPr/>
        </p:nvSpPr>
        <p:spPr>
          <a:xfrm>
            <a:off x="1344168" y="5307177"/>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Recap card</a:t>
            </a:r>
          </a:p>
        </p:txBody>
      </p:sp>
      <p:sp>
        <p:nvSpPr>
          <p:cNvPr id="60" name="cell:menusub"/>
          <p:cNvSpPr txBox="1"/>
          <p:nvPr/>
        </p:nvSpPr>
        <p:spPr>
          <a:xfrm>
            <a:off x="7134682" y="5307177"/>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The whole topic on one screen</a:t>
            </a:r>
          </a:p>
        </p:txBody>
      </p:sp>
      <p:cxnSp>
        <p:nvCxnSpPr>
          <p:cNvPr id="61" name="vis:menuarrow"/>
          <p:cNvCxnSpPr/>
          <p:nvPr/>
        </p:nvCxnSpPr>
        <p:spPr>
          <a:xfrm>
            <a:off x="11213287" y="5420563"/>
            <a:ext cx="219456" cy="0"/>
          </a:xfrm>
          <a:prstGeom prst="line">
            <a:avLst/>
          </a:prstGeom>
          <a:ln w="19050">
            <a:solidFill>
              <a:srgbClr val="8A5A0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62" name="nav:menurow">
            <a:hlinkClick action="ppaction://hlinksldjump" r:id="rId11"/>
          </p:cNvPr>
          <p:cNvSpPr/>
          <p:nvPr/>
        </p:nvSpPr>
        <p:spPr>
          <a:xfrm>
            <a:off x="502920" y="5680252"/>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63" name="vis:menubar"/>
          <p:cNvSpPr/>
          <p:nvPr/>
        </p:nvSpPr>
        <p:spPr>
          <a:xfrm>
            <a:off x="502920" y="5680252"/>
            <a:ext cx="68580" cy="336499"/>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64" name="vis:menunum"/>
          <p:cNvSpPr txBox="1"/>
          <p:nvPr/>
        </p:nvSpPr>
        <p:spPr>
          <a:xfrm>
            <a:off x="813816" y="5735116"/>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8A5A00"/>
                </a:solidFill>
                <a:latin typeface="Segoe UI Semibold"/>
              </a:rPr>
              <a:t>10</a:t>
            </a:r>
          </a:p>
        </p:txBody>
      </p:sp>
      <p:sp>
        <p:nvSpPr>
          <p:cNvPr id="65" name="cell:menulabel"/>
          <p:cNvSpPr txBox="1"/>
          <p:nvPr/>
        </p:nvSpPr>
        <p:spPr>
          <a:xfrm>
            <a:off x="1344168" y="5735116"/>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Your toolkit</a:t>
            </a:r>
          </a:p>
        </p:txBody>
      </p:sp>
      <p:sp>
        <p:nvSpPr>
          <p:cNvPr id="66" name="cell:menusub"/>
          <p:cNvSpPr txBox="1"/>
          <p:nvPr/>
        </p:nvSpPr>
        <p:spPr>
          <a:xfrm>
            <a:off x="7134682" y="5735116"/>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Templates, links, what to do next</a:t>
            </a:r>
          </a:p>
        </p:txBody>
      </p:sp>
      <p:cxnSp>
        <p:nvCxnSpPr>
          <p:cNvPr id="67" name="vis:menuarrow"/>
          <p:cNvCxnSpPr/>
          <p:nvPr/>
        </p:nvCxnSpPr>
        <p:spPr>
          <a:xfrm>
            <a:off x="11213287" y="5848502"/>
            <a:ext cx="219456" cy="0"/>
          </a:xfrm>
          <a:prstGeom prst="line">
            <a:avLst/>
          </a:prstGeom>
          <a:ln w="19050">
            <a:solidFill>
              <a:srgbClr val="8A5A00"/>
            </a:solidFill>
            <a:tailEnd type="triangle" w="med" len="med"/>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BUSY IS NOT PRODUCTIVE</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Ten hours, nothing moved</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PS-04  ·  Time Management</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body:lead"/>
          <p:cNvSpPr txBox="1"/>
          <p:nvPr/>
        </p:nvSpPr>
        <p:spPr>
          <a:xfrm>
            <a:off x="502920" y="1719072"/>
            <a:ext cx="8343671" cy="822959"/>
          </a:xfrm>
          <a:prstGeom prst="rect">
            <a:avLst/>
          </a:prstGeom>
          <a:noFill/>
        </p:spPr>
        <p:txBody>
          <a:bodyPr wrap="square" lIns="0" rIns="0" tIns="0" bIns="0" anchor="t">
            <a:spAutoFit/>
          </a:bodyPr>
          <a:lstStyle/>
          <a:p>
            <a:pPr algn="l">
              <a:lnSpc>
                <a:spcPts val="2340"/>
              </a:lnSpc>
              <a:spcBef>
                <a:spcPts val="0"/>
              </a:spcBef>
              <a:spcAft>
                <a:spcPts val="0"/>
              </a:spcAft>
            </a:pPr>
            <a:r>
              <a:rPr sz="1800" b="0">
                <a:solidFill>
                  <a:srgbClr val="2A3547"/>
                </a:solidFill>
                <a:latin typeface="Segoe UI"/>
              </a:rPr>
              <a:t>Reactive work fills any space you give it. It also feels productive, which is why it wins.</a:t>
            </a:r>
          </a:p>
        </p:txBody>
      </p:sp>
      <p:sp>
        <p:nvSpPr>
          <p:cNvPr id="16" name="vis:panel"/>
          <p:cNvSpPr/>
          <p:nvPr/>
        </p:nvSpPr>
        <p:spPr>
          <a:xfrm>
            <a:off x="502920" y="2706624"/>
            <a:ext cx="5437479" cy="3310128"/>
          </a:xfrm>
          <a:prstGeom prst="roundRect">
            <a:avLst>
              <a:gd name="adj" fmla="val 2762"/>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panelspine"/>
          <p:cNvSpPr/>
          <p:nvPr/>
        </p:nvSpPr>
        <p:spPr>
          <a:xfrm>
            <a:off x="502920" y="2706624"/>
            <a:ext cx="68580" cy="3310128"/>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chip"/>
          <p:cNvSpPr/>
          <p:nvPr/>
        </p:nvSpPr>
        <p:spPr>
          <a:xfrm>
            <a:off x="777240" y="2944368"/>
            <a:ext cx="1814399" cy="274320"/>
          </a:xfrm>
          <a:prstGeom prst="roundRect">
            <a:avLst>
              <a:gd name="adj" fmla="val 16666"/>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9" name="vis:chiptext"/>
          <p:cNvSpPr txBox="1"/>
          <p:nvPr/>
        </p:nvSpPr>
        <p:spPr>
          <a:xfrm>
            <a:off x="932688" y="2971799"/>
            <a:ext cx="150350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REACTIVE WORK</a:t>
            </a:r>
          </a:p>
        </p:txBody>
      </p:sp>
      <p:sp>
        <p:nvSpPr>
          <p:cNvPr id="20" name="vis:paneltitle"/>
          <p:cNvSpPr txBox="1"/>
          <p:nvPr/>
        </p:nvSpPr>
        <p:spPr>
          <a:xfrm>
            <a:off x="777240" y="3364991"/>
            <a:ext cx="4888839"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Fills the day</a:t>
            </a:r>
          </a:p>
        </p:txBody>
      </p:sp>
      <p:cxnSp>
        <p:nvCxnSpPr>
          <p:cNvPr id="21" name="vis:icon"/>
          <p:cNvCxnSpPr/>
          <p:nvPr/>
        </p:nvCxnSpPr>
        <p:spPr>
          <a:xfrm>
            <a:off x="819302" y="4079138"/>
            <a:ext cx="117043"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cxnSp>
        <p:nvCxnSpPr>
          <p:cNvPr id="22" name="vis:icon"/>
          <p:cNvCxnSpPr/>
          <p:nvPr/>
        </p:nvCxnSpPr>
        <p:spPr>
          <a:xfrm flipH="1">
            <a:off x="819302" y="4079138"/>
            <a:ext cx="117043"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sp>
        <p:nvSpPr>
          <p:cNvPr id="23" name="vis:panelitem"/>
          <p:cNvSpPr txBox="1"/>
          <p:nvPr/>
        </p:nvSpPr>
        <p:spPr>
          <a:xfrm>
            <a:off x="1078992" y="4005072"/>
            <a:ext cx="4587087" cy="393192"/>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Answering as messages arrive</a:t>
            </a:r>
          </a:p>
        </p:txBody>
      </p:sp>
      <p:cxnSp>
        <p:nvCxnSpPr>
          <p:cNvPr id="24" name="vis:icon"/>
          <p:cNvCxnSpPr/>
          <p:nvPr/>
        </p:nvCxnSpPr>
        <p:spPr>
          <a:xfrm>
            <a:off x="819302" y="4527194"/>
            <a:ext cx="117043"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cxnSp>
        <p:nvCxnSpPr>
          <p:cNvPr id="25" name="vis:icon"/>
          <p:cNvCxnSpPr/>
          <p:nvPr/>
        </p:nvCxnSpPr>
        <p:spPr>
          <a:xfrm flipH="1">
            <a:off x="819302" y="4527194"/>
            <a:ext cx="117043"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sp>
        <p:nvSpPr>
          <p:cNvPr id="26" name="vis:panelitem"/>
          <p:cNvSpPr txBox="1"/>
          <p:nvPr/>
        </p:nvSpPr>
        <p:spPr>
          <a:xfrm>
            <a:off x="1078992" y="4453128"/>
            <a:ext cx="4587087" cy="393192"/>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Attending anything you were invited to</a:t>
            </a:r>
          </a:p>
        </p:txBody>
      </p:sp>
      <p:cxnSp>
        <p:nvCxnSpPr>
          <p:cNvPr id="27" name="vis:icon"/>
          <p:cNvCxnSpPr/>
          <p:nvPr/>
        </p:nvCxnSpPr>
        <p:spPr>
          <a:xfrm>
            <a:off x="819302" y="4975250"/>
            <a:ext cx="117043"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cxnSp>
        <p:nvCxnSpPr>
          <p:cNvPr id="28" name="vis:icon"/>
          <p:cNvCxnSpPr/>
          <p:nvPr/>
        </p:nvCxnSpPr>
        <p:spPr>
          <a:xfrm flipH="1">
            <a:off x="819302" y="4975250"/>
            <a:ext cx="117043"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sp>
        <p:nvSpPr>
          <p:cNvPr id="29" name="vis:panelitem"/>
          <p:cNvSpPr txBox="1"/>
          <p:nvPr/>
        </p:nvSpPr>
        <p:spPr>
          <a:xfrm>
            <a:off x="1078992" y="4901184"/>
            <a:ext cx="4587087" cy="393192"/>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Solving problems people bring to your desk</a:t>
            </a:r>
          </a:p>
        </p:txBody>
      </p:sp>
      <p:cxnSp>
        <p:nvCxnSpPr>
          <p:cNvPr id="30" name="vis:icon"/>
          <p:cNvCxnSpPr/>
          <p:nvPr/>
        </p:nvCxnSpPr>
        <p:spPr>
          <a:xfrm>
            <a:off x="819302" y="5423306"/>
            <a:ext cx="117043"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cxnSp>
        <p:nvCxnSpPr>
          <p:cNvPr id="31" name="vis:icon"/>
          <p:cNvCxnSpPr/>
          <p:nvPr/>
        </p:nvCxnSpPr>
        <p:spPr>
          <a:xfrm flipH="1">
            <a:off x="819302" y="5423306"/>
            <a:ext cx="117043"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sp>
        <p:nvSpPr>
          <p:cNvPr id="32" name="vis:panelitem"/>
          <p:cNvSpPr txBox="1"/>
          <p:nvPr/>
        </p:nvSpPr>
        <p:spPr>
          <a:xfrm>
            <a:off x="1078992" y="5349240"/>
            <a:ext cx="4587087" cy="393192"/>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Feels productive, and leaves no trace</a:t>
            </a:r>
          </a:p>
        </p:txBody>
      </p:sp>
      <p:sp>
        <p:nvSpPr>
          <p:cNvPr id="33" name="vis:panel"/>
          <p:cNvSpPr/>
          <p:nvPr/>
        </p:nvSpPr>
        <p:spPr>
          <a:xfrm>
            <a:off x="6251295" y="2706624"/>
            <a:ext cx="5437479" cy="3310128"/>
          </a:xfrm>
          <a:prstGeom prst="roundRect">
            <a:avLst>
              <a:gd name="adj" fmla="val 2762"/>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vis:panelspine"/>
          <p:cNvSpPr/>
          <p:nvPr/>
        </p:nvSpPr>
        <p:spPr>
          <a:xfrm>
            <a:off x="6251295" y="2706624"/>
            <a:ext cx="68580" cy="3310128"/>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5" name="vis:chip"/>
          <p:cNvSpPr/>
          <p:nvPr/>
        </p:nvSpPr>
        <p:spPr>
          <a:xfrm>
            <a:off x="6525615" y="2944368"/>
            <a:ext cx="1995910" cy="274320"/>
          </a:xfrm>
          <a:prstGeom prst="roundRect">
            <a:avLst>
              <a:gd name="adj" fmla="val 16666"/>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6" name="vis:chiptext"/>
          <p:cNvSpPr txBox="1"/>
          <p:nvPr/>
        </p:nvSpPr>
        <p:spPr>
          <a:xfrm>
            <a:off x="6681063" y="2971799"/>
            <a:ext cx="1685014"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DELIBERATE WORK</a:t>
            </a:r>
          </a:p>
        </p:txBody>
      </p:sp>
      <p:sp>
        <p:nvSpPr>
          <p:cNvPr id="37" name="vis:paneltitle"/>
          <p:cNvSpPr txBox="1"/>
          <p:nvPr/>
        </p:nvSpPr>
        <p:spPr>
          <a:xfrm>
            <a:off x="6525615" y="3364991"/>
            <a:ext cx="4888839"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Has to be defended</a:t>
            </a:r>
          </a:p>
        </p:txBody>
      </p:sp>
      <p:cxnSp>
        <p:nvCxnSpPr>
          <p:cNvPr id="38" name="vis:icon"/>
          <p:cNvCxnSpPr/>
          <p:nvPr/>
        </p:nvCxnSpPr>
        <p:spPr>
          <a:xfrm>
            <a:off x="6560362" y="4141317"/>
            <a:ext cx="47549" cy="47549"/>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cxnSp>
        <p:nvCxnSpPr>
          <p:cNvPr id="39" name="vis:icon"/>
          <p:cNvCxnSpPr/>
          <p:nvPr/>
        </p:nvCxnSpPr>
        <p:spPr>
          <a:xfrm flipV="1">
            <a:off x="6607911" y="4086453"/>
            <a:ext cx="87783" cy="102413"/>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sp>
        <p:nvSpPr>
          <p:cNvPr id="40" name="vis:panelitem"/>
          <p:cNvSpPr txBox="1"/>
          <p:nvPr/>
        </p:nvSpPr>
        <p:spPr>
          <a:xfrm>
            <a:off x="6827367" y="4005072"/>
            <a:ext cx="4587087" cy="393192"/>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The analysis your manager asked for</a:t>
            </a:r>
          </a:p>
        </p:txBody>
      </p:sp>
      <p:cxnSp>
        <p:nvCxnSpPr>
          <p:cNvPr id="41" name="vis:icon"/>
          <p:cNvCxnSpPr/>
          <p:nvPr/>
        </p:nvCxnSpPr>
        <p:spPr>
          <a:xfrm>
            <a:off x="6560362" y="4589373"/>
            <a:ext cx="47549" cy="47549"/>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cxnSp>
        <p:nvCxnSpPr>
          <p:cNvPr id="42" name="vis:icon"/>
          <p:cNvCxnSpPr/>
          <p:nvPr/>
        </p:nvCxnSpPr>
        <p:spPr>
          <a:xfrm flipV="1">
            <a:off x="6607911" y="4534509"/>
            <a:ext cx="87783" cy="102413"/>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sp>
        <p:nvSpPr>
          <p:cNvPr id="43" name="vis:panelitem"/>
          <p:cNvSpPr txBox="1"/>
          <p:nvPr/>
        </p:nvSpPr>
        <p:spPr>
          <a:xfrm>
            <a:off x="6827367" y="4453128"/>
            <a:ext cx="4587087" cy="393192"/>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The process that keeps breaking</a:t>
            </a:r>
          </a:p>
        </p:txBody>
      </p:sp>
      <p:cxnSp>
        <p:nvCxnSpPr>
          <p:cNvPr id="44" name="vis:icon"/>
          <p:cNvCxnSpPr/>
          <p:nvPr/>
        </p:nvCxnSpPr>
        <p:spPr>
          <a:xfrm>
            <a:off x="6560362" y="5037429"/>
            <a:ext cx="47549" cy="47549"/>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cxnSp>
        <p:nvCxnSpPr>
          <p:cNvPr id="45" name="vis:icon"/>
          <p:cNvCxnSpPr/>
          <p:nvPr/>
        </p:nvCxnSpPr>
        <p:spPr>
          <a:xfrm flipV="1">
            <a:off x="6607911" y="4982565"/>
            <a:ext cx="87783" cy="102413"/>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sp>
        <p:nvSpPr>
          <p:cNvPr id="46" name="vis:panelitem"/>
          <p:cNvSpPr txBox="1"/>
          <p:nvPr/>
        </p:nvSpPr>
        <p:spPr>
          <a:xfrm>
            <a:off x="6827367" y="4901184"/>
            <a:ext cx="4587087" cy="393192"/>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The proposal that would win the account</a:t>
            </a:r>
          </a:p>
        </p:txBody>
      </p:sp>
      <p:cxnSp>
        <p:nvCxnSpPr>
          <p:cNvPr id="47" name="vis:icon"/>
          <p:cNvCxnSpPr/>
          <p:nvPr/>
        </p:nvCxnSpPr>
        <p:spPr>
          <a:xfrm>
            <a:off x="6560362" y="5485485"/>
            <a:ext cx="47549" cy="47549"/>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cxnSp>
        <p:nvCxnSpPr>
          <p:cNvPr id="48" name="vis:icon"/>
          <p:cNvCxnSpPr/>
          <p:nvPr/>
        </p:nvCxnSpPr>
        <p:spPr>
          <a:xfrm flipV="1">
            <a:off x="6607911" y="5430621"/>
            <a:ext cx="87783" cy="102413"/>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sp>
        <p:nvSpPr>
          <p:cNvPr id="49" name="vis:panelitem"/>
          <p:cNvSpPr txBox="1"/>
          <p:nvPr/>
        </p:nvSpPr>
        <p:spPr>
          <a:xfrm>
            <a:off x="6827367" y="5349240"/>
            <a:ext cx="4587087" cy="393192"/>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Never urgent, and the only thing remembered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BUSY IS NOT PRODUCTIVE</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The honest end-of-day test</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PS-04  ·  Time Management</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vis:flowcard"/>
          <p:cNvSpPr/>
          <p:nvPr/>
        </p:nvSpPr>
        <p:spPr>
          <a:xfrm>
            <a:off x="502920" y="2221991"/>
            <a:ext cx="2508427" cy="1920240"/>
          </a:xfrm>
          <a:prstGeom prst="roundRect">
            <a:avLst>
              <a:gd name="adj" fmla="val 476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flownum"/>
          <p:cNvSpPr/>
          <p:nvPr/>
        </p:nvSpPr>
        <p:spPr>
          <a:xfrm>
            <a:off x="685800" y="2039111"/>
            <a:ext cx="384048" cy="384048"/>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flownumtext"/>
          <p:cNvSpPr txBox="1"/>
          <p:nvPr/>
        </p:nvSpPr>
        <p:spPr>
          <a:xfrm>
            <a:off x="685800" y="2116835"/>
            <a:ext cx="384048" cy="237744"/>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1</a:t>
            </a:r>
          </a:p>
        </p:txBody>
      </p:sp>
      <p:sp>
        <p:nvSpPr>
          <p:cNvPr id="18" name="vis:flowtitle"/>
          <p:cNvSpPr txBox="1"/>
          <p:nvPr/>
        </p:nvSpPr>
        <p:spPr>
          <a:xfrm>
            <a:off x="704088" y="2587751"/>
            <a:ext cx="2106091" cy="512064"/>
          </a:xfrm>
          <a:prstGeom prst="rect">
            <a:avLst/>
          </a:prstGeom>
          <a:noFill/>
        </p:spPr>
        <p:txBody>
          <a:bodyPr wrap="square" lIns="0" rIns="0" tIns="0" bIns="0" anchor="t">
            <a:spAutoFit/>
          </a:bodyPr>
          <a:lstStyle/>
          <a:p>
            <a:pPr algn="l">
              <a:lnSpc>
                <a:spcPts val="2080"/>
              </a:lnSpc>
              <a:spcBef>
                <a:spcPts val="0"/>
              </a:spcBef>
              <a:spcAft>
                <a:spcPts val="0"/>
              </a:spcAft>
            </a:pPr>
            <a:r>
              <a:rPr sz="1600" b="0">
                <a:solidFill>
                  <a:srgbClr val="101826"/>
                </a:solidFill>
                <a:latin typeface="Segoe UI Semibold"/>
              </a:rPr>
              <a:t>What did I finish?</a:t>
            </a:r>
          </a:p>
        </p:txBody>
      </p:sp>
      <p:sp>
        <p:nvSpPr>
          <p:cNvPr id="19" name="vis:flowsub"/>
          <p:cNvSpPr txBox="1"/>
          <p:nvPr/>
        </p:nvSpPr>
        <p:spPr>
          <a:xfrm>
            <a:off x="704088" y="3136391"/>
            <a:ext cx="2106091" cy="84124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Not touched, not progressed. Finished.</a:t>
            </a:r>
          </a:p>
        </p:txBody>
      </p:sp>
      <p:cxnSp>
        <p:nvCxnSpPr>
          <p:cNvPr id="20" name="vis:flowarrow"/>
          <p:cNvCxnSpPr/>
          <p:nvPr/>
        </p:nvCxnSpPr>
        <p:spPr>
          <a:xfrm>
            <a:off x="3093643" y="3182111"/>
            <a:ext cx="219456" cy="0"/>
          </a:xfrm>
          <a:prstGeom prst="line">
            <a:avLst/>
          </a:prstGeom>
          <a:ln w="19050">
            <a:solidFill>
              <a:srgbClr val="8A5A0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vis:flowcard"/>
          <p:cNvSpPr/>
          <p:nvPr/>
        </p:nvSpPr>
        <p:spPr>
          <a:xfrm>
            <a:off x="3395395" y="2221991"/>
            <a:ext cx="2508427" cy="1920240"/>
          </a:xfrm>
          <a:prstGeom prst="roundRect">
            <a:avLst>
              <a:gd name="adj" fmla="val 476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flownum"/>
          <p:cNvSpPr/>
          <p:nvPr/>
        </p:nvSpPr>
        <p:spPr>
          <a:xfrm>
            <a:off x="3578275" y="2039111"/>
            <a:ext cx="384048" cy="384048"/>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flownumtext"/>
          <p:cNvSpPr txBox="1"/>
          <p:nvPr/>
        </p:nvSpPr>
        <p:spPr>
          <a:xfrm>
            <a:off x="3578275" y="2116835"/>
            <a:ext cx="384048" cy="237744"/>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2</a:t>
            </a:r>
          </a:p>
        </p:txBody>
      </p:sp>
      <p:sp>
        <p:nvSpPr>
          <p:cNvPr id="24" name="vis:flowtitle"/>
          <p:cNvSpPr txBox="1"/>
          <p:nvPr/>
        </p:nvSpPr>
        <p:spPr>
          <a:xfrm>
            <a:off x="3596563" y="2587751"/>
            <a:ext cx="2106091" cy="512064"/>
          </a:xfrm>
          <a:prstGeom prst="rect">
            <a:avLst/>
          </a:prstGeom>
          <a:noFill/>
        </p:spPr>
        <p:txBody>
          <a:bodyPr wrap="square" lIns="0" rIns="0" tIns="0" bIns="0" anchor="t">
            <a:spAutoFit/>
          </a:bodyPr>
          <a:lstStyle/>
          <a:p>
            <a:pPr algn="l">
              <a:lnSpc>
                <a:spcPts val="2015"/>
              </a:lnSpc>
              <a:spcBef>
                <a:spcPts val="0"/>
              </a:spcBef>
              <a:spcAft>
                <a:spcPts val="0"/>
              </a:spcAft>
            </a:pPr>
            <a:r>
              <a:rPr sz="1550" b="0">
                <a:solidFill>
                  <a:srgbClr val="101826"/>
                </a:solidFill>
                <a:latin typeface="Segoe UI Semibold"/>
              </a:rPr>
              <a:t>Was it on my list this morning?</a:t>
            </a:r>
          </a:p>
        </p:txBody>
      </p:sp>
      <p:sp>
        <p:nvSpPr>
          <p:cNvPr id="25" name="vis:flowsub"/>
          <p:cNvSpPr txBox="1"/>
          <p:nvPr/>
        </p:nvSpPr>
        <p:spPr>
          <a:xfrm>
            <a:off x="3596563" y="3136391"/>
            <a:ext cx="2106091" cy="84124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Or did it arrive and take over?</a:t>
            </a:r>
          </a:p>
        </p:txBody>
      </p:sp>
      <p:cxnSp>
        <p:nvCxnSpPr>
          <p:cNvPr id="26" name="vis:flowarrow"/>
          <p:cNvCxnSpPr/>
          <p:nvPr/>
        </p:nvCxnSpPr>
        <p:spPr>
          <a:xfrm>
            <a:off x="5986119" y="3182111"/>
            <a:ext cx="219456" cy="0"/>
          </a:xfrm>
          <a:prstGeom prst="line">
            <a:avLst/>
          </a:prstGeom>
          <a:ln w="19050">
            <a:solidFill>
              <a:srgbClr val="8A5A0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7" name="vis:flowcard"/>
          <p:cNvSpPr/>
          <p:nvPr/>
        </p:nvSpPr>
        <p:spPr>
          <a:xfrm>
            <a:off x="6287871" y="2221991"/>
            <a:ext cx="2508427" cy="1920240"/>
          </a:xfrm>
          <a:prstGeom prst="roundRect">
            <a:avLst>
              <a:gd name="adj" fmla="val 476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flownum"/>
          <p:cNvSpPr/>
          <p:nvPr/>
        </p:nvSpPr>
        <p:spPr>
          <a:xfrm>
            <a:off x="6470751" y="2039111"/>
            <a:ext cx="384048" cy="384048"/>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flownumtext"/>
          <p:cNvSpPr txBox="1"/>
          <p:nvPr/>
        </p:nvSpPr>
        <p:spPr>
          <a:xfrm>
            <a:off x="6470751" y="2116835"/>
            <a:ext cx="384048" cy="237744"/>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3</a:t>
            </a:r>
          </a:p>
        </p:txBody>
      </p:sp>
      <p:sp>
        <p:nvSpPr>
          <p:cNvPr id="30" name="vis:flowtitle"/>
          <p:cNvSpPr txBox="1"/>
          <p:nvPr/>
        </p:nvSpPr>
        <p:spPr>
          <a:xfrm>
            <a:off x="6489039" y="2587751"/>
            <a:ext cx="2106091" cy="512064"/>
          </a:xfrm>
          <a:prstGeom prst="rect">
            <a:avLst/>
          </a:prstGeom>
          <a:noFill/>
        </p:spPr>
        <p:txBody>
          <a:bodyPr wrap="square" lIns="0" rIns="0" tIns="0" bIns="0" anchor="t">
            <a:spAutoFit/>
          </a:bodyPr>
          <a:lstStyle/>
          <a:p>
            <a:pPr algn="l">
              <a:lnSpc>
                <a:spcPts val="2015"/>
              </a:lnSpc>
              <a:spcBef>
                <a:spcPts val="0"/>
              </a:spcBef>
              <a:spcAft>
                <a:spcPts val="0"/>
              </a:spcAft>
            </a:pPr>
            <a:r>
              <a:rPr sz="1550" b="0">
                <a:solidFill>
                  <a:srgbClr val="101826"/>
                </a:solidFill>
                <a:latin typeface="Segoe UI Semibold"/>
              </a:rPr>
              <a:t>Would my manager count it?</a:t>
            </a:r>
          </a:p>
        </p:txBody>
      </p:sp>
      <p:sp>
        <p:nvSpPr>
          <p:cNvPr id="31" name="vis:flowsub"/>
          <p:cNvSpPr txBox="1"/>
          <p:nvPr/>
        </p:nvSpPr>
        <p:spPr>
          <a:xfrm>
            <a:off x="6489039" y="3136391"/>
            <a:ext cx="2106091" cy="84124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Against what they actually asked for.</a:t>
            </a:r>
          </a:p>
        </p:txBody>
      </p:sp>
      <p:cxnSp>
        <p:nvCxnSpPr>
          <p:cNvPr id="32" name="vis:flowarrow"/>
          <p:cNvCxnSpPr/>
          <p:nvPr/>
        </p:nvCxnSpPr>
        <p:spPr>
          <a:xfrm>
            <a:off x="8878595" y="3182111"/>
            <a:ext cx="219456" cy="0"/>
          </a:xfrm>
          <a:prstGeom prst="line">
            <a:avLst/>
          </a:prstGeom>
          <a:ln w="19050">
            <a:solidFill>
              <a:srgbClr val="8A5A0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3" name="vis:flowcard"/>
          <p:cNvSpPr/>
          <p:nvPr/>
        </p:nvSpPr>
        <p:spPr>
          <a:xfrm>
            <a:off x="9180347" y="2221991"/>
            <a:ext cx="2508427" cy="1920240"/>
          </a:xfrm>
          <a:prstGeom prst="roundRect">
            <a:avLst>
              <a:gd name="adj" fmla="val 476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vis:flownum"/>
          <p:cNvSpPr/>
          <p:nvPr/>
        </p:nvSpPr>
        <p:spPr>
          <a:xfrm>
            <a:off x="9363227" y="2039111"/>
            <a:ext cx="384048" cy="384048"/>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5" name="vis:flownumtext"/>
          <p:cNvSpPr txBox="1"/>
          <p:nvPr/>
        </p:nvSpPr>
        <p:spPr>
          <a:xfrm>
            <a:off x="9363227" y="2116835"/>
            <a:ext cx="384048" cy="237744"/>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4</a:t>
            </a:r>
          </a:p>
        </p:txBody>
      </p:sp>
      <p:sp>
        <p:nvSpPr>
          <p:cNvPr id="36" name="vis:flowtitle"/>
          <p:cNvSpPr txBox="1"/>
          <p:nvPr/>
        </p:nvSpPr>
        <p:spPr>
          <a:xfrm>
            <a:off x="9381515" y="2587751"/>
            <a:ext cx="2106091" cy="512064"/>
          </a:xfrm>
          <a:prstGeom prst="rect">
            <a:avLst/>
          </a:prstGeom>
          <a:noFill/>
        </p:spPr>
        <p:txBody>
          <a:bodyPr wrap="square" lIns="0" rIns="0" tIns="0" bIns="0" anchor="t">
            <a:spAutoFit/>
          </a:bodyPr>
          <a:lstStyle/>
          <a:p>
            <a:pPr algn="l">
              <a:lnSpc>
                <a:spcPts val="2015"/>
              </a:lnSpc>
              <a:spcBef>
                <a:spcPts val="0"/>
              </a:spcBef>
              <a:spcAft>
                <a:spcPts val="0"/>
              </a:spcAft>
            </a:pPr>
            <a:r>
              <a:rPr sz="1550" b="0">
                <a:solidFill>
                  <a:srgbClr val="101826"/>
                </a:solidFill>
                <a:latin typeface="Segoe UI Semibold"/>
              </a:rPr>
              <a:t>If none — that was a reactive day</a:t>
            </a:r>
          </a:p>
        </p:txBody>
      </p:sp>
      <p:sp>
        <p:nvSpPr>
          <p:cNvPr id="37" name="vis:flowsub"/>
          <p:cNvSpPr txBox="1"/>
          <p:nvPr/>
        </p:nvSpPr>
        <p:spPr>
          <a:xfrm>
            <a:off x="9381515" y="3136391"/>
            <a:ext cx="2106091" cy="84124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Two of those a week is normal. Five is a problem.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THE PROTECTED BLOCK</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Two hours, defended</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PS-04  ·  Time Management</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vis:checktile"/>
          <p:cNvSpPr/>
          <p:nvPr/>
        </p:nvSpPr>
        <p:spPr>
          <a:xfrm>
            <a:off x="502920" y="2340864"/>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checkdot"/>
          <p:cNvSpPr/>
          <p:nvPr/>
        </p:nvSpPr>
        <p:spPr>
          <a:xfrm>
            <a:off x="722376" y="2894076"/>
            <a:ext cx="310896" cy="310896"/>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815279" y="3052998"/>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18" name="vis:icon"/>
          <p:cNvCxnSpPr/>
          <p:nvPr/>
        </p:nvCxnSpPr>
        <p:spPr>
          <a:xfrm flipV="1">
            <a:off x="860450" y="3000877"/>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9" name="cell:checkitem"/>
          <p:cNvSpPr txBox="1"/>
          <p:nvPr/>
        </p:nvSpPr>
        <p:spPr>
          <a:xfrm>
            <a:off x="1161288" y="2487168"/>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SAME TIME DAILY — habit beats willpower, every time</a:t>
            </a:r>
          </a:p>
        </p:txBody>
      </p:sp>
      <p:sp>
        <p:nvSpPr>
          <p:cNvPr id="20" name="vis:checktile"/>
          <p:cNvSpPr/>
          <p:nvPr/>
        </p:nvSpPr>
        <p:spPr>
          <a:xfrm>
            <a:off x="6205575" y="2340864"/>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eckdot"/>
          <p:cNvSpPr/>
          <p:nvPr/>
        </p:nvSpPr>
        <p:spPr>
          <a:xfrm>
            <a:off x="6425031" y="2894076"/>
            <a:ext cx="310896" cy="310896"/>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6517934" y="3052998"/>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3" name="vis:icon"/>
          <p:cNvCxnSpPr/>
          <p:nvPr/>
        </p:nvCxnSpPr>
        <p:spPr>
          <a:xfrm flipV="1">
            <a:off x="6563106" y="3000877"/>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4" name="cell:checkitem"/>
          <p:cNvSpPr txBox="1"/>
          <p:nvPr/>
        </p:nvSpPr>
        <p:spPr>
          <a:xfrm>
            <a:off x="6863943" y="2487168"/>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IN THE CALENDAR — as a real booking, not an intention</a:t>
            </a:r>
          </a:p>
        </p:txBody>
      </p:sp>
      <p:sp>
        <p:nvSpPr>
          <p:cNvPr id="25" name="vis:checktile"/>
          <p:cNvSpPr/>
          <p:nvPr/>
        </p:nvSpPr>
        <p:spPr>
          <a:xfrm>
            <a:off x="502920" y="3977639"/>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checkdot"/>
          <p:cNvSpPr/>
          <p:nvPr/>
        </p:nvSpPr>
        <p:spPr>
          <a:xfrm>
            <a:off x="722376" y="4530852"/>
            <a:ext cx="310896" cy="310896"/>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7" name="vis:icon"/>
          <p:cNvCxnSpPr/>
          <p:nvPr/>
        </p:nvCxnSpPr>
        <p:spPr>
          <a:xfrm>
            <a:off x="815279" y="4689774"/>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8" name="vis:icon"/>
          <p:cNvCxnSpPr/>
          <p:nvPr/>
        </p:nvCxnSpPr>
        <p:spPr>
          <a:xfrm flipV="1">
            <a:off x="860450" y="4637653"/>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9" name="cell:checkitem"/>
          <p:cNvSpPr txBox="1"/>
          <p:nvPr/>
        </p:nvSpPr>
        <p:spPr>
          <a:xfrm>
            <a:off x="1161288" y="4123944"/>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NOTIFICATIONS OFF — email, chat and phone, all of them</a:t>
            </a:r>
          </a:p>
        </p:txBody>
      </p:sp>
      <p:sp>
        <p:nvSpPr>
          <p:cNvPr id="30" name="vis:checktile"/>
          <p:cNvSpPr/>
          <p:nvPr/>
        </p:nvSpPr>
        <p:spPr>
          <a:xfrm>
            <a:off x="6205575" y="3977639"/>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checkdot"/>
          <p:cNvSpPr/>
          <p:nvPr/>
        </p:nvSpPr>
        <p:spPr>
          <a:xfrm>
            <a:off x="6425031" y="4530852"/>
            <a:ext cx="310896" cy="310896"/>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2" name="vis:icon"/>
          <p:cNvCxnSpPr/>
          <p:nvPr/>
        </p:nvCxnSpPr>
        <p:spPr>
          <a:xfrm>
            <a:off x="6517934" y="4689774"/>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3" name="vis:icon"/>
          <p:cNvCxnSpPr/>
          <p:nvPr/>
        </p:nvCxnSpPr>
        <p:spPr>
          <a:xfrm flipV="1">
            <a:off x="6563106" y="4637653"/>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4" name="cell:checkitem"/>
          <p:cNvSpPr txBox="1"/>
          <p:nvPr/>
        </p:nvSpPr>
        <p:spPr>
          <a:xfrm>
            <a:off x="6863943" y="4123944"/>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ONE TASK ONLY — decided the evening before, not at the start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THE PROTECTED BLOCK</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Two hours is enough</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PS-04  ·  Time Management</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vis:tile"/>
          <p:cNvSpPr/>
          <p:nvPr/>
        </p:nvSpPr>
        <p:spPr>
          <a:xfrm>
            <a:off x="502920" y="1719072"/>
            <a:ext cx="3545738" cy="2926080"/>
          </a:xfrm>
          <a:prstGeom prst="roundRect">
            <a:avLst>
              <a:gd name="adj" fmla="val 312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badge"/>
          <p:cNvSpPr/>
          <p:nvPr/>
        </p:nvSpPr>
        <p:spPr>
          <a:xfrm>
            <a:off x="777240" y="2011679"/>
            <a:ext cx="658368" cy="658368"/>
          </a:xfrm>
          <a:prstGeom prst="roundRect">
            <a:avLst>
              <a:gd name="adj" fmla="val 1388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icon"/>
          <p:cNvSpPr/>
          <p:nvPr/>
        </p:nvSpPr>
        <p:spPr>
          <a:xfrm>
            <a:off x="955789" y="2190229"/>
            <a:ext cx="301269" cy="301269"/>
          </a:xfrm>
          <a:prstGeom prst="ellipse">
            <a:avLst/>
          </a:prstGeom>
          <a:noFill/>
          <a:ln w="1905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flipV="1">
            <a:off x="1106424" y="2251852"/>
            <a:ext cx="0" cy="89011"/>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cxnSp>
        <p:nvCxnSpPr>
          <p:cNvPr id="19" name="vis:icon"/>
          <p:cNvCxnSpPr/>
          <p:nvPr/>
        </p:nvCxnSpPr>
        <p:spPr>
          <a:xfrm>
            <a:off x="1106424" y="2340863"/>
            <a:ext cx="75317" cy="27389"/>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20" name="cell:tilelabel"/>
          <p:cNvSpPr txBox="1"/>
          <p:nvPr/>
        </p:nvSpPr>
        <p:spPr>
          <a:xfrm>
            <a:off x="777240" y="2852928"/>
            <a:ext cx="2997098"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Not the whole day</a:t>
            </a:r>
          </a:p>
        </p:txBody>
      </p:sp>
      <p:sp>
        <p:nvSpPr>
          <p:cNvPr id="21" name="cell:tilesub"/>
          <p:cNvSpPr txBox="1"/>
          <p:nvPr/>
        </p:nvSpPr>
        <p:spPr>
          <a:xfrm>
            <a:off x="777240" y="3493008"/>
            <a:ext cx="2997098" cy="91440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Nobody in an operational job protects six hours. Two is achievable and it changes the week.</a:t>
            </a:r>
          </a:p>
        </p:txBody>
      </p:sp>
      <p:sp>
        <p:nvSpPr>
          <p:cNvPr id="22" name="vis:tile"/>
          <p:cNvSpPr/>
          <p:nvPr/>
        </p:nvSpPr>
        <p:spPr>
          <a:xfrm>
            <a:off x="4322978" y="1719072"/>
            <a:ext cx="3545738" cy="2926080"/>
          </a:xfrm>
          <a:prstGeom prst="roundRect">
            <a:avLst>
              <a:gd name="adj" fmla="val 312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badge"/>
          <p:cNvSpPr/>
          <p:nvPr/>
        </p:nvSpPr>
        <p:spPr>
          <a:xfrm>
            <a:off x="4597298" y="2011679"/>
            <a:ext cx="658368" cy="658368"/>
          </a:xfrm>
          <a:prstGeom prst="roundRect">
            <a:avLst>
              <a:gd name="adj" fmla="val 1388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icon"/>
          <p:cNvSpPr/>
          <p:nvPr/>
        </p:nvSpPr>
        <p:spPr>
          <a:xfrm>
            <a:off x="4861435" y="2193652"/>
            <a:ext cx="130093" cy="130093"/>
          </a:xfrm>
          <a:prstGeom prst="ellipse">
            <a:avLst/>
          </a:prstGeom>
          <a:noFill/>
          <a:ln w="1905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icon"/>
          <p:cNvSpPr/>
          <p:nvPr/>
        </p:nvSpPr>
        <p:spPr>
          <a:xfrm>
            <a:off x="4789541" y="2375099"/>
            <a:ext cx="273881" cy="119823"/>
          </a:xfrm>
          <a:custGeom>
            <a:avLst/>
            <a:gdLst/>
            <a:ahLst/>
            <a:cxnLst/>
            <a:rect l="l" t="t" r="r" b="b"/>
            <a:pathLst>
              <a:path w="273881" h="119823">
                <a:moveTo>
                  <a:pt x="0" y="119823"/>
                </a:moveTo>
                <a:lnTo>
                  <a:pt x="20541" y="0"/>
                </a:lnTo>
                <a:lnTo>
                  <a:pt x="253340" y="0"/>
                </a:lnTo>
                <a:lnTo>
                  <a:pt x="273881" y="119823"/>
                </a:lnTo>
              </a:path>
            </a:pathLst>
          </a:custGeom>
          <a:noFill/>
          <a:ln w="1905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cell:tilelabel"/>
          <p:cNvSpPr txBox="1"/>
          <p:nvPr/>
        </p:nvSpPr>
        <p:spPr>
          <a:xfrm>
            <a:off x="4597298" y="2852928"/>
            <a:ext cx="2997098"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Tell people once</a:t>
            </a:r>
          </a:p>
        </p:txBody>
      </p:sp>
      <p:sp>
        <p:nvSpPr>
          <p:cNvPr id="27" name="cell:tilesub"/>
          <p:cNvSpPr txBox="1"/>
          <p:nvPr/>
        </p:nvSpPr>
        <p:spPr>
          <a:xfrm>
            <a:off x="4597298" y="3493008"/>
            <a:ext cx="2997098" cy="91440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"I am heads-down until eleven, catch me after." Most people simply adjust.</a:t>
            </a:r>
          </a:p>
        </p:txBody>
      </p:sp>
      <p:sp>
        <p:nvSpPr>
          <p:cNvPr id="28" name="vis:tile"/>
          <p:cNvSpPr/>
          <p:nvPr/>
        </p:nvSpPr>
        <p:spPr>
          <a:xfrm>
            <a:off x="8143036" y="1719072"/>
            <a:ext cx="3545738" cy="2926080"/>
          </a:xfrm>
          <a:prstGeom prst="roundRect">
            <a:avLst>
              <a:gd name="adj" fmla="val 312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badge"/>
          <p:cNvSpPr/>
          <p:nvPr/>
        </p:nvSpPr>
        <p:spPr>
          <a:xfrm>
            <a:off x="8417356" y="2011679"/>
            <a:ext cx="658368" cy="658368"/>
          </a:xfrm>
          <a:prstGeom prst="roundRect">
            <a:avLst>
              <a:gd name="adj" fmla="val 1388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0" name="vis:icon"/>
          <p:cNvCxnSpPr/>
          <p:nvPr/>
        </p:nvCxnSpPr>
        <p:spPr>
          <a:xfrm>
            <a:off x="8623294" y="2347711"/>
            <a:ext cx="89011" cy="89011"/>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cxnSp>
        <p:nvCxnSpPr>
          <p:cNvPr id="31" name="vis:icon"/>
          <p:cNvCxnSpPr/>
          <p:nvPr/>
        </p:nvCxnSpPr>
        <p:spPr>
          <a:xfrm flipV="1">
            <a:off x="8712305" y="2245005"/>
            <a:ext cx="164329" cy="191717"/>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32" name="cell:tilelabel"/>
          <p:cNvSpPr txBox="1"/>
          <p:nvPr/>
        </p:nvSpPr>
        <p:spPr>
          <a:xfrm>
            <a:off x="8417356" y="2852928"/>
            <a:ext cx="2997098"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Decide the night before</a:t>
            </a:r>
          </a:p>
        </p:txBody>
      </p:sp>
      <p:sp>
        <p:nvSpPr>
          <p:cNvPr id="33" name="cell:tilesub"/>
          <p:cNvSpPr txBox="1"/>
          <p:nvPr/>
        </p:nvSpPr>
        <p:spPr>
          <a:xfrm>
            <a:off x="8417356" y="3493008"/>
            <a:ext cx="2997098" cy="91440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Choosing what to work on inside the block eats into the freshest, most protected part of it.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HANDLING INTERRUPTIONS</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Thirty seconds each</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PS-04  ·  Time Management</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body:lead"/>
          <p:cNvSpPr txBox="1"/>
          <p:nvPr/>
        </p:nvSpPr>
        <p:spPr>
          <a:xfrm>
            <a:off x="502920" y="1719072"/>
            <a:ext cx="8343671" cy="822959"/>
          </a:xfrm>
          <a:prstGeom prst="rect">
            <a:avLst/>
          </a:prstGeom>
          <a:noFill/>
        </p:spPr>
        <p:txBody>
          <a:bodyPr wrap="square" lIns="0" rIns="0" tIns="0" bIns="0" anchor="t">
            <a:spAutoFit/>
          </a:bodyPr>
          <a:lstStyle/>
          <a:p>
            <a:pPr algn="l">
              <a:lnSpc>
                <a:spcPts val="2340"/>
              </a:lnSpc>
              <a:spcBef>
                <a:spcPts val="0"/>
              </a:spcBef>
              <a:spcAft>
                <a:spcPts val="0"/>
              </a:spcAft>
            </a:pPr>
            <a:r>
              <a:rPr sz="1800" b="0">
                <a:solidFill>
                  <a:srgbClr val="2A3547"/>
                </a:solidFill>
                <a:latin typeface="Segoe UI"/>
              </a:rPr>
              <a:t>The cost of an interruption is not the couple of minutes it takes to answer. It is the time it takes afterwards to get back to where you were.</a:t>
            </a:r>
          </a:p>
        </p:txBody>
      </p:sp>
      <p:sp>
        <p:nvSpPr>
          <p:cNvPr id="16" name="vis:promptcard"/>
          <p:cNvSpPr/>
          <p:nvPr/>
        </p:nvSpPr>
        <p:spPr>
          <a:xfrm>
            <a:off x="502920" y="2706624"/>
            <a:ext cx="6935230" cy="2146807"/>
          </a:xfrm>
          <a:prstGeom prst="roundRect">
            <a:avLst>
              <a:gd name="adj" fmla="val 4259"/>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promptbar"/>
          <p:cNvSpPr/>
          <p:nvPr/>
        </p:nvSpPr>
        <p:spPr>
          <a:xfrm>
            <a:off x="502920" y="2706624"/>
            <a:ext cx="6935230" cy="402336"/>
          </a:xfrm>
          <a:prstGeom prst="rect">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icon"/>
          <p:cNvSpPr/>
          <p:nvPr/>
        </p:nvSpPr>
        <p:spPr>
          <a:xfrm>
            <a:off x="739932" y="2828787"/>
            <a:ext cx="184343" cy="122895"/>
          </a:xfrm>
          <a:prstGeom prst="roundRect">
            <a:avLst>
              <a:gd name="adj" fmla="val 37202"/>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flipH="1">
            <a:off x="775045" y="2951683"/>
            <a:ext cx="8778"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0" name="vis:icon"/>
          <p:cNvCxnSpPr/>
          <p:nvPr/>
        </p:nvCxnSpPr>
        <p:spPr>
          <a:xfrm flipV="1">
            <a:off x="775045" y="2951683"/>
            <a:ext cx="48280"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1" name="vis:copybtn"/>
          <p:cNvSpPr/>
          <p:nvPr/>
        </p:nvSpPr>
        <p:spPr>
          <a:xfrm>
            <a:off x="5577981" y="2779776"/>
            <a:ext cx="1677289" cy="256032"/>
          </a:xfrm>
          <a:prstGeom prst="roundRect">
            <a:avLst>
              <a:gd name="adj" fmla="val 1785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icon"/>
          <p:cNvSpPr/>
          <p:nvPr/>
        </p:nvSpPr>
        <p:spPr>
          <a:xfrm>
            <a:off x="5761592" y="2845612"/>
            <a:ext cx="80832" cy="130576"/>
          </a:xfrm>
          <a:prstGeom prst="roundRect">
            <a:avLst>
              <a:gd name="adj" fmla="val 50000"/>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3" name="vis:icon"/>
          <p:cNvCxnSpPr/>
          <p:nvPr/>
        </p:nvCxnSpPr>
        <p:spPr>
          <a:xfrm>
            <a:off x="5780246" y="2882920"/>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4" name="vis:icon"/>
          <p:cNvCxnSpPr/>
          <p:nvPr/>
        </p:nvCxnSpPr>
        <p:spPr>
          <a:xfrm>
            <a:off x="5780246" y="2910900"/>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5" name="vis:icon"/>
          <p:cNvCxnSpPr/>
          <p:nvPr/>
        </p:nvCxnSpPr>
        <p:spPr>
          <a:xfrm>
            <a:off x="5780246" y="2938881"/>
            <a:ext cx="31090"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6" name="vis:copytext"/>
          <p:cNvSpPr txBox="1"/>
          <p:nvPr/>
        </p:nvSpPr>
        <p:spPr>
          <a:xfrm>
            <a:off x="5989461" y="2839212"/>
            <a:ext cx="1064641"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Select + copy</a:t>
            </a:r>
          </a:p>
        </p:txBody>
      </p:sp>
      <p:sp>
        <p:nvSpPr>
          <p:cNvPr id="27" name="vis:prompthdr"/>
          <p:cNvSpPr txBox="1"/>
          <p:nvPr/>
        </p:nvSpPr>
        <p:spPr>
          <a:xfrm>
            <a:off x="1051560" y="2816352"/>
            <a:ext cx="4416693" cy="201168"/>
          </a:xfrm>
          <a:prstGeom prst="rect">
            <a:avLst/>
          </a:prstGeom>
          <a:noFill/>
        </p:spPr>
        <p:txBody>
          <a:bodyPr wrap="square" lIns="0" rIns="0" tIns="0" bIns="0" anchor="t">
            <a:spAutoFit/>
          </a:bodyPr>
          <a:lstStyle/>
          <a:p>
            <a:pPr algn="l">
              <a:lnSpc>
                <a:spcPts val="1560"/>
              </a:lnSpc>
              <a:spcBef>
                <a:spcPts val="0"/>
              </a:spcBef>
              <a:spcAft>
                <a:spcPts val="0"/>
              </a:spcAft>
            </a:pPr>
            <a:r>
              <a:rPr sz="1200" b="0" spc="60">
                <a:solidFill>
                  <a:srgbClr val="FFFFFF"/>
                </a:solidFill>
                <a:latin typeface="Segoe UI Semibold"/>
              </a:rPr>
              <a:t>Copy this wording</a:t>
            </a:r>
          </a:p>
        </p:txBody>
      </p:sp>
      <p:sp>
        <p:nvSpPr>
          <p:cNvPr id="28" name="card:prompt"/>
          <p:cNvSpPr txBox="1"/>
          <p:nvPr/>
        </p:nvSpPr>
        <p:spPr>
          <a:xfrm>
            <a:off x="777240" y="3255264"/>
            <a:ext cx="6386590" cy="924559"/>
          </a:xfrm>
          <a:prstGeom prst="rect">
            <a:avLst/>
          </a:prstGeom>
          <a:noFill/>
        </p:spPr>
        <p:txBody>
          <a:bodyPr wrap="square" lIns="0" rIns="0" tIns="0" bIns="0" anchor="t">
            <a:spAutoFit/>
          </a:bodyPr>
          <a:lstStyle/>
          <a:p>
            <a:pPr algn="l">
              <a:lnSpc>
                <a:spcPts val="1755"/>
              </a:lnSpc>
              <a:spcBef>
                <a:spcPts val="0"/>
              </a:spcBef>
              <a:spcAft>
                <a:spcPts val="0"/>
              </a:spcAft>
            </a:pPr>
            <a:r>
              <a:rPr sz="1350" b="0">
                <a:solidFill>
                  <a:srgbClr val="FFFFFF"/>
                </a:solidFill>
                <a:latin typeface="Consolas"/>
              </a:rPr>
              <a:t>"I am in the middle of something until eleven — is it a two-minute thing or a twenty-minute thing?"  If two minutes: deal with it now.  If twenty: "Let us do it at eleven, I will come to you."</a:t>
            </a:r>
          </a:p>
        </p:txBody>
      </p:sp>
      <p:sp>
        <p:nvSpPr>
          <p:cNvPr id="29" name="vis:promptcap"/>
          <p:cNvSpPr txBox="1"/>
          <p:nvPr/>
        </p:nvSpPr>
        <p:spPr>
          <a:xfrm>
            <a:off x="777240" y="4380992"/>
            <a:ext cx="6386590" cy="252984"/>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C9D1DE"/>
                </a:solidFill>
                <a:latin typeface="Segoe UI"/>
              </a:rPr>
              <a:t>Works in person, on chat, and on the phone.</a:t>
            </a:r>
          </a:p>
        </p:txBody>
      </p:sp>
      <p:sp>
        <p:nvSpPr>
          <p:cNvPr id="30" name="seclabel"/>
          <p:cNvSpPr txBox="1"/>
          <p:nvPr/>
        </p:nvSpPr>
        <p:spPr>
          <a:xfrm>
            <a:off x="7803910" y="2761488"/>
            <a:ext cx="3884864"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WHY THIS WORKS</a:t>
            </a:r>
          </a:p>
        </p:txBody>
      </p:sp>
      <p:cxnSp>
        <p:nvCxnSpPr>
          <p:cNvPr id="31" name="vis:icon"/>
          <p:cNvCxnSpPr/>
          <p:nvPr/>
        </p:nvCxnSpPr>
        <p:spPr>
          <a:xfrm>
            <a:off x="7850361" y="3305007"/>
            <a:ext cx="52304" cy="52304"/>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cxnSp>
        <p:nvCxnSpPr>
          <p:cNvPr id="32" name="vis:icon"/>
          <p:cNvCxnSpPr/>
          <p:nvPr/>
        </p:nvCxnSpPr>
        <p:spPr>
          <a:xfrm flipV="1">
            <a:off x="7902665" y="3244656"/>
            <a:ext cx="96561" cy="112655"/>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33" name="cell:why"/>
          <p:cNvSpPr txBox="1"/>
          <p:nvPr/>
        </p:nvSpPr>
        <p:spPr>
          <a:xfrm>
            <a:off x="8187958" y="3145536"/>
            <a:ext cx="3500816" cy="78638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It does not refuse, so nobody feels turned away.</a:t>
            </a:r>
          </a:p>
        </p:txBody>
      </p:sp>
      <p:cxnSp>
        <p:nvCxnSpPr>
          <p:cNvPr id="34" name="vis:icon"/>
          <p:cNvCxnSpPr/>
          <p:nvPr/>
        </p:nvCxnSpPr>
        <p:spPr>
          <a:xfrm>
            <a:off x="7850361" y="4237695"/>
            <a:ext cx="52304" cy="52304"/>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cxnSp>
        <p:nvCxnSpPr>
          <p:cNvPr id="35" name="vis:icon"/>
          <p:cNvCxnSpPr/>
          <p:nvPr/>
        </p:nvCxnSpPr>
        <p:spPr>
          <a:xfrm flipV="1">
            <a:off x="7902665" y="4177344"/>
            <a:ext cx="96561" cy="112655"/>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36" name="cell:why"/>
          <p:cNvSpPr txBox="1"/>
          <p:nvPr/>
        </p:nvSpPr>
        <p:spPr>
          <a:xfrm>
            <a:off x="8187958" y="4078224"/>
            <a:ext cx="3500816" cy="78638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It makes them size the request, which they rarely have.</a:t>
            </a:r>
          </a:p>
        </p:txBody>
      </p:sp>
      <p:cxnSp>
        <p:nvCxnSpPr>
          <p:cNvPr id="37" name="vis:icon"/>
          <p:cNvCxnSpPr/>
          <p:nvPr/>
        </p:nvCxnSpPr>
        <p:spPr>
          <a:xfrm>
            <a:off x="7850361" y="5170383"/>
            <a:ext cx="52304" cy="52304"/>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cxnSp>
        <p:nvCxnSpPr>
          <p:cNvPr id="38" name="vis:icon"/>
          <p:cNvCxnSpPr/>
          <p:nvPr/>
        </p:nvCxnSpPr>
        <p:spPr>
          <a:xfrm flipV="1">
            <a:off x="7902665" y="5110032"/>
            <a:ext cx="96561" cy="112655"/>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39" name="cell:why"/>
          <p:cNvSpPr txBox="1"/>
          <p:nvPr/>
        </p:nvSpPr>
        <p:spPr>
          <a:xfrm>
            <a:off x="8187958" y="5010912"/>
            <a:ext cx="3500816" cy="78638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You commit to a time, so it does not become a brush-off.</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HANDLING INTERRUPTIONS</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The interruption ledger</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PS-04  ·  Time Management</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vis:outcard"/>
          <p:cNvSpPr/>
          <p:nvPr/>
        </p:nvSpPr>
        <p:spPr>
          <a:xfrm>
            <a:off x="502920" y="1719072"/>
            <a:ext cx="5410047" cy="3291840"/>
          </a:xfrm>
          <a:prstGeom prst="roundRect">
            <a:avLst>
              <a:gd name="adj" fmla="val 27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outspine"/>
          <p:cNvSpPr/>
          <p:nvPr/>
        </p:nvSpPr>
        <p:spPr>
          <a:xfrm>
            <a:off x="502920" y="1719072"/>
            <a:ext cx="68580" cy="329184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chip"/>
          <p:cNvSpPr/>
          <p:nvPr/>
        </p:nvSpPr>
        <p:spPr>
          <a:xfrm>
            <a:off x="758952" y="1920240"/>
            <a:ext cx="2841680" cy="274320"/>
          </a:xfrm>
          <a:prstGeom prst="roundRect">
            <a:avLst>
              <a:gd name="adj" fmla="val 16666"/>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chiptext"/>
          <p:cNvSpPr txBox="1"/>
          <p:nvPr/>
        </p:nvSpPr>
        <p:spPr>
          <a:xfrm>
            <a:off x="914400" y="1947672"/>
            <a:ext cx="2530784"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EVERY INTERRUPTION TAKEN</a:t>
            </a:r>
          </a:p>
        </p:txBody>
      </p:sp>
      <p:sp>
        <p:nvSpPr>
          <p:cNvPr id="19" name="vis:outbody"/>
          <p:cNvSpPr txBox="1"/>
          <p:nvPr/>
        </p:nvSpPr>
        <p:spPr>
          <a:xfrm>
            <a:off x="758952" y="2359152"/>
            <a:ext cx="4897983" cy="2432304"/>
          </a:xfrm>
          <a:prstGeom prst="rect">
            <a:avLst/>
          </a:prstGeom>
          <a:noFill/>
        </p:spPr>
        <p:txBody>
          <a:bodyPr wrap="square" lIns="0" rIns="0" tIns="0" bIns="0" anchor="t">
            <a:spAutoFit/>
          </a:bodyPr>
          <a:lstStyle/>
          <a:p>
            <a:pPr algn="l">
              <a:lnSpc>
                <a:spcPts val="1690"/>
              </a:lnSpc>
              <a:spcBef>
                <a:spcPts val="0"/>
              </a:spcBef>
              <a:spcAft>
                <a:spcPts val="600"/>
              </a:spcAft>
            </a:pPr>
            <a:r>
              <a:rPr sz="1300" b="0">
                <a:solidFill>
                  <a:srgbClr val="2A3547"/>
                </a:solidFill>
                <a:latin typeface="Segoe UI"/>
              </a:rPr>
              <a:t>Eleven interruptions between nine and one.</a:t>
            </a:r>
          </a:p>
          <a:p>
            <a:pPr algn="l">
              <a:lnSpc>
                <a:spcPts val="1690"/>
              </a:lnSpc>
              <a:spcBef>
                <a:spcPts val="0"/>
              </a:spcBef>
              <a:spcAft>
                <a:spcPts val="600"/>
              </a:spcAft>
            </a:pPr>
            <a:r>
              <a:rPr sz="1300" b="0">
                <a:solidFill>
                  <a:srgbClr val="2A3547"/>
                </a:solidFill>
                <a:latin typeface="Segoe UI"/>
              </a:rPr>
              <a:t>Each one costs a couple of minutes to answer, plus real time afterwards to refocus.</a:t>
            </a:r>
          </a:p>
          <a:p>
            <a:pPr algn="l">
              <a:lnSpc>
                <a:spcPts val="1690"/>
              </a:lnSpc>
              <a:spcBef>
                <a:spcPts val="0"/>
              </a:spcBef>
              <a:spcAft>
                <a:spcPts val="600"/>
              </a:spcAft>
            </a:pPr>
            <a:r>
              <a:rPr sz="1300" b="0">
                <a:solidFill>
                  <a:srgbClr val="2A3547"/>
                </a:solidFill>
                <a:latin typeface="Segoe UI"/>
              </a:rPr>
              <a:t>It adds up to far more of the morning than it feels like at the time.</a:t>
            </a:r>
          </a:p>
        </p:txBody>
      </p:sp>
      <p:sp>
        <p:nvSpPr>
          <p:cNvPr id="20" name="vis:outcard"/>
          <p:cNvSpPr/>
          <p:nvPr/>
        </p:nvSpPr>
        <p:spPr>
          <a:xfrm>
            <a:off x="6278727" y="1719072"/>
            <a:ext cx="5410047" cy="3291840"/>
          </a:xfrm>
          <a:prstGeom prst="roundRect">
            <a:avLst>
              <a:gd name="adj" fmla="val 27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outspine"/>
          <p:cNvSpPr/>
          <p:nvPr/>
        </p:nvSpPr>
        <p:spPr>
          <a:xfrm>
            <a:off x="6278727" y="1719072"/>
            <a:ext cx="68580" cy="329184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chip"/>
          <p:cNvSpPr/>
          <p:nvPr/>
        </p:nvSpPr>
        <p:spPr>
          <a:xfrm>
            <a:off x="6534759" y="1920240"/>
            <a:ext cx="2170971" cy="274320"/>
          </a:xfrm>
          <a:prstGeom prst="roundRect">
            <a:avLst>
              <a:gd name="adj" fmla="val 16666"/>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chiptext"/>
          <p:cNvSpPr txBox="1"/>
          <p:nvPr/>
        </p:nvSpPr>
        <p:spPr>
          <a:xfrm>
            <a:off x="6690207" y="1947672"/>
            <a:ext cx="1860075"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BATCHED TO ELEVEN</a:t>
            </a:r>
          </a:p>
        </p:txBody>
      </p:sp>
      <p:sp>
        <p:nvSpPr>
          <p:cNvPr id="24" name="vis:outbody"/>
          <p:cNvSpPr txBox="1"/>
          <p:nvPr/>
        </p:nvSpPr>
        <p:spPr>
          <a:xfrm>
            <a:off x="6534759" y="2359152"/>
            <a:ext cx="4897983" cy="2432304"/>
          </a:xfrm>
          <a:prstGeom prst="rect">
            <a:avLst/>
          </a:prstGeom>
          <a:noFill/>
        </p:spPr>
        <p:txBody>
          <a:bodyPr wrap="square" lIns="0" rIns="0" tIns="0" bIns="0" anchor="t">
            <a:spAutoFit/>
          </a:bodyPr>
          <a:lstStyle/>
          <a:p>
            <a:pPr algn="l">
              <a:lnSpc>
                <a:spcPts val="1690"/>
              </a:lnSpc>
              <a:spcBef>
                <a:spcPts val="0"/>
              </a:spcBef>
              <a:spcAft>
                <a:spcPts val="600"/>
              </a:spcAft>
            </a:pPr>
            <a:r>
              <a:rPr sz="1300" b="0">
                <a:solidFill>
                  <a:srgbClr val="2A3547"/>
                </a:solidFill>
                <a:latin typeface="Segoe UI"/>
              </a:rPr>
              <a:t>Two dealt with instantly, nine held to eleven o'clock.</a:t>
            </a:r>
          </a:p>
          <a:p>
            <a:pPr algn="l">
              <a:lnSpc>
                <a:spcPts val="1690"/>
              </a:lnSpc>
              <a:spcBef>
                <a:spcPts val="0"/>
              </a:spcBef>
              <a:spcAft>
                <a:spcPts val="600"/>
              </a:spcAft>
            </a:pPr>
            <a:r>
              <a:rPr sz="1300" b="0">
                <a:solidFill>
                  <a:srgbClr val="2A3547"/>
                </a:solidFill>
                <a:latin typeface="Segoe UI"/>
              </a:rPr>
              <a:t>Those nine become one short run of conversations, handled together, once.</a:t>
            </a:r>
          </a:p>
          <a:p>
            <a:pPr algn="l">
              <a:lnSpc>
                <a:spcPts val="1690"/>
              </a:lnSpc>
              <a:spcBef>
                <a:spcPts val="0"/>
              </a:spcBef>
              <a:spcAft>
                <a:spcPts val="600"/>
              </a:spcAft>
            </a:pPr>
            <a:r>
              <a:rPr sz="1300" b="0">
                <a:solidFill>
                  <a:srgbClr val="2A3547"/>
                </a:solidFill>
                <a:latin typeface="Segoe UI"/>
              </a:rPr>
              <a:t>The morning block survives, and nobody waited long.</a:t>
            </a:r>
          </a:p>
        </p:txBody>
      </p:sp>
      <p:sp>
        <p:nvSpPr>
          <p:cNvPr id="25" name="cell:banote"/>
          <p:cNvSpPr txBox="1"/>
          <p:nvPr/>
        </p:nvSpPr>
        <p:spPr>
          <a:xfrm>
            <a:off x="502920" y="5193792"/>
            <a:ext cx="11185855" cy="34747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Batching is not avoiding people. It is answering nine of them properly instead of eleven of them badly.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SAYING NO</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Saying no without damage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PS-04  ·  Time Management</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vis:promptcard"/>
          <p:cNvSpPr/>
          <p:nvPr/>
        </p:nvSpPr>
        <p:spPr>
          <a:xfrm>
            <a:off x="502920" y="1719072"/>
            <a:ext cx="6935230" cy="2146807"/>
          </a:xfrm>
          <a:prstGeom prst="roundRect">
            <a:avLst>
              <a:gd name="adj" fmla="val 4259"/>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promptbar"/>
          <p:cNvSpPr/>
          <p:nvPr/>
        </p:nvSpPr>
        <p:spPr>
          <a:xfrm>
            <a:off x="502920" y="1719072"/>
            <a:ext cx="6935230" cy="402336"/>
          </a:xfrm>
          <a:prstGeom prst="rect">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icon"/>
          <p:cNvSpPr/>
          <p:nvPr/>
        </p:nvSpPr>
        <p:spPr>
          <a:xfrm>
            <a:off x="739932" y="1841235"/>
            <a:ext cx="184343" cy="122895"/>
          </a:xfrm>
          <a:prstGeom prst="roundRect">
            <a:avLst>
              <a:gd name="adj" fmla="val 37202"/>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flipH="1">
            <a:off x="775045" y="1964131"/>
            <a:ext cx="8778"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19" name="vis:icon"/>
          <p:cNvCxnSpPr/>
          <p:nvPr/>
        </p:nvCxnSpPr>
        <p:spPr>
          <a:xfrm flipV="1">
            <a:off x="775045" y="1964131"/>
            <a:ext cx="48280"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copybtn"/>
          <p:cNvSpPr/>
          <p:nvPr/>
        </p:nvSpPr>
        <p:spPr>
          <a:xfrm>
            <a:off x="5577981" y="1792224"/>
            <a:ext cx="1677289" cy="256032"/>
          </a:xfrm>
          <a:prstGeom prst="roundRect">
            <a:avLst>
              <a:gd name="adj" fmla="val 1785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icon"/>
          <p:cNvSpPr/>
          <p:nvPr/>
        </p:nvSpPr>
        <p:spPr>
          <a:xfrm>
            <a:off x="5761592" y="1858060"/>
            <a:ext cx="80832" cy="130576"/>
          </a:xfrm>
          <a:prstGeom prst="roundRect">
            <a:avLst>
              <a:gd name="adj" fmla="val 50000"/>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5780246" y="1895368"/>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3" name="vis:icon"/>
          <p:cNvCxnSpPr/>
          <p:nvPr/>
        </p:nvCxnSpPr>
        <p:spPr>
          <a:xfrm>
            <a:off x="5780246" y="1923348"/>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4" name="vis:icon"/>
          <p:cNvCxnSpPr/>
          <p:nvPr/>
        </p:nvCxnSpPr>
        <p:spPr>
          <a:xfrm>
            <a:off x="5780246" y="1951329"/>
            <a:ext cx="31090"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5" name="vis:copytext"/>
          <p:cNvSpPr txBox="1"/>
          <p:nvPr/>
        </p:nvSpPr>
        <p:spPr>
          <a:xfrm>
            <a:off x="5989461" y="1851660"/>
            <a:ext cx="1064641"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Select + copy</a:t>
            </a:r>
          </a:p>
        </p:txBody>
      </p:sp>
      <p:sp>
        <p:nvSpPr>
          <p:cNvPr id="26" name="vis:prompthdr"/>
          <p:cNvSpPr txBox="1"/>
          <p:nvPr/>
        </p:nvSpPr>
        <p:spPr>
          <a:xfrm>
            <a:off x="1051560" y="1828800"/>
            <a:ext cx="4416693" cy="201168"/>
          </a:xfrm>
          <a:prstGeom prst="rect">
            <a:avLst/>
          </a:prstGeom>
          <a:noFill/>
        </p:spPr>
        <p:txBody>
          <a:bodyPr wrap="square" lIns="0" rIns="0" tIns="0" bIns="0" anchor="t">
            <a:spAutoFit/>
          </a:bodyPr>
          <a:lstStyle/>
          <a:p>
            <a:pPr algn="l">
              <a:lnSpc>
                <a:spcPts val="1560"/>
              </a:lnSpc>
              <a:spcBef>
                <a:spcPts val="0"/>
              </a:spcBef>
              <a:spcAft>
                <a:spcPts val="0"/>
              </a:spcAft>
            </a:pPr>
            <a:r>
              <a:rPr sz="1200" b="0" spc="60">
                <a:solidFill>
                  <a:srgbClr val="FFFFFF"/>
                </a:solidFill>
                <a:latin typeface="Segoe UI Semibold"/>
              </a:rPr>
              <a:t>Copy these three</a:t>
            </a:r>
          </a:p>
        </p:txBody>
      </p:sp>
      <p:sp>
        <p:nvSpPr>
          <p:cNvPr id="27" name="card:prompt"/>
          <p:cNvSpPr txBox="1"/>
          <p:nvPr/>
        </p:nvSpPr>
        <p:spPr>
          <a:xfrm>
            <a:off x="777240" y="2267712"/>
            <a:ext cx="6386590" cy="924559"/>
          </a:xfrm>
          <a:prstGeom prst="rect">
            <a:avLst/>
          </a:prstGeom>
          <a:noFill/>
        </p:spPr>
        <p:txBody>
          <a:bodyPr wrap="square" lIns="0" rIns="0" tIns="0" bIns="0" anchor="t">
            <a:spAutoFit/>
          </a:bodyPr>
          <a:lstStyle/>
          <a:p>
            <a:pPr algn="l">
              <a:lnSpc>
                <a:spcPts val="1755"/>
              </a:lnSpc>
              <a:spcBef>
                <a:spcPts val="0"/>
              </a:spcBef>
              <a:spcAft>
                <a:spcPts val="0"/>
              </a:spcAft>
            </a:pPr>
            <a:r>
              <a:rPr sz="1350" b="0">
                <a:solidFill>
                  <a:srgbClr val="FFFFFF"/>
                </a:solidFill>
                <a:latin typeface="Consolas"/>
              </a:rPr>
              <a:t>"I can do that, but it would push the dispatch report to Thursday — is that the right trade?"  /  "Not this week. I could pick it up Monday if that works."  /  "That one sits with Ops — worth asking them, they will do it faster than me."</a:t>
            </a:r>
          </a:p>
        </p:txBody>
      </p:sp>
      <p:sp>
        <p:nvSpPr>
          <p:cNvPr id="28" name="vis:promptcap"/>
          <p:cNvSpPr txBox="1"/>
          <p:nvPr/>
        </p:nvSpPr>
        <p:spPr>
          <a:xfrm>
            <a:off x="777240" y="3393440"/>
            <a:ext cx="6386590" cy="252984"/>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C9D1DE"/>
                </a:solidFill>
                <a:latin typeface="Segoe UI"/>
              </a:rPr>
              <a:t>Trade, defer, redirect. Almost nothing needs a flat no.</a:t>
            </a:r>
          </a:p>
        </p:txBody>
      </p:sp>
      <p:sp>
        <p:nvSpPr>
          <p:cNvPr id="29" name="seclabel"/>
          <p:cNvSpPr txBox="1"/>
          <p:nvPr/>
        </p:nvSpPr>
        <p:spPr>
          <a:xfrm>
            <a:off x="7803910" y="1773936"/>
            <a:ext cx="3884864"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WHY THIS WORKS</a:t>
            </a:r>
          </a:p>
        </p:txBody>
      </p:sp>
      <p:cxnSp>
        <p:nvCxnSpPr>
          <p:cNvPr id="30" name="vis:icon"/>
          <p:cNvCxnSpPr/>
          <p:nvPr/>
        </p:nvCxnSpPr>
        <p:spPr>
          <a:xfrm>
            <a:off x="7850361" y="2317455"/>
            <a:ext cx="52304" cy="52304"/>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cxnSp>
        <p:nvCxnSpPr>
          <p:cNvPr id="31" name="vis:icon"/>
          <p:cNvCxnSpPr/>
          <p:nvPr/>
        </p:nvCxnSpPr>
        <p:spPr>
          <a:xfrm flipV="1">
            <a:off x="7902665" y="2257104"/>
            <a:ext cx="96561" cy="112655"/>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32" name="cell:why"/>
          <p:cNvSpPr txBox="1"/>
          <p:nvPr/>
        </p:nvSpPr>
        <p:spPr>
          <a:xfrm>
            <a:off x="8187958" y="2157984"/>
            <a:ext cx="3500816" cy="78638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The trade version makes the cost visible to them.</a:t>
            </a:r>
          </a:p>
        </p:txBody>
      </p:sp>
      <p:cxnSp>
        <p:nvCxnSpPr>
          <p:cNvPr id="33" name="vis:icon"/>
          <p:cNvCxnSpPr/>
          <p:nvPr/>
        </p:nvCxnSpPr>
        <p:spPr>
          <a:xfrm>
            <a:off x="7850361" y="3250143"/>
            <a:ext cx="52304" cy="52304"/>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cxnSp>
        <p:nvCxnSpPr>
          <p:cNvPr id="34" name="vis:icon"/>
          <p:cNvCxnSpPr/>
          <p:nvPr/>
        </p:nvCxnSpPr>
        <p:spPr>
          <a:xfrm flipV="1">
            <a:off x="7902665" y="3189792"/>
            <a:ext cx="96561" cy="112655"/>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35" name="cell:why"/>
          <p:cNvSpPr txBox="1"/>
          <p:nvPr/>
        </p:nvSpPr>
        <p:spPr>
          <a:xfrm>
            <a:off x="8187958" y="3090672"/>
            <a:ext cx="3500816" cy="78638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The defer version says yes, just later.</a:t>
            </a:r>
          </a:p>
        </p:txBody>
      </p:sp>
      <p:cxnSp>
        <p:nvCxnSpPr>
          <p:cNvPr id="36" name="vis:icon"/>
          <p:cNvCxnSpPr/>
          <p:nvPr/>
        </p:nvCxnSpPr>
        <p:spPr>
          <a:xfrm>
            <a:off x="7850361" y="4182831"/>
            <a:ext cx="52304" cy="52304"/>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cxnSp>
        <p:nvCxnSpPr>
          <p:cNvPr id="37" name="vis:icon"/>
          <p:cNvCxnSpPr/>
          <p:nvPr/>
        </p:nvCxnSpPr>
        <p:spPr>
          <a:xfrm flipV="1">
            <a:off x="7902665" y="4122480"/>
            <a:ext cx="96561" cy="112655"/>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38" name="cell:why"/>
          <p:cNvSpPr txBox="1"/>
          <p:nvPr/>
        </p:nvSpPr>
        <p:spPr>
          <a:xfrm>
            <a:off x="8187958" y="4023360"/>
            <a:ext cx="3500816" cy="78638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The redirect version helps them and costs you nothing.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SAYING NO</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Make the trade visible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PS-04  ·  Time Management</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vis:treeq"/>
          <p:cNvSpPr/>
          <p:nvPr/>
        </p:nvSpPr>
        <p:spPr>
          <a:xfrm>
            <a:off x="3746818" y="1810512"/>
            <a:ext cx="4698059" cy="841248"/>
          </a:xfrm>
          <a:prstGeom prst="roundRect">
            <a:avLst>
              <a:gd name="adj" fmla="val 10869"/>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treeqtext"/>
          <p:cNvSpPr txBox="1"/>
          <p:nvPr/>
        </p:nvSpPr>
        <p:spPr>
          <a:xfrm>
            <a:off x="3947986" y="1938528"/>
            <a:ext cx="4295723" cy="585216"/>
          </a:xfrm>
          <a:prstGeom prst="rect">
            <a:avLst/>
          </a:prstGeom>
          <a:noFill/>
        </p:spPr>
        <p:txBody>
          <a:bodyPr wrap="square" lIns="0" rIns="0" tIns="0" bIns="0" anchor="ctr">
            <a:spAutoFit/>
          </a:bodyPr>
          <a:lstStyle/>
          <a:p>
            <a:pPr algn="ctr">
              <a:lnSpc>
                <a:spcPts val="1950"/>
              </a:lnSpc>
              <a:spcBef>
                <a:spcPts val="0"/>
              </a:spcBef>
              <a:spcAft>
                <a:spcPts val="0"/>
              </a:spcAft>
            </a:pPr>
            <a:r>
              <a:rPr sz="1500" b="0">
                <a:solidFill>
                  <a:srgbClr val="FFFFFF"/>
                </a:solidFill>
                <a:latin typeface="Segoe UI Semibold"/>
              </a:rPr>
              <a:t>Is this coming from my manager?</a:t>
            </a:r>
          </a:p>
        </p:txBody>
      </p:sp>
      <p:cxnSp>
        <p:nvCxnSpPr>
          <p:cNvPr id="17" name="vis:line"/>
          <p:cNvCxnSpPr/>
          <p:nvPr/>
        </p:nvCxnSpPr>
        <p:spPr>
          <a:xfrm>
            <a:off x="6095847" y="2651760"/>
            <a:ext cx="0" cy="237743"/>
          </a:xfrm>
          <a:prstGeom prst="line">
            <a:avLst/>
          </a:prstGeom>
          <a:ln w="19050">
            <a:solidFill>
              <a:srgbClr val="C9D1DE"/>
            </a:solidFill>
          </a:ln>
          <a:effectLst/>
        </p:spPr>
        <p:style>
          <a:lnRef idx="2">
            <a:schemeClr val="accent1"/>
          </a:lnRef>
          <a:fillRef idx="0">
            <a:schemeClr val="accent1"/>
          </a:fillRef>
          <a:effectRef idx="1">
            <a:schemeClr val="accent1"/>
          </a:effectRef>
          <a:fontRef idx="minor">
            <a:schemeClr val="tx1"/>
          </a:fontRef>
        </p:style>
      </p:cxnSp>
      <p:cxnSp>
        <p:nvCxnSpPr>
          <p:cNvPr id="18" name="vis:line"/>
          <p:cNvCxnSpPr/>
          <p:nvPr/>
        </p:nvCxnSpPr>
        <p:spPr>
          <a:xfrm>
            <a:off x="2516373" y="2889503"/>
            <a:ext cx="7158948" cy="0"/>
          </a:xfrm>
          <a:prstGeom prst="line">
            <a:avLst/>
          </a:prstGeom>
          <a:ln w="19050">
            <a:solidFill>
              <a:srgbClr val="C9D1DE"/>
            </a:solidFill>
          </a:ln>
          <a:effectLst/>
        </p:spPr>
        <p:style>
          <a:lnRef idx="2">
            <a:schemeClr val="accent1"/>
          </a:lnRef>
          <a:fillRef idx="0">
            <a:schemeClr val="accent1"/>
          </a:fillRef>
          <a:effectRef idx="1">
            <a:schemeClr val="accent1"/>
          </a:effectRef>
          <a:fontRef idx="minor">
            <a:schemeClr val="tx1"/>
          </a:fontRef>
        </p:style>
      </p:cxnSp>
      <p:cxnSp>
        <p:nvCxnSpPr>
          <p:cNvPr id="19" name="vis:line"/>
          <p:cNvCxnSpPr/>
          <p:nvPr/>
        </p:nvCxnSpPr>
        <p:spPr>
          <a:xfrm>
            <a:off x="2516373" y="2889503"/>
            <a:ext cx="0" cy="274321"/>
          </a:xfrm>
          <a:prstGeom prst="line">
            <a:avLst/>
          </a:prstGeom>
          <a:ln w="19050">
            <a:solidFill>
              <a:srgbClr val="C9D1D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vis:chip"/>
          <p:cNvSpPr/>
          <p:nvPr/>
        </p:nvSpPr>
        <p:spPr>
          <a:xfrm>
            <a:off x="2138739" y="3026664"/>
            <a:ext cx="755269" cy="274320"/>
          </a:xfrm>
          <a:prstGeom prst="roundRect">
            <a:avLst>
              <a:gd name="adj" fmla="val 16666"/>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iptext"/>
          <p:cNvSpPr txBox="1"/>
          <p:nvPr/>
        </p:nvSpPr>
        <p:spPr>
          <a:xfrm>
            <a:off x="2294187" y="3054096"/>
            <a:ext cx="44437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NO</a:t>
            </a:r>
          </a:p>
        </p:txBody>
      </p:sp>
      <p:sp>
        <p:nvSpPr>
          <p:cNvPr id="22" name="vis:treebox"/>
          <p:cNvSpPr/>
          <p:nvPr/>
        </p:nvSpPr>
        <p:spPr>
          <a:xfrm>
            <a:off x="279202" y="3493008"/>
            <a:ext cx="4474342" cy="2523744"/>
          </a:xfrm>
          <a:prstGeom prst="roundRect">
            <a:avLst>
              <a:gd name="adj" fmla="val 3623"/>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treebar"/>
          <p:cNvSpPr/>
          <p:nvPr/>
        </p:nvSpPr>
        <p:spPr>
          <a:xfrm>
            <a:off x="279202" y="3493008"/>
            <a:ext cx="4474342" cy="68580"/>
          </a:xfrm>
          <a:prstGeom prst="rect">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icon"/>
          <p:cNvSpPr/>
          <p:nvPr/>
        </p:nvSpPr>
        <p:spPr>
          <a:xfrm>
            <a:off x="571079" y="3834627"/>
            <a:ext cx="153619" cy="153619"/>
          </a:xfrm>
          <a:prstGeom prst="ellipse">
            <a:avLst/>
          </a:prstGeom>
          <a:noFill/>
          <a:ln w="19050">
            <a:solidFill>
              <a:srgbClr val="2A35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5" name="vis:icon"/>
          <p:cNvCxnSpPr/>
          <p:nvPr/>
        </p:nvCxnSpPr>
        <p:spPr>
          <a:xfrm>
            <a:off x="704216" y="3967764"/>
            <a:ext cx="61447" cy="61448"/>
          </a:xfrm>
          <a:prstGeom prst="line">
            <a:avLst/>
          </a:prstGeom>
          <a:ln w="1905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26" name="vis:treelabel"/>
          <p:cNvSpPr txBox="1"/>
          <p:nvPr/>
        </p:nvSpPr>
        <p:spPr>
          <a:xfrm>
            <a:off x="900994" y="3749039"/>
            <a:ext cx="3614806" cy="365760"/>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Defer or redirect</a:t>
            </a:r>
          </a:p>
        </p:txBody>
      </p:sp>
      <p:sp>
        <p:nvSpPr>
          <p:cNvPr id="27" name="vis:treedetail"/>
          <p:cNvSpPr txBox="1"/>
          <p:nvPr/>
        </p:nvSpPr>
        <p:spPr>
          <a:xfrm>
            <a:off x="535234" y="4224528"/>
            <a:ext cx="3962278" cy="159105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A colleague's request rarely needs your immediate week. "Monday" or "Ops will be faster" resolves most of them without any friction.</a:t>
            </a:r>
          </a:p>
        </p:txBody>
      </p:sp>
      <p:cxnSp>
        <p:nvCxnSpPr>
          <p:cNvPr id="28" name="vis:line"/>
          <p:cNvCxnSpPr/>
          <p:nvPr/>
        </p:nvCxnSpPr>
        <p:spPr>
          <a:xfrm>
            <a:off x="9675321" y="2889503"/>
            <a:ext cx="0" cy="274321"/>
          </a:xfrm>
          <a:prstGeom prst="line">
            <a:avLst/>
          </a:prstGeom>
          <a:ln w="19050">
            <a:solidFill>
              <a:srgbClr val="C9D1D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9" name="vis:chip"/>
          <p:cNvSpPr/>
          <p:nvPr/>
        </p:nvSpPr>
        <p:spPr>
          <a:xfrm>
            <a:off x="9282446" y="3026664"/>
            <a:ext cx="785749" cy="274320"/>
          </a:xfrm>
          <a:prstGeom prst="roundRect">
            <a:avLst>
              <a:gd name="adj" fmla="val 16666"/>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chiptext"/>
          <p:cNvSpPr txBox="1"/>
          <p:nvPr/>
        </p:nvSpPr>
        <p:spPr>
          <a:xfrm>
            <a:off x="9437894" y="3054096"/>
            <a:ext cx="474852"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YES</a:t>
            </a:r>
          </a:p>
        </p:txBody>
      </p:sp>
      <p:sp>
        <p:nvSpPr>
          <p:cNvPr id="31" name="vis:treebox"/>
          <p:cNvSpPr/>
          <p:nvPr/>
        </p:nvSpPr>
        <p:spPr>
          <a:xfrm>
            <a:off x="7438150" y="3493008"/>
            <a:ext cx="4474342" cy="2523744"/>
          </a:xfrm>
          <a:prstGeom prst="roundRect">
            <a:avLst>
              <a:gd name="adj" fmla="val 3623"/>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treebar"/>
          <p:cNvSpPr/>
          <p:nvPr/>
        </p:nvSpPr>
        <p:spPr>
          <a:xfrm>
            <a:off x="7438150" y="3493008"/>
            <a:ext cx="4474342" cy="6858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3" name="vis:icon"/>
          <p:cNvCxnSpPr/>
          <p:nvPr/>
        </p:nvCxnSpPr>
        <p:spPr>
          <a:xfrm>
            <a:off x="7730026" y="3937040"/>
            <a:ext cx="66569" cy="66568"/>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cxnSp>
        <p:nvCxnSpPr>
          <p:cNvPr id="34" name="vis:icon"/>
          <p:cNvCxnSpPr/>
          <p:nvPr/>
        </p:nvCxnSpPr>
        <p:spPr>
          <a:xfrm flipV="1">
            <a:off x="7796595" y="3860231"/>
            <a:ext cx="122895" cy="143377"/>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sp>
        <p:nvSpPr>
          <p:cNvPr id="35" name="vis:treelabel"/>
          <p:cNvSpPr txBox="1"/>
          <p:nvPr/>
        </p:nvSpPr>
        <p:spPr>
          <a:xfrm>
            <a:off x="8059942" y="3749039"/>
            <a:ext cx="3614806" cy="365760"/>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Offer the trade</a:t>
            </a:r>
          </a:p>
        </p:txBody>
      </p:sp>
      <p:sp>
        <p:nvSpPr>
          <p:cNvPr id="36" name="vis:treedetail"/>
          <p:cNvSpPr txBox="1"/>
          <p:nvPr/>
        </p:nvSpPr>
        <p:spPr>
          <a:xfrm>
            <a:off x="7694182" y="4224528"/>
            <a:ext cx="3962278" cy="159105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"Happy to — which of these two should slip?" Managers usually do not know what is on your plate, and almost always pick one when asked.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Do this now: book tomorrow</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PS-04  ·  Time Management</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vis:stepnum"/>
          <p:cNvSpPr/>
          <p:nvPr/>
        </p:nvSpPr>
        <p:spPr>
          <a:xfrm>
            <a:off x="502920" y="2027681"/>
            <a:ext cx="347472" cy="34747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stepnumtext"/>
          <p:cNvSpPr txBox="1"/>
          <p:nvPr/>
        </p:nvSpPr>
        <p:spPr>
          <a:xfrm>
            <a:off x="502920" y="2105406"/>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1</a:t>
            </a:r>
          </a:p>
        </p:txBody>
      </p:sp>
      <p:cxnSp>
        <p:nvCxnSpPr>
          <p:cNvPr id="17" name="vis:line"/>
          <p:cNvCxnSpPr/>
          <p:nvPr/>
        </p:nvCxnSpPr>
        <p:spPr>
          <a:xfrm>
            <a:off x="676656" y="2375154"/>
            <a:ext cx="0" cy="76352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18" name="cell:step"/>
          <p:cNvSpPr txBox="1"/>
          <p:nvPr/>
        </p:nvSpPr>
        <p:spPr>
          <a:xfrm>
            <a:off x="1051560" y="1719072"/>
            <a:ext cx="5044287" cy="964692"/>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Open your calendar and find two hours tomorrow morning.</a:t>
            </a:r>
          </a:p>
        </p:txBody>
      </p:sp>
      <p:sp>
        <p:nvSpPr>
          <p:cNvPr id="19" name="vis:stepnum"/>
          <p:cNvSpPr/>
          <p:nvPr/>
        </p:nvSpPr>
        <p:spPr>
          <a:xfrm>
            <a:off x="502920" y="3138677"/>
            <a:ext cx="347472" cy="34747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stepnumtext"/>
          <p:cNvSpPr txBox="1"/>
          <p:nvPr/>
        </p:nvSpPr>
        <p:spPr>
          <a:xfrm>
            <a:off x="502920" y="3216401"/>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2</a:t>
            </a:r>
          </a:p>
        </p:txBody>
      </p:sp>
      <p:cxnSp>
        <p:nvCxnSpPr>
          <p:cNvPr id="21" name="vis:line"/>
          <p:cNvCxnSpPr/>
          <p:nvPr/>
        </p:nvCxnSpPr>
        <p:spPr>
          <a:xfrm>
            <a:off x="676656" y="3486150"/>
            <a:ext cx="0" cy="76352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2" name="cell:step"/>
          <p:cNvSpPr txBox="1"/>
          <p:nvPr/>
        </p:nvSpPr>
        <p:spPr>
          <a:xfrm>
            <a:off x="1051560" y="2830068"/>
            <a:ext cx="5044287" cy="964692"/>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Book them as a real appointment with a name on it.</a:t>
            </a:r>
          </a:p>
        </p:txBody>
      </p:sp>
      <p:sp>
        <p:nvSpPr>
          <p:cNvPr id="23" name="vis:stepnum"/>
          <p:cNvSpPr/>
          <p:nvPr/>
        </p:nvSpPr>
        <p:spPr>
          <a:xfrm>
            <a:off x="502920" y="4249674"/>
            <a:ext cx="347472" cy="34747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stepnumtext"/>
          <p:cNvSpPr txBox="1"/>
          <p:nvPr/>
        </p:nvSpPr>
        <p:spPr>
          <a:xfrm>
            <a:off x="502920" y="4327398"/>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3</a:t>
            </a:r>
          </a:p>
        </p:txBody>
      </p:sp>
      <p:cxnSp>
        <p:nvCxnSpPr>
          <p:cNvPr id="25" name="vis:line"/>
          <p:cNvCxnSpPr/>
          <p:nvPr/>
        </p:nvCxnSpPr>
        <p:spPr>
          <a:xfrm>
            <a:off x="676656" y="4597146"/>
            <a:ext cx="0" cy="76352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6" name="cell:step"/>
          <p:cNvSpPr txBox="1"/>
          <p:nvPr/>
        </p:nvSpPr>
        <p:spPr>
          <a:xfrm>
            <a:off x="1051560" y="3941064"/>
            <a:ext cx="5044287" cy="964692"/>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Write down now which single task you will do in them.</a:t>
            </a:r>
          </a:p>
        </p:txBody>
      </p:sp>
      <p:sp>
        <p:nvSpPr>
          <p:cNvPr id="27" name="vis:stepnum"/>
          <p:cNvSpPr/>
          <p:nvPr/>
        </p:nvSpPr>
        <p:spPr>
          <a:xfrm>
            <a:off x="502920" y="5360670"/>
            <a:ext cx="347472" cy="34747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stepnumtext"/>
          <p:cNvSpPr txBox="1"/>
          <p:nvPr/>
        </p:nvSpPr>
        <p:spPr>
          <a:xfrm>
            <a:off x="502920" y="5438394"/>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4</a:t>
            </a:r>
          </a:p>
        </p:txBody>
      </p:sp>
      <p:sp>
        <p:nvSpPr>
          <p:cNvPr id="29" name="cell:step"/>
          <p:cNvSpPr txBox="1"/>
          <p:nvPr/>
        </p:nvSpPr>
        <p:spPr>
          <a:xfrm>
            <a:off x="1051560" y="5052060"/>
            <a:ext cx="5044287" cy="964692"/>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Turn notifications off before you start, not after.</a:t>
            </a:r>
          </a:p>
        </p:txBody>
      </p:sp>
      <p:sp>
        <p:nvSpPr>
          <p:cNvPr id="30" name="vis:promptcard"/>
          <p:cNvSpPr/>
          <p:nvPr/>
        </p:nvSpPr>
        <p:spPr>
          <a:xfrm>
            <a:off x="6461607" y="1719072"/>
            <a:ext cx="5227167" cy="2609087"/>
          </a:xfrm>
          <a:prstGeom prst="roundRect">
            <a:avLst>
              <a:gd name="adj" fmla="val 3504"/>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promptbar"/>
          <p:cNvSpPr/>
          <p:nvPr/>
        </p:nvSpPr>
        <p:spPr>
          <a:xfrm>
            <a:off x="6461607" y="1719072"/>
            <a:ext cx="5227167" cy="402336"/>
          </a:xfrm>
          <a:prstGeom prst="rect">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icon"/>
          <p:cNvSpPr/>
          <p:nvPr/>
        </p:nvSpPr>
        <p:spPr>
          <a:xfrm>
            <a:off x="6698620" y="1841235"/>
            <a:ext cx="184343" cy="122895"/>
          </a:xfrm>
          <a:prstGeom prst="roundRect">
            <a:avLst>
              <a:gd name="adj" fmla="val 37202"/>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3" name="vis:icon"/>
          <p:cNvCxnSpPr/>
          <p:nvPr/>
        </p:nvCxnSpPr>
        <p:spPr>
          <a:xfrm flipH="1">
            <a:off x="6733733" y="1964131"/>
            <a:ext cx="8778"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4" name="vis:icon"/>
          <p:cNvCxnSpPr/>
          <p:nvPr/>
        </p:nvCxnSpPr>
        <p:spPr>
          <a:xfrm flipV="1">
            <a:off x="6733733" y="1964131"/>
            <a:ext cx="48280"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5" name="vis:copybtn"/>
          <p:cNvSpPr/>
          <p:nvPr/>
        </p:nvSpPr>
        <p:spPr>
          <a:xfrm>
            <a:off x="9828606" y="1792224"/>
            <a:ext cx="1677289" cy="256032"/>
          </a:xfrm>
          <a:prstGeom prst="roundRect">
            <a:avLst>
              <a:gd name="adj" fmla="val 1785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6" name="vis:icon"/>
          <p:cNvSpPr/>
          <p:nvPr/>
        </p:nvSpPr>
        <p:spPr>
          <a:xfrm>
            <a:off x="10012217" y="1858060"/>
            <a:ext cx="80832" cy="130576"/>
          </a:xfrm>
          <a:prstGeom prst="roundRect">
            <a:avLst>
              <a:gd name="adj" fmla="val 50000"/>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7" name="vis:icon"/>
          <p:cNvCxnSpPr/>
          <p:nvPr/>
        </p:nvCxnSpPr>
        <p:spPr>
          <a:xfrm>
            <a:off x="10030871" y="1895368"/>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8" name="vis:icon"/>
          <p:cNvCxnSpPr/>
          <p:nvPr/>
        </p:nvCxnSpPr>
        <p:spPr>
          <a:xfrm>
            <a:off x="10030871" y="1923348"/>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9" name="vis:icon"/>
          <p:cNvCxnSpPr/>
          <p:nvPr/>
        </p:nvCxnSpPr>
        <p:spPr>
          <a:xfrm>
            <a:off x="10030871" y="1951329"/>
            <a:ext cx="31090"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40" name="vis:copytext"/>
          <p:cNvSpPr txBox="1"/>
          <p:nvPr/>
        </p:nvSpPr>
        <p:spPr>
          <a:xfrm>
            <a:off x="10240086" y="1851660"/>
            <a:ext cx="1064641"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Select + copy</a:t>
            </a:r>
          </a:p>
        </p:txBody>
      </p:sp>
      <p:sp>
        <p:nvSpPr>
          <p:cNvPr id="41" name="vis:prompthdr"/>
          <p:cNvSpPr txBox="1"/>
          <p:nvPr/>
        </p:nvSpPr>
        <p:spPr>
          <a:xfrm>
            <a:off x="7010247" y="1828800"/>
            <a:ext cx="2708630" cy="201168"/>
          </a:xfrm>
          <a:prstGeom prst="rect">
            <a:avLst/>
          </a:prstGeom>
          <a:noFill/>
        </p:spPr>
        <p:txBody>
          <a:bodyPr wrap="square" lIns="0" rIns="0" tIns="0" bIns="0" anchor="t">
            <a:spAutoFit/>
          </a:bodyPr>
          <a:lstStyle/>
          <a:p>
            <a:pPr algn="l">
              <a:lnSpc>
                <a:spcPts val="1560"/>
              </a:lnSpc>
              <a:spcBef>
                <a:spcPts val="0"/>
              </a:spcBef>
              <a:spcAft>
                <a:spcPts val="0"/>
              </a:spcAft>
            </a:pPr>
            <a:r>
              <a:rPr sz="1200" b="0" spc="60">
                <a:solidFill>
                  <a:srgbClr val="FFFFFF"/>
                </a:solidFill>
                <a:latin typeface="Segoe UI Semibold"/>
              </a:rPr>
              <a:t>Copy this prompt</a:t>
            </a:r>
          </a:p>
        </p:txBody>
      </p:sp>
      <p:sp>
        <p:nvSpPr>
          <p:cNvPr id="42" name="card:prompt"/>
          <p:cNvSpPr txBox="1"/>
          <p:nvPr/>
        </p:nvSpPr>
        <p:spPr>
          <a:xfrm>
            <a:off x="6735927" y="2267712"/>
            <a:ext cx="4678527" cy="1386839"/>
          </a:xfrm>
          <a:prstGeom prst="rect">
            <a:avLst/>
          </a:prstGeom>
          <a:noFill/>
        </p:spPr>
        <p:txBody>
          <a:bodyPr wrap="square" lIns="0" rIns="0" tIns="0" bIns="0" anchor="t">
            <a:spAutoFit/>
          </a:bodyPr>
          <a:lstStyle/>
          <a:p>
            <a:pPr algn="l">
              <a:lnSpc>
                <a:spcPts val="1755"/>
              </a:lnSpc>
              <a:spcBef>
                <a:spcPts val="0"/>
              </a:spcBef>
              <a:spcAft>
                <a:spcPts val="0"/>
              </a:spcAft>
            </a:pPr>
            <a:r>
              <a:rPr sz="1350" b="0">
                <a:solidFill>
                  <a:srgbClr val="FFFFFF"/>
                </a:solidFill>
                <a:latin typeface="Consolas"/>
              </a:rPr>
              <a:t>I have these tasks and about six working hours tomorrow after meetings. Tell me the single task worth protecting two hours for, and which of the rest can be batched into one afternoon block. Assume my estimates are 50 per cent optimistic.</a:t>
            </a:r>
          </a:p>
        </p:txBody>
      </p:sp>
      <p:sp>
        <p:nvSpPr>
          <p:cNvPr id="43" name="vis:promptcap"/>
          <p:cNvSpPr txBox="1"/>
          <p:nvPr/>
        </p:nvSpPr>
        <p:spPr>
          <a:xfrm>
            <a:off x="6735927" y="3855719"/>
            <a:ext cx="4678527" cy="252984"/>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C9D1DE"/>
                </a:solidFill>
                <a:latin typeface="Segoe UI"/>
              </a:rPr>
              <a:t>Deciding tonight is what makes the block 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Four habits worth having</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PS-04  ·  Time Management</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vis:checktile"/>
          <p:cNvSpPr/>
          <p:nvPr/>
        </p:nvSpPr>
        <p:spPr>
          <a:xfrm>
            <a:off x="502920" y="2340864"/>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checkdot"/>
          <p:cNvSpPr/>
          <p:nvPr/>
        </p:nvSpPr>
        <p:spPr>
          <a:xfrm>
            <a:off x="722376" y="2894076"/>
            <a:ext cx="310896" cy="310896"/>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815279" y="3052998"/>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18" name="vis:icon"/>
          <p:cNvCxnSpPr/>
          <p:nvPr/>
        </p:nvCxnSpPr>
        <p:spPr>
          <a:xfrm flipV="1">
            <a:off x="860450" y="3000877"/>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9" name="cell:checkitem"/>
          <p:cNvSpPr txBox="1"/>
          <p:nvPr/>
        </p:nvSpPr>
        <p:spPr>
          <a:xfrm>
            <a:off x="1161288" y="2487168"/>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Same two hours every day, booked in the calendar.</a:t>
            </a:r>
          </a:p>
        </p:txBody>
      </p:sp>
      <p:sp>
        <p:nvSpPr>
          <p:cNvPr id="20" name="vis:checktile"/>
          <p:cNvSpPr/>
          <p:nvPr/>
        </p:nvSpPr>
        <p:spPr>
          <a:xfrm>
            <a:off x="6205575" y="2340864"/>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eckdot"/>
          <p:cNvSpPr/>
          <p:nvPr/>
        </p:nvSpPr>
        <p:spPr>
          <a:xfrm>
            <a:off x="6425031" y="2894076"/>
            <a:ext cx="310896" cy="310896"/>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6517934" y="3052998"/>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3" name="vis:icon"/>
          <p:cNvCxnSpPr/>
          <p:nvPr/>
        </p:nvCxnSpPr>
        <p:spPr>
          <a:xfrm flipV="1">
            <a:off x="6563106" y="3000877"/>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4" name="cell:checkitem"/>
          <p:cNvSpPr txBox="1"/>
          <p:nvPr/>
        </p:nvSpPr>
        <p:spPr>
          <a:xfrm>
            <a:off x="6863943" y="2487168"/>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Decide the task the evening before, never at the start.</a:t>
            </a:r>
          </a:p>
        </p:txBody>
      </p:sp>
      <p:sp>
        <p:nvSpPr>
          <p:cNvPr id="25" name="vis:checktile"/>
          <p:cNvSpPr/>
          <p:nvPr/>
        </p:nvSpPr>
        <p:spPr>
          <a:xfrm>
            <a:off x="502920" y="3977639"/>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checkdot"/>
          <p:cNvSpPr/>
          <p:nvPr/>
        </p:nvSpPr>
        <p:spPr>
          <a:xfrm>
            <a:off x="722376" y="4530852"/>
            <a:ext cx="310896" cy="310896"/>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7" name="vis:icon"/>
          <p:cNvCxnSpPr/>
          <p:nvPr/>
        </p:nvCxnSpPr>
        <p:spPr>
          <a:xfrm>
            <a:off x="815279" y="4689774"/>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8" name="vis:icon"/>
          <p:cNvCxnSpPr/>
          <p:nvPr/>
        </p:nvCxnSpPr>
        <p:spPr>
          <a:xfrm flipV="1">
            <a:off x="860450" y="4637653"/>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9" name="cell:checkitem"/>
          <p:cNvSpPr txBox="1"/>
          <p:nvPr/>
        </p:nvSpPr>
        <p:spPr>
          <a:xfrm>
            <a:off x="1161288" y="4123944"/>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Batch interruptions to one point in the day.</a:t>
            </a:r>
          </a:p>
        </p:txBody>
      </p:sp>
      <p:sp>
        <p:nvSpPr>
          <p:cNvPr id="30" name="vis:checktile"/>
          <p:cNvSpPr/>
          <p:nvPr/>
        </p:nvSpPr>
        <p:spPr>
          <a:xfrm>
            <a:off x="6205575" y="3977639"/>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checkdot"/>
          <p:cNvSpPr/>
          <p:nvPr/>
        </p:nvSpPr>
        <p:spPr>
          <a:xfrm>
            <a:off x="6425031" y="4530852"/>
            <a:ext cx="310896" cy="310896"/>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2" name="vis:icon"/>
          <p:cNvCxnSpPr/>
          <p:nvPr/>
        </p:nvCxnSpPr>
        <p:spPr>
          <a:xfrm>
            <a:off x="6517934" y="4689774"/>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3" name="vis:icon"/>
          <p:cNvCxnSpPr/>
          <p:nvPr/>
        </p:nvCxnSpPr>
        <p:spPr>
          <a:xfrm flipV="1">
            <a:off x="6563106" y="4637653"/>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4" name="cell:checkitem"/>
          <p:cNvSpPr txBox="1"/>
          <p:nvPr/>
        </p:nvSpPr>
        <p:spPr>
          <a:xfrm>
            <a:off x="6863943" y="4123944"/>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End the day by naming one thing you actually finished.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Five mistakes people really make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PS-04  ·  Time Management</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vis:mistake"/>
          <p:cNvSpPr/>
          <p:nvPr/>
        </p:nvSpPr>
        <p:spPr>
          <a:xfrm>
            <a:off x="502920" y="1719072"/>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mistakebar"/>
          <p:cNvSpPr/>
          <p:nvPr/>
        </p:nvSpPr>
        <p:spPr>
          <a:xfrm>
            <a:off x="502920" y="1719072"/>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mistakenum"/>
          <p:cNvSpPr/>
          <p:nvPr/>
        </p:nvSpPr>
        <p:spPr>
          <a:xfrm>
            <a:off x="740664" y="1927555"/>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mistakenumtext"/>
          <p:cNvSpPr txBox="1"/>
          <p:nvPr/>
        </p:nvSpPr>
        <p:spPr>
          <a:xfrm>
            <a:off x="740664" y="1996135"/>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1</a:t>
            </a:r>
          </a:p>
        </p:txBody>
      </p:sp>
      <p:sp>
        <p:nvSpPr>
          <p:cNvPr id="19" name="cell:mistake"/>
          <p:cNvSpPr txBox="1"/>
          <p:nvPr/>
        </p:nvSpPr>
        <p:spPr>
          <a:xfrm>
            <a:off x="1179576" y="1810512"/>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Leaving the important work until you feel free</a:t>
            </a:r>
          </a:p>
        </p:txBody>
      </p:sp>
      <p:cxnSp>
        <p:nvCxnSpPr>
          <p:cNvPr id="20" name="vis:line"/>
          <p:cNvCxnSpPr/>
          <p:nvPr/>
        </p:nvCxnSpPr>
        <p:spPr>
          <a:xfrm>
            <a:off x="6008686" y="1865376"/>
            <a:ext cx="0" cy="43525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1" name="cell:mistakewhy"/>
          <p:cNvSpPr txBox="1"/>
          <p:nvPr/>
        </p:nvSpPr>
        <p:spPr>
          <a:xfrm>
            <a:off x="6173278" y="1810512"/>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You never feel free. Reactive work expands to fill whatever you leave open.</a:t>
            </a:r>
          </a:p>
        </p:txBody>
      </p:sp>
      <p:sp>
        <p:nvSpPr>
          <p:cNvPr id="22" name="vis:mistake"/>
          <p:cNvSpPr/>
          <p:nvPr/>
        </p:nvSpPr>
        <p:spPr>
          <a:xfrm>
            <a:off x="502920" y="2611526"/>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mistakebar"/>
          <p:cNvSpPr/>
          <p:nvPr/>
        </p:nvSpPr>
        <p:spPr>
          <a:xfrm>
            <a:off x="502920" y="2611526"/>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mistakenum"/>
          <p:cNvSpPr/>
          <p:nvPr/>
        </p:nvSpPr>
        <p:spPr>
          <a:xfrm>
            <a:off x="740664" y="2820009"/>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mistakenumtext"/>
          <p:cNvSpPr txBox="1"/>
          <p:nvPr/>
        </p:nvSpPr>
        <p:spPr>
          <a:xfrm>
            <a:off x="740664" y="2888589"/>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2</a:t>
            </a:r>
          </a:p>
        </p:txBody>
      </p:sp>
      <p:sp>
        <p:nvSpPr>
          <p:cNvPr id="26" name="cell:mistake"/>
          <p:cNvSpPr txBox="1"/>
          <p:nvPr/>
        </p:nvSpPr>
        <p:spPr>
          <a:xfrm>
            <a:off x="1179576" y="2702966"/>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Protecting time but not notifications</a:t>
            </a:r>
          </a:p>
        </p:txBody>
      </p:sp>
      <p:cxnSp>
        <p:nvCxnSpPr>
          <p:cNvPr id="27" name="vis:line"/>
          <p:cNvCxnSpPr/>
          <p:nvPr/>
        </p:nvCxnSpPr>
        <p:spPr>
          <a:xfrm>
            <a:off x="6008686" y="2757830"/>
            <a:ext cx="0" cy="43525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8" name="cell:mistakewhy"/>
          <p:cNvSpPr txBox="1"/>
          <p:nvPr/>
        </p:nvSpPr>
        <p:spPr>
          <a:xfrm>
            <a:off x="6173278" y="2702966"/>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One chat notification breaks the block just as effectively as an open door, whatever your calendar says.</a:t>
            </a:r>
          </a:p>
        </p:txBody>
      </p:sp>
      <p:sp>
        <p:nvSpPr>
          <p:cNvPr id="29" name="vis:mistake"/>
          <p:cNvSpPr/>
          <p:nvPr/>
        </p:nvSpPr>
        <p:spPr>
          <a:xfrm>
            <a:off x="502920" y="3503980"/>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mistakebar"/>
          <p:cNvSpPr/>
          <p:nvPr/>
        </p:nvSpPr>
        <p:spPr>
          <a:xfrm>
            <a:off x="502920" y="3503980"/>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mistakenum"/>
          <p:cNvSpPr/>
          <p:nvPr/>
        </p:nvSpPr>
        <p:spPr>
          <a:xfrm>
            <a:off x="740664" y="3712463"/>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mistakenumtext"/>
          <p:cNvSpPr txBox="1"/>
          <p:nvPr/>
        </p:nvSpPr>
        <p:spPr>
          <a:xfrm>
            <a:off x="740664" y="3781044"/>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3</a:t>
            </a:r>
          </a:p>
        </p:txBody>
      </p:sp>
      <p:sp>
        <p:nvSpPr>
          <p:cNvPr id="33" name="cell:mistake"/>
          <p:cNvSpPr txBox="1"/>
          <p:nvPr/>
        </p:nvSpPr>
        <p:spPr>
          <a:xfrm>
            <a:off x="1179576" y="3595420"/>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Choosing the task at the start of the block</a:t>
            </a:r>
          </a:p>
        </p:txBody>
      </p:sp>
      <p:cxnSp>
        <p:nvCxnSpPr>
          <p:cNvPr id="34" name="vis:line"/>
          <p:cNvCxnSpPr/>
          <p:nvPr/>
        </p:nvCxnSpPr>
        <p:spPr>
          <a:xfrm>
            <a:off x="6008686" y="3650284"/>
            <a:ext cx="0" cy="435255"/>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35" name="cell:mistakewhy"/>
          <p:cNvSpPr txBox="1"/>
          <p:nvPr/>
        </p:nvSpPr>
        <p:spPr>
          <a:xfrm>
            <a:off x="6173278" y="3595420"/>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A meaningful part of the two hours gone before anything moves.</a:t>
            </a:r>
          </a:p>
        </p:txBody>
      </p:sp>
      <p:sp>
        <p:nvSpPr>
          <p:cNvPr id="36" name="vis:mistake"/>
          <p:cNvSpPr/>
          <p:nvPr/>
        </p:nvSpPr>
        <p:spPr>
          <a:xfrm>
            <a:off x="502920" y="4396435"/>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7" name="vis:mistakebar"/>
          <p:cNvSpPr/>
          <p:nvPr/>
        </p:nvSpPr>
        <p:spPr>
          <a:xfrm>
            <a:off x="502920" y="4396435"/>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8" name="vis:mistakenum"/>
          <p:cNvSpPr/>
          <p:nvPr/>
        </p:nvSpPr>
        <p:spPr>
          <a:xfrm>
            <a:off x="740664" y="4604918"/>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9" name="vis:mistakenumtext"/>
          <p:cNvSpPr txBox="1"/>
          <p:nvPr/>
        </p:nvSpPr>
        <p:spPr>
          <a:xfrm>
            <a:off x="740664" y="4673498"/>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4</a:t>
            </a:r>
          </a:p>
        </p:txBody>
      </p:sp>
      <p:sp>
        <p:nvSpPr>
          <p:cNvPr id="40" name="cell:mistake"/>
          <p:cNvSpPr txBox="1"/>
          <p:nvPr/>
        </p:nvSpPr>
        <p:spPr>
          <a:xfrm>
            <a:off x="1179576" y="4487875"/>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Saying yes to everything to be helpful</a:t>
            </a:r>
          </a:p>
        </p:txBody>
      </p:sp>
      <p:cxnSp>
        <p:nvCxnSpPr>
          <p:cNvPr id="41" name="vis:line"/>
          <p:cNvCxnSpPr/>
          <p:nvPr/>
        </p:nvCxnSpPr>
        <p:spPr>
          <a:xfrm>
            <a:off x="6008686" y="4542739"/>
            <a:ext cx="0" cy="43525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42" name="cell:mistakewhy"/>
          <p:cNvSpPr txBox="1"/>
          <p:nvPr/>
        </p:nvSpPr>
        <p:spPr>
          <a:xfrm>
            <a:off x="6173278" y="4487875"/>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You become reliable for small things and unreliable for large ones.</a:t>
            </a:r>
          </a:p>
        </p:txBody>
      </p:sp>
      <p:sp>
        <p:nvSpPr>
          <p:cNvPr id="43" name="vis:mistake"/>
          <p:cNvSpPr/>
          <p:nvPr/>
        </p:nvSpPr>
        <p:spPr>
          <a:xfrm>
            <a:off x="502920" y="5288889"/>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4" name="vis:mistakebar"/>
          <p:cNvSpPr/>
          <p:nvPr/>
        </p:nvSpPr>
        <p:spPr>
          <a:xfrm>
            <a:off x="502920" y="5288889"/>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5" name="vis:mistakenum"/>
          <p:cNvSpPr/>
          <p:nvPr/>
        </p:nvSpPr>
        <p:spPr>
          <a:xfrm>
            <a:off x="740664" y="5497372"/>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6" name="vis:mistakenumtext"/>
          <p:cNvSpPr txBox="1"/>
          <p:nvPr/>
        </p:nvSpPr>
        <p:spPr>
          <a:xfrm>
            <a:off x="740664" y="5565952"/>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5</a:t>
            </a:r>
          </a:p>
        </p:txBody>
      </p:sp>
      <p:sp>
        <p:nvSpPr>
          <p:cNvPr id="47" name="cell:mistake"/>
          <p:cNvSpPr txBox="1"/>
          <p:nvPr/>
        </p:nvSpPr>
        <p:spPr>
          <a:xfrm>
            <a:off x="1179576" y="5380329"/>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Judging the day by how tired you are</a:t>
            </a:r>
          </a:p>
        </p:txBody>
      </p:sp>
      <p:cxnSp>
        <p:nvCxnSpPr>
          <p:cNvPr id="48" name="vis:line"/>
          <p:cNvCxnSpPr/>
          <p:nvPr/>
        </p:nvCxnSpPr>
        <p:spPr>
          <a:xfrm>
            <a:off x="6008686" y="5435193"/>
            <a:ext cx="0" cy="435255"/>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49" name="cell:mistakewhy"/>
          <p:cNvSpPr txBox="1"/>
          <p:nvPr/>
        </p:nvSpPr>
        <p:spPr>
          <a:xfrm>
            <a:off x="6173278" y="5380329"/>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Tiredness measures interruption, not progress. Ask what finished instead.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The meeting you did not need</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PS-04  ·  Time Management</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vis:alertband"/>
          <p:cNvSpPr/>
          <p:nvPr/>
        </p:nvSpPr>
        <p:spPr>
          <a:xfrm>
            <a:off x="0" y="1719072"/>
            <a:ext cx="12191695" cy="9601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519744" y="2014057"/>
            <a:ext cx="386975" cy="353324"/>
          </a:xfrm>
          <a:custGeom>
            <a:avLst/>
            <a:gdLst/>
            <a:ahLst/>
            <a:cxnLst/>
            <a:rect l="l" t="t" r="r" b="b"/>
            <a:pathLst>
              <a:path w="386975" h="353324">
                <a:moveTo>
                  <a:pt x="193488" y="0"/>
                </a:moveTo>
                <a:lnTo>
                  <a:pt x="386975" y="353324"/>
                </a:lnTo>
                <a:lnTo>
                  <a:pt x="0" y="353324"/>
                </a:lnTo>
                <a:close/>
              </a:path>
            </a:pathLst>
          </a:cu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vis:icon"/>
          <p:cNvCxnSpPr/>
          <p:nvPr/>
        </p:nvCxnSpPr>
        <p:spPr>
          <a:xfrm>
            <a:off x="713232" y="2148657"/>
            <a:ext cx="0" cy="105156"/>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692200" y="2291669"/>
            <a:ext cx="42062" cy="4206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9" name="body:alert"/>
          <p:cNvSpPr txBox="1"/>
          <p:nvPr/>
        </p:nvSpPr>
        <p:spPr>
          <a:xfrm>
            <a:off x="1179576" y="1901952"/>
            <a:ext cx="10509199" cy="594360"/>
          </a:xfrm>
          <a:prstGeom prst="rect">
            <a:avLst/>
          </a:prstGeom>
          <a:noFill/>
        </p:spPr>
        <p:txBody>
          <a:bodyPr wrap="square" lIns="0" rIns="0" tIns="0" bIns="0" anchor="ctr">
            <a:spAutoFit/>
          </a:bodyPr>
          <a:lstStyle/>
          <a:p>
            <a:pPr algn="l">
              <a:lnSpc>
                <a:spcPts val="2470"/>
              </a:lnSpc>
              <a:spcBef>
                <a:spcPts val="0"/>
              </a:spcBef>
              <a:spcAft>
                <a:spcPts val="400"/>
              </a:spcAft>
            </a:pPr>
            <a:r>
              <a:rPr sz="1900" b="0">
                <a:solidFill>
                  <a:srgbClr val="FFFFFF"/>
                </a:solidFill>
                <a:latin typeface="Segoe UI Semibold"/>
              </a:rPr>
              <a:t>An hour-long meeting with six people costs six hours. Almost nobody prices it that way.</a:t>
            </a:r>
          </a:p>
          <a:p>
            <a:pPr algn="l">
              <a:lnSpc>
                <a:spcPts val="1755"/>
              </a:lnSpc>
              <a:spcBef>
                <a:spcPts val="0"/>
              </a:spcBef>
              <a:spcAft>
                <a:spcPts val="0"/>
              </a:spcAft>
            </a:pPr>
            <a:r>
              <a:rPr sz="1350" b="0">
                <a:solidFill>
                  <a:srgbClr val="FFFFFF"/>
                </a:solidFill>
                <a:latin typeface="Segoe UI"/>
              </a:rPr>
              <a:t>Declining politely, with a reason and an offer, is normal professional behaviour.</a:t>
            </a:r>
          </a:p>
        </p:txBody>
      </p:sp>
      <p:sp>
        <p:nvSpPr>
          <p:cNvPr id="20" name="vis:checktile"/>
          <p:cNvSpPr/>
          <p:nvPr/>
        </p:nvSpPr>
        <p:spPr>
          <a:xfrm>
            <a:off x="502920" y="2953512"/>
            <a:ext cx="3582314"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eckdot"/>
          <p:cNvSpPr/>
          <p:nvPr/>
        </p:nvSpPr>
        <p:spPr>
          <a:xfrm>
            <a:off x="722376" y="3506724"/>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icon"/>
          <p:cNvSpPr/>
          <p:nvPr/>
        </p:nvSpPr>
        <p:spPr>
          <a:xfrm>
            <a:off x="801380" y="3585728"/>
            <a:ext cx="152887" cy="152887"/>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3" name="vis:icon"/>
          <p:cNvCxnSpPr/>
          <p:nvPr/>
        </p:nvCxnSpPr>
        <p:spPr>
          <a:xfrm>
            <a:off x="823965" y="3608313"/>
            <a:ext cx="107717" cy="107717"/>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4" name="cell:checkitem"/>
          <p:cNvSpPr txBox="1"/>
          <p:nvPr/>
        </p:nvSpPr>
        <p:spPr>
          <a:xfrm>
            <a:off x="1161288" y="3099816"/>
            <a:ext cx="2704490"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No agenda — ask for one first.</a:t>
            </a:r>
          </a:p>
        </p:txBody>
      </p:sp>
      <p:sp>
        <p:nvSpPr>
          <p:cNvPr id="25" name="vis:checktile"/>
          <p:cNvSpPr/>
          <p:nvPr/>
        </p:nvSpPr>
        <p:spPr>
          <a:xfrm>
            <a:off x="4304690" y="2953512"/>
            <a:ext cx="3582314"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checkdot"/>
          <p:cNvSpPr/>
          <p:nvPr/>
        </p:nvSpPr>
        <p:spPr>
          <a:xfrm>
            <a:off x="4524146" y="3506724"/>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7" name="vis:icon"/>
          <p:cNvSpPr/>
          <p:nvPr/>
        </p:nvSpPr>
        <p:spPr>
          <a:xfrm>
            <a:off x="4603150" y="3585728"/>
            <a:ext cx="152887" cy="152887"/>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8" name="vis:icon"/>
          <p:cNvCxnSpPr/>
          <p:nvPr/>
        </p:nvCxnSpPr>
        <p:spPr>
          <a:xfrm>
            <a:off x="4625736" y="3608313"/>
            <a:ext cx="107716" cy="107717"/>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9" name="cell:checkitem"/>
          <p:cNvSpPr txBox="1"/>
          <p:nvPr/>
        </p:nvSpPr>
        <p:spPr>
          <a:xfrm>
            <a:off x="4963058" y="3099816"/>
            <a:ext cx="2704490"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No decision — ask if notes would do.</a:t>
            </a:r>
          </a:p>
        </p:txBody>
      </p:sp>
      <p:sp>
        <p:nvSpPr>
          <p:cNvPr id="30" name="vis:checktile"/>
          <p:cNvSpPr/>
          <p:nvPr/>
        </p:nvSpPr>
        <p:spPr>
          <a:xfrm>
            <a:off x="8106460" y="2953512"/>
            <a:ext cx="3582314"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checkdot"/>
          <p:cNvSpPr/>
          <p:nvPr/>
        </p:nvSpPr>
        <p:spPr>
          <a:xfrm>
            <a:off x="8325916" y="3506724"/>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icon"/>
          <p:cNvSpPr/>
          <p:nvPr/>
        </p:nvSpPr>
        <p:spPr>
          <a:xfrm>
            <a:off x="8404920" y="3585728"/>
            <a:ext cx="152887" cy="152887"/>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3" name="vis:icon"/>
          <p:cNvCxnSpPr/>
          <p:nvPr/>
        </p:nvCxnSpPr>
        <p:spPr>
          <a:xfrm>
            <a:off x="8427506" y="3608313"/>
            <a:ext cx="107716" cy="107717"/>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4" name="cell:checkitem"/>
          <p:cNvSpPr txBox="1"/>
          <p:nvPr/>
        </p:nvSpPr>
        <p:spPr>
          <a:xfrm>
            <a:off x="8764828" y="3099816"/>
            <a:ext cx="2704490"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Not your decision — send someone or read the notes.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The time management rule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PS-04  ·  Time Management</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vis:alertband"/>
          <p:cNvSpPr/>
          <p:nvPr/>
        </p:nvSpPr>
        <p:spPr>
          <a:xfrm>
            <a:off x="0" y="1719072"/>
            <a:ext cx="12191695" cy="960120"/>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519744" y="2014057"/>
            <a:ext cx="386975" cy="353324"/>
          </a:xfrm>
          <a:custGeom>
            <a:avLst/>
            <a:gdLst/>
            <a:ahLst/>
            <a:cxnLst/>
            <a:rect l="l" t="t" r="r" b="b"/>
            <a:pathLst>
              <a:path w="386975" h="353324">
                <a:moveTo>
                  <a:pt x="193488" y="0"/>
                </a:moveTo>
                <a:lnTo>
                  <a:pt x="386975" y="353324"/>
                </a:lnTo>
                <a:lnTo>
                  <a:pt x="0" y="353324"/>
                </a:lnTo>
                <a:close/>
              </a:path>
            </a:pathLst>
          </a:cu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vis:icon"/>
          <p:cNvCxnSpPr/>
          <p:nvPr/>
        </p:nvCxnSpPr>
        <p:spPr>
          <a:xfrm>
            <a:off x="713232" y="2148657"/>
            <a:ext cx="0" cy="105156"/>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692200" y="2291669"/>
            <a:ext cx="42062" cy="4206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9" name="body:alert"/>
          <p:cNvSpPr txBox="1"/>
          <p:nvPr/>
        </p:nvSpPr>
        <p:spPr>
          <a:xfrm>
            <a:off x="1179576" y="1901952"/>
            <a:ext cx="10509199" cy="594360"/>
          </a:xfrm>
          <a:prstGeom prst="rect">
            <a:avLst/>
          </a:prstGeom>
          <a:noFill/>
        </p:spPr>
        <p:txBody>
          <a:bodyPr wrap="square" lIns="0" rIns="0" tIns="0" bIns="0" anchor="ctr">
            <a:spAutoFit/>
          </a:bodyPr>
          <a:lstStyle/>
          <a:p>
            <a:pPr algn="l">
              <a:lnSpc>
                <a:spcPts val="2470"/>
              </a:lnSpc>
              <a:spcBef>
                <a:spcPts val="0"/>
              </a:spcBef>
              <a:spcAft>
                <a:spcPts val="400"/>
              </a:spcAft>
            </a:pPr>
            <a:r>
              <a:rPr sz="1900" b="0">
                <a:solidFill>
                  <a:srgbClr val="FFFFFF"/>
                </a:solidFill>
                <a:latin typeface="Segoe UI Semibold"/>
              </a:rPr>
              <a:t>Two protected hours a day beats ten reactive ones, every week.</a:t>
            </a:r>
          </a:p>
          <a:p>
            <a:pPr algn="l">
              <a:lnSpc>
                <a:spcPts val="1755"/>
              </a:lnSpc>
              <a:spcBef>
                <a:spcPts val="0"/>
              </a:spcBef>
              <a:spcAft>
                <a:spcPts val="0"/>
              </a:spcAft>
            </a:pPr>
            <a:r>
              <a:rPr sz="1350" b="0">
                <a:solidFill>
                  <a:srgbClr val="FFFFFF"/>
                </a:solidFill>
                <a:latin typeface="Segoe UI"/>
              </a:rPr>
              <a:t>The work people remember is almost never the work that was urgent.</a:t>
            </a:r>
          </a:p>
        </p:txBody>
      </p:sp>
      <p:sp>
        <p:nvSpPr>
          <p:cNvPr id="20" name="vis:checktile"/>
          <p:cNvSpPr/>
          <p:nvPr/>
        </p:nvSpPr>
        <p:spPr>
          <a:xfrm>
            <a:off x="502920" y="2953512"/>
            <a:ext cx="3582314"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eckdot"/>
          <p:cNvSpPr/>
          <p:nvPr/>
        </p:nvSpPr>
        <p:spPr>
          <a:xfrm>
            <a:off x="722376" y="3506724"/>
            <a:ext cx="310896" cy="310896"/>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815279" y="3665646"/>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3" name="vis:icon"/>
          <p:cNvCxnSpPr/>
          <p:nvPr/>
        </p:nvCxnSpPr>
        <p:spPr>
          <a:xfrm flipV="1">
            <a:off x="860450" y="3613525"/>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4" name="cell:checkitem"/>
          <p:cNvSpPr txBox="1"/>
          <p:nvPr/>
        </p:nvSpPr>
        <p:spPr>
          <a:xfrm>
            <a:off x="1161288" y="3099816"/>
            <a:ext cx="2704490"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Two hours, same time, defended.</a:t>
            </a:r>
          </a:p>
        </p:txBody>
      </p:sp>
      <p:sp>
        <p:nvSpPr>
          <p:cNvPr id="25" name="vis:checktile"/>
          <p:cNvSpPr/>
          <p:nvPr/>
        </p:nvSpPr>
        <p:spPr>
          <a:xfrm>
            <a:off x="4304690" y="2953512"/>
            <a:ext cx="3582314"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checkdot"/>
          <p:cNvSpPr/>
          <p:nvPr/>
        </p:nvSpPr>
        <p:spPr>
          <a:xfrm>
            <a:off x="4524146" y="3506724"/>
            <a:ext cx="310896" cy="310896"/>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7" name="vis:icon"/>
          <p:cNvCxnSpPr/>
          <p:nvPr/>
        </p:nvCxnSpPr>
        <p:spPr>
          <a:xfrm>
            <a:off x="4617049" y="3665646"/>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8" name="vis:icon"/>
          <p:cNvCxnSpPr/>
          <p:nvPr/>
        </p:nvCxnSpPr>
        <p:spPr>
          <a:xfrm flipV="1">
            <a:off x="4662220" y="3613525"/>
            <a:ext cx="83394"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9" name="cell:checkitem"/>
          <p:cNvSpPr txBox="1"/>
          <p:nvPr/>
        </p:nvSpPr>
        <p:spPr>
          <a:xfrm>
            <a:off x="4963058" y="3099816"/>
            <a:ext cx="2704490"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Interruptions batched, not refused.</a:t>
            </a:r>
          </a:p>
        </p:txBody>
      </p:sp>
      <p:sp>
        <p:nvSpPr>
          <p:cNvPr id="30" name="vis:checktile"/>
          <p:cNvSpPr/>
          <p:nvPr/>
        </p:nvSpPr>
        <p:spPr>
          <a:xfrm>
            <a:off x="8106460" y="2953512"/>
            <a:ext cx="3582314"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checkdot"/>
          <p:cNvSpPr/>
          <p:nvPr/>
        </p:nvSpPr>
        <p:spPr>
          <a:xfrm>
            <a:off x="8325916" y="3506724"/>
            <a:ext cx="310896" cy="310896"/>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2" name="vis:icon"/>
          <p:cNvCxnSpPr/>
          <p:nvPr/>
        </p:nvCxnSpPr>
        <p:spPr>
          <a:xfrm>
            <a:off x="8418819" y="3665646"/>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3" name="vis:icon"/>
          <p:cNvCxnSpPr/>
          <p:nvPr/>
        </p:nvCxnSpPr>
        <p:spPr>
          <a:xfrm flipV="1">
            <a:off x="8463991" y="3613525"/>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4" name="cell:checkitem"/>
          <p:cNvSpPr txBox="1"/>
          <p:nvPr/>
        </p:nvSpPr>
        <p:spPr>
          <a:xfrm>
            <a:off x="8764828" y="3099816"/>
            <a:ext cx="2704490"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Trade offered, not a flat no.</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CHOOSE WHAT YOU'D DO</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Tuesday, 9:40 am</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PS-04  ·  Time Management</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vis:sccard"/>
          <p:cNvSpPr/>
          <p:nvPr/>
        </p:nvSpPr>
        <p:spPr>
          <a:xfrm>
            <a:off x="502920" y="1719072"/>
            <a:ext cx="11185855" cy="1097280"/>
          </a:xfrm>
          <a:prstGeom prst="roundRect">
            <a:avLst>
              <a:gd name="adj" fmla="val 8333"/>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942929" y="2063252"/>
            <a:ext cx="180685" cy="180685"/>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icon"/>
          <p:cNvSpPr/>
          <p:nvPr/>
        </p:nvSpPr>
        <p:spPr>
          <a:xfrm>
            <a:off x="843076" y="2315260"/>
            <a:ext cx="380391" cy="166421"/>
          </a:xfrm>
          <a:custGeom>
            <a:avLst/>
            <a:gdLst/>
            <a:ahLst/>
            <a:cxnLst/>
            <a:rect l="l" t="t" r="r" b="b"/>
            <a:pathLst>
              <a:path w="380391" h="166421">
                <a:moveTo>
                  <a:pt x="0" y="166421"/>
                </a:moveTo>
                <a:lnTo>
                  <a:pt x="28530" y="0"/>
                </a:lnTo>
                <a:lnTo>
                  <a:pt x="351861" y="0"/>
                </a:lnTo>
                <a:lnTo>
                  <a:pt x="380391" y="166421"/>
                </a:lnTo>
              </a:path>
            </a:pathLst>
          </a:cu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body:situation"/>
          <p:cNvSpPr txBox="1"/>
          <p:nvPr/>
        </p:nvSpPr>
        <p:spPr>
          <a:xfrm>
            <a:off x="1472184" y="1901952"/>
            <a:ext cx="9905695" cy="731520"/>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FFFFFF"/>
                </a:solidFill>
                <a:latin typeface="Segoe UI"/>
              </a:rPr>
              <a:t>You are twenty minutes into your protected block on the analysis your manager asked for. A colleague appears at your desk with a question about a delivery.</a:t>
            </a:r>
          </a:p>
        </p:txBody>
      </p:sp>
      <p:sp>
        <p:nvSpPr>
          <p:cNvPr id="19" name="quiz:choice">
            <a:hlinkClick action="ppaction://hlinksldjump" r:id="rId3"/>
          </p:cNvPr>
          <p:cNvSpPr/>
          <p:nvPr/>
        </p:nvSpPr>
        <p:spPr>
          <a:xfrm>
            <a:off x="502920" y="3108960"/>
            <a:ext cx="3570122" cy="2907792"/>
          </a:xfrm>
          <a:prstGeom prst="roundRect">
            <a:avLst>
              <a:gd name="adj" fmla="val 3144"/>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chip"/>
          <p:cNvSpPr/>
          <p:nvPr/>
        </p:nvSpPr>
        <p:spPr>
          <a:xfrm>
            <a:off x="758952" y="3364991"/>
            <a:ext cx="1296924" cy="274320"/>
          </a:xfrm>
          <a:prstGeom prst="roundRect">
            <a:avLst>
              <a:gd name="adj" fmla="val 16666"/>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iptext"/>
          <p:cNvSpPr txBox="1"/>
          <p:nvPr/>
        </p:nvSpPr>
        <p:spPr>
          <a:xfrm>
            <a:off x="914400" y="3392423"/>
            <a:ext cx="986028"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OPTION A</a:t>
            </a:r>
          </a:p>
        </p:txBody>
      </p:sp>
      <p:sp>
        <p:nvSpPr>
          <p:cNvPr id="22" name="cell:choice"/>
          <p:cNvSpPr txBox="1"/>
          <p:nvPr/>
        </p:nvSpPr>
        <p:spPr>
          <a:xfrm>
            <a:off x="758952" y="3913632"/>
            <a:ext cx="3058058" cy="153619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a:rPr>
              <a:t>Deal with it now — it is only a couple of minutes.</a:t>
            </a:r>
          </a:p>
        </p:txBody>
      </p:sp>
      <p:cxnSp>
        <p:nvCxnSpPr>
          <p:cNvPr id="23" name="vis:choicearrow"/>
          <p:cNvCxnSpPr/>
          <p:nvPr/>
        </p:nvCxnSpPr>
        <p:spPr>
          <a:xfrm>
            <a:off x="758952" y="5632704"/>
            <a:ext cx="292608" cy="0"/>
          </a:xfrm>
          <a:prstGeom prst="line">
            <a:avLst/>
          </a:prstGeom>
          <a:ln w="19050">
            <a:solidFill>
              <a:srgbClr val="8A5A0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4" name="cell:choicego"/>
          <p:cNvSpPr txBox="1"/>
          <p:nvPr/>
        </p:nvSpPr>
        <p:spPr>
          <a:xfrm>
            <a:off x="1161288" y="5504688"/>
            <a:ext cx="2655722" cy="25603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See what happens</a:t>
            </a:r>
          </a:p>
        </p:txBody>
      </p:sp>
      <p:sp>
        <p:nvSpPr>
          <p:cNvPr id="25" name="quiz:choice">
            <a:hlinkClick action="ppaction://hlinksldjump" r:id="rId4"/>
          </p:cNvPr>
          <p:cNvSpPr/>
          <p:nvPr/>
        </p:nvSpPr>
        <p:spPr>
          <a:xfrm>
            <a:off x="4310786" y="3108960"/>
            <a:ext cx="3570122" cy="2907792"/>
          </a:xfrm>
          <a:prstGeom prst="roundRect">
            <a:avLst>
              <a:gd name="adj" fmla="val 3144"/>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chip"/>
          <p:cNvSpPr/>
          <p:nvPr/>
        </p:nvSpPr>
        <p:spPr>
          <a:xfrm>
            <a:off x="4566818" y="3364991"/>
            <a:ext cx="1287399" cy="274320"/>
          </a:xfrm>
          <a:prstGeom prst="roundRect">
            <a:avLst>
              <a:gd name="adj" fmla="val 16666"/>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7" name="vis:chiptext"/>
          <p:cNvSpPr txBox="1"/>
          <p:nvPr/>
        </p:nvSpPr>
        <p:spPr>
          <a:xfrm>
            <a:off x="4722266" y="3392423"/>
            <a:ext cx="97650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OPTION B</a:t>
            </a:r>
          </a:p>
        </p:txBody>
      </p:sp>
      <p:sp>
        <p:nvSpPr>
          <p:cNvPr id="28" name="cell:choice"/>
          <p:cNvSpPr txBox="1"/>
          <p:nvPr/>
        </p:nvSpPr>
        <p:spPr>
          <a:xfrm>
            <a:off x="4566818" y="3913632"/>
            <a:ext cx="3058058" cy="153619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a:rPr>
              <a:t>Ask whether it is a two-minute or twenty-minute thing.</a:t>
            </a:r>
          </a:p>
        </p:txBody>
      </p:sp>
      <p:cxnSp>
        <p:nvCxnSpPr>
          <p:cNvPr id="29" name="vis:choicearrow"/>
          <p:cNvCxnSpPr/>
          <p:nvPr/>
        </p:nvCxnSpPr>
        <p:spPr>
          <a:xfrm>
            <a:off x="4566818" y="5632704"/>
            <a:ext cx="292608" cy="0"/>
          </a:xfrm>
          <a:prstGeom prst="line">
            <a:avLst/>
          </a:prstGeom>
          <a:ln w="19050">
            <a:solidFill>
              <a:srgbClr val="8A5A0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0" name="cell:choicego"/>
          <p:cNvSpPr txBox="1"/>
          <p:nvPr/>
        </p:nvSpPr>
        <p:spPr>
          <a:xfrm>
            <a:off x="4969154" y="5504688"/>
            <a:ext cx="2655722" cy="25603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See what happens</a:t>
            </a:r>
          </a:p>
        </p:txBody>
      </p:sp>
      <p:sp>
        <p:nvSpPr>
          <p:cNvPr id="31" name="quiz:choice">
            <a:hlinkClick action="ppaction://hlinksldjump" r:id="rId5"/>
          </p:cNvPr>
          <p:cNvSpPr/>
          <p:nvPr/>
        </p:nvSpPr>
        <p:spPr>
          <a:xfrm>
            <a:off x="8118652" y="3108960"/>
            <a:ext cx="3570122" cy="2907792"/>
          </a:xfrm>
          <a:prstGeom prst="roundRect">
            <a:avLst>
              <a:gd name="adj" fmla="val 3144"/>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chip"/>
          <p:cNvSpPr/>
          <p:nvPr/>
        </p:nvSpPr>
        <p:spPr>
          <a:xfrm>
            <a:off x="8374684" y="3364991"/>
            <a:ext cx="1290574" cy="274320"/>
          </a:xfrm>
          <a:prstGeom prst="roundRect">
            <a:avLst>
              <a:gd name="adj" fmla="val 16666"/>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chiptext"/>
          <p:cNvSpPr txBox="1"/>
          <p:nvPr/>
        </p:nvSpPr>
        <p:spPr>
          <a:xfrm>
            <a:off x="8530132" y="3392423"/>
            <a:ext cx="979677"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OPTION C</a:t>
            </a:r>
          </a:p>
        </p:txBody>
      </p:sp>
      <p:sp>
        <p:nvSpPr>
          <p:cNvPr id="34" name="cell:choice"/>
          <p:cNvSpPr txBox="1"/>
          <p:nvPr/>
        </p:nvSpPr>
        <p:spPr>
          <a:xfrm>
            <a:off x="8374684" y="3913632"/>
            <a:ext cx="3058058" cy="153619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a:rPr>
              <a:t>Say you are busy and cannot help right now.</a:t>
            </a:r>
          </a:p>
        </p:txBody>
      </p:sp>
      <p:cxnSp>
        <p:nvCxnSpPr>
          <p:cNvPr id="35" name="vis:choicearrow"/>
          <p:cNvCxnSpPr/>
          <p:nvPr/>
        </p:nvCxnSpPr>
        <p:spPr>
          <a:xfrm>
            <a:off x="8374684" y="5632704"/>
            <a:ext cx="292608" cy="0"/>
          </a:xfrm>
          <a:prstGeom prst="line">
            <a:avLst/>
          </a:prstGeom>
          <a:ln w="19050">
            <a:solidFill>
              <a:srgbClr val="8A5A0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6" name="cell:choicego"/>
          <p:cNvSpPr txBox="1"/>
          <p:nvPr/>
        </p:nvSpPr>
        <p:spPr>
          <a:xfrm>
            <a:off x="8777020" y="5504688"/>
            <a:ext cx="2655722" cy="25603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See what happens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 name="vis:icon"/>
          <p:cNvSpPr/>
          <p:nvPr/>
        </p:nvSpPr>
        <p:spPr>
          <a:xfrm>
            <a:off x="519744" y="409285"/>
            <a:ext cx="386975" cy="353324"/>
          </a:xfrm>
          <a:custGeom>
            <a:avLst/>
            <a:gdLst/>
            <a:ahLst/>
            <a:cxnLst/>
            <a:rect l="l" t="t" r="r" b="b"/>
            <a:pathLst>
              <a:path w="386975" h="353324">
                <a:moveTo>
                  <a:pt x="193488" y="0"/>
                </a:moveTo>
                <a:lnTo>
                  <a:pt x="386975" y="353324"/>
                </a:lnTo>
                <a:lnTo>
                  <a:pt x="0" y="353324"/>
                </a:lnTo>
                <a:close/>
              </a:path>
            </a:pathLst>
          </a:cu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vis:icon"/>
          <p:cNvCxnSpPr/>
          <p:nvPr/>
        </p:nvCxnSpPr>
        <p:spPr>
          <a:xfrm>
            <a:off x="713232" y="543885"/>
            <a:ext cx="0" cy="105156"/>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vis:icon"/>
          <p:cNvSpPr/>
          <p:nvPr/>
        </p:nvSpPr>
        <p:spPr>
          <a:xfrm>
            <a:off x="692200" y="686897"/>
            <a:ext cx="42062" cy="4206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6"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Two minutes, plus real time to get back</a:t>
            </a:r>
          </a:p>
        </p:txBody>
      </p:sp>
      <p:sp>
        <p:nvSpPr>
          <p:cNvPr id="7" name="body:consequence"/>
          <p:cNvSpPr txBox="1"/>
          <p:nvPr/>
        </p:nvSpPr>
        <p:spPr>
          <a:xfrm>
            <a:off x="502920" y="1517904"/>
            <a:ext cx="6448882" cy="265176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The question genuinely takes two minutes. Returning to where you were in the analysis takes real time on top of that. Four more colleagues arrive before eleven, and the block produces nothing.</a:t>
            </a:r>
          </a:p>
        </p:txBody>
      </p:sp>
      <p:sp>
        <p:nvSpPr>
          <p:cNvPr id="8" name="vis:fbcard"/>
          <p:cNvSpPr/>
          <p:nvPr/>
        </p:nvSpPr>
        <p:spPr>
          <a:xfrm>
            <a:off x="8082076" y="1517904"/>
            <a:ext cx="3606698" cy="2194560"/>
          </a:xfrm>
          <a:prstGeom prst="roundRect">
            <a:avLst>
              <a:gd name="adj" fmla="val 4166"/>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1755648"/>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THE RULE</a:t>
            </a:r>
          </a:p>
        </p:txBody>
      </p:sp>
      <p:sp>
        <p:nvSpPr>
          <p:cNvPr id="10" name="cell:rule"/>
          <p:cNvSpPr txBox="1"/>
          <p:nvPr/>
        </p:nvSpPr>
        <p:spPr>
          <a:xfrm>
            <a:off x="8356396" y="2121408"/>
            <a:ext cx="3058058" cy="137160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The cost of an interruption is the refocusing, not the answer.</a:t>
            </a:r>
          </a:p>
        </p:txBody>
      </p:sp>
      <p:sp>
        <p:nvSpPr>
          <p:cNvPr id="11" name="nav:scback">
            <a:hlinkClick action="ppaction://hlinksldjump" r:id="rId2"/>
          </p:cNvPr>
          <p:cNvSpPr/>
          <p:nvPr/>
        </p:nvSpPr>
        <p:spPr>
          <a:xfrm>
            <a:off x="502920" y="4718304"/>
            <a:ext cx="301752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scbacktext"/>
          <p:cNvSpPr txBox="1"/>
          <p:nvPr/>
        </p:nvSpPr>
        <p:spPr>
          <a:xfrm>
            <a:off x="777240" y="4882896"/>
            <a:ext cx="246888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Back to the situation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PS-04  ·  Time Management</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Thirty seconds, and the block survives</a:t>
            </a:r>
          </a:p>
        </p:txBody>
      </p:sp>
      <p:sp>
        <p:nvSpPr>
          <p:cNvPr id="6" name="body:consequence"/>
          <p:cNvSpPr txBox="1"/>
          <p:nvPr/>
        </p:nvSpPr>
        <p:spPr>
          <a:xfrm>
            <a:off x="502920" y="1517904"/>
            <a:ext cx="6448882" cy="265176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They think about it and say twenty. You agree eleven o'clock and go to them then. Two others get the same answer, and all three get a better conversation than an interrupted one would have been.</a:t>
            </a:r>
          </a:p>
        </p:txBody>
      </p:sp>
      <p:sp>
        <p:nvSpPr>
          <p:cNvPr id="7" name="vis:fbcard"/>
          <p:cNvSpPr/>
          <p:nvPr/>
        </p:nvSpPr>
        <p:spPr>
          <a:xfrm>
            <a:off x="8082076" y="1517904"/>
            <a:ext cx="3606698" cy="2194560"/>
          </a:xfrm>
          <a:prstGeom prst="roundRect">
            <a:avLst>
              <a:gd name="adj" fmla="val 4166"/>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seclabel"/>
          <p:cNvSpPr txBox="1"/>
          <p:nvPr/>
        </p:nvSpPr>
        <p:spPr>
          <a:xfrm>
            <a:off x="8356396" y="1755648"/>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THE RULE</a:t>
            </a:r>
          </a:p>
        </p:txBody>
      </p:sp>
      <p:sp>
        <p:nvSpPr>
          <p:cNvPr id="9" name="cell:rule"/>
          <p:cNvSpPr txBox="1"/>
          <p:nvPr/>
        </p:nvSpPr>
        <p:spPr>
          <a:xfrm>
            <a:off x="8356396" y="2121408"/>
            <a:ext cx="3058058" cy="137160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Make them size it. Most people have never been asked.</a:t>
            </a:r>
          </a:p>
        </p:txBody>
      </p:sp>
      <p:sp>
        <p:nvSpPr>
          <p:cNvPr id="10" name="nav:scback">
            <a:hlinkClick action="ppaction://hlinksldjump" r:id="rId2"/>
          </p:cNvPr>
          <p:cNvSpPr/>
          <p:nvPr/>
        </p:nvSpPr>
        <p:spPr>
          <a:xfrm>
            <a:off x="502920" y="4718304"/>
            <a:ext cx="301752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1" name="nav:scbacktext"/>
          <p:cNvSpPr txBox="1"/>
          <p:nvPr/>
        </p:nvSpPr>
        <p:spPr>
          <a:xfrm>
            <a:off x="777240" y="4882896"/>
            <a:ext cx="246888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Back to the situation  →</a:t>
            </a:r>
          </a:p>
        </p:txBody>
      </p:sp>
      <p:sp>
        <p:nvSpPr>
          <p:cNvPr id="12"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PS-04  ·  Time Management</a:t>
            </a:r>
          </a:p>
        </p:txBody>
      </p:sp>
      <p:sp>
        <p:nvSpPr>
          <p:cNvPr id="13"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4"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5"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6"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7"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9"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0"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1"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Protects the block, damages the relationship</a:t>
            </a:r>
          </a:p>
        </p:txBody>
      </p:sp>
      <p:sp>
        <p:nvSpPr>
          <p:cNvPr id="6" name="body:consequence"/>
          <p:cNvSpPr txBox="1"/>
          <p:nvPr/>
        </p:nvSpPr>
        <p:spPr>
          <a:xfrm>
            <a:off x="502920" y="1517904"/>
            <a:ext cx="6448882" cy="265176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The block survives and the colleague leaves with nothing. If it genuinely was two minutes, you have made an enemy over 120 seconds. They will remember it next time you need something.</a:t>
            </a:r>
          </a:p>
        </p:txBody>
      </p:sp>
      <p:sp>
        <p:nvSpPr>
          <p:cNvPr id="7" name="vis:fbcard"/>
          <p:cNvSpPr/>
          <p:nvPr/>
        </p:nvSpPr>
        <p:spPr>
          <a:xfrm>
            <a:off x="8082076" y="1517904"/>
            <a:ext cx="3606698" cy="2194560"/>
          </a:xfrm>
          <a:prstGeom prst="roundRect">
            <a:avLst>
              <a:gd name="adj" fmla="val 4166"/>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seclabel"/>
          <p:cNvSpPr txBox="1"/>
          <p:nvPr/>
        </p:nvSpPr>
        <p:spPr>
          <a:xfrm>
            <a:off x="8356396" y="1755648"/>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THE RULE</a:t>
            </a:r>
          </a:p>
        </p:txBody>
      </p:sp>
      <p:sp>
        <p:nvSpPr>
          <p:cNvPr id="9" name="cell:rule"/>
          <p:cNvSpPr txBox="1"/>
          <p:nvPr/>
        </p:nvSpPr>
        <p:spPr>
          <a:xfrm>
            <a:off x="8356396" y="2121408"/>
            <a:ext cx="3058058" cy="137160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Never refuse without offering a time. The offer is the whole difference.</a:t>
            </a:r>
          </a:p>
        </p:txBody>
      </p:sp>
      <p:sp>
        <p:nvSpPr>
          <p:cNvPr id="10" name="nav:scback">
            <a:hlinkClick action="ppaction://hlinksldjump" r:id="rId2"/>
          </p:cNvPr>
          <p:cNvSpPr/>
          <p:nvPr/>
        </p:nvSpPr>
        <p:spPr>
          <a:xfrm>
            <a:off x="502920" y="4718304"/>
            <a:ext cx="301752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1" name="nav:scbacktext"/>
          <p:cNvSpPr txBox="1"/>
          <p:nvPr/>
        </p:nvSpPr>
        <p:spPr>
          <a:xfrm>
            <a:off x="777240" y="4882896"/>
            <a:ext cx="246888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Back to the situation  →</a:t>
            </a:r>
          </a:p>
        </p:txBody>
      </p:sp>
      <p:sp>
        <p:nvSpPr>
          <p:cNvPr id="12"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PS-04  ·  Time Management</a:t>
            </a:r>
          </a:p>
        </p:txBody>
      </p:sp>
      <p:sp>
        <p:nvSpPr>
          <p:cNvPr id="13"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4"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5"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6"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7"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9"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0"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1"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WATCH THIS</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Three minutes, quick summary</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PS-04  ·  Time Management</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3"/>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nav:video">
            <a:hlinkClick r:id="rId2"/>
          </p:cNvPr>
          <p:cNvSpPr/>
          <p:nvPr/>
        </p:nvSpPr>
        <p:spPr>
          <a:xfrm>
            <a:off x="502920" y="1719072"/>
            <a:ext cx="6448882" cy="4297680"/>
          </a:xfrm>
          <a:prstGeom prst="roundRect">
            <a:avLst>
              <a:gd name="adj" fmla="val 2127"/>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play"/>
          <p:cNvSpPr/>
          <p:nvPr/>
        </p:nvSpPr>
        <p:spPr>
          <a:xfrm>
            <a:off x="1161288" y="2432303"/>
            <a:ext cx="950976" cy="950976"/>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playtri"/>
          <p:cNvSpPr/>
          <p:nvPr/>
        </p:nvSpPr>
        <p:spPr>
          <a:xfrm>
            <a:off x="1499616" y="2679191"/>
            <a:ext cx="384048" cy="457200"/>
          </a:xfrm>
          <a:custGeom>
            <a:avLst/>
            <a:gdLst/>
            <a:ahLst/>
            <a:cxnLst/>
            <a:rect l="l" t="t" r="r" b="b"/>
            <a:pathLst>
              <a:path w="384048" h="457200">
                <a:moveTo>
                  <a:pt x="0" y="0"/>
                </a:moveTo>
                <a:lnTo>
                  <a:pt x="384048" y="228600"/>
                </a:lnTo>
                <a:lnTo>
                  <a:pt x="0" y="457200"/>
                </a:lnTo>
                <a:close/>
              </a:path>
            </a:pathLst>
          </a:cu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body:videotitle"/>
          <p:cNvSpPr txBox="1"/>
          <p:nvPr/>
        </p:nvSpPr>
        <p:spPr>
          <a:xfrm>
            <a:off x="2514600" y="2231136"/>
            <a:ext cx="4126306" cy="1371600"/>
          </a:xfrm>
          <a:prstGeom prst="rect">
            <a:avLst/>
          </a:prstGeom>
          <a:noFill/>
        </p:spPr>
        <p:txBody>
          <a:bodyPr wrap="square" lIns="0" rIns="0" tIns="0" bIns="0" anchor="t">
            <a:spAutoFit/>
          </a:bodyPr>
          <a:lstStyle/>
          <a:p>
            <a:pPr algn="l">
              <a:lnSpc>
                <a:spcPts val="2730"/>
              </a:lnSpc>
              <a:spcBef>
                <a:spcPts val="0"/>
              </a:spcBef>
              <a:spcAft>
                <a:spcPts val="0"/>
              </a:spcAft>
            </a:pPr>
            <a:r>
              <a:rPr sz="2100" b="0">
                <a:solidFill>
                  <a:srgbClr val="FFFFFF"/>
                </a:solidFill>
                <a:latin typeface="Segoe UI Semibold"/>
              </a:rPr>
              <a:t>Master Your Minutes - Time Management Hacks (3 Minutes)</a:t>
            </a:r>
          </a:p>
        </p:txBody>
      </p:sp>
      <p:sp>
        <p:nvSpPr>
          <p:cNvPr id="19" name="vis:chip"/>
          <p:cNvSpPr/>
          <p:nvPr/>
        </p:nvSpPr>
        <p:spPr>
          <a:xfrm>
            <a:off x="868680" y="3858768"/>
            <a:ext cx="2177569" cy="292608"/>
          </a:xfrm>
          <a:prstGeom prst="roundRect">
            <a:avLst>
              <a:gd name="adj" fmla="val 15625"/>
            </a:avLst>
          </a:prstGeom>
          <a:noFill/>
          <a:ln w="12700">
            <a:solidFill>
              <a:srgbClr val="848D9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chiptext"/>
          <p:cNvSpPr txBox="1"/>
          <p:nvPr/>
        </p:nvSpPr>
        <p:spPr>
          <a:xfrm>
            <a:off x="1024128" y="3895344"/>
            <a:ext cx="186667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848D9A"/>
                </a:solidFill>
                <a:latin typeface="Segoe UI Semibold"/>
              </a:rPr>
              <a:t>BIOTECH WHISPERER</a:t>
            </a:r>
          </a:p>
        </p:txBody>
      </p:sp>
      <p:sp>
        <p:nvSpPr>
          <p:cNvPr id="21" name="vis:chip"/>
          <p:cNvSpPr/>
          <p:nvPr/>
        </p:nvSpPr>
        <p:spPr>
          <a:xfrm>
            <a:off x="3192553" y="3858768"/>
            <a:ext cx="1230249" cy="292608"/>
          </a:xfrm>
          <a:prstGeom prst="roundRect">
            <a:avLst>
              <a:gd name="adj" fmla="val 15625"/>
            </a:avLst>
          </a:prstGeom>
          <a:noFill/>
          <a:ln w="12700">
            <a:solidFill>
              <a:srgbClr val="848D9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chiptext"/>
          <p:cNvSpPr txBox="1"/>
          <p:nvPr/>
        </p:nvSpPr>
        <p:spPr>
          <a:xfrm>
            <a:off x="3348001" y="3895344"/>
            <a:ext cx="91935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848D9A"/>
                </a:solidFill>
                <a:latin typeface="Segoe UI Semibold"/>
              </a:rPr>
              <a:t>3:00 MIN</a:t>
            </a:r>
          </a:p>
        </p:txBody>
      </p:sp>
      <p:cxnSp>
        <p:nvCxnSpPr>
          <p:cNvPr id="23" name="vis:rule"/>
          <p:cNvCxnSpPr/>
          <p:nvPr/>
        </p:nvCxnSpPr>
        <p:spPr>
          <a:xfrm>
            <a:off x="868680" y="4425696"/>
            <a:ext cx="5717362" cy="0"/>
          </a:xfrm>
          <a:prstGeom prst="line">
            <a:avLst/>
          </a:prstGeom>
          <a:ln w="1270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24" name="body:videonote"/>
          <p:cNvSpPr txBox="1"/>
          <p:nvPr/>
        </p:nvSpPr>
        <p:spPr>
          <a:xfrm>
            <a:off x="868680" y="4645152"/>
            <a:ext cx="5717362" cy="548640"/>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848D9A"/>
                </a:solidFill>
                <a:latin typeface="Segoe UI"/>
              </a:rPr>
              <a:t>An outside video, not company material. Where it differs from this module, follow this module.</a:t>
            </a:r>
          </a:p>
        </p:txBody>
      </p:sp>
      <p:sp>
        <p:nvSpPr>
          <p:cNvPr id="25" name="nav:videobtn">
            <a:hlinkClick r:id="rId2"/>
          </p:cNvPr>
          <p:cNvSpPr/>
          <p:nvPr/>
        </p:nvSpPr>
        <p:spPr>
          <a:xfrm>
            <a:off x="868680" y="5230368"/>
            <a:ext cx="3017520" cy="493776"/>
          </a:xfrm>
          <a:prstGeom prst="roundRect">
            <a:avLst>
              <a:gd name="adj" fmla="val 11111"/>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icon"/>
          <p:cNvSpPr/>
          <p:nvPr/>
        </p:nvSpPr>
        <p:spPr>
          <a:xfrm>
            <a:off x="1069116" y="5370819"/>
            <a:ext cx="153619" cy="153619"/>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7" name="vis:icon"/>
          <p:cNvCxnSpPr/>
          <p:nvPr/>
        </p:nvCxnSpPr>
        <p:spPr>
          <a:xfrm>
            <a:off x="1202253" y="5503956"/>
            <a:ext cx="61447" cy="61448"/>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8" name="nav:videobtntext"/>
          <p:cNvSpPr txBox="1"/>
          <p:nvPr/>
        </p:nvSpPr>
        <p:spPr>
          <a:xfrm>
            <a:off x="1417320" y="5358384"/>
            <a:ext cx="2286000" cy="23774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Click to open on YouTube</a:t>
            </a:r>
          </a:p>
        </p:txBody>
      </p:sp>
      <p:sp>
        <p:nvSpPr>
          <p:cNvPr id="29" name="vis:videohow"/>
          <p:cNvSpPr/>
          <p:nvPr/>
        </p:nvSpPr>
        <p:spPr>
          <a:xfrm>
            <a:off x="8082076" y="1719072"/>
            <a:ext cx="3606698" cy="4297680"/>
          </a:xfrm>
          <a:prstGeom prst="roundRect">
            <a:avLst>
              <a:gd name="adj" fmla="val 253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videospine"/>
          <p:cNvSpPr/>
          <p:nvPr/>
        </p:nvSpPr>
        <p:spPr>
          <a:xfrm>
            <a:off x="8082076" y="1719072"/>
            <a:ext cx="68580" cy="4297680"/>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seclabel"/>
          <p:cNvSpPr txBox="1"/>
          <p:nvPr/>
        </p:nvSpPr>
        <p:spPr>
          <a:xfrm>
            <a:off x="8392972" y="2029967"/>
            <a:ext cx="2984906"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HOW TO USE IT</a:t>
            </a:r>
          </a:p>
        </p:txBody>
      </p:sp>
      <p:cxnSp>
        <p:nvCxnSpPr>
          <p:cNvPr id="32" name="vis:icon"/>
          <p:cNvCxnSpPr/>
          <p:nvPr/>
        </p:nvCxnSpPr>
        <p:spPr>
          <a:xfrm>
            <a:off x="8439424" y="2628351"/>
            <a:ext cx="52304" cy="52304"/>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cxnSp>
        <p:nvCxnSpPr>
          <p:cNvPr id="33" name="vis:icon"/>
          <p:cNvCxnSpPr/>
          <p:nvPr/>
        </p:nvCxnSpPr>
        <p:spPr>
          <a:xfrm flipV="1">
            <a:off x="8491728" y="2568000"/>
            <a:ext cx="96560" cy="112655"/>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34" name="cell:why"/>
          <p:cNvSpPr txBox="1"/>
          <p:nvPr/>
        </p:nvSpPr>
        <p:spPr>
          <a:xfrm>
            <a:off x="8777020" y="2468879"/>
            <a:ext cx="2600858" cy="96926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Optional. Three minutes, so it costs almost nothing.</a:t>
            </a:r>
          </a:p>
        </p:txBody>
      </p:sp>
      <p:cxnSp>
        <p:nvCxnSpPr>
          <p:cNvPr id="35" name="vis:icon"/>
          <p:cNvCxnSpPr/>
          <p:nvPr/>
        </p:nvCxnSpPr>
        <p:spPr>
          <a:xfrm>
            <a:off x="8439424" y="3743919"/>
            <a:ext cx="52304" cy="52304"/>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cxnSp>
        <p:nvCxnSpPr>
          <p:cNvPr id="36" name="vis:icon"/>
          <p:cNvCxnSpPr/>
          <p:nvPr/>
        </p:nvCxnSpPr>
        <p:spPr>
          <a:xfrm flipV="1">
            <a:off x="8491728" y="3683568"/>
            <a:ext cx="96560" cy="112655"/>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37" name="cell:why"/>
          <p:cNvSpPr txBox="1"/>
          <p:nvPr/>
        </p:nvSpPr>
        <p:spPr>
          <a:xfrm>
            <a:off x="8777020" y="3584448"/>
            <a:ext cx="2600858" cy="96926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Useful as a reminder rather than an introduction.</a:t>
            </a:r>
          </a:p>
        </p:txBody>
      </p:sp>
      <p:cxnSp>
        <p:nvCxnSpPr>
          <p:cNvPr id="38" name="vis:icon"/>
          <p:cNvCxnSpPr/>
          <p:nvPr/>
        </p:nvCxnSpPr>
        <p:spPr>
          <a:xfrm>
            <a:off x="8439424" y="4859487"/>
            <a:ext cx="52304" cy="52304"/>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cxnSp>
        <p:nvCxnSpPr>
          <p:cNvPr id="39" name="vis:icon"/>
          <p:cNvCxnSpPr/>
          <p:nvPr/>
        </p:nvCxnSpPr>
        <p:spPr>
          <a:xfrm flipV="1">
            <a:off x="8491728" y="4799136"/>
            <a:ext cx="96560" cy="112655"/>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40" name="cell:why"/>
          <p:cNvSpPr txBox="1"/>
          <p:nvPr/>
        </p:nvSpPr>
        <p:spPr>
          <a:xfrm>
            <a:off x="8777020" y="4700016"/>
            <a:ext cx="2600858" cy="96926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It opens in your browser. Turn the sound on.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QUIZ  ·  QUESTION 1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What does an interruption actually cost?</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PS-04  ·  Time Management</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quiz:answer">
            <a:hlinkClick action="ppaction://hlinksldjump" r:id="rId3"/>
          </p:cNvPr>
          <p:cNvSpPr/>
          <p:nvPr/>
        </p:nvSpPr>
        <p:spPr>
          <a:xfrm>
            <a:off x="502920"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answerkey"/>
          <p:cNvSpPr/>
          <p:nvPr/>
        </p:nvSpPr>
        <p:spPr>
          <a:xfrm>
            <a:off x="740664" y="2564891"/>
            <a:ext cx="365760" cy="365760"/>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answerkeytext"/>
          <p:cNvSpPr txBox="1"/>
          <p:nvPr/>
        </p:nvSpPr>
        <p:spPr>
          <a:xfrm>
            <a:off x="740664"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18" name="cell:answer"/>
          <p:cNvSpPr txBox="1"/>
          <p:nvPr/>
        </p:nvSpPr>
        <p:spPr>
          <a:xfrm>
            <a:off x="1252728"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The two minutes it takes to answer</a:t>
            </a:r>
          </a:p>
        </p:txBody>
      </p:sp>
      <p:sp>
        <p:nvSpPr>
          <p:cNvPr id="19" name="quiz:answer">
            <a:hlinkClick action="ppaction://hlinksldjump" r:id="rId4"/>
          </p:cNvPr>
          <p:cNvSpPr/>
          <p:nvPr/>
        </p:nvSpPr>
        <p:spPr>
          <a:xfrm>
            <a:off x="6187287"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answerkey"/>
          <p:cNvSpPr/>
          <p:nvPr/>
        </p:nvSpPr>
        <p:spPr>
          <a:xfrm>
            <a:off x="6425031" y="2564891"/>
            <a:ext cx="365760" cy="365760"/>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text"/>
          <p:cNvSpPr txBox="1"/>
          <p:nvPr/>
        </p:nvSpPr>
        <p:spPr>
          <a:xfrm>
            <a:off x="6425031"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2" name="cell:answer"/>
          <p:cNvSpPr txBox="1"/>
          <p:nvPr/>
        </p:nvSpPr>
        <p:spPr>
          <a:xfrm>
            <a:off x="6937095"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The time to answer, plus the time it takes to get back to where you were</a:t>
            </a:r>
          </a:p>
        </p:txBody>
      </p:sp>
      <p:sp>
        <p:nvSpPr>
          <p:cNvPr id="23" name="quiz:answer">
            <a:hlinkClick action="ppaction://hlinksldjump" r:id="rId5"/>
          </p:cNvPr>
          <p:cNvSpPr/>
          <p:nvPr/>
        </p:nvSpPr>
        <p:spPr>
          <a:xfrm>
            <a:off x="502920"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answerkey"/>
          <p:cNvSpPr/>
          <p:nvPr/>
        </p:nvSpPr>
        <p:spPr>
          <a:xfrm>
            <a:off x="740664" y="4805172"/>
            <a:ext cx="365760" cy="365760"/>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text"/>
          <p:cNvSpPr txBox="1"/>
          <p:nvPr/>
        </p:nvSpPr>
        <p:spPr>
          <a:xfrm>
            <a:off x="740664"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26" name="cell:answer"/>
          <p:cNvSpPr txBox="1"/>
          <p:nvPr/>
        </p:nvSpPr>
        <p:spPr>
          <a:xfrm>
            <a:off x="1252728"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Nothing, if you were not concentrating</a:t>
            </a:r>
          </a:p>
        </p:txBody>
      </p:sp>
      <p:sp>
        <p:nvSpPr>
          <p:cNvPr id="27" name="quiz:answer">
            <a:hlinkClick action="ppaction://hlinksldjump" r:id="rId6"/>
          </p:cNvPr>
          <p:cNvSpPr/>
          <p:nvPr/>
        </p:nvSpPr>
        <p:spPr>
          <a:xfrm>
            <a:off x="6187287"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answerkey"/>
          <p:cNvSpPr/>
          <p:nvPr/>
        </p:nvSpPr>
        <p:spPr>
          <a:xfrm>
            <a:off x="6425031" y="4805172"/>
            <a:ext cx="365760" cy="365760"/>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text"/>
          <p:cNvSpPr txBox="1"/>
          <p:nvPr/>
        </p:nvSpPr>
        <p:spPr>
          <a:xfrm>
            <a:off x="6425031"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0" name="cell:answer"/>
          <p:cNvSpPr txBox="1"/>
          <p:nvPr/>
        </p:nvSpPr>
        <p:spPr>
          <a:xfrm>
            <a:off x="6937095"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It depends on who is interrupting</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The two minutes it takes to answer</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That is the visible part and much the smaller one. The expensive part is getting back to where you were in the work.</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The refocusing, not the answer.</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PS-04  ·  Time Management</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The time to answer, plus the time it takes to get back to where you we</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Getting back to where you were is real work, even though it is hard to put an exact number on. That is why a handful of small interruptions can consume a morning without anyone noticing where it went.</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The refocusing, not the answer.</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Next question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PS-04  ·  Time Management</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Nothing, if you were not concentrating</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If you were not concentrating, the block was already lost. The cost applies precisely when the work mattered.</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The refocusing, not the answer.</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PS-04  ·  Time Management</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It depends on who is interrupting</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Seniority changes how you respond, not what it costs your attention. A director's question breaks focus the same way.</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The refocusing, not the answer.</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PS-04  ·  Time Management</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QUIZ  ·  QUESTION 2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Why decide the task the night before?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PS-04  ·  Time Management</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quiz:answer">
            <a:hlinkClick action="ppaction://hlinksldjump" r:id="rId3"/>
          </p:cNvPr>
          <p:cNvSpPr/>
          <p:nvPr/>
        </p:nvSpPr>
        <p:spPr>
          <a:xfrm>
            <a:off x="502920"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answerkey"/>
          <p:cNvSpPr/>
          <p:nvPr/>
        </p:nvSpPr>
        <p:spPr>
          <a:xfrm>
            <a:off x="740664" y="2564891"/>
            <a:ext cx="365760" cy="365760"/>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answerkeytext"/>
          <p:cNvSpPr txBox="1"/>
          <p:nvPr/>
        </p:nvSpPr>
        <p:spPr>
          <a:xfrm>
            <a:off x="740664"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18" name="cell:answer"/>
          <p:cNvSpPr txBox="1"/>
          <p:nvPr/>
        </p:nvSpPr>
        <p:spPr>
          <a:xfrm>
            <a:off x="1252728"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It helps you sleep better</a:t>
            </a:r>
          </a:p>
        </p:txBody>
      </p:sp>
      <p:sp>
        <p:nvSpPr>
          <p:cNvPr id="19" name="quiz:answer">
            <a:hlinkClick action="ppaction://hlinksldjump" r:id="rId4"/>
          </p:cNvPr>
          <p:cNvSpPr/>
          <p:nvPr/>
        </p:nvSpPr>
        <p:spPr>
          <a:xfrm>
            <a:off x="6187287"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answerkey"/>
          <p:cNvSpPr/>
          <p:nvPr/>
        </p:nvSpPr>
        <p:spPr>
          <a:xfrm>
            <a:off x="6425031" y="2564891"/>
            <a:ext cx="365760" cy="365760"/>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text"/>
          <p:cNvSpPr txBox="1"/>
          <p:nvPr/>
        </p:nvSpPr>
        <p:spPr>
          <a:xfrm>
            <a:off x="6425031"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2" name="cell:answer"/>
          <p:cNvSpPr txBox="1"/>
          <p:nvPr/>
        </p:nvSpPr>
        <p:spPr>
          <a:xfrm>
            <a:off x="6937095"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Choosing at the start spends your freshest protected time on the decision, not the work</a:t>
            </a:r>
          </a:p>
        </p:txBody>
      </p:sp>
      <p:sp>
        <p:nvSpPr>
          <p:cNvPr id="23" name="quiz:answer">
            <a:hlinkClick action="ppaction://hlinksldjump" r:id="rId5"/>
          </p:cNvPr>
          <p:cNvSpPr/>
          <p:nvPr/>
        </p:nvSpPr>
        <p:spPr>
          <a:xfrm>
            <a:off x="502920"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answerkey"/>
          <p:cNvSpPr/>
          <p:nvPr/>
        </p:nvSpPr>
        <p:spPr>
          <a:xfrm>
            <a:off x="740664" y="4805172"/>
            <a:ext cx="365760" cy="365760"/>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text"/>
          <p:cNvSpPr txBox="1"/>
          <p:nvPr/>
        </p:nvSpPr>
        <p:spPr>
          <a:xfrm>
            <a:off x="740664"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26" name="cell:answer"/>
          <p:cNvSpPr txBox="1"/>
          <p:nvPr/>
        </p:nvSpPr>
        <p:spPr>
          <a:xfrm>
            <a:off x="1252728"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Your manager may change priorities overnight</a:t>
            </a:r>
          </a:p>
        </p:txBody>
      </p:sp>
      <p:sp>
        <p:nvSpPr>
          <p:cNvPr id="27" name="quiz:answer">
            <a:hlinkClick action="ppaction://hlinksldjump" r:id="rId6"/>
          </p:cNvPr>
          <p:cNvSpPr/>
          <p:nvPr/>
        </p:nvSpPr>
        <p:spPr>
          <a:xfrm>
            <a:off x="6187287"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answerkey"/>
          <p:cNvSpPr/>
          <p:nvPr/>
        </p:nvSpPr>
        <p:spPr>
          <a:xfrm>
            <a:off x="6425031" y="4805172"/>
            <a:ext cx="365760" cy="365760"/>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text"/>
          <p:cNvSpPr txBox="1"/>
          <p:nvPr/>
        </p:nvSpPr>
        <p:spPr>
          <a:xfrm>
            <a:off x="6425031"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0" name="cell:answer"/>
          <p:cNvSpPr txBox="1"/>
          <p:nvPr/>
        </p:nvSpPr>
        <p:spPr>
          <a:xfrm>
            <a:off x="6937095"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It makes the block feel longer</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It helps you sleep better</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It might, and that is not the operational reason. The reason is what happens at nine the next morning.</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Choosing inside the block eats the block.</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PS-04  ·  Time Management</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Choosing at the start spends your freshest protected time on the decis</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Deciding is real work, and doing it inside your two protected hours spends the freshest part of them on something you could have settled the evening before, in far less time.</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Choosing inside the block eats the block.</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Next question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PS-04  ·  Time Management</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Your manager may change priorities overnight</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Occasionally, and that is an argument for a quick check rather than for not deciding. Most mornings nothing has changed.</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Choosing inside the block eats the block.</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PS-04  ·  Time Management</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It makes the block feel longer</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It makes it genuinely longer, in usable minutes. Feeling is not the point.</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Choosing inside the block eats the block.</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PS-04  ·  Time Management</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QUIZ  ·  QUESTION 3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Your manager adds a task. Best reply?</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PS-04  ·  Time Management</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quiz:answer">
            <a:hlinkClick action="ppaction://hlinksldjump" r:id="rId3"/>
          </p:cNvPr>
          <p:cNvSpPr/>
          <p:nvPr/>
        </p:nvSpPr>
        <p:spPr>
          <a:xfrm>
            <a:off x="502920"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answerkey"/>
          <p:cNvSpPr/>
          <p:nvPr/>
        </p:nvSpPr>
        <p:spPr>
          <a:xfrm>
            <a:off x="740664" y="2564891"/>
            <a:ext cx="365760" cy="365760"/>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answerkeytext"/>
          <p:cNvSpPr txBox="1"/>
          <p:nvPr/>
        </p:nvSpPr>
        <p:spPr>
          <a:xfrm>
            <a:off x="740664"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18" name="cell:answer"/>
          <p:cNvSpPr txBox="1"/>
          <p:nvPr/>
        </p:nvSpPr>
        <p:spPr>
          <a:xfrm>
            <a:off x="1252728"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"Yes, no problem" and work later</a:t>
            </a:r>
          </a:p>
        </p:txBody>
      </p:sp>
      <p:sp>
        <p:nvSpPr>
          <p:cNvPr id="19" name="quiz:answer">
            <a:hlinkClick action="ppaction://hlinksldjump" r:id="rId4"/>
          </p:cNvPr>
          <p:cNvSpPr/>
          <p:nvPr/>
        </p:nvSpPr>
        <p:spPr>
          <a:xfrm>
            <a:off x="6187287"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answerkey"/>
          <p:cNvSpPr/>
          <p:nvPr/>
        </p:nvSpPr>
        <p:spPr>
          <a:xfrm>
            <a:off x="6425031" y="2564891"/>
            <a:ext cx="365760" cy="365760"/>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text"/>
          <p:cNvSpPr txBox="1"/>
          <p:nvPr/>
        </p:nvSpPr>
        <p:spPr>
          <a:xfrm>
            <a:off x="6425031"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2" name="cell:answer"/>
          <p:cNvSpPr txBox="1"/>
          <p:nvPr/>
        </p:nvSpPr>
        <p:spPr>
          <a:xfrm>
            <a:off x="6937095"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"Happy to — which of these two should slip?"</a:t>
            </a:r>
          </a:p>
        </p:txBody>
      </p:sp>
      <p:sp>
        <p:nvSpPr>
          <p:cNvPr id="23" name="quiz:answer">
            <a:hlinkClick action="ppaction://hlinksldjump" r:id="rId5"/>
          </p:cNvPr>
          <p:cNvSpPr/>
          <p:nvPr/>
        </p:nvSpPr>
        <p:spPr>
          <a:xfrm>
            <a:off x="502920"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answerkey"/>
          <p:cNvSpPr/>
          <p:nvPr/>
        </p:nvSpPr>
        <p:spPr>
          <a:xfrm>
            <a:off x="740664" y="4805172"/>
            <a:ext cx="365760" cy="365760"/>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text"/>
          <p:cNvSpPr txBox="1"/>
          <p:nvPr/>
        </p:nvSpPr>
        <p:spPr>
          <a:xfrm>
            <a:off x="740664"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26" name="cell:answer"/>
          <p:cNvSpPr txBox="1"/>
          <p:nvPr/>
        </p:nvSpPr>
        <p:spPr>
          <a:xfrm>
            <a:off x="1252728"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"I am completely full this week"</a:t>
            </a:r>
          </a:p>
        </p:txBody>
      </p:sp>
      <p:sp>
        <p:nvSpPr>
          <p:cNvPr id="27" name="quiz:answer">
            <a:hlinkClick action="ppaction://hlinksldjump" r:id="rId6"/>
          </p:cNvPr>
          <p:cNvSpPr/>
          <p:nvPr/>
        </p:nvSpPr>
        <p:spPr>
          <a:xfrm>
            <a:off x="6187287"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answerkey"/>
          <p:cNvSpPr/>
          <p:nvPr/>
        </p:nvSpPr>
        <p:spPr>
          <a:xfrm>
            <a:off x="6425031" y="4805172"/>
            <a:ext cx="365760" cy="365760"/>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text"/>
          <p:cNvSpPr txBox="1"/>
          <p:nvPr/>
        </p:nvSpPr>
        <p:spPr>
          <a:xfrm>
            <a:off x="6425031"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0" name="cell:answer"/>
          <p:cNvSpPr txBox="1"/>
          <p:nvPr/>
        </p:nvSpPr>
        <p:spPr>
          <a:xfrm>
            <a:off x="6937095"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Take it and drop something without saying</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"Yes, no problem" and work later</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They do not learn what is on your plate, and something else slips silently. Working later is not a plan, it is a way of hiding the problem.</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Offer the trade.</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PS-04  ·  Time Management</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"Happy to — which of these two should slip?"</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Managers usually have no visibility of your full load, and almost always choose when asked. It also makes you look organised rather than obstructive.</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Offer the trade.</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Next question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PS-04  ·  Time Management</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"I am completely full this week"</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It is a refusal without information. They cannot help you prioritise, and it reads as unwillingness rather than capacity.</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Offer the trade.</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PS-04  ·  Time Management</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Take it and drop something without saying</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The worst outcome. Something important stops moving and nobody knows, until it is noticed at the worst possible moment.</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Offer the trade.</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PS-04  ·  Time Management</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QUIZ  ·  QUESTION 4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How do you judge whether a day worked?</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PS-04  ·  Time Management</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quiz:answer">
            <a:hlinkClick action="ppaction://hlinksldjump" r:id="rId3"/>
          </p:cNvPr>
          <p:cNvSpPr/>
          <p:nvPr/>
        </p:nvSpPr>
        <p:spPr>
          <a:xfrm>
            <a:off x="502920"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answerkey"/>
          <p:cNvSpPr/>
          <p:nvPr/>
        </p:nvSpPr>
        <p:spPr>
          <a:xfrm>
            <a:off x="740664" y="2564891"/>
            <a:ext cx="365760" cy="365760"/>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answerkeytext"/>
          <p:cNvSpPr txBox="1"/>
          <p:nvPr/>
        </p:nvSpPr>
        <p:spPr>
          <a:xfrm>
            <a:off x="740664"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18" name="cell:answer"/>
          <p:cNvSpPr txBox="1"/>
          <p:nvPr/>
        </p:nvSpPr>
        <p:spPr>
          <a:xfrm>
            <a:off x="1252728"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By how many hours you worked</a:t>
            </a:r>
          </a:p>
        </p:txBody>
      </p:sp>
      <p:sp>
        <p:nvSpPr>
          <p:cNvPr id="19" name="quiz:answer">
            <a:hlinkClick action="ppaction://hlinksldjump" r:id="rId4"/>
          </p:cNvPr>
          <p:cNvSpPr/>
          <p:nvPr/>
        </p:nvSpPr>
        <p:spPr>
          <a:xfrm>
            <a:off x="6187287"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answerkey"/>
          <p:cNvSpPr/>
          <p:nvPr/>
        </p:nvSpPr>
        <p:spPr>
          <a:xfrm>
            <a:off x="6425031" y="2564891"/>
            <a:ext cx="365760" cy="365760"/>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text"/>
          <p:cNvSpPr txBox="1"/>
          <p:nvPr/>
        </p:nvSpPr>
        <p:spPr>
          <a:xfrm>
            <a:off x="6425031"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2" name="cell:answer"/>
          <p:cNvSpPr txBox="1"/>
          <p:nvPr/>
        </p:nvSpPr>
        <p:spPr>
          <a:xfrm>
            <a:off x="6937095"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By naming one thing you actually finished</a:t>
            </a:r>
          </a:p>
        </p:txBody>
      </p:sp>
      <p:sp>
        <p:nvSpPr>
          <p:cNvPr id="23" name="quiz:answer">
            <a:hlinkClick action="ppaction://hlinksldjump" r:id="rId5"/>
          </p:cNvPr>
          <p:cNvSpPr/>
          <p:nvPr/>
        </p:nvSpPr>
        <p:spPr>
          <a:xfrm>
            <a:off x="502920"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answerkey"/>
          <p:cNvSpPr/>
          <p:nvPr/>
        </p:nvSpPr>
        <p:spPr>
          <a:xfrm>
            <a:off x="740664" y="4805172"/>
            <a:ext cx="365760" cy="365760"/>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text"/>
          <p:cNvSpPr txBox="1"/>
          <p:nvPr/>
        </p:nvSpPr>
        <p:spPr>
          <a:xfrm>
            <a:off x="740664"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26" name="cell:answer"/>
          <p:cNvSpPr txBox="1"/>
          <p:nvPr/>
        </p:nvSpPr>
        <p:spPr>
          <a:xfrm>
            <a:off x="1252728"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By how tired you feel</a:t>
            </a:r>
          </a:p>
        </p:txBody>
      </p:sp>
      <p:sp>
        <p:nvSpPr>
          <p:cNvPr id="27" name="quiz:answer">
            <a:hlinkClick action="ppaction://hlinksldjump" r:id="rId6"/>
          </p:cNvPr>
          <p:cNvSpPr/>
          <p:nvPr/>
        </p:nvSpPr>
        <p:spPr>
          <a:xfrm>
            <a:off x="6187287"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answerkey"/>
          <p:cNvSpPr/>
          <p:nvPr/>
        </p:nvSpPr>
        <p:spPr>
          <a:xfrm>
            <a:off x="6425031" y="4805172"/>
            <a:ext cx="365760" cy="365760"/>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text"/>
          <p:cNvSpPr txBox="1"/>
          <p:nvPr/>
        </p:nvSpPr>
        <p:spPr>
          <a:xfrm>
            <a:off x="6425031"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0" name="cell:answer"/>
          <p:cNvSpPr txBox="1"/>
          <p:nvPr/>
        </p:nvSpPr>
        <p:spPr>
          <a:xfrm>
            <a:off x="6937095"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By how many emails you cleared</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By how many hours you worked</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Ten busy hours with nothing finished is a bad day that feels like a good one. Hours measure effort, not output.</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Ask what finished, not how tired you are.</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PS-04  ·  Time Management</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By naming one thing you actually finished</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Finished, not touched. If you cannot name one on most days, the reactive work is winning and the block is not being defended.</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Ask what finished, not how tired you are.</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Next question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PS-04  ·  Time Management</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By how tired you feel</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Tiredness measures interruption and context switching, which are exactly the things that produce nothing.</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Ask what finished, not how tired you are.</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PS-04  ·  Time Management</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By how many emails you cleared</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A cleared inbox is a good feeling and rarely the work you were hired for. It is the most seductive form of reactive work there is.</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Ask what finished, not how tired you are.</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PS-04  ·  Time Management</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QUIZ  ·  QUESTION 5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When should you decline a meeting?</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PS-04  ·  Time Management</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quiz:answer">
            <a:hlinkClick action="ppaction://hlinksldjump" r:id="rId3"/>
          </p:cNvPr>
          <p:cNvSpPr/>
          <p:nvPr/>
        </p:nvSpPr>
        <p:spPr>
          <a:xfrm>
            <a:off x="502920"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answerkey"/>
          <p:cNvSpPr/>
          <p:nvPr/>
        </p:nvSpPr>
        <p:spPr>
          <a:xfrm>
            <a:off x="740664" y="2564891"/>
            <a:ext cx="365760" cy="365760"/>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answerkeytext"/>
          <p:cNvSpPr txBox="1"/>
          <p:nvPr/>
        </p:nvSpPr>
        <p:spPr>
          <a:xfrm>
            <a:off x="740664"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18" name="cell:answer"/>
          <p:cNvSpPr txBox="1"/>
          <p:nvPr/>
        </p:nvSpPr>
        <p:spPr>
          <a:xfrm>
            <a:off x="1252728"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Whenever you are busy</a:t>
            </a:r>
          </a:p>
        </p:txBody>
      </p:sp>
      <p:sp>
        <p:nvSpPr>
          <p:cNvPr id="19" name="quiz:answer">
            <a:hlinkClick action="ppaction://hlinksldjump" r:id="rId4"/>
          </p:cNvPr>
          <p:cNvSpPr/>
          <p:nvPr/>
        </p:nvSpPr>
        <p:spPr>
          <a:xfrm>
            <a:off x="6187287"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answerkey"/>
          <p:cNvSpPr/>
          <p:nvPr/>
        </p:nvSpPr>
        <p:spPr>
          <a:xfrm>
            <a:off x="6425031" y="2564891"/>
            <a:ext cx="365760" cy="365760"/>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text"/>
          <p:cNvSpPr txBox="1"/>
          <p:nvPr/>
        </p:nvSpPr>
        <p:spPr>
          <a:xfrm>
            <a:off x="6425031"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2" name="cell:answer"/>
          <p:cNvSpPr txBox="1"/>
          <p:nvPr/>
        </p:nvSpPr>
        <p:spPr>
          <a:xfrm>
            <a:off x="6937095"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When there is no agenda or your input is not needed</a:t>
            </a:r>
          </a:p>
        </p:txBody>
      </p:sp>
      <p:sp>
        <p:nvSpPr>
          <p:cNvPr id="23" name="quiz:answer">
            <a:hlinkClick action="ppaction://hlinksldjump" r:id="rId5"/>
          </p:cNvPr>
          <p:cNvSpPr/>
          <p:nvPr/>
        </p:nvSpPr>
        <p:spPr>
          <a:xfrm>
            <a:off x="502920"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answerkey"/>
          <p:cNvSpPr/>
          <p:nvPr/>
        </p:nvSpPr>
        <p:spPr>
          <a:xfrm>
            <a:off x="740664" y="4805172"/>
            <a:ext cx="365760" cy="365760"/>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text"/>
          <p:cNvSpPr txBox="1"/>
          <p:nvPr/>
        </p:nvSpPr>
        <p:spPr>
          <a:xfrm>
            <a:off x="740664"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26" name="cell:answer"/>
          <p:cNvSpPr txBox="1"/>
          <p:nvPr/>
        </p:nvSpPr>
        <p:spPr>
          <a:xfrm>
            <a:off x="1252728"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Never — declining looks uncommitted</a:t>
            </a:r>
          </a:p>
        </p:txBody>
      </p:sp>
      <p:sp>
        <p:nvSpPr>
          <p:cNvPr id="27" name="quiz:answer">
            <a:hlinkClick action="ppaction://hlinksldjump" r:id="rId6"/>
          </p:cNvPr>
          <p:cNvSpPr/>
          <p:nvPr/>
        </p:nvSpPr>
        <p:spPr>
          <a:xfrm>
            <a:off x="6187287"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answerkey"/>
          <p:cNvSpPr/>
          <p:nvPr/>
        </p:nvSpPr>
        <p:spPr>
          <a:xfrm>
            <a:off x="6425031" y="4805172"/>
            <a:ext cx="365760" cy="365760"/>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text"/>
          <p:cNvSpPr txBox="1"/>
          <p:nvPr/>
        </p:nvSpPr>
        <p:spPr>
          <a:xfrm>
            <a:off x="6425031"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0" name="cell:answer"/>
          <p:cNvSpPr txBox="1"/>
          <p:nvPr/>
        </p:nvSpPr>
        <p:spPr>
          <a:xfrm>
            <a:off x="6937095"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When your manager is not attending</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Whenever you are busy</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Everyone is busy, so it is not a criterion. The question is whether your presence changes what the meeting produces.</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No agenda, or no decision that needs you.</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PS-04  ·  Time Management</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When there is no agenda or your input is not needed</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Ask for an agenda first — often that alone improves the meeting. If you are not part of the decision, notes will do, and an hour with six people costs six hours.</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No agenda, or no decision that needs you.</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See the recap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PS-04  ·  Time Management</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Never — declining looks uncommitted</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Attending everything is not commitment, it is an absence of prioritisation. Declining politely with a reason and an offer is normal.</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No agenda, or no decision that needs you.</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PS-04  ·  Time Management</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When your manager is not attending</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Their attendance is not the test. Plenty of important meetings do not involve them, and plenty of unnecessary ones do.</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No agenda, or no decision that needs you.</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PS-04  ·  Time Management</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RECAP CARD</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Time management on one screen</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PS-04  ·  Time Management</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cell:recaphint"/>
          <p:cNvSpPr txBox="1"/>
          <p:nvPr/>
        </p:nvSpPr>
        <p:spPr>
          <a:xfrm>
            <a:off x="502920" y="1591056"/>
            <a:ext cx="11185855" cy="25603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Screenshot this slide. It is the whole module in one screen.</a:t>
            </a:r>
          </a:p>
        </p:txBody>
      </p:sp>
      <p:sp>
        <p:nvSpPr>
          <p:cNvPr id="16" name="vis:recaptile"/>
          <p:cNvSpPr/>
          <p:nvPr/>
        </p:nvSpPr>
        <p:spPr>
          <a:xfrm>
            <a:off x="502920" y="190195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recapbar"/>
          <p:cNvSpPr/>
          <p:nvPr/>
        </p:nvSpPr>
        <p:spPr>
          <a:xfrm>
            <a:off x="502920" y="1901952"/>
            <a:ext cx="54864" cy="963168"/>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cell:recaphead"/>
          <p:cNvSpPr txBox="1"/>
          <p:nvPr/>
        </p:nvSpPr>
        <p:spPr>
          <a:xfrm>
            <a:off x="740664" y="201168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Busy is not productive</a:t>
            </a:r>
          </a:p>
        </p:txBody>
      </p:sp>
      <p:sp>
        <p:nvSpPr>
          <p:cNvPr id="19" name="cell:recapsub"/>
          <p:cNvSpPr txBox="1"/>
          <p:nvPr/>
        </p:nvSpPr>
        <p:spPr>
          <a:xfrm>
            <a:off x="740664" y="232257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Reactive work fills any space you leave and leaves no trace.</a:t>
            </a:r>
          </a:p>
        </p:txBody>
      </p:sp>
      <p:sp>
        <p:nvSpPr>
          <p:cNvPr id="20" name="vis:recaptile"/>
          <p:cNvSpPr/>
          <p:nvPr/>
        </p:nvSpPr>
        <p:spPr>
          <a:xfrm>
            <a:off x="6178143" y="190195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recapbar"/>
          <p:cNvSpPr/>
          <p:nvPr/>
        </p:nvSpPr>
        <p:spPr>
          <a:xfrm>
            <a:off x="6178143" y="1901952"/>
            <a:ext cx="54864" cy="963168"/>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cell:recaphead"/>
          <p:cNvSpPr txBox="1"/>
          <p:nvPr/>
        </p:nvSpPr>
        <p:spPr>
          <a:xfrm>
            <a:off x="6415887" y="201168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Two hours, defended</a:t>
            </a:r>
          </a:p>
        </p:txBody>
      </p:sp>
      <p:sp>
        <p:nvSpPr>
          <p:cNvPr id="23" name="cell:recapsub"/>
          <p:cNvSpPr txBox="1"/>
          <p:nvPr/>
        </p:nvSpPr>
        <p:spPr>
          <a:xfrm>
            <a:off x="6415887" y="232257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Same time daily, in the calendar, notifications off, one task.</a:t>
            </a:r>
          </a:p>
        </p:txBody>
      </p:sp>
      <p:sp>
        <p:nvSpPr>
          <p:cNvPr id="24" name="vis:recaptile"/>
          <p:cNvSpPr/>
          <p:nvPr/>
        </p:nvSpPr>
        <p:spPr>
          <a:xfrm>
            <a:off x="502920" y="302971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recapbar"/>
          <p:cNvSpPr/>
          <p:nvPr/>
        </p:nvSpPr>
        <p:spPr>
          <a:xfrm>
            <a:off x="502920" y="3029712"/>
            <a:ext cx="54864" cy="963168"/>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cell:recaphead"/>
          <p:cNvSpPr txBox="1"/>
          <p:nvPr/>
        </p:nvSpPr>
        <p:spPr>
          <a:xfrm>
            <a:off x="740664" y="313944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Decide the night before</a:t>
            </a:r>
          </a:p>
        </p:txBody>
      </p:sp>
      <p:sp>
        <p:nvSpPr>
          <p:cNvPr id="27" name="cell:recapsub"/>
          <p:cNvSpPr txBox="1"/>
          <p:nvPr/>
        </p:nvSpPr>
        <p:spPr>
          <a:xfrm>
            <a:off x="740664" y="345033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Choosing inside the block spends its freshest, most protected time on the decision instead of the work.</a:t>
            </a:r>
          </a:p>
        </p:txBody>
      </p:sp>
      <p:sp>
        <p:nvSpPr>
          <p:cNvPr id="28" name="vis:recaptile"/>
          <p:cNvSpPr/>
          <p:nvPr/>
        </p:nvSpPr>
        <p:spPr>
          <a:xfrm>
            <a:off x="6178143" y="302971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recapbar"/>
          <p:cNvSpPr/>
          <p:nvPr/>
        </p:nvSpPr>
        <p:spPr>
          <a:xfrm>
            <a:off x="6178143" y="3029712"/>
            <a:ext cx="54864" cy="963168"/>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cell:recaphead"/>
          <p:cNvSpPr txBox="1"/>
          <p:nvPr/>
        </p:nvSpPr>
        <p:spPr>
          <a:xfrm>
            <a:off x="6415887" y="313944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Size the interruption</a:t>
            </a:r>
          </a:p>
        </p:txBody>
      </p:sp>
      <p:sp>
        <p:nvSpPr>
          <p:cNvPr id="31" name="cell:recapsub"/>
          <p:cNvSpPr txBox="1"/>
          <p:nvPr/>
        </p:nvSpPr>
        <p:spPr>
          <a:xfrm>
            <a:off x="6415887" y="345033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"Two minutes or twenty?" Batch the twenties to one point.</a:t>
            </a:r>
          </a:p>
        </p:txBody>
      </p:sp>
      <p:sp>
        <p:nvSpPr>
          <p:cNvPr id="32" name="vis:recaptile"/>
          <p:cNvSpPr/>
          <p:nvPr/>
        </p:nvSpPr>
        <p:spPr>
          <a:xfrm>
            <a:off x="502920" y="415747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recapbar"/>
          <p:cNvSpPr/>
          <p:nvPr/>
        </p:nvSpPr>
        <p:spPr>
          <a:xfrm>
            <a:off x="502920" y="4157472"/>
            <a:ext cx="54864" cy="963168"/>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cell:recaphead"/>
          <p:cNvSpPr txBox="1"/>
          <p:nvPr/>
        </p:nvSpPr>
        <p:spPr>
          <a:xfrm>
            <a:off x="740664" y="426720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Trade, defer, redirect</a:t>
            </a:r>
          </a:p>
        </p:txBody>
      </p:sp>
      <p:sp>
        <p:nvSpPr>
          <p:cNvPr id="35" name="cell:recapsub"/>
          <p:cNvSpPr txBox="1"/>
          <p:nvPr/>
        </p:nvSpPr>
        <p:spPr>
          <a:xfrm>
            <a:off x="740664" y="457809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Almost nothing needs a flat no, and a flat no costs the most.</a:t>
            </a:r>
          </a:p>
        </p:txBody>
      </p:sp>
      <p:sp>
        <p:nvSpPr>
          <p:cNvPr id="36" name="vis:recaptile"/>
          <p:cNvSpPr/>
          <p:nvPr/>
        </p:nvSpPr>
        <p:spPr>
          <a:xfrm>
            <a:off x="6178143" y="415747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7" name="vis:recapbar"/>
          <p:cNvSpPr/>
          <p:nvPr/>
        </p:nvSpPr>
        <p:spPr>
          <a:xfrm>
            <a:off x="6178143" y="4157472"/>
            <a:ext cx="54864" cy="963168"/>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8" name="cell:recaphead"/>
          <p:cNvSpPr txBox="1"/>
          <p:nvPr/>
        </p:nvSpPr>
        <p:spPr>
          <a:xfrm>
            <a:off x="6415887" y="426720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Judge by what finished</a:t>
            </a:r>
          </a:p>
        </p:txBody>
      </p:sp>
      <p:sp>
        <p:nvSpPr>
          <p:cNvPr id="39" name="cell:recapsub"/>
          <p:cNvSpPr txBox="1"/>
          <p:nvPr/>
        </p:nvSpPr>
        <p:spPr>
          <a:xfrm>
            <a:off x="6415887" y="457809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Not by hours worked, emails cleared, or how tired you feel.</a:t>
            </a:r>
          </a:p>
        </p:txBody>
      </p:sp>
      <p:sp>
        <p:nvSpPr>
          <p:cNvPr id="40" name="vis:recapline"/>
          <p:cNvSpPr/>
          <p:nvPr/>
        </p:nvSpPr>
        <p:spPr>
          <a:xfrm>
            <a:off x="502920" y="5266944"/>
            <a:ext cx="11185855" cy="749808"/>
          </a:xfrm>
          <a:prstGeom prst="roundRect">
            <a:avLst>
              <a:gd name="adj" fmla="val 12195"/>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1" name="vis:icon"/>
          <p:cNvSpPr/>
          <p:nvPr/>
        </p:nvSpPr>
        <p:spPr>
          <a:xfrm>
            <a:off x="875995" y="5464820"/>
            <a:ext cx="241401" cy="241401"/>
          </a:xfrm>
          <a:prstGeom prst="ellipse">
            <a:avLst/>
          </a:prstGeom>
          <a:noFill/>
          <a:ln w="19050">
            <a:solidFill>
              <a:srgbClr val="AA874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42" name="vis:icon"/>
          <p:cNvCxnSpPr/>
          <p:nvPr/>
        </p:nvCxnSpPr>
        <p:spPr>
          <a:xfrm>
            <a:off x="932322" y="5738408"/>
            <a:ext cx="128747" cy="0"/>
          </a:xfrm>
          <a:prstGeom prst="line">
            <a:avLst/>
          </a:prstGeom>
          <a:ln w="19050">
            <a:solidFill>
              <a:srgbClr val="AA8745"/>
            </a:solidFill>
          </a:ln>
          <a:effectLst/>
        </p:spPr>
        <p:style>
          <a:lnRef idx="2">
            <a:schemeClr val="accent1"/>
          </a:lnRef>
          <a:fillRef idx="0">
            <a:schemeClr val="accent1"/>
          </a:fillRef>
          <a:effectRef idx="1">
            <a:schemeClr val="accent1"/>
          </a:effectRef>
          <a:fontRef idx="minor">
            <a:schemeClr val="tx1"/>
          </a:fontRef>
        </p:style>
      </p:cxnSp>
      <p:cxnSp>
        <p:nvCxnSpPr>
          <p:cNvPr id="43" name="vis:icon"/>
          <p:cNvCxnSpPr/>
          <p:nvPr/>
        </p:nvCxnSpPr>
        <p:spPr>
          <a:xfrm>
            <a:off x="948415" y="5802782"/>
            <a:ext cx="96561" cy="0"/>
          </a:xfrm>
          <a:prstGeom prst="line">
            <a:avLst/>
          </a:prstGeom>
          <a:ln w="19050">
            <a:solidFill>
              <a:srgbClr val="AA8745"/>
            </a:solidFill>
          </a:ln>
          <a:effectLst/>
        </p:spPr>
        <p:style>
          <a:lnRef idx="2">
            <a:schemeClr val="accent1"/>
          </a:lnRef>
          <a:fillRef idx="0">
            <a:schemeClr val="accent1"/>
          </a:fillRef>
          <a:effectRef idx="1">
            <a:schemeClr val="accent1"/>
          </a:effectRef>
          <a:fontRef idx="minor">
            <a:schemeClr val="tx1"/>
          </a:fontRef>
        </p:style>
      </p:cxnSp>
      <p:sp>
        <p:nvSpPr>
          <p:cNvPr id="44" name="cell:recapone"/>
          <p:cNvSpPr txBox="1"/>
          <p:nvPr/>
        </p:nvSpPr>
        <p:spPr>
          <a:xfrm>
            <a:off x="1417320" y="5394959"/>
            <a:ext cx="9960559" cy="493776"/>
          </a:xfrm>
          <a:prstGeom prst="rect">
            <a:avLst/>
          </a:prstGeom>
          <a:noFill/>
        </p:spPr>
        <p:txBody>
          <a:bodyPr wrap="square" lIns="0" rIns="0" tIns="0" bIns="0" anchor="ctr">
            <a:spAutoFit/>
          </a:bodyPr>
          <a:lstStyle/>
          <a:p>
            <a:pPr algn="l">
              <a:lnSpc>
                <a:spcPts val="2600"/>
              </a:lnSpc>
              <a:spcBef>
                <a:spcPts val="0"/>
              </a:spcBef>
              <a:spcAft>
                <a:spcPts val="0"/>
              </a:spcAft>
            </a:pPr>
            <a:r>
              <a:rPr sz="2000" b="0">
                <a:solidFill>
                  <a:srgbClr val="FFFFFF"/>
                </a:solidFill>
                <a:latin typeface="Segoe UI Semibold"/>
              </a:rPr>
              <a:t>Two protected hours a day beats ten reactive ones, every single week.</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YOUR TOOLKIT</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Take these three things with you</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PS-04  ·  Time Management</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5"/>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seclabel"/>
          <p:cNvSpPr txBox="1"/>
          <p:nvPr/>
        </p:nvSpPr>
        <p:spPr>
          <a:xfrm>
            <a:off x="502920" y="1719072"/>
            <a:ext cx="6448882"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TEMPLATES YOU CAN REUSE TODAY</a:t>
            </a:r>
          </a:p>
        </p:txBody>
      </p:sp>
      <p:sp>
        <p:nvSpPr>
          <p:cNvPr id="16" name="vis:tk"/>
          <p:cNvSpPr/>
          <p:nvPr/>
        </p:nvSpPr>
        <p:spPr>
          <a:xfrm>
            <a:off x="502920" y="2121408"/>
            <a:ext cx="6448882" cy="755904"/>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badge"/>
          <p:cNvSpPr/>
          <p:nvPr/>
        </p:nvSpPr>
        <p:spPr>
          <a:xfrm>
            <a:off x="722376" y="2243328"/>
            <a:ext cx="512064" cy="512064"/>
          </a:xfrm>
          <a:prstGeom prst="roundRect">
            <a:avLst>
              <a:gd name="adj" fmla="val 1785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icon"/>
          <p:cNvSpPr/>
          <p:nvPr/>
        </p:nvSpPr>
        <p:spPr>
          <a:xfrm>
            <a:off x="861247" y="2382199"/>
            <a:ext cx="234320" cy="234320"/>
          </a:xfrm>
          <a:prstGeom prst="ellipse">
            <a:avLst/>
          </a:prstGeom>
          <a:noFill/>
          <a:ln w="1905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flipV="1">
            <a:off x="978408" y="2430128"/>
            <a:ext cx="0" cy="69231"/>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cxnSp>
        <p:nvCxnSpPr>
          <p:cNvPr id="20" name="vis:icon"/>
          <p:cNvCxnSpPr/>
          <p:nvPr/>
        </p:nvCxnSpPr>
        <p:spPr>
          <a:xfrm>
            <a:off x="978408" y="2499359"/>
            <a:ext cx="58580" cy="21302"/>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21" name="cell:tkname"/>
          <p:cNvSpPr txBox="1"/>
          <p:nvPr/>
        </p:nvSpPr>
        <p:spPr>
          <a:xfrm>
            <a:off x="1417320" y="2212848"/>
            <a:ext cx="5278450" cy="37795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The interruption question</a:t>
            </a:r>
          </a:p>
        </p:txBody>
      </p:sp>
      <p:sp>
        <p:nvSpPr>
          <p:cNvPr id="22" name="cell:tksub"/>
          <p:cNvSpPr txBox="1"/>
          <p:nvPr/>
        </p:nvSpPr>
        <p:spPr>
          <a:xfrm>
            <a:off x="1417320" y="2517648"/>
            <a:ext cx="5278450" cy="332597"/>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"Two-minute thing or twenty-minute thing?"</a:t>
            </a:r>
          </a:p>
        </p:txBody>
      </p:sp>
      <p:sp>
        <p:nvSpPr>
          <p:cNvPr id="23" name="vis:tk"/>
          <p:cNvSpPr/>
          <p:nvPr/>
        </p:nvSpPr>
        <p:spPr>
          <a:xfrm>
            <a:off x="502920" y="3023616"/>
            <a:ext cx="6448882" cy="755904"/>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badge"/>
          <p:cNvSpPr/>
          <p:nvPr/>
        </p:nvSpPr>
        <p:spPr>
          <a:xfrm>
            <a:off x="722376" y="3145536"/>
            <a:ext cx="512064" cy="512064"/>
          </a:xfrm>
          <a:prstGeom prst="roundRect">
            <a:avLst>
              <a:gd name="adj" fmla="val 1785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icon"/>
          <p:cNvSpPr/>
          <p:nvPr/>
        </p:nvSpPr>
        <p:spPr>
          <a:xfrm>
            <a:off x="866573" y="3305709"/>
            <a:ext cx="223669" cy="149113"/>
          </a:xfrm>
          <a:prstGeom prst="roundRect">
            <a:avLst>
              <a:gd name="adj" fmla="val 30661"/>
            </a:avLst>
          </a:prstGeom>
          <a:noFill/>
          <a:ln w="1905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6" name="vis:icon"/>
          <p:cNvCxnSpPr/>
          <p:nvPr/>
        </p:nvCxnSpPr>
        <p:spPr>
          <a:xfrm flipH="1">
            <a:off x="909176" y="3454822"/>
            <a:ext cx="10651" cy="5858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cxnSp>
        <p:nvCxnSpPr>
          <p:cNvPr id="27" name="vis:icon"/>
          <p:cNvCxnSpPr/>
          <p:nvPr/>
        </p:nvCxnSpPr>
        <p:spPr>
          <a:xfrm flipV="1">
            <a:off x="909176" y="3454822"/>
            <a:ext cx="58581" cy="5858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28" name="cell:tkname"/>
          <p:cNvSpPr txBox="1"/>
          <p:nvPr/>
        </p:nvSpPr>
        <p:spPr>
          <a:xfrm>
            <a:off x="1417320" y="3115056"/>
            <a:ext cx="5278450" cy="37795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Three ways to say no</a:t>
            </a:r>
          </a:p>
        </p:txBody>
      </p:sp>
      <p:sp>
        <p:nvSpPr>
          <p:cNvPr id="29" name="cell:tksub"/>
          <p:cNvSpPr txBox="1"/>
          <p:nvPr/>
        </p:nvSpPr>
        <p:spPr>
          <a:xfrm>
            <a:off x="1417320" y="3419856"/>
            <a:ext cx="5278450" cy="332597"/>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Offer the trade, defer to Monday, redirect to the right team.</a:t>
            </a:r>
          </a:p>
        </p:txBody>
      </p:sp>
      <p:sp>
        <p:nvSpPr>
          <p:cNvPr id="30" name="vis:tk"/>
          <p:cNvSpPr/>
          <p:nvPr/>
        </p:nvSpPr>
        <p:spPr>
          <a:xfrm>
            <a:off x="502920" y="3925823"/>
            <a:ext cx="6448882" cy="755904"/>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badge"/>
          <p:cNvSpPr/>
          <p:nvPr/>
        </p:nvSpPr>
        <p:spPr>
          <a:xfrm>
            <a:off x="722376" y="4047743"/>
            <a:ext cx="512064" cy="512064"/>
          </a:xfrm>
          <a:prstGeom prst="roundRect">
            <a:avLst>
              <a:gd name="adj" fmla="val 1785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2" name="vis:icon"/>
          <p:cNvCxnSpPr/>
          <p:nvPr/>
        </p:nvCxnSpPr>
        <p:spPr>
          <a:xfrm>
            <a:off x="882549" y="4309101"/>
            <a:ext cx="69231" cy="69231"/>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cxnSp>
        <p:nvCxnSpPr>
          <p:cNvPr id="33" name="vis:icon"/>
          <p:cNvCxnSpPr/>
          <p:nvPr/>
        </p:nvCxnSpPr>
        <p:spPr>
          <a:xfrm flipV="1">
            <a:off x="951780" y="4229219"/>
            <a:ext cx="127811" cy="149113"/>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34" name="cell:tkname"/>
          <p:cNvSpPr txBox="1"/>
          <p:nvPr/>
        </p:nvSpPr>
        <p:spPr>
          <a:xfrm>
            <a:off x="1417320" y="4017263"/>
            <a:ext cx="5278450" cy="37795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The end-of-day test</a:t>
            </a:r>
          </a:p>
        </p:txBody>
      </p:sp>
      <p:sp>
        <p:nvSpPr>
          <p:cNvPr id="35" name="cell:tksub"/>
          <p:cNvSpPr txBox="1"/>
          <p:nvPr/>
        </p:nvSpPr>
        <p:spPr>
          <a:xfrm>
            <a:off x="1417320" y="4322063"/>
            <a:ext cx="5278450" cy="332597"/>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Name one thing that actually finished.</a:t>
            </a:r>
          </a:p>
        </p:txBody>
      </p:sp>
      <p:sp>
        <p:nvSpPr>
          <p:cNvPr id="36" name="seclabel"/>
          <p:cNvSpPr txBox="1"/>
          <p:nvPr/>
        </p:nvSpPr>
        <p:spPr>
          <a:xfrm>
            <a:off x="8082076" y="1719072"/>
            <a:ext cx="3606698"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LINKS THAT WORK</a:t>
            </a:r>
          </a:p>
        </p:txBody>
      </p:sp>
      <p:sp>
        <p:nvSpPr>
          <p:cNvPr id="37" name="nav:link">
            <a:hlinkClick r:id="rId2"/>
          </p:cNvPr>
          <p:cNvSpPr/>
          <p:nvPr/>
        </p:nvSpPr>
        <p:spPr>
          <a:xfrm>
            <a:off x="8082076" y="2121408"/>
            <a:ext cx="3606698" cy="566928"/>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8" name="vis:icon"/>
          <p:cNvSpPr/>
          <p:nvPr/>
        </p:nvSpPr>
        <p:spPr>
          <a:xfrm>
            <a:off x="8339937" y="2300630"/>
            <a:ext cx="164592" cy="164592"/>
          </a:xfrm>
          <a:prstGeom prst="ellipse">
            <a:avLst/>
          </a:prstGeom>
          <a:noFill/>
          <a:ln w="1905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9" name="vis:icon"/>
          <p:cNvCxnSpPr/>
          <p:nvPr/>
        </p:nvCxnSpPr>
        <p:spPr>
          <a:xfrm>
            <a:off x="8482584" y="2443276"/>
            <a:ext cx="65836" cy="65837"/>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40" name="cell:linklabel"/>
          <p:cNvSpPr txBox="1"/>
          <p:nvPr/>
        </p:nvSpPr>
        <p:spPr>
          <a:xfrm>
            <a:off x="8703868" y="2203703"/>
            <a:ext cx="2747162" cy="21945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101826"/>
                </a:solidFill>
                <a:latin typeface="Segoe UI Semibold"/>
              </a:rPr>
              <a:t>Microsoft Copilot</a:t>
            </a:r>
          </a:p>
        </p:txBody>
      </p:sp>
      <p:sp>
        <p:nvSpPr>
          <p:cNvPr id="41" name="cell:linkurl"/>
          <p:cNvSpPr txBox="1"/>
          <p:nvPr/>
        </p:nvSpPr>
        <p:spPr>
          <a:xfrm>
            <a:off x="8703868" y="2423160"/>
            <a:ext cx="2747162"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a:rPr>
              <a:t>copilot.microsoft.com</a:t>
            </a:r>
          </a:p>
        </p:txBody>
      </p:sp>
      <p:sp>
        <p:nvSpPr>
          <p:cNvPr id="42" name="nav:link">
            <a:hlinkClick r:id="rId3"/>
          </p:cNvPr>
          <p:cNvSpPr/>
          <p:nvPr/>
        </p:nvSpPr>
        <p:spPr>
          <a:xfrm>
            <a:off x="8082076" y="2798063"/>
            <a:ext cx="3606698" cy="566928"/>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3" name="vis:icon"/>
          <p:cNvSpPr/>
          <p:nvPr/>
        </p:nvSpPr>
        <p:spPr>
          <a:xfrm>
            <a:off x="8339937" y="2977286"/>
            <a:ext cx="164592" cy="164592"/>
          </a:xfrm>
          <a:prstGeom prst="ellipse">
            <a:avLst/>
          </a:prstGeom>
          <a:noFill/>
          <a:ln w="1905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44" name="vis:icon"/>
          <p:cNvCxnSpPr/>
          <p:nvPr/>
        </p:nvCxnSpPr>
        <p:spPr>
          <a:xfrm>
            <a:off x="8482584" y="3119932"/>
            <a:ext cx="65836" cy="65837"/>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45" name="cell:linklabel"/>
          <p:cNvSpPr txBox="1"/>
          <p:nvPr/>
        </p:nvSpPr>
        <p:spPr>
          <a:xfrm>
            <a:off x="8703868" y="2880359"/>
            <a:ext cx="2747162" cy="21945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101826"/>
                </a:solidFill>
                <a:latin typeface="Segoe UI Semibold"/>
              </a:rPr>
              <a:t>ChatGPT</a:t>
            </a:r>
          </a:p>
        </p:txBody>
      </p:sp>
      <p:sp>
        <p:nvSpPr>
          <p:cNvPr id="46" name="cell:linkurl"/>
          <p:cNvSpPr txBox="1"/>
          <p:nvPr/>
        </p:nvSpPr>
        <p:spPr>
          <a:xfrm>
            <a:off x="8703868" y="3099815"/>
            <a:ext cx="2747162"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a:rPr>
              <a:t>chatgpt.com</a:t>
            </a:r>
          </a:p>
        </p:txBody>
      </p:sp>
      <p:sp>
        <p:nvSpPr>
          <p:cNvPr id="47" name="nav:link">
            <a:hlinkClick r:id="rId4"/>
          </p:cNvPr>
          <p:cNvSpPr/>
          <p:nvPr/>
        </p:nvSpPr>
        <p:spPr>
          <a:xfrm>
            <a:off x="8082076" y="3474720"/>
            <a:ext cx="3606698" cy="566928"/>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8" name="vis:icon"/>
          <p:cNvSpPr/>
          <p:nvPr/>
        </p:nvSpPr>
        <p:spPr>
          <a:xfrm>
            <a:off x="8339937" y="3653942"/>
            <a:ext cx="164592" cy="164592"/>
          </a:xfrm>
          <a:prstGeom prst="ellipse">
            <a:avLst/>
          </a:prstGeom>
          <a:noFill/>
          <a:ln w="1905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49" name="vis:icon"/>
          <p:cNvCxnSpPr/>
          <p:nvPr/>
        </p:nvCxnSpPr>
        <p:spPr>
          <a:xfrm>
            <a:off x="8482584" y="3796588"/>
            <a:ext cx="65836" cy="65837"/>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50" name="cell:linklabel"/>
          <p:cNvSpPr txBox="1"/>
          <p:nvPr/>
        </p:nvSpPr>
        <p:spPr>
          <a:xfrm>
            <a:off x="8703868" y="3557015"/>
            <a:ext cx="2747162" cy="21945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101826"/>
                </a:solidFill>
                <a:latin typeface="Segoe UI Semibold"/>
              </a:rPr>
              <a:t>Google Gemini</a:t>
            </a:r>
          </a:p>
        </p:txBody>
      </p:sp>
      <p:sp>
        <p:nvSpPr>
          <p:cNvPr id="51" name="cell:linkurl"/>
          <p:cNvSpPr txBox="1"/>
          <p:nvPr/>
        </p:nvSpPr>
        <p:spPr>
          <a:xfrm>
            <a:off x="8703868" y="3776472"/>
            <a:ext cx="2747162"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a:rPr>
              <a:t>gemini.google.com</a:t>
            </a:r>
          </a:p>
        </p:txBody>
      </p:sp>
      <p:sp>
        <p:nvSpPr>
          <p:cNvPr id="52" name="vis:next"/>
          <p:cNvSpPr/>
          <p:nvPr/>
        </p:nvSpPr>
        <p:spPr>
          <a:xfrm>
            <a:off x="8082076" y="4297680"/>
            <a:ext cx="3606698" cy="1719072"/>
          </a:xfrm>
          <a:prstGeom prst="roundRect">
            <a:avLst>
              <a:gd name="adj" fmla="val 4255"/>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3" name="seclabel"/>
          <p:cNvSpPr txBox="1"/>
          <p:nvPr/>
        </p:nvSpPr>
        <p:spPr>
          <a:xfrm>
            <a:off x="8338108" y="4480560"/>
            <a:ext cx="3094634"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AA8745"/>
                </a:solidFill>
                <a:latin typeface="Segoe UI Semibold"/>
              </a:rPr>
              <a:t>DO THIS NEXT</a:t>
            </a:r>
          </a:p>
        </p:txBody>
      </p:sp>
      <p:sp>
        <p:nvSpPr>
          <p:cNvPr id="54" name="cell:next"/>
          <p:cNvSpPr txBox="1"/>
          <p:nvPr/>
        </p:nvSpPr>
        <p:spPr>
          <a:xfrm>
            <a:off x="8338108" y="4809744"/>
            <a:ext cx="3094634" cy="987551"/>
          </a:xfrm>
          <a:prstGeom prst="rect">
            <a:avLst/>
          </a:prstGeom>
          <a:noFill/>
        </p:spPr>
        <p:txBody>
          <a:bodyPr wrap="square" lIns="0" rIns="0" tIns="0" bIns="0" anchor="t">
            <a:spAutoFit/>
          </a:bodyPr>
          <a:lstStyle/>
          <a:p>
            <a:pPr algn="l">
              <a:lnSpc>
                <a:spcPts val="1885"/>
              </a:lnSpc>
              <a:spcBef>
                <a:spcPts val="0"/>
              </a:spcBef>
              <a:spcAft>
                <a:spcPts val="0"/>
              </a:spcAft>
            </a:pPr>
            <a:r>
              <a:rPr sz="1450" b="0">
                <a:solidFill>
                  <a:srgbClr val="FFFFFF"/>
                </a:solidFill>
                <a:latin typeface="Segoe UI"/>
              </a:rPr>
              <a:t>Next module: PS-05, Personal Productivity Systems. A system simple enough that you will still be using it in March.</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GLOSSARY</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Words people use around AI</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PS-04  ·  Time Management</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vis:gloss"/>
          <p:cNvSpPr/>
          <p:nvPr/>
        </p:nvSpPr>
        <p:spPr>
          <a:xfrm>
            <a:off x="502920" y="1719072"/>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glossbar"/>
          <p:cNvSpPr/>
          <p:nvPr/>
        </p:nvSpPr>
        <p:spPr>
          <a:xfrm>
            <a:off x="502920" y="1719072"/>
            <a:ext cx="54864" cy="1078992"/>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cell:glossterm"/>
          <p:cNvSpPr txBox="1"/>
          <p:nvPr/>
        </p:nvSpPr>
        <p:spPr>
          <a:xfrm>
            <a:off x="740664" y="182880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Reactive work</a:t>
            </a:r>
          </a:p>
        </p:txBody>
      </p:sp>
      <p:sp>
        <p:nvSpPr>
          <p:cNvPr id="18" name="cell:glossdef"/>
          <p:cNvSpPr txBox="1"/>
          <p:nvPr/>
        </p:nvSpPr>
        <p:spPr>
          <a:xfrm>
            <a:off x="740664" y="2139696"/>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Work that arrives and demands a response. It fills any space you leave open.</a:t>
            </a:r>
          </a:p>
        </p:txBody>
      </p:sp>
      <p:sp>
        <p:nvSpPr>
          <p:cNvPr id="19" name="vis:gloss"/>
          <p:cNvSpPr/>
          <p:nvPr/>
        </p:nvSpPr>
        <p:spPr>
          <a:xfrm>
            <a:off x="6178143" y="1719072"/>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glossbar"/>
          <p:cNvSpPr/>
          <p:nvPr/>
        </p:nvSpPr>
        <p:spPr>
          <a:xfrm>
            <a:off x="6178143" y="1719072"/>
            <a:ext cx="54864" cy="1078992"/>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cell:glossterm"/>
          <p:cNvSpPr txBox="1"/>
          <p:nvPr/>
        </p:nvSpPr>
        <p:spPr>
          <a:xfrm>
            <a:off x="6415887" y="182880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Protected block</a:t>
            </a:r>
          </a:p>
        </p:txBody>
      </p:sp>
      <p:sp>
        <p:nvSpPr>
          <p:cNvPr id="22" name="cell:glossdef"/>
          <p:cNvSpPr txBox="1"/>
          <p:nvPr/>
        </p:nvSpPr>
        <p:spPr>
          <a:xfrm>
            <a:off x="6415887" y="2139696"/>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Two hours booked in the calendar, with notifications off and one task decided.</a:t>
            </a:r>
          </a:p>
        </p:txBody>
      </p:sp>
      <p:sp>
        <p:nvSpPr>
          <p:cNvPr id="23" name="vis:gloss"/>
          <p:cNvSpPr/>
          <p:nvPr/>
        </p:nvSpPr>
        <p:spPr>
          <a:xfrm>
            <a:off x="502920" y="2962656"/>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glossbar"/>
          <p:cNvSpPr/>
          <p:nvPr/>
        </p:nvSpPr>
        <p:spPr>
          <a:xfrm>
            <a:off x="502920" y="2962656"/>
            <a:ext cx="54864" cy="1078992"/>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cell:glossterm"/>
          <p:cNvSpPr txBox="1"/>
          <p:nvPr/>
        </p:nvSpPr>
        <p:spPr>
          <a:xfrm>
            <a:off x="740664" y="3072384"/>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Context switching</a:t>
            </a:r>
          </a:p>
        </p:txBody>
      </p:sp>
      <p:sp>
        <p:nvSpPr>
          <p:cNvPr id="26" name="cell:glossdef"/>
          <p:cNvSpPr txBox="1"/>
          <p:nvPr/>
        </p:nvSpPr>
        <p:spPr>
          <a:xfrm>
            <a:off x="740664" y="3383280"/>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Moving between tasks. Costs real, hard-to-measure time refocusing each time, even when the interruption itself was brief.</a:t>
            </a:r>
          </a:p>
        </p:txBody>
      </p:sp>
      <p:sp>
        <p:nvSpPr>
          <p:cNvPr id="27" name="vis:gloss"/>
          <p:cNvSpPr/>
          <p:nvPr/>
        </p:nvSpPr>
        <p:spPr>
          <a:xfrm>
            <a:off x="6178143" y="2962656"/>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glossbar"/>
          <p:cNvSpPr/>
          <p:nvPr/>
        </p:nvSpPr>
        <p:spPr>
          <a:xfrm>
            <a:off x="6178143" y="2962656"/>
            <a:ext cx="54864" cy="1078992"/>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cell:glossterm"/>
          <p:cNvSpPr txBox="1"/>
          <p:nvPr/>
        </p:nvSpPr>
        <p:spPr>
          <a:xfrm>
            <a:off x="6415887" y="3072384"/>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Batching</a:t>
            </a:r>
          </a:p>
        </p:txBody>
      </p:sp>
      <p:sp>
        <p:nvSpPr>
          <p:cNvPr id="30" name="cell:glossdef"/>
          <p:cNvSpPr txBox="1"/>
          <p:nvPr/>
        </p:nvSpPr>
        <p:spPr>
          <a:xfrm>
            <a:off x="6415887" y="3383280"/>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Holding several small requests and handling them together at one point in the day.</a:t>
            </a:r>
          </a:p>
        </p:txBody>
      </p:sp>
      <p:sp>
        <p:nvSpPr>
          <p:cNvPr id="31" name="vis:gloss"/>
          <p:cNvSpPr/>
          <p:nvPr/>
        </p:nvSpPr>
        <p:spPr>
          <a:xfrm>
            <a:off x="502920" y="4206240"/>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glossbar"/>
          <p:cNvSpPr/>
          <p:nvPr/>
        </p:nvSpPr>
        <p:spPr>
          <a:xfrm>
            <a:off x="502920" y="4206240"/>
            <a:ext cx="54864" cy="1078992"/>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cell:glossterm"/>
          <p:cNvSpPr txBox="1"/>
          <p:nvPr/>
        </p:nvSpPr>
        <p:spPr>
          <a:xfrm>
            <a:off x="740664" y="4315968"/>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The trade</a:t>
            </a:r>
          </a:p>
        </p:txBody>
      </p:sp>
      <p:sp>
        <p:nvSpPr>
          <p:cNvPr id="34" name="cell:glossdef"/>
          <p:cNvSpPr txBox="1"/>
          <p:nvPr/>
        </p:nvSpPr>
        <p:spPr>
          <a:xfrm>
            <a:off x="740664" y="4626864"/>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Offering a choice about what slips, rather than accepting silently or refusing.</a:t>
            </a:r>
          </a:p>
        </p:txBody>
      </p:sp>
      <p:sp>
        <p:nvSpPr>
          <p:cNvPr id="35" name="vis:gloss"/>
          <p:cNvSpPr/>
          <p:nvPr/>
        </p:nvSpPr>
        <p:spPr>
          <a:xfrm>
            <a:off x="6178143" y="4206240"/>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6" name="vis:glossbar"/>
          <p:cNvSpPr/>
          <p:nvPr/>
        </p:nvSpPr>
        <p:spPr>
          <a:xfrm>
            <a:off x="6178143" y="4206240"/>
            <a:ext cx="54864" cy="1078992"/>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7" name="cell:glossterm"/>
          <p:cNvSpPr txBox="1"/>
          <p:nvPr/>
        </p:nvSpPr>
        <p:spPr>
          <a:xfrm>
            <a:off x="6415887" y="4315968"/>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Deep work</a:t>
            </a:r>
          </a:p>
        </p:txBody>
      </p:sp>
      <p:sp>
        <p:nvSpPr>
          <p:cNvPr id="38" name="cell:glossdef"/>
          <p:cNvSpPr txBox="1"/>
          <p:nvPr/>
        </p:nvSpPr>
        <p:spPr>
          <a:xfrm>
            <a:off x="6415887" y="4626864"/>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Work needing sustained concentration. It never feels urgent, and it is what gets remembered.</a:t>
            </a:r>
          </a:p>
        </p:txBody>
      </p:sp>
      <p:sp>
        <p:nvSpPr>
          <p:cNvPr id="39" name="nav:glossback">
            <a:hlinkClick action="ppaction://hlinksldjump" r:id="rId2"/>
          </p:cNvPr>
          <p:cNvSpPr/>
          <p:nvPr/>
        </p:nvSpPr>
        <p:spPr>
          <a:xfrm>
            <a:off x="502920" y="5504688"/>
            <a:ext cx="2651760" cy="512064"/>
          </a:xfrm>
          <a:prstGeom prst="roundRect">
            <a:avLst>
              <a:gd name="adj" fmla="val 10714"/>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0" name="nav:glossbacktext"/>
          <p:cNvSpPr txBox="1"/>
          <p:nvPr/>
        </p:nvSpPr>
        <p:spPr>
          <a:xfrm>
            <a:off x="758952" y="5650992"/>
            <a:ext cx="2139696" cy="23774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Back to the menu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