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A895Mu8GcGw"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time-management.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Time Management</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Protecting the two hours a day where your real work actually gets done.</a:t>
            </a:r>
          </a:p>
        </p:txBody>
      </p:sp>
      <p:sp>
        <p:nvSpPr>
          <p:cNvPr id="11" name="vis:chip"/>
          <p:cNvSpPr/>
          <p:nvPr/>
        </p:nvSpPr>
        <p:spPr>
          <a:xfrm>
            <a:off x="841248" y="4626864"/>
            <a:ext cx="964184"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532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PS-04</a:t>
            </a:r>
          </a:p>
        </p:txBody>
      </p:sp>
      <p:sp>
        <p:nvSpPr>
          <p:cNvPr id="13" name="vis:chip"/>
          <p:cNvSpPr/>
          <p:nvPr/>
        </p:nvSpPr>
        <p:spPr>
          <a:xfrm>
            <a:off x="1951736"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7184"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16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PS-04  ·  Time Management</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Arjun is busy from nine to seven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18436"/>
            <a:ext cx="318006" cy="31800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V="1">
            <a:off x="1161288" y="2283483"/>
            <a:ext cx="0" cy="93956"/>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61288" y="2377439"/>
            <a:ext cx="79501" cy="2891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Arjun coordinates dispatch in Surat. He arrives at nine and leaves at seven. He is genuinely busy the whole time. The two things his manager actually asked for have not moved in a fortnight.</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Ten hours a day, and the important work untouched.</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Two protected hours, and a rule for everything that interrupts.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45974"/>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060704" y="1999039"/>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60704" y="2075688"/>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Protect two hours a day for work that needs concentration</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30990" y="2842086"/>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69315" y="2880411"/>
            <a:ext cx="182777" cy="18277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Say no to a request without damaging the relationship</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33938" y="3758835"/>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1007639" y="3779471"/>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933938" y="3847275"/>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1007639" y="3867911"/>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933938" y="3935716"/>
            <a:ext cx="41272" cy="412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1007639" y="3956352"/>
            <a:ext cx="18277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Handle an interruption in under thirty seconds</a:t>
            </a:r>
          </a:p>
        </p:txBody>
      </p:sp>
      <p:sp>
        <p:nvSpPr>
          <p:cNvPr id="35"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925094" y="4657895"/>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vis:icon"/>
          <p:cNvSpPr/>
          <p:nvPr/>
        </p:nvSpPr>
        <p:spPr>
          <a:xfrm>
            <a:off x="1019431" y="4722751"/>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Tell the difference between busy and productive, honestly</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54575" y="5666032"/>
            <a:ext cx="76648" cy="76648"/>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flipV="1">
            <a:off x="1031223" y="5577591"/>
            <a:ext cx="141505" cy="1650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4"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Finish the day knowing what actually moved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Busy is not productive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Ten hours, nothing moved</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protected block</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Two hours, defended</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Handling interruptions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Thirty seconds each</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Saying no</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damaging anything</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Book tomorrow's block</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Tuesday morning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3-minute outside summary</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BUSY IS NOT PRODUCTIVE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Ten hours, nothing moved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Reactive work fills any space you give it. It also feels productive, which is why it wins.</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181439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1503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REACTIVE WORK</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Fills the day</a:t>
            </a:r>
          </a:p>
        </p:txBody>
      </p:sp>
      <p:cxnSp>
        <p:nvCxnSpPr>
          <p:cNvPr id="21" name="vis:icon"/>
          <p:cNvCxnSpPr/>
          <p:nvPr/>
        </p:nvCxnSpPr>
        <p:spPr>
          <a:xfrm>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2" name="vis:icon"/>
          <p:cNvCxnSpPr/>
          <p:nvPr/>
        </p:nvCxnSpPr>
        <p:spPr>
          <a:xfrm flipH="1">
            <a:off x="819302" y="407913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Answering as messages arrive</a:t>
            </a:r>
          </a:p>
        </p:txBody>
      </p:sp>
      <p:cxnSp>
        <p:nvCxnSpPr>
          <p:cNvPr id="24" name="vis:icon"/>
          <p:cNvCxnSpPr/>
          <p:nvPr/>
        </p:nvCxnSpPr>
        <p:spPr>
          <a:xfrm>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H="1">
            <a:off x="819302" y="452719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Attending anything you were invited to</a:t>
            </a:r>
          </a:p>
        </p:txBody>
      </p:sp>
      <p:cxnSp>
        <p:nvCxnSpPr>
          <p:cNvPr id="27" name="vis:icon"/>
          <p:cNvCxnSpPr/>
          <p:nvPr/>
        </p:nvCxnSpPr>
        <p:spPr>
          <a:xfrm>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H="1">
            <a:off x="819302" y="497525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Solving problems people bring to your desk</a:t>
            </a:r>
          </a:p>
        </p:txBody>
      </p:sp>
      <p:cxnSp>
        <p:nvCxnSpPr>
          <p:cNvPr id="30" name="vis:icon"/>
          <p:cNvCxnSpPr/>
          <p:nvPr/>
        </p:nvCxnSpPr>
        <p:spPr>
          <a:xfrm>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H="1">
            <a:off x="819302" y="542330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Feels productive, and leaves no trace</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199591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16850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DELIBERATE WORK</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Has to be defended</a:t>
            </a:r>
          </a:p>
        </p:txBody>
      </p:sp>
      <p:cxnSp>
        <p:nvCxnSpPr>
          <p:cNvPr id="38" name="vis:icon"/>
          <p:cNvCxnSpPr/>
          <p:nvPr/>
        </p:nvCxnSpPr>
        <p:spPr>
          <a:xfrm>
            <a:off x="6560362" y="414131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6607911" y="408645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analysis your manager asked for</a:t>
            </a:r>
          </a:p>
        </p:txBody>
      </p:sp>
      <p:cxnSp>
        <p:nvCxnSpPr>
          <p:cNvPr id="41" name="vis:icon"/>
          <p:cNvCxnSpPr/>
          <p:nvPr/>
        </p:nvCxnSpPr>
        <p:spPr>
          <a:xfrm>
            <a:off x="6560362" y="458937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V="1">
            <a:off x="6607911" y="453450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process that keeps breaking</a:t>
            </a:r>
          </a:p>
        </p:txBody>
      </p:sp>
      <p:cxnSp>
        <p:nvCxnSpPr>
          <p:cNvPr id="44" name="vis:icon"/>
          <p:cNvCxnSpPr/>
          <p:nvPr/>
        </p:nvCxnSpPr>
        <p:spPr>
          <a:xfrm>
            <a:off x="6560362" y="503742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V="1">
            <a:off x="6607911" y="498256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proposal that would win the account</a:t>
            </a:r>
          </a:p>
        </p:txBody>
      </p:sp>
      <p:cxnSp>
        <p:nvCxnSpPr>
          <p:cNvPr id="47" name="vis:icon"/>
          <p:cNvCxnSpPr/>
          <p:nvPr/>
        </p:nvCxnSpPr>
        <p:spPr>
          <a:xfrm>
            <a:off x="6560362" y="548548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V="1">
            <a:off x="6607911" y="543062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Never urgent, and the only thing remembered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BUSY IS NOT PRODUCTIVE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honest end-of-day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What did I finish?</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 touched, not progressed. Finished.</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Was it on my list this morning?</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Or did it arrive and take over?</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Would my manager count it?</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Against what they actually asked for.</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If none — that was a reactive day</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of those a week is normal. Five is a problem.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PROTECTED BLOCK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hours, defended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SAME TIME DAILY — habit beats willpower, every time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 THE CALENDAR — as a real booking, not an intention</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NOTIFICATIONS OFF — email, chat and phone, all of them</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TASK ONLY — decided the evening before, not at the start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PROTECTED BLOCK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hours is enough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Not the whole day</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Nobody in an operational job protects six hours. Two is achievable and it changes the week.</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Tell people once</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 am heads-down until eleven, catch me after." Most people simply adjust.</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623294" y="2347711"/>
            <a:ext cx="89011"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8712305" y="2245005"/>
            <a:ext cx="164329" cy="1917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Decide the night before</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Choosing what to work on inside the block wastes twenty minutes of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HANDLING INTERRUPTIONS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Thirty seconds each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cost of an interruption is not the two minutes. It is the fifteen it takes to get back to where you were.</a:t>
            </a:r>
          </a:p>
        </p:txBody>
      </p:sp>
      <p:sp>
        <p:nvSpPr>
          <p:cNvPr id="16" name="vis:promptcard"/>
          <p:cNvSpPr/>
          <p:nvPr/>
        </p:nvSpPr>
        <p:spPr>
          <a:xfrm>
            <a:off x="502920" y="2706624"/>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8" name="card:prompt"/>
          <p:cNvSpPr txBox="1"/>
          <p:nvPr/>
        </p:nvSpPr>
        <p:spPr>
          <a:xfrm>
            <a:off x="777240" y="3255264"/>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am in the middle of something until eleven — is it a two-minute thing or a twenty-minute thing?"  If two minutes: deal with it now.  If twenty: "Let us do it at eleven, I will come to you."</a:t>
            </a:r>
          </a:p>
        </p:txBody>
      </p:sp>
      <p:sp>
        <p:nvSpPr>
          <p:cNvPr id="29" name="vis:promptcap"/>
          <p:cNvSpPr txBox="1"/>
          <p:nvPr/>
        </p:nvSpPr>
        <p:spPr>
          <a:xfrm>
            <a:off x="777240" y="438099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Works in person, on chat, and on the phone.</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does not refuse, so nobody feels turned away.</a:t>
            </a:r>
          </a:p>
        </p:txBody>
      </p:sp>
      <p:cxnSp>
        <p:nvCxnSpPr>
          <p:cNvPr id="34" name="vis:icon"/>
          <p:cNvCxnSpPr/>
          <p:nvPr/>
        </p:nvCxnSpPr>
        <p:spPr>
          <a:xfrm>
            <a:off x="7850361" y="423769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makes them size the request, which they rarely have.</a:t>
            </a:r>
          </a:p>
        </p:txBody>
      </p:sp>
      <p:cxnSp>
        <p:nvCxnSpPr>
          <p:cNvPr id="37" name="vis:icon"/>
          <p:cNvCxnSpPr/>
          <p:nvPr/>
        </p:nvCxnSpPr>
        <p:spPr>
          <a:xfrm>
            <a:off x="7850361" y="517038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commit to a time, so it does not become a brush-off.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HANDLING INTERRUPTIONS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interruption ledger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84168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53078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EVERY INTERRUPTION TAKEN</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Eleven interruptions between nine and one.</a:t>
            </a:r>
          </a:p>
          <a:p>
            <a:pPr algn="l">
              <a:lnSpc>
                <a:spcPts val="1690"/>
              </a:lnSpc>
              <a:spcBef>
                <a:spcPts val="0"/>
              </a:spcBef>
              <a:spcAft>
                <a:spcPts val="600"/>
              </a:spcAft>
            </a:pPr>
            <a:r>
              <a:rPr sz="1300" b="0">
                <a:solidFill>
                  <a:srgbClr val="2A3547"/>
                </a:solidFill>
                <a:latin typeface="Segoe UI"/>
              </a:rPr>
              <a:t>Each one costs two minutes plus fifteen to refocus.</a:t>
            </a:r>
          </a:p>
          <a:p>
            <a:pPr algn="l">
              <a:lnSpc>
                <a:spcPts val="1690"/>
              </a:lnSpc>
              <a:spcBef>
                <a:spcPts val="0"/>
              </a:spcBef>
              <a:spcAft>
                <a:spcPts val="600"/>
              </a:spcAft>
            </a:pPr>
            <a:r>
              <a:rPr sz="1300" b="0">
                <a:solidFill>
                  <a:srgbClr val="2A3547"/>
                </a:solidFill>
                <a:latin typeface="Segoe UI"/>
              </a:rPr>
              <a:t>That is more than three hours, and it does not feel like it.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170971"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86007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BATCHED TO ELEVEN</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Two dealt with instantly, nine held to eleven o'clock.</a:t>
            </a:r>
          </a:p>
          <a:p>
            <a:pPr algn="l">
              <a:lnSpc>
                <a:spcPts val="1690"/>
              </a:lnSpc>
              <a:spcBef>
                <a:spcPts val="0"/>
              </a:spcBef>
              <a:spcAft>
                <a:spcPts val="600"/>
              </a:spcAft>
            </a:pPr>
            <a:r>
              <a:rPr sz="1300" b="0">
                <a:solidFill>
                  <a:srgbClr val="2A3547"/>
                </a:solidFill>
                <a:latin typeface="Segoe UI"/>
              </a:rPr>
              <a:t>Those nine take forty minutes together, once.</a:t>
            </a:r>
          </a:p>
          <a:p>
            <a:pPr algn="l">
              <a:lnSpc>
                <a:spcPts val="1690"/>
              </a:lnSpc>
              <a:spcBef>
                <a:spcPts val="0"/>
              </a:spcBef>
              <a:spcAft>
                <a:spcPts val="600"/>
              </a:spcAft>
            </a:pPr>
            <a:r>
              <a:rPr sz="1300" b="0">
                <a:solidFill>
                  <a:srgbClr val="2A3547"/>
                </a:solidFill>
                <a:latin typeface="Segoe UI"/>
              </a:rPr>
              <a:t>The morning block survives, and nobody waited long.</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Batching is not avoiding people. It is answering nine of them properly instead of eleven of them badly.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SAYING NO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Saying no without damage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these three</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can do that, but it would push the dispatch report to Thursday — is that the right trade?"  /  "Not this week. I could pick it up Monday if that works."  /  "That one sits with Ops — worth asking them, they will do it faster than me."</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Trade, defer, redirect. Almost nothing needs a flat no.</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trade version makes the cost visible to them.</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defer version says yes, just later.</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redirect version helps them and costs you nothing.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SAYING NO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Make the trade visible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this coming from my manager?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Defer or redirect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colleague's request rarely needs your immediate week. "Monday" or "Ops will be faster" resolves most of them without any friction.</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Offer the trade</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"Happy to — which of these two should slip?" Managers usually do not know what is on your plate, and almost always pick one when asked.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book tomorrow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your calendar and find two hours tomorrow morning.</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Book them as a real appointment with a name on it.</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now which single task you will do in them.</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Turn notifications off before you start, not after.</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have these tasks and about six working hours tomorrow after meetings. Tell me the single task worth protecting two hours for, and which of the rest can be batched into one afternoon block. Assume my estimates are 50 per cent optimistic.</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Deciding tonight is what makes the block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Same two hours every day, booked in the calendar.</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Decide the task the evening before, never at the start.</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Batch interruptions to one point in the day.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End the day by naming one thing you actually finished.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Leaving the important work until you feel free</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never feel free. Reactive work expands to fill whatever you leave open.</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Protecting time but not notifications</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chat notification costs fifteen minutes of refocusing, whatever your calendar says.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Choosing the task at the start of the block</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Twenty minutes of the two hours gone before anything moves.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Saying yes to everything to be helpful</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become reliable for small things and unreliable for large ones.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Judging the day by how tired you are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Tiredness measures interruption, not progress. Ask what finished instead.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meeting you did not need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An hour-long meeting with six people costs six hours. Almost nobody prices it that way.</a:t>
            </a:r>
          </a:p>
          <a:p>
            <a:pPr algn="l">
              <a:lnSpc>
                <a:spcPts val="1755"/>
              </a:lnSpc>
              <a:spcBef>
                <a:spcPts val="0"/>
              </a:spcBef>
              <a:spcAft>
                <a:spcPts val="0"/>
              </a:spcAft>
            </a:pPr>
            <a:r>
              <a:rPr sz="1350" b="0">
                <a:solidFill>
                  <a:srgbClr val="FFFFFF"/>
                </a:solidFill>
                <a:latin typeface="Segoe UI"/>
              </a:rPr>
              <a:t>Declining politely, with a reason and an offer, is normal professional behaviour.</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agenda — ask for one first.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decision — ask if notes would do.</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 your decision — send someone or read the notes.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time management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Two protected hours a day beats ten reactive ones, every week.</a:t>
            </a:r>
          </a:p>
          <a:p>
            <a:pPr algn="l">
              <a:lnSpc>
                <a:spcPts val="1755"/>
              </a:lnSpc>
              <a:spcBef>
                <a:spcPts val="0"/>
              </a:spcBef>
              <a:spcAft>
                <a:spcPts val="0"/>
              </a:spcAft>
            </a:pPr>
            <a:r>
              <a:rPr sz="1350" b="0">
                <a:solidFill>
                  <a:srgbClr val="FFFFFF"/>
                </a:solidFill>
                <a:latin typeface="Segoe UI"/>
              </a:rPr>
              <a:t>The work people remember is almost never the work that was urgent.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Two hours, same time, defended.</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Interruptions batched, not refused.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Trade offered, not a flat no.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9:40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are twenty minutes into your protected block on the analysis your manager asked for. A colleague appears at your desk with a question about a delivery.</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Deal with it now — it is only a couple of minutes.</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whether it is a two-minute or twenty-minute thing.</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Say you are busy and cannot help right now.</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minutes, plus fifteen to get back</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question genuinely takes two minutes. Returning to where you were in the analysis takes another fifteen. Four more colleagues arrive before eleven, and the block produces nothing.</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cost of an interruption is the refocusing, not the answer.</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Thirty seconds, and the block survives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think about it and say twenty. You agree eleven o'clock and go to them then. Two others get the same answer, and all three get a better conversation than an interrupted one would have been.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Make them size it. Most people have never been asked.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Protects the block, damages the relationship</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block survives and the colleague leaves with nothing. If it genuinely was two minutes, you have made an enemy over 120 seconds. They will remember it next time you need something.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refuse without offering a time. The offer is the whole difference.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minutes, quick summary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Master Your Minutes - Time Management Hacks (3 Minutes)</a:t>
            </a:r>
          </a:p>
        </p:txBody>
      </p:sp>
      <p:sp>
        <p:nvSpPr>
          <p:cNvPr id="19" name="vis:chip"/>
          <p:cNvSpPr/>
          <p:nvPr/>
        </p:nvSpPr>
        <p:spPr>
          <a:xfrm>
            <a:off x="868680" y="3858768"/>
            <a:ext cx="217756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8666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BIOTECH WHISPERER</a:t>
            </a:r>
          </a:p>
        </p:txBody>
      </p:sp>
      <p:sp>
        <p:nvSpPr>
          <p:cNvPr id="21" name="vis:chip"/>
          <p:cNvSpPr/>
          <p:nvPr/>
        </p:nvSpPr>
        <p:spPr>
          <a:xfrm>
            <a:off x="3192553" y="3858768"/>
            <a:ext cx="12302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348001" y="3895344"/>
            <a:ext cx="9193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3:00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Three minutes, so it costs almost nothing.</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as a reminder rather than an introduction.</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an interruption actually cost?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two minutes it takes to answer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two minutes plus about fifteen to refocus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if you were not concentrating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depends on who is interrupting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two minutes it takes to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visible part and much the smaller one. The expensive part is getting back to where you were in the work.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refocusing, not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two minutes plus about fifteen to refocus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why eleven small interruptions can consume a morning without anyone noticing where it went. The arithmetic is invisible until you do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refocusing, not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Nothing, if you were not concentrating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you were not concentrating, the block was already lost. The cost applies precisely when the work mattered.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refocusing, not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depends on who is interrupting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Seniority changes how you respond, not what it costs your attention. A director's question breaks focus the same way.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refocusing, not the answer.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decide the task the night before?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helps you sleep better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Choosing at the start wastes twenty minutes of it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manager may change priorities overnight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the block feel longer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helps you sleep better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might, and that is not the operational reason. The reason is what happens at nine the next morning.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Choosing inside the block eats the block.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Choosing at the start wastes twenty minutes of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Deciding is real work, and doing it inside your two protected hours spends the freshest part of them on something you could have settled in thirty seconds the evening before.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Choosing inside the block eats the block.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Your manager may change priorities overnight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Occasionally, and that is an argument for a quick check rather than for not deciding. Most mornings nothing has changed.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Choosing inside the block eats the block.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makes the block feel longer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makes it genuinely longer, in usable minutes. Feeling is not the point.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Choosing inside the block eats the block.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Your manager adds a task. Best reply?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"Yes, no problem" and work later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"Happy to — which of these two should slip?"</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 am completely full this week"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Take it and drop something without saying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"Yes, no problem" and work later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do not learn what is on your plate, and something else slips silently. Working later is not a plan, it is a way of hiding the problem.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Offer the trade.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"Happy to — which of these two should slip?"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Managers usually have no visibility of your full load, and almost always choose when asked. It also makes you look organised rather than obstructive.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Offer the trade.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 am completely full this week"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a refusal without information. They cannot help you prioritise, and it reads as unwillingness rather than capacity.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Offer the trade.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Take it and drop something without saying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worst outcome. Something important stops moving and nobody knows, until it is noticed at the worst possible moment.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Offer the trade.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judge whether a day worked?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By how many hours you worked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By naming one thing you actually finished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By how tired you feel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By how many emails you cleared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By how many hours you worked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busy hours with nothing finished is a bad day that feels like a good one. Hours measure effort, not output.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what finished, not how tired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By naming one thing you actually finished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Finished, not touched. If you cannot name one on most days, the reactive work is winning and the block is not being defended.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what finished, not how tired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By how tired you feel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Tiredness measures interruption and context switching, which are exactly the things that produce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what finished, not how tired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By how many emails you cleared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cleared inbox is a good feeling and rarely the work you were hired for. It is the most seductive form of reactive work there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what finished, not how tired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should you decline a meeting?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Whenever you are busy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there is no agenda or your input is not needed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Never — declining looks uncommitted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your manager is not attending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Whenever you are busy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Everyone is busy, so it is not a criterion. The question is whether your presence changes what the meeting produces.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agenda, or no decision that needs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there is no agenda or your input is not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Ask for an agenda first — often that alone improves the meeting. If you are not part of the decision, notes will do, and an hour with six people costs six hours.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agenda, or no decision that needs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Never — declining looks uncommitted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Attending everything is not commitment, it is an absence of prioritisation. Declining politely with a reason and an offer is normal.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agenda, or no decision that needs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your manager is not attending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attendance is not the test. Plenty of important meetings do not involve them, and plenty of unnecessary ones do.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 agenda, or no decision that needs you.</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Time management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Busy is not productive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Reactive work fills any space you leave and leaves no trace.</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Two hours, defended</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Same time daily, in the calendar, notifications off, one task.</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Decide the night before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Choosing inside the block spends its freshest twenty minutes.</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Size the interruption</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minutes or twenty?" Batch the twenties to one point.</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Trade, defer, redirect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Almost nothing needs a flat no, and a flat no costs the most.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Judge by what finished</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Not by hours worked, emails cleared, or how tired you feel.</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Two protected hours a day beats ten reactive ones, every single week.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382199"/>
            <a:ext cx="234320" cy="234320"/>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V="1">
            <a:off x="978408" y="2430128"/>
            <a:ext cx="0"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78408" y="2499359"/>
            <a:ext cx="58580" cy="21302"/>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interruption question</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"Two-minute thing or twenty-minute thing?"</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6573" y="3305709"/>
            <a:ext cx="223669" cy="149113"/>
          </a:xfrm>
          <a:prstGeom prst="roundRect">
            <a:avLst>
              <a:gd name="adj" fmla="val 3066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flipH="1">
            <a:off x="909176" y="3454822"/>
            <a:ext cx="1065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909176" y="3454822"/>
            <a:ext cx="5858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Three ways to say no</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Offer the trade, defer to Monday, redirect to the right team.</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82549" y="4309101"/>
            <a:ext cx="69231"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951780" y="4229219"/>
            <a:ext cx="127811" cy="14911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end-of-day test</a:t>
            </a:r>
          </a:p>
        </p:txBody>
      </p:sp>
      <p:sp>
        <p:nvSpPr>
          <p:cNvPr id="35"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Name one thing that actually finished.</a:t>
            </a:r>
          </a:p>
        </p:txBody>
      </p:sp>
      <p:sp>
        <p:nvSpPr>
          <p:cNvPr id="36"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37"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1"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2"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5"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6"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47"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50"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1"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2"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4"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PS-05, Personal Productivity Systems. A system simple enough that you will still be using it in March.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PS-04  ·  Time Management</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Reactive work</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Work that arrives and demands a response. It fills any space you leave open.</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Protected block</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hours booked in the calendar, with notifications off and one task decided.</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Context switching</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Moving between tasks. Costs roughly fifteen minutes of refocusing each time.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Batching</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Holding several small requests and handling them together at one point in the day.</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trade</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Offering a choice about what slips, rather than accepting silently or refusing.</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Deep work</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Work needing sustained concentration. It never feels urgent, and it is what gets remembered.</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