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PnWND7JpRDQ"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presentation-skills.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56642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PROFESSIONAL SKILLS</a:t>
            </a:r>
          </a:p>
        </p:txBody>
      </p:sp>
      <p:sp>
        <p:nvSpPr>
          <p:cNvPr id="8" name="title:cover"/>
          <p:cNvSpPr txBox="1"/>
          <p:nvPr/>
        </p:nvSpPr>
        <p:spPr>
          <a:xfrm>
            <a:off x="841248" y="102362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Presentation Skills</a:t>
            </a:r>
          </a:p>
        </p:txBody>
      </p:sp>
      <p:cxnSp>
        <p:nvCxnSpPr>
          <p:cNvPr id="9" name="vis:rule"/>
          <p:cNvCxnSpPr/>
          <p:nvPr/>
        </p:nvCxnSpPr>
        <p:spPr>
          <a:xfrm>
            <a:off x="841248" y="280568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3080004"/>
            <a:ext cx="4187952" cy="114452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Standing up and saying it — including when you are interrupted on slide three.</a:t>
            </a:r>
          </a:p>
        </p:txBody>
      </p:sp>
      <p:sp>
        <p:nvSpPr>
          <p:cNvPr id="11" name="vis:chip"/>
          <p:cNvSpPr/>
          <p:nvPr/>
        </p:nvSpPr>
        <p:spPr>
          <a:xfrm>
            <a:off x="841248" y="4626864"/>
            <a:ext cx="961009" cy="310896"/>
          </a:xfrm>
          <a:prstGeom prst="roundRect">
            <a:avLst>
              <a:gd name="adj" fmla="val 14705"/>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3"/>
            <a:ext cx="650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PS-08</a:t>
            </a:r>
          </a:p>
        </p:txBody>
      </p:sp>
      <p:sp>
        <p:nvSpPr>
          <p:cNvPr id="13" name="vis:chip"/>
          <p:cNvSpPr/>
          <p:nvPr/>
        </p:nvSpPr>
        <p:spPr>
          <a:xfrm>
            <a:off x="1948561" y="4626864"/>
            <a:ext cx="1453134"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04009" y="4672583"/>
            <a:ext cx="114223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17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7"/>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PS-08  ·  Presentation Skills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Rohit reads his slides out loud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92627" y="2222050"/>
            <a:ext cx="137320" cy="137320"/>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icon"/>
          <p:cNvSpPr/>
          <p:nvPr/>
        </p:nvSpPr>
        <p:spPr>
          <a:xfrm>
            <a:off x="1016739" y="2413577"/>
            <a:ext cx="289097" cy="126479"/>
          </a:xfrm>
          <a:custGeom>
            <a:avLst/>
            <a:gdLst/>
            <a:ahLst/>
            <a:cxnLst/>
            <a:rect l="l" t="t" r="r" b="b"/>
            <a:pathLst>
              <a:path w="289097" h="126479">
                <a:moveTo>
                  <a:pt x="0" y="126479"/>
                </a:moveTo>
                <a:lnTo>
                  <a:pt x="21682" y="0"/>
                </a:lnTo>
                <a:lnTo>
                  <a:pt x="267415" y="0"/>
                </a:lnTo>
                <a:lnTo>
                  <a:pt x="289097" y="126479"/>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Rohit presents the monthly review in Vadodara. He reads each slide aloud, in order, without stopping. Halfway through, two people are on their phones. He has all the right information and nobody is receiving it.</a:t>
            </a:r>
          </a:p>
        </p:txBody>
      </p:sp>
      <p:sp>
        <p:nvSpPr>
          <p:cNvPr id="21"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Forty minutes of the right facts, landing on nobody.</a:t>
            </a:r>
          </a:p>
        </p:txBody>
      </p:sp>
      <p:sp>
        <p:nvSpPr>
          <p:cNvPr id="27"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AFTER THIS MODULE</a:t>
            </a:r>
          </a:p>
        </p:txBody>
      </p:sp>
      <p:cxnSp>
        <p:nvCxnSpPr>
          <p:cNvPr id="29"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0"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Say the point, then show the evidence. Never the other way 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36886" y="1969559"/>
            <a:ext cx="247634" cy="165089"/>
          </a:xfrm>
          <a:prstGeom prst="roundRect">
            <a:avLst>
              <a:gd name="adj" fmla="val 27694"/>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984055" y="2134648"/>
            <a:ext cx="11792"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984055" y="2134648"/>
            <a:ext cx="64856" cy="6485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0"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Open with the conclusion instead of the agenda</a:t>
            </a:r>
          </a:p>
        </p:txBody>
      </p:sp>
      <p:sp>
        <p:nvSpPr>
          <p:cNvPr id="21"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1004691" y="2845034"/>
            <a:ext cx="112024" cy="11202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942782" y="3001280"/>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Handle an interruption without losing your thread</a:t>
            </a:r>
          </a:p>
        </p:txBody>
      </p:sp>
      <p:sp>
        <p:nvSpPr>
          <p:cNvPr id="26"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925094" y="3761783"/>
            <a:ext cx="271219" cy="212257"/>
          </a:xfrm>
          <a:custGeom>
            <a:avLst/>
            <a:gdLst/>
            <a:ahLst/>
            <a:cxnLst/>
            <a:rect l="l" t="t" r="r" b="b"/>
            <a:pathLst>
              <a:path w="271219" h="212257">
                <a:moveTo>
                  <a:pt x="0" y="106128"/>
                </a:moveTo>
                <a:lnTo>
                  <a:pt x="135610" y="0"/>
                </a:lnTo>
                <a:lnTo>
                  <a:pt x="271219" y="106128"/>
                </a:lnTo>
                <a:lnTo>
                  <a:pt x="135610" y="212257"/>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is:icon"/>
          <p:cNvSpPr/>
          <p:nvPr/>
        </p:nvSpPr>
        <p:spPr>
          <a:xfrm>
            <a:off x="1019431" y="3826639"/>
            <a:ext cx="82544" cy="82544"/>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Say the point of a slide before showing its detail</a:t>
            </a:r>
          </a:p>
        </p:txBody>
      </p:sp>
      <p:sp>
        <p:nvSpPr>
          <p:cNvPr id="31"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25094" y="4634310"/>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vis:icon"/>
          <p:cNvCxnSpPr/>
          <p:nvPr/>
        </p:nvCxnSpPr>
        <p:spPr>
          <a:xfrm>
            <a:off x="1060704" y="4728647"/>
            <a:ext cx="0" cy="7370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vis:icon"/>
          <p:cNvSpPr/>
          <p:nvPr/>
        </p:nvSpPr>
        <p:spPr>
          <a:xfrm>
            <a:off x="1045963" y="4828880"/>
            <a:ext cx="29480" cy="2948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Answer a question you do not know the answer to</a:t>
            </a:r>
          </a:p>
        </p:txBody>
      </p:sp>
      <p:sp>
        <p:nvSpPr>
          <p:cNvPr id="37"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icon"/>
          <p:cNvSpPr/>
          <p:nvPr/>
        </p:nvSpPr>
        <p:spPr>
          <a:xfrm>
            <a:off x="930990" y="5530422"/>
            <a:ext cx="259426" cy="259426"/>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flipV="1">
            <a:off x="1060704" y="5583487"/>
            <a:ext cx="0" cy="7664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a:off x="1060704" y="5660136"/>
            <a:ext cx="64856" cy="2358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2"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Finish early, deliberately, and be thanked for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Point before evidence</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reading fails</a:t>
            </a:r>
          </a:p>
        </p:txBody>
      </p:sp>
      <p:cxnSp>
        <p:nvCxnSpPr>
          <p:cNvPr id="13" name="vis:menuarrow"/>
          <p:cNvCxnSpPr/>
          <p:nvPr/>
        </p:nvCxnSpPr>
        <p:spPr>
          <a:xfrm>
            <a:off x="11213287" y="1997049"/>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first ninety seconds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one opening</a:t>
            </a:r>
          </a:p>
        </p:txBody>
      </p:sp>
      <p:cxnSp>
        <p:nvCxnSpPr>
          <p:cNvPr id="19" name="vis:menuarrow"/>
          <p:cNvCxnSpPr/>
          <p:nvPr/>
        </p:nvCxnSpPr>
        <p:spPr>
          <a:xfrm>
            <a:off x="11213287" y="242498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Being interrupted</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is normal, not an attack</a:t>
            </a:r>
          </a:p>
        </p:txBody>
      </p:sp>
      <p:cxnSp>
        <p:nvCxnSpPr>
          <p:cNvPr id="25" name="vis:menuarrow"/>
          <p:cNvCxnSpPr/>
          <p:nvPr/>
        </p:nvCxnSpPr>
        <p:spPr>
          <a:xfrm>
            <a:off x="11213287" y="2852928"/>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Questions you cannot answer</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Three honest options</a:t>
            </a:r>
          </a:p>
        </p:txBody>
      </p:sp>
      <p:cxnSp>
        <p:nvCxnSpPr>
          <p:cNvPr id="31" name="vis:menuarrow"/>
          <p:cNvCxnSpPr/>
          <p:nvPr/>
        </p:nvCxnSpPr>
        <p:spPr>
          <a:xfrm>
            <a:off x="11213287" y="3280867"/>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Rehearse one opening</a:t>
            </a:r>
          </a:p>
        </p:txBody>
      </p:sp>
      <p:cxnSp>
        <p:nvCxnSpPr>
          <p:cNvPr id="37" name="vis:menuarrow"/>
          <p:cNvCxnSpPr/>
          <p:nvPr/>
        </p:nvCxnSpPr>
        <p:spPr>
          <a:xfrm>
            <a:off x="11213287" y="3708806"/>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slide-three decision</a:t>
            </a:r>
          </a:p>
        </p:txBody>
      </p:sp>
      <p:cxnSp>
        <p:nvCxnSpPr>
          <p:cNvPr id="43" name="vis:menuarrow"/>
          <p:cNvCxnSpPr/>
          <p:nvPr/>
        </p:nvCxnSpPr>
        <p:spPr>
          <a:xfrm>
            <a:off x="11213287" y="4136745"/>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5-minute outside guide</a:t>
            </a:r>
          </a:p>
        </p:txBody>
      </p:sp>
      <p:cxnSp>
        <p:nvCxnSpPr>
          <p:cNvPr id="49" name="vis:menuarrow"/>
          <p:cNvCxnSpPr/>
          <p:nvPr/>
        </p:nvCxnSpPr>
        <p:spPr>
          <a:xfrm>
            <a:off x="11213287" y="456468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8A5A0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POINT BEFORE EVIDENCE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Point first, evidence second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If people do not know what a slide is for, they read it instead of listening to you.</a:t>
            </a:r>
          </a:p>
        </p:txBody>
      </p:sp>
      <p:sp>
        <p:nvSpPr>
          <p:cNvPr id="16" name="vis:outcard"/>
          <p:cNvSpPr/>
          <p:nvPr/>
        </p:nvSpPr>
        <p:spPr>
          <a:xfrm>
            <a:off x="502920" y="2432304"/>
            <a:ext cx="5410047" cy="3017520"/>
          </a:xfrm>
          <a:prstGeom prst="roundRect">
            <a:avLst>
              <a:gd name="adj" fmla="val 303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outspine"/>
          <p:cNvSpPr/>
          <p:nvPr/>
        </p:nvSpPr>
        <p:spPr>
          <a:xfrm>
            <a:off x="502920" y="2432304"/>
            <a:ext cx="68580" cy="30175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58952" y="2633472"/>
            <a:ext cx="178460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14400" y="2660904"/>
            <a:ext cx="14737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EVIDENCE FIRST</a:t>
            </a:r>
          </a:p>
        </p:txBody>
      </p:sp>
      <p:sp>
        <p:nvSpPr>
          <p:cNvPr id="20" name="vis:outbody"/>
          <p:cNvSpPr txBox="1"/>
          <p:nvPr/>
        </p:nvSpPr>
        <p:spPr>
          <a:xfrm>
            <a:off x="758952" y="3072384"/>
            <a:ext cx="4897983" cy="215798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"This chart shows dispatches by week for the quarter."</a:t>
            </a:r>
          </a:p>
          <a:p>
            <a:pPr algn="l">
              <a:lnSpc>
                <a:spcPts val="1690"/>
              </a:lnSpc>
              <a:spcBef>
                <a:spcPts val="0"/>
              </a:spcBef>
              <a:spcAft>
                <a:spcPts val="600"/>
              </a:spcAft>
            </a:pPr>
            <a:r>
              <a:rPr sz="1300" b="0">
                <a:solidFill>
                  <a:srgbClr val="2A3547"/>
                </a:solidFill>
                <a:latin typeface="Segoe UI"/>
              </a:rPr>
              <a:t>The room reads the chart while you are still talking.</a:t>
            </a:r>
          </a:p>
          <a:p>
            <a:pPr algn="l">
              <a:lnSpc>
                <a:spcPts val="1690"/>
              </a:lnSpc>
              <a:spcBef>
                <a:spcPts val="0"/>
              </a:spcBef>
              <a:spcAft>
                <a:spcPts val="600"/>
              </a:spcAft>
            </a:pPr>
            <a:r>
              <a:rPr sz="1300" b="0">
                <a:solidFill>
                  <a:srgbClr val="2A3547"/>
                </a:solidFill>
                <a:latin typeface="Segoe UI"/>
              </a:rPr>
              <a:t>By the time you reach the point, they have formed their own.</a:t>
            </a:r>
          </a:p>
        </p:txBody>
      </p:sp>
      <p:sp>
        <p:nvSpPr>
          <p:cNvPr id="21" name="vis:outcard"/>
          <p:cNvSpPr/>
          <p:nvPr/>
        </p:nvSpPr>
        <p:spPr>
          <a:xfrm>
            <a:off x="6278727" y="2432304"/>
            <a:ext cx="5410047" cy="3017520"/>
          </a:xfrm>
          <a:prstGeom prst="roundRect">
            <a:avLst>
              <a:gd name="adj" fmla="val 303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outspine"/>
          <p:cNvSpPr/>
          <p:nvPr/>
        </p:nvSpPr>
        <p:spPr>
          <a:xfrm>
            <a:off x="6278727" y="2432304"/>
            <a:ext cx="68580" cy="30175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
          <p:cNvSpPr/>
          <p:nvPr/>
        </p:nvSpPr>
        <p:spPr>
          <a:xfrm>
            <a:off x="6534759" y="2633472"/>
            <a:ext cx="149631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hiptext"/>
          <p:cNvSpPr txBox="1"/>
          <p:nvPr/>
        </p:nvSpPr>
        <p:spPr>
          <a:xfrm>
            <a:off x="6690207" y="2660904"/>
            <a:ext cx="11854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POINT FIRST</a:t>
            </a:r>
          </a:p>
        </p:txBody>
      </p:sp>
      <p:sp>
        <p:nvSpPr>
          <p:cNvPr id="25" name="vis:outbody"/>
          <p:cNvSpPr txBox="1"/>
          <p:nvPr/>
        </p:nvSpPr>
        <p:spPr>
          <a:xfrm>
            <a:off x="6534759" y="3072384"/>
            <a:ext cx="4897983" cy="215798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"Volumes held up. The problem is rejects, not output."</a:t>
            </a:r>
          </a:p>
          <a:p>
            <a:pPr algn="l">
              <a:lnSpc>
                <a:spcPts val="1690"/>
              </a:lnSpc>
              <a:spcBef>
                <a:spcPts val="0"/>
              </a:spcBef>
              <a:spcAft>
                <a:spcPts val="600"/>
              </a:spcAft>
            </a:pPr>
            <a:r>
              <a:rPr sz="1300" b="0">
                <a:solidFill>
                  <a:srgbClr val="2A3547"/>
                </a:solidFill>
                <a:latin typeface="Segoe UI"/>
              </a:rPr>
              <a:t>"You can see it in weeks six and seven here."</a:t>
            </a:r>
          </a:p>
          <a:p>
            <a:pPr algn="l">
              <a:lnSpc>
                <a:spcPts val="1690"/>
              </a:lnSpc>
              <a:spcBef>
                <a:spcPts val="0"/>
              </a:spcBef>
              <a:spcAft>
                <a:spcPts val="600"/>
              </a:spcAft>
            </a:pPr>
            <a:r>
              <a:rPr sz="1300" b="0">
                <a:solidFill>
                  <a:srgbClr val="2A3547"/>
                </a:solidFill>
                <a:latin typeface="Segoe UI"/>
              </a:rPr>
              <a:t>They now look at the chart for the thing you named.</a:t>
            </a:r>
          </a:p>
        </p:txBody>
      </p:sp>
      <p:sp>
        <p:nvSpPr>
          <p:cNvPr id="26" name="cell:banote"/>
          <p:cNvSpPr txBox="1"/>
          <p:nvPr/>
        </p:nvSpPr>
        <p:spPr>
          <a:xfrm>
            <a:off x="502920" y="5632704"/>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 room reads faster than you speak. Give them the point before they build their own.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POINT BEFORE EVIDENCE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Never read the slide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48942" y="2217617"/>
            <a:ext cx="314963" cy="246493"/>
          </a:xfrm>
          <a:custGeom>
            <a:avLst/>
            <a:gdLst/>
            <a:ahLst/>
            <a:cxnLst/>
            <a:rect l="l" t="t" r="r" b="b"/>
            <a:pathLst>
              <a:path w="314963" h="246493">
                <a:moveTo>
                  <a:pt x="0" y="123246"/>
                </a:moveTo>
                <a:lnTo>
                  <a:pt x="157482" y="0"/>
                </a:lnTo>
                <a:lnTo>
                  <a:pt x="314963" y="123246"/>
                </a:lnTo>
                <a:lnTo>
                  <a:pt x="157482" y="246493"/>
                </a:lnTo>
                <a:close/>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58494" y="2292934"/>
            <a:ext cx="95858" cy="95858"/>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They read it faster</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Reading aloud is slower than reading silently. You are holding the room back.</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782694" y="2217617"/>
            <a:ext cx="287575" cy="191716"/>
          </a:xfrm>
          <a:prstGeom prst="roundRect">
            <a:avLst>
              <a:gd name="adj" fmla="val 23847"/>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flipH="1">
            <a:off x="4837471" y="2409334"/>
            <a:ext cx="13694"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flipV="1">
            <a:off x="4837471" y="2409334"/>
            <a:ext cx="75317" cy="753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Say what is not on it</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slide carries the data. You carry the meaning, the caveat and the recommendation.</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599329" y="2214193"/>
            <a:ext cx="47929" cy="47929"/>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684917" y="2238158"/>
            <a:ext cx="21225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vis:icon"/>
          <p:cNvSpPr/>
          <p:nvPr/>
        </p:nvSpPr>
        <p:spPr>
          <a:xfrm>
            <a:off x="8599329" y="2316899"/>
            <a:ext cx="47929" cy="47929"/>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684917" y="2340863"/>
            <a:ext cx="21225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vis:icon"/>
          <p:cNvSpPr/>
          <p:nvPr/>
        </p:nvSpPr>
        <p:spPr>
          <a:xfrm>
            <a:off x="8599329" y="2419604"/>
            <a:ext cx="47929" cy="47929"/>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684917" y="2443569"/>
            <a:ext cx="212258"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6"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One point per slide</a:t>
            </a:r>
          </a:p>
        </p:txBody>
      </p:sp>
      <p:sp>
        <p:nvSpPr>
          <p:cNvPr id="37"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If you need three sentences to say what a slide shows, it is three slides.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FIRST NINETY SECONDS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get one opening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opening</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"Three things today. One: volumes held, so capacity is not our problem. Two: rejects doubled in weeks six and seven and I know why. Three: I need a decision on the film supplier by Friday. I will take questions as we go."</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Under thirty seconds, and the room knows the whole shape.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Naming three things tells people when it will end.</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decision is stated at the start, not discovered at the end.</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"Questions as we go" prevents the awkward held hand.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FIRST NINETY SECONDS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not to open with</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145"/>
              </a:lnSpc>
              <a:spcBef>
                <a:spcPts val="0"/>
              </a:spcBef>
              <a:spcAft>
                <a:spcPts val="400"/>
              </a:spcAft>
            </a:pPr>
            <a:r>
              <a:rPr sz="1650" b="0">
                <a:solidFill>
                  <a:srgbClr val="FFFFFF"/>
                </a:solidFill>
                <a:latin typeface="Segoe UI Semibold"/>
              </a:rPr>
              <a:t>The first thirty seconds are the only ones where you have everybody. Do not spend them on housekeeping.</a:t>
            </a:r>
          </a:p>
          <a:p>
            <a:pPr algn="l">
              <a:lnSpc>
                <a:spcPts val="1560"/>
              </a:lnSpc>
              <a:spcBef>
                <a:spcPts val="0"/>
              </a:spcBef>
              <a:spcAft>
                <a:spcPts val="0"/>
              </a:spcAft>
            </a:pPr>
            <a:r>
              <a:rPr sz="1200" b="0">
                <a:solidFill>
                  <a:srgbClr val="FFFFFF"/>
                </a:solidFill>
                <a:latin typeface="Segoe UI"/>
              </a:rPr>
              <a:t>Agendas, apologies and background all belong later, or nowhere.</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"Let me start with a bit of background"</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"Apologies, I only got this together this morning"</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 know we are short on time so I will be quick"</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 agenda slide nobody has ever needed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BEING INTERRUPTED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Interruptions are normal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Being stopped on slide three usually means somebody is engaged. It is not an attack, and it is not a failure.</a:t>
            </a:r>
          </a:p>
        </p:txBody>
      </p:sp>
      <p:sp>
        <p:nvSpPr>
          <p:cNvPr id="16" name="vis:checktile"/>
          <p:cNvSpPr/>
          <p:nvPr/>
        </p:nvSpPr>
        <p:spPr>
          <a:xfrm>
            <a:off x="502920"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eckdot"/>
          <p:cNvSpPr/>
          <p:nvPr/>
        </p:nvSpPr>
        <p:spPr>
          <a:xfrm>
            <a:off x="722376"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815279" y="3546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860450"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cell:checkitem"/>
          <p:cNvSpPr txBox="1"/>
          <p:nvPr/>
        </p:nvSpPr>
        <p:spPr>
          <a:xfrm>
            <a:off x="1161288"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ANSWER IT — if it is quick, take it now and move on</a:t>
            </a:r>
          </a:p>
        </p:txBody>
      </p:sp>
      <p:sp>
        <p:nvSpPr>
          <p:cNvPr id="21" name="vis:checktile"/>
          <p:cNvSpPr/>
          <p:nvPr/>
        </p:nvSpPr>
        <p:spPr>
          <a:xfrm>
            <a:off x="6205575" y="2834640"/>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eckdot"/>
          <p:cNvSpPr/>
          <p:nvPr/>
        </p:nvSpPr>
        <p:spPr>
          <a:xfrm>
            <a:off x="6425031" y="3387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6517934" y="3546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V="1">
            <a:off x="6563106" y="3494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cell:checkitem"/>
          <p:cNvSpPr txBox="1"/>
          <p:nvPr/>
        </p:nvSpPr>
        <p:spPr>
          <a:xfrm>
            <a:off x="6863943" y="2980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DEFER IT — "That is slide seven, can I come to it there?"</a:t>
            </a:r>
          </a:p>
        </p:txBody>
      </p:sp>
      <p:sp>
        <p:nvSpPr>
          <p:cNvPr id="26" name="vis:checktile"/>
          <p:cNvSpPr/>
          <p:nvPr/>
        </p:nvSpPr>
        <p:spPr>
          <a:xfrm>
            <a:off x="502920"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eckdot"/>
          <p:cNvSpPr/>
          <p:nvPr/>
        </p:nvSpPr>
        <p:spPr>
          <a:xfrm>
            <a:off x="722376"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15279" y="5183550"/>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9" name="vis:icon"/>
          <p:cNvCxnSpPr/>
          <p:nvPr/>
        </p:nvCxnSpPr>
        <p:spPr>
          <a:xfrm flipV="1">
            <a:off x="860450"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0" name="cell:checkitem"/>
          <p:cNvSpPr txBox="1"/>
          <p:nvPr/>
        </p:nvSpPr>
        <p:spPr>
          <a:xfrm>
            <a:off x="1161288"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PARK IT — "Good question, let me take that offline"</a:t>
            </a:r>
          </a:p>
        </p:txBody>
      </p:sp>
      <p:sp>
        <p:nvSpPr>
          <p:cNvPr id="31" name="vis:checktile"/>
          <p:cNvSpPr/>
          <p:nvPr/>
        </p:nvSpPr>
        <p:spPr>
          <a:xfrm>
            <a:off x="6205575" y="4471416"/>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eckdot"/>
          <p:cNvSpPr/>
          <p:nvPr/>
        </p:nvSpPr>
        <p:spPr>
          <a:xfrm>
            <a:off x="6425031" y="5024628"/>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6517934" y="5183550"/>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563106" y="5131429"/>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cell:checkitem"/>
          <p:cNvSpPr txBox="1"/>
          <p:nvPr/>
        </p:nvSpPr>
        <p:spPr>
          <a:xfrm>
            <a:off x="6863943" y="4617720"/>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SAY — "I was just about to explain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BEING INTERRUPTED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Finding your place again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flowcard"/>
          <p:cNvSpPr/>
          <p:nvPr/>
        </p:nvSpPr>
        <p:spPr>
          <a:xfrm>
            <a:off x="502920"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flownum"/>
          <p:cNvSpPr/>
          <p:nvPr/>
        </p:nvSpPr>
        <p:spPr>
          <a:xfrm>
            <a:off x="685800"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text"/>
          <p:cNvSpPr txBox="1"/>
          <p:nvPr/>
        </p:nvSpPr>
        <p:spPr>
          <a:xfrm>
            <a:off x="685800"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8" name="vis:flowtitle"/>
          <p:cNvSpPr txBox="1"/>
          <p:nvPr/>
        </p:nvSpPr>
        <p:spPr>
          <a:xfrm>
            <a:off x="704088"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Finish the answer</a:t>
            </a:r>
          </a:p>
        </p:txBody>
      </p:sp>
      <p:sp>
        <p:nvSpPr>
          <p:cNvPr id="19" name="vis:flowsub"/>
          <p:cNvSpPr txBox="1"/>
          <p:nvPr/>
        </p:nvSpPr>
        <p:spPr>
          <a:xfrm>
            <a:off x="704088"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Do not trail off looking at the screen.</a:t>
            </a:r>
          </a:p>
        </p:txBody>
      </p:sp>
      <p:cxnSp>
        <p:nvCxnSpPr>
          <p:cNvPr id="20" name="vis:flowarrow"/>
          <p:cNvCxnSpPr/>
          <p:nvPr/>
        </p:nvCxnSpPr>
        <p:spPr>
          <a:xfrm>
            <a:off x="3093643"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vis:flowcard"/>
          <p:cNvSpPr/>
          <p:nvPr/>
        </p:nvSpPr>
        <p:spPr>
          <a:xfrm>
            <a:off x="3395395"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flownum"/>
          <p:cNvSpPr/>
          <p:nvPr/>
        </p:nvSpPr>
        <p:spPr>
          <a:xfrm>
            <a:off x="3578275"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text"/>
          <p:cNvSpPr txBox="1"/>
          <p:nvPr/>
        </p:nvSpPr>
        <p:spPr>
          <a:xfrm>
            <a:off x="3578275"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4" name="vis:flowtitle"/>
          <p:cNvSpPr txBox="1"/>
          <p:nvPr/>
        </p:nvSpPr>
        <p:spPr>
          <a:xfrm>
            <a:off x="3596563"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Name where you are</a:t>
            </a:r>
          </a:p>
        </p:txBody>
      </p:sp>
      <p:sp>
        <p:nvSpPr>
          <p:cNvPr id="25" name="vis:flowsub"/>
          <p:cNvSpPr txBox="1"/>
          <p:nvPr/>
        </p:nvSpPr>
        <p:spPr>
          <a:xfrm>
            <a:off x="3596563"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"So — back to rejects."</a:t>
            </a:r>
          </a:p>
        </p:txBody>
      </p:sp>
      <p:cxnSp>
        <p:nvCxnSpPr>
          <p:cNvPr id="26" name="vis:flowarrow"/>
          <p:cNvCxnSpPr/>
          <p:nvPr/>
        </p:nvCxnSpPr>
        <p:spPr>
          <a:xfrm>
            <a:off x="5986119"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vis:flowcard"/>
          <p:cNvSpPr/>
          <p:nvPr/>
        </p:nvSpPr>
        <p:spPr>
          <a:xfrm>
            <a:off x="6287871"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flownum"/>
          <p:cNvSpPr/>
          <p:nvPr/>
        </p:nvSpPr>
        <p:spPr>
          <a:xfrm>
            <a:off x="6470751"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text"/>
          <p:cNvSpPr txBox="1"/>
          <p:nvPr/>
        </p:nvSpPr>
        <p:spPr>
          <a:xfrm>
            <a:off x="6470751"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0" name="vis:flowtitle"/>
          <p:cNvSpPr txBox="1"/>
          <p:nvPr/>
        </p:nvSpPr>
        <p:spPr>
          <a:xfrm>
            <a:off x="6489039"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Restate the point</a:t>
            </a:r>
          </a:p>
        </p:txBody>
      </p:sp>
      <p:sp>
        <p:nvSpPr>
          <p:cNvPr id="31" name="vis:flowsub"/>
          <p:cNvSpPr txBox="1"/>
          <p:nvPr/>
        </p:nvSpPr>
        <p:spPr>
          <a:xfrm>
            <a:off x="6489039"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sentence. It helps you and the room.</a:t>
            </a:r>
          </a:p>
        </p:txBody>
      </p:sp>
      <p:cxnSp>
        <p:nvCxnSpPr>
          <p:cNvPr id="32" name="vis:flowarrow"/>
          <p:cNvCxnSpPr/>
          <p:nvPr/>
        </p:nvCxnSpPr>
        <p:spPr>
          <a:xfrm>
            <a:off x="8878595" y="3182111"/>
            <a:ext cx="219456"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vis:flowcard"/>
          <p:cNvSpPr/>
          <p:nvPr/>
        </p:nvSpPr>
        <p:spPr>
          <a:xfrm>
            <a:off x="9180347" y="2221991"/>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flownum"/>
          <p:cNvSpPr/>
          <p:nvPr/>
        </p:nvSpPr>
        <p:spPr>
          <a:xfrm>
            <a:off x="9363227" y="2039111"/>
            <a:ext cx="384048" cy="384048"/>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text"/>
          <p:cNvSpPr txBox="1"/>
          <p:nvPr/>
        </p:nvSpPr>
        <p:spPr>
          <a:xfrm>
            <a:off x="9363227" y="2116835"/>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6" name="vis:flowtitle"/>
          <p:cNvSpPr txBox="1"/>
          <p:nvPr/>
        </p:nvSpPr>
        <p:spPr>
          <a:xfrm>
            <a:off x="9381515" y="2587751"/>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Carry on</a:t>
            </a:r>
          </a:p>
        </p:txBody>
      </p:sp>
      <p:sp>
        <p:nvSpPr>
          <p:cNvPr id="37" name="vis:flowsub"/>
          <p:cNvSpPr txBox="1"/>
          <p:nvPr/>
        </p:nvSpPr>
        <p:spPr>
          <a:xfrm>
            <a:off x="9381515" y="3136391"/>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Nobody remembers the pause. They remember the fluster.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QUESTIONS YOU CANNOT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honest options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930505"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61960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PEOPLE DO</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Guessing under pressure</a:t>
            </a:r>
          </a:p>
        </p:txBody>
      </p:sp>
      <p:cxnSp>
        <p:nvCxnSpPr>
          <p:cNvPr id="20" name="vis:icon"/>
          <p:cNvCxnSpPr/>
          <p:nvPr/>
        </p:nvCxnSpPr>
        <p:spPr>
          <a:xfrm>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flipH="1">
            <a:off x="819302" y="3091586"/>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2"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 invented figure, stated confidently</a:t>
            </a:r>
          </a:p>
        </p:txBody>
      </p:sp>
      <p:cxnSp>
        <p:nvCxnSpPr>
          <p:cNvPr id="23" name="vis:icon"/>
          <p:cNvCxnSpPr/>
          <p:nvPr/>
        </p:nvCxnSpPr>
        <p:spPr>
          <a:xfrm>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flipH="1">
            <a:off x="819302" y="3786530"/>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5"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vague answer nobody can act on</a:t>
            </a:r>
          </a:p>
        </p:txBody>
      </p:sp>
      <p:cxnSp>
        <p:nvCxnSpPr>
          <p:cNvPr id="26" name="vis:icon"/>
          <p:cNvCxnSpPr/>
          <p:nvPr/>
        </p:nvCxnSpPr>
        <p:spPr>
          <a:xfrm>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flipH="1">
            <a:off x="819302" y="4481474"/>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8"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 think it was around..."</a:t>
            </a:r>
          </a:p>
        </p:txBody>
      </p:sp>
      <p:cxnSp>
        <p:nvCxnSpPr>
          <p:cNvPr id="29" name="vis:icon"/>
          <p:cNvCxnSpPr/>
          <p:nvPr/>
        </p:nvCxnSpPr>
        <p:spPr>
          <a:xfrm>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0" name="vis:icon"/>
          <p:cNvCxnSpPr/>
          <p:nvPr/>
        </p:nvCxnSpPr>
        <p:spPr>
          <a:xfrm flipH="1">
            <a:off x="819302" y="5176418"/>
            <a:ext cx="117043"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31"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It gets quoted back to you in six weeks</a:t>
            </a:r>
          </a:p>
        </p:txBody>
      </p:sp>
      <p:sp>
        <p:nvSpPr>
          <p:cNvPr id="32"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chip"/>
          <p:cNvSpPr/>
          <p:nvPr/>
        </p:nvSpPr>
        <p:spPr>
          <a:xfrm>
            <a:off x="6525615" y="1956815"/>
            <a:ext cx="162761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text"/>
          <p:cNvSpPr txBox="1"/>
          <p:nvPr/>
        </p:nvSpPr>
        <p:spPr>
          <a:xfrm>
            <a:off x="6681063" y="1984247"/>
            <a:ext cx="13167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WORKS</a:t>
            </a:r>
          </a:p>
        </p:txBody>
      </p:sp>
      <p:sp>
        <p:nvSpPr>
          <p:cNvPr id="36"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Three honest answers</a:t>
            </a:r>
          </a:p>
        </p:txBody>
      </p:sp>
      <p:cxnSp>
        <p:nvCxnSpPr>
          <p:cNvPr id="37"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9"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 do not know — I will find out by Thursday."</a:t>
            </a:r>
          </a:p>
        </p:txBody>
      </p:sp>
      <p:cxnSp>
        <p:nvCxnSpPr>
          <p:cNvPr id="40"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2"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"I have a rough figure but I would not quote it."</a:t>
            </a:r>
          </a:p>
        </p:txBody>
      </p:sp>
      <p:cxnSp>
        <p:nvCxnSpPr>
          <p:cNvPr id="43"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4"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5"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"That is outside what I looked at. Ops would know."</a:t>
            </a:r>
          </a:p>
        </p:txBody>
      </p:sp>
      <p:cxnSp>
        <p:nvCxnSpPr>
          <p:cNvPr id="46"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47"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48"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Nobody has ever lost credibility this 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QUESTIONS YOU CANNOT ANSWER</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commitment matters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promptcard"/>
          <p:cNvSpPr/>
          <p:nvPr/>
        </p:nvSpPr>
        <p:spPr>
          <a:xfrm>
            <a:off x="502920" y="1719072"/>
            <a:ext cx="6935230" cy="2103120"/>
          </a:xfrm>
          <a:prstGeom prst="roundRect">
            <a:avLst>
              <a:gd name="adj" fmla="val 434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880871"/>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Consolas"/>
              </a:rPr>
              <a:t>"I do not have that to hand and I would rather not guess at it. I will check and come back to you by Thursday."  Then write it down, in the room, where they can see you writing it.</a:t>
            </a:r>
          </a:p>
        </p:txBody>
      </p:sp>
      <p:sp>
        <p:nvSpPr>
          <p:cNvPr id="28" name="vis:promptcap"/>
          <p:cNvSpPr txBox="1"/>
          <p:nvPr/>
        </p:nvSpPr>
        <p:spPr>
          <a:xfrm>
            <a:off x="777240" y="334975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Writing it down in front of them is the half people forget.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Saying you would rather not guess is respected, not penalised.</a:t>
            </a:r>
          </a:p>
        </p:txBody>
      </p:sp>
      <p:cxnSp>
        <p:nvCxnSpPr>
          <p:cNvPr id="33" name="vis:icon"/>
          <p:cNvCxnSpPr/>
          <p:nvPr/>
        </p:nvCxnSpPr>
        <p:spPr>
          <a:xfrm>
            <a:off x="7850361" y="3250143"/>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 date turns a non-answer into a commitment.</a:t>
            </a:r>
          </a:p>
        </p:txBody>
      </p:sp>
      <p:cxnSp>
        <p:nvCxnSpPr>
          <p:cNvPr id="36" name="vis:icon"/>
          <p:cNvCxnSpPr/>
          <p:nvPr/>
        </p:nvCxnSpPr>
        <p:spPr>
          <a:xfrm>
            <a:off x="7850361" y="418283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Visibly writing it means they stop worrying you will forget.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rehearse one opening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tepnum"/>
          <p:cNvSpPr/>
          <p:nvPr/>
        </p:nvSpPr>
        <p:spPr>
          <a:xfrm>
            <a:off x="502920" y="2027681"/>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Take the next presentation you owe anybody.</a:t>
            </a:r>
          </a:p>
        </p:txBody>
      </p:sp>
      <p:sp>
        <p:nvSpPr>
          <p:cNvPr id="19" name="vis:stepnum"/>
          <p:cNvSpPr/>
          <p:nvPr/>
        </p:nvSpPr>
        <p:spPr>
          <a:xfrm>
            <a:off x="502920" y="3138677"/>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Write your opening as three numbered things.</a:t>
            </a:r>
          </a:p>
        </p:txBody>
      </p:sp>
      <p:sp>
        <p:nvSpPr>
          <p:cNvPr id="23" name="vis:stepnum"/>
          <p:cNvSpPr/>
          <p:nvPr/>
        </p:nvSpPr>
        <p:spPr>
          <a:xfrm>
            <a:off x="502920" y="4249674"/>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Say it out loud, standing up, timed. Aim under thirty seconds.</a:t>
            </a:r>
          </a:p>
        </p:txBody>
      </p:sp>
      <p:sp>
        <p:nvSpPr>
          <p:cNvPr id="27" name="vis:stepnum"/>
          <p:cNvSpPr/>
          <p:nvPr/>
        </p:nvSpPr>
        <p:spPr>
          <a:xfrm>
            <a:off x="502920" y="5360670"/>
            <a:ext cx="347472" cy="34747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Say it again. The second attempt is always the one you use.</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my three main points into a spoken opening of under 70 words. Number them out loud. State the decision I need at the end. Write it the way somebody would actually say it, not the way it would be written.</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Read it aloud. If you stumble, the sentence is too long.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Finishing early is a gift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Have I made my three points and got my decision?</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Say what is left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"We are short on time — the one thing I still need is the supplier decision." Protect the decision, drop the detail.</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Stop there</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"That is everything from me — we have ten minutes back." Nobody has ever resented this, and it is remembered far more warmly than a thorough overrun.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 the point of a slide before you show its detail.</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Open with three numbered things and the decision you need.</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say "I was just about to explain that".</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Write down anything you promised to come back 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Reading the slides aloud</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room reads faster than you speak. You are holding them back and they know it.</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Apologising in the opening</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tells the room to expect something poor, before they have judged for themselves.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Guessing a number under pressure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gets written down and quoted back six weeks later, with your name on it.</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Treating an interruption as an attack</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It is usually engagement. The fluster costs more than the question did.</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Running over to cover every slide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decision you needed is on the last slide nobody reached.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Nerves are not the problem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1041377" y="2193652"/>
            <a:ext cx="130093" cy="13009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69483"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Nobody can see them</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Almost everything you feel is invisible from four metres away.</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775847" y="2190229"/>
            <a:ext cx="301269" cy="301269"/>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4" name="vis:icon"/>
          <p:cNvCxnSpPr/>
          <p:nvPr/>
        </p:nvCxnSpPr>
        <p:spPr>
          <a:xfrm flipV="1">
            <a:off x="4926482" y="2251852"/>
            <a:ext cx="0"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926482" y="2340863"/>
            <a:ext cx="75317" cy="27389"/>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first minute is worst</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Which is exactly why the opening is the part worth rehearsing out loud.</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623294" y="2347711"/>
            <a:ext cx="89011" cy="8901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8712305" y="2245005"/>
            <a:ext cx="164329" cy="19171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Preparation beats confidence</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rehearsed opening and three known points do more than any amount of feeling calm.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presentation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alertband"/>
          <p:cNvSpPr/>
          <p:nvPr/>
        </p:nvSpPr>
        <p:spPr>
          <a:xfrm>
            <a:off x="0" y="1719072"/>
            <a:ext cx="12191695" cy="9601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Say the point, show the evidence, and stop when you have your decision.</a:t>
            </a:r>
          </a:p>
          <a:p>
            <a:pPr algn="l">
              <a:lnSpc>
                <a:spcPts val="1755"/>
              </a:lnSpc>
              <a:spcBef>
                <a:spcPts val="0"/>
              </a:spcBef>
              <a:spcAft>
                <a:spcPts val="0"/>
              </a:spcAft>
            </a:pPr>
            <a:r>
              <a:rPr sz="1350" b="0">
                <a:solidFill>
                  <a:srgbClr val="FFFFFF"/>
                </a:solidFill>
                <a:latin typeface="Segoe UI"/>
              </a:rPr>
              <a:t>Three habits that separate a presentation people act on from one they sit through.</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Point before evidence.</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Three things, numbered, up front.</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Stop early, on purpose.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Monthly review, slide three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are three slides into a twelve-slide review. A director interrupts to ask about a figure that is not on screen until slide nine.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Say "I was just about to come to that" and carry on.</a:t>
            </a:r>
          </a:p>
        </p:txBody>
      </p:sp>
      <p:cxnSp>
        <p:nvCxnSpPr>
          <p:cNvPr id="23" name="vis:choicearrow"/>
          <p:cNvCxnSpPr/>
          <p:nvPr/>
        </p:nvCxnSpPr>
        <p:spPr>
          <a:xfrm>
            <a:off x="758952"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Answer it now in one sentence, then say where you are.</a:t>
            </a:r>
          </a:p>
        </p:txBody>
      </p:sp>
      <p:cxnSp>
        <p:nvCxnSpPr>
          <p:cNvPr id="29" name="vis:choicearrow"/>
          <p:cNvCxnSpPr/>
          <p:nvPr/>
        </p:nvCxnSpPr>
        <p:spPr>
          <a:xfrm>
            <a:off x="4566818"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Jump forward to slide nine and present it now.</a:t>
            </a:r>
          </a:p>
        </p:txBody>
      </p:sp>
      <p:cxnSp>
        <p:nvCxnSpPr>
          <p:cNvPr id="35" name="vis:choicearrow"/>
          <p:cNvCxnSpPr/>
          <p:nvPr/>
        </p:nvCxnSpPr>
        <p:spPr>
          <a:xfrm>
            <a:off x="8374684" y="5632704"/>
            <a:ext cx="292608" cy="0"/>
          </a:xfrm>
          <a:prstGeom prst="line">
            <a:avLst/>
          </a:prstGeom>
          <a:ln w="19050">
            <a:solidFill>
              <a:srgbClr val="8A5A0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reads as a brush-off, whether you meant it or not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director now waits six slides for an answer, half-listening. When you reach slide nine they have lost interest, and the question gets asked again afterwards in a less friendly form.</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Never make somebody wait six slides for an answer you have.</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Ten seconds, and you keep the room</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2.1 per cent, up from 1.4 — I will show the weekly split on slide nine. So, back to volumes." The director has what they needed, and you have named your place again for everyone else.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Answer, then name where you are. Both halves matter.</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Answers it, and loses your structure</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cover the reject detail six slides early, then have to navigate back and re-establish the thread. It works, and it usually costs you five minutes and some of the room's sense of where things are going.</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Jump only if the question is the whole point of the meeting.</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minutes on structure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Prepare a Presentation with the Correct Structure</a:t>
            </a:r>
          </a:p>
        </p:txBody>
      </p:sp>
      <p:sp>
        <p:nvSpPr>
          <p:cNvPr id="19" name="vis:chip"/>
          <p:cNvSpPr/>
          <p:nvPr/>
        </p:nvSpPr>
        <p:spPr>
          <a:xfrm>
            <a:off x="868680" y="3858768"/>
            <a:ext cx="146700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1561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CARL KWAN</a:t>
            </a:r>
          </a:p>
        </p:txBody>
      </p:sp>
      <p:sp>
        <p:nvSpPr>
          <p:cNvPr id="21" name="vis:chip"/>
          <p:cNvSpPr/>
          <p:nvPr/>
        </p:nvSpPr>
        <p:spPr>
          <a:xfrm>
            <a:off x="2481988" y="3858768"/>
            <a:ext cx="123659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2637436" y="3895344"/>
            <a:ext cx="92570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4:48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opening formula above is the core of it.</a:t>
            </a:r>
          </a:p>
        </p:txBody>
      </p:sp>
      <p:cxnSp>
        <p:nvCxnSpPr>
          <p:cNvPr id="35" name="vis:icon"/>
          <p:cNvCxnSpPr/>
          <p:nvPr/>
        </p:nvCxnSpPr>
        <p:spPr>
          <a:xfrm>
            <a:off x="8439424" y="3743919"/>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want the structure explained a second way.</a:t>
            </a:r>
          </a:p>
        </p:txBody>
      </p:sp>
      <p:cxnSp>
        <p:nvCxnSpPr>
          <p:cNvPr id="38" name="vis:icon"/>
          <p:cNvCxnSpPr/>
          <p:nvPr/>
        </p:nvCxnSpPr>
        <p:spPr>
          <a:xfrm>
            <a:off x="8439424" y="4859487"/>
            <a:ext cx="52304" cy="52304"/>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comes first on a slide?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description of what the chart shows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point the slide is making</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methodology behind the figures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apology for the formatting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description of what the chart shows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room can already see what it shows, and faster than you can say it. Describing it wastes the moment they were listening.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then the evidence.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point the slide is making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"Volumes held; the problem is rejects" tells them what to look for. They then read the chart for your point rather than constructing their own.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then the evidence.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methodology behind the figures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Important if challenged, and not first. Method belongs in an appendix or in your answer to a question.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then the evidence.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An apology for the formatting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draws attention to something most people had not noticed, and lowers their expectation of everything that follows.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point, then the evidence.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Interrupted on slide three. Best move?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 was just about to explain that"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Answer in one sentence, then say where you are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Skip forward to the slide that covers 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them to hold questions to the end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 was just about to explain that"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reads as a brush-off however warmly you say it, and it makes somebody wait for information you already have.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Answer briefly, then name where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Answer in one sentence, then say where you are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questioner gets what they needed and everyone else gets a signpost back into your thread. Both halves matter — without the second you lose the room.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Answer briefly, then name where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Skip forward to the slide that covers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Sometimes right if it is the central question. Usually it costs your structure and five minutes of navigating.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Answer briefly, then name where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them to hold questions to the end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reduces engagement, and the questions get asked anyway, less helpfully, once you have finished.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Answer briefly, then name where you 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do not know the answer. Say what?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approximate figure, to keep momentum</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 would rather not guess — I will confirm by Thursday"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"That is not really relevant here"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Move on quickly and hope it is not repeated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 approximate figure, to keep momentum</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gets written down and quoted back with your name on it. Momentum is not worth a number you cannot stand behind.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so, and give a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 would rather not guess — I will confirm by Thursday"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Nobody loses credibility for this. Add the date, and write it down where they can see you writing it, so they stop worrying it will be forgotten.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so, and give a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"That is not really relevant here"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dismisses a question somebody thought was worth asking, and it usually reads as defensiveness rather than focus.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so, and give a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Move on quickly and hope it is not repeated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will be repeated, usually to somebody else, and the second version will include the fact that you avoided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Say so, and give a date.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should the opening contain?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agenda and some background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Three numbered points and the decision required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summary of last month</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 apology for the short notice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 agenda and some background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only thirty seconds where you have everybody, spent on housekeeping. Background belongs later or nowhere at 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numbered things and the decision you need.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Three numbered points and the decision required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Numbering tells people when it ends, and stating the decision at the start means the room is thinking about it throughout rather than discovering it at the finish.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numbered things and the decision you need.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summary of last month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were there. Recapping the known spends attention you need for the new.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numbered things and the decision you need.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An apology for the short notice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lowers expectations before anyone has judged the content, and almost nobody had noticed the notice was short.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Three numbered things and the decision you need.</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You have five slides left and no time.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Speed up and cover all five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Say what is left and ask for the decision</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for another meeting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Send the remaining slides afterwards without comment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Speed up and cover all five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Five rushed slides communicate less than one clear one, and the decision you needed is usually on the last of them.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Protect the decision, drop the detail.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Say what is left and ask for the decision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"We are short on time — the one thing I still need is the supplier decision." You get what you came for, and the detail can go round afterwards.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Protect the decision, drop the detail.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Ask for another meeting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Costs six people another hour for something you could resolve in ninety seconds by naming the decision now.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Protect the decision, drop the detail.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Send the remaining slides afterwards without comment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Fine for the detail, and it leaves the decision unmade. Ask for it while everybody is still in the room.</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Protect the decision, drop the detail.</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Presenting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Point before evidence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Tell them what a slide means before they build their own view of it.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read the slide</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They read faster than you speak. Say what is not written on it.</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Three numbered things</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Plus the decision you need, in the first thirty seconds.</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Answer, then signpost</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Deal with the interruption, then name where you are again.</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guess a number</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 would rather not guess — I will confirm by Thursday."</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Stop when you have the decision</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Finishing early is remembered far more warmly than finishing everything.</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A874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A8745"/>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Say the point, show the evidence, and stop when you have your decision.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66573" y="2403501"/>
            <a:ext cx="223669" cy="149113"/>
          </a:xfrm>
          <a:prstGeom prst="roundRect">
            <a:avLst>
              <a:gd name="adj" fmla="val 30661"/>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909176" y="2552614"/>
            <a:ext cx="1065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909176" y="2552614"/>
            <a:ext cx="58581" cy="5858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thirty-second opening</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Three numbered things and the decision you need.</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927816" y="3287070"/>
            <a:ext cx="101183" cy="101183"/>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71898" y="3428195"/>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interruption move</a:t>
            </a:r>
          </a:p>
        </p:txBody>
      </p:sp>
      <p:sp>
        <p:nvSpPr>
          <p:cNvPr id="28"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One-sentence answer, then name where you are.</a:t>
            </a:r>
          </a:p>
        </p:txBody>
      </p:sp>
      <p:sp>
        <p:nvSpPr>
          <p:cNvPr id="29"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1" name="vis:icon"/>
          <p:cNvCxnSpPr/>
          <p:nvPr/>
        </p:nvCxnSpPr>
        <p:spPr>
          <a:xfrm>
            <a:off x="882549" y="4309101"/>
            <a:ext cx="69231" cy="69231"/>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951780" y="4229219"/>
            <a:ext cx="127811" cy="149113"/>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3"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honest non-answer</a:t>
            </a:r>
          </a:p>
        </p:txBody>
      </p:sp>
      <p:sp>
        <p:nvSpPr>
          <p:cNvPr id="34"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 would rather not guess. Thursday." Then write it down.</a:t>
            </a:r>
          </a:p>
        </p:txBody>
      </p:sp>
      <p:sp>
        <p:nvSpPr>
          <p:cNvPr id="35"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LINKS THAT WORK</a:t>
            </a:r>
          </a:p>
        </p:txBody>
      </p:sp>
      <p:sp>
        <p:nvSpPr>
          <p:cNvPr id="36"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8339937" y="2300630"/>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8482584" y="2443276"/>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39"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0"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copilot.microsoft.com</a:t>
            </a:r>
          </a:p>
        </p:txBody>
      </p:sp>
      <p:sp>
        <p:nvSpPr>
          <p:cNvPr id="41"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8339937" y="2977286"/>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3" name="vis:icon"/>
          <p:cNvCxnSpPr/>
          <p:nvPr/>
        </p:nvCxnSpPr>
        <p:spPr>
          <a:xfrm>
            <a:off x="8482584" y="3119932"/>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4"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5"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chatgpt.com</a:t>
            </a:r>
          </a:p>
        </p:txBody>
      </p:sp>
      <p:sp>
        <p:nvSpPr>
          <p:cNvPr id="46"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7" name="vis:icon"/>
          <p:cNvSpPr/>
          <p:nvPr/>
        </p:nvSpPr>
        <p:spPr>
          <a:xfrm>
            <a:off x="8339937" y="3653942"/>
            <a:ext cx="164592" cy="164592"/>
          </a:xfrm>
          <a:prstGeom prst="ellipse">
            <a:avLst/>
          </a:prstGeom>
          <a:noFill/>
          <a:ln w="1905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8" name="vis:icon"/>
          <p:cNvCxnSpPr/>
          <p:nvPr/>
        </p:nvCxnSpPr>
        <p:spPr>
          <a:xfrm>
            <a:off x="8482584" y="3796588"/>
            <a:ext cx="65836" cy="65837"/>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49"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0"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a:rPr>
              <a:t>gemini.google.com</a:t>
            </a:r>
          </a:p>
        </p:txBody>
      </p:sp>
      <p:sp>
        <p:nvSpPr>
          <p:cNvPr id="51"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A8745"/>
                </a:solidFill>
                <a:latin typeface="Segoe UI Semibold"/>
              </a:rPr>
              <a:t>DO THIS NEXT</a:t>
            </a:r>
          </a:p>
        </p:txBody>
      </p:sp>
      <p:sp>
        <p:nvSpPr>
          <p:cNvPr id="53"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PS-09, Teamwork &amp; Collaboration. Handing work over so it arrives finished, and asking for help without friction.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8A5A0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PS-08  ·  Presentation Skills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8A5A0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A5A0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Point-first</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Stating what a slide means before showing its detail.</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Signposting</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Telling the room where you are, especially after an interruption.</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Parking</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Agreeing to take a question outside the meeting, with a date attached.</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Appendix</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Slides kept after the end for questions you might be asked.</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Opening</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first thirty seconds. The only moment you have everybody's attention.</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Overrun</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Going past the finish time. It costs the decision you came for.</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8A5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