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LBNF6l2n3YM"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vis:coverlayer"/>
          <p:cNvSpPr/>
          <p:nvPr/>
        </p:nvSpPr>
        <p:spPr>
          <a:xfrm>
            <a:off x="7589520" y="3595420"/>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layer"/>
          <p:cNvSpPr/>
          <p:nvPr/>
        </p:nvSpPr>
        <p:spPr>
          <a:xfrm>
            <a:off x="7900416" y="3028492"/>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layer"/>
          <p:cNvSpPr/>
          <p:nvPr/>
        </p:nvSpPr>
        <p:spPr>
          <a:xfrm>
            <a:off x="8211312" y="2461564"/>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vis:coverlayer"/>
          <p:cNvSpPr/>
          <p:nvPr/>
        </p:nvSpPr>
        <p:spPr>
          <a:xfrm>
            <a:off x="8522208" y="1894636"/>
            <a:ext cx="2765145" cy="790041"/>
          </a:xfrm>
          <a:prstGeom prst="roundRect">
            <a:avLst>
              <a:gd name="adj" fmla="val 11574"/>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960120" y="1114044"/>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PROFESSIONAL SKILLS</a:t>
            </a:r>
          </a:p>
        </p:txBody>
      </p:sp>
      <p:sp>
        <p:nvSpPr>
          <p:cNvPr id="9" name="title:cover"/>
          <p:cNvSpPr txBox="1"/>
          <p:nvPr/>
        </p:nvSpPr>
        <p:spPr>
          <a:xfrm>
            <a:off x="960120" y="1571244"/>
            <a:ext cx="5501487"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Business Communication</a:t>
            </a:r>
          </a:p>
        </p:txBody>
      </p:sp>
      <p:cxnSp>
        <p:nvCxnSpPr>
          <p:cNvPr id="10" name="vis:rule"/>
          <p:cNvCxnSpPr/>
          <p:nvPr/>
        </p:nvCxnSpPr>
        <p:spPr>
          <a:xfrm>
            <a:off x="960120" y="3353308"/>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1" name="body:coversub"/>
          <p:cNvSpPr txBox="1"/>
          <p:nvPr/>
        </p:nvSpPr>
        <p:spPr>
          <a:xfrm>
            <a:off x="960120" y="3627628"/>
            <a:ext cx="5501487" cy="78130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Getting a decision out of people who are busy, in messages they read to the end.</a:t>
            </a:r>
          </a:p>
        </p:txBody>
      </p:sp>
      <p:sp>
        <p:nvSpPr>
          <p:cNvPr id="12" name="vis:chip"/>
          <p:cNvSpPr/>
          <p:nvPr/>
        </p:nvSpPr>
        <p:spPr>
          <a:xfrm>
            <a:off x="960120" y="4811268"/>
            <a:ext cx="935609" cy="310896"/>
          </a:xfrm>
          <a:prstGeom prst="roundRect">
            <a:avLst>
              <a:gd name="adj" fmla="val 14705"/>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vis:chiptext"/>
          <p:cNvSpPr txBox="1"/>
          <p:nvPr/>
        </p:nvSpPr>
        <p:spPr>
          <a:xfrm>
            <a:off x="1115568" y="4856988"/>
            <a:ext cx="6247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PS-01</a:t>
            </a:r>
          </a:p>
        </p:txBody>
      </p:sp>
      <p:sp>
        <p:nvSpPr>
          <p:cNvPr id="14" name="vis:chip"/>
          <p:cNvSpPr/>
          <p:nvPr/>
        </p:nvSpPr>
        <p:spPr>
          <a:xfrm>
            <a:off x="2042033" y="4811268"/>
            <a:ext cx="1453134"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chiptext"/>
          <p:cNvSpPr txBox="1"/>
          <p:nvPr/>
        </p:nvSpPr>
        <p:spPr>
          <a:xfrm>
            <a:off x="2197481" y="4856988"/>
            <a:ext cx="114223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17 MINUTES</a:t>
            </a:r>
          </a:p>
        </p:txBody>
      </p:sp>
      <p:sp>
        <p:nvSpPr>
          <p:cNvPr id="16" name="vis:chip"/>
          <p:cNvSpPr/>
          <p:nvPr/>
        </p:nvSpPr>
        <p:spPr>
          <a:xfrm>
            <a:off x="3641471" y="481126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text"/>
          <p:cNvSpPr txBox="1"/>
          <p:nvPr/>
        </p:nvSpPr>
        <p:spPr>
          <a:xfrm>
            <a:off x="3796919" y="485698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8"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9"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PS-01  ·  Business Communication</a:t>
            </a:r>
          </a:p>
        </p:txBody>
      </p:sp>
      <p:sp>
        <p:nvSpPr>
          <p:cNvPr id="20"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Gopal writes 400 words and waits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02284" y="2269028"/>
            <a:ext cx="318006" cy="216822"/>
          </a:xfrm>
          <a:prstGeom prst="roundRect">
            <a:avLst>
              <a:gd name="adj" fmla="val 21086"/>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02284" y="2283483"/>
            <a:ext cx="159004" cy="11563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1161288" y="2283483"/>
            <a:ext cx="159003" cy="11563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1"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Gopal manages operations near Nagpur. He needs a decision on overtime by Friday. He writes a careful 400-word email explaining the background, the options and the costs. By Wednesday, nobody has replied.</a:t>
            </a:r>
          </a:p>
        </p:txBody>
      </p:sp>
      <p:sp>
        <p:nvSpPr>
          <p:cNvPr id="22"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Four days lost, and the decision still not made.</a:t>
            </a:r>
          </a:p>
        </p:txBody>
      </p:sp>
      <p:sp>
        <p:nvSpPr>
          <p:cNvPr id="28"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AFTER THIS MODULE</a:t>
            </a:r>
          </a:p>
        </p:txBody>
      </p:sp>
      <p:cxnSp>
        <p:nvCxnSpPr>
          <p:cNvPr id="30"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The ask in the first line, and everything else underneath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6886" y="1969559"/>
            <a:ext cx="247634" cy="165089"/>
          </a:xfrm>
          <a:prstGeom prst="roundRect">
            <a:avLst>
              <a:gd name="adj" fmla="val 27694"/>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984055" y="2134648"/>
            <a:ext cx="11792" cy="6485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984055" y="2134648"/>
            <a:ext cx="64856" cy="6485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0"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Put the ask in the first line, every time</a:t>
            </a:r>
          </a:p>
        </p:txBody>
      </p:sp>
      <p:sp>
        <p:nvSpPr>
          <p:cNvPr id="21"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933938" y="2862723"/>
            <a:ext cx="41272" cy="412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1007639" y="2883359"/>
            <a:ext cx="18277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5" name="vis:icon"/>
          <p:cNvSpPr/>
          <p:nvPr/>
        </p:nvSpPr>
        <p:spPr>
          <a:xfrm>
            <a:off x="933938" y="2951163"/>
            <a:ext cx="41272" cy="412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a:off x="1007639" y="2971800"/>
            <a:ext cx="18277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7" name="vis:icon"/>
          <p:cNvSpPr/>
          <p:nvPr/>
        </p:nvSpPr>
        <p:spPr>
          <a:xfrm>
            <a:off x="933938" y="3039604"/>
            <a:ext cx="41272" cy="412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1007639" y="3060240"/>
            <a:ext cx="18277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9"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one message with one decision in it</a:t>
            </a:r>
          </a:p>
        </p:txBody>
      </p:sp>
      <p:sp>
        <p:nvSpPr>
          <p:cNvPr id="30"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1004691" y="3741146"/>
            <a:ext cx="112024" cy="112024"/>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942782" y="3897392"/>
            <a:ext cx="235843" cy="103181"/>
          </a:xfrm>
          <a:custGeom>
            <a:avLst/>
            <a:gdLst/>
            <a:ahLst/>
            <a:cxnLst/>
            <a:rect l="l" t="t" r="r" b="b"/>
            <a:pathLst>
              <a:path w="235843" h="103181">
                <a:moveTo>
                  <a:pt x="0" y="103181"/>
                </a:moveTo>
                <a:lnTo>
                  <a:pt x="17689" y="0"/>
                </a:lnTo>
                <a:lnTo>
                  <a:pt x="218154" y="0"/>
                </a:lnTo>
                <a:lnTo>
                  <a:pt x="235843" y="103181"/>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Choose the right channel instead of defaulting to email</a:t>
            </a:r>
          </a:p>
        </p:txBody>
      </p:sp>
      <p:sp>
        <p:nvSpPr>
          <p:cNvPr id="35"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930990" y="4634310"/>
            <a:ext cx="259426" cy="259426"/>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flipV="1">
            <a:off x="1060704" y="4687375"/>
            <a:ext cx="0" cy="7664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60704" y="4764024"/>
            <a:ext cx="64856" cy="2358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0"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Say what happens if nobody replies, and mean it</a:t>
            </a:r>
          </a:p>
        </p:txBody>
      </p:sp>
      <p:sp>
        <p:nvSpPr>
          <p:cNvPr id="41"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vis:icon"/>
          <p:cNvSpPr/>
          <p:nvPr/>
        </p:nvSpPr>
        <p:spPr>
          <a:xfrm>
            <a:off x="925094" y="5554007"/>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vis:icon"/>
          <p:cNvSpPr/>
          <p:nvPr/>
        </p:nvSpPr>
        <p:spPr>
          <a:xfrm>
            <a:off x="1019431" y="5618863"/>
            <a:ext cx="82544" cy="82544"/>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Rewrite a message that got no response, in two minutes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Ask first</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Why 400 words fail</a:t>
            </a:r>
          </a:p>
        </p:txBody>
      </p:sp>
      <p:cxnSp>
        <p:nvCxnSpPr>
          <p:cNvPr id="13" name="vis:menuarrow"/>
          <p:cNvCxnSpPr/>
          <p:nvPr/>
        </p:nvCxnSpPr>
        <p:spPr>
          <a:xfrm>
            <a:off x="11213287" y="1997049"/>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One message, one ask</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Two questions get one answer</a:t>
            </a:r>
          </a:p>
        </p:txBody>
      </p:sp>
      <p:cxnSp>
        <p:nvCxnSpPr>
          <p:cNvPr id="19" name="vis:menuarrow"/>
          <p:cNvCxnSpPr/>
          <p:nvPr/>
        </p:nvCxnSpPr>
        <p:spPr>
          <a:xfrm>
            <a:off x="11213287" y="2424988"/>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Choosing the channel</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Email is not always right</a:t>
            </a:r>
          </a:p>
        </p:txBody>
      </p:sp>
      <p:cxnSp>
        <p:nvCxnSpPr>
          <p:cNvPr id="25" name="vis:menuarrow"/>
          <p:cNvCxnSpPr/>
          <p:nvPr/>
        </p:nvCxnSpPr>
        <p:spPr>
          <a:xfrm>
            <a:off x="11213287" y="2852928"/>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silent default</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What happens if nobody replies</a:t>
            </a:r>
          </a:p>
        </p:txBody>
      </p:sp>
      <p:cxnSp>
        <p:nvCxnSpPr>
          <p:cNvPr id="31" name="vis:menuarrow"/>
          <p:cNvCxnSpPr/>
          <p:nvPr/>
        </p:nvCxnSpPr>
        <p:spPr>
          <a:xfrm>
            <a:off x="11213287" y="3280867"/>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Rewrite one real message</a:t>
            </a:r>
          </a:p>
        </p:txBody>
      </p:sp>
      <p:cxnSp>
        <p:nvCxnSpPr>
          <p:cNvPr id="37" name="vis:menuarrow"/>
          <p:cNvCxnSpPr/>
          <p:nvPr/>
        </p:nvCxnSpPr>
        <p:spPr>
          <a:xfrm>
            <a:off x="11213287" y="3708806"/>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Wednesday afternoon decision</a:t>
            </a:r>
          </a:p>
        </p:txBody>
      </p:sp>
      <p:cxnSp>
        <p:nvCxnSpPr>
          <p:cNvPr id="43" name="vis:menuarrow"/>
          <p:cNvCxnSpPr/>
          <p:nvPr/>
        </p:nvCxnSpPr>
        <p:spPr>
          <a:xfrm>
            <a:off x="11213287" y="4136745"/>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4-minute outside guide</a:t>
            </a:r>
          </a:p>
        </p:txBody>
      </p:sp>
      <p:cxnSp>
        <p:nvCxnSpPr>
          <p:cNvPr id="49" name="vis:menuarrow"/>
          <p:cNvCxnSpPr/>
          <p:nvPr/>
        </p:nvCxnSpPr>
        <p:spPr>
          <a:xfrm>
            <a:off x="11213287" y="4564684"/>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ASK FIRST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Put the ask in line one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Most people read the first line and the last. Everything you buried in the middle was never read.</a:t>
            </a:r>
          </a:p>
        </p:txBody>
      </p:sp>
      <p:sp>
        <p:nvSpPr>
          <p:cNvPr id="16" name="vis:outcard"/>
          <p:cNvSpPr/>
          <p:nvPr/>
        </p:nvSpPr>
        <p:spPr>
          <a:xfrm>
            <a:off x="502920" y="2706624"/>
            <a:ext cx="5410047" cy="2743200"/>
          </a:xfrm>
          <a:prstGeom prst="roundRect">
            <a:avLst>
              <a:gd name="adj" fmla="val 333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outspine"/>
          <p:cNvSpPr/>
          <p:nvPr/>
        </p:nvSpPr>
        <p:spPr>
          <a:xfrm>
            <a:off x="502920" y="2706624"/>
            <a:ext cx="68580" cy="27432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58952" y="2907792"/>
            <a:ext cx="2134340"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14400" y="2935224"/>
            <a:ext cx="182344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BACKGROUND FIRST</a:t>
            </a:r>
          </a:p>
        </p:txBody>
      </p:sp>
      <p:sp>
        <p:nvSpPr>
          <p:cNvPr id="20" name="vis:outbody"/>
          <p:cNvSpPr txBox="1"/>
          <p:nvPr/>
        </p:nvSpPr>
        <p:spPr>
          <a:xfrm>
            <a:off x="758952" y="3346704"/>
            <a:ext cx="4897983" cy="188366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Four paragraphs of context, then the question.</a:t>
            </a:r>
          </a:p>
          <a:p>
            <a:pPr algn="l">
              <a:lnSpc>
                <a:spcPts val="1690"/>
              </a:lnSpc>
              <a:spcBef>
                <a:spcPts val="0"/>
              </a:spcBef>
              <a:spcAft>
                <a:spcPts val="600"/>
              </a:spcAft>
            </a:pPr>
            <a:r>
              <a:rPr sz="1300" b="0">
                <a:solidFill>
                  <a:srgbClr val="2A3547"/>
                </a:solidFill>
                <a:latin typeface="Segoe UI"/>
              </a:rPr>
              <a:t>The reader stops after two, meaning to come back.</a:t>
            </a:r>
          </a:p>
          <a:p>
            <a:pPr algn="l">
              <a:lnSpc>
                <a:spcPts val="1690"/>
              </a:lnSpc>
              <a:spcBef>
                <a:spcPts val="0"/>
              </a:spcBef>
              <a:spcAft>
                <a:spcPts val="600"/>
              </a:spcAft>
            </a:pPr>
            <a:r>
              <a:rPr sz="1300" b="0">
                <a:solidFill>
                  <a:srgbClr val="2A3547"/>
                </a:solidFill>
                <a:latin typeface="Segoe UI"/>
              </a:rPr>
              <a:t>They never come back, and you are chasing on Thursday.</a:t>
            </a:r>
          </a:p>
        </p:txBody>
      </p:sp>
      <p:sp>
        <p:nvSpPr>
          <p:cNvPr id="21" name="vis:outcard"/>
          <p:cNvSpPr/>
          <p:nvPr/>
        </p:nvSpPr>
        <p:spPr>
          <a:xfrm>
            <a:off x="6278727" y="2706624"/>
            <a:ext cx="5410047" cy="2743200"/>
          </a:xfrm>
          <a:prstGeom prst="roundRect">
            <a:avLst>
              <a:gd name="adj" fmla="val 333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outspine"/>
          <p:cNvSpPr/>
          <p:nvPr/>
        </p:nvSpPr>
        <p:spPr>
          <a:xfrm>
            <a:off x="6278727" y="2706624"/>
            <a:ext cx="68580" cy="274320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
          <p:cNvSpPr/>
          <p:nvPr/>
        </p:nvSpPr>
        <p:spPr>
          <a:xfrm>
            <a:off x="6534759" y="2907792"/>
            <a:ext cx="130200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chiptext"/>
          <p:cNvSpPr txBox="1"/>
          <p:nvPr/>
        </p:nvSpPr>
        <p:spPr>
          <a:xfrm>
            <a:off x="6690207" y="2935224"/>
            <a:ext cx="99110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ASK FIRST</a:t>
            </a:r>
          </a:p>
        </p:txBody>
      </p:sp>
      <p:sp>
        <p:nvSpPr>
          <p:cNvPr id="25" name="vis:outbody"/>
          <p:cNvSpPr txBox="1"/>
          <p:nvPr/>
        </p:nvSpPr>
        <p:spPr>
          <a:xfrm>
            <a:off x="6534759" y="3346704"/>
            <a:ext cx="4897983" cy="188366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"I need a yes or no on weekend overtime by Friday midday."</a:t>
            </a:r>
          </a:p>
          <a:p>
            <a:pPr algn="l">
              <a:lnSpc>
                <a:spcPts val="1690"/>
              </a:lnSpc>
              <a:spcBef>
                <a:spcPts val="0"/>
              </a:spcBef>
              <a:spcAft>
                <a:spcPts val="600"/>
              </a:spcAft>
            </a:pPr>
            <a:r>
              <a:rPr sz="1300" b="0">
                <a:solidFill>
                  <a:srgbClr val="2A3547"/>
                </a:solidFill>
                <a:latin typeface="Segoe UI"/>
              </a:rPr>
              <a:t>Then the context, for whoever wants it.</a:t>
            </a:r>
          </a:p>
          <a:p>
            <a:pPr algn="l">
              <a:lnSpc>
                <a:spcPts val="1690"/>
              </a:lnSpc>
              <a:spcBef>
                <a:spcPts val="0"/>
              </a:spcBef>
              <a:spcAft>
                <a:spcPts val="600"/>
              </a:spcAft>
            </a:pPr>
            <a:r>
              <a:rPr sz="1300" b="0">
                <a:solidFill>
                  <a:srgbClr val="2A3547"/>
                </a:solidFill>
                <a:latin typeface="Segoe UI"/>
              </a:rPr>
              <a:t>The reader knows in four seconds whether this needs them.</a:t>
            </a:r>
          </a:p>
        </p:txBody>
      </p:sp>
      <p:sp>
        <p:nvSpPr>
          <p:cNvPr id="26" name="cell:banote"/>
          <p:cNvSpPr txBox="1"/>
          <p:nvPr/>
        </p:nvSpPr>
        <p:spPr>
          <a:xfrm>
            <a:off x="502920" y="5632704"/>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Front-loading is not rudeness. It is the only way a busy person can triage twenty messages before a meeting.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ASK FIRST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four-part message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flowcard"/>
          <p:cNvSpPr/>
          <p:nvPr/>
        </p:nvSpPr>
        <p:spPr>
          <a:xfrm>
            <a:off x="502920"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flownum"/>
          <p:cNvSpPr/>
          <p:nvPr/>
        </p:nvSpPr>
        <p:spPr>
          <a:xfrm>
            <a:off x="685800"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text"/>
          <p:cNvSpPr txBox="1"/>
          <p:nvPr/>
        </p:nvSpPr>
        <p:spPr>
          <a:xfrm>
            <a:off x="685800"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8" name="vis:flowtitle"/>
          <p:cNvSpPr txBox="1"/>
          <p:nvPr/>
        </p:nvSpPr>
        <p:spPr>
          <a:xfrm>
            <a:off x="704088"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ask</a:t>
            </a:r>
          </a:p>
        </p:txBody>
      </p:sp>
      <p:sp>
        <p:nvSpPr>
          <p:cNvPr id="19" name="vis:flowsub"/>
          <p:cNvSpPr txBox="1"/>
          <p:nvPr/>
        </p:nvSpPr>
        <p:spPr>
          <a:xfrm>
            <a:off x="704088"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you need, and by when. One sentence.</a:t>
            </a:r>
          </a:p>
        </p:txBody>
      </p:sp>
      <p:cxnSp>
        <p:nvCxnSpPr>
          <p:cNvPr id="20" name="vis:flowarrow"/>
          <p:cNvCxnSpPr/>
          <p:nvPr/>
        </p:nvCxnSpPr>
        <p:spPr>
          <a:xfrm>
            <a:off x="3093643"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vis:flowcard"/>
          <p:cNvSpPr/>
          <p:nvPr/>
        </p:nvSpPr>
        <p:spPr>
          <a:xfrm>
            <a:off x="3395395"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flownum"/>
          <p:cNvSpPr/>
          <p:nvPr/>
        </p:nvSpPr>
        <p:spPr>
          <a:xfrm>
            <a:off x="3578275"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text"/>
          <p:cNvSpPr txBox="1"/>
          <p:nvPr/>
        </p:nvSpPr>
        <p:spPr>
          <a:xfrm>
            <a:off x="3578275"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4" name="vis:flowtitle"/>
          <p:cNvSpPr txBox="1"/>
          <p:nvPr/>
        </p:nvSpPr>
        <p:spPr>
          <a:xfrm>
            <a:off x="3596563"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Why it matters</a:t>
            </a:r>
          </a:p>
        </p:txBody>
      </p:sp>
      <p:sp>
        <p:nvSpPr>
          <p:cNvPr id="25" name="vis:flowsub"/>
          <p:cNvSpPr txBox="1"/>
          <p:nvPr/>
        </p:nvSpPr>
        <p:spPr>
          <a:xfrm>
            <a:off x="3596563"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The consequence if it does not happen.</a:t>
            </a:r>
          </a:p>
        </p:txBody>
      </p:sp>
      <p:cxnSp>
        <p:nvCxnSpPr>
          <p:cNvPr id="26" name="vis:flowarrow"/>
          <p:cNvCxnSpPr/>
          <p:nvPr/>
        </p:nvCxnSpPr>
        <p:spPr>
          <a:xfrm>
            <a:off x="5986119"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vis:flowcard"/>
          <p:cNvSpPr/>
          <p:nvPr/>
        </p:nvSpPr>
        <p:spPr>
          <a:xfrm>
            <a:off x="6287871"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flownum"/>
          <p:cNvSpPr/>
          <p:nvPr/>
        </p:nvSpPr>
        <p:spPr>
          <a:xfrm>
            <a:off x="6470751"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text"/>
          <p:cNvSpPr txBox="1"/>
          <p:nvPr/>
        </p:nvSpPr>
        <p:spPr>
          <a:xfrm>
            <a:off x="6470751"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0" name="vis:flowtitle"/>
          <p:cNvSpPr txBox="1"/>
          <p:nvPr/>
        </p:nvSpPr>
        <p:spPr>
          <a:xfrm>
            <a:off x="6489039"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options</a:t>
            </a:r>
          </a:p>
        </p:txBody>
      </p:sp>
      <p:sp>
        <p:nvSpPr>
          <p:cNvPr id="31" name="vis:flowsub"/>
          <p:cNvSpPr txBox="1"/>
          <p:nvPr/>
        </p:nvSpPr>
        <p:spPr>
          <a:xfrm>
            <a:off x="6489039"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Two or three, not seven.</a:t>
            </a:r>
          </a:p>
        </p:txBody>
      </p:sp>
      <p:cxnSp>
        <p:nvCxnSpPr>
          <p:cNvPr id="32" name="vis:flowarrow"/>
          <p:cNvCxnSpPr/>
          <p:nvPr/>
        </p:nvCxnSpPr>
        <p:spPr>
          <a:xfrm>
            <a:off x="8878595"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vis:flowcard"/>
          <p:cNvSpPr/>
          <p:nvPr/>
        </p:nvSpPr>
        <p:spPr>
          <a:xfrm>
            <a:off x="9180347"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flownum"/>
          <p:cNvSpPr/>
          <p:nvPr/>
        </p:nvSpPr>
        <p:spPr>
          <a:xfrm>
            <a:off x="9363227"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text"/>
          <p:cNvSpPr txBox="1"/>
          <p:nvPr/>
        </p:nvSpPr>
        <p:spPr>
          <a:xfrm>
            <a:off x="9363227"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6" name="vis:flowtitle"/>
          <p:cNvSpPr txBox="1"/>
          <p:nvPr/>
        </p:nvSpPr>
        <p:spPr>
          <a:xfrm>
            <a:off x="9381515"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detail</a:t>
            </a:r>
          </a:p>
        </p:txBody>
      </p:sp>
      <p:sp>
        <p:nvSpPr>
          <p:cNvPr id="37" name="vis:flowsub"/>
          <p:cNvSpPr txBox="1"/>
          <p:nvPr/>
        </p:nvSpPr>
        <p:spPr>
          <a:xfrm>
            <a:off x="9381515"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For anyone who wants it. Most will not.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ONE MESSAGE, ONE ASK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Two questions get one answer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46265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115176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THREE ASKS</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One long message</a:t>
            </a:r>
          </a:p>
        </p:txBody>
      </p:sp>
      <p:cxnSp>
        <p:nvCxnSpPr>
          <p:cNvPr id="20" name="vis:icon"/>
          <p:cNvCxnSpPr/>
          <p:nvPr/>
        </p:nvCxnSpPr>
        <p:spPr>
          <a:xfrm>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flipH="1">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2"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Approve the overtime, confirm the shift pattern, and sign the PO</a:t>
            </a:r>
          </a:p>
        </p:txBody>
      </p:sp>
      <p:cxnSp>
        <p:nvCxnSpPr>
          <p:cNvPr id="23" name="vis:icon"/>
          <p:cNvCxnSpPr/>
          <p:nvPr/>
        </p:nvCxnSpPr>
        <p:spPr>
          <a:xfrm>
            <a:off x="819302" y="37865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H="1">
            <a:off x="819302" y="37865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reader answers the easiest one</a:t>
            </a:r>
          </a:p>
        </p:txBody>
      </p:sp>
      <p:cxnSp>
        <p:nvCxnSpPr>
          <p:cNvPr id="26" name="vis:icon"/>
          <p:cNvCxnSpPr/>
          <p:nvPr/>
        </p:nvCxnSpPr>
        <p:spPr>
          <a:xfrm>
            <a:off x="819302" y="448147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H="1">
            <a:off x="819302" y="448147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8"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You chase the other two separately anyway</a:t>
            </a:r>
          </a:p>
        </p:txBody>
      </p:sp>
      <p:cxnSp>
        <p:nvCxnSpPr>
          <p:cNvPr id="29" name="vis:icon"/>
          <p:cNvCxnSpPr/>
          <p:nvPr/>
        </p:nvCxnSpPr>
        <p:spPr>
          <a:xfrm>
            <a:off x="819302" y="517641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H="1">
            <a:off x="819302" y="517641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1"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Nobody can tell what is outstanding</a:t>
            </a:r>
          </a:p>
        </p:txBody>
      </p:sp>
      <p:sp>
        <p:nvSpPr>
          <p:cNvPr id="32"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panelspine"/>
          <p:cNvSpPr/>
          <p:nvPr/>
        </p:nvSpPr>
        <p:spPr>
          <a:xfrm>
            <a:off x="6251295" y="1719072"/>
            <a:ext cx="68580" cy="42976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chip"/>
          <p:cNvSpPr/>
          <p:nvPr/>
        </p:nvSpPr>
        <p:spPr>
          <a:xfrm>
            <a:off x="6525615" y="1956815"/>
            <a:ext cx="169501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6681063" y="1984247"/>
            <a:ext cx="138412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ONE ASK EACH</a:t>
            </a:r>
          </a:p>
        </p:txBody>
      </p:sp>
      <p:sp>
        <p:nvSpPr>
          <p:cNvPr id="36"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Three short messages</a:t>
            </a:r>
          </a:p>
        </p:txBody>
      </p:sp>
      <p:cxnSp>
        <p:nvCxnSpPr>
          <p:cNvPr id="37" name="vis:icon"/>
          <p:cNvCxnSpPr/>
          <p:nvPr/>
        </p:nvCxnSpPr>
        <p:spPr>
          <a:xfrm>
            <a:off x="6560362" y="315376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6607911" y="309890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9"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Each has one subject line and one question</a:t>
            </a:r>
          </a:p>
        </p:txBody>
      </p:sp>
      <p:cxnSp>
        <p:nvCxnSpPr>
          <p:cNvPr id="40" name="vis:icon"/>
          <p:cNvCxnSpPr/>
          <p:nvPr/>
        </p:nvCxnSpPr>
        <p:spPr>
          <a:xfrm>
            <a:off x="6560362" y="384870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flipV="1">
            <a:off x="6607911" y="379384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2"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Each can be answered in ten seconds</a:t>
            </a:r>
          </a:p>
        </p:txBody>
      </p:sp>
      <p:cxnSp>
        <p:nvCxnSpPr>
          <p:cNvPr id="43" name="vis:icon"/>
          <p:cNvCxnSpPr/>
          <p:nvPr/>
        </p:nvCxnSpPr>
        <p:spPr>
          <a:xfrm>
            <a:off x="6560362" y="454365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flipV="1">
            <a:off x="6607911" y="448878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5"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Each can be forwarded to the right person</a:t>
            </a:r>
          </a:p>
        </p:txBody>
      </p:sp>
      <p:cxnSp>
        <p:nvCxnSpPr>
          <p:cNvPr id="46" name="vis:icon"/>
          <p:cNvCxnSpPr/>
          <p:nvPr/>
        </p:nvCxnSpPr>
        <p:spPr>
          <a:xfrm>
            <a:off x="6560362" y="523859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7" name="vis:icon"/>
          <p:cNvCxnSpPr/>
          <p:nvPr/>
        </p:nvCxnSpPr>
        <p:spPr>
          <a:xfrm flipV="1">
            <a:off x="6607911" y="518373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8"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You can see instantly what is still open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ONE MESSAGE, ONE ASK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message, ready to use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structure</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need [a decision / a document / an approval] on [subject] by [day and time]. If we do not have it by then, [what happens]. The options are [A] or [B]. Background is below if you need it, but the question is just A or B.</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Five brackets. Fill them in and stop writing.</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deadline is stated, so it is not a suggestion.</a:t>
            </a:r>
          </a:p>
        </p:txBody>
      </p:sp>
      <p:cxnSp>
        <p:nvCxnSpPr>
          <p:cNvPr id="33" name="vis:icon"/>
          <p:cNvCxnSpPr/>
          <p:nvPr/>
        </p:nvCxnSpPr>
        <p:spPr>
          <a:xfrm>
            <a:off x="7850361" y="3250143"/>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consequence makes the deadline real.</a:t>
            </a:r>
          </a:p>
        </p:txBody>
      </p:sp>
      <p:cxnSp>
        <p:nvCxnSpPr>
          <p:cNvPr id="36" name="vis:icon"/>
          <p:cNvCxnSpPr/>
          <p:nvPr/>
        </p:nvCxnSpPr>
        <p:spPr>
          <a:xfrm>
            <a:off x="7850361" y="418283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question is just A or B" makes replying trivial.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CHOOSING THE CHANNEL</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Email is not always right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EMAIL — a decision you will need a record of, later</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CALL — anything with disagreement or bad news in it</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CHAT — a quick factual question with no consequence</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IN PERSON — anything about a person's performance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CHOOSING THE CHANNEL</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escalation ladder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55789" y="2238158"/>
            <a:ext cx="301269" cy="205410"/>
          </a:xfrm>
          <a:prstGeom prst="roundRect">
            <a:avLst>
              <a:gd name="adj" fmla="val 22257"/>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955789" y="2251852"/>
            <a:ext cx="150635" cy="109553"/>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1106424" y="2251852"/>
            <a:ext cx="150634" cy="109553"/>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0"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First: a clear email</a:t>
            </a:r>
          </a:p>
        </p:txBody>
      </p:sp>
      <p:sp>
        <p:nvSpPr>
          <p:cNvPr id="21"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One ask, a deadline, and a stated consequence. Most things end here.</a:t>
            </a:r>
          </a:p>
        </p:txBody>
      </p:sp>
      <p:sp>
        <p:nvSpPr>
          <p:cNvPr id="22"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782694" y="2217617"/>
            <a:ext cx="287575" cy="191716"/>
          </a:xfrm>
          <a:prstGeom prst="roundRect">
            <a:avLst>
              <a:gd name="adj" fmla="val 23847"/>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flipH="1">
            <a:off x="4837471" y="2409334"/>
            <a:ext cx="13694" cy="7531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6" name="vis:icon"/>
          <p:cNvCxnSpPr/>
          <p:nvPr/>
        </p:nvCxnSpPr>
        <p:spPr>
          <a:xfrm flipV="1">
            <a:off x="4837471" y="2409334"/>
            <a:ext cx="75317" cy="7531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7"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Then: a short call</a:t>
            </a:r>
          </a:p>
        </p:txBody>
      </p:sp>
      <p:sp>
        <p:nvSpPr>
          <p:cNvPr id="28"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After one missed deadline. Two minutes on the phone beats a third email.</a:t>
            </a:r>
          </a:p>
        </p:txBody>
      </p:sp>
      <p:sp>
        <p:nvSpPr>
          <p:cNvPr id="29"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icon"/>
          <p:cNvSpPr/>
          <p:nvPr/>
        </p:nvSpPr>
        <p:spPr>
          <a:xfrm>
            <a:off x="8681494" y="2193652"/>
            <a:ext cx="130093" cy="130093"/>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609600"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Then: involve a manager</a:t>
            </a:r>
          </a:p>
        </p:txBody>
      </p:sp>
      <p:sp>
        <p:nvSpPr>
          <p:cNvPr id="34"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With the email trail attached, factually, without complaint or commentary.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SILENT DEFAULT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Say what silence means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A deadline with no consequence attached is a suggestion, and everybody treats it as one.</a:t>
            </a:r>
          </a:p>
        </p:txBody>
      </p:sp>
      <p:sp>
        <p:nvSpPr>
          <p:cNvPr id="16" name="vis:promptcard"/>
          <p:cNvSpPr/>
          <p:nvPr/>
        </p:nvSpPr>
        <p:spPr>
          <a:xfrm>
            <a:off x="502920" y="2706624"/>
            <a:ext cx="6935230" cy="2103120"/>
          </a:xfrm>
          <a:prstGeom prst="roundRect">
            <a:avLst>
              <a:gd name="adj" fmla="val 434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706624"/>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82878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95168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95168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5577981" y="2779776"/>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5761592" y="284561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5780246" y="288292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291090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5780246" y="293888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5989461" y="283921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816352"/>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wording</a:t>
            </a:r>
          </a:p>
        </p:txBody>
      </p:sp>
      <p:sp>
        <p:nvSpPr>
          <p:cNvPr id="28" name="card:prompt"/>
          <p:cNvSpPr txBox="1"/>
          <p:nvPr/>
        </p:nvSpPr>
        <p:spPr>
          <a:xfrm>
            <a:off x="777240" y="3255264"/>
            <a:ext cx="6386590" cy="880871"/>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Consolas"/>
              </a:rPr>
              <a:t>If I do not hear back by Thursday 5pm, I will assume we are proceeding with option A and will book the shift accordingly. Please tell me before then if that is not what you want.</a:t>
            </a:r>
          </a:p>
        </p:txBody>
      </p:sp>
      <p:sp>
        <p:nvSpPr>
          <p:cNvPr id="29" name="vis:promptcap"/>
          <p:cNvSpPr txBox="1"/>
          <p:nvPr/>
        </p:nvSpPr>
        <p:spPr>
          <a:xfrm>
            <a:off x="777240" y="4337304"/>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Use it only when you can genuinely act on the default.</a:t>
            </a:r>
          </a:p>
        </p:txBody>
      </p:sp>
      <p:sp>
        <p:nvSpPr>
          <p:cNvPr id="30" name="seclabel"/>
          <p:cNvSpPr txBox="1"/>
          <p:nvPr/>
        </p:nvSpPr>
        <p:spPr>
          <a:xfrm>
            <a:off x="7803910" y="2761488"/>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WORKS</a:t>
            </a:r>
          </a:p>
        </p:txBody>
      </p:sp>
      <p:cxnSp>
        <p:nvCxnSpPr>
          <p:cNvPr id="31" name="vis:icon"/>
          <p:cNvCxnSpPr/>
          <p:nvPr/>
        </p:nvCxnSpPr>
        <p:spPr>
          <a:xfrm>
            <a:off x="7850361" y="3305007"/>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flipV="1">
            <a:off x="7902665" y="3244656"/>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3" name="cell:why"/>
          <p:cNvSpPr txBox="1"/>
          <p:nvPr/>
        </p:nvSpPr>
        <p:spPr>
          <a:xfrm>
            <a:off x="8187958" y="3145536"/>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removes the cost of not replying, which was the problem.</a:t>
            </a:r>
          </a:p>
        </p:txBody>
      </p:sp>
      <p:cxnSp>
        <p:nvCxnSpPr>
          <p:cNvPr id="34" name="vis:icon"/>
          <p:cNvCxnSpPr/>
          <p:nvPr/>
        </p:nvCxnSpPr>
        <p:spPr>
          <a:xfrm>
            <a:off x="7850361" y="4237695"/>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7902665" y="4177344"/>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6" name="cell:why"/>
          <p:cNvSpPr txBox="1"/>
          <p:nvPr/>
        </p:nvSpPr>
        <p:spPr>
          <a:xfrm>
            <a:off x="8187958" y="407822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gives the reader an easy way to stop you.</a:t>
            </a:r>
          </a:p>
        </p:txBody>
      </p:sp>
      <p:cxnSp>
        <p:nvCxnSpPr>
          <p:cNvPr id="37" name="vis:icon"/>
          <p:cNvCxnSpPr/>
          <p:nvPr/>
        </p:nvCxnSpPr>
        <p:spPr>
          <a:xfrm>
            <a:off x="7850361" y="5170383"/>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7902665" y="5110032"/>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9" name="cell:why"/>
          <p:cNvSpPr txBox="1"/>
          <p:nvPr/>
        </p:nvSpPr>
        <p:spPr>
          <a:xfrm>
            <a:off x="8187958" y="501091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converts silence into a decision instead of a delay.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SILENT DEFAULT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not to use a default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210"/>
              </a:lnSpc>
              <a:spcBef>
                <a:spcPts val="0"/>
              </a:spcBef>
              <a:spcAft>
                <a:spcPts val="400"/>
              </a:spcAft>
            </a:pPr>
            <a:r>
              <a:rPr sz="1700" b="0">
                <a:solidFill>
                  <a:srgbClr val="FFFFFF"/>
                </a:solidFill>
                <a:latin typeface="Segoe UI Semibold"/>
              </a:rPr>
              <a:t>A silent default only works if you can honestly act on it, and if the reader could reasonably object in time.</a:t>
            </a:r>
          </a:p>
          <a:p>
            <a:pPr algn="l">
              <a:lnSpc>
                <a:spcPts val="1560"/>
              </a:lnSpc>
              <a:spcBef>
                <a:spcPts val="0"/>
              </a:spcBef>
              <a:spcAft>
                <a:spcPts val="0"/>
              </a:spcAft>
            </a:pPr>
            <a:r>
              <a:rPr sz="1200" b="0">
                <a:solidFill>
                  <a:srgbClr val="FFFFFF"/>
                </a:solidFill>
                <a:latin typeface="Segoe UI"/>
              </a:rPr>
              <a:t>Used wrongly it reads as a threat, or as a decision taken behind somebody's back.</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Never for spending somebody else's budget.</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460315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62573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Never with under 24 hours' notice.</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40492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42750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Never for anything involving a person.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rewrite one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epnum"/>
          <p:cNvSpPr/>
          <p:nvPr/>
        </p:nvSpPr>
        <p:spPr>
          <a:xfrm>
            <a:off x="502920" y="2027681"/>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Find a message you sent that never got a reply.</a:t>
            </a:r>
          </a:p>
        </p:txBody>
      </p:sp>
      <p:sp>
        <p:nvSpPr>
          <p:cNvPr id="19" name="vis:stepnum"/>
          <p:cNvSpPr/>
          <p:nvPr/>
        </p:nvSpPr>
        <p:spPr>
          <a:xfrm>
            <a:off x="502920" y="3138677"/>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Delete everything except the actual question.</a:t>
            </a:r>
          </a:p>
        </p:txBody>
      </p:sp>
      <p:sp>
        <p:nvSpPr>
          <p:cNvPr id="23" name="vis:stepnum"/>
          <p:cNvSpPr/>
          <p:nvPr/>
        </p:nvSpPr>
        <p:spPr>
          <a:xfrm>
            <a:off x="502920" y="4249674"/>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Put the deadline and the consequence in the first line.</a:t>
            </a:r>
          </a:p>
        </p:txBody>
      </p:sp>
      <p:sp>
        <p:nvSpPr>
          <p:cNvPr id="27" name="vis:stepnum"/>
          <p:cNvSpPr/>
          <p:nvPr/>
        </p:nvSpPr>
        <p:spPr>
          <a:xfrm>
            <a:off x="502920" y="5360670"/>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Send it again, with a subject line naming the decision.</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Rewrite the message below so the ask, the deadline and the consequence are all in the first two sentences. Move everything else below a line marked "Background". Keep it under 120 words. Do not add anything I have not written.</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Two minutes, and a message people can actually answer.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subject line does work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169824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38734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WEAK SUBJECT</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Subject: Overtime</a:t>
            </a:r>
          </a:p>
          <a:p>
            <a:pPr algn="l">
              <a:lnSpc>
                <a:spcPts val="1690"/>
              </a:lnSpc>
              <a:spcBef>
                <a:spcPts val="0"/>
              </a:spcBef>
              <a:spcAft>
                <a:spcPts val="600"/>
              </a:spcAft>
            </a:pPr>
            <a:r>
              <a:rPr sz="1300" b="0">
                <a:solidFill>
                  <a:srgbClr val="2A3547"/>
                </a:solidFill>
                <a:latin typeface="Segoe UI"/>
              </a:rPr>
              <a:t>Says nothing about what is needed or by when.</a:t>
            </a:r>
          </a:p>
          <a:p>
            <a:pPr algn="l">
              <a:lnSpc>
                <a:spcPts val="1690"/>
              </a:lnSpc>
              <a:spcBef>
                <a:spcPts val="0"/>
              </a:spcBef>
              <a:spcAft>
                <a:spcPts val="600"/>
              </a:spcAft>
            </a:pPr>
            <a:r>
              <a:rPr sz="1300" b="0">
                <a:solidFill>
                  <a:srgbClr val="2A3547"/>
                </a:solidFill>
                <a:latin typeface="Segoe UI"/>
              </a:rPr>
              <a:t>Sits in a list of forty other one-word subjects.</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2027808"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71691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WORKING SUBJECT</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Subject: Decision needed by Fri 12pm — weekend overtime, A or B</a:t>
            </a:r>
          </a:p>
          <a:p>
            <a:pPr algn="l">
              <a:lnSpc>
                <a:spcPts val="1690"/>
              </a:lnSpc>
              <a:spcBef>
                <a:spcPts val="0"/>
              </a:spcBef>
              <a:spcAft>
                <a:spcPts val="600"/>
              </a:spcAft>
            </a:pPr>
            <a:r>
              <a:rPr sz="1300" b="0">
                <a:solidFill>
                  <a:srgbClr val="2A3547"/>
                </a:solidFill>
                <a:latin typeface="Segoe UI"/>
              </a:rPr>
              <a:t>Readable without opening. Filterable. Findable in June.</a:t>
            </a:r>
          </a:p>
          <a:p>
            <a:pPr algn="l">
              <a:lnSpc>
                <a:spcPts val="1690"/>
              </a:lnSpc>
              <a:spcBef>
                <a:spcPts val="0"/>
              </a:spcBef>
              <a:spcAft>
                <a:spcPts val="600"/>
              </a:spcAft>
            </a:pPr>
            <a:r>
              <a:rPr sz="1300" b="0">
                <a:solidFill>
                  <a:srgbClr val="2A3547"/>
                </a:solidFill>
                <a:latin typeface="Segoe UI"/>
              </a:rPr>
              <a:t>The reader knows immediately whether it is theirs.</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 subject line naming the decision and the deadline does more for your response rate than anything in the body.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worth having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One message, one decision. Split anything with two.</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Deadline and consequence in the first two sentences.</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Subject line names the decision, not the topic.</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After one missed deadline, pick up the phone.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Explaining before asking</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reader stops in paragraph two, meaning to come back. They do not come back.</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Three questions in one email</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get an answer to the easiest one and chase the other two for a week.</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 deadline with no consequence</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reads as a preference. Nobody has ever missed a preference and felt anything.</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Using email for a disagreement</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Tone is unreadable in text, and both sides reread it uncharitably.</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Chasing by sending the same email again</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was not read the first time. Sending it twice mostly annoys people.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Writing for someone senior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Do they need to decide, or just to know?</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1792346" y="3026664"/>
            <a:ext cx="1448054"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1947794" y="3054096"/>
            <a:ext cx="113715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JUST KNOW</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71079"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704216" y="3967764"/>
            <a:ext cx="61447"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Say so at the top</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 action needed — for information only." It takes four words and it stops a senior person reading carefully for a request that is not there.</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133539" y="3026664"/>
            <a:ext cx="108356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288987" y="3054096"/>
            <a:ext cx="77266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DECIDE</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Ask first</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Lead with the decision, the deadline and two options. Recommend one of them — people rarely resent a recommendation, and always resent a shapeless choice.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communication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alertband"/>
          <p:cNvSpPr/>
          <p:nvPr/>
        </p:nvSpPr>
        <p:spPr>
          <a:xfrm>
            <a:off x="0" y="1719072"/>
            <a:ext cx="12191695" cy="96012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145"/>
              </a:lnSpc>
              <a:spcBef>
                <a:spcPts val="0"/>
              </a:spcBef>
              <a:spcAft>
                <a:spcPts val="400"/>
              </a:spcAft>
            </a:pPr>
            <a:r>
              <a:rPr sz="1650" b="0">
                <a:solidFill>
                  <a:srgbClr val="FFFFFF"/>
                </a:solidFill>
                <a:latin typeface="Segoe UI Semibold"/>
              </a:rPr>
              <a:t>Every message should answer three things in the first two sentences: what, by when, and what happens if not.</a:t>
            </a:r>
          </a:p>
          <a:p>
            <a:pPr algn="l">
              <a:lnSpc>
                <a:spcPts val="1560"/>
              </a:lnSpc>
              <a:spcBef>
                <a:spcPts val="0"/>
              </a:spcBef>
              <a:spcAft>
                <a:spcPts val="0"/>
              </a:spcAft>
            </a:pPr>
            <a:r>
              <a:rPr sz="1200" b="0">
                <a:solidFill>
                  <a:srgbClr val="FFFFFF"/>
                </a:solidFill>
                <a:latin typeface="Segoe UI"/>
              </a:rPr>
              <a:t>Everything else is background, and background belongs underneath.</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What you need.</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By when.</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What happens if not.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Wednesday, 3:00 pm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You emailed on Monday asking for an overtime decision by Friday. Nobody has replied. The shift has to be booked with the contractor by Friday evening.</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Forward the original email with "Any update?" on top.</a:t>
            </a:r>
          </a:p>
        </p:txBody>
      </p:sp>
      <p:cxnSp>
        <p:nvCxnSpPr>
          <p:cNvPr id="23" name="vis:choicearrow"/>
          <p:cNvCxnSpPr/>
          <p:nvPr/>
        </p:nvCxnSpPr>
        <p:spPr>
          <a:xfrm>
            <a:off x="758952"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Send a three-line message with the ask, the deadline and the default.</a:t>
            </a:r>
          </a:p>
        </p:txBody>
      </p:sp>
      <p:cxnSp>
        <p:nvCxnSpPr>
          <p:cNvPr id="29" name="vis:choicearrow"/>
          <p:cNvCxnSpPr/>
          <p:nvPr/>
        </p:nvCxnSpPr>
        <p:spPr>
          <a:xfrm>
            <a:off x="4566818"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Ring them and confirm in writing afterwards.</a:t>
            </a:r>
          </a:p>
        </p:txBody>
      </p:sp>
      <p:cxnSp>
        <p:nvCxnSpPr>
          <p:cNvPr id="35" name="vis:choicearrow"/>
          <p:cNvCxnSpPr/>
          <p:nvPr/>
        </p:nvCxnSpPr>
        <p:spPr>
          <a:xfrm>
            <a:off x="8374684"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It was not read the first time</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same 400 words arrive again, with two more words on top. Whoever skipped it on Monday skips it again on Wednesday, and now finds the chasing slightly irritating. Friday arrives with no decision.</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Resending an unread message mostly resends the problem.</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Three lines, answered in eleven minutes</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 need a yes or no on weekend overtime by Friday midday. If I do not hear back, I will book option A. Cost difference is about ₹18,000." You get a one-word reply before half past three.</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Short, with a stated default, is far easier to answer than long and open.</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Also right, and often faster</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Two minutes on the phone settles it, and a one-line email afterwards gives you the record. This is the correct move after one missed deadline, and better than a third email.</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After one missed deadline, change channel rather than repeating yourself.</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minutes on writing sharply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How to Write Email with Military Precision</a:t>
            </a:r>
          </a:p>
        </p:txBody>
      </p:sp>
      <p:sp>
        <p:nvSpPr>
          <p:cNvPr id="19" name="vis:chip"/>
          <p:cNvSpPr/>
          <p:nvPr/>
        </p:nvSpPr>
        <p:spPr>
          <a:xfrm>
            <a:off x="868680" y="3858768"/>
            <a:ext cx="278907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247817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HARVARD BUSINESS REVIEW</a:t>
            </a:r>
          </a:p>
        </p:txBody>
      </p:sp>
      <p:sp>
        <p:nvSpPr>
          <p:cNvPr id="21" name="vis:chip"/>
          <p:cNvSpPr/>
          <p:nvPr/>
        </p:nvSpPr>
        <p:spPr>
          <a:xfrm>
            <a:off x="3804058" y="3858768"/>
            <a:ext cx="123342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959506" y="3895344"/>
            <a:ext cx="92252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4:02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should the ask go?</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At the end, after the reasoning</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 the first sentence, with the deadline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 the middle, after the context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 a separate follow-up message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At the end, after the reasoning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Most people skim a work email rather than read it end to end. Your question sits below the point where the reader stopped, meaning to come back later.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First line, with the deadline.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In the first sentence, with the deadline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reader can decide in four seconds whether this needs them, and can answer without reading anything else. Background belongs below, for the few who want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First line, with the deadline.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In the middle, after the context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middle is where attention is lowest. It is the worst place in the message for the one sentence that has to be read.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First line, with the deadline.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In a separate follow-up message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Now there are two messages and it is unclear which one to reply to. One message with one ask is the goal.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First line, with the deadline.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one ask per message?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more polite</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People answer one and forget the others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Long emails break spam filters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looks more professional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is more polite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Politeness is not the issue. The issue is that people answer the easiest question and forget the rest, which leaves you chasing.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Two questions get one answer.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People answer one and forget the others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In practice, three asks in one email tend to produce one answer, and you cannot tell from the reply which of the other two were even read.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Two questions get one answer.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Long emails break spam filters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Not a real consideration for internal mail. The problem is entirely about how people actually read and reply.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Two questions get one answer.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looks more professional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does read better, and that is a side effect. The practical reason is that each one becomes separately trackable and answerable.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Two questions get one answer.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needs a call, not an email?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Confirming a delivery slot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Telling a supplier we are rejecting their claim</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Sharing next month's schedule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Asking for a document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Confirming a delivery slot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Factual, uncontroversial and worth having in writing. Email is exactly right, and a call would need confirming afterwards anyway.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Disagreement and bad news.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Telling a supplier we are rejecting their claim</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Bad news and likely disagreement. Tone is unreadable in text and both sides reread it uncharitably. Call first, then confirm the outcome in writing.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Disagreement and bad news.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Sharing next month's schedule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Information people need to refer back to. Writing is the point, and a call would leave nothing to check against.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Disagreement and bad news.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Asking for a document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small, factual request. Chat or email is fine, and a call for this would be more interruption than it is worth.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Disagreement and bad news.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is a stated default fair?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Any time you need a fast answer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you genuinely can proceed and they have time to object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your manager is away</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the cost is small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Any time you need a fast answer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Used as a general pressure tactic it reads as a threat, and it stops working once people notice you never actually act on the default.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Only when you can honestly act on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When you genuinely can proceed and they have time to object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Both conditions matter. If you could not really proceed, it is a bluff. If they have four hours' notice, it is not a real opportunity to object.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Only when you can honestly act on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When your manager is away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Absence is not authority. If the decision is theirs, it stays theirs, and a default cannot manufacture permission.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Only when you can honestly act on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When the cost is small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Small cost helps, and it is not sufficient. The test is whether you could act on the default honestly, whatever the amount.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Only when you can honestly act on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makes a subject line work?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short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names the decision and when it is needed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matches the first line of the email</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marks the message as urgent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is short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"Overtime" is very short and tells the reader nothing. A longer subject that names the decision and the date is far more useful.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decision and the deadline.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names the decision and when it is needed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"Decision needed by Fri 12pm — weekend overtime, A or B" is readable without opening, filterable, and findable months later.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decision and the deadline.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matches the first line of the email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Duplication wastes the one line most likely to be read. Use it to carry information the body then builds 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decision and the deadline.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marks the message as urgent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Urgency flags stop working after the second use, and they make the genuinely urgent messages invisible.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decision and the deadline.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Business communication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Ask first, always</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you need and by when, in the first sentence. Background below.</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One message, one ask</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Two questions reliably produce one answer and a week of chasing.</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Say what happens if not</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deadline with no consequence is read as a preference.</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Subject lines carry the decision</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Name the decision and the date, not the topic.</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Change channel, do not repeat</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After one missed deadline, a two-minute call beats a third email.</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Disagreement goes on the phone</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Tone is unreadable in text, and both sides reread it uncharitably.</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AA87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AA8745"/>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AA8745"/>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What you need, by when, and what happens if not — in the first two sentences.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1247" y="2419478"/>
            <a:ext cx="234320" cy="159763"/>
          </a:xfrm>
          <a:prstGeom prst="roundRect">
            <a:avLst>
              <a:gd name="adj" fmla="val 28617"/>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861247" y="2430128"/>
            <a:ext cx="117161" cy="85208"/>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978408" y="2430128"/>
            <a:ext cx="117160" cy="85208"/>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1"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five-bracket message</a:t>
            </a:r>
          </a:p>
        </p:txBody>
      </p:sp>
      <p:sp>
        <p:nvSpPr>
          <p:cNvPr id="22"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Ask, deadline, consequence, options, background below.</a:t>
            </a:r>
          </a:p>
        </p:txBody>
      </p:sp>
      <p:sp>
        <p:nvSpPr>
          <p:cNvPr id="23"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61247" y="3284407"/>
            <a:ext cx="234320" cy="234320"/>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flipV="1">
            <a:off x="978408" y="3332336"/>
            <a:ext cx="0" cy="69232"/>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a:off x="978408" y="3401568"/>
            <a:ext cx="58580" cy="2130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8"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stated default</a:t>
            </a:r>
          </a:p>
        </p:txBody>
      </p:sp>
      <p:sp>
        <p:nvSpPr>
          <p:cNvPr id="29"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"If I do not hear by Thursday, I will proceed with A."</a:t>
            </a:r>
          </a:p>
        </p:txBody>
      </p:sp>
      <p:sp>
        <p:nvSpPr>
          <p:cNvPr id="30"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63910" y="4205254"/>
            <a:ext cx="37278" cy="3727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930478" y="4223894"/>
            <a:ext cx="165090"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4" name="vis:icon"/>
          <p:cNvSpPr/>
          <p:nvPr/>
        </p:nvSpPr>
        <p:spPr>
          <a:xfrm>
            <a:off x="863910" y="4285136"/>
            <a:ext cx="37278" cy="3727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930478" y="4303775"/>
            <a:ext cx="165090"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6" name="vis:icon"/>
          <p:cNvSpPr/>
          <p:nvPr/>
        </p:nvSpPr>
        <p:spPr>
          <a:xfrm>
            <a:off x="863910" y="4365018"/>
            <a:ext cx="37278" cy="3727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930478" y="4383657"/>
            <a:ext cx="165090"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8"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channel test</a:t>
            </a:r>
          </a:p>
        </p:txBody>
      </p:sp>
      <p:sp>
        <p:nvSpPr>
          <p:cNvPr id="39"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Record, disagreement, quick question, or a person.</a:t>
            </a:r>
          </a:p>
        </p:txBody>
      </p:sp>
      <p:sp>
        <p:nvSpPr>
          <p:cNvPr id="40"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LINKS THAT WORK</a:t>
            </a:r>
          </a:p>
        </p:txBody>
      </p:sp>
      <p:sp>
        <p:nvSpPr>
          <p:cNvPr id="41"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8339937" y="2300630"/>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vis:icon"/>
          <p:cNvCxnSpPr/>
          <p:nvPr/>
        </p:nvCxnSpPr>
        <p:spPr>
          <a:xfrm>
            <a:off x="8482584" y="2443276"/>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4"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5"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copilot.microsoft.com</a:t>
            </a:r>
          </a:p>
        </p:txBody>
      </p:sp>
      <p:sp>
        <p:nvSpPr>
          <p:cNvPr id="46"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7" name="vis:icon"/>
          <p:cNvSpPr/>
          <p:nvPr/>
        </p:nvSpPr>
        <p:spPr>
          <a:xfrm>
            <a:off x="8339937" y="2977286"/>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8" name="vis:icon"/>
          <p:cNvCxnSpPr/>
          <p:nvPr/>
        </p:nvCxnSpPr>
        <p:spPr>
          <a:xfrm>
            <a:off x="8482584" y="3119932"/>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9"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50"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chatgpt.com</a:t>
            </a:r>
          </a:p>
        </p:txBody>
      </p:sp>
      <p:sp>
        <p:nvSpPr>
          <p:cNvPr id="51"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icon"/>
          <p:cNvSpPr/>
          <p:nvPr/>
        </p:nvSpPr>
        <p:spPr>
          <a:xfrm>
            <a:off x="8339937" y="3653942"/>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3" name="vis:icon"/>
          <p:cNvCxnSpPr/>
          <p:nvPr/>
        </p:nvCxnSpPr>
        <p:spPr>
          <a:xfrm>
            <a:off x="8482584" y="3796588"/>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54"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5"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gemini.google.com</a:t>
            </a:r>
          </a:p>
        </p:txBody>
      </p:sp>
      <p:sp>
        <p:nvSpPr>
          <p:cNvPr id="56"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DO THIS NEXT</a:t>
            </a:r>
          </a:p>
        </p:txBody>
      </p:sp>
      <p:sp>
        <p:nvSpPr>
          <p:cNvPr id="58"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PS-02, Professional Email Writing. The mechanics — subject lines, openings, and knowing when not to send at all.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PS-01  ·  Business Communication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Ask</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one thing you need the reader to do. It belongs in the first sentence.</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Stated default</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you will do if nobody replies. It turns silence into a decision.</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Channel</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Email, call, chat or in person. Choosing deliberately prevents most communication problems.</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Escalation</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Moving a stalled request to a call, then to a manager, factually and without complaint.</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Front-loading</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Putting the conclusion and the request before the reasoning.</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Background</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Context for the few readers who want it. Always below the ask.</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