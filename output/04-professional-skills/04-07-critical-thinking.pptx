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BtqOeXsB36U"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 name="vis:coverline"/>
          <p:cNvCxnSpPr/>
          <p:nvPr/>
        </p:nvCxnSpPr>
        <p:spPr>
          <a:xfrm>
            <a:off x="8203996" y="2278684"/>
            <a:ext cx="998525" cy="658368"/>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5" name="vis:coverline"/>
          <p:cNvCxnSpPr/>
          <p:nvPr/>
        </p:nvCxnSpPr>
        <p:spPr>
          <a:xfrm flipV="1">
            <a:off x="7973568" y="2937052"/>
            <a:ext cx="1228953" cy="658368"/>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6" name="vis:coverline"/>
          <p:cNvCxnSpPr/>
          <p:nvPr/>
        </p:nvCxnSpPr>
        <p:spPr>
          <a:xfrm>
            <a:off x="9202521" y="2937052"/>
            <a:ext cx="76810" cy="1316736"/>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7" name="vis:coverline"/>
          <p:cNvCxnSpPr/>
          <p:nvPr/>
        </p:nvCxnSpPr>
        <p:spPr>
          <a:xfrm flipV="1">
            <a:off x="9202521" y="2212848"/>
            <a:ext cx="1152144" cy="724204"/>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8" name="vis:coverline"/>
          <p:cNvCxnSpPr/>
          <p:nvPr/>
        </p:nvCxnSpPr>
        <p:spPr>
          <a:xfrm>
            <a:off x="9202521" y="2937052"/>
            <a:ext cx="1305763" cy="658368"/>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9" name="vis:coverline"/>
          <p:cNvCxnSpPr/>
          <p:nvPr/>
        </p:nvCxnSpPr>
        <p:spPr>
          <a:xfrm>
            <a:off x="10354665" y="2212848"/>
            <a:ext cx="921715" cy="658368"/>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10" name="vis:coverline"/>
          <p:cNvCxnSpPr/>
          <p:nvPr/>
        </p:nvCxnSpPr>
        <p:spPr>
          <a:xfrm flipV="1">
            <a:off x="10508284" y="2871216"/>
            <a:ext cx="768096" cy="724204"/>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11" name="vis:coverline"/>
          <p:cNvCxnSpPr/>
          <p:nvPr/>
        </p:nvCxnSpPr>
        <p:spPr>
          <a:xfrm flipV="1">
            <a:off x="9279331" y="3595420"/>
            <a:ext cx="1228953" cy="658368"/>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2" name="vis:covernode"/>
          <p:cNvSpPr/>
          <p:nvPr/>
        </p:nvSpPr>
        <p:spPr>
          <a:xfrm>
            <a:off x="8139988" y="2214676"/>
            <a:ext cx="128016"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vis:covernode"/>
          <p:cNvSpPr/>
          <p:nvPr/>
        </p:nvSpPr>
        <p:spPr>
          <a:xfrm>
            <a:off x="7909560" y="3531412"/>
            <a:ext cx="128016"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overnode"/>
          <p:cNvSpPr/>
          <p:nvPr/>
        </p:nvSpPr>
        <p:spPr>
          <a:xfrm>
            <a:off x="9065361" y="2799892"/>
            <a:ext cx="274320" cy="27432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covernode"/>
          <p:cNvSpPr/>
          <p:nvPr/>
        </p:nvSpPr>
        <p:spPr>
          <a:xfrm>
            <a:off x="9215323" y="4189780"/>
            <a:ext cx="128016"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overnode"/>
          <p:cNvSpPr/>
          <p:nvPr/>
        </p:nvSpPr>
        <p:spPr>
          <a:xfrm>
            <a:off x="10263225" y="2121408"/>
            <a:ext cx="182880" cy="18288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overnode"/>
          <p:cNvSpPr/>
          <p:nvPr/>
        </p:nvSpPr>
        <p:spPr>
          <a:xfrm>
            <a:off x="10416844" y="3503980"/>
            <a:ext cx="182880" cy="18288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overnode"/>
          <p:cNvSpPr/>
          <p:nvPr/>
        </p:nvSpPr>
        <p:spPr>
          <a:xfrm>
            <a:off x="11212372" y="2807208"/>
            <a:ext cx="128016"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seclabel"/>
          <p:cNvSpPr txBox="1"/>
          <p:nvPr/>
        </p:nvSpPr>
        <p:spPr>
          <a:xfrm>
            <a:off x="960120" y="1295654"/>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PROFESSIONAL SKILLS</a:t>
            </a:r>
          </a:p>
        </p:txBody>
      </p:sp>
      <p:sp>
        <p:nvSpPr>
          <p:cNvPr id="20" name="title:cover"/>
          <p:cNvSpPr txBox="1"/>
          <p:nvPr/>
        </p:nvSpPr>
        <p:spPr>
          <a:xfrm>
            <a:off x="960120" y="1752854"/>
            <a:ext cx="5501487" cy="78130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Critical Thinking</a:t>
            </a:r>
          </a:p>
        </p:txBody>
      </p:sp>
      <p:cxnSp>
        <p:nvCxnSpPr>
          <p:cNvPr id="21" name="vis:rule"/>
          <p:cNvCxnSpPr/>
          <p:nvPr/>
        </p:nvCxnSpPr>
        <p:spPr>
          <a:xfrm>
            <a:off x="960120" y="280847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2" name="body:coversub"/>
          <p:cNvSpPr txBox="1"/>
          <p:nvPr/>
        </p:nvSpPr>
        <p:spPr>
          <a:xfrm>
            <a:off x="960120" y="3082798"/>
            <a:ext cx="5501487"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Telling evidence from assertion — including in your own reasoning, which is the harder half.</a:t>
            </a:r>
          </a:p>
        </p:txBody>
      </p:sp>
      <p:sp>
        <p:nvSpPr>
          <p:cNvPr id="23" name="vis:chip"/>
          <p:cNvSpPr/>
          <p:nvPr/>
        </p:nvSpPr>
        <p:spPr>
          <a:xfrm>
            <a:off x="960120" y="4629658"/>
            <a:ext cx="957834" cy="310896"/>
          </a:xfrm>
          <a:prstGeom prst="roundRect">
            <a:avLst>
              <a:gd name="adj" fmla="val 14705"/>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hiptext"/>
          <p:cNvSpPr txBox="1"/>
          <p:nvPr/>
        </p:nvSpPr>
        <p:spPr>
          <a:xfrm>
            <a:off x="1115568" y="4675378"/>
            <a:ext cx="64693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PS-07</a:t>
            </a:r>
          </a:p>
        </p:txBody>
      </p:sp>
      <p:sp>
        <p:nvSpPr>
          <p:cNvPr id="25" name="vis:chip"/>
          <p:cNvSpPr/>
          <p:nvPr/>
        </p:nvSpPr>
        <p:spPr>
          <a:xfrm>
            <a:off x="2064258" y="4629658"/>
            <a:ext cx="1453134"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text"/>
          <p:cNvSpPr txBox="1"/>
          <p:nvPr/>
        </p:nvSpPr>
        <p:spPr>
          <a:xfrm>
            <a:off x="2219706" y="4675378"/>
            <a:ext cx="11422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17 MINUTES</a:t>
            </a:r>
          </a:p>
        </p:txBody>
      </p:sp>
      <p:sp>
        <p:nvSpPr>
          <p:cNvPr id="27" name="vis:chip"/>
          <p:cNvSpPr/>
          <p:nvPr/>
        </p:nvSpPr>
        <p:spPr>
          <a:xfrm>
            <a:off x="3663696" y="462965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chiptext"/>
          <p:cNvSpPr txBox="1"/>
          <p:nvPr/>
        </p:nvSpPr>
        <p:spPr>
          <a:xfrm>
            <a:off x="3819144" y="467537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29"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30"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PS-07  ·  Critical Thinking</a:t>
            </a:r>
          </a:p>
        </p:txBody>
      </p:sp>
      <p:sp>
        <p:nvSpPr>
          <p:cNvPr id="31"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Nisha's number is repeated for a year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95057" y="2247346"/>
            <a:ext cx="332461" cy="260187"/>
          </a:xfrm>
          <a:custGeom>
            <a:avLst/>
            <a:gdLst/>
            <a:ahLst/>
            <a:cxnLst/>
            <a:rect l="l" t="t" r="r" b="b"/>
            <a:pathLst>
              <a:path w="332461" h="260187">
                <a:moveTo>
                  <a:pt x="0" y="130093"/>
                </a:moveTo>
                <a:lnTo>
                  <a:pt x="166231" y="0"/>
                </a:lnTo>
                <a:lnTo>
                  <a:pt x="332461" y="130093"/>
                </a:lnTo>
                <a:lnTo>
                  <a:pt x="166231" y="260187"/>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is:icon"/>
          <p:cNvSpPr/>
          <p:nvPr/>
        </p:nvSpPr>
        <p:spPr>
          <a:xfrm>
            <a:off x="1110696" y="2326848"/>
            <a:ext cx="101183" cy="101183"/>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Nisha builds the monthly pack in Hyderabad. Someone once said returns run at about eight per cent. It went into a slide. It has been repeated in every pack since. Nobody has ever calculated it.</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A year of decisions resting on a number nobody checked.</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Three questions, asked out loud, before a claim gets repeated.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25094" y="1969559"/>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is:icon"/>
          <p:cNvSpPr/>
          <p:nvPr/>
        </p:nvSpPr>
        <p:spPr>
          <a:xfrm>
            <a:off x="1019431" y="2034415"/>
            <a:ext cx="82544" cy="82544"/>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Tell a fact from an assertion in somebody else's argument</a:t>
            </a:r>
          </a:p>
        </p:txBody>
      </p:sp>
      <p:sp>
        <p:nvSpPr>
          <p:cNvPr id="20"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954575" y="2977696"/>
            <a:ext cx="76648" cy="76648"/>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1031223" y="2889255"/>
            <a:ext cx="141505" cy="16508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4"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Ask where a number came from without sounding obstructive</a:t>
            </a:r>
          </a:p>
        </p:txBody>
      </p:sp>
      <p:sp>
        <p:nvSpPr>
          <p:cNvPr id="25"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925094" y="3738198"/>
            <a:ext cx="271219" cy="247635"/>
          </a:xfrm>
          <a:custGeom>
            <a:avLst/>
            <a:gdLst/>
            <a:ahLst/>
            <a:cxnLst/>
            <a:rect l="l" t="t" r="r" b="b"/>
            <a:pathLst>
              <a:path w="271219" h="247635">
                <a:moveTo>
                  <a:pt x="135610" y="0"/>
                </a:moveTo>
                <a:lnTo>
                  <a:pt x="271219" y="247635"/>
                </a:lnTo>
                <a:lnTo>
                  <a:pt x="0" y="247635"/>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vis:icon"/>
          <p:cNvCxnSpPr/>
          <p:nvPr/>
        </p:nvCxnSpPr>
        <p:spPr>
          <a:xfrm>
            <a:off x="1060704" y="3832535"/>
            <a:ext cx="0" cy="7370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9" name="vis:icon"/>
          <p:cNvSpPr/>
          <p:nvPr/>
        </p:nvSpPr>
        <p:spPr>
          <a:xfrm>
            <a:off x="1045963" y="3932768"/>
            <a:ext cx="29480" cy="2948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Catch the two biases that affect your own work most</a:t>
            </a:r>
          </a:p>
        </p:txBody>
      </p:sp>
      <p:sp>
        <p:nvSpPr>
          <p:cNvPr id="31"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933938" y="4654947"/>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1007639" y="4675583"/>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vis:icon"/>
          <p:cNvSpPr/>
          <p:nvPr/>
        </p:nvSpPr>
        <p:spPr>
          <a:xfrm>
            <a:off x="933938" y="4743387"/>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6" name="vis:icon"/>
          <p:cNvCxnSpPr/>
          <p:nvPr/>
        </p:nvCxnSpPr>
        <p:spPr>
          <a:xfrm>
            <a:off x="1007639" y="4764024"/>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7" name="vis:icon"/>
          <p:cNvSpPr/>
          <p:nvPr/>
        </p:nvSpPr>
        <p:spPr>
          <a:xfrm>
            <a:off x="933938" y="4831828"/>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1007639" y="4852464"/>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Test whether a comparison is actually comparing like with like</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1004691" y="5533370"/>
            <a:ext cx="112024" cy="112024"/>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vis:icon"/>
          <p:cNvSpPr/>
          <p:nvPr/>
        </p:nvSpPr>
        <p:spPr>
          <a:xfrm>
            <a:off x="942782" y="5689616"/>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Disagree with a conclusion without attacking the person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Fact or assertion</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three questions</a:t>
            </a:r>
          </a:p>
        </p:txBody>
      </p:sp>
      <p:cxnSp>
        <p:nvCxnSpPr>
          <p:cNvPr id="13" name="vis:menuarrow"/>
          <p:cNvCxnSpPr/>
          <p:nvPr/>
        </p:nvCxnSpPr>
        <p:spPr>
          <a:xfrm>
            <a:off x="11213287" y="1997049"/>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Where numbers come from</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Asking without friction</a:t>
            </a:r>
          </a:p>
        </p:txBody>
      </p:sp>
      <p:cxnSp>
        <p:nvCxnSpPr>
          <p:cNvPr id="19" name="vis:menuarrow"/>
          <p:cNvCxnSpPr/>
          <p:nvPr/>
        </p:nvCxnSpPr>
        <p:spPr>
          <a:xfrm>
            <a:off x="11213287" y="242498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own two biases</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ones that matter at work</a:t>
            </a:r>
          </a:p>
        </p:txBody>
      </p:sp>
      <p:cxnSp>
        <p:nvCxnSpPr>
          <p:cNvPr id="25" name="vis:menuarrow"/>
          <p:cNvCxnSpPr/>
          <p:nvPr/>
        </p:nvCxnSpPr>
        <p:spPr>
          <a:xfrm>
            <a:off x="11213287" y="285292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Bad comparisons</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Like with like</a:t>
            </a:r>
          </a:p>
        </p:txBody>
      </p:sp>
      <p:cxnSp>
        <p:nvCxnSpPr>
          <p:cNvPr id="31" name="vis:menuarrow"/>
          <p:cNvCxnSpPr/>
          <p:nvPr/>
        </p:nvCxnSpPr>
        <p:spPr>
          <a:xfrm>
            <a:off x="11213287" y="3280867"/>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Test a real claim</a:t>
            </a:r>
          </a:p>
        </p:txBody>
      </p:sp>
      <p:cxnSp>
        <p:nvCxnSpPr>
          <p:cNvPr id="37" name="vis:menuarrow"/>
          <p:cNvCxnSpPr/>
          <p:nvPr/>
        </p:nvCxnSpPr>
        <p:spPr>
          <a:xfrm>
            <a:off x="11213287" y="3708806"/>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review-meeting decision</a:t>
            </a:r>
          </a:p>
        </p:txBody>
      </p:sp>
      <p:cxnSp>
        <p:nvCxnSpPr>
          <p:cNvPr id="43" name="vis:menuarrow"/>
          <p:cNvCxnSpPr/>
          <p:nvPr/>
        </p:nvCxnSpPr>
        <p:spPr>
          <a:xfrm>
            <a:off x="11213287" y="4136745"/>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6-minute outside explainer</a:t>
            </a:r>
          </a:p>
        </p:txBody>
      </p:sp>
      <p:cxnSp>
        <p:nvCxnSpPr>
          <p:cNvPr id="49" name="vis:menuarrow"/>
          <p:cNvCxnSpPr/>
          <p:nvPr/>
        </p:nvCxnSpPr>
        <p:spPr>
          <a:xfrm>
            <a:off x="11213287" y="456468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FACT OR ASSERTION</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questions, every claim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Most workplace claims are true, unchecked, or true once and never re-examined. These three separate them.</a:t>
            </a:r>
          </a:p>
        </p:txBody>
      </p:sp>
      <p:sp>
        <p:nvSpPr>
          <p:cNvPr id="16" name="vis:checktile"/>
          <p:cNvSpPr/>
          <p:nvPr/>
        </p:nvSpPr>
        <p:spPr>
          <a:xfrm>
            <a:off x="502920"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387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3546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WHERE DID THIS COME FROM? — a system, a document, or somebody's memory</a:t>
            </a:r>
          </a:p>
        </p:txBody>
      </p:sp>
      <p:sp>
        <p:nvSpPr>
          <p:cNvPr id="21" name="vis:checktile"/>
          <p:cNvSpPr/>
          <p:nvPr/>
        </p:nvSpPr>
        <p:spPr>
          <a:xfrm>
            <a:off x="6205575"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387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3546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WHEN WAS IT TRUE? — many claims were accurate two years ago</a:t>
            </a:r>
          </a:p>
        </p:txBody>
      </p:sp>
      <p:sp>
        <p:nvSpPr>
          <p:cNvPr id="26" name="vis:checktile"/>
          <p:cNvSpPr/>
          <p:nvPr/>
        </p:nvSpPr>
        <p:spPr>
          <a:xfrm>
            <a:off x="502920"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5024628"/>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518355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WOULD CHANGE MY MIND? — if nothing would, it is not a conclusion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FACT OR ASSERTION</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a number becomes a fact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Somebody estimates</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"Returns are about eight per cent, I think."</a:t>
            </a:r>
          </a:p>
        </p:txBody>
      </p:sp>
      <p:cxnSp>
        <p:nvCxnSpPr>
          <p:cNvPr id="20" name="vis:flowarrow"/>
          <p:cNvCxnSpPr/>
          <p:nvPr/>
        </p:nvCxnSpPr>
        <p:spPr>
          <a:xfrm>
            <a:off x="3093643"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gets written down</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hedge disappears in the slide.</a:t>
            </a:r>
          </a:p>
        </p:txBody>
      </p:sp>
      <p:cxnSp>
        <p:nvCxnSpPr>
          <p:cNvPr id="26" name="vis:flowarrow"/>
          <p:cNvCxnSpPr/>
          <p:nvPr/>
        </p:nvCxnSpPr>
        <p:spPr>
          <a:xfrm>
            <a:off x="5986119"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gets repeated</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Now three documents say eight per cent.</a:t>
            </a:r>
          </a:p>
        </p:txBody>
      </p:sp>
      <p:cxnSp>
        <p:nvCxnSpPr>
          <p:cNvPr id="32" name="vis:flowarrow"/>
          <p:cNvCxnSpPr/>
          <p:nvPr/>
        </p:nvCxnSpPr>
        <p:spPr>
          <a:xfrm>
            <a:off x="8878595"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becomes the figure</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And decisions are made on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WHERE NUMBERS COME FROM</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Asking without friction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romptcard"/>
          <p:cNvSpPr/>
          <p:nvPr/>
        </p:nvSpPr>
        <p:spPr>
          <a:xfrm>
            <a:off x="502920" y="1719072"/>
            <a:ext cx="6935230" cy="2103120"/>
          </a:xfrm>
          <a:prstGeom prst="roundRect">
            <a:avLst>
              <a:gd name="adj" fmla="val 434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these three questions</a:t>
            </a:r>
          </a:p>
        </p:txBody>
      </p:sp>
      <p:sp>
        <p:nvSpPr>
          <p:cNvPr id="27" name="card:prompt"/>
          <p:cNvSpPr txBox="1"/>
          <p:nvPr/>
        </p:nvSpPr>
        <p:spPr>
          <a:xfrm>
            <a:off x="777240" y="2267712"/>
            <a:ext cx="6386590" cy="880871"/>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"Out of interest, where does the eight per cent come from — is that from the system?"  /  "Do we know roughly when that was last calculated?"  /  "Is that all products, or the main line?"</a:t>
            </a:r>
          </a:p>
        </p:txBody>
      </p:sp>
      <p:sp>
        <p:nvSpPr>
          <p:cNvPr id="28" name="vis:promptcap"/>
          <p:cNvSpPr txBox="1"/>
          <p:nvPr/>
        </p:nvSpPr>
        <p:spPr>
          <a:xfrm>
            <a:off x="777240" y="3349752"/>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Curious, not challenging. Almost nobody takes offence at these.</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"Out of interest" removes any accusation from the question.</a:t>
            </a:r>
          </a:p>
        </p:txBody>
      </p:sp>
      <p:cxnSp>
        <p:nvCxnSpPr>
          <p:cNvPr id="33" name="vis:icon"/>
          <p:cNvCxnSpPr/>
          <p:nvPr/>
        </p:nvCxnSpPr>
        <p:spPr>
          <a:xfrm>
            <a:off x="7850361" y="325014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Asking when it was calculated is less confrontational than asking if it is right.</a:t>
            </a:r>
          </a:p>
        </p:txBody>
      </p:sp>
      <p:cxnSp>
        <p:nvCxnSpPr>
          <p:cNvPr id="36" name="vis:icon"/>
          <p:cNvCxnSpPr/>
          <p:nvPr/>
        </p:nvCxnSpPr>
        <p:spPr>
          <a:xfrm>
            <a:off x="7850361" y="418283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scope question often reveals the real problem.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WHERE NUMBERS COME FROM</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kinds of number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40355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09265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TRACEABLE</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You can open the source</a:t>
            </a:r>
          </a:p>
        </p:txBody>
      </p:sp>
      <p:cxnSp>
        <p:nvCxnSpPr>
          <p:cNvPr id="20" name="vis:icon"/>
          <p:cNvCxnSpPr/>
          <p:nvPr/>
        </p:nvCxnSpPr>
        <p:spPr>
          <a:xfrm>
            <a:off x="811987"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V="1">
            <a:off x="859536" y="3098901"/>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Comes from a system report you can rerun</a:t>
            </a:r>
          </a:p>
        </p:txBody>
      </p:sp>
      <p:cxnSp>
        <p:nvCxnSpPr>
          <p:cNvPr id="23" name="vis:icon"/>
          <p:cNvCxnSpPr/>
          <p:nvPr/>
        </p:nvCxnSpPr>
        <p:spPr>
          <a:xfrm>
            <a:off x="811987"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859536" y="3793845"/>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Has a date and a defined scope</a:t>
            </a:r>
          </a:p>
        </p:txBody>
      </p:sp>
      <p:cxnSp>
        <p:nvCxnSpPr>
          <p:cNvPr id="26" name="vis:icon"/>
          <p:cNvCxnSpPr/>
          <p:nvPr/>
        </p:nvCxnSpPr>
        <p:spPr>
          <a:xfrm>
            <a:off x="811987"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V="1">
            <a:off x="859536" y="4488789"/>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Somebody can tell you how it is calculated</a:t>
            </a:r>
          </a:p>
        </p:txBody>
      </p:sp>
      <p:cxnSp>
        <p:nvCxnSpPr>
          <p:cNvPr id="29" name="vis:icon"/>
          <p:cNvCxnSpPr/>
          <p:nvPr/>
        </p:nvCxnSpPr>
        <p:spPr>
          <a:xfrm>
            <a:off x="811987"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V="1">
            <a:off x="859536" y="5183733"/>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Safe to put in front of a customer</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30957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99867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FOLKLORE</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Nobody can point at it</a:t>
            </a:r>
          </a:p>
        </p:txBody>
      </p:sp>
      <p:cxnSp>
        <p:nvCxnSpPr>
          <p:cNvPr id="37" name="vis:icon"/>
          <p:cNvCxnSpPr/>
          <p:nvPr/>
        </p:nvCxnSpPr>
        <p:spPr>
          <a:xfrm>
            <a:off x="6567677" y="309158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H="1">
            <a:off x="6567677" y="309158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"We have always said about eight per cent"</a:t>
            </a:r>
          </a:p>
        </p:txBody>
      </p:sp>
      <p:cxnSp>
        <p:nvCxnSpPr>
          <p:cNvPr id="40" name="vis:icon"/>
          <p:cNvCxnSpPr/>
          <p:nvPr/>
        </p:nvCxnSpPr>
        <p:spPr>
          <a:xfrm>
            <a:off x="6567677" y="378653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H="1">
            <a:off x="6567677" y="378653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No date, no scope, no method</a:t>
            </a:r>
          </a:p>
        </p:txBody>
      </p:sp>
      <p:cxnSp>
        <p:nvCxnSpPr>
          <p:cNvPr id="43" name="vis:icon"/>
          <p:cNvCxnSpPr/>
          <p:nvPr/>
        </p:nvCxnSpPr>
        <p:spPr>
          <a:xfrm>
            <a:off x="6567677" y="448147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H="1">
            <a:off x="6567677" y="448147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Appears in three documents, all copying each other</a:t>
            </a:r>
          </a:p>
        </p:txBody>
      </p:sp>
      <p:cxnSp>
        <p:nvCxnSpPr>
          <p:cNvPr id="46" name="vis:icon"/>
          <p:cNvCxnSpPr/>
          <p:nvPr/>
        </p:nvCxnSpPr>
        <p:spPr>
          <a:xfrm>
            <a:off x="6567677" y="517641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H="1">
            <a:off x="6567677" y="517641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Repeated confidently by everyone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YOUR OWN TWO BIASES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two that matter at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48942" y="2217617"/>
            <a:ext cx="314963" cy="246493"/>
          </a:xfrm>
          <a:custGeom>
            <a:avLst/>
            <a:gdLst/>
            <a:ahLst/>
            <a:cxnLst/>
            <a:rect l="l" t="t" r="r" b="b"/>
            <a:pathLst>
              <a:path w="314963" h="246493">
                <a:moveTo>
                  <a:pt x="0" y="123246"/>
                </a:moveTo>
                <a:lnTo>
                  <a:pt x="157482" y="0"/>
                </a:lnTo>
                <a:lnTo>
                  <a:pt x="314963" y="123246"/>
                </a:lnTo>
                <a:lnTo>
                  <a:pt x="157482" y="246493"/>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is:icon"/>
          <p:cNvSpPr/>
          <p:nvPr/>
        </p:nvSpPr>
        <p:spPr>
          <a:xfrm>
            <a:off x="1058494" y="2292934"/>
            <a:ext cx="95858" cy="95858"/>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Confirmation</a:t>
            </a:r>
          </a:p>
        </p:txBody>
      </p:sp>
      <p:sp>
        <p:nvSpPr>
          <p:cNvPr id="20"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You notice the data that fits your view and genuinely do not register the rest.</a:t>
            </a:r>
          </a:p>
        </p:txBody>
      </p:sp>
      <p:sp>
        <p:nvSpPr>
          <p:cNvPr id="21"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4861435" y="2193652"/>
            <a:ext cx="130093" cy="130093"/>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789541"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Recency</a:t>
            </a:r>
          </a:p>
        </p:txBody>
      </p:sp>
      <p:sp>
        <p:nvSpPr>
          <p:cNvPr id="26"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Last week's complaint feels like a trend. Six quiet months do not feel like anything.</a:t>
            </a:r>
          </a:p>
        </p:txBody>
      </p:sp>
      <p:sp>
        <p:nvSpPr>
          <p:cNvPr id="27"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8623294" y="2347711"/>
            <a:ext cx="89011" cy="8901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V="1">
            <a:off x="8712305" y="2245005"/>
            <a:ext cx="164329" cy="19171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1"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counter</a:t>
            </a:r>
          </a:p>
        </p:txBody>
      </p:sp>
      <p:sp>
        <p:nvSpPr>
          <p:cNvPr id="32"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Ask what evidence would change your mind, before you go looking at any evidence.</a:t>
            </a:r>
          </a:p>
        </p:txBody>
      </p:sp>
      <p:sp>
        <p:nvSpPr>
          <p:cNvPr id="33"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34" name="vis:chip"/>
          <p:cNvSpPr/>
          <p:nvPr/>
        </p:nvSpPr>
        <p:spPr>
          <a:xfrm>
            <a:off x="2221991" y="5660136"/>
            <a:ext cx="2383210"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2377439" y="5687568"/>
            <a:ext cx="207231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CONFIRMATION BIAS  ?</a:t>
            </a:r>
          </a:p>
        </p:txBody>
      </p:sp>
      <p:sp>
        <p:nvSpPr>
          <p:cNvPr id="36" name="nav:gloss">
            <a:hlinkClick action="ppaction://hlinksldjump" r:id="rId3"/>
          </p:cNvPr>
          <p:cNvSpPr/>
          <p:nvPr/>
        </p:nvSpPr>
        <p:spPr>
          <a:xfrm>
            <a:off x="2221991" y="5660136"/>
            <a:ext cx="2383210"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YOUR OWN TWO BIASES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Deciding in advance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40680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209590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LOOKING FOR SUPPORT</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think the new supplier is causing the rejects.</a:t>
            </a:r>
          </a:p>
          <a:p>
            <a:pPr algn="l">
              <a:lnSpc>
                <a:spcPts val="1690"/>
              </a:lnSpc>
              <a:spcBef>
                <a:spcPts val="0"/>
              </a:spcBef>
              <a:spcAft>
                <a:spcPts val="600"/>
              </a:spcAft>
            </a:pPr>
            <a:r>
              <a:rPr sz="1300" b="0">
                <a:solidFill>
                  <a:srgbClr val="2A3547"/>
                </a:solidFill>
                <a:latin typeface="Segoe UI"/>
              </a:rPr>
              <a:t>You pull the reject data and find three from their batches.</a:t>
            </a:r>
          </a:p>
          <a:p>
            <a:pPr algn="l">
              <a:lnSpc>
                <a:spcPts val="1690"/>
              </a:lnSpc>
              <a:spcBef>
                <a:spcPts val="0"/>
              </a:spcBef>
              <a:spcAft>
                <a:spcPts val="600"/>
              </a:spcAft>
            </a:pPr>
            <a:r>
              <a:rPr sz="1300" b="0">
                <a:solidFill>
                  <a:srgbClr val="2A3547"/>
                </a:solidFill>
                <a:latin typeface="Segoe UI"/>
              </a:rPr>
              <a:t>You stop there, because you found what you expected.</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257009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22592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DECIDING THE TEST FIRST</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"If their batches reject at the same rate as the old supplier, I am wrong."</a:t>
            </a:r>
          </a:p>
          <a:p>
            <a:pPr algn="l">
              <a:lnSpc>
                <a:spcPts val="1690"/>
              </a:lnSpc>
              <a:spcBef>
                <a:spcPts val="0"/>
              </a:spcBef>
              <a:spcAft>
                <a:spcPts val="600"/>
              </a:spcAft>
            </a:pPr>
            <a:r>
              <a:rPr sz="1300" b="0">
                <a:solidFill>
                  <a:srgbClr val="2A3547"/>
                </a:solidFill>
                <a:latin typeface="Segoe UI"/>
              </a:rPr>
              <a:t>You pull both rates. Theirs is 2.1, the old one 1.9.</a:t>
            </a:r>
          </a:p>
          <a:p>
            <a:pPr algn="l">
              <a:lnSpc>
                <a:spcPts val="1690"/>
              </a:lnSpc>
              <a:spcBef>
                <a:spcPts val="0"/>
              </a:spcBef>
              <a:spcAft>
                <a:spcPts val="600"/>
              </a:spcAft>
            </a:pPr>
            <a:r>
              <a:rPr sz="1300" b="0">
                <a:solidFill>
                  <a:srgbClr val="2A3547"/>
                </a:solidFill>
                <a:latin typeface="Segoe UI"/>
              </a:rPr>
              <a:t>That is not the cause. You keep looking, a week earlier than you would have.</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Deciding what would change your mind before you look is the only reliable protection against finding what you expected.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BAD COMPARISONS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Like with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mistake"/>
          <p:cNvSpPr/>
          <p:nvPr/>
        </p:nvSpPr>
        <p:spPr>
          <a:xfrm>
            <a:off x="502920" y="1719072"/>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203911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210769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Comparing a full month with a part month</a:t>
            </a:r>
          </a:p>
        </p:txBody>
      </p:sp>
      <p:cxnSp>
        <p:nvCxnSpPr>
          <p:cNvPr id="20" name="vis:line"/>
          <p:cNvCxnSpPr/>
          <p:nvPr/>
        </p:nvCxnSpPr>
        <p:spPr>
          <a:xfrm>
            <a:off x="6008686" y="1865376"/>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November against three weeks of December. The drop is the calendar, not the business.</a:t>
            </a:r>
          </a:p>
        </p:txBody>
      </p:sp>
      <p:sp>
        <p:nvSpPr>
          <p:cNvPr id="22" name="vis:mistake"/>
          <p:cNvSpPr/>
          <p:nvPr/>
        </p:nvSpPr>
        <p:spPr>
          <a:xfrm>
            <a:off x="502920" y="2834639"/>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834639"/>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315467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322326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926079"/>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Comparing before and after a definition change</a:t>
            </a:r>
          </a:p>
        </p:txBody>
      </p:sp>
      <p:cxnSp>
        <p:nvCxnSpPr>
          <p:cNvPr id="27" name="vis:line"/>
          <p:cNvCxnSpPr/>
          <p:nvPr/>
        </p:nvCxnSpPr>
        <p:spPr>
          <a:xfrm>
            <a:off x="6008686" y="2980944"/>
            <a:ext cx="0" cy="658367"/>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926079"/>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"Rejects" started including rework in April. The rise is a counting change.</a:t>
            </a:r>
          </a:p>
        </p:txBody>
      </p:sp>
      <p:sp>
        <p:nvSpPr>
          <p:cNvPr id="29" name="vis:mistake"/>
          <p:cNvSpPr/>
          <p:nvPr/>
        </p:nvSpPr>
        <p:spPr>
          <a:xfrm>
            <a:off x="502920" y="3950208"/>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950208"/>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427024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433882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4041648"/>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Comparing a total with a rate</a:t>
            </a:r>
          </a:p>
        </p:txBody>
      </p:sp>
      <p:cxnSp>
        <p:nvCxnSpPr>
          <p:cNvPr id="34" name="vis:line"/>
          <p:cNvCxnSpPr/>
          <p:nvPr/>
        </p:nvCxnSpPr>
        <p:spPr>
          <a:xfrm>
            <a:off x="6008686" y="4096512"/>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4041648"/>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More rejects with far more volume can be a lower rejection rate.</a:t>
            </a:r>
          </a:p>
        </p:txBody>
      </p:sp>
      <p:sp>
        <p:nvSpPr>
          <p:cNvPr id="36" name="vis:mistake"/>
          <p:cNvSpPr/>
          <p:nvPr/>
        </p:nvSpPr>
        <p:spPr>
          <a:xfrm>
            <a:off x="502920" y="5065776"/>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5065776"/>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5385816"/>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5454396"/>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5157216"/>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Comparing across a changed scope</a:t>
            </a:r>
          </a:p>
        </p:txBody>
      </p:sp>
      <p:cxnSp>
        <p:nvCxnSpPr>
          <p:cNvPr id="41" name="vis:line"/>
          <p:cNvCxnSpPr/>
          <p:nvPr/>
        </p:nvCxnSpPr>
        <p:spPr>
          <a:xfrm>
            <a:off x="6008686" y="5212080"/>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5157216"/>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Two sites last year, four this year. Everything looks like growth.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BAD COMPARISONS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four checks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SAME PERIOD LENGTH — full month against full month</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SAME DEFINITION — has anything changed about what counts?</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SAME SCOPE — same sites, same products, same customers</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RATE OR TOTAL — decide which one the question needs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test one claim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epnum"/>
          <p:cNvSpPr/>
          <p:nvPr/>
        </p:nvSpPr>
        <p:spPr>
          <a:xfrm>
            <a:off x="502920" y="2027681"/>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Find a number that appears in your regular reporting.</a:t>
            </a:r>
          </a:p>
        </p:txBody>
      </p:sp>
      <p:sp>
        <p:nvSpPr>
          <p:cNvPr id="19" name="vis:stepnum"/>
          <p:cNvSpPr/>
          <p:nvPr/>
        </p:nvSpPr>
        <p:spPr>
          <a:xfrm>
            <a:off x="502920" y="3138677"/>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Ask where it came from and when it was last calculated.</a:t>
            </a:r>
          </a:p>
        </p:txBody>
      </p:sp>
      <p:sp>
        <p:nvSpPr>
          <p:cNvPr id="23" name="vis:stepnum"/>
          <p:cNvSpPr/>
          <p:nvPr/>
        </p:nvSpPr>
        <p:spPr>
          <a:xfrm>
            <a:off x="502920" y="4249674"/>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Check whether the comparison periods are actually comparable.</a:t>
            </a:r>
          </a:p>
        </p:txBody>
      </p:sp>
      <p:sp>
        <p:nvSpPr>
          <p:cNvPr id="27" name="vis:stepnum"/>
          <p:cNvSpPr/>
          <p:nvPr/>
        </p:nvSpPr>
        <p:spPr>
          <a:xfrm>
            <a:off x="502920" y="5360670"/>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If nobody can answer, put a date and a source on it yourself.</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Here is a claim and the reasoning behind it. List the assumptions it depends on, marking each as STATED or UNSTATED. Then list what evidence would show the claim is wrong. Do not tell me whether you think it is true.</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"Do not tell me whether you think it is true" is what makes this useful.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Disagreeing well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wording</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might be missing something — can I check one thing? The comparison is November against December, but December only has three working weeks in it. Does that account for most of the drop, or is there something else?"</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Question the reasoning, never the person.</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 might be missing something" costs nothing and lowers the temperature.</a:t>
            </a:r>
          </a:p>
        </p:txBody>
      </p:sp>
      <p:cxnSp>
        <p:nvCxnSpPr>
          <p:cNvPr id="33" name="vis:icon"/>
          <p:cNvCxnSpPr/>
          <p:nvPr/>
        </p:nvCxnSpPr>
        <p:spPr>
          <a:xfrm>
            <a:off x="7850361" y="325014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names one specific thing rather than doubting the whole analysis.</a:t>
            </a:r>
          </a:p>
        </p:txBody>
      </p:sp>
      <p:cxnSp>
        <p:nvCxnSpPr>
          <p:cNvPr id="36" name="vis:icon"/>
          <p:cNvCxnSpPr/>
          <p:nvPr/>
        </p:nvCxnSpPr>
        <p:spPr>
          <a:xfrm>
            <a:off x="7850361" y="418283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ends with a genuine question, so there is an easy way out.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worth having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Ask where a number came from before you repeat it.</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Put a date and a source next to any figure you publish.</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Decide what would change your mind before you look.</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Check the periods match before believing any comparison.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Repeating a number because it is in a previous deck</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Three documents agreeing usually means one source copied twice.</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Treating a hedge as a fact</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"About eight per cent, I think" becomes "8%" in the next slide.</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Looking for evidence after forming the view</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will find it. That is what confirmation bias reliably does.</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Comparing periods of different lengths</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most common bad comparison in any monthly pack anywhere.</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Challenging the person instead of the reasoning</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argument stops being about the number within one sentence.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to stop questioning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Would a better number change what we do?</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Let it go</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we would do the same thing whether it is six or ten per cent, precision is not worth a meeting. Note it as approximate and move on.</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Keep asking</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the decision turns on it, the number deserves a source and a date. Spend the hour — it is much cheaper than the wrong decision.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critical thinking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Ask where it came from, when it was true, and what would change your mind.</a:t>
            </a:r>
          </a:p>
          <a:p>
            <a:pPr algn="l">
              <a:lnSpc>
                <a:spcPts val="1755"/>
              </a:lnSpc>
              <a:spcBef>
                <a:spcPts val="0"/>
              </a:spcBef>
              <a:spcAft>
                <a:spcPts val="0"/>
              </a:spcAft>
            </a:pPr>
            <a:r>
              <a:rPr sz="1350" b="0">
                <a:solidFill>
                  <a:srgbClr val="FFFFFF"/>
                </a:solidFill>
                <a:latin typeface="Segoe UI"/>
              </a:rPr>
              <a:t>The third question is the one people skip, and the only one that works on your own reasoning.</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Where did it come from?</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When was it true?</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would change my mind?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Review meeting, Thursday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A slide shows returns dropping from 8 per cent to 5 per cent. Everyone is pleased. You notice the comparison is November against December.</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Say nothing — everyone is happy and you might be wrong.</a:t>
            </a:r>
          </a:p>
        </p:txBody>
      </p:sp>
      <p:cxnSp>
        <p:nvCxnSpPr>
          <p:cNvPr id="23" name="vis:choicearrow"/>
          <p:cNvCxnSpPr/>
          <p:nvPr/>
        </p:nvCxnSpPr>
        <p:spPr>
          <a:xfrm>
            <a:off x="758952"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whether the shorter December accounts for the drop.</a:t>
            </a:r>
          </a:p>
        </p:txBody>
      </p:sp>
      <p:cxnSp>
        <p:nvCxnSpPr>
          <p:cNvPr id="29" name="vis:choicearrow"/>
          <p:cNvCxnSpPr/>
          <p:nvPr/>
        </p:nvCxnSpPr>
        <p:spPr>
          <a:xfrm>
            <a:off x="4566818"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Email the analyst afterwards so nobody is put on the spot.</a:t>
            </a:r>
          </a:p>
        </p:txBody>
      </p:sp>
      <p:cxnSp>
        <p:nvCxnSpPr>
          <p:cNvPr id="35" name="vis:choicearrow"/>
          <p:cNvCxnSpPr/>
          <p:nvPr/>
        </p:nvCxnSpPr>
        <p:spPr>
          <a:xfrm>
            <a:off x="8374684"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The number goes into the quarterly pack</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repeated upwards, and a decision to reduce inspection follows in February. In March the rate is back at eight per cent, because it never actually fell. December simply had three working weeks in it.</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 unchallenged number travels upwards and gets harder to correct.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One question, and the pack gets fixed</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 might be missing something — December only has three working weeks. Does that account for most of it?" The analyst checks, agrees, and reissues with a like-for-like comparison. Nobody is embarrassed.</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Question the comparison, not the person, and do it in the room.</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Kind, and the room has already moved on</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Everyone left the meeting believing returns fell. The correction reaches one person, and the version in six people's heads is never updated. Sometimes right for a sensitive point; usually too late for a number.</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Correct a number in the room. Correct a person privately.</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Six minutes on checking claims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Improve your critical thinking skills in just 6 minutes | Alex Edmans for Big Think+</a:t>
            </a:r>
          </a:p>
        </p:txBody>
      </p:sp>
      <p:sp>
        <p:nvSpPr>
          <p:cNvPr id="19" name="vis:chip"/>
          <p:cNvSpPr/>
          <p:nvPr/>
        </p:nvSpPr>
        <p:spPr>
          <a:xfrm>
            <a:off x="868680" y="3858768"/>
            <a:ext cx="133375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02285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BIG THINK</a:t>
            </a:r>
          </a:p>
        </p:txBody>
      </p:sp>
      <p:sp>
        <p:nvSpPr>
          <p:cNvPr id="21" name="vis:chip"/>
          <p:cNvSpPr/>
          <p:nvPr/>
        </p:nvSpPr>
        <p:spPr>
          <a:xfrm>
            <a:off x="2348738" y="3858768"/>
            <a:ext cx="120484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504186" y="3895344"/>
            <a:ext cx="8939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6:12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The three questions above are the working version.</a:t>
            </a:r>
          </a:p>
        </p:txBody>
      </p:sp>
      <p:cxnSp>
        <p:nvCxnSpPr>
          <p:cNvPr id="35" name="vis:icon"/>
          <p:cNvCxnSpPr/>
          <p:nvPr/>
        </p:nvCxnSpPr>
        <p:spPr>
          <a:xfrm>
            <a:off x="8439424" y="3743919"/>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for why confirmation bias is so hard to notice.</a:t>
            </a:r>
          </a:p>
        </p:txBody>
      </p:sp>
      <p:cxnSp>
        <p:nvCxnSpPr>
          <p:cNvPr id="38" name="vis:icon"/>
          <p:cNvCxnSpPr/>
          <p:nvPr/>
        </p:nvCxnSpPr>
        <p:spPr>
          <a:xfrm>
            <a:off x="8439424" y="4859487"/>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question do people skip?</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Where did this come from?</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 would change my mind?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was this true?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Who said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Where did this come from?</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People do ask this, at least sometimes. It is also the easiest of the three, because it is about somebody else's work.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would change my mind?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What would change my mind?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the only one that works on your own reasoning, which is why it gets skipped. If no evidence would change your view, you are defending a position rather than holding a conclusion.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would change my mind?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When was this true?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Underused and still asked more often than the third. It is a comfortable question because it blames time rather than anyone's judgement.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would change my mind?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Who said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Frequently asked and the least useful of the four. Who said something tells you little about whether it is true.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would change my mind?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November against December. Problem?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 — both are single months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Yes — the working days differ substantially</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Only if the business is seasonal</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Only for financial figures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No — both are single months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Calendar months are not equal working periods. December often has three usable weeks against November's four and a half, which moves every total.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Different numbers of working days.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Yes — the working days differ substantially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drop caused by fewer working days is not an improvement. Compare like periods, or use a rate per working day rather than a monthly total.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Different numbers of working days.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Only if the business is seasonal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Seasonality is an additional problem. The working-day difference applies even in a business with no seasonal pattern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Different numbers of working days.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Only for financial figures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affects any volume-driven measure: rejects, dispatches, complaints, returns. Anything counted per period.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Different numbers of working days.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does a guess become a fact?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Somebody deliberately misrepresents it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"about, I think" is dropped when written down</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gets recalculated incorrectly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Managers demand certainty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Somebody deliberately misrepresents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Almost never deliberate. The hedge simply does not survive being put on a slide, because slides have no room for "about, I think".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hedge gets dropped in the retelling.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"about, I think" is dropped when written down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"About eight per cent, I think" becomes "8%" in a table. Two documents later it has a decimal place, and nobody remembers it began as a guess.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hedge gets dropped in the retelling.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gets recalculated incorrectly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Usually there was no calculation at any point. That is precisely the problem — there is nothing to recalculate.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hedge gets dropped in the retelling.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Managers demand certainty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contributes, and the mechanism is simpler. Hedges are dropped by the format, not by anyone's instruction.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hedge gets dropped in the retelling.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do you disagree well?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State plainly that the analysis is wrong</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Name one specific thing and ask a genuine question</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Raise it privately afterwards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the analyst to redo the whole thing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State plainly that the analysis is wrong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puts the analyst in a position where agreeing means losing face. The conversation stops being about the number almost immediately.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Question the reasoning, not the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Name one specific thing and ask a genuine question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 might be missing something — does the shorter December explain most of it?" is easy to answer either way, and keeps everybody working on the problem.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Question the reasoning, not the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Raise it privately afterwards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Right for anything about a person, and usually too late for a number. The room has already absorbed the wrong figure.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Question the reasoning, not the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 the analyst to redo the whole thing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Disproportionate to one comparison problem, and it wastes work that was probably sound apart from a single choice.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Question the reasoning, not the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is precision not worth chasing?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the number is small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we would act the same whether it is six or ten per cent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nobody has time to check</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it comes from a senior person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When the number is small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Small numbers can drive large decisions. Size is not the test.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the decision would be the same either way.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When we would act the same whether it is six or ten per cent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the decision does not change, precision buys nothing and costs a meeting. Note it as approximate and get on with the work.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the decision would be the same either way.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When nobody has time to check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Lack of time is a constraint, not a reason. If the decision turns on it, the hour is far cheaper than being wrong.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the decision would be the same either way.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When it comes from a senior person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Seniority does not create evidence. Senior estimates become folklore faster than anyone else's, precisely because they are less often questioned.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the decision would be the same either way.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Critical thinking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Three questions, every claim</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Where from, when true, and what would change my mind.</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Hedges vanish in writing</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"About eight, I think" becomes 8% two documents later.</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Decide the test before you look</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is the only reliable protection against finding what you expected.</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Check like with like</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Same period length, same definition, same scope, rate or total.</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Question reasoning, not people</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 might be missing something" costs nothing and keeps everyone working.</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Precision has a price</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If the decision would not change, note it as approximate and move on.</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A87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Where did it come from, when was it true, and what would change my mind?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55922" y="2403501"/>
            <a:ext cx="244971" cy="191717"/>
          </a:xfrm>
          <a:custGeom>
            <a:avLst/>
            <a:gdLst/>
            <a:ahLst/>
            <a:cxnLst/>
            <a:rect l="l" t="t" r="r" b="b"/>
            <a:pathLst>
              <a:path w="244971" h="191717">
                <a:moveTo>
                  <a:pt x="0" y="95858"/>
                </a:moveTo>
                <a:lnTo>
                  <a:pt x="122486" y="0"/>
                </a:lnTo>
                <a:lnTo>
                  <a:pt x="244971" y="95858"/>
                </a:lnTo>
                <a:lnTo>
                  <a:pt x="122486" y="191717"/>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is:icon"/>
          <p:cNvSpPr/>
          <p:nvPr/>
        </p:nvSpPr>
        <p:spPr>
          <a:xfrm>
            <a:off x="941129" y="2462081"/>
            <a:ext cx="74556" cy="74556"/>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three claim questions</a:t>
            </a:r>
          </a:p>
        </p:txBody>
      </p:sp>
      <p:sp>
        <p:nvSpPr>
          <p:cNvPr id="21"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Source, date, and what would change your mind.</a:t>
            </a:r>
          </a:p>
        </p:txBody>
      </p:sp>
      <p:sp>
        <p:nvSpPr>
          <p:cNvPr id="22"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66573" y="3305709"/>
            <a:ext cx="223669" cy="149113"/>
          </a:xfrm>
          <a:prstGeom prst="roundRect">
            <a:avLst>
              <a:gd name="adj" fmla="val 30661"/>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flipH="1">
            <a:off x="909176" y="3454822"/>
            <a:ext cx="10651" cy="5858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6" name="vis:icon"/>
          <p:cNvCxnSpPr/>
          <p:nvPr/>
        </p:nvCxnSpPr>
        <p:spPr>
          <a:xfrm flipV="1">
            <a:off x="909176" y="3454822"/>
            <a:ext cx="58581" cy="5858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7"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low-friction challenge</a:t>
            </a:r>
          </a:p>
        </p:txBody>
      </p:sp>
      <p:sp>
        <p:nvSpPr>
          <p:cNvPr id="28"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 might be missing something — can I check one thing?"</a:t>
            </a:r>
          </a:p>
        </p:txBody>
      </p:sp>
      <p:sp>
        <p:nvSpPr>
          <p:cNvPr id="29"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863910" y="4205254"/>
            <a:ext cx="37278" cy="3727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930478" y="4223894"/>
            <a:ext cx="165090"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3" name="vis:icon"/>
          <p:cNvSpPr/>
          <p:nvPr/>
        </p:nvSpPr>
        <p:spPr>
          <a:xfrm>
            <a:off x="863910" y="4285136"/>
            <a:ext cx="37278" cy="3727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930478" y="4303775"/>
            <a:ext cx="165090"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vis:icon"/>
          <p:cNvSpPr/>
          <p:nvPr/>
        </p:nvSpPr>
        <p:spPr>
          <a:xfrm>
            <a:off x="863910" y="4365018"/>
            <a:ext cx="37278" cy="3727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6" name="vis:icon"/>
          <p:cNvCxnSpPr/>
          <p:nvPr/>
        </p:nvCxnSpPr>
        <p:spPr>
          <a:xfrm>
            <a:off x="930478" y="4383657"/>
            <a:ext cx="165090"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7"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four comparison checks</a:t>
            </a:r>
          </a:p>
        </p:txBody>
      </p:sp>
      <p:sp>
        <p:nvSpPr>
          <p:cNvPr id="38"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Period, definition, scope, rate or total.</a:t>
            </a:r>
          </a:p>
        </p:txBody>
      </p:sp>
      <p:sp>
        <p:nvSpPr>
          <p:cNvPr id="39"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LINKS THAT WORK</a:t>
            </a:r>
          </a:p>
        </p:txBody>
      </p:sp>
      <p:sp>
        <p:nvSpPr>
          <p:cNvPr id="40"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339937" y="2300630"/>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8482584" y="2443276"/>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3"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4"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copilot.microsoft.com</a:t>
            </a:r>
          </a:p>
        </p:txBody>
      </p:sp>
      <p:sp>
        <p:nvSpPr>
          <p:cNvPr id="45"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icon"/>
          <p:cNvSpPr/>
          <p:nvPr/>
        </p:nvSpPr>
        <p:spPr>
          <a:xfrm>
            <a:off x="8339937" y="2977286"/>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7" name="vis:icon"/>
          <p:cNvCxnSpPr/>
          <p:nvPr/>
        </p:nvCxnSpPr>
        <p:spPr>
          <a:xfrm>
            <a:off x="8482584" y="3119932"/>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8"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9"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chatgpt.com</a:t>
            </a:r>
          </a:p>
        </p:txBody>
      </p:sp>
      <p:sp>
        <p:nvSpPr>
          <p:cNvPr id="50"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icon"/>
          <p:cNvSpPr/>
          <p:nvPr/>
        </p:nvSpPr>
        <p:spPr>
          <a:xfrm>
            <a:off x="8339937" y="3653942"/>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2" name="vis:icon"/>
          <p:cNvCxnSpPr/>
          <p:nvPr/>
        </p:nvCxnSpPr>
        <p:spPr>
          <a:xfrm>
            <a:off x="8482584" y="3796588"/>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53"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4"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gemini.google.com</a:t>
            </a:r>
          </a:p>
        </p:txBody>
      </p:sp>
      <p:sp>
        <p:nvSpPr>
          <p:cNvPr id="55"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6"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DO THIS NEXT</a:t>
            </a:r>
          </a:p>
        </p:txBody>
      </p:sp>
      <p:sp>
        <p:nvSpPr>
          <p:cNvPr id="57"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PS-08, Presentation Skills. Standing up and saying it, including when you are interrupted on slide three.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PS-07  ·  Critical Thinking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Assertion</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claim stated without evidence. Often true, and not yet demonstrated.</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Confirmation bias</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Noticing evidence that fits your view and not registering the rest.</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Recency bias</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Treating the most recent event as a trend, and quiet periods as nothing.</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Like-for-like</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comparison where period, definition and scope are all the same.</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Folklore</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number everybody repeats that nobody can trace to a source.</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Falsification</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Deciding in advance what evidence would show you are wrong.</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