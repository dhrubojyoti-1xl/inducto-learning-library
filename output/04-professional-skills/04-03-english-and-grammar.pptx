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slide" Target="slide11.xml"/><Relationship Id="rId6" Type="http://schemas.openxmlformats.org/officeDocument/2006/relationships/slide" Target="slide13.xml"/><Relationship Id="rId7" Type="http://schemas.openxmlformats.org/officeDocument/2006/relationships/slide" Target="slide18.xml"/><Relationship Id="rId8" Type="http://schemas.openxmlformats.org/officeDocument/2006/relationships/slide" Target="slide22.xml"/><Relationship Id="rId9" Type="http://schemas.openxmlformats.org/officeDocument/2006/relationships/slide" Target="slide23.xml"/><Relationship Id="rId10" Type="http://schemas.openxmlformats.org/officeDocument/2006/relationships/slide" Target="slide48.xml"/><Relationship Id="rId11" Type="http://schemas.openxmlformats.org/officeDocument/2006/relationships/slide" Target="slide4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8.xml"/><Relationship Id="rId3" Type="http://schemas.openxmlformats.org/officeDocument/2006/relationships/slide" Target="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8.xml"/><Relationship Id="rId3" Type="http://schemas.openxmlformats.org/officeDocument/2006/relationships/slide" Target="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8.xml"/><Relationship Id="rId3" Type="http://schemas.openxmlformats.org/officeDocument/2006/relationships/slide" Target="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QNZ8uty99Fc" TargetMode="External"/><Relationship Id="rId3" Type="http://schemas.openxmlformats.org/officeDocument/2006/relationships/slide" Target="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24.xml"/><Relationship Id="rId4" Type="http://schemas.openxmlformats.org/officeDocument/2006/relationships/slide" Target="slide25.xml"/><Relationship Id="rId5" Type="http://schemas.openxmlformats.org/officeDocument/2006/relationships/slide" Target="slide26.xml"/><Relationship Id="rId6" Type="http://schemas.openxmlformats.org/officeDocument/2006/relationships/slide" Target="slide2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3.xml"/><Relationship Id="rId3" Type="http://schemas.openxmlformats.org/officeDocument/2006/relationships/slide" Target="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8.xml"/><Relationship Id="rId3" Type="http://schemas.openxmlformats.org/officeDocument/2006/relationships/slide" Target="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3.xml"/><Relationship Id="rId3" Type="http://schemas.openxmlformats.org/officeDocument/2006/relationships/slide" Target="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3.xml"/><Relationship Id="rId3" Type="http://schemas.openxmlformats.org/officeDocument/2006/relationships/slide" Target="slide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29.xml"/><Relationship Id="rId4" Type="http://schemas.openxmlformats.org/officeDocument/2006/relationships/slide" Target="slide30.xml"/><Relationship Id="rId5" Type="http://schemas.openxmlformats.org/officeDocument/2006/relationships/slide" Target="slide31.xml"/><Relationship Id="rId6" Type="http://schemas.openxmlformats.org/officeDocument/2006/relationships/slide" Target="slide3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8.xml"/><Relationship Id="rId3" Type="http://schemas.openxmlformats.org/officeDocument/2006/relationships/slide" Target="slide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3.xml"/><Relationship Id="rId3" Type="http://schemas.openxmlformats.org/officeDocument/2006/relationships/slide" Target="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8.xml"/><Relationship Id="rId3" Type="http://schemas.openxmlformats.org/officeDocument/2006/relationships/slide" Target="slide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8.xml"/><Relationship Id="rId3" Type="http://schemas.openxmlformats.org/officeDocument/2006/relationships/slide" Target="slide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34.xml"/><Relationship Id="rId4" Type="http://schemas.openxmlformats.org/officeDocument/2006/relationships/slide" Target="slide35.xml"/><Relationship Id="rId5" Type="http://schemas.openxmlformats.org/officeDocument/2006/relationships/slide" Target="slide36.xml"/><Relationship Id="rId6" Type="http://schemas.openxmlformats.org/officeDocument/2006/relationships/slide" Target="slide3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3.xml"/><Relationship Id="rId3" Type="http://schemas.openxmlformats.org/officeDocument/2006/relationships/slide" Target="slide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Relationship Id="rId3" Type="http://schemas.openxmlformats.org/officeDocument/2006/relationships/slide" Target="slide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3.xml"/><Relationship Id="rId3" Type="http://schemas.openxmlformats.org/officeDocument/2006/relationships/slide" Target="slide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3.xml"/><Relationship Id="rId3" Type="http://schemas.openxmlformats.org/officeDocument/2006/relationships/slide" Target="slide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39.xml"/><Relationship Id="rId4" Type="http://schemas.openxmlformats.org/officeDocument/2006/relationships/slide" Target="slide40.xml"/><Relationship Id="rId5" Type="http://schemas.openxmlformats.org/officeDocument/2006/relationships/slide" Target="slide41.xml"/><Relationship Id="rId6" Type="http://schemas.openxmlformats.org/officeDocument/2006/relationships/slide" Target="slide4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Relationship Id="rId3" Type="http://schemas.openxmlformats.org/officeDocument/2006/relationships/slide" Target="slide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3.xml"/><Relationship Id="rId3" Type="http://schemas.openxmlformats.org/officeDocument/2006/relationships/slide" Target="slide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Relationship Id="rId3" Type="http://schemas.openxmlformats.org/officeDocument/2006/relationships/slide" Target="slide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Relationship Id="rId3" Type="http://schemas.openxmlformats.org/officeDocument/2006/relationships/slide" Target="slide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44.xml"/><Relationship Id="rId4" Type="http://schemas.openxmlformats.org/officeDocument/2006/relationships/slide" Target="slide45.xml"/><Relationship Id="rId5" Type="http://schemas.openxmlformats.org/officeDocument/2006/relationships/slide" Target="slide46.xml"/><Relationship Id="rId6" Type="http://schemas.openxmlformats.org/officeDocument/2006/relationships/slide" Target="slide4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3.xml"/><Relationship Id="rId3" Type="http://schemas.openxmlformats.org/officeDocument/2006/relationships/slide" Target="slide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8.xml"/><Relationship Id="rId3" Type="http://schemas.openxmlformats.org/officeDocument/2006/relationships/slide" Target="slide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3.xml"/><Relationship Id="rId3" Type="http://schemas.openxmlformats.org/officeDocument/2006/relationships/slide" Target="slide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3.xml"/><Relationship Id="rId3" Type="http://schemas.openxmlformats.org/officeDocument/2006/relationships/slide" Target="slide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pilot.microsoft.com" TargetMode="External"/><Relationship Id="rId3" Type="http://schemas.openxmlformats.org/officeDocument/2006/relationships/hyperlink" Target="https://chatgpt.com" TargetMode="External"/><Relationship Id="rId4" Type="http://schemas.openxmlformats.org/officeDocument/2006/relationships/hyperlink" Target="https://gemini.google.com" TargetMode="External"/><Relationship Id="rId5" Type="http://schemas.openxmlformats.org/officeDocument/2006/relationships/slide" Target="slide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s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vis:coverspine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vis:coverblock"/>
          <p:cNvSpPr/>
          <p:nvPr/>
        </p:nvSpPr>
        <p:spPr>
          <a:xfrm>
            <a:off x="7589520" y="2509113"/>
            <a:ext cx="729691" cy="627534"/>
          </a:xfrm>
          <a:prstGeom prst="roundRect">
            <a:avLst>
              <a:gd name="adj" fmla="val 14571"/>
            </a:avLst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5" name="vis:coverline"/>
          <p:cNvCxnSpPr/>
          <p:nvPr/>
        </p:nvCxnSpPr>
        <p:spPr>
          <a:xfrm flipV="1">
            <a:off x="8355787" y="2493696"/>
            <a:ext cx="234086" cy="329184"/>
          </a:xfrm>
          <a:prstGeom prst="line">
            <a:avLst/>
          </a:prstGeom>
          <a:ln w="12700">
            <a:solidFill>
              <a:srgbClr val="5B67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vis:coverblock"/>
          <p:cNvSpPr/>
          <p:nvPr/>
        </p:nvSpPr>
        <p:spPr>
          <a:xfrm>
            <a:off x="8626449" y="2838297"/>
            <a:ext cx="729691" cy="627534"/>
          </a:xfrm>
          <a:prstGeom prst="roundRect">
            <a:avLst>
              <a:gd name="adj" fmla="val 14571"/>
            </a:avLst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7" name="vis:coverline"/>
          <p:cNvCxnSpPr/>
          <p:nvPr/>
        </p:nvCxnSpPr>
        <p:spPr>
          <a:xfrm>
            <a:off x="9392716" y="3152064"/>
            <a:ext cx="234087" cy="329184"/>
          </a:xfrm>
          <a:prstGeom prst="line">
            <a:avLst/>
          </a:prstGeom>
          <a:ln w="12700">
            <a:solidFill>
              <a:srgbClr val="5B67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vis:coverblock"/>
          <p:cNvSpPr/>
          <p:nvPr/>
        </p:nvSpPr>
        <p:spPr>
          <a:xfrm>
            <a:off x="9663379" y="2509113"/>
            <a:ext cx="729691" cy="627534"/>
          </a:xfrm>
          <a:prstGeom prst="roundRect">
            <a:avLst>
              <a:gd name="adj" fmla="val 14571"/>
            </a:avLst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coverline"/>
          <p:cNvCxnSpPr/>
          <p:nvPr/>
        </p:nvCxnSpPr>
        <p:spPr>
          <a:xfrm flipV="1">
            <a:off x="10429646" y="2493696"/>
            <a:ext cx="234086" cy="329184"/>
          </a:xfrm>
          <a:prstGeom prst="line">
            <a:avLst/>
          </a:prstGeom>
          <a:ln w="12700">
            <a:solidFill>
              <a:srgbClr val="5B67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coverblock"/>
          <p:cNvSpPr/>
          <p:nvPr/>
        </p:nvSpPr>
        <p:spPr>
          <a:xfrm>
            <a:off x="10700308" y="2838297"/>
            <a:ext cx="729691" cy="627534"/>
          </a:xfrm>
          <a:prstGeom prst="roundRect">
            <a:avLst>
              <a:gd name="adj" fmla="val 14571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seclabel"/>
          <p:cNvSpPr txBox="1"/>
          <p:nvPr/>
        </p:nvSpPr>
        <p:spPr>
          <a:xfrm>
            <a:off x="960120" y="932434"/>
            <a:ext cx="5501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AA8745"/>
                </a:solidFill>
                <a:latin typeface="Segoe UI Semibold"/>
              </a:rPr>
              <a:t>PROFESSIONAL SKILLS</a:t>
            </a:r>
          </a:p>
        </p:txBody>
      </p:sp>
      <p:sp>
        <p:nvSpPr>
          <p:cNvPr id="12" name="title:cover"/>
          <p:cNvSpPr txBox="1"/>
          <p:nvPr/>
        </p:nvSpPr>
        <p:spPr>
          <a:xfrm>
            <a:off x="960120" y="1389634"/>
            <a:ext cx="5501487" cy="150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72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FFFFF"/>
                </a:solidFill>
                <a:latin typeface="Segoe UI Semibold"/>
              </a:rPr>
              <a:t>English for the Workplace</a:t>
            </a:r>
          </a:p>
        </p:txBody>
      </p:sp>
      <p:cxnSp>
        <p:nvCxnSpPr>
          <p:cNvPr id="13" name="vis:rule"/>
          <p:cNvCxnSpPr/>
          <p:nvPr/>
        </p:nvCxnSpPr>
        <p:spPr>
          <a:xfrm>
            <a:off x="960120" y="3171698"/>
            <a:ext cx="3606698" cy="0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body:coversub"/>
          <p:cNvSpPr txBox="1"/>
          <p:nvPr/>
        </p:nvSpPr>
        <p:spPr>
          <a:xfrm>
            <a:off x="960120" y="3446018"/>
            <a:ext cx="5501487" cy="1144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The handful of patterns that cause almost every misunderstanding at work — and how to sidestep them.</a:t>
            </a:r>
          </a:p>
        </p:txBody>
      </p:sp>
      <p:sp>
        <p:nvSpPr>
          <p:cNvPr id="15" name="vis:chip"/>
          <p:cNvSpPr/>
          <p:nvPr/>
        </p:nvSpPr>
        <p:spPr>
          <a:xfrm>
            <a:off x="960120" y="4992878"/>
            <a:ext cx="961009" cy="310896"/>
          </a:xfrm>
          <a:prstGeom prst="roundRect">
            <a:avLst>
              <a:gd name="adj" fmla="val 14705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chiptext"/>
          <p:cNvSpPr txBox="1"/>
          <p:nvPr/>
        </p:nvSpPr>
        <p:spPr>
          <a:xfrm>
            <a:off x="1115568" y="5038598"/>
            <a:ext cx="650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PS-03</a:t>
            </a:r>
          </a:p>
        </p:txBody>
      </p:sp>
      <p:sp>
        <p:nvSpPr>
          <p:cNvPr id="17" name="vis:chip"/>
          <p:cNvSpPr/>
          <p:nvPr/>
        </p:nvSpPr>
        <p:spPr>
          <a:xfrm>
            <a:off x="2067433" y="4992878"/>
            <a:ext cx="1453134" cy="310896"/>
          </a:xfrm>
          <a:prstGeom prst="roundRect">
            <a:avLst>
              <a:gd name="adj" fmla="val 14705"/>
            </a:avLst>
          </a:prstGeom>
          <a:noFill/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chiptext"/>
          <p:cNvSpPr txBox="1"/>
          <p:nvPr/>
        </p:nvSpPr>
        <p:spPr>
          <a:xfrm>
            <a:off x="2222881" y="5038598"/>
            <a:ext cx="11422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C9D1DE"/>
                </a:solidFill>
                <a:latin typeface="Segoe UI Semibold"/>
              </a:rPr>
              <a:t>17 MINUTES</a:t>
            </a:r>
          </a:p>
        </p:txBody>
      </p:sp>
      <p:sp>
        <p:nvSpPr>
          <p:cNvPr id="19" name="vis:chip"/>
          <p:cNvSpPr/>
          <p:nvPr/>
        </p:nvSpPr>
        <p:spPr>
          <a:xfrm>
            <a:off x="3666871" y="4992878"/>
            <a:ext cx="2302029" cy="310896"/>
          </a:xfrm>
          <a:prstGeom prst="roundRect">
            <a:avLst>
              <a:gd name="adj" fmla="val 14705"/>
            </a:avLst>
          </a:prstGeom>
          <a:noFill/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chiptext"/>
          <p:cNvSpPr txBox="1"/>
          <p:nvPr/>
        </p:nvSpPr>
        <p:spPr>
          <a:xfrm>
            <a:off x="3822319" y="5038598"/>
            <a:ext cx="1991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C9D1DE"/>
                </a:solidFill>
                <a:latin typeface="Segoe UI Semibold"/>
              </a:rPr>
              <a:t>NEW JOINERS + STAFF</a:t>
            </a:r>
          </a:p>
        </p:txBody>
      </p:sp>
      <p:sp>
        <p:nvSpPr>
          <p:cNvPr id="21" name="cell:coverhint"/>
          <p:cNvSpPr txBox="1"/>
          <p:nvPr/>
        </p:nvSpPr>
        <p:spPr>
          <a:xfrm>
            <a:off x="960120" y="5724144"/>
            <a:ext cx="550148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Start here  →  the next slide shows what this saves you.</a:t>
            </a:r>
          </a:p>
        </p:txBody>
      </p:sp>
      <p:sp>
        <p:nvSpPr>
          <p:cNvPr id="22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Inducto Learning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WHY THIS MATTERS TO YOU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Sneha's update is read two ways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tory"/>
          <p:cNvSpPr/>
          <p:nvPr/>
        </p:nvSpPr>
        <p:spPr>
          <a:xfrm>
            <a:off x="502920" y="1719072"/>
            <a:ext cx="6448882" cy="3273552"/>
          </a:xfrm>
          <a:prstGeom prst="roundRect">
            <a:avLst>
              <a:gd name="adj" fmla="val 2793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storyspine"/>
          <p:cNvSpPr/>
          <p:nvPr/>
        </p:nvSpPr>
        <p:spPr>
          <a:xfrm>
            <a:off x="502920" y="1719072"/>
            <a:ext cx="68580" cy="327355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badge"/>
          <p:cNvSpPr/>
          <p:nvPr/>
        </p:nvSpPr>
        <p:spPr>
          <a:xfrm>
            <a:off x="813816" y="2029967"/>
            <a:ext cx="694944" cy="694944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icon"/>
          <p:cNvSpPr/>
          <p:nvPr/>
        </p:nvSpPr>
        <p:spPr>
          <a:xfrm>
            <a:off x="1009512" y="2247346"/>
            <a:ext cx="303551" cy="202367"/>
          </a:xfrm>
          <a:prstGeom prst="roundRect">
            <a:avLst>
              <a:gd name="adj" fmla="val 22592"/>
            </a:avLst>
          </a:prstGeom>
          <a:noFill/>
          <a:ln w="1905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 flipH="1">
            <a:off x="1067331" y="2449714"/>
            <a:ext cx="14455" cy="79501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s:icon"/>
          <p:cNvCxnSpPr/>
          <p:nvPr/>
        </p:nvCxnSpPr>
        <p:spPr>
          <a:xfrm flipV="1">
            <a:off x="1067331" y="2449714"/>
            <a:ext cx="79502" cy="79501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body:scenario"/>
          <p:cNvSpPr txBox="1"/>
          <p:nvPr/>
        </p:nvSpPr>
        <p:spPr>
          <a:xfrm>
            <a:off x="813816" y="2944368"/>
            <a:ext cx="5827090" cy="1792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Sneha supervises a line near Pune. She writes: "The machine is running since morning." Her manager reads it as "it has been running all morning". The night supervisor reads it as "it started this morning after being down".</a:t>
            </a:r>
          </a:p>
        </p:txBody>
      </p:sp>
      <p:sp>
        <p:nvSpPr>
          <p:cNvPr id="22" name="vis:cost"/>
          <p:cNvSpPr/>
          <p:nvPr/>
        </p:nvSpPr>
        <p:spPr>
          <a:xfrm>
            <a:off x="502920" y="5230368"/>
            <a:ext cx="644888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costspine"/>
          <p:cNvSpPr/>
          <p:nvPr/>
        </p:nvSpPr>
        <p:spPr>
          <a:xfrm>
            <a:off x="502920" y="5230368"/>
            <a:ext cx="68580" cy="78638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icon"/>
          <p:cNvSpPr/>
          <p:nvPr/>
        </p:nvSpPr>
        <p:spPr>
          <a:xfrm>
            <a:off x="826983" y="5478719"/>
            <a:ext cx="302849" cy="276514"/>
          </a:xfrm>
          <a:custGeom>
            <a:avLst/>
            <a:gdLst/>
            <a:ahLst/>
            <a:cxnLst/>
            <a:rect l="l" t="t" r="r" b="b"/>
            <a:pathLst>
              <a:path w="302849" h="276514">
                <a:moveTo>
                  <a:pt x="151425" y="0"/>
                </a:moveTo>
                <a:lnTo>
                  <a:pt x="302849" y="276514"/>
                </a:lnTo>
                <a:lnTo>
                  <a:pt x="0" y="276514"/>
                </a:lnTo>
                <a:close/>
              </a:path>
            </a:pathLst>
          </a:custGeom>
          <a:noFill/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vis:icon"/>
          <p:cNvCxnSpPr/>
          <p:nvPr/>
        </p:nvCxnSpPr>
        <p:spPr>
          <a:xfrm>
            <a:off x="978408" y="5584057"/>
            <a:ext cx="0" cy="82296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s:icon"/>
          <p:cNvSpPr/>
          <p:nvPr/>
        </p:nvSpPr>
        <p:spPr>
          <a:xfrm>
            <a:off x="961948" y="5695980"/>
            <a:ext cx="32918" cy="3291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body:cost"/>
          <p:cNvSpPr txBox="1"/>
          <p:nvPr/>
        </p:nvSpPr>
        <p:spPr>
          <a:xfrm>
            <a:off x="1362456" y="5358383"/>
            <a:ext cx="531502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62828"/>
                </a:solidFill>
                <a:latin typeface="Segoe UI Semibold"/>
              </a:rPr>
              <a:t>Two people planning around two different situations.</a:t>
            </a:r>
          </a:p>
        </p:txBody>
      </p:sp>
      <p:sp>
        <p:nvSpPr>
          <p:cNvPr id="28" name="vis:fix"/>
          <p:cNvSpPr/>
          <p:nvPr/>
        </p:nvSpPr>
        <p:spPr>
          <a:xfrm>
            <a:off x="8082076" y="1719072"/>
            <a:ext cx="3606698" cy="4297680"/>
          </a:xfrm>
          <a:prstGeom prst="roundRect">
            <a:avLst>
              <a:gd name="adj" fmla="val 253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seclabel"/>
          <p:cNvSpPr txBox="1"/>
          <p:nvPr/>
        </p:nvSpPr>
        <p:spPr>
          <a:xfrm>
            <a:off x="8411260" y="2066543"/>
            <a:ext cx="29483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AA8745"/>
                </a:solidFill>
                <a:latin typeface="Segoe UI Semibold"/>
              </a:rPr>
              <a:t>AFTER THIS MODULE</a:t>
            </a:r>
          </a:p>
        </p:txBody>
      </p:sp>
      <p:cxnSp>
        <p:nvCxnSpPr>
          <p:cNvPr id="30" name="vis:rule"/>
          <p:cNvCxnSpPr/>
          <p:nvPr/>
        </p:nvCxnSpPr>
        <p:spPr>
          <a:xfrm>
            <a:off x="8411260" y="2505456"/>
            <a:ext cx="2948331" cy="0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body:fix"/>
          <p:cNvSpPr txBox="1"/>
          <p:nvPr/>
        </p:nvSpPr>
        <p:spPr>
          <a:xfrm>
            <a:off x="8411260" y="2724912"/>
            <a:ext cx="294833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Segoe UI Semibold"/>
              </a:rPr>
              <a:t>Six patterns, and a habit of writing one idea per sentence.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WHAT YOU'LL BE ABLE TO DO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By the end, you can do these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outcome"/>
          <p:cNvSpPr/>
          <p:nvPr/>
        </p:nvSpPr>
        <p:spPr>
          <a:xfrm>
            <a:off x="502920" y="1719072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badge"/>
          <p:cNvSpPr/>
          <p:nvPr/>
        </p:nvSpPr>
        <p:spPr>
          <a:xfrm>
            <a:off x="777240" y="17922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936886" y="1969559"/>
            <a:ext cx="247634" cy="165089"/>
          </a:xfrm>
          <a:prstGeom prst="roundRect">
            <a:avLst>
              <a:gd name="adj" fmla="val 27694"/>
            </a:avLst>
          </a:prstGeom>
          <a:noFill/>
          <a:ln w="1905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 flipH="1">
            <a:off x="984055" y="2134648"/>
            <a:ext cx="11792" cy="64857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s:icon"/>
          <p:cNvCxnSpPr/>
          <p:nvPr/>
        </p:nvCxnSpPr>
        <p:spPr>
          <a:xfrm flipV="1">
            <a:off x="984055" y="2134648"/>
            <a:ext cx="64856" cy="64857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ell:outcome"/>
          <p:cNvSpPr txBox="1"/>
          <p:nvPr/>
        </p:nvSpPr>
        <p:spPr>
          <a:xfrm>
            <a:off x="1545336" y="1828800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Write one idea per sentence, without sounding blunt</a:t>
            </a:r>
          </a:p>
        </p:txBody>
      </p:sp>
      <p:sp>
        <p:nvSpPr>
          <p:cNvPr id="21" name="vis:outcome"/>
          <p:cNvSpPr/>
          <p:nvPr/>
        </p:nvSpPr>
        <p:spPr>
          <a:xfrm>
            <a:off x="502920" y="2615184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badge"/>
          <p:cNvSpPr/>
          <p:nvPr/>
        </p:nvSpPr>
        <p:spPr>
          <a:xfrm>
            <a:off x="777240" y="268833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icon"/>
          <p:cNvSpPr/>
          <p:nvPr/>
        </p:nvSpPr>
        <p:spPr>
          <a:xfrm>
            <a:off x="930990" y="2842086"/>
            <a:ext cx="259426" cy="259426"/>
          </a:xfrm>
          <a:prstGeom prst="ellipse">
            <a:avLst/>
          </a:prstGeom>
          <a:noFill/>
          <a:ln w="1905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4" name="vis:icon"/>
          <p:cNvCxnSpPr/>
          <p:nvPr/>
        </p:nvCxnSpPr>
        <p:spPr>
          <a:xfrm flipV="1">
            <a:off x="1060704" y="2895151"/>
            <a:ext cx="0" cy="76649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s:icon"/>
          <p:cNvCxnSpPr/>
          <p:nvPr/>
        </p:nvCxnSpPr>
        <p:spPr>
          <a:xfrm>
            <a:off x="1060704" y="2971800"/>
            <a:ext cx="64856" cy="23584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ell:outcome"/>
          <p:cNvSpPr txBox="1"/>
          <p:nvPr/>
        </p:nvSpPr>
        <p:spPr>
          <a:xfrm>
            <a:off x="1545336" y="2724912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Use the tense that removes ambiguity about time</a:t>
            </a:r>
          </a:p>
        </p:txBody>
      </p:sp>
      <p:sp>
        <p:nvSpPr>
          <p:cNvPr id="27" name="vis:outcome"/>
          <p:cNvSpPr/>
          <p:nvPr/>
        </p:nvSpPr>
        <p:spPr>
          <a:xfrm>
            <a:off x="502920" y="3511296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badge"/>
          <p:cNvSpPr/>
          <p:nvPr/>
        </p:nvSpPr>
        <p:spPr>
          <a:xfrm>
            <a:off x="777240" y="35844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icon"/>
          <p:cNvSpPr/>
          <p:nvPr/>
        </p:nvSpPr>
        <p:spPr>
          <a:xfrm>
            <a:off x="925094" y="3761783"/>
            <a:ext cx="271219" cy="212257"/>
          </a:xfrm>
          <a:custGeom>
            <a:avLst/>
            <a:gdLst/>
            <a:ahLst/>
            <a:cxnLst/>
            <a:rect l="l" t="t" r="r" b="b"/>
            <a:pathLst>
              <a:path w="271219" h="212257">
                <a:moveTo>
                  <a:pt x="0" y="106128"/>
                </a:moveTo>
                <a:lnTo>
                  <a:pt x="135610" y="0"/>
                </a:lnTo>
                <a:lnTo>
                  <a:pt x="271219" y="106128"/>
                </a:lnTo>
                <a:lnTo>
                  <a:pt x="135610" y="212257"/>
                </a:lnTo>
                <a:close/>
              </a:path>
            </a:pathLst>
          </a:custGeom>
          <a:noFill/>
          <a:ln w="1905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s:icon"/>
          <p:cNvSpPr/>
          <p:nvPr/>
        </p:nvSpPr>
        <p:spPr>
          <a:xfrm>
            <a:off x="1019431" y="3826639"/>
            <a:ext cx="82544" cy="82544"/>
          </a:xfrm>
          <a:prstGeom prst="ellipse">
            <a:avLst/>
          </a:prstGeom>
          <a:noFill/>
          <a:ln w="1905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cell:outcome"/>
          <p:cNvSpPr txBox="1"/>
          <p:nvPr/>
        </p:nvSpPr>
        <p:spPr>
          <a:xfrm>
            <a:off x="1545336" y="3621024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Spot the six patterns that cause most confusion at work</a:t>
            </a:r>
          </a:p>
        </p:txBody>
      </p:sp>
      <p:sp>
        <p:nvSpPr>
          <p:cNvPr id="32" name="vis:outcome"/>
          <p:cNvSpPr/>
          <p:nvPr/>
        </p:nvSpPr>
        <p:spPr>
          <a:xfrm>
            <a:off x="502920" y="4407408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badge"/>
          <p:cNvSpPr/>
          <p:nvPr/>
        </p:nvSpPr>
        <p:spPr>
          <a:xfrm>
            <a:off x="777240" y="44805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4" name="vis:icon"/>
          <p:cNvCxnSpPr/>
          <p:nvPr/>
        </p:nvCxnSpPr>
        <p:spPr>
          <a:xfrm>
            <a:off x="954575" y="4769920"/>
            <a:ext cx="76648" cy="76648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vis:icon"/>
          <p:cNvCxnSpPr/>
          <p:nvPr/>
        </p:nvCxnSpPr>
        <p:spPr>
          <a:xfrm flipV="1">
            <a:off x="1031223" y="4681479"/>
            <a:ext cx="141505" cy="165089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ell:outcome"/>
          <p:cNvSpPr txBox="1"/>
          <p:nvPr/>
        </p:nvSpPr>
        <p:spPr>
          <a:xfrm>
            <a:off x="1545336" y="4517136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Proofread your own writing in under a minute</a:t>
            </a:r>
          </a:p>
        </p:txBody>
      </p:sp>
      <p:sp>
        <p:nvSpPr>
          <p:cNvPr id="37" name="vis:outcome"/>
          <p:cNvSpPr/>
          <p:nvPr/>
        </p:nvSpPr>
        <p:spPr>
          <a:xfrm>
            <a:off x="502920" y="5303520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vis:badge"/>
          <p:cNvSpPr/>
          <p:nvPr/>
        </p:nvSpPr>
        <p:spPr>
          <a:xfrm>
            <a:off x="777240" y="537667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icon"/>
          <p:cNvSpPr/>
          <p:nvPr/>
        </p:nvSpPr>
        <p:spPr>
          <a:xfrm>
            <a:off x="1004691" y="5533370"/>
            <a:ext cx="112024" cy="112024"/>
          </a:xfrm>
          <a:prstGeom prst="ellipse">
            <a:avLst/>
          </a:prstGeom>
          <a:noFill/>
          <a:ln w="1905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vis:icon"/>
          <p:cNvSpPr/>
          <p:nvPr/>
        </p:nvSpPr>
        <p:spPr>
          <a:xfrm>
            <a:off x="942782" y="5689616"/>
            <a:ext cx="235843" cy="103181"/>
          </a:xfrm>
          <a:custGeom>
            <a:avLst/>
            <a:gdLst/>
            <a:ahLst/>
            <a:cxnLst/>
            <a:rect l="l" t="t" r="r" b="b"/>
            <a:pathLst>
              <a:path w="235843" h="103181">
                <a:moveTo>
                  <a:pt x="0" y="103181"/>
                </a:moveTo>
                <a:lnTo>
                  <a:pt x="17689" y="0"/>
                </a:lnTo>
                <a:lnTo>
                  <a:pt x="218154" y="0"/>
                </a:lnTo>
                <a:lnTo>
                  <a:pt x="235843" y="103181"/>
                </a:lnTo>
              </a:path>
            </a:pathLst>
          </a:custGeom>
          <a:noFill/>
          <a:ln w="1905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ell:outcome"/>
          <p:cNvSpPr txBox="1"/>
          <p:nvPr/>
        </p:nvSpPr>
        <p:spPr>
          <a:xfrm>
            <a:off x="1545336" y="5413248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Sound polite without adding words that hide the meaning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INTERACTIVE MENU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Tap any line to jump straight there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cell:menuhint"/>
          <p:cNvSpPr txBox="1"/>
          <p:nvPr/>
        </p:nvSpPr>
        <p:spPr>
          <a:xfrm>
            <a:off x="502920" y="155448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Every slide has a Menu button in the top-right corner to bring you back here.</a:t>
            </a:r>
          </a:p>
        </p:txBody>
      </p:sp>
      <p:sp>
        <p:nvSpPr>
          <p:cNvPr id="8" name="nav:menurow">
            <a:hlinkClick action="ppaction://hlinksldjump" r:id="rId2"/>
          </p:cNvPr>
          <p:cNvSpPr/>
          <p:nvPr/>
        </p:nvSpPr>
        <p:spPr>
          <a:xfrm>
            <a:off x="502920" y="1828800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vis:menubar"/>
          <p:cNvSpPr/>
          <p:nvPr/>
        </p:nvSpPr>
        <p:spPr>
          <a:xfrm>
            <a:off x="502920" y="1828800"/>
            <a:ext cx="68580" cy="336499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vis:menunum"/>
          <p:cNvSpPr txBox="1"/>
          <p:nvPr/>
        </p:nvSpPr>
        <p:spPr>
          <a:xfrm>
            <a:off x="813816" y="1883664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5A00"/>
                </a:solidFill>
                <a:latin typeface="Segoe UI Semibold"/>
              </a:rPr>
              <a:t>01</a:t>
            </a:r>
          </a:p>
        </p:txBody>
      </p:sp>
      <p:sp>
        <p:nvSpPr>
          <p:cNvPr id="11" name="cell:menulabel"/>
          <p:cNvSpPr txBox="1"/>
          <p:nvPr/>
        </p:nvSpPr>
        <p:spPr>
          <a:xfrm>
            <a:off x="1344168" y="1883664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One idea per sentence</a:t>
            </a:r>
          </a:p>
        </p:txBody>
      </p:sp>
      <p:sp>
        <p:nvSpPr>
          <p:cNvPr id="12" name="cell:menusub"/>
          <p:cNvSpPr txBox="1"/>
          <p:nvPr/>
        </p:nvSpPr>
        <p:spPr>
          <a:xfrm>
            <a:off x="7134682" y="1883664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single biggest win</a:t>
            </a:r>
          </a:p>
        </p:txBody>
      </p:sp>
      <p:cxnSp>
        <p:nvCxnSpPr>
          <p:cNvPr id="13" name="vis:menuarrow"/>
          <p:cNvCxnSpPr/>
          <p:nvPr/>
        </p:nvCxnSpPr>
        <p:spPr>
          <a:xfrm>
            <a:off x="11213287" y="1997049"/>
            <a:ext cx="219456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row">
            <a:hlinkClick action="ppaction://hlinksldjump" r:id="rId3"/>
          </p:cNvPr>
          <p:cNvSpPr/>
          <p:nvPr/>
        </p:nvSpPr>
        <p:spPr>
          <a:xfrm>
            <a:off x="502920" y="2256739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menubar"/>
          <p:cNvSpPr/>
          <p:nvPr/>
        </p:nvSpPr>
        <p:spPr>
          <a:xfrm>
            <a:off x="502920" y="2256739"/>
            <a:ext cx="68580" cy="336499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menunum"/>
          <p:cNvSpPr txBox="1"/>
          <p:nvPr/>
        </p:nvSpPr>
        <p:spPr>
          <a:xfrm>
            <a:off x="813816" y="2311603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5A00"/>
                </a:solidFill>
                <a:latin typeface="Segoe UI Semibold"/>
              </a:rPr>
              <a:t>02</a:t>
            </a:r>
          </a:p>
        </p:txBody>
      </p:sp>
      <p:sp>
        <p:nvSpPr>
          <p:cNvPr id="17" name="cell:menulabel"/>
          <p:cNvSpPr txBox="1"/>
          <p:nvPr/>
        </p:nvSpPr>
        <p:spPr>
          <a:xfrm>
            <a:off x="1344168" y="2311603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Tense and time</a:t>
            </a:r>
          </a:p>
        </p:txBody>
      </p:sp>
      <p:sp>
        <p:nvSpPr>
          <p:cNvPr id="18" name="cell:menusub"/>
          <p:cNvSpPr txBox="1"/>
          <p:nvPr/>
        </p:nvSpPr>
        <p:spPr>
          <a:xfrm>
            <a:off x="7134682" y="2311603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Where the confusion lives</a:t>
            </a:r>
          </a:p>
        </p:txBody>
      </p:sp>
      <p:cxnSp>
        <p:nvCxnSpPr>
          <p:cNvPr id="19" name="vis:menuarrow"/>
          <p:cNvCxnSpPr/>
          <p:nvPr/>
        </p:nvCxnSpPr>
        <p:spPr>
          <a:xfrm>
            <a:off x="11213287" y="2424988"/>
            <a:ext cx="219456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nav:menurow">
            <a:hlinkClick action="ppaction://hlinksldjump" r:id="rId4"/>
          </p:cNvPr>
          <p:cNvSpPr/>
          <p:nvPr/>
        </p:nvSpPr>
        <p:spPr>
          <a:xfrm>
            <a:off x="502920" y="2684678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menubar"/>
          <p:cNvSpPr/>
          <p:nvPr/>
        </p:nvSpPr>
        <p:spPr>
          <a:xfrm>
            <a:off x="502920" y="2684678"/>
            <a:ext cx="68580" cy="336499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menunum"/>
          <p:cNvSpPr txBox="1"/>
          <p:nvPr/>
        </p:nvSpPr>
        <p:spPr>
          <a:xfrm>
            <a:off x="813816" y="2739542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5A00"/>
                </a:solidFill>
                <a:latin typeface="Segoe UI Semibold"/>
              </a:rPr>
              <a:t>03</a:t>
            </a:r>
          </a:p>
        </p:txBody>
      </p:sp>
      <p:sp>
        <p:nvSpPr>
          <p:cNvPr id="23" name="cell:menulabel"/>
          <p:cNvSpPr txBox="1"/>
          <p:nvPr/>
        </p:nvSpPr>
        <p:spPr>
          <a:xfrm>
            <a:off x="1344168" y="2739542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Six patterns</a:t>
            </a:r>
          </a:p>
        </p:txBody>
      </p:sp>
      <p:sp>
        <p:nvSpPr>
          <p:cNvPr id="24" name="cell:menusub"/>
          <p:cNvSpPr txBox="1"/>
          <p:nvPr/>
        </p:nvSpPr>
        <p:spPr>
          <a:xfrm>
            <a:off x="7134682" y="2739542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ones that cost time</a:t>
            </a:r>
          </a:p>
        </p:txBody>
      </p:sp>
      <p:cxnSp>
        <p:nvCxnSpPr>
          <p:cNvPr id="25" name="vis:menuarrow"/>
          <p:cNvCxnSpPr/>
          <p:nvPr/>
        </p:nvCxnSpPr>
        <p:spPr>
          <a:xfrm>
            <a:off x="11213287" y="2852928"/>
            <a:ext cx="219456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nav:menurow">
            <a:hlinkClick action="ppaction://hlinksldjump" r:id="rId5"/>
          </p:cNvPr>
          <p:cNvSpPr/>
          <p:nvPr/>
        </p:nvSpPr>
        <p:spPr>
          <a:xfrm>
            <a:off x="502920" y="3112617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menubar"/>
          <p:cNvSpPr/>
          <p:nvPr/>
        </p:nvSpPr>
        <p:spPr>
          <a:xfrm>
            <a:off x="502920" y="3112617"/>
            <a:ext cx="68580" cy="336499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menunum"/>
          <p:cNvSpPr txBox="1"/>
          <p:nvPr/>
        </p:nvSpPr>
        <p:spPr>
          <a:xfrm>
            <a:off x="813816" y="3167481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5A00"/>
                </a:solidFill>
                <a:latin typeface="Segoe UI Semibold"/>
              </a:rPr>
              <a:t>04</a:t>
            </a:r>
          </a:p>
        </p:txBody>
      </p:sp>
      <p:sp>
        <p:nvSpPr>
          <p:cNvPr id="29" name="cell:menulabel"/>
          <p:cNvSpPr txBox="1"/>
          <p:nvPr/>
        </p:nvSpPr>
        <p:spPr>
          <a:xfrm>
            <a:off x="1344168" y="3167481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Polite without padding</a:t>
            </a:r>
          </a:p>
        </p:txBody>
      </p:sp>
      <p:sp>
        <p:nvSpPr>
          <p:cNvPr id="30" name="cell:menusub"/>
          <p:cNvSpPr txBox="1"/>
          <p:nvPr/>
        </p:nvSpPr>
        <p:spPr>
          <a:xfrm>
            <a:off x="7134682" y="3167481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Short is not rude</a:t>
            </a:r>
          </a:p>
        </p:txBody>
      </p:sp>
      <p:cxnSp>
        <p:nvCxnSpPr>
          <p:cNvPr id="31" name="vis:menuarrow"/>
          <p:cNvCxnSpPr/>
          <p:nvPr/>
        </p:nvCxnSpPr>
        <p:spPr>
          <a:xfrm>
            <a:off x="11213287" y="3280867"/>
            <a:ext cx="219456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nav:menurow">
            <a:hlinkClick action="ppaction://hlinksldjump" r:id="rId6"/>
          </p:cNvPr>
          <p:cNvSpPr/>
          <p:nvPr/>
        </p:nvSpPr>
        <p:spPr>
          <a:xfrm>
            <a:off x="502920" y="3540556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menubar"/>
          <p:cNvSpPr/>
          <p:nvPr/>
        </p:nvSpPr>
        <p:spPr>
          <a:xfrm>
            <a:off x="502920" y="3540556"/>
            <a:ext cx="68580" cy="336499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menunum"/>
          <p:cNvSpPr txBox="1"/>
          <p:nvPr/>
        </p:nvSpPr>
        <p:spPr>
          <a:xfrm>
            <a:off x="813816" y="3595420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5A00"/>
                </a:solidFill>
                <a:latin typeface="Segoe UI Semibold"/>
              </a:rPr>
              <a:t>05</a:t>
            </a:r>
          </a:p>
        </p:txBody>
      </p:sp>
      <p:sp>
        <p:nvSpPr>
          <p:cNvPr id="35" name="cell:menulabel"/>
          <p:cNvSpPr txBox="1"/>
          <p:nvPr/>
        </p:nvSpPr>
        <p:spPr>
          <a:xfrm>
            <a:off x="1344168" y="3595420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Do this now</a:t>
            </a:r>
          </a:p>
        </p:txBody>
      </p:sp>
      <p:sp>
        <p:nvSpPr>
          <p:cNvPr id="36" name="cell:menusub"/>
          <p:cNvSpPr txBox="1"/>
          <p:nvPr/>
        </p:nvSpPr>
        <p:spPr>
          <a:xfrm>
            <a:off x="7134682" y="3595420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Proofread something real</a:t>
            </a:r>
          </a:p>
        </p:txBody>
      </p:sp>
      <p:cxnSp>
        <p:nvCxnSpPr>
          <p:cNvPr id="37" name="vis:menuarrow"/>
          <p:cNvCxnSpPr/>
          <p:nvPr/>
        </p:nvCxnSpPr>
        <p:spPr>
          <a:xfrm>
            <a:off x="11213287" y="3708806"/>
            <a:ext cx="219456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nav:menurow">
            <a:hlinkClick action="ppaction://hlinksldjump" r:id="rId7"/>
          </p:cNvPr>
          <p:cNvSpPr/>
          <p:nvPr/>
        </p:nvSpPr>
        <p:spPr>
          <a:xfrm>
            <a:off x="502920" y="3968496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menubar"/>
          <p:cNvSpPr/>
          <p:nvPr/>
        </p:nvSpPr>
        <p:spPr>
          <a:xfrm>
            <a:off x="502920" y="3968496"/>
            <a:ext cx="68580" cy="336499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vis:menunum"/>
          <p:cNvSpPr txBox="1"/>
          <p:nvPr/>
        </p:nvSpPr>
        <p:spPr>
          <a:xfrm>
            <a:off x="813816" y="4023359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5A00"/>
                </a:solidFill>
                <a:latin typeface="Segoe UI Semibold"/>
              </a:rPr>
              <a:t>06</a:t>
            </a:r>
          </a:p>
        </p:txBody>
      </p:sp>
      <p:sp>
        <p:nvSpPr>
          <p:cNvPr id="41" name="cell:menulabel"/>
          <p:cNvSpPr txBox="1"/>
          <p:nvPr/>
        </p:nvSpPr>
        <p:spPr>
          <a:xfrm>
            <a:off x="1344168" y="4023359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Choose what you'd do</a:t>
            </a:r>
          </a:p>
        </p:txBody>
      </p:sp>
      <p:sp>
        <p:nvSpPr>
          <p:cNvPr id="42" name="cell:menusub"/>
          <p:cNvSpPr txBox="1"/>
          <p:nvPr/>
        </p:nvSpPr>
        <p:spPr>
          <a:xfrm>
            <a:off x="7134682" y="4023359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shift-handover decision</a:t>
            </a:r>
          </a:p>
        </p:txBody>
      </p:sp>
      <p:cxnSp>
        <p:nvCxnSpPr>
          <p:cNvPr id="43" name="vis:menuarrow"/>
          <p:cNvCxnSpPr/>
          <p:nvPr/>
        </p:nvCxnSpPr>
        <p:spPr>
          <a:xfrm>
            <a:off x="11213287" y="4136745"/>
            <a:ext cx="219456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nav:menurow">
            <a:hlinkClick action="ppaction://hlinksldjump" r:id="rId8"/>
          </p:cNvPr>
          <p:cNvSpPr/>
          <p:nvPr/>
        </p:nvSpPr>
        <p:spPr>
          <a:xfrm>
            <a:off x="502920" y="4396435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vis:menubar"/>
          <p:cNvSpPr/>
          <p:nvPr/>
        </p:nvSpPr>
        <p:spPr>
          <a:xfrm>
            <a:off x="502920" y="4396435"/>
            <a:ext cx="68580" cy="336499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vis:menunum"/>
          <p:cNvSpPr txBox="1"/>
          <p:nvPr/>
        </p:nvSpPr>
        <p:spPr>
          <a:xfrm>
            <a:off x="813816" y="4451299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5A00"/>
                </a:solidFill>
                <a:latin typeface="Segoe UI Semibold"/>
              </a:rPr>
              <a:t>07</a:t>
            </a:r>
          </a:p>
        </p:txBody>
      </p:sp>
      <p:sp>
        <p:nvSpPr>
          <p:cNvPr id="47" name="cell:menulabel"/>
          <p:cNvSpPr txBox="1"/>
          <p:nvPr/>
        </p:nvSpPr>
        <p:spPr>
          <a:xfrm>
            <a:off x="1344168" y="4451299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Watch this</a:t>
            </a:r>
          </a:p>
        </p:txBody>
      </p:sp>
      <p:sp>
        <p:nvSpPr>
          <p:cNvPr id="48" name="cell:menusub"/>
          <p:cNvSpPr txBox="1"/>
          <p:nvPr/>
        </p:nvSpPr>
        <p:spPr>
          <a:xfrm>
            <a:off x="7134682" y="4451299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10-minute outside exercise</a:t>
            </a:r>
          </a:p>
        </p:txBody>
      </p:sp>
      <p:cxnSp>
        <p:nvCxnSpPr>
          <p:cNvPr id="49" name="vis:menuarrow"/>
          <p:cNvCxnSpPr/>
          <p:nvPr/>
        </p:nvCxnSpPr>
        <p:spPr>
          <a:xfrm>
            <a:off x="11213287" y="4564684"/>
            <a:ext cx="219456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nav:menurow">
            <a:hlinkClick action="ppaction://hlinksldjump" r:id="rId9"/>
          </p:cNvPr>
          <p:cNvSpPr/>
          <p:nvPr/>
        </p:nvSpPr>
        <p:spPr>
          <a:xfrm>
            <a:off x="502920" y="4824374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vis:menubar"/>
          <p:cNvSpPr/>
          <p:nvPr/>
        </p:nvSpPr>
        <p:spPr>
          <a:xfrm>
            <a:off x="502920" y="4824374"/>
            <a:ext cx="68580" cy="336499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vis:menunum"/>
          <p:cNvSpPr txBox="1"/>
          <p:nvPr/>
        </p:nvSpPr>
        <p:spPr>
          <a:xfrm>
            <a:off x="813816" y="4879238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5A00"/>
                </a:solidFill>
                <a:latin typeface="Segoe UI Semibold"/>
              </a:rPr>
              <a:t>08</a:t>
            </a:r>
          </a:p>
        </p:txBody>
      </p:sp>
      <p:sp>
        <p:nvSpPr>
          <p:cNvPr id="53" name="cell:menulabel"/>
          <p:cNvSpPr txBox="1"/>
          <p:nvPr/>
        </p:nvSpPr>
        <p:spPr>
          <a:xfrm>
            <a:off x="1344168" y="4879238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Quiz</a:t>
            </a:r>
          </a:p>
        </p:txBody>
      </p:sp>
      <p:sp>
        <p:nvSpPr>
          <p:cNvPr id="54" name="cell:menusub"/>
          <p:cNvSpPr txBox="1"/>
          <p:nvPr/>
        </p:nvSpPr>
        <p:spPr>
          <a:xfrm>
            <a:off x="7134682" y="4879238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5 questions, instant feedback</a:t>
            </a:r>
          </a:p>
        </p:txBody>
      </p:sp>
      <p:cxnSp>
        <p:nvCxnSpPr>
          <p:cNvPr id="55" name="vis:menuarrow"/>
          <p:cNvCxnSpPr/>
          <p:nvPr/>
        </p:nvCxnSpPr>
        <p:spPr>
          <a:xfrm>
            <a:off x="11213287" y="4992624"/>
            <a:ext cx="219456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nav:menurow">
            <a:hlinkClick action="ppaction://hlinksldjump" r:id="rId10"/>
          </p:cNvPr>
          <p:cNvSpPr/>
          <p:nvPr/>
        </p:nvSpPr>
        <p:spPr>
          <a:xfrm>
            <a:off x="502920" y="5252313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7" name="vis:menubar"/>
          <p:cNvSpPr/>
          <p:nvPr/>
        </p:nvSpPr>
        <p:spPr>
          <a:xfrm>
            <a:off x="502920" y="5252313"/>
            <a:ext cx="68580" cy="336499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8" name="vis:menunum"/>
          <p:cNvSpPr txBox="1"/>
          <p:nvPr/>
        </p:nvSpPr>
        <p:spPr>
          <a:xfrm>
            <a:off x="813816" y="5307177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5A00"/>
                </a:solidFill>
                <a:latin typeface="Segoe UI Semibold"/>
              </a:rPr>
              <a:t>09</a:t>
            </a:r>
          </a:p>
        </p:txBody>
      </p:sp>
      <p:sp>
        <p:nvSpPr>
          <p:cNvPr id="59" name="cell:menulabel"/>
          <p:cNvSpPr txBox="1"/>
          <p:nvPr/>
        </p:nvSpPr>
        <p:spPr>
          <a:xfrm>
            <a:off x="1344168" y="5307177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Recap card</a:t>
            </a:r>
          </a:p>
        </p:txBody>
      </p:sp>
      <p:sp>
        <p:nvSpPr>
          <p:cNvPr id="60" name="cell:menusub"/>
          <p:cNvSpPr txBox="1"/>
          <p:nvPr/>
        </p:nvSpPr>
        <p:spPr>
          <a:xfrm>
            <a:off x="7134682" y="5307177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whole topic on one screen</a:t>
            </a:r>
          </a:p>
        </p:txBody>
      </p:sp>
      <p:cxnSp>
        <p:nvCxnSpPr>
          <p:cNvPr id="61" name="vis:menuarrow"/>
          <p:cNvCxnSpPr/>
          <p:nvPr/>
        </p:nvCxnSpPr>
        <p:spPr>
          <a:xfrm>
            <a:off x="11213287" y="5420563"/>
            <a:ext cx="219456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nav:menurow">
            <a:hlinkClick action="ppaction://hlinksldjump" r:id="rId11"/>
          </p:cNvPr>
          <p:cNvSpPr/>
          <p:nvPr/>
        </p:nvSpPr>
        <p:spPr>
          <a:xfrm>
            <a:off x="502920" y="5680252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3" name="vis:menubar"/>
          <p:cNvSpPr/>
          <p:nvPr/>
        </p:nvSpPr>
        <p:spPr>
          <a:xfrm>
            <a:off x="502920" y="5680252"/>
            <a:ext cx="68580" cy="336499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4" name="vis:menunum"/>
          <p:cNvSpPr txBox="1"/>
          <p:nvPr/>
        </p:nvSpPr>
        <p:spPr>
          <a:xfrm>
            <a:off x="813816" y="5735116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5A00"/>
                </a:solidFill>
                <a:latin typeface="Segoe UI Semibold"/>
              </a:rPr>
              <a:t>10</a:t>
            </a:r>
          </a:p>
        </p:txBody>
      </p:sp>
      <p:sp>
        <p:nvSpPr>
          <p:cNvPr id="65" name="cell:menulabel"/>
          <p:cNvSpPr txBox="1"/>
          <p:nvPr/>
        </p:nvSpPr>
        <p:spPr>
          <a:xfrm>
            <a:off x="1344168" y="5735116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Your toolkit</a:t>
            </a:r>
          </a:p>
        </p:txBody>
      </p:sp>
      <p:sp>
        <p:nvSpPr>
          <p:cNvPr id="66" name="cell:menusub"/>
          <p:cNvSpPr txBox="1"/>
          <p:nvPr/>
        </p:nvSpPr>
        <p:spPr>
          <a:xfrm>
            <a:off x="7134682" y="5735116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Templates, links, what to do next</a:t>
            </a:r>
          </a:p>
        </p:txBody>
      </p:sp>
      <p:cxnSp>
        <p:nvCxnSpPr>
          <p:cNvPr id="67" name="vis:menuarrow"/>
          <p:cNvCxnSpPr/>
          <p:nvPr/>
        </p:nvCxnSpPr>
        <p:spPr>
          <a:xfrm>
            <a:off x="11213287" y="5848502"/>
            <a:ext cx="219456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ONE IDEA PER SENTENCE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One idea per sentence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body:lead"/>
          <p:cNvSpPr txBox="1"/>
          <p:nvPr/>
        </p:nvSpPr>
        <p:spPr>
          <a:xfrm>
            <a:off x="502920" y="1719072"/>
            <a:ext cx="8343671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A3547"/>
                </a:solidFill>
                <a:latin typeface="Segoe UI"/>
              </a:rPr>
              <a:t>Long sentences are where meaning gets lost. This is true in every language, and it is the fastest thing to fix.</a:t>
            </a:r>
          </a:p>
        </p:txBody>
      </p:sp>
      <p:sp>
        <p:nvSpPr>
          <p:cNvPr id="16" name="vis:outcard"/>
          <p:cNvSpPr/>
          <p:nvPr/>
        </p:nvSpPr>
        <p:spPr>
          <a:xfrm>
            <a:off x="502920" y="2706624"/>
            <a:ext cx="5410047" cy="2743200"/>
          </a:xfrm>
          <a:prstGeom prst="roundRect">
            <a:avLst>
              <a:gd name="adj" fmla="val 3333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outspine"/>
          <p:cNvSpPr/>
          <p:nvPr/>
        </p:nvSpPr>
        <p:spPr>
          <a:xfrm>
            <a:off x="502920" y="2706624"/>
            <a:ext cx="68580" cy="2743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chip"/>
          <p:cNvSpPr/>
          <p:nvPr/>
        </p:nvSpPr>
        <p:spPr>
          <a:xfrm>
            <a:off x="758952" y="2907792"/>
            <a:ext cx="2231594" cy="274320"/>
          </a:xfrm>
          <a:prstGeom prst="roundRect">
            <a:avLst>
              <a:gd name="adj" fmla="val 1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vis:chiptext"/>
          <p:cNvSpPr txBox="1"/>
          <p:nvPr/>
        </p:nvSpPr>
        <p:spPr>
          <a:xfrm>
            <a:off x="914400" y="2935224"/>
            <a:ext cx="19206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ONE LONG SENTENCE</a:t>
            </a:r>
          </a:p>
        </p:txBody>
      </p:sp>
      <p:sp>
        <p:nvSpPr>
          <p:cNvPr id="20" name="vis:outbody"/>
          <p:cNvSpPr txBox="1"/>
          <p:nvPr/>
        </p:nvSpPr>
        <p:spPr>
          <a:xfrm>
            <a:off x="758952" y="3346704"/>
            <a:ext cx="4897983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"As the material which was ordered last week has not yet arrived and the line is scheduled for Thursday we may need to reschedule unless it comes tomorrow."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Thirty-four words, four ideas, one breath.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The reader has to work out what depends on what.</a:t>
            </a:r>
          </a:p>
        </p:txBody>
      </p:sp>
      <p:sp>
        <p:nvSpPr>
          <p:cNvPr id="21" name="vis:outcard"/>
          <p:cNvSpPr/>
          <p:nvPr/>
        </p:nvSpPr>
        <p:spPr>
          <a:xfrm>
            <a:off x="6278727" y="2706624"/>
            <a:ext cx="5410047" cy="2743200"/>
          </a:xfrm>
          <a:prstGeom prst="roundRect">
            <a:avLst>
              <a:gd name="adj" fmla="val 3333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outspine"/>
          <p:cNvSpPr/>
          <p:nvPr/>
        </p:nvSpPr>
        <p:spPr>
          <a:xfrm>
            <a:off x="6278727" y="2706624"/>
            <a:ext cx="68580" cy="274320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chip"/>
          <p:cNvSpPr/>
          <p:nvPr/>
        </p:nvSpPr>
        <p:spPr>
          <a:xfrm>
            <a:off x="6534759" y="2907792"/>
            <a:ext cx="2027759" cy="274320"/>
          </a:xfrm>
          <a:prstGeom prst="roundRect">
            <a:avLst>
              <a:gd name="adj" fmla="val 16666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chiptext"/>
          <p:cNvSpPr txBox="1"/>
          <p:nvPr/>
        </p:nvSpPr>
        <p:spPr>
          <a:xfrm>
            <a:off x="6690207" y="2935224"/>
            <a:ext cx="17168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FOUR SHORT ONES</a:t>
            </a:r>
          </a:p>
        </p:txBody>
      </p:sp>
      <p:sp>
        <p:nvSpPr>
          <p:cNvPr id="25" name="vis:outbody"/>
          <p:cNvSpPr txBox="1"/>
          <p:nvPr/>
        </p:nvSpPr>
        <p:spPr>
          <a:xfrm>
            <a:off x="6534759" y="3346704"/>
            <a:ext cx="4897983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"The material ordered last week has not arrived."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"The line is scheduled for Thursday."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"If it does not come tomorrow, we will reschedule."</a:t>
            </a:r>
          </a:p>
        </p:txBody>
      </p:sp>
      <p:sp>
        <p:nvSpPr>
          <p:cNvPr id="26" name="cell:banote"/>
          <p:cNvSpPr txBox="1"/>
          <p:nvPr/>
        </p:nvSpPr>
        <p:spPr>
          <a:xfrm>
            <a:off x="502920" y="5632704"/>
            <a:ext cx="111858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Nobody has ever complained that a work email was too easy to 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ONE IDEA PER SENTENCE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 full-stop test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flowcard"/>
          <p:cNvSpPr/>
          <p:nvPr/>
        </p:nvSpPr>
        <p:spPr>
          <a:xfrm>
            <a:off x="502920" y="2221991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flownum"/>
          <p:cNvSpPr/>
          <p:nvPr/>
        </p:nvSpPr>
        <p:spPr>
          <a:xfrm>
            <a:off x="685800" y="2039111"/>
            <a:ext cx="384048" cy="384048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flownumtext"/>
          <p:cNvSpPr txBox="1"/>
          <p:nvPr/>
        </p:nvSpPr>
        <p:spPr>
          <a:xfrm>
            <a:off x="685800" y="2116835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8" name="vis:flowtitle"/>
          <p:cNvSpPr txBox="1"/>
          <p:nvPr/>
        </p:nvSpPr>
        <p:spPr>
          <a:xfrm>
            <a:off x="704088" y="2587751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01826"/>
                </a:solidFill>
                <a:latin typeface="Segoe UI Semibold"/>
              </a:rPr>
              <a:t>Read your sentence aloud</a:t>
            </a:r>
          </a:p>
        </p:txBody>
      </p:sp>
      <p:sp>
        <p:nvSpPr>
          <p:cNvPr id="19" name="vis:flowsub"/>
          <p:cNvSpPr txBox="1"/>
          <p:nvPr/>
        </p:nvSpPr>
        <p:spPr>
          <a:xfrm>
            <a:off x="704088" y="3136391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 your head is enough.</a:t>
            </a:r>
          </a:p>
        </p:txBody>
      </p:sp>
      <p:cxnSp>
        <p:nvCxnSpPr>
          <p:cNvPr id="20" name="vis:flowarrow"/>
          <p:cNvCxnSpPr/>
          <p:nvPr/>
        </p:nvCxnSpPr>
        <p:spPr>
          <a:xfrm>
            <a:off x="3093643" y="3182111"/>
            <a:ext cx="219456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vis:flowcard"/>
          <p:cNvSpPr/>
          <p:nvPr/>
        </p:nvSpPr>
        <p:spPr>
          <a:xfrm>
            <a:off x="3395395" y="2221991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flownum"/>
          <p:cNvSpPr/>
          <p:nvPr/>
        </p:nvSpPr>
        <p:spPr>
          <a:xfrm>
            <a:off x="3578275" y="2039111"/>
            <a:ext cx="384048" cy="384048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flownumtext"/>
          <p:cNvSpPr txBox="1"/>
          <p:nvPr/>
        </p:nvSpPr>
        <p:spPr>
          <a:xfrm>
            <a:off x="3578275" y="2116835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4" name="vis:flowtitle"/>
          <p:cNvSpPr txBox="1"/>
          <p:nvPr/>
        </p:nvSpPr>
        <p:spPr>
          <a:xfrm>
            <a:off x="3596563" y="2587751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01826"/>
                </a:solidFill>
                <a:latin typeface="Segoe UI Semibold"/>
              </a:rPr>
              <a:t>Did you need a breath?</a:t>
            </a:r>
          </a:p>
        </p:txBody>
      </p:sp>
      <p:sp>
        <p:nvSpPr>
          <p:cNvPr id="25" name="vis:flowsub"/>
          <p:cNvSpPr txBox="1"/>
          <p:nvPr/>
        </p:nvSpPr>
        <p:spPr>
          <a:xfrm>
            <a:off x="3596563" y="3136391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If yes, it is too long.</a:t>
            </a:r>
          </a:p>
        </p:txBody>
      </p:sp>
      <p:cxnSp>
        <p:nvCxnSpPr>
          <p:cNvPr id="26" name="vis:flowarrow"/>
          <p:cNvCxnSpPr/>
          <p:nvPr/>
        </p:nvCxnSpPr>
        <p:spPr>
          <a:xfrm>
            <a:off x="5986119" y="3182111"/>
            <a:ext cx="219456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vis:flowcard"/>
          <p:cNvSpPr/>
          <p:nvPr/>
        </p:nvSpPr>
        <p:spPr>
          <a:xfrm>
            <a:off x="6287871" y="2221991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flownum"/>
          <p:cNvSpPr/>
          <p:nvPr/>
        </p:nvSpPr>
        <p:spPr>
          <a:xfrm>
            <a:off x="6470751" y="2039111"/>
            <a:ext cx="384048" cy="384048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flownumtext"/>
          <p:cNvSpPr txBox="1"/>
          <p:nvPr/>
        </p:nvSpPr>
        <p:spPr>
          <a:xfrm>
            <a:off x="6470751" y="2116835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0" name="vis:flowtitle"/>
          <p:cNvSpPr txBox="1"/>
          <p:nvPr/>
        </p:nvSpPr>
        <p:spPr>
          <a:xfrm>
            <a:off x="6489039" y="2587751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Find the and, or which</a:t>
            </a:r>
          </a:p>
        </p:txBody>
      </p:sp>
      <p:sp>
        <p:nvSpPr>
          <p:cNvPr id="31" name="vis:flowsub"/>
          <p:cNvSpPr txBox="1"/>
          <p:nvPr/>
        </p:nvSpPr>
        <p:spPr>
          <a:xfrm>
            <a:off x="6489039" y="3136391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That is usually where it splits.</a:t>
            </a:r>
          </a:p>
        </p:txBody>
      </p:sp>
      <p:cxnSp>
        <p:nvCxnSpPr>
          <p:cNvPr id="32" name="vis:flowarrow"/>
          <p:cNvCxnSpPr/>
          <p:nvPr/>
        </p:nvCxnSpPr>
        <p:spPr>
          <a:xfrm>
            <a:off x="8878595" y="3182111"/>
            <a:ext cx="219456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vis:flowcard"/>
          <p:cNvSpPr/>
          <p:nvPr/>
        </p:nvSpPr>
        <p:spPr>
          <a:xfrm>
            <a:off x="9180347" y="2221991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flownum"/>
          <p:cNvSpPr/>
          <p:nvPr/>
        </p:nvSpPr>
        <p:spPr>
          <a:xfrm>
            <a:off x="9363227" y="2039111"/>
            <a:ext cx="384048" cy="384048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vis:flownumtext"/>
          <p:cNvSpPr txBox="1"/>
          <p:nvPr/>
        </p:nvSpPr>
        <p:spPr>
          <a:xfrm>
            <a:off x="9363227" y="2116835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6" name="vis:flowtitle"/>
          <p:cNvSpPr txBox="1"/>
          <p:nvPr/>
        </p:nvSpPr>
        <p:spPr>
          <a:xfrm>
            <a:off x="9381515" y="2587751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Put a full stop there</a:t>
            </a:r>
          </a:p>
        </p:txBody>
      </p:sp>
      <p:sp>
        <p:nvSpPr>
          <p:cNvPr id="37" name="vis:flowsub"/>
          <p:cNvSpPr txBox="1"/>
          <p:nvPr/>
        </p:nvSpPr>
        <p:spPr>
          <a:xfrm>
            <a:off x="9381515" y="3136391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Two clear sentences beat one clever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TENSE AND TIME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Where the confusion lives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panel"/>
          <p:cNvSpPr/>
          <p:nvPr/>
        </p:nvSpPr>
        <p:spPr>
          <a:xfrm>
            <a:off x="502920" y="1719072"/>
            <a:ext cx="5437479" cy="4297680"/>
          </a:xfrm>
          <a:prstGeom prst="roundRect">
            <a:avLst>
              <a:gd name="adj" fmla="val 212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panelspine"/>
          <p:cNvSpPr/>
          <p:nvPr/>
        </p:nvSpPr>
        <p:spPr>
          <a:xfrm>
            <a:off x="502920" y="1719072"/>
            <a:ext cx="68580" cy="42976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chip"/>
          <p:cNvSpPr/>
          <p:nvPr/>
        </p:nvSpPr>
        <p:spPr>
          <a:xfrm>
            <a:off x="777240" y="1956815"/>
            <a:ext cx="1498854" cy="274320"/>
          </a:xfrm>
          <a:prstGeom prst="roundRect">
            <a:avLst>
              <a:gd name="adj" fmla="val 1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chiptext"/>
          <p:cNvSpPr txBox="1"/>
          <p:nvPr/>
        </p:nvSpPr>
        <p:spPr>
          <a:xfrm>
            <a:off x="932688" y="1984247"/>
            <a:ext cx="118795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AMBIGUOUS</a:t>
            </a:r>
          </a:p>
        </p:txBody>
      </p:sp>
      <p:sp>
        <p:nvSpPr>
          <p:cNvPr id="19" name="vis:paneltitle"/>
          <p:cNvSpPr txBox="1"/>
          <p:nvPr/>
        </p:nvSpPr>
        <p:spPr>
          <a:xfrm>
            <a:off x="777240" y="2377439"/>
            <a:ext cx="4888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Two readings possible</a:t>
            </a:r>
          </a:p>
        </p:txBody>
      </p:sp>
      <p:cxnSp>
        <p:nvCxnSpPr>
          <p:cNvPr id="20" name="vis:icon"/>
          <p:cNvCxnSpPr/>
          <p:nvPr/>
        </p:nvCxnSpPr>
        <p:spPr>
          <a:xfrm>
            <a:off x="819302" y="3091586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s:icon"/>
          <p:cNvCxnSpPr/>
          <p:nvPr/>
        </p:nvCxnSpPr>
        <p:spPr>
          <a:xfrm flipH="1">
            <a:off x="819302" y="3091586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s:panelitem"/>
          <p:cNvSpPr txBox="1"/>
          <p:nvPr/>
        </p:nvSpPr>
        <p:spPr>
          <a:xfrm>
            <a:off x="1078992" y="3017520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"The machine is running since morning"</a:t>
            </a:r>
          </a:p>
        </p:txBody>
      </p:sp>
      <p:cxnSp>
        <p:nvCxnSpPr>
          <p:cNvPr id="23" name="vis:icon"/>
          <p:cNvCxnSpPr/>
          <p:nvPr/>
        </p:nvCxnSpPr>
        <p:spPr>
          <a:xfrm>
            <a:off x="819302" y="3786530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s:icon"/>
          <p:cNvCxnSpPr/>
          <p:nvPr/>
        </p:nvCxnSpPr>
        <p:spPr>
          <a:xfrm flipH="1">
            <a:off x="819302" y="3786530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s:panelitem"/>
          <p:cNvSpPr txBox="1"/>
          <p:nvPr/>
        </p:nvSpPr>
        <p:spPr>
          <a:xfrm>
            <a:off x="1078992" y="3712463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"I am working on this from yesterday"</a:t>
            </a:r>
          </a:p>
        </p:txBody>
      </p:sp>
      <p:cxnSp>
        <p:nvCxnSpPr>
          <p:cNvPr id="26" name="vis:icon"/>
          <p:cNvCxnSpPr/>
          <p:nvPr/>
        </p:nvCxnSpPr>
        <p:spPr>
          <a:xfrm>
            <a:off x="819302" y="4481474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vis:icon"/>
          <p:cNvCxnSpPr/>
          <p:nvPr/>
        </p:nvCxnSpPr>
        <p:spPr>
          <a:xfrm flipH="1">
            <a:off x="819302" y="4481474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s:panelitem"/>
          <p:cNvSpPr txBox="1"/>
          <p:nvPr/>
        </p:nvSpPr>
        <p:spPr>
          <a:xfrm>
            <a:off x="1078992" y="4407407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"We are waiting the material"</a:t>
            </a:r>
          </a:p>
        </p:txBody>
      </p:sp>
      <p:cxnSp>
        <p:nvCxnSpPr>
          <p:cNvPr id="29" name="vis:icon"/>
          <p:cNvCxnSpPr/>
          <p:nvPr/>
        </p:nvCxnSpPr>
        <p:spPr>
          <a:xfrm>
            <a:off x="819302" y="5176418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is:icon"/>
          <p:cNvCxnSpPr/>
          <p:nvPr/>
        </p:nvCxnSpPr>
        <p:spPr>
          <a:xfrm flipH="1">
            <a:off x="819302" y="5176418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vis:panelitem"/>
          <p:cNvSpPr txBox="1"/>
          <p:nvPr/>
        </p:nvSpPr>
        <p:spPr>
          <a:xfrm>
            <a:off x="1078992" y="5102351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"He is having the file"</a:t>
            </a:r>
          </a:p>
        </p:txBody>
      </p:sp>
      <p:sp>
        <p:nvSpPr>
          <p:cNvPr id="32" name="vis:panel"/>
          <p:cNvSpPr/>
          <p:nvPr/>
        </p:nvSpPr>
        <p:spPr>
          <a:xfrm>
            <a:off x="6251295" y="1719072"/>
            <a:ext cx="5437479" cy="4297680"/>
          </a:xfrm>
          <a:prstGeom prst="roundRect">
            <a:avLst>
              <a:gd name="adj" fmla="val 212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panelspine"/>
          <p:cNvSpPr/>
          <p:nvPr/>
        </p:nvSpPr>
        <p:spPr>
          <a:xfrm>
            <a:off x="6251295" y="1719072"/>
            <a:ext cx="68580" cy="429768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chip"/>
          <p:cNvSpPr/>
          <p:nvPr/>
        </p:nvSpPr>
        <p:spPr>
          <a:xfrm>
            <a:off x="6525615" y="1956815"/>
            <a:ext cx="1002283" cy="274320"/>
          </a:xfrm>
          <a:prstGeom prst="roundRect">
            <a:avLst>
              <a:gd name="adj" fmla="val 16666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vis:chiptext"/>
          <p:cNvSpPr txBox="1"/>
          <p:nvPr/>
        </p:nvSpPr>
        <p:spPr>
          <a:xfrm>
            <a:off x="6681063" y="1984247"/>
            <a:ext cx="6913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CLEAR</a:t>
            </a:r>
          </a:p>
        </p:txBody>
      </p:sp>
      <p:sp>
        <p:nvSpPr>
          <p:cNvPr id="36" name="vis:paneltitle"/>
          <p:cNvSpPr txBox="1"/>
          <p:nvPr/>
        </p:nvSpPr>
        <p:spPr>
          <a:xfrm>
            <a:off x="6525615" y="2377439"/>
            <a:ext cx="4888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One reading only</a:t>
            </a:r>
          </a:p>
        </p:txBody>
      </p:sp>
      <p:cxnSp>
        <p:nvCxnSpPr>
          <p:cNvPr id="37" name="vis:icon"/>
          <p:cNvCxnSpPr/>
          <p:nvPr/>
        </p:nvCxnSpPr>
        <p:spPr>
          <a:xfrm>
            <a:off x="6560362" y="3153765"/>
            <a:ext cx="47549" cy="47549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vis:icon"/>
          <p:cNvCxnSpPr/>
          <p:nvPr/>
        </p:nvCxnSpPr>
        <p:spPr>
          <a:xfrm flipV="1">
            <a:off x="6607911" y="3098901"/>
            <a:ext cx="87783" cy="102413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vis:panelitem"/>
          <p:cNvSpPr txBox="1"/>
          <p:nvPr/>
        </p:nvSpPr>
        <p:spPr>
          <a:xfrm>
            <a:off x="6827367" y="3017520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"The machine has been running since 6am"</a:t>
            </a:r>
          </a:p>
        </p:txBody>
      </p:sp>
      <p:cxnSp>
        <p:nvCxnSpPr>
          <p:cNvPr id="40" name="vis:icon"/>
          <p:cNvCxnSpPr/>
          <p:nvPr/>
        </p:nvCxnSpPr>
        <p:spPr>
          <a:xfrm>
            <a:off x="6560362" y="3848709"/>
            <a:ext cx="47549" cy="47549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vis:icon"/>
          <p:cNvCxnSpPr/>
          <p:nvPr/>
        </p:nvCxnSpPr>
        <p:spPr>
          <a:xfrm flipV="1">
            <a:off x="6607911" y="3793845"/>
            <a:ext cx="87783" cy="102413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vis:panelitem"/>
          <p:cNvSpPr txBox="1"/>
          <p:nvPr/>
        </p:nvSpPr>
        <p:spPr>
          <a:xfrm>
            <a:off x="6827367" y="3712463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"I started this yesterday and I am still on it"</a:t>
            </a:r>
          </a:p>
        </p:txBody>
      </p:sp>
      <p:cxnSp>
        <p:nvCxnSpPr>
          <p:cNvPr id="43" name="vis:icon"/>
          <p:cNvCxnSpPr/>
          <p:nvPr/>
        </p:nvCxnSpPr>
        <p:spPr>
          <a:xfrm>
            <a:off x="6560362" y="4543653"/>
            <a:ext cx="47549" cy="47549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vis:icon"/>
          <p:cNvCxnSpPr/>
          <p:nvPr/>
        </p:nvCxnSpPr>
        <p:spPr>
          <a:xfrm flipV="1">
            <a:off x="6607911" y="4488789"/>
            <a:ext cx="87783" cy="102413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vis:panelitem"/>
          <p:cNvSpPr txBox="1"/>
          <p:nvPr/>
        </p:nvSpPr>
        <p:spPr>
          <a:xfrm>
            <a:off x="6827367" y="4407407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"We are waiting for the material"</a:t>
            </a:r>
          </a:p>
        </p:txBody>
      </p:sp>
      <p:cxnSp>
        <p:nvCxnSpPr>
          <p:cNvPr id="46" name="vis:icon"/>
          <p:cNvCxnSpPr/>
          <p:nvPr/>
        </p:nvCxnSpPr>
        <p:spPr>
          <a:xfrm>
            <a:off x="6560362" y="5238597"/>
            <a:ext cx="47549" cy="47549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vis:icon"/>
          <p:cNvCxnSpPr/>
          <p:nvPr/>
        </p:nvCxnSpPr>
        <p:spPr>
          <a:xfrm flipV="1">
            <a:off x="6607911" y="5183733"/>
            <a:ext cx="87783" cy="102413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vis:panelitem"/>
          <p:cNvSpPr txBox="1"/>
          <p:nvPr/>
        </p:nvSpPr>
        <p:spPr>
          <a:xfrm>
            <a:off x="6827367" y="5102351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"He has the file"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TENSE AND TIME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Add the time, remove the doubt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body:lead"/>
          <p:cNvSpPr txBox="1"/>
          <p:nvPr/>
        </p:nvSpPr>
        <p:spPr>
          <a:xfrm>
            <a:off x="502920" y="1719072"/>
            <a:ext cx="8343671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A3547"/>
                </a:solidFill>
                <a:latin typeface="Segoe UI"/>
              </a:rPr>
              <a:t>When in doubt about tense, add the actual time. A timestamp fixes almost any ambiguity.</a:t>
            </a:r>
          </a:p>
        </p:txBody>
      </p:sp>
      <p:sp>
        <p:nvSpPr>
          <p:cNvPr id="16" name="vis:checktile"/>
          <p:cNvSpPr/>
          <p:nvPr/>
        </p:nvSpPr>
        <p:spPr>
          <a:xfrm>
            <a:off x="502920" y="2834640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checkdot"/>
          <p:cNvSpPr/>
          <p:nvPr/>
        </p:nvSpPr>
        <p:spPr>
          <a:xfrm>
            <a:off x="722376" y="3387852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815279" y="3546774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s:icon"/>
          <p:cNvCxnSpPr/>
          <p:nvPr/>
        </p:nvCxnSpPr>
        <p:spPr>
          <a:xfrm flipV="1">
            <a:off x="860450" y="3494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ell:checkitem"/>
          <p:cNvSpPr txBox="1"/>
          <p:nvPr/>
        </p:nvSpPr>
        <p:spPr>
          <a:xfrm>
            <a:off x="1161288" y="2980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"Since 6am" instead of "since morning"</a:t>
            </a:r>
          </a:p>
        </p:txBody>
      </p:sp>
      <p:sp>
        <p:nvSpPr>
          <p:cNvPr id="21" name="vis:checktile"/>
          <p:cNvSpPr/>
          <p:nvPr/>
        </p:nvSpPr>
        <p:spPr>
          <a:xfrm>
            <a:off x="6205575" y="2834640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checkdot"/>
          <p:cNvSpPr/>
          <p:nvPr/>
        </p:nvSpPr>
        <p:spPr>
          <a:xfrm>
            <a:off x="6425031" y="3387852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3" name="vis:icon"/>
          <p:cNvCxnSpPr/>
          <p:nvPr/>
        </p:nvCxnSpPr>
        <p:spPr>
          <a:xfrm>
            <a:off x="6517934" y="3546774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s:icon"/>
          <p:cNvCxnSpPr/>
          <p:nvPr/>
        </p:nvCxnSpPr>
        <p:spPr>
          <a:xfrm flipV="1">
            <a:off x="6563106" y="3494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ell:checkitem"/>
          <p:cNvSpPr txBox="1"/>
          <p:nvPr/>
        </p:nvSpPr>
        <p:spPr>
          <a:xfrm>
            <a:off x="6863943" y="2980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"By Thursday 5pm" instead of "by Thursday"</a:t>
            </a:r>
          </a:p>
        </p:txBody>
      </p:sp>
      <p:sp>
        <p:nvSpPr>
          <p:cNvPr id="26" name="vis:checktile"/>
          <p:cNvSpPr/>
          <p:nvPr/>
        </p:nvSpPr>
        <p:spPr>
          <a:xfrm>
            <a:off x="502920" y="4471416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checkdot"/>
          <p:cNvSpPr/>
          <p:nvPr/>
        </p:nvSpPr>
        <p:spPr>
          <a:xfrm>
            <a:off x="722376" y="5024628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8" name="vis:icon"/>
          <p:cNvCxnSpPr/>
          <p:nvPr/>
        </p:nvCxnSpPr>
        <p:spPr>
          <a:xfrm>
            <a:off x="815279" y="5183550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is:icon"/>
          <p:cNvCxnSpPr/>
          <p:nvPr/>
        </p:nvCxnSpPr>
        <p:spPr>
          <a:xfrm flipV="1">
            <a:off x="860450" y="5131429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ell:checkitem"/>
          <p:cNvSpPr txBox="1"/>
          <p:nvPr/>
        </p:nvSpPr>
        <p:spPr>
          <a:xfrm>
            <a:off x="1161288" y="4617720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"Started on the 8th, still open" instead of "from the 8th"</a:t>
            </a:r>
          </a:p>
        </p:txBody>
      </p:sp>
      <p:sp>
        <p:nvSpPr>
          <p:cNvPr id="31" name="vis:checktile"/>
          <p:cNvSpPr/>
          <p:nvPr/>
        </p:nvSpPr>
        <p:spPr>
          <a:xfrm>
            <a:off x="6205575" y="4471416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checkdot"/>
          <p:cNvSpPr/>
          <p:nvPr/>
        </p:nvSpPr>
        <p:spPr>
          <a:xfrm>
            <a:off x="6425031" y="5024628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3" name="vis:icon"/>
          <p:cNvCxnSpPr/>
          <p:nvPr/>
        </p:nvCxnSpPr>
        <p:spPr>
          <a:xfrm>
            <a:off x="6517934" y="5183550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vis:icon"/>
          <p:cNvCxnSpPr/>
          <p:nvPr/>
        </p:nvCxnSpPr>
        <p:spPr>
          <a:xfrm flipV="1">
            <a:off x="6563106" y="5131429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ell:checkitem"/>
          <p:cNvSpPr txBox="1"/>
          <p:nvPr/>
        </p:nvSpPr>
        <p:spPr>
          <a:xfrm>
            <a:off x="6863943" y="4617720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"On 3 April" instead of "03/04", which reads two ways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SIX PATTERNS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Six patterns that cost time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mistake"/>
          <p:cNvSpPr/>
          <p:nvPr/>
        </p:nvSpPr>
        <p:spPr>
          <a:xfrm>
            <a:off x="502920" y="1719072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mistakebar"/>
          <p:cNvSpPr/>
          <p:nvPr/>
        </p:nvSpPr>
        <p:spPr>
          <a:xfrm>
            <a:off x="502920" y="1719072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mistakenum"/>
          <p:cNvSpPr/>
          <p:nvPr/>
        </p:nvSpPr>
        <p:spPr>
          <a:xfrm>
            <a:off x="740664" y="1927555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mistakenumtext"/>
          <p:cNvSpPr txBox="1"/>
          <p:nvPr/>
        </p:nvSpPr>
        <p:spPr>
          <a:xfrm>
            <a:off x="740664" y="199613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cell:mistake"/>
          <p:cNvSpPr txBox="1"/>
          <p:nvPr/>
        </p:nvSpPr>
        <p:spPr>
          <a:xfrm>
            <a:off x="1179576" y="1810512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"Revert" for "reply"</a:t>
            </a:r>
          </a:p>
        </p:txBody>
      </p:sp>
      <p:cxnSp>
        <p:nvCxnSpPr>
          <p:cNvPr id="20" name="vis:line"/>
          <p:cNvCxnSpPr/>
          <p:nvPr/>
        </p:nvCxnSpPr>
        <p:spPr>
          <a:xfrm>
            <a:off x="6008686" y="1865376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ell:mistakewhy"/>
          <p:cNvSpPr txBox="1"/>
          <p:nvPr/>
        </p:nvSpPr>
        <p:spPr>
          <a:xfrm>
            <a:off x="6173278" y="1810512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Outside South Asia, revert means go back to a previous state. It confuses customers.</a:t>
            </a:r>
          </a:p>
        </p:txBody>
      </p:sp>
      <p:sp>
        <p:nvSpPr>
          <p:cNvPr id="22" name="vis:mistake"/>
          <p:cNvSpPr/>
          <p:nvPr/>
        </p:nvSpPr>
        <p:spPr>
          <a:xfrm>
            <a:off x="502920" y="2611526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mistakebar"/>
          <p:cNvSpPr/>
          <p:nvPr/>
        </p:nvSpPr>
        <p:spPr>
          <a:xfrm>
            <a:off x="502920" y="2611526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mistakenum"/>
          <p:cNvSpPr/>
          <p:nvPr/>
        </p:nvSpPr>
        <p:spPr>
          <a:xfrm>
            <a:off x="740664" y="2820009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mistakenumtext"/>
          <p:cNvSpPr txBox="1"/>
          <p:nvPr/>
        </p:nvSpPr>
        <p:spPr>
          <a:xfrm>
            <a:off x="740664" y="2888589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6" name="cell:mistake"/>
          <p:cNvSpPr txBox="1"/>
          <p:nvPr/>
        </p:nvSpPr>
        <p:spPr>
          <a:xfrm>
            <a:off x="1179576" y="2702966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"Prepone"</a:t>
            </a:r>
          </a:p>
        </p:txBody>
      </p:sp>
      <p:cxnSp>
        <p:nvCxnSpPr>
          <p:cNvPr id="27" name="vis:line"/>
          <p:cNvCxnSpPr/>
          <p:nvPr/>
        </p:nvCxnSpPr>
        <p:spPr>
          <a:xfrm>
            <a:off x="6008686" y="2757830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ell:mistakewhy"/>
          <p:cNvSpPr txBox="1"/>
          <p:nvPr/>
        </p:nvSpPr>
        <p:spPr>
          <a:xfrm>
            <a:off x="6173278" y="2702966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Not used outside South Asia at all. Say "move earlier" or "bring forward".</a:t>
            </a:r>
          </a:p>
        </p:txBody>
      </p:sp>
      <p:sp>
        <p:nvSpPr>
          <p:cNvPr id="29" name="vis:mistake"/>
          <p:cNvSpPr/>
          <p:nvPr/>
        </p:nvSpPr>
        <p:spPr>
          <a:xfrm>
            <a:off x="502920" y="3503980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mistakebar"/>
          <p:cNvSpPr/>
          <p:nvPr/>
        </p:nvSpPr>
        <p:spPr>
          <a:xfrm>
            <a:off x="502920" y="3503980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mistakenum"/>
          <p:cNvSpPr/>
          <p:nvPr/>
        </p:nvSpPr>
        <p:spPr>
          <a:xfrm>
            <a:off x="740664" y="3712463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mistakenumtext"/>
          <p:cNvSpPr txBox="1"/>
          <p:nvPr/>
        </p:nvSpPr>
        <p:spPr>
          <a:xfrm>
            <a:off x="740664" y="3781044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3" name="cell:mistake"/>
          <p:cNvSpPr txBox="1"/>
          <p:nvPr/>
        </p:nvSpPr>
        <p:spPr>
          <a:xfrm>
            <a:off x="1179576" y="3595420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"Discuss about" and "reply back"</a:t>
            </a:r>
          </a:p>
        </p:txBody>
      </p:sp>
      <p:cxnSp>
        <p:nvCxnSpPr>
          <p:cNvPr id="34" name="vis:line"/>
          <p:cNvCxnSpPr/>
          <p:nvPr/>
        </p:nvCxnSpPr>
        <p:spPr>
          <a:xfrm>
            <a:off x="6008686" y="3650284"/>
            <a:ext cx="0" cy="435255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ell:mistakewhy"/>
          <p:cNvSpPr txBox="1"/>
          <p:nvPr/>
        </p:nvSpPr>
        <p:spPr>
          <a:xfrm>
            <a:off x="6173278" y="3595420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extra word is redundant. "Discuss" and "reply" carry it already.</a:t>
            </a:r>
          </a:p>
        </p:txBody>
      </p:sp>
      <p:sp>
        <p:nvSpPr>
          <p:cNvPr id="36" name="vis:mistake"/>
          <p:cNvSpPr/>
          <p:nvPr/>
        </p:nvSpPr>
        <p:spPr>
          <a:xfrm>
            <a:off x="502920" y="4396435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mistakebar"/>
          <p:cNvSpPr/>
          <p:nvPr/>
        </p:nvSpPr>
        <p:spPr>
          <a:xfrm>
            <a:off x="502920" y="4396435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vis:mistakenum"/>
          <p:cNvSpPr/>
          <p:nvPr/>
        </p:nvSpPr>
        <p:spPr>
          <a:xfrm>
            <a:off x="740664" y="4604918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mistakenumtext"/>
          <p:cNvSpPr txBox="1"/>
          <p:nvPr/>
        </p:nvSpPr>
        <p:spPr>
          <a:xfrm>
            <a:off x="740664" y="467349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40" name="cell:mistake"/>
          <p:cNvSpPr txBox="1"/>
          <p:nvPr/>
        </p:nvSpPr>
        <p:spPr>
          <a:xfrm>
            <a:off x="1179576" y="4487875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"Same" as a noun</a:t>
            </a:r>
          </a:p>
        </p:txBody>
      </p:sp>
      <p:cxnSp>
        <p:nvCxnSpPr>
          <p:cNvPr id="41" name="vis:line"/>
          <p:cNvCxnSpPr/>
          <p:nvPr/>
        </p:nvCxnSpPr>
        <p:spPr>
          <a:xfrm>
            <a:off x="6008686" y="4542739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ell:mistakewhy"/>
          <p:cNvSpPr txBox="1"/>
          <p:nvPr/>
        </p:nvSpPr>
        <p:spPr>
          <a:xfrm>
            <a:off x="6173278" y="4487875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"Please send the same" leaves the reader guessing. Name the thing.</a:t>
            </a:r>
          </a:p>
        </p:txBody>
      </p:sp>
      <p:sp>
        <p:nvSpPr>
          <p:cNvPr id="43" name="vis:mistake"/>
          <p:cNvSpPr/>
          <p:nvPr/>
        </p:nvSpPr>
        <p:spPr>
          <a:xfrm>
            <a:off x="502920" y="5288889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vis:mistakebar"/>
          <p:cNvSpPr/>
          <p:nvPr/>
        </p:nvSpPr>
        <p:spPr>
          <a:xfrm>
            <a:off x="502920" y="5288889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vis:mistakenum"/>
          <p:cNvSpPr/>
          <p:nvPr/>
        </p:nvSpPr>
        <p:spPr>
          <a:xfrm>
            <a:off x="740664" y="5497372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vis:mistakenumtext"/>
          <p:cNvSpPr txBox="1"/>
          <p:nvPr/>
        </p:nvSpPr>
        <p:spPr>
          <a:xfrm>
            <a:off x="740664" y="5565952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7" name="cell:mistake"/>
          <p:cNvSpPr txBox="1"/>
          <p:nvPr/>
        </p:nvSpPr>
        <p:spPr>
          <a:xfrm>
            <a:off x="1179576" y="5380329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Missing "the" and "a"</a:t>
            </a:r>
          </a:p>
        </p:txBody>
      </p:sp>
      <p:cxnSp>
        <p:nvCxnSpPr>
          <p:cNvPr id="48" name="vis:line"/>
          <p:cNvCxnSpPr/>
          <p:nvPr/>
        </p:nvCxnSpPr>
        <p:spPr>
          <a:xfrm>
            <a:off x="6008686" y="5435193"/>
            <a:ext cx="0" cy="435255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ell:mistakewhy"/>
          <p:cNvSpPr txBox="1"/>
          <p:nvPr/>
        </p:nvSpPr>
        <p:spPr>
          <a:xfrm>
            <a:off x="6173278" y="5380329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"Send report to client" reads as a telegram. Two small words soften it a great deal.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SIX PATTERNS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 date format problem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alertband"/>
          <p:cNvSpPr/>
          <p:nvPr/>
        </p:nvSpPr>
        <p:spPr>
          <a:xfrm>
            <a:off x="0" y="1719072"/>
            <a:ext cx="12191695" cy="9601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519744" y="2014057"/>
            <a:ext cx="386975" cy="353324"/>
          </a:xfrm>
          <a:custGeom>
            <a:avLst/>
            <a:gdLst/>
            <a:ahLst/>
            <a:cxnLst/>
            <a:rect l="l" t="t" r="r" b="b"/>
            <a:pathLst>
              <a:path w="386975" h="353324">
                <a:moveTo>
                  <a:pt x="193488" y="0"/>
                </a:moveTo>
                <a:lnTo>
                  <a:pt x="386975" y="353324"/>
                </a:lnTo>
                <a:lnTo>
                  <a:pt x="0" y="35332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vis:icon"/>
          <p:cNvCxnSpPr/>
          <p:nvPr/>
        </p:nvCxnSpPr>
        <p:spPr>
          <a:xfrm>
            <a:off x="713232" y="2148657"/>
            <a:ext cx="0" cy="10515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692200" y="2291669"/>
            <a:ext cx="42062" cy="420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body:alert"/>
          <p:cNvSpPr txBox="1"/>
          <p:nvPr/>
        </p:nvSpPr>
        <p:spPr>
          <a:xfrm>
            <a:off x="1179576" y="1901952"/>
            <a:ext cx="1050919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FFFFFF"/>
                </a:solidFill>
                <a:latin typeface="Segoe UI Semibold"/>
              </a:rPr>
              <a:t>03/04 means 3 April here and 4 March to plenty of our customers.</a:t>
            </a:r>
          </a:p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We work across India, the UAE and clients elsewhere. Write the month as a word.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50292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722376" y="3506724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icon"/>
          <p:cNvSpPr/>
          <p:nvPr/>
        </p:nvSpPr>
        <p:spPr>
          <a:xfrm>
            <a:off x="801380" y="3585728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3" name="vis:icon"/>
          <p:cNvCxnSpPr/>
          <p:nvPr/>
        </p:nvCxnSpPr>
        <p:spPr>
          <a:xfrm>
            <a:off x="823965" y="3608313"/>
            <a:ext cx="107717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116128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Write "3 April 2026".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430469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4524146" y="3506724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icon"/>
          <p:cNvSpPr/>
          <p:nvPr/>
        </p:nvSpPr>
        <p:spPr>
          <a:xfrm>
            <a:off x="4603150" y="3585728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8" name="vis:icon"/>
          <p:cNvCxnSpPr/>
          <p:nvPr/>
        </p:nvCxnSpPr>
        <p:spPr>
          <a:xfrm>
            <a:off x="4625736" y="3608313"/>
            <a:ext cx="107716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496305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Never 03/04/26.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810646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8325916" y="3506724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icon"/>
          <p:cNvSpPr/>
          <p:nvPr/>
        </p:nvSpPr>
        <p:spPr>
          <a:xfrm>
            <a:off x="8404920" y="3585728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3" name="vis:icon"/>
          <p:cNvCxnSpPr/>
          <p:nvPr/>
        </p:nvCxnSpPr>
        <p:spPr>
          <a:xfrm>
            <a:off x="8427506" y="3608313"/>
            <a:ext cx="107716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876482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Add the day name for deadlines.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POLITE WITHOUT PADDING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Short is not rude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body:lead"/>
          <p:cNvSpPr txBox="1"/>
          <p:nvPr/>
        </p:nvSpPr>
        <p:spPr>
          <a:xfrm>
            <a:off x="502920" y="1719072"/>
            <a:ext cx="834367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A3547"/>
                </a:solidFill>
                <a:latin typeface="Segoe UI"/>
              </a:rPr>
              <a:t>Politeness comes from what you offer, not from how many words you use to ask.</a:t>
            </a:r>
          </a:p>
        </p:txBody>
      </p:sp>
      <p:sp>
        <p:nvSpPr>
          <p:cNvPr id="16" name="vis:panel"/>
          <p:cNvSpPr/>
          <p:nvPr/>
        </p:nvSpPr>
        <p:spPr>
          <a:xfrm>
            <a:off x="502920" y="2432304"/>
            <a:ext cx="5437479" cy="3584448"/>
          </a:xfrm>
          <a:prstGeom prst="roundRect">
            <a:avLst>
              <a:gd name="adj" fmla="val 25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panelspine"/>
          <p:cNvSpPr/>
          <p:nvPr/>
        </p:nvSpPr>
        <p:spPr>
          <a:xfrm>
            <a:off x="502920" y="2432304"/>
            <a:ext cx="68580" cy="3584448"/>
          </a:xfrm>
          <a:prstGeom prst="rect">
            <a:avLst/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chip"/>
          <p:cNvSpPr/>
          <p:nvPr/>
        </p:nvSpPr>
        <p:spPr>
          <a:xfrm>
            <a:off x="777240" y="2670048"/>
            <a:ext cx="1162790" cy="274320"/>
          </a:xfrm>
          <a:prstGeom prst="roundRect">
            <a:avLst>
              <a:gd name="adj" fmla="val 16666"/>
            </a:avLst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vis:chiptext"/>
          <p:cNvSpPr txBox="1"/>
          <p:nvPr/>
        </p:nvSpPr>
        <p:spPr>
          <a:xfrm>
            <a:off x="932688" y="2697479"/>
            <a:ext cx="85189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PADDED</a:t>
            </a:r>
          </a:p>
        </p:txBody>
      </p:sp>
      <p:sp>
        <p:nvSpPr>
          <p:cNvPr id="20" name="vis:paneltitle"/>
          <p:cNvSpPr txBox="1"/>
          <p:nvPr/>
        </p:nvSpPr>
        <p:spPr>
          <a:xfrm>
            <a:off x="777240" y="3090672"/>
            <a:ext cx="4888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Longer, and less clear</a:t>
            </a:r>
          </a:p>
        </p:txBody>
      </p:sp>
      <p:sp>
        <p:nvSpPr>
          <p:cNvPr id="21" name="vis:icon"/>
          <p:cNvSpPr/>
          <p:nvPr/>
        </p:nvSpPr>
        <p:spPr>
          <a:xfrm>
            <a:off x="801014" y="3797503"/>
            <a:ext cx="153619" cy="102412"/>
          </a:xfrm>
          <a:prstGeom prst="roundRect">
            <a:avLst>
              <a:gd name="adj" fmla="val 44642"/>
            </a:avLst>
          </a:prstGeom>
          <a:noFill/>
          <a:ln w="19050">
            <a:solidFill>
              <a:srgbClr val="2A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 flipH="1">
            <a:off x="830275" y="3899915"/>
            <a:ext cx="7315" cy="40234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 flipV="1">
            <a:off x="830275" y="3899915"/>
            <a:ext cx="40233" cy="40234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vis:panelitem"/>
          <p:cNvSpPr txBox="1"/>
          <p:nvPr/>
        </p:nvSpPr>
        <p:spPr>
          <a:xfrm>
            <a:off x="1078992" y="3730752"/>
            <a:ext cx="4587087" cy="461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"It would be greatly appreciated if you could kindly..."</a:t>
            </a:r>
          </a:p>
        </p:txBody>
      </p:sp>
      <p:sp>
        <p:nvSpPr>
          <p:cNvPr id="25" name="vis:icon"/>
          <p:cNvSpPr/>
          <p:nvPr/>
        </p:nvSpPr>
        <p:spPr>
          <a:xfrm>
            <a:off x="801014" y="4314139"/>
            <a:ext cx="153619" cy="102412"/>
          </a:xfrm>
          <a:prstGeom prst="roundRect">
            <a:avLst>
              <a:gd name="adj" fmla="val 44642"/>
            </a:avLst>
          </a:prstGeom>
          <a:noFill/>
          <a:ln w="19050">
            <a:solidFill>
              <a:srgbClr val="2A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6" name="vis:icon"/>
          <p:cNvCxnSpPr/>
          <p:nvPr/>
        </p:nvCxnSpPr>
        <p:spPr>
          <a:xfrm flipH="1">
            <a:off x="830275" y="4416551"/>
            <a:ext cx="7315" cy="40234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vis:icon"/>
          <p:cNvCxnSpPr/>
          <p:nvPr/>
        </p:nvCxnSpPr>
        <p:spPr>
          <a:xfrm flipV="1">
            <a:off x="830275" y="4416551"/>
            <a:ext cx="40233" cy="40234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s:panelitem"/>
          <p:cNvSpPr txBox="1"/>
          <p:nvPr/>
        </p:nvSpPr>
        <p:spPr>
          <a:xfrm>
            <a:off x="1078992" y="4247388"/>
            <a:ext cx="4587087" cy="461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"I was wondering whether it might be possible..."</a:t>
            </a:r>
          </a:p>
        </p:txBody>
      </p:sp>
      <p:sp>
        <p:nvSpPr>
          <p:cNvPr id="29" name="vis:icon"/>
          <p:cNvSpPr/>
          <p:nvPr/>
        </p:nvSpPr>
        <p:spPr>
          <a:xfrm>
            <a:off x="801014" y="4830775"/>
            <a:ext cx="153619" cy="102412"/>
          </a:xfrm>
          <a:prstGeom prst="roundRect">
            <a:avLst>
              <a:gd name="adj" fmla="val 44642"/>
            </a:avLst>
          </a:prstGeom>
          <a:noFill/>
          <a:ln w="19050">
            <a:solidFill>
              <a:srgbClr val="2A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0" name="vis:icon"/>
          <p:cNvCxnSpPr/>
          <p:nvPr/>
        </p:nvCxnSpPr>
        <p:spPr>
          <a:xfrm flipH="1">
            <a:off x="830275" y="4933187"/>
            <a:ext cx="7315" cy="40234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s:icon"/>
          <p:cNvCxnSpPr/>
          <p:nvPr/>
        </p:nvCxnSpPr>
        <p:spPr>
          <a:xfrm flipV="1">
            <a:off x="830275" y="4933187"/>
            <a:ext cx="40233" cy="40234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s:panelitem"/>
          <p:cNvSpPr txBox="1"/>
          <p:nvPr/>
        </p:nvSpPr>
        <p:spPr>
          <a:xfrm>
            <a:off x="1078992" y="4764023"/>
            <a:ext cx="4587087" cy="461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"Please do the needful at the earliest"</a:t>
            </a:r>
          </a:p>
        </p:txBody>
      </p:sp>
      <p:sp>
        <p:nvSpPr>
          <p:cNvPr id="33" name="vis:icon"/>
          <p:cNvSpPr/>
          <p:nvPr/>
        </p:nvSpPr>
        <p:spPr>
          <a:xfrm>
            <a:off x="801014" y="5347411"/>
            <a:ext cx="153619" cy="102412"/>
          </a:xfrm>
          <a:prstGeom prst="roundRect">
            <a:avLst>
              <a:gd name="adj" fmla="val 44642"/>
            </a:avLst>
          </a:prstGeom>
          <a:noFill/>
          <a:ln w="19050">
            <a:solidFill>
              <a:srgbClr val="2A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4" name="vis:icon"/>
          <p:cNvCxnSpPr/>
          <p:nvPr/>
        </p:nvCxnSpPr>
        <p:spPr>
          <a:xfrm flipH="1">
            <a:off x="830275" y="5449823"/>
            <a:ext cx="7315" cy="40234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vis:icon"/>
          <p:cNvCxnSpPr/>
          <p:nvPr/>
        </p:nvCxnSpPr>
        <p:spPr>
          <a:xfrm flipV="1">
            <a:off x="830275" y="5449823"/>
            <a:ext cx="40233" cy="40234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vis:panelitem"/>
          <p:cNvSpPr txBox="1"/>
          <p:nvPr/>
        </p:nvSpPr>
        <p:spPr>
          <a:xfrm>
            <a:off x="1078992" y="5280659"/>
            <a:ext cx="4587087" cy="461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The request is now hard to find</a:t>
            </a:r>
          </a:p>
        </p:txBody>
      </p:sp>
      <p:sp>
        <p:nvSpPr>
          <p:cNvPr id="37" name="vis:panel"/>
          <p:cNvSpPr/>
          <p:nvPr/>
        </p:nvSpPr>
        <p:spPr>
          <a:xfrm>
            <a:off x="6251295" y="2432304"/>
            <a:ext cx="5437479" cy="3584448"/>
          </a:xfrm>
          <a:prstGeom prst="roundRect">
            <a:avLst>
              <a:gd name="adj" fmla="val 25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vis:panelspine"/>
          <p:cNvSpPr/>
          <p:nvPr/>
        </p:nvSpPr>
        <p:spPr>
          <a:xfrm>
            <a:off x="6251295" y="2432304"/>
            <a:ext cx="68580" cy="358444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chip"/>
          <p:cNvSpPr/>
          <p:nvPr/>
        </p:nvSpPr>
        <p:spPr>
          <a:xfrm>
            <a:off x="6525615" y="2670048"/>
            <a:ext cx="2068984" cy="274320"/>
          </a:xfrm>
          <a:prstGeom prst="roundRect">
            <a:avLst>
              <a:gd name="adj" fmla="val 16666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vis:chiptext"/>
          <p:cNvSpPr txBox="1"/>
          <p:nvPr/>
        </p:nvSpPr>
        <p:spPr>
          <a:xfrm>
            <a:off x="6681063" y="2697479"/>
            <a:ext cx="1758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DIRECT AND WARM</a:t>
            </a:r>
          </a:p>
        </p:txBody>
      </p:sp>
      <p:sp>
        <p:nvSpPr>
          <p:cNvPr id="41" name="vis:paneltitle"/>
          <p:cNvSpPr txBox="1"/>
          <p:nvPr/>
        </p:nvSpPr>
        <p:spPr>
          <a:xfrm>
            <a:off x="6525615" y="3090672"/>
            <a:ext cx="4888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Shorter, and friendlier</a:t>
            </a:r>
          </a:p>
        </p:txBody>
      </p:sp>
      <p:cxnSp>
        <p:nvCxnSpPr>
          <p:cNvPr id="42" name="vis:icon"/>
          <p:cNvCxnSpPr/>
          <p:nvPr/>
        </p:nvCxnSpPr>
        <p:spPr>
          <a:xfrm>
            <a:off x="6560362" y="3866997"/>
            <a:ext cx="47549" cy="47549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vis:icon"/>
          <p:cNvCxnSpPr/>
          <p:nvPr/>
        </p:nvCxnSpPr>
        <p:spPr>
          <a:xfrm flipV="1">
            <a:off x="6607911" y="3812133"/>
            <a:ext cx="87783" cy="102413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vis:panelitem"/>
          <p:cNvSpPr txBox="1"/>
          <p:nvPr/>
        </p:nvSpPr>
        <p:spPr>
          <a:xfrm>
            <a:off x="6827367" y="3730752"/>
            <a:ext cx="4587087" cy="461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"Could you send the revised quote by Thursday?"</a:t>
            </a:r>
          </a:p>
        </p:txBody>
      </p:sp>
      <p:cxnSp>
        <p:nvCxnSpPr>
          <p:cNvPr id="45" name="vis:icon"/>
          <p:cNvCxnSpPr/>
          <p:nvPr/>
        </p:nvCxnSpPr>
        <p:spPr>
          <a:xfrm>
            <a:off x="6560362" y="4383633"/>
            <a:ext cx="47549" cy="47549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vis:icon"/>
          <p:cNvCxnSpPr/>
          <p:nvPr/>
        </p:nvCxnSpPr>
        <p:spPr>
          <a:xfrm flipV="1">
            <a:off x="6607911" y="4328769"/>
            <a:ext cx="87783" cy="102413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vis:panelitem"/>
          <p:cNvSpPr txBox="1"/>
          <p:nvPr/>
        </p:nvSpPr>
        <p:spPr>
          <a:xfrm>
            <a:off x="6827367" y="4247388"/>
            <a:ext cx="4587087" cy="461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"Would Friday work instead?"</a:t>
            </a:r>
          </a:p>
        </p:txBody>
      </p:sp>
      <p:cxnSp>
        <p:nvCxnSpPr>
          <p:cNvPr id="48" name="vis:icon"/>
          <p:cNvCxnSpPr/>
          <p:nvPr/>
        </p:nvCxnSpPr>
        <p:spPr>
          <a:xfrm>
            <a:off x="6560362" y="4900269"/>
            <a:ext cx="47549" cy="47549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vis:icon"/>
          <p:cNvCxnSpPr/>
          <p:nvPr/>
        </p:nvCxnSpPr>
        <p:spPr>
          <a:xfrm flipV="1">
            <a:off x="6607911" y="4845405"/>
            <a:ext cx="87783" cy="102413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vis:panelitem"/>
          <p:cNvSpPr txBox="1"/>
          <p:nvPr/>
        </p:nvSpPr>
        <p:spPr>
          <a:xfrm>
            <a:off x="6827367" y="4764023"/>
            <a:ext cx="4587087" cy="461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"Thanks — this one is holding up the install."</a:t>
            </a:r>
          </a:p>
        </p:txBody>
      </p:sp>
      <p:cxnSp>
        <p:nvCxnSpPr>
          <p:cNvPr id="51" name="vis:icon"/>
          <p:cNvCxnSpPr/>
          <p:nvPr/>
        </p:nvCxnSpPr>
        <p:spPr>
          <a:xfrm>
            <a:off x="6560362" y="5416905"/>
            <a:ext cx="47549" cy="47549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vis:icon"/>
          <p:cNvCxnSpPr/>
          <p:nvPr/>
        </p:nvCxnSpPr>
        <p:spPr>
          <a:xfrm flipV="1">
            <a:off x="6607911" y="5362041"/>
            <a:ext cx="87783" cy="102413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vis:panelitem"/>
          <p:cNvSpPr txBox="1"/>
          <p:nvPr/>
        </p:nvSpPr>
        <p:spPr>
          <a:xfrm>
            <a:off x="6827367" y="5280659"/>
            <a:ext cx="4587087" cy="461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The request and the reason are both visible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POLITE WITHOUT PADDING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Three phrases that carry warmth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promptcard"/>
          <p:cNvSpPr/>
          <p:nvPr/>
        </p:nvSpPr>
        <p:spPr>
          <a:xfrm>
            <a:off x="502920" y="1719072"/>
            <a:ext cx="6935230" cy="2146807"/>
          </a:xfrm>
          <a:prstGeom prst="roundRect">
            <a:avLst>
              <a:gd name="adj" fmla="val 4259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promptbar"/>
          <p:cNvSpPr/>
          <p:nvPr/>
        </p:nvSpPr>
        <p:spPr>
          <a:xfrm>
            <a:off x="502920" y="1719072"/>
            <a:ext cx="6935230" cy="402336"/>
          </a:xfrm>
          <a:prstGeom prst="rect">
            <a:avLst/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739932" y="1841235"/>
            <a:ext cx="184343" cy="122895"/>
          </a:xfrm>
          <a:prstGeom prst="roundRect">
            <a:avLst>
              <a:gd name="adj" fmla="val 37202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 flipH="1">
            <a:off x="775045" y="1964131"/>
            <a:ext cx="8778" cy="4828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s:icon"/>
          <p:cNvCxnSpPr/>
          <p:nvPr/>
        </p:nvCxnSpPr>
        <p:spPr>
          <a:xfrm flipV="1">
            <a:off x="775045" y="1964131"/>
            <a:ext cx="48280" cy="4828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copybtn"/>
          <p:cNvSpPr/>
          <p:nvPr/>
        </p:nvSpPr>
        <p:spPr>
          <a:xfrm>
            <a:off x="5577981" y="1792224"/>
            <a:ext cx="1677289" cy="256032"/>
          </a:xfrm>
          <a:prstGeom prst="roundRect">
            <a:avLst>
              <a:gd name="adj" fmla="val 1785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icon"/>
          <p:cNvSpPr/>
          <p:nvPr/>
        </p:nvSpPr>
        <p:spPr>
          <a:xfrm>
            <a:off x="5761592" y="1858060"/>
            <a:ext cx="80832" cy="13057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5780246" y="1895368"/>
            <a:ext cx="435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>
            <a:off x="5780246" y="1923348"/>
            <a:ext cx="435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s:icon"/>
          <p:cNvCxnSpPr/>
          <p:nvPr/>
        </p:nvCxnSpPr>
        <p:spPr>
          <a:xfrm>
            <a:off x="5780246" y="1951329"/>
            <a:ext cx="3109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s:copytext"/>
          <p:cNvSpPr txBox="1"/>
          <p:nvPr/>
        </p:nvSpPr>
        <p:spPr>
          <a:xfrm>
            <a:off x="5989461" y="1851660"/>
            <a:ext cx="106464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Select + copy</a:t>
            </a:r>
          </a:p>
        </p:txBody>
      </p:sp>
      <p:sp>
        <p:nvSpPr>
          <p:cNvPr id="26" name="vis:prompthdr"/>
          <p:cNvSpPr txBox="1"/>
          <p:nvPr/>
        </p:nvSpPr>
        <p:spPr>
          <a:xfrm>
            <a:off x="1051560" y="1828800"/>
            <a:ext cx="441669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60">
                <a:solidFill>
                  <a:srgbClr val="FFFFFF"/>
                </a:solidFill>
                <a:latin typeface="Segoe UI Semibold"/>
              </a:rPr>
              <a:t>Copy these phrases</a:t>
            </a:r>
          </a:p>
        </p:txBody>
      </p:sp>
      <p:sp>
        <p:nvSpPr>
          <p:cNvPr id="27" name="card:prompt"/>
          <p:cNvSpPr txBox="1"/>
          <p:nvPr/>
        </p:nvSpPr>
        <p:spPr>
          <a:xfrm>
            <a:off x="777240" y="2267712"/>
            <a:ext cx="6386590" cy="924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"Thanks for turning this around quickly."  /  "Happy to talk it through if that is easier."  /  "Let me know if the date is a problem and we will work around it."  /  "No rush on this one — end of next week is fine."</a:t>
            </a:r>
          </a:p>
        </p:txBody>
      </p:sp>
      <p:sp>
        <p:nvSpPr>
          <p:cNvPr id="28" name="vis:promptcap"/>
          <p:cNvSpPr txBox="1"/>
          <p:nvPr/>
        </p:nvSpPr>
        <p:spPr>
          <a:xfrm>
            <a:off x="777240" y="3393440"/>
            <a:ext cx="6386590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D1DE"/>
                </a:solidFill>
                <a:latin typeface="Segoe UI"/>
              </a:rPr>
              <a:t>One of these at the end does the work of a paragraph at the start.</a:t>
            </a:r>
          </a:p>
        </p:txBody>
      </p:sp>
      <p:sp>
        <p:nvSpPr>
          <p:cNvPr id="29" name="seclabel"/>
          <p:cNvSpPr txBox="1"/>
          <p:nvPr/>
        </p:nvSpPr>
        <p:spPr>
          <a:xfrm>
            <a:off x="7803910" y="1773936"/>
            <a:ext cx="3884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WHY THIS WORKS</a:t>
            </a:r>
          </a:p>
        </p:txBody>
      </p:sp>
      <p:cxnSp>
        <p:nvCxnSpPr>
          <p:cNvPr id="30" name="vis:icon"/>
          <p:cNvCxnSpPr/>
          <p:nvPr/>
        </p:nvCxnSpPr>
        <p:spPr>
          <a:xfrm>
            <a:off x="7850361" y="2317455"/>
            <a:ext cx="52304" cy="52304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s:icon"/>
          <p:cNvCxnSpPr/>
          <p:nvPr/>
        </p:nvCxnSpPr>
        <p:spPr>
          <a:xfrm flipV="1">
            <a:off x="7902665" y="2257104"/>
            <a:ext cx="96561" cy="112655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ell:why"/>
          <p:cNvSpPr txBox="1"/>
          <p:nvPr/>
        </p:nvSpPr>
        <p:spPr>
          <a:xfrm>
            <a:off x="8187958" y="2157984"/>
            <a:ext cx="350081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Each offers something rather than performing politeness.</a:t>
            </a:r>
          </a:p>
        </p:txBody>
      </p:sp>
      <p:cxnSp>
        <p:nvCxnSpPr>
          <p:cNvPr id="33" name="vis:icon"/>
          <p:cNvCxnSpPr/>
          <p:nvPr/>
        </p:nvCxnSpPr>
        <p:spPr>
          <a:xfrm>
            <a:off x="7850361" y="3250143"/>
            <a:ext cx="52304" cy="52304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vis:icon"/>
          <p:cNvCxnSpPr/>
          <p:nvPr/>
        </p:nvCxnSpPr>
        <p:spPr>
          <a:xfrm flipV="1">
            <a:off x="7902665" y="3189792"/>
            <a:ext cx="96561" cy="112655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ell:why"/>
          <p:cNvSpPr txBox="1"/>
          <p:nvPr/>
        </p:nvSpPr>
        <p:spPr>
          <a:xfrm>
            <a:off x="8187958" y="3090672"/>
            <a:ext cx="350081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They work in every register, from supplier to director.</a:t>
            </a:r>
          </a:p>
        </p:txBody>
      </p:sp>
      <p:cxnSp>
        <p:nvCxnSpPr>
          <p:cNvPr id="36" name="vis:icon"/>
          <p:cNvCxnSpPr/>
          <p:nvPr/>
        </p:nvCxnSpPr>
        <p:spPr>
          <a:xfrm>
            <a:off x="7850361" y="4182831"/>
            <a:ext cx="52304" cy="52304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vis:icon"/>
          <p:cNvCxnSpPr/>
          <p:nvPr/>
        </p:nvCxnSpPr>
        <p:spPr>
          <a:xfrm flipV="1">
            <a:off x="7902665" y="4122480"/>
            <a:ext cx="96561" cy="112655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ell:why"/>
          <p:cNvSpPr txBox="1"/>
          <p:nvPr/>
        </p:nvSpPr>
        <p:spPr>
          <a:xfrm>
            <a:off x="8187958" y="4023360"/>
            <a:ext cx="350081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They are short, so they do not bury the request.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Do this now: proofread one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tepnum"/>
          <p:cNvSpPr/>
          <p:nvPr/>
        </p:nvSpPr>
        <p:spPr>
          <a:xfrm>
            <a:off x="502920" y="2027681"/>
            <a:ext cx="347472" cy="34747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stepnumtext"/>
          <p:cNvSpPr txBox="1"/>
          <p:nvPr/>
        </p:nvSpPr>
        <p:spPr>
          <a:xfrm>
            <a:off x="502920" y="2105406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cxnSp>
        <p:nvCxnSpPr>
          <p:cNvPr id="17" name="vis:line"/>
          <p:cNvCxnSpPr/>
          <p:nvPr/>
        </p:nvCxnSpPr>
        <p:spPr>
          <a:xfrm>
            <a:off x="676656" y="2375154"/>
            <a:ext cx="0" cy="76352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ell:step"/>
          <p:cNvSpPr txBox="1"/>
          <p:nvPr/>
        </p:nvSpPr>
        <p:spPr>
          <a:xfrm>
            <a:off x="1051560" y="1719072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Take an email you are about to send.</a:t>
            </a:r>
          </a:p>
        </p:txBody>
      </p:sp>
      <p:sp>
        <p:nvSpPr>
          <p:cNvPr id="19" name="vis:stepnum"/>
          <p:cNvSpPr/>
          <p:nvPr/>
        </p:nvSpPr>
        <p:spPr>
          <a:xfrm>
            <a:off x="502920" y="3138677"/>
            <a:ext cx="347472" cy="34747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stepnumtext"/>
          <p:cNvSpPr txBox="1"/>
          <p:nvPr/>
        </p:nvSpPr>
        <p:spPr>
          <a:xfrm>
            <a:off x="502920" y="3216401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cxnSp>
        <p:nvCxnSpPr>
          <p:cNvPr id="21" name="vis:line"/>
          <p:cNvCxnSpPr/>
          <p:nvPr/>
        </p:nvCxnSpPr>
        <p:spPr>
          <a:xfrm>
            <a:off x="676656" y="3486150"/>
            <a:ext cx="0" cy="76352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ell:step"/>
          <p:cNvSpPr txBox="1"/>
          <p:nvPr/>
        </p:nvSpPr>
        <p:spPr>
          <a:xfrm>
            <a:off x="1051560" y="2830068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Read it aloud, quietly. Mark anywhere you needed a breath.</a:t>
            </a:r>
          </a:p>
        </p:txBody>
      </p:sp>
      <p:sp>
        <p:nvSpPr>
          <p:cNvPr id="23" name="vis:stepnum"/>
          <p:cNvSpPr/>
          <p:nvPr/>
        </p:nvSpPr>
        <p:spPr>
          <a:xfrm>
            <a:off x="502920" y="4249674"/>
            <a:ext cx="347472" cy="34747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stepnumtext"/>
          <p:cNvSpPr txBox="1"/>
          <p:nvPr/>
        </p:nvSpPr>
        <p:spPr>
          <a:xfrm>
            <a:off x="502920" y="4327398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cxnSp>
        <p:nvCxnSpPr>
          <p:cNvPr id="25" name="vis:line"/>
          <p:cNvCxnSpPr/>
          <p:nvPr/>
        </p:nvCxnSpPr>
        <p:spPr>
          <a:xfrm>
            <a:off x="676656" y="4597146"/>
            <a:ext cx="0" cy="76352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ell:step"/>
          <p:cNvSpPr txBox="1"/>
          <p:nvPr/>
        </p:nvSpPr>
        <p:spPr>
          <a:xfrm>
            <a:off x="1051560" y="3941064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Split those sentences at the "and" or the "which".</a:t>
            </a:r>
          </a:p>
        </p:txBody>
      </p:sp>
      <p:sp>
        <p:nvSpPr>
          <p:cNvPr id="27" name="vis:stepnum"/>
          <p:cNvSpPr/>
          <p:nvPr/>
        </p:nvSpPr>
        <p:spPr>
          <a:xfrm>
            <a:off x="502920" y="5360670"/>
            <a:ext cx="347472" cy="34747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stepnumtext"/>
          <p:cNvSpPr txBox="1"/>
          <p:nvPr/>
        </p:nvSpPr>
        <p:spPr>
          <a:xfrm>
            <a:off x="502920" y="5438394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9" name="cell:step"/>
          <p:cNvSpPr txBox="1"/>
          <p:nvPr/>
        </p:nvSpPr>
        <p:spPr>
          <a:xfrm>
            <a:off x="1051560" y="5052060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Replace every vague time with a real one.</a:t>
            </a:r>
          </a:p>
        </p:txBody>
      </p:sp>
      <p:sp>
        <p:nvSpPr>
          <p:cNvPr id="30" name="vis:promptcard"/>
          <p:cNvSpPr/>
          <p:nvPr/>
        </p:nvSpPr>
        <p:spPr>
          <a:xfrm>
            <a:off x="6461607" y="1719072"/>
            <a:ext cx="5227167" cy="2609087"/>
          </a:xfrm>
          <a:prstGeom prst="roundRect">
            <a:avLst>
              <a:gd name="adj" fmla="val 3504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promptbar"/>
          <p:cNvSpPr/>
          <p:nvPr/>
        </p:nvSpPr>
        <p:spPr>
          <a:xfrm>
            <a:off x="6461607" y="1719072"/>
            <a:ext cx="5227167" cy="402336"/>
          </a:xfrm>
          <a:prstGeom prst="rect">
            <a:avLst/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icon"/>
          <p:cNvSpPr/>
          <p:nvPr/>
        </p:nvSpPr>
        <p:spPr>
          <a:xfrm>
            <a:off x="6698620" y="1841235"/>
            <a:ext cx="184343" cy="122895"/>
          </a:xfrm>
          <a:prstGeom prst="roundRect">
            <a:avLst>
              <a:gd name="adj" fmla="val 37202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3" name="vis:icon"/>
          <p:cNvCxnSpPr/>
          <p:nvPr/>
        </p:nvCxnSpPr>
        <p:spPr>
          <a:xfrm flipH="1">
            <a:off x="6733733" y="1964131"/>
            <a:ext cx="8778" cy="4828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vis:icon"/>
          <p:cNvCxnSpPr/>
          <p:nvPr/>
        </p:nvCxnSpPr>
        <p:spPr>
          <a:xfrm flipV="1">
            <a:off x="6733733" y="1964131"/>
            <a:ext cx="48280" cy="4828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vis:copybtn"/>
          <p:cNvSpPr/>
          <p:nvPr/>
        </p:nvSpPr>
        <p:spPr>
          <a:xfrm>
            <a:off x="9828606" y="1792224"/>
            <a:ext cx="1677289" cy="256032"/>
          </a:xfrm>
          <a:prstGeom prst="roundRect">
            <a:avLst>
              <a:gd name="adj" fmla="val 1785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icon"/>
          <p:cNvSpPr/>
          <p:nvPr/>
        </p:nvSpPr>
        <p:spPr>
          <a:xfrm>
            <a:off x="10012217" y="1858060"/>
            <a:ext cx="80832" cy="13057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7" name="vis:icon"/>
          <p:cNvCxnSpPr/>
          <p:nvPr/>
        </p:nvCxnSpPr>
        <p:spPr>
          <a:xfrm>
            <a:off x="10030871" y="1895368"/>
            <a:ext cx="435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vis:icon"/>
          <p:cNvCxnSpPr/>
          <p:nvPr/>
        </p:nvCxnSpPr>
        <p:spPr>
          <a:xfrm>
            <a:off x="10030871" y="1923348"/>
            <a:ext cx="435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is:icon"/>
          <p:cNvCxnSpPr/>
          <p:nvPr/>
        </p:nvCxnSpPr>
        <p:spPr>
          <a:xfrm>
            <a:off x="10030871" y="1951329"/>
            <a:ext cx="3109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is:copytext"/>
          <p:cNvSpPr txBox="1"/>
          <p:nvPr/>
        </p:nvSpPr>
        <p:spPr>
          <a:xfrm>
            <a:off x="10240086" y="1851660"/>
            <a:ext cx="106464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Select + copy</a:t>
            </a:r>
          </a:p>
        </p:txBody>
      </p:sp>
      <p:sp>
        <p:nvSpPr>
          <p:cNvPr id="41" name="vis:prompthdr"/>
          <p:cNvSpPr txBox="1"/>
          <p:nvPr/>
        </p:nvSpPr>
        <p:spPr>
          <a:xfrm>
            <a:off x="7010247" y="1828800"/>
            <a:ext cx="27086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60">
                <a:solidFill>
                  <a:srgbClr val="FFFFFF"/>
                </a:solidFill>
                <a:latin typeface="Segoe UI Semibold"/>
              </a:rPr>
              <a:t>Copy this prompt</a:t>
            </a:r>
          </a:p>
        </p:txBody>
      </p:sp>
      <p:sp>
        <p:nvSpPr>
          <p:cNvPr id="42" name="card:prompt"/>
          <p:cNvSpPr txBox="1"/>
          <p:nvPr/>
        </p:nvSpPr>
        <p:spPr>
          <a:xfrm>
            <a:off x="6735927" y="2267712"/>
            <a:ext cx="4678527" cy="1386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Rewrite the text below into short sentences, one idea each. Keep my meaning and my facts exactly. Replace vague times with the specific ones I have given. Do not make it more formal and do not add anything. Plain business English.</a:t>
            </a:r>
          </a:p>
        </p:txBody>
      </p:sp>
      <p:sp>
        <p:nvSpPr>
          <p:cNvPr id="43" name="vis:promptcap"/>
          <p:cNvSpPr txBox="1"/>
          <p:nvPr/>
        </p:nvSpPr>
        <p:spPr>
          <a:xfrm>
            <a:off x="6735927" y="3855719"/>
            <a:ext cx="4678527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D1DE"/>
                </a:solidFill>
                <a:latin typeface="Segoe UI"/>
              </a:rPr>
              <a:t>"Do not make it more formal" is the important instruction.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 one-minute proofread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checktile"/>
          <p:cNvSpPr/>
          <p:nvPr/>
        </p:nvSpPr>
        <p:spPr>
          <a:xfrm>
            <a:off x="502920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checkdot"/>
          <p:cNvSpPr/>
          <p:nvPr/>
        </p:nvSpPr>
        <p:spPr>
          <a:xfrm>
            <a:off x="722376" y="2894076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815279" y="3052998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icon"/>
          <p:cNvCxnSpPr/>
          <p:nvPr/>
        </p:nvCxnSpPr>
        <p:spPr>
          <a:xfrm flipV="1">
            <a:off x="860450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checkitem"/>
          <p:cNvSpPr txBox="1"/>
          <p:nvPr/>
        </p:nvSpPr>
        <p:spPr>
          <a:xfrm>
            <a:off x="1161288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Any sentence over about twenty words — split it.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6205575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6425031" y="2894076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6517934" y="3052998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 flipV="1">
            <a:off x="6563106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6863943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Any date written as numbers — spell the month.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502920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722376" y="4530852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815279" y="4689774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 flipV="1">
            <a:off x="860450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1161288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Any "same", "revert" or "needful" — name the thing.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6205575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6425031" y="4530852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2" name="vis:icon"/>
          <p:cNvCxnSpPr/>
          <p:nvPr/>
        </p:nvCxnSpPr>
        <p:spPr>
          <a:xfrm>
            <a:off x="6517934" y="4689774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6563106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6863943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Any vague time — replace with a real 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Using tools without losing yourself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treeq"/>
          <p:cNvSpPr/>
          <p:nvPr/>
        </p:nvSpPr>
        <p:spPr>
          <a:xfrm>
            <a:off x="3746818" y="1810512"/>
            <a:ext cx="4698059" cy="841248"/>
          </a:xfrm>
          <a:prstGeom prst="roundRect">
            <a:avLst>
              <a:gd name="adj" fmla="val 10869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treeqtext"/>
          <p:cNvSpPr txBox="1"/>
          <p:nvPr/>
        </p:nvSpPr>
        <p:spPr>
          <a:xfrm>
            <a:off x="3947986" y="1938528"/>
            <a:ext cx="4295723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Does the corrected version still sound like me?</a:t>
            </a:r>
          </a:p>
        </p:txBody>
      </p:sp>
      <p:cxnSp>
        <p:nvCxnSpPr>
          <p:cNvPr id="17" name="vis:line"/>
          <p:cNvCxnSpPr/>
          <p:nvPr/>
        </p:nvCxnSpPr>
        <p:spPr>
          <a:xfrm>
            <a:off x="6095847" y="2651760"/>
            <a:ext cx="0" cy="237743"/>
          </a:xfrm>
          <a:prstGeom prst="line">
            <a:avLst/>
          </a:prstGeom>
          <a:ln w="1905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line"/>
          <p:cNvCxnSpPr/>
          <p:nvPr/>
        </p:nvCxnSpPr>
        <p:spPr>
          <a:xfrm>
            <a:off x="2516373" y="2889503"/>
            <a:ext cx="7158948" cy="0"/>
          </a:xfrm>
          <a:prstGeom prst="line">
            <a:avLst/>
          </a:prstGeom>
          <a:ln w="1905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s:line"/>
          <p:cNvCxnSpPr/>
          <p:nvPr/>
        </p:nvCxnSpPr>
        <p:spPr>
          <a:xfrm>
            <a:off x="2516373" y="2889503"/>
            <a:ext cx="0" cy="274321"/>
          </a:xfrm>
          <a:prstGeom prst="line">
            <a:avLst/>
          </a:prstGeom>
          <a:ln w="19050">
            <a:solidFill>
              <a:srgbClr val="C9D1D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chip"/>
          <p:cNvSpPr/>
          <p:nvPr/>
        </p:nvSpPr>
        <p:spPr>
          <a:xfrm>
            <a:off x="2138739" y="3026664"/>
            <a:ext cx="755269" cy="274320"/>
          </a:xfrm>
          <a:prstGeom prst="roundRect">
            <a:avLst>
              <a:gd name="adj" fmla="val 1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iptext"/>
          <p:cNvSpPr txBox="1"/>
          <p:nvPr/>
        </p:nvSpPr>
        <p:spPr>
          <a:xfrm>
            <a:off x="2294187" y="3054096"/>
            <a:ext cx="4443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NO</a:t>
            </a:r>
          </a:p>
        </p:txBody>
      </p:sp>
      <p:sp>
        <p:nvSpPr>
          <p:cNvPr id="22" name="vis:treebox"/>
          <p:cNvSpPr/>
          <p:nvPr/>
        </p:nvSpPr>
        <p:spPr>
          <a:xfrm>
            <a:off x="279202" y="3493008"/>
            <a:ext cx="4474342" cy="2523744"/>
          </a:xfrm>
          <a:prstGeom prst="roundRect">
            <a:avLst>
              <a:gd name="adj" fmla="val 3623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treebar"/>
          <p:cNvSpPr/>
          <p:nvPr/>
        </p:nvSpPr>
        <p:spPr>
          <a:xfrm>
            <a:off x="279202" y="3493008"/>
            <a:ext cx="4474342" cy="685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icon"/>
          <p:cNvSpPr/>
          <p:nvPr/>
        </p:nvSpPr>
        <p:spPr>
          <a:xfrm>
            <a:off x="550596" y="3819265"/>
            <a:ext cx="225308" cy="225308"/>
          </a:xfrm>
          <a:prstGeom prst="ellipse">
            <a:avLst/>
          </a:prstGeom>
          <a:noFill/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5" name="vis:icon"/>
          <p:cNvCxnSpPr/>
          <p:nvPr/>
        </p:nvCxnSpPr>
        <p:spPr>
          <a:xfrm>
            <a:off x="583880" y="3852550"/>
            <a:ext cx="158740" cy="158739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s:treelabel"/>
          <p:cNvSpPr txBox="1"/>
          <p:nvPr/>
        </p:nvSpPr>
        <p:spPr>
          <a:xfrm>
            <a:off x="900994" y="3749039"/>
            <a:ext cx="36148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Pull it back</a:t>
            </a:r>
          </a:p>
        </p:txBody>
      </p:sp>
      <p:sp>
        <p:nvSpPr>
          <p:cNvPr id="27" name="vis:treedetail"/>
          <p:cNvSpPr txBox="1"/>
          <p:nvPr/>
        </p:nvSpPr>
        <p:spPr>
          <a:xfrm>
            <a:off x="535234" y="4224528"/>
            <a:ext cx="3962278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If it now reads like somebody else, change three words back. A message that does not sound like you is harder to have a conversation about.</a:t>
            </a:r>
          </a:p>
        </p:txBody>
      </p:sp>
      <p:cxnSp>
        <p:nvCxnSpPr>
          <p:cNvPr id="28" name="vis:line"/>
          <p:cNvCxnSpPr/>
          <p:nvPr/>
        </p:nvCxnSpPr>
        <p:spPr>
          <a:xfrm>
            <a:off x="9675321" y="2889503"/>
            <a:ext cx="0" cy="274321"/>
          </a:xfrm>
          <a:prstGeom prst="line">
            <a:avLst/>
          </a:prstGeom>
          <a:ln w="19050">
            <a:solidFill>
              <a:srgbClr val="C9D1D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vis:chip"/>
          <p:cNvSpPr/>
          <p:nvPr/>
        </p:nvSpPr>
        <p:spPr>
          <a:xfrm>
            <a:off x="9282446" y="3026664"/>
            <a:ext cx="785749" cy="274320"/>
          </a:xfrm>
          <a:prstGeom prst="roundRect">
            <a:avLst>
              <a:gd name="adj" fmla="val 16666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chiptext"/>
          <p:cNvSpPr txBox="1"/>
          <p:nvPr/>
        </p:nvSpPr>
        <p:spPr>
          <a:xfrm>
            <a:off x="9437894" y="3054096"/>
            <a:ext cx="4748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YES</a:t>
            </a:r>
          </a:p>
        </p:txBody>
      </p:sp>
      <p:sp>
        <p:nvSpPr>
          <p:cNvPr id="31" name="vis:treebox"/>
          <p:cNvSpPr/>
          <p:nvPr/>
        </p:nvSpPr>
        <p:spPr>
          <a:xfrm>
            <a:off x="7438150" y="3493008"/>
            <a:ext cx="4474342" cy="2523744"/>
          </a:xfrm>
          <a:prstGeom prst="roundRect">
            <a:avLst>
              <a:gd name="adj" fmla="val 3623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treebar"/>
          <p:cNvSpPr/>
          <p:nvPr/>
        </p:nvSpPr>
        <p:spPr>
          <a:xfrm>
            <a:off x="7438150" y="3493008"/>
            <a:ext cx="4474342" cy="6858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3" name="vis:icon"/>
          <p:cNvCxnSpPr/>
          <p:nvPr/>
        </p:nvCxnSpPr>
        <p:spPr>
          <a:xfrm>
            <a:off x="7730026" y="3937040"/>
            <a:ext cx="66569" cy="66568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vis:icon"/>
          <p:cNvCxnSpPr/>
          <p:nvPr/>
        </p:nvCxnSpPr>
        <p:spPr>
          <a:xfrm flipV="1">
            <a:off x="7796595" y="3860231"/>
            <a:ext cx="122895" cy="143377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vis:treelabel"/>
          <p:cNvSpPr txBox="1"/>
          <p:nvPr/>
        </p:nvSpPr>
        <p:spPr>
          <a:xfrm>
            <a:off x="8059942" y="3749039"/>
            <a:ext cx="36148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Send it</a:t>
            </a:r>
          </a:p>
        </p:txBody>
      </p:sp>
      <p:sp>
        <p:nvSpPr>
          <p:cNvPr id="36" name="vis:treedetail"/>
          <p:cNvSpPr txBox="1"/>
          <p:nvPr/>
        </p:nvSpPr>
        <p:spPr>
          <a:xfrm>
            <a:off x="7694182" y="4224528"/>
            <a:ext cx="3962278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Grammar tools and AI are genuinely useful for catching slips. If the meaning and the voice are yours, the help was worth having.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Confidence, not perfection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tile"/>
          <p:cNvSpPr/>
          <p:nvPr/>
        </p:nvSpPr>
        <p:spPr>
          <a:xfrm>
            <a:off x="502920" y="1719072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badge"/>
          <p:cNvSpPr/>
          <p:nvPr/>
        </p:nvSpPr>
        <p:spPr>
          <a:xfrm>
            <a:off x="777240" y="2011679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983177" y="2347711"/>
            <a:ext cx="89011" cy="89011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icon"/>
          <p:cNvCxnSpPr/>
          <p:nvPr/>
        </p:nvCxnSpPr>
        <p:spPr>
          <a:xfrm flipV="1">
            <a:off x="1072188" y="2245005"/>
            <a:ext cx="164329" cy="191717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tilelabel"/>
          <p:cNvSpPr txBox="1"/>
          <p:nvPr/>
        </p:nvSpPr>
        <p:spPr>
          <a:xfrm>
            <a:off x="777240" y="2852928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Clear beats correct</a:t>
            </a:r>
          </a:p>
        </p:txBody>
      </p:sp>
      <p:sp>
        <p:nvSpPr>
          <p:cNvPr id="20" name="cell:tilesub"/>
          <p:cNvSpPr txBox="1"/>
          <p:nvPr/>
        </p:nvSpPr>
        <p:spPr>
          <a:xfrm>
            <a:off x="777240" y="3493008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short sentence with one small error is far better than a perfect one nobody can parse.</a:t>
            </a:r>
          </a:p>
        </p:txBody>
      </p:sp>
      <p:sp>
        <p:nvSpPr>
          <p:cNvPr id="21" name="vis:tile"/>
          <p:cNvSpPr/>
          <p:nvPr/>
        </p:nvSpPr>
        <p:spPr>
          <a:xfrm>
            <a:off x="4322978" y="1719072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badge"/>
          <p:cNvSpPr/>
          <p:nvPr/>
        </p:nvSpPr>
        <p:spPr>
          <a:xfrm>
            <a:off x="4597298" y="2011679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icon"/>
          <p:cNvSpPr/>
          <p:nvPr/>
        </p:nvSpPr>
        <p:spPr>
          <a:xfrm>
            <a:off x="4861435" y="2193652"/>
            <a:ext cx="130093" cy="130093"/>
          </a:xfrm>
          <a:prstGeom prst="ellipse">
            <a:avLst/>
          </a:prstGeom>
          <a:noFill/>
          <a:ln w="1905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icon"/>
          <p:cNvSpPr/>
          <p:nvPr/>
        </p:nvSpPr>
        <p:spPr>
          <a:xfrm>
            <a:off x="4789541" y="2375099"/>
            <a:ext cx="273881" cy="119823"/>
          </a:xfrm>
          <a:custGeom>
            <a:avLst/>
            <a:gdLst/>
            <a:ahLst/>
            <a:cxnLst/>
            <a:rect l="l" t="t" r="r" b="b"/>
            <a:pathLst>
              <a:path w="273881" h="119823">
                <a:moveTo>
                  <a:pt x="0" y="119823"/>
                </a:moveTo>
                <a:lnTo>
                  <a:pt x="20541" y="0"/>
                </a:lnTo>
                <a:lnTo>
                  <a:pt x="253340" y="0"/>
                </a:lnTo>
                <a:lnTo>
                  <a:pt x="273881" y="119823"/>
                </a:lnTo>
              </a:path>
            </a:pathLst>
          </a:custGeom>
          <a:noFill/>
          <a:ln w="1905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ell:tilelabel"/>
          <p:cNvSpPr txBox="1"/>
          <p:nvPr/>
        </p:nvSpPr>
        <p:spPr>
          <a:xfrm>
            <a:off x="4597298" y="2852928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Nobody is counting</a:t>
            </a:r>
          </a:p>
        </p:txBody>
      </p:sp>
      <p:sp>
        <p:nvSpPr>
          <p:cNvPr id="26" name="cell:tilesub"/>
          <p:cNvSpPr txBox="1"/>
          <p:nvPr/>
        </p:nvSpPr>
        <p:spPr>
          <a:xfrm>
            <a:off x="4597298" y="3493008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Colleagues remember whether you were clear and on time, not whether an article was missing.</a:t>
            </a:r>
          </a:p>
        </p:txBody>
      </p:sp>
      <p:sp>
        <p:nvSpPr>
          <p:cNvPr id="27" name="vis:tile"/>
          <p:cNvSpPr/>
          <p:nvPr/>
        </p:nvSpPr>
        <p:spPr>
          <a:xfrm>
            <a:off x="8143036" y="1719072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badge"/>
          <p:cNvSpPr/>
          <p:nvPr/>
        </p:nvSpPr>
        <p:spPr>
          <a:xfrm>
            <a:off x="8417356" y="2011679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icon"/>
          <p:cNvSpPr/>
          <p:nvPr/>
        </p:nvSpPr>
        <p:spPr>
          <a:xfrm>
            <a:off x="8609893" y="2222270"/>
            <a:ext cx="273295" cy="255534"/>
          </a:xfrm>
          <a:custGeom>
            <a:avLst/>
            <a:gdLst/>
            <a:ahLst/>
            <a:cxnLst/>
            <a:rect l="l" t="t" r="r" b="b"/>
            <a:pathLst>
              <a:path w="273295" h="255534">
                <a:moveTo>
                  <a:pt x="205118" y="0"/>
                </a:moveTo>
                <a:lnTo>
                  <a:pt x="239605" y="28302"/>
                </a:lnTo>
                <a:lnTo>
                  <a:pt x="263164" y="66189"/>
                </a:lnTo>
                <a:lnTo>
                  <a:pt x="273295" y="109637"/>
                </a:lnTo>
                <a:lnTo>
                  <a:pt x="268922" y="154036"/>
                </a:lnTo>
                <a:lnTo>
                  <a:pt x="250509" y="194674"/>
                </a:lnTo>
                <a:lnTo>
                  <a:pt x="220011" y="227236"/>
                </a:lnTo>
                <a:lnTo>
                  <a:pt x="180665" y="248267"/>
                </a:lnTo>
                <a:lnTo>
                  <a:pt x="136647" y="255534"/>
                </a:lnTo>
                <a:lnTo>
                  <a:pt x="92629" y="248267"/>
                </a:lnTo>
                <a:lnTo>
                  <a:pt x="53283" y="227236"/>
                </a:lnTo>
                <a:lnTo>
                  <a:pt x="22785" y="194674"/>
                </a:lnTo>
                <a:lnTo>
                  <a:pt x="4373" y="154036"/>
                </a:lnTo>
                <a:lnTo>
                  <a:pt x="0" y="109637"/>
                </a:lnTo>
                <a:lnTo>
                  <a:pt x="10131" y="66189"/>
                </a:lnTo>
                <a:lnTo>
                  <a:pt x="33690" y="28302"/>
                </a:lnTo>
                <a:lnTo>
                  <a:pt x="68177" y="0"/>
                </a:lnTo>
              </a:path>
            </a:pathLst>
          </a:custGeom>
          <a:noFill/>
          <a:ln w="1905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s:icon"/>
          <p:cNvSpPr/>
          <p:nvPr/>
        </p:nvSpPr>
        <p:spPr>
          <a:xfrm>
            <a:off x="8662664" y="2195022"/>
            <a:ext cx="62993" cy="54091"/>
          </a:xfrm>
          <a:custGeom>
            <a:avLst/>
            <a:gdLst/>
            <a:ahLst/>
            <a:cxnLst/>
            <a:rect l="l" t="t" r="r" b="b"/>
            <a:pathLst>
              <a:path w="62993" h="54091">
                <a:moveTo>
                  <a:pt x="62993" y="0"/>
                </a:moveTo>
                <a:lnTo>
                  <a:pt x="30812" y="54091"/>
                </a:lnTo>
                <a:lnTo>
                  <a:pt x="0" y="685"/>
                </a:lnTo>
                <a:close/>
              </a:path>
            </a:pathLst>
          </a:cu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ell:tilelabel"/>
          <p:cNvSpPr txBox="1"/>
          <p:nvPr/>
        </p:nvSpPr>
        <p:spPr>
          <a:xfrm>
            <a:off x="8417356" y="2852928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It improves by writing</a:t>
            </a:r>
          </a:p>
        </p:txBody>
      </p:sp>
      <p:sp>
        <p:nvSpPr>
          <p:cNvPr id="32" name="cell:tilesub"/>
          <p:cNvSpPr txBox="1"/>
          <p:nvPr/>
        </p:nvSpPr>
        <p:spPr>
          <a:xfrm>
            <a:off x="8417356" y="3493008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Six months of short sentences does more than any grammar course.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 English rule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alertband"/>
          <p:cNvSpPr/>
          <p:nvPr/>
        </p:nvSpPr>
        <p:spPr>
          <a:xfrm>
            <a:off x="0" y="1719072"/>
            <a:ext cx="12191695" cy="960120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519744" y="2014057"/>
            <a:ext cx="386975" cy="353324"/>
          </a:xfrm>
          <a:custGeom>
            <a:avLst/>
            <a:gdLst/>
            <a:ahLst/>
            <a:cxnLst/>
            <a:rect l="l" t="t" r="r" b="b"/>
            <a:pathLst>
              <a:path w="386975" h="353324">
                <a:moveTo>
                  <a:pt x="193488" y="0"/>
                </a:moveTo>
                <a:lnTo>
                  <a:pt x="386975" y="353324"/>
                </a:lnTo>
                <a:lnTo>
                  <a:pt x="0" y="35332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vis:icon"/>
          <p:cNvCxnSpPr/>
          <p:nvPr/>
        </p:nvCxnSpPr>
        <p:spPr>
          <a:xfrm>
            <a:off x="713232" y="2148657"/>
            <a:ext cx="0" cy="10515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692200" y="2291669"/>
            <a:ext cx="42062" cy="420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body:alert"/>
          <p:cNvSpPr txBox="1"/>
          <p:nvPr/>
        </p:nvSpPr>
        <p:spPr>
          <a:xfrm>
            <a:off x="1179576" y="1901952"/>
            <a:ext cx="1050919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FFFFFF"/>
                </a:solidFill>
                <a:latin typeface="Segoe UI Semibold"/>
              </a:rPr>
              <a:t>One idea per sentence, a real time instead of a vague one, and the month spelled out.</a:t>
            </a:r>
          </a:p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Three habits that remove most of the misunderstandings work English causes.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50292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722376" y="3506724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815279" y="3665646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 flipV="1">
            <a:off x="860450" y="3613525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116128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One idea, one full stop.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430469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4524146" y="3506724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4617049" y="3665646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 flipV="1">
            <a:off x="4662220" y="3613525"/>
            <a:ext cx="83394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496305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Real times, not vague ones.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810646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8325916" y="3506724"/>
            <a:ext cx="310896" cy="31089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2" name="vis:icon"/>
          <p:cNvCxnSpPr/>
          <p:nvPr/>
        </p:nvCxnSpPr>
        <p:spPr>
          <a:xfrm>
            <a:off x="8418819" y="3665646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8463991" y="3613525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876482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Months as words.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CHOOSE WHAT YOU'D DO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Shift handover, 6:00 am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ccard"/>
          <p:cNvSpPr/>
          <p:nvPr/>
        </p:nvSpPr>
        <p:spPr>
          <a:xfrm>
            <a:off x="502920" y="1719072"/>
            <a:ext cx="11185855" cy="1097280"/>
          </a:xfrm>
          <a:prstGeom prst="roundRect">
            <a:avLst>
              <a:gd name="adj" fmla="val 8333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942929" y="2063252"/>
            <a:ext cx="180685" cy="180685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843076" y="2315260"/>
            <a:ext cx="380391" cy="166421"/>
          </a:xfrm>
          <a:custGeom>
            <a:avLst/>
            <a:gdLst/>
            <a:ahLst/>
            <a:cxnLst/>
            <a:rect l="l" t="t" r="r" b="b"/>
            <a:pathLst>
              <a:path w="380391" h="166421">
                <a:moveTo>
                  <a:pt x="0" y="166421"/>
                </a:moveTo>
                <a:lnTo>
                  <a:pt x="28530" y="0"/>
                </a:lnTo>
                <a:lnTo>
                  <a:pt x="351861" y="0"/>
                </a:lnTo>
                <a:lnTo>
                  <a:pt x="380391" y="166421"/>
                </a:lnTo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situation"/>
          <p:cNvSpPr txBox="1"/>
          <p:nvPr/>
        </p:nvSpPr>
        <p:spPr>
          <a:xfrm>
            <a:off x="1472184" y="1901952"/>
            <a:ext cx="990569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You are writing the handover note for the incoming supervisor. The main machine stopped, was repaired, and is now running. You have two minutes.</a:t>
            </a:r>
          </a:p>
        </p:txBody>
      </p:sp>
      <p:sp>
        <p:nvSpPr>
          <p:cNvPr id="19" name="quiz:choice">
            <a:hlinkClick action="ppaction://hlinksldjump" r:id="rId3"/>
          </p:cNvPr>
          <p:cNvSpPr/>
          <p:nvPr/>
        </p:nvSpPr>
        <p:spPr>
          <a:xfrm>
            <a:off x="502920" y="3108960"/>
            <a:ext cx="3570122" cy="2907792"/>
          </a:xfrm>
          <a:prstGeom prst="roundRect">
            <a:avLst>
              <a:gd name="adj" fmla="val 3144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chip"/>
          <p:cNvSpPr/>
          <p:nvPr/>
        </p:nvSpPr>
        <p:spPr>
          <a:xfrm>
            <a:off x="758952" y="3364991"/>
            <a:ext cx="1296924" cy="274320"/>
          </a:xfrm>
          <a:prstGeom prst="roundRect">
            <a:avLst>
              <a:gd name="adj" fmla="val 16666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iptext"/>
          <p:cNvSpPr txBox="1"/>
          <p:nvPr/>
        </p:nvSpPr>
        <p:spPr>
          <a:xfrm>
            <a:off x="914400" y="3392423"/>
            <a:ext cx="9860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OPTION A</a:t>
            </a:r>
          </a:p>
        </p:txBody>
      </p:sp>
      <p:sp>
        <p:nvSpPr>
          <p:cNvPr id="22" name="cell:choice"/>
          <p:cNvSpPr txBox="1"/>
          <p:nvPr/>
        </p:nvSpPr>
        <p:spPr>
          <a:xfrm>
            <a:off x="758952" y="3913632"/>
            <a:ext cx="3058058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Write "Machine is running since morning, no issue now."</a:t>
            </a:r>
          </a:p>
        </p:txBody>
      </p:sp>
      <p:cxnSp>
        <p:nvCxnSpPr>
          <p:cNvPr id="23" name="vis:choicearrow"/>
          <p:cNvCxnSpPr/>
          <p:nvPr/>
        </p:nvCxnSpPr>
        <p:spPr>
          <a:xfrm>
            <a:off x="758952" y="5632704"/>
            <a:ext cx="292608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oicego"/>
          <p:cNvSpPr txBox="1"/>
          <p:nvPr/>
        </p:nvSpPr>
        <p:spPr>
          <a:xfrm>
            <a:off x="1161288" y="5504688"/>
            <a:ext cx="26557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See what happens</a:t>
            </a:r>
          </a:p>
        </p:txBody>
      </p:sp>
      <p:sp>
        <p:nvSpPr>
          <p:cNvPr id="25" name="quiz:choice">
            <a:hlinkClick action="ppaction://hlinksldjump" r:id="rId4"/>
          </p:cNvPr>
          <p:cNvSpPr/>
          <p:nvPr/>
        </p:nvSpPr>
        <p:spPr>
          <a:xfrm>
            <a:off x="4310786" y="3108960"/>
            <a:ext cx="3570122" cy="2907792"/>
          </a:xfrm>
          <a:prstGeom prst="roundRect">
            <a:avLst>
              <a:gd name="adj" fmla="val 3144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ip"/>
          <p:cNvSpPr/>
          <p:nvPr/>
        </p:nvSpPr>
        <p:spPr>
          <a:xfrm>
            <a:off x="4566818" y="3364991"/>
            <a:ext cx="1287399" cy="274320"/>
          </a:xfrm>
          <a:prstGeom prst="roundRect">
            <a:avLst>
              <a:gd name="adj" fmla="val 16666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chiptext"/>
          <p:cNvSpPr txBox="1"/>
          <p:nvPr/>
        </p:nvSpPr>
        <p:spPr>
          <a:xfrm>
            <a:off x="4722266" y="3392423"/>
            <a:ext cx="976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OPTION B</a:t>
            </a:r>
          </a:p>
        </p:txBody>
      </p:sp>
      <p:sp>
        <p:nvSpPr>
          <p:cNvPr id="28" name="cell:choice"/>
          <p:cNvSpPr txBox="1"/>
          <p:nvPr/>
        </p:nvSpPr>
        <p:spPr>
          <a:xfrm>
            <a:off x="4566818" y="3913632"/>
            <a:ext cx="3058058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Write three short sentences with actual times in them.</a:t>
            </a:r>
          </a:p>
        </p:txBody>
      </p:sp>
      <p:cxnSp>
        <p:nvCxnSpPr>
          <p:cNvPr id="29" name="vis:choicearrow"/>
          <p:cNvCxnSpPr/>
          <p:nvPr/>
        </p:nvCxnSpPr>
        <p:spPr>
          <a:xfrm>
            <a:off x="4566818" y="5632704"/>
            <a:ext cx="292608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ell:choicego"/>
          <p:cNvSpPr txBox="1"/>
          <p:nvPr/>
        </p:nvSpPr>
        <p:spPr>
          <a:xfrm>
            <a:off x="4969154" y="5504688"/>
            <a:ext cx="26557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See what happens</a:t>
            </a:r>
          </a:p>
        </p:txBody>
      </p:sp>
      <p:sp>
        <p:nvSpPr>
          <p:cNvPr id="31" name="quiz:choice">
            <a:hlinkClick action="ppaction://hlinksldjump" r:id="rId5"/>
          </p:cNvPr>
          <p:cNvSpPr/>
          <p:nvPr/>
        </p:nvSpPr>
        <p:spPr>
          <a:xfrm>
            <a:off x="8118652" y="3108960"/>
            <a:ext cx="3570122" cy="2907792"/>
          </a:xfrm>
          <a:prstGeom prst="roundRect">
            <a:avLst>
              <a:gd name="adj" fmla="val 3144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chip"/>
          <p:cNvSpPr/>
          <p:nvPr/>
        </p:nvSpPr>
        <p:spPr>
          <a:xfrm>
            <a:off x="8374684" y="3364991"/>
            <a:ext cx="1290574" cy="274320"/>
          </a:xfrm>
          <a:prstGeom prst="roundRect">
            <a:avLst>
              <a:gd name="adj" fmla="val 16666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chiptext"/>
          <p:cNvSpPr txBox="1"/>
          <p:nvPr/>
        </p:nvSpPr>
        <p:spPr>
          <a:xfrm>
            <a:off x="8530132" y="3392423"/>
            <a:ext cx="97967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OPTION C</a:t>
            </a:r>
          </a:p>
        </p:txBody>
      </p:sp>
      <p:sp>
        <p:nvSpPr>
          <p:cNvPr id="34" name="cell:choice"/>
          <p:cNvSpPr txBox="1"/>
          <p:nvPr/>
        </p:nvSpPr>
        <p:spPr>
          <a:xfrm>
            <a:off x="8374684" y="3913632"/>
            <a:ext cx="3058058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Write a long, careful paragraph covering everything.</a:t>
            </a:r>
          </a:p>
        </p:txBody>
      </p:sp>
      <p:cxnSp>
        <p:nvCxnSpPr>
          <p:cNvPr id="35" name="vis:choicearrow"/>
          <p:cNvCxnSpPr/>
          <p:nvPr/>
        </p:nvCxnSpPr>
        <p:spPr>
          <a:xfrm>
            <a:off x="8374684" y="5632704"/>
            <a:ext cx="292608" cy="0"/>
          </a:xfrm>
          <a:prstGeom prst="line">
            <a:avLst/>
          </a:prstGeom>
          <a:ln w="19050">
            <a:solidFill>
              <a:srgbClr val="8A5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ell:choicego"/>
          <p:cNvSpPr txBox="1"/>
          <p:nvPr/>
        </p:nvSpPr>
        <p:spPr>
          <a:xfrm>
            <a:off x="8777020" y="5504688"/>
            <a:ext cx="26557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See what happens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Two supervisors, two different pictures</a:t>
            </a:r>
          </a:p>
        </p:txBody>
      </p:sp>
      <p:sp>
        <p:nvSpPr>
          <p:cNvPr id="6" name="body:consequence"/>
          <p:cNvSpPr txBox="1"/>
          <p:nvPr/>
        </p:nvSpPr>
        <p:spPr>
          <a:xfrm>
            <a:off x="502920" y="1517904"/>
            <a:ext cx="644888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One reads it as running all night without trouble. The other reads it as started this morning after a stoppage. The second supervisor does not check the repair, because he did not know there had been one.</a:t>
            </a:r>
          </a:p>
        </p:txBody>
      </p:sp>
      <p:sp>
        <p:nvSpPr>
          <p:cNvPr id="7" name="vis:fbcard"/>
          <p:cNvSpPr/>
          <p:nvPr/>
        </p:nvSpPr>
        <p:spPr>
          <a:xfrm>
            <a:off x="8082076" y="1517904"/>
            <a:ext cx="3606698" cy="2194560"/>
          </a:xfrm>
          <a:prstGeom prst="roundRect">
            <a:avLst>
              <a:gd name="adj" fmla="val 41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seclabel"/>
          <p:cNvSpPr txBox="1"/>
          <p:nvPr/>
        </p:nvSpPr>
        <p:spPr>
          <a:xfrm>
            <a:off x="8356396" y="1755648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THE RULE</a:t>
            </a:r>
          </a:p>
        </p:txBody>
      </p:sp>
      <p:sp>
        <p:nvSpPr>
          <p:cNvPr id="9" name="cell:rule"/>
          <p:cNvSpPr txBox="1"/>
          <p:nvPr/>
        </p:nvSpPr>
        <p:spPr>
          <a:xfrm>
            <a:off x="8356396" y="2121408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"Since morning" has two meanings. A clock time has one.</a:t>
            </a:r>
          </a:p>
        </p:txBody>
      </p:sp>
      <p:sp>
        <p:nvSpPr>
          <p:cNvPr id="10" name="nav:scback">
            <a:hlinkClick action="ppaction://hlinksldjump" r:id="rId2"/>
          </p:cNvPr>
          <p:cNvSpPr/>
          <p:nvPr/>
        </p:nvSpPr>
        <p:spPr>
          <a:xfrm>
            <a:off x="502920" y="4718304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nav:scbacktext"/>
          <p:cNvSpPr txBox="1"/>
          <p:nvPr/>
        </p:nvSpPr>
        <p:spPr>
          <a:xfrm>
            <a:off x="777240" y="488289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situation  →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4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6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0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Twenty seconds longer, and no ambiguity</a:t>
            </a:r>
          </a:p>
        </p:txBody>
      </p:sp>
      <p:sp>
        <p:nvSpPr>
          <p:cNvPr id="6" name="body:consequence"/>
          <p:cNvSpPr txBox="1"/>
          <p:nvPr/>
        </p:nvSpPr>
        <p:spPr>
          <a:xfrm>
            <a:off x="502920" y="1517904"/>
            <a:ext cx="644888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"The machine stopped at 2:10am. It was repaired and restarted at 4:40am. It has run normally since then." The incoming supervisor knows exactly what happened, what to watch, and what to tell maintenance.</a:t>
            </a:r>
          </a:p>
        </p:txBody>
      </p:sp>
      <p:sp>
        <p:nvSpPr>
          <p:cNvPr id="7" name="vis:fbcard"/>
          <p:cNvSpPr/>
          <p:nvPr/>
        </p:nvSpPr>
        <p:spPr>
          <a:xfrm>
            <a:off x="8082076" y="1517904"/>
            <a:ext cx="3606698" cy="2194560"/>
          </a:xfrm>
          <a:prstGeom prst="roundRect">
            <a:avLst>
              <a:gd name="adj" fmla="val 41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seclabel"/>
          <p:cNvSpPr txBox="1"/>
          <p:nvPr/>
        </p:nvSpPr>
        <p:spPr>
          <a:xfrm>
            <a:off x="8356396" y="1755648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THE RULE</a:t>
            </a:r>
          </a:p>
        </p:txBody>
      </p:sp>
      <p:sp>
        <p:nvSpPr>
          <p:cNvPr id="9" name="cell:rule"/>
          <p:cNvSpPr txBox="1"/>
          <p:nvPr/>
        </p:nvSpPr>
        <p:spPr>
          <a:xfrm>
            <a:off x="8356396" y="2121408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Three short sentences with times beat one sentence with none.</a:t>
            </a:r>
          </a:p>
        </p:txBody>
      </p:sp>
      <p:sp>
        <p:nvSpPr>
          <p:cNvPr id="10" name="nav:scback">
            <a:hlinkClick action="ppaction://hlinksldjump" r:id="rId2"/>
          </p:cNvPr>
          <p:cNvSpPr/>
          <p:nvPr/>
        </p:nvSpPr>
        <p:spPr>
          <a:xfrm>
            <a:off x="502920" y="4718304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nav:scbacktext"/>
          <p:cNvSpPr txBox="1"/>
          <p:nvPr/>
        </p:nvSpPr>
        <p:spPr>
          <a:xfrm>
            <a:off x="777240" y="488289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situation  →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4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6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0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vis:icon"/>
          <p:cNvSpPr/>
          <p:nvPr/>
        </p:nvSpPr>
        <p:spPr>
          <a:xfrm>
            <a:off x="519744" y="409285"/>
            <a:ext cx="386975" cy="353324"/>
          </a:xfrm>
          <a:custGeom>
            <a:avLst/>
            <a:gdLst/>
            <a:ahLst/>
            <a:cxnLst/>
            <a:rect l="l" t="t" r="r" b="b"/>
            <a:pathLst>
              <a:path w="386975" h="353324">
                <a:moveTo>
                  <a:pt x="193488" y="0"/>
                </a:moveTo>
                <a:lnTo>
                  <a:pt x="386975" y="353324"/>
                </a:lnTo>
                <a:lnTo>
                  <a:pt x="0" y="35332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vis:icon"/>
          <p:cNvCxnSpPr/>
          <p:nvPr/>
        </p:nvCxnSpPr>
        <p:spPr>
          <a:xfrm>
            <a:off x="713232" y="543885"/>
            <a:ext cx="0" cy="10515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vis:icon"/>
          <p:cNvSpPr/>
          <p:nvPr/>
        </p:nvSpPr>
        <p:spPr>
          <a:xfrm>
            <a:off x="692200" y="686897"/>
            <a:ext cx="42062" cy="420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Complete, and read at six in the morning</a:t>
            </a:r>
          </a:p>
        </p:txBody>
      </p:sp>
      <p:sp>
        <p:nvSpPr>
          <p:cNvPr id="7" name="body:consequence"/>
          <p:cNvSpPr txBox="1"/>
          <p:nvPr/>
        </p:nvSpPr>
        <p:spPr>
          <a:xfrm>
            <a:off x="502920" y="1517904"/>
            <a:ext cx="644888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All the information is there, in one forty-word sentence at the end of a night shift. The incoming supervisor skims it and takes away the first half. Completeness is not the same as being understood.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517904"/>
            <a:ext cx="3606698" cy="2194560"/>
          </a:xfrm>
          <a:prstGeom prst="roundRect">
            <a:avLst>
              <a:gd name="adj" fmla="val 41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1755648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THE RULE</a:t>
            </a:r>
          </a:p>
        </p:txBody>
      </p:sp>
      <p:sp>
        <p:nvSpPr>
          <p:cNvPr id="10" name="cell:rule"/>
          <p:cNvSpPr txBox="1"/>
          <p:nvPr/>
        </p:nvSpPr>
        <p:spPr>
          <a:xfrm>
            <a:off x="8356396" y="2121408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Handovers are read tired. Write them for that.</a:t>
            </a:r>
          </a:p>
        </p:txBody>
      </p:sp>
      <p:sp>
        <p:nvSpPr>
          <p:cNvPr id="11" name="nav:scback">
            <a:hlinkClick action="ppaction://hlinksldjump" r:id="rId2"/>
          </p:cNvPr>
          <p:cNvSpPr/>
          <p:nvPr/>
        </p:nvSpPr>
        <p:spPr>
          <a:xfrm>
            <a:off x="502920" y="4718304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scbacktext"/>
          <p:cNvSpPr txBox="1"/>
          <p:nvPr/>
        </p:nvSpPr>
        <p:spPr>
          <a:xfrm>
            <a:off x="777240" y="488289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situation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WATCH THIS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Ten minutes, spot the mistakes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nav:video">
            <a:hlinkClick r:id="rId2"/>
          </p:cNvPr>
          <p:cNvSpPr/>
          <p:nvPr/>
        </p:nvSpPr>
        <p:spPr>
          <a:xfrm>
            <a:off x="502920" y="1719072"/>
            <a:ext cx="6448882" cy="4297680"/>
          </a:xfrm>
          <a:prstGeom prst="roundRect">
            <a:avLst>
              <a:gd name="adj" fmla="val 2127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play"/>
          <p:cNvSpPr/>
          <p:nvPr/>
        </p:nvSpPr>
        <p:spPr>
          <a:xfrm>
            <a:off x="1161288" y="2432303"/>
            <a:ext cx="950976" cy="95097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playtri"/>
          <p:cNvSpPr/>
          <p:nvPr/>
        </p:nvSpPr>
        <p:spPr>
          <a:xfrm>
            <a:off x="1499616" y="2679191"/>
            <a:ext cx="384048" cy="457200"/>
          </a:xfrm>
          <a:custGeom>
            <a:avLst/>
            <a:gdLst/>
            <a:ahLst/>
            <a:cxnLst/>
            <a:rect l="l" t="t" r="r" b="b"/>
            <a:pathLst>
              <a:path w="384048" h="457200">
                <a:moveTo>
                  <a:pt x="0" y="0"/>
                </a:moveTo>
                <a:lnTo>
                  <a:pt x="384048" y="2286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videotitle"/>
          <p:cNvSpPr txBox="1"/>
          <p:nvPr/>
        </p:nvSpPr>
        <p:spPr>
          <a:xfrm>
            <a:off x="2514600" y="2231136"/>
            <a:ext cx="412630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Segoe UI Semibold"/>
              </a:rPr>
              <a:t>Can You Correct the Mistakes in These Business Emails?</a:t>
            </a:r>
          </a:p>
        </p:txBody>
      </p:sp>
      <p:sp>
        <p:nvSpPr>
          <p:cNvPr id="19" name="vis:chip"/>
          <p:cNvSpPr/>
          <p:nvPr/>
        </p:nvSpPr>
        <p:spPr>
          <a:xfrm>
            <a:off x="868680" y="3858768"/>
            <a:ext cx="4291633" cy="292608"/>
          </a:xfrm>
          <a:prstGeom prst="roundRect">
            <a:avLst>
              <a:gd name="adj" fmla="val 15625"/>
            </a:avLst>
          </a:prstGeom>
          <a:noFill/>
          <a:ln w="12700">
            <a:solidFill>
              <a:srgbClr val="848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chiptext"/>
          <p:cNvSpPr txBox="1"/>
          <p:nvPr/>
        </p:nvSpPr>
        <p:spPr>
          <a:xfrm>
            <a:off x="1024128" y="3895344"/>
            <a:ext cx="39807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848D9A"/>
                </a:solidFill>
                <a:latin typeface="Segoe UI Semibold"/>
              </a:rPr>
              <a:t>DEREK CALLAN - ENGLISH FOR PROFESSIONALS</a:t>
            </a:r>
          </a:p>
        </p:txBody>
      </p:sp>
      <p:sp>
        <p:nvSpPr>
          <p:cNvPr id="21" name="vis:chip"/>
          <p:cNvSpPr/>
          <p:nvPr/>
        </p:nvSpPr>
        <p:spPr>
          <a:xfrm>
            <a:off x="5306617" y="3858768"/>
            <a:ext cx="1233424" cy="292608"/>
          </a:xfrm>
          <a:prstGeom prst="roundRect">
            <a:avLst>
              <a:gd name="adj" fmla="val 15625"/>
            </a:avLst>
          </a:prstGeom>
          <a:noFill/>
          <a:ln w="12700">
            <a:solidFill>
              <a:srgbClr val="848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chiptext"/>
          <p:cNvSpPr txBox="1"/>
          <p:nvPr/>
        </p:nvSpPr>
        <p:spPr>
          <a:xfrm>
            <a:off x="5462065" y="3895344"/>
            <a:ext cx="9225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848D9A"/>
                </a:solidFill>
                <a:latin typeface="Segoe UI Semibold"/>
              </a:rPr>
              <a:t>9:40 MIN</a:t>
            </a:r>
          </a:p>
        </p:txBody>
      </p:sp>
      <p:cxnSp>
        <p:nvCxnSpPr>
          <p:cNvPr id="23" name="vis:rule"/>
          <p:cNvCxnSpPr/>
          <p:nvPr/>
        </p:nvCxnSpPr>
        <p:spPr>
          <a:xfrm>
            <a:off x="868680" y="4425696"/>
            <a:ext cx="5717362" cy="0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body:videonote"/>
          <p:cNvSpPr txBox="1"/>
          <p:nvPr/>
        </p:nvSpPr>
        <p:spPr>
          <a:xfrm>
            <a:off x="868680" y="4645152"/>
            <a:ext cx="571736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48D9A"/>
                </a:solidFill>
                <a:latin typeface="Segoe UI"/>
              </a:rPr>
              <a:t>An outside English lesson, not company material. Try to spot each error before he explains it.</a:t>
            </a:r>
          </a:p>
        </p:txBody>
      </p:sp>
      <p:sp>
        <p:nvSpPr>
          <p:cNvPr id="25" name="nav:videobtn">
            <a:hlinkClick r:id="rId2"/>
          </p:cNvPr>
          <p:cNvSpPr/>
          <p:nvPr/>
        </p:nvSpPr>
        <p:spPr>
          <a:xfrm>
            <a:off x="868680" y="5230368"/>
            <a:ext cx="3017520" cy="493776"/>
          </a:xfrm>
          <a:prstGeom prst="roundRect">
            <a:avLst>
              <a:gd name="adj" fmla="val 11111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icon"/>
          <p:cNvSpPr/>
          <p:nvPr/>
        </p:nvSpPr>
        <p:spPr>
          <a:xfrm>
            <a:off x="1069116" y="5370819"/>
            <a:ext cx="153619" cy="153619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1202253" y="5503956"/>
            <a:ext cx="61447" cy="61448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nav:videobtntext"/>
          <p:cNvSpPr txBox="1"/>
          <p:nvPr/>
        </p:nvSpPr>
        <p:spPr>
          <a:xfrm>
            <a:off x="1417320" y="535838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Click to open on YouTube</a:t>
            </a:r>
          </a:p>
        </p:txBody>
      </p:sp>
      <p:sp>
        <p:nvSpPr>
          <p:cNvPr id="29" name="vis:videohow"/>
          <p:cNvSpPr/>
          <p:nvPr/>
        </p:nvSpPr>
        <p:spPr>
          <a:xfrm>
            <a:off x="8082076" y="1719072"/>
            <a:ext cx="3606698" cy="4297680"/>
          </a:xfrm>
          <a:prstGeom prst="roundRect">
            <a:avLst>
              <a:gd name="adj" fmla="val 253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videospine"/>
          <p:cNvSpPr/>
          <p:nvPr/>
        </p:nvSpPr>
        <p:spPr>
          <a:xfrm>
            <a:off x="8082076" y="1719072"/>
            <a:ext cx="68580" cy="4297680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seclabel"/>
          <p:cNvSpPr txBox="1"/>
          <p:nvPr/>
        </p:nvSpPr>
        <p:spPr>
          <a:xfrm>
            <a:off x="8392972" y="2029967"/>
            <a:ext cx="298490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HOW TO USE IT</a:t>
            </a:r>
          </a:p>
        </p:txBody>
      </p:sp>
      <p:cxnSp>
        <p:nvCxnSpPr>
          <p:cNvPr id="32" name="vis:icon"/>
          <p:cNvCxnSpPr/>
          <p:nvPr/>
        </p:nvCxnSpPr>
        <p:spPr>
          <a:xfrm>
            <a:off x="8439424" y="2628351"/>
            <a:ext cx="52304" cy="52304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8491728" y="2568000"/>
            <a:ext cx="96560" cy="112655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why"/>
          <p:cNvSpPr txBox="1"/>
          <p:nvPr/>
        </p:nvSpPr>
        <p:spPr>
          <a:xfrm>
            <a:off x="8777020" y="2468879"/>
            <a:ext cx="260085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Optional. The six patterns above are the working set.</a:t>
            </a:r>
          </a:p>
        </p:txBody>
      </p:sp>
      <p:cxnSp>
        <p:nvCxnSpPr>
          <p:cNvPr id="35" name="vis:icon"/>
          <p:cNvCxnSpPr/>
          <p:nvPr/>
        </p:nvCxnSpPr>
        <p:spPr>
          <a:xfrm>
            <a:off x="8439424" y="3743919"/>
            <a:ext cx="52304" cy="52304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vis:icon"/>
          <p:cNvCxnSpPr/>
          <p:nvPr/>
        </p:nvCxnSpPr>
        <p:spPr>
          <a:xfrm flipV="1">
            <a:off x="8491728" y="3683568"/>
            <a:ext cx="96560" cy="112655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ell:why"/>
          <p:cNvSpPr txBox="1"/>
          <p:nvPr/>
        </p:nvSpPr>
        <p:spPr>
          <a:xfrm>
            <a:off x="8777020" y="3584448"/>
            <a:ext cx="260085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Best watched as a test rather than a lecture.</a:t>
            </a:r>
          </a:p>
        </p:txBody>
      </p:sp>
      <p:cxnSp>
        <p:nvCxnSpPr>
          <p:cNvPr id="38" name="vis:icon"/>
          <p:cNvCxnSpPr/>
          <p:nvPr/>
        </p:nvCxnSpPr>
        <p:spPr>
          <a:xfrm>
            <a:off x="8439424" y="4859487"/>
            <a:ext cx="52304" cy="52304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is:icon"/>
          <p:cNvCxnSpPr/>
          <p:nvPr/>
        </p:nvCxnSpPr>
        <p:spPr>
          <a:xfrm flipV="1">
            <a:off x="8491728" y="4799136"/>
            <a:ext cx="96560" cy="112655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ell:why"/>
          <p:cNvSpPr txBox="1"/>
          <p:nvPr/>
        </p:nvSpPr>
        <p:spPr>
          <a:xfrm>
            <a:off x="8777020" y="4700016"/>
            <a:ext cx="260085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It opens in your browser. Turn the sound 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QUIZ  ·  QUESTION 1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What is the fastest improvement?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Using more formal vocabulary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One idea per sentence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Perfect punctuation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Longer, more detailed explanations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Using more formal vocabulary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Formality usually makes sentences longer and harder, which is the opposite of what helps. Plain words are clearer for everyone.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One idea per sentence.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One idea per sentence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costs nothing to apply, works in any language, and removes most ambiguity immediately. Nobody has ever complained that a work email was too easy to read.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One idea per sentence.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Perfect punctuation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Worth having, and it barely affects whether you are understood. A clear short sentence with a missing comma communicates fine.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One idea per sentence.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Longer, more detailed explanations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More words usually means more chances to be misunderstood, and a reader who stops earlier.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One idea per sentence.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QUIZ  ·  QUESTION 2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Why is "since morning" a problem?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It is too informal for work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It can mean "all morning" or "starting this morning"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It is grammatically incorrect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Customers dislike it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It is too informal for work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Register is not the issue. The problem is that two readers can take two different meanings from it and both act confidently.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It has two readings. A clock time has one.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It can mean "all morning" or "starting this morning"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Both readings are natural. On a shift handover that difference decides whether the next supervisor checks a repair or not.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It has two readings. A clock time has one.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It is grammatically incorrect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The grammar is not the practical problem. Even corrected to "has been running since morning", the vagueness about which morning event remains.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It has two readings. A clock time has one.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Customers dislike it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This is mostly an internal clarity issue. The cost is operational confusion, not customer perception.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It has two readings. A clock time has one.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QUIZ  ·  QUESTION 3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How should you write a date?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03/04/26 — it is shortest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3 April 2026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The 3rd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Next Friday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03/04/26 — it is shortest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means 3 April to us and 4 March to plenty of our customers and colleagues. On a deadline that difference is a month.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Spell the month.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3 April 2026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One reading only, anywhere in the world. For deadlines, adding the day name — "Friday 3 April" — catches errors as well.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Spell the month.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The 3rd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Fine within a conversation about a known month, and ambiguous the moment the email is forwarded or read two weeks later.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Spell the month.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Next Friday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One of the genuinely ambiguous phrases in English. On a Monday, half of people mean this week's Friday and half mean the following one.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Spell the month.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QUIZ  ·  QUESTION 4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Which is politer, in practice?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"It would be greatly appreciated if you could kindly send the quote"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"Could you send the quote by Thursday? Thanks — it is holding up the install."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"Send quote Thursday."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"Please do the needful regarding the quote."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"It would be greatly appreciated if you could kindly send the quote"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Longer, and the request is now harder to find. Padding often reads as distance rather than warmth, particularly across cultures.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Warmth comes from offering, not padding.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"Could you send the quote by Thursday? Thanks — it is holding up the i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Clear request, real deadline, and a reason that shows you are not asking arbitrarily. The warmth is in the explanation, which is where people feel it.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Warmth comes from offering, not padding.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"Send quote Thursday."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Clear and genuinely abrupt. Two small words and a reason cost nothing and change how it lands.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Warmth comes from offering, not padding.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"Please do the needful regarding the quote."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Polite in form and unclear in substance. The reader does not know what is wanted or when.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Warmth comes from offering, not padding.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QUIZ  ·  QUESTION 5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A tool rewrote your email. What now?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Send it — the grammar is now perfect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Check it still sounds like you, and change words back if not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Never use tools for your writing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Ask it to make the email more formal too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Send it — the grammar is now perfect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Perfect grammar in somebody else's voice makes the next conversation harder. People notice when a colleague suddenly writes differently.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If it no longer sounds like you, pull it back.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Check it still sounds like you, and change words back if not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Use the tool for slips and clarity, then reclaim the voice. Three words is usually enough to make it yours again.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If it no longer sounds like you, pull it back.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See the recap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Never use tools for your writing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They are genuinely useful for catching errors, especially when English is not your first language. The skill is keeping control, not abstaining.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If it no longer sounds like you, pull it back.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Ask it to make the email more formal too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Formality usually lengthens sentences and buries the request. It is the opposite direction from clarity.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If it no longer sounds like you, pull it back.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RECAP CARD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Workplace English on one screen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cell:recaphint"/>
          <p:cNvSpPr txBox="1"/>
          <p:nvPr/>
        </p:nvSpPr>
        <p:spPr>
          <a:xfrm>
            <a:off x="502920" y="159105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Screenshot this slide. It is the whole module in one screen.</a:t>
            </a:r>
          </a:p>
        </p:txBody>
      </p:sp>
      <p:sp>
        <p:nvSpPr>
          <p:cNvPr id="16" name="vis:recaptile"/>
          <p:cNvSpPr/>
          <p:nvPr/>
        </p:nvSpPr>
        <p:spPr>
          <a:xfrm>
            <a:off x="502920" y="190195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recapbar"/>
          <p:cNvSpPr/>
          <p:nvPr/>
        </p:nvSpPr>
        <p:spPr>
          <a:xfrm>
            <a:off x="502920" y="1901952"/>
            <a:ext cx="54864" cy="96316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cell:recaphead"/>
          <p:cNvSpPr txBox="1"/>
          <p:nvPr/>
        </p:nvSpPr>
        <p:spPr>
          <a:xfrm>
            <a:off x="740664" y="201168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One idea per sentence</a:t>
            </a:r>
          </a:p>
        </p:txBody>
      </p:sp>
      <p:sp>
        <p:nvSpPr>
          <p:cNvPr id="19" name="cell:recapsub"/>
          <p:cNvSpPr txBox="1"/>
          <p:nvPr/>
        </p:nvSpPr>
        <p:spPr>
          <a:xfrm>
            <a:off x="740664" y="232257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fastest improvement available, and it costs nothing.</a:t>
            </a:r>
          </a:p>
        </p:txBody>
      </p:sp>
      <p:sp>
        <p:nvSpPr>
          <p:cNvPr id="20" name="vis:recaptile"/>
          <p:cNvSpPr/>
          <p:nvPr/>
        </p:nvSpPr>
        <p:spPr>
          <a:xfrm>
            <a:off x="6178143" y="190195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recapbar"/>
          <p:cNvSpPr/>
          <p:nvPr/>
        </p:nvSpPr>
        <p:spPr>
          <a:xfrm>
            <a:off x="6178143" y="1901952"/>
            <a:ext cx="54864" cy="96316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cell:recaphead"/>
          <p:cNvSpPr txBox="1"/>
          <p:nvPr/>
        </p:nvSpPr>
        <p:spPr>
          <a:xfrm>
            <a:off x="6415887" y="201168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Read it aloud</a:t>
            </a:r>
          </a:p>
        </p:txBody>
      </p:sp>
      <p:sp>
        <p:nvSpPr>
          <p:cNvPr id="23" name="cell:recapsub"/>
          <p:cNvSpPr txBox="1"/>
          <p:nvPr/>
        </p:nvSpPr>
        <p:spPr>
          <a:xfrm>
            <a:off x="6415887" y="232257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If you needed a breath, split it at the "and" or the "which".</a:t>
            </a:r>
          </a:p>
        </p:txBody>
      </p:sp>
      <p:sp>
        <p:nvSpPr>
          <p:cNvPr id="24" name="vis:recaptile"/>
          <p:cNvSpPr/>
          <p:nvPr/>
        </p:nvSpPr>
        <p:spPr>
          <a:xfrm>
            <a:off x="502920" y="302971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recapbar"/>
          <p:cNvSpPr/>
          <p:nvPr/>
        </p:nvSpPr>
        <p:spPr>
          <a:xfrm>
            <a:off x="502920" y="3029712"/>
            <a:ext cx="54864" cy="96316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cell:recaphead"/>
          <p:cNvSpPr txBox="1"/>
          <p:nvPr/>
        </p:nvSpPr>
        <p:spPr>
          <a:xfrm>
            <a:off x="740664" y="313944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Real times, not vague ones</a:t>
            </a:r>
          </a:p>
        </p:txBody>
      </p:sp>
      <p:sp>
        <p:nvSpPr>
          <p:cNvPr id="27" name="cell:recapsub"/>
          <p:cNvSpPr txBox="1"/>
          <p:nvPr/>
        </p:nvSpPr>
        <p:spPr>
          <a:xfrm>
            <a:off x="740664" y="345033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"Since 6am" removes an ambiguity that "since morning" creates.</a:t>
            </a:r>
          </a:p>
        </p:txBody>
      </p:sp>
      <p:sp>
        <p:nvSpPr>
          <p:cNvPr id="28" name="vis:recaptile"/>
          <p:cNvSpPr/>
          <p:nvPr/>
        </p:nvSpPr>
        <p:spPr>
          <a:xfrm>
            <a:off x="6178143" y="302971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recapbar"/>
          <p:cNvSpPr/>
          <p:nvPr/>
        </p:nvSpPr>
        <p:spPr>
          <a:xfrm>
            <a:off x="6178143" y="3029712"/>
            <a:ext cx="54864" cy="96316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cell:recaphead"/>
          <p:cNvSpPr txBox="1"/>
          <p:nvPr/>
        </p:nvSpPr>
        <p:spPr>
          <a:xfrm>
            <a:off x="6415887" y="313944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Spell the month</a:t>
            </a:r>
          </a:p>
        </p:txBody>
      </p:sp>
      <p:sp>
        <p:nvSpPr>
          <p:cNvPr id="31" name="cell:recapsub"/>
          <p:cNvSpPr txBox="1"/>
          <p:nvPr/>
        </p:nvSpPr>
        <p:spPr>
          <a:xfrm>
            <a:off x="6415887" y="345033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03/04 means two different things across the offices we work in.</a:t>
            </a:r>
          </a:p>
        </p:txBody>
      </p:sp>
      <p:sp>
        <p:nvSpPr>
          <p:cNvPr id="32" name="vis:recaptile"/>
          <p:cNvSpPr/>
          <p:nvPr/>
        </p:nvSpPr>
        <p:spPr>
          <a:xfrm>
            <a:off x="502920" y="415747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recapbar"/>
          <p:cNvSpPr/>
          <p:nvPr/>
        </p:nvSpPr>
        <p:spPr>
          <a:xfrm>
            <a:off x="502920" y="4157472"/>
            <a:ext cx="54864" cy="96316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cell:recaphead"/>
          <p:cNvSpPr txBox="1"/>
          <p:nvPr/>
        </p:nvSpPr>
        <p:spPr>
          <a:xfrm>
            <a:off x="740664" y="42672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Short is not rude</a:t>
            </a:r>
          </a:p>
        </p:txBody>
      </p:sp>
      <p:sp>
        <p:nvSpPr>
          <p:cNvPr id="35" name="cell:recapsub"/>
          <p:cNvSpPr txBox="1"/>
          <p:nvPr/>
        </p:nvSpPr>
        <p:spPr>
          <a:xfrm>
            <a:off x="740664" y="457809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Warmth comes from offering something, not from adding words.</a:t>
            </a:r>
          </a:p>
        </p:txBody>
      </p:sp>
      <p:sp>
        <p:nvSpPr>
          <p:cNvPr id="36" name="vis:recaptile"/>
          <p:cNvSpPr/>
          <p:nvPr/>
        </p:nvSpPr>
        <p:spPr>
          <a:xfrm>
            <a:off x="6178143" y="415747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recapbar"/>
          <p:cNvSpPr/>
          <p:nvPr/>
        </p:nvSpPr>
        <p:spPr>
          <a:xfrm>
            <a:off x="6178143" y="4157472"/>
            <a:ext cx="54864" cy="963168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cell:recaphead"/>
          <p:cNvSpPr txBox="1"/>
          <p:nvPr/>
        </p:nvSpPr>
        <p:spPr>
          <a:xfrm>
            <a:off x="6415887" y="42672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Clear beats correct</a:t>
            </a:r>
          </a:p>
        </p:txBody>
      </p:sp>
      <p:sp>
        <p:nvSpPr>
          <p:cNvPr id="39" name="cell:recapsub"/>
          <p:cNvSpPr txBox="1"/>
          <p:nvPr/>
        </p:nvSpPr>
        <p:spPr>
          <a:xfrm>
            <a:off x="6415887" y="457809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short sentence with a small slip beats a perfect one nobody can parse.</a:t>
            </a:r>
          </a:p>
        </p:txBody>
      </p:sp>
      <p:sp>
        <p:nvSpPr>
          <p:cNvPr id="40" name="vis:recapline"/>
          <p:cNvSpPr/>
          <p:nvPr/>
        </p:nvSpPr>
        <p:spPr>
          <a:xfrm>
            <a:off x="502920" y="5266944"/>
            <a:ext cx="11185855" cy="749808"/>
          </a:xfrm>
          <a:prstGeom prst="roundRect">
            <a:avLst>
              <a:gd name="adj" fmla="val 1219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vis:icon"/>
          <p:cNvSpPr/>
          <p:nvPr/>
        </p:nvSpPr>
        <p:spPr>
          <a:xfrm>
            <a:off x="875995" y="5464820"/>
            <a:ext cx="241401" cy="241401"/>
          </a:xfrm>
          <a:prstGeom prst="ellipse">
            <a:avLst/>
          </a:prstGeom>
          <a:noFill/>
          <a:ln w="19050">
            <a:solidFill>
              <a:srgbClr val="AA8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2" name="vis:icon"/>
          <p:cNvCxnSpPr/>
          <p:nvPr/>
        </p:nvCxnSpPr>
        <p:spPr>
          <a:xfrm>
            <a:off x="932322" y="5738408"/>
            <a:ext cx="128747" cy="0"/>
          </a:xfrm>
          <a:prstGeom prst="line">
            <a:avLst/>
          </a:prstGeom>
          <a:ln w="19050">
            <a:solidFill>
              <a:srgbClr val="AA87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vis:icon"/>
          <p:cNvCxnSpPr/>
          <p:nvPr/>
        </p:nvCxnSpPr>
        <p:spPr>
          <a:xfrm>
            <a:off x="948415" y="5802782"/>
            <a:ext cx="96561" cy="0"/>
          </a:xfrm>
          <a:prstGeom prst="line">
            <a:avLst/>
          </a:prstGeom>
          <a:ln w="19050">
            <a:solidFill>
              <a:srgbClr val="AA87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ell:recapone"/>
          <p:cNvSpPr txBox="1"/>
          <p:nvPr/>
        </p:nvSpPr>
        <p:spPr>
          <a:xfrm>
            <a:off x="1417320" y="5394959"/>
            <a:ext cx="996055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Segoe UI Semibold"/>
              </a:rPr>
              <a:t>One idea per sentence, a real time instead of a vague one, and the month spelled out.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YOUR TOOLKIT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Take these three things with you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5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seclabel"/>
          <p:cNvSpPr txBox="1"/>
          <p:nvPr/>
        </p:nvSpPr>
        <p:spPr>
          <a:xfrm>
            <a:off x="502920" y="1719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TEMPLATES YOU CAN REUSE TODAY</a:t>
            </a:r>
          </a:p>
        </p:txBody>
      </p:sp>
      <p:sp>
        <p:nvSpPr>
          <p:cNvPr id="16" name="vis:tk"/>
          <p:cNvSpPr/>
          <p:nvPr/>
        </p:nvSpPr>
        <p:spPr>
          <a:xfrm>
            <a:off x="502920" y="2121408"/>
            <a:ext cx="6448882" cy="755904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badge"/>
          <p:cNvSpPr/>
          <p:nvPr/>
        </p:nvSpPr>
        <p:spPr>
          <a:xfrm>
            <a:off x="722376" y="224332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icon"/>
          <p:cNvSpPr/>
          <p:nvPr/>
        </p:nvSpPr>
        <p:spPr>
          <a:xfrm>
            <a:off x="866573" y="2403501"/>
            <a:ext cx="223669" cy="149113"/>
          </a:xfrm>
          <a:prstGeom prst="roundRect">
            <a:avLst>
              <a:gd name="adj" fmla="val 30661"/>
            </a:avLst>
          </a:prstGeom>
          <a:noFill/>
          <a:ln w="1905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 flipH="1">
            <a:off x="909176" y="2552614"/>
            <a:ext cx="10651" cy="5858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s:icon"/>
          <p:cNvCxnSpPr/>
          <p:nvPr/>
        </p:nvCxnSpPr>
        <p:spPr>
          <a:xfrm flipV="1">
            <a:off x="909176" y="2552614"/>
            <a:ext cx="58581" cy="5858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ell:tkname"/>
          <p:cNvSpPr txBox="1"/>
          <p:nvPr/>
        </p:nvSpPr>
        <p:spPr>
          <a:xfrm>
            <a:off x="1417320" y="2212848"/>
            <a:ext cx="527845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The short-sentences rewrite</a:t>
            </a:r>
          </a:p>
        </p:txBody>
      </p:sp>
      <p:sp>
        <p:nvSpPr>
          <p:cNvPr id="22" name="cell:tksub"/>
          <p:cNvSpPr txBox="1"/>
          <p:nvPr/>
        </p:nvSpPr>
        <p:spPr>
          <a:xfrm>
            <a:off x="1417320" y="2517648"/>
            <a:ext cx="5278450" cy="332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One idea each, same meaning, no added formality.</a:t>
            </a:r>
          </a:p>
        </p:txBody>
      </p:sp>
      <p:sp>
        <p:nvSpPr>
          <p:cNvPr id="23" name="vis:tk"/>
          <p:cNvSpPr/>
          <p:nvPr/>
        </p:nvSpPr>
        <p:spPr>
          <a:xfrm>
            <a:off x="502920" y="3023616"/>
            <a:ext cx="6448882" cy="755904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badge"/>
          <p:cNvSpPr/>
          <p:nvPr/>
        </p:nvSpPr>
        <p:spPr>
          <a:xfrm>
            <a:off x="722376" y="314553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icon"/>
          <p:cNvSpPr/>
          <p:nvPr/>
        </p:nvSpPr>
        <p:spPr>
          <a:xfrm>
            <a:off x="863910" y="3303046"/>
            <a:ext cx="37278" cy="37278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6" name="vis:icon"/>
          <p:cNvCxnSpPr/>
          <p:nvPr/>
        </p:nvCxnSpPr>
        <p:spPr>
          <a:xfrm>
            <a:off x="930478" y="3321686"/>
            <a:ext cx="165090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vis:icon"/>
          <p:cNvSpPr/>
          <p:nvPr/>
        </p:nvSpPr>
        <p:spPr>
          <a:xfrm>
            <a:off x="863910" y="3382928"/>
            <a:ext cx="37278" cy="37278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8" name="vis:icon"/>
          <p:cNvCxnSpPr/>
          <p:nvPr/>
        </p:nvCxnSpPr>
        <p:spPr>
          <a:xfrm>
            <a:off x="930478" y="3401568"/>
            <a:ext cx="165090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vis:icon"/>
          <p:cNvSpPr/>
          <p:nvPr/>
        </p:nvSpPr>
        <p:spPr>
          <a:xfrm>
            <a:off x="863910" y="3462810"/>
            <a:ext cx="37278" cy="37278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0" name="vis:icon"/>
          <p:cNvCxnSpPr/>
          <p:nvPr/>
        </p:nvCxnSpPr>
        <p:spPr>
          <a:xfrm>
            <a:off x="930478" y="3481449"/>
            <a:ext cx="165090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ell:tkname"/>
          <p:cNvSpPr txBox="1"/>
          <p:nvPr/>
        </p:nvSpPr>
        <p:spPr>
          <a:xfrm>
            <a:off x="1417320" y="3115056"/>
            <a:ext cx="527845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The one-minute proofread</a:t>
            </a:r>
          </a:p>
        </p:txBody>
      </p:sp>
      <p:sp>
        <p:nvSpPr>
          <p:cNvPr id="32" name="cell:tksub"/>
          <p:cNvSpPr txBox="1"/>
          <p:nvPr/>
        </p:nvSpPr>
        <p:spPr>
          <a:xfrm>
            <a:off x="1417320" y="3419856"/>
            <a:ext cx="5278450" cy="332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Long sentences, numeric dates, vague times, "same".</a:t>
            </a:r>
          </a:p>
        </p:txBody>
      </p:sp>
      <p:sp>
        <p:nvSpPr>
          <p:cNvPr id="33" name="vis:tk"/>
          <p:cNvSpPr/>
          <p:nvPr/>
        </p:nvSpPr>
        <p:spPr>
          <a:xfrm>
            <a:off x="502920" y="3925823"/>
            <a:ext cx="6448882" cy="755904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badge"/>
          <p:cNvSpPr/>
          <p:nvPr/>
        </p:nvSpPr>
        <p:spPr>
          <a:xfrm>
            <a:off x="722376" y="4047743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vis:icon"/>
          <p:cNvSpPr/>
          <p:nvPr/>
        </p:nvSpPr>
        <p:spPr>
          <a:xfrm>
            <a:off x="927816" y="4189278"/>
            <a:ext cx="101183" cy="101183"/>
          </a:xfrm>
          <a:prstGeom prst="ellipse">
            <a:avLst/>
          </a:prstGeom>
          <a:noFill/>
          <a:ln w="1905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icon"/>
          <p:cNvSpPr/>
          <p:nvPr/>
        </p:nvSpPr>
        <p:spPr>
          <a:xfrm>
            <a:off x="871898" y="4330403"/>
            <a:ext cx="213019" cy="93195"/>
          </a:xfrm>
          <a:custGeom>
            <a:avLst/>
            <a:gdLst/>
            <a:ahLst/>
            <a:cxnLst/>
            <a:rect l="l" t="t" r="r" b="b"/>
            <a:pathLst>
              <a:path w="213019" h="93195">
                <a:moveTo>
                  <a:pt x="0" y="93195"/>
                </a:moveTo>
                <a:lnTo>
                  <a:pt x="15977" y="0"/>
                </a:lnTo>
                <a:lnTo>
                  <a:pt x="197042" y="0"/>
                </a:lnTo>
                <a:lnTo>
                  <a:pt x="213019" y="93195"/>
                </a:lnTo>
              </a:path>
            </a:pathLst>
          </a:custGeom>
          <a:noFill/>
          <a:ln w="1905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ell:tkname"/>
          <p:cNvSpPr txBox="1"/>
          <p:nvPr/>
        </p:nvSpPr>
        <p:spPr>
          <a:xfrm>
            <a:off x="1417320" y="4017263"/>
            <a:ext cx="527845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Three warm closes</a:t>
            </a:r>
          </a:p>
        </p:txBody>
      </p:sp>
      <p:sp>
        <p:nvSpPr>
          <p:cNvPr id="38" name="cell:tksub"/>
          <p:cNvSpPr txBox="1"/>
          <p:nvPr/>
        </p:nvSpPr>
        <p:spPr>
          <a:xfrm>
            <a:off x="1417320" y="4322063"/>
            <a:ext cx="5278450" cy="332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Offer something instead of padding the opening.</a:t>
            </a:r>
          </a:p>
        </p:txBody>
      </p:sp>
      <p:sp>
        <p:nvSpPr>
          <p:cNvPr id="39" name="seclabel"/>
          <p:cNvSpPr txBox="1"/>
          <p:nvPr/>
        </p:nvSpPr>
        <p:spPr>
          <a:xfrm>
            <a:off x="8082076" y="1719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LINKS THAT WORK</a:t>
            </a:r>
          </a:p>
        </p:txBody>
      </p:sp>
      <p:sp>
        <p:nvSpPr>
          <p:cNvPr id="40" name="nav:link">
            <a:hlinkClick r:id="rId2"/>
          </p:cNvPr>
          <p:cNvSpPr/>
          <p:nvPr/>
        </p:nvSpPr>
        <p:spPr>
          <a:xfrm>
            <a:off x="8082076" y="2121408"/>
            <a:ext cx="3606698" cy="566928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vis:icon"/>
          <p:cNvSpPr/>
          <p:nvPr/>
        </p:nvSpPr>
        <p:spPr>
          <a:xfrm>
            <a:off x="8339937" y="2300630"/>
            <a:ext cx="164592" cy="164592"/>
          </a:xfrm>
          <a:prstGeom prst="ellipse">
            <a:avLst/>
          </a:prstGeom>
          <a:noFill/>
          <a:ln w="1905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2" name="vis:icon"/>
          <p:cNvCxnSpPr/>
          <p:nvPr/>
        </p:nvCxnSpPr>
        <p:spPr>
          <a:xfrm>
            <a:off x="8482584" y="2443276"/>
            <a:ext cx="65836" cy="65837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ell:linklabel"/>
          <p:cNvSpPr txBox="1"/>
          <p:nvPr/>
        </p:nvSpPr>
        <p:spPr>
          <a:xfrm>
            <a:off x="8703868" y="2203703"/>
            <a:ext cx="27471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826"/>
                </a:solidFill>
                <a:latin typeface="Segoe UI Semibold"/>
              </a:rPr>
              <a:t>Microsoft Copilot</a:t>
            </a:r>
          </a:p>
        </p:txBody>
      </p:sp>
      <p:sp>
        <p:nvSpPr>
          <p:cNvPr id="44" name="cell:linkurl"/>
          <p:cNvSpPr txBox="1"/>
          <p:nvPr/>
        </p:nvSpPr>
        <p:spPr>
          <a:xfrm>
            <a:off x="8703868" y="2423160"/>
            <a:ext cx="27471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"/>
              </a:rPr>
              <a:t>copilot.microsoft.com</a:t>
            </a:r>
          </a:p>
        </p:txBody>
      </p:sp>
      <p:sp>
        <p:nvSpPr>
          <p:cNvPr id="45" name="nav:link">
            <a:hlinkClick r:id="rId3"/>
          </p:cNvPr>
          <p:cNvSpPr/>
          <p:nvPr/>
        </p:nvSpPr>
        <p:spPr>
          <a:xfrm>
            <a:off x="8082076" y="2798063"/>
            <a:ext cx="3606698" cy="566928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vis:icon"/>
          <p:cNvSpPr/>
          <p:nvPr/>
        </p:nvSpPr>
        <p:spPr>
          <a:xfrm>
            <a:off x="8339937" y="2977286"/>
            <a:ext cx="164592" cy="164592"/>
          </a:xfrm>
          <a:prstGeom prst="ellipse">
            <a:avLst/>
          </a:prstGeom>
          <a:noFill/>
          <a:ln w="1905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7" name="vis:icon"/>
          <p:cNvCxnSpPr/>
          <p:nvPr/>
        </p:nvCxnSpPr>
        <p:spPr>
          <a:xfrm>
            <a:off x="8482584" y="3119932"/>
            <a:ext cx="65836" cy="65837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ell:linklabel"/>
          <p:cNvSpPr txBox="1"/>
          <p:nvPr/>
        </p:nvSpPr>
        <p:spPr>
          <a:xfrm>
            <a:off x="8703868" y="2880359"/>
            <a:ext cx="27471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826"/>
                </a:solidFill>
                <a:latin typeface="Segoe UI Semibold"/>
              </a:rPr>
              <a:t>ChatGPT</a:t>
            </a:r>
          </a:p>
        </p:txBody>
      </p:sp>
      <p:sp>
        <p:nvSpPr>
          <p:cNvPr id="49" name="cell:linkurl"/>
          <p:cNvSpPr txBox="1"/>
          <p:nvPr/>
        </p:nvSpPr>
        <p:spPr>
          <a:xfrm>
            <a:off x="8703868" y="3099815"/>
            <a:ext cx="27471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"/>
              </a:rPr>
              <a:t>chatgpt.com</a:t>
            </a:r>
          </a:p>
        </p:txBody>
      </p:sp>
      <p:sp>
        <p:nvSpPr>
          <p:cNvPr id="50" name="nav:link">
            <a:hlinkClick r:id="rId4"/>
          </p:cNvPr>
          <p:cNvSpPr/>
          <p:nvPr/>
        </p:nvSpPr>
        <p:spPr>
          <a:xfrm>
            <a:off x="8082076" y="3474720"/>
            <a:ext cx="3606698" cy="566928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vis:icon"/>
          <p:cNvSpPr/>
          <p:nvPr/>
        </p:nvSpPr>
        <p:spPr>
          <a:xfrm>
            <a:off x="8339937" y="3653942"/>
            <a:ext cx="164592" cy="164592"/>
          </a:xfrm>
          <a:prstGeom prst="ellipse">
            <a:avLst/>
          </a:prstGeom>
          <a:noFill/>
          <a:ln w="1905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52" name="vis:icon"/>
          <p:cNvCxnSpPr/>
          <p:nvPr/>
        </p:nvCxnSpPr>
        <p:spPr>
          <a:xfrm>
            <a:off x="8482584" y="3796588"/>
            <a:ext cx="65836" cy="65837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ell:linklabel"/>
          <p:cNvSpPr txBox="1"/>
          <p:nvPr/>
        </p:nvSpPr>
        <p:spPr>
          <a:xfrm>
            <a:off x="8703868" y="3557015"/>
            <a:ext cx="27471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826"/>
                </a:solidFill>
                <a:latin typeface="Segoe UI Semibold"/>
              </a:rPr>
              <a:t>Google Gemini</a:t>
            </a:r>
          </a:p>
        </p:txBody>
      </p:sp>
      <p:sp>
        <p:nvSpPr>
          <p:cNvPr id="54" name="cell:linkurl"/>
          <p:cNvSpPr txBox="1"/>
          <p:nvPr/>
        </p:nvSpPr>
        <p:spPr>
          <a:xfrm>
            <a:off x="8703868" y="3776472"/>
            <a:ext cx="27471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"/>
              </a:rPr>
              <a:t>gemini.google.com</a:t>
            </a:r>
          </a:p>
        </p:txBody>
      </p:sp>
      <p:sp>
        <p:nvSpPr>
          <p:cNvPr id="55" name="vis:next"/>
          <p:cNvSpPr/>
          <p:nvPr/>
        </p:nvSpPr>
        <p:spPr>
          <a:xfrm>
            <a:off x="8082076" y="4297680"/>
            <a:ext cx="3606698" cy="1719072"/>
          </a:xfrm>
          <a:prstGeom prst="roundRect">
            <a:avLst>
              <a:gd name="adj" fmla="val 425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6" name="seclabel"/>
          <p:cNvSpPr txBox="1"/>
          <p:nvPr/>
        </p:nvSpPr>
        <p:spPr>
          <a:xfrm>
            <a:off x="8338108" y="4480560"/>
            <a:ext cx="309463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AA8745"/>
                </a:solidFill>
                <a:latin typeface="Segoe UI Semibold"/>
              </a:rPr>
              <a:t>DO THIS NEXT</a:t>
            </a:r>
          </a:p>
        </p:txBody>
      </p:sp>
      <p:sp>
        <p:nvSpPr>
          <p:cNvPr id="57" name="cell:next"/>
          <p:cNvSpPr txBox="1"/>
          <p:nvPr/>
        </p:nvSpPr>
        <p:spPr>
          <a:xfrm>
            <a:off x="8338108" y="4809744"/>
            <a:ext cx="3094634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Segoe UI"/>
              </a:rPr>
              <a:t>Next module: PS-04, Time Management. Protecting the hours where your real work actually gets done.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8A5A00"/>
                </a:solidFill>
                <a:latin typeface="Segoe UI Semibold"/>
              </a:rPr>
              <a:t>GLOSSARY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Words people use around AI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PS-03  ·  English for the Workplace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8A5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5A0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gloss"/>
          <p:cNvSpPr/>
          <p:nvPr/>
        </p:nvSpPr>
        <p:spPr>
          <a:xfrm>
            <a:off x="502920" y="1719072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glossbar"/>
          <p:cNvSpPr/>
          <p:nvPr/>
        </p:nvSpPr>
        <p:spPr>
          <a:xfrm>
            <a:off x="502920" y="1719072"/>
            <a:ext cx="54864" cy="107899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cell:glossterm"/>
          <p:cNvSpPr txBox="1"/>
          <p:nvPr/>
        </p:nvSpPr>
        <p:spPr>
          <a:xfrm>
            <a:off x="740664" y="18288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Ambiguity</a:t>
            </a:r>
          </a:p>
        </p:txBody>
      </p:sp>
      <p:sp>
        <p:nvSpPr>
          <p:cNvPr id="18" name="cell:glossdef"/>
          <p:cNvSpPr txBox="1"/>
          <p:nvPr/>
        </p:nvSpPr>
        <p:spPr>
          <a:xfrm>
            <a:off x="740664" y="2139696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sentence with two possible meanings. The main cost of unclear writing at work.</a:t>
            </a:r>
          </a:p>
        </p:txBody>
      </p:sp>
      <p:sp>
        <p:nvSpPr>
          <p:cNvPr id="19" name="vis:gloss"/>
          <p:cNvSpPr/>
          <p:nvPr/>
        </p:nvSpPr>
        <p:spPr>
          <a:xfrm>
            <a:off x="6178143" y="1719072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glossbar"/>
          <p:cNvSpPr/>
          <p:nvPr/>
        </p:nvSpPr>
        <p:spPr>
          <a:xfrm>
            <a:off x="6178143" y="1719072"/>
            <a:ext cx="54864" cy="107899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cell:glossterm"/>
          <p:cNvSpPr txBox="1"/>
          <p:nvPr/>
        </p:nvSpPr>
        <p:spPr>
          <a:xfrm>
            <a:off x="6415887" y="18288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Tense</a:t>
            </a:r>
          </a:p>
        </p:txBody>
      </p:sp>
      <p:sp>
        <p:nvSpPr>
          <p:cNvPr id="22" name="cell:glossdef"/>
          <p:cNvSpPr txBox="1"/>
          <p:nvPr/>
        </p:nvSpPr>
        <p:spPr>
          <a:xfrm>
            <a:off x="6415887" y="2139696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How a verb shows time. Adding a clock time removes most tense problems entirely.</a:t>
            </a:r>
          </a:p>
        </p:txBody>
      </p:sp>
      <p:sp>
        <p:nvSpPr>
          <p:cNvPr id="23" name="vis:gloss"/>
          <p:cNvSpPr/>
          <p:nvPr/>
        </p:nvSpPr>
        <p:spPr>
          <a:xfrm>
            <a:off x="502920" y="2962656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glossbar"/>
          <p:cNvSpPr/>
          <p:nvPr/>
        </p:nvSpPr>
        <p:spPr>
          <a:xfrm>
            <a:off x="502920" y="2962656"/>
            <a:ext cx="54864" cy="107899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cell:glossterm"/>
          <p:cNvSpPr txBox="1"/>
          <p:nvPr/>
        </p:nvSpPr>
        <p:spPr>
          <a:xfrm>
            <a:off x="740664" y="3072384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Padding</a:t>
            </a:r>
          </a:p>
        </p:txBody>
      </p:sp>
      <p:sp>
        <p:nvSpPr>
          <p:cNvPr id="26" name="cell:glossdef"/>
          <p:cNvSpPr txBox="1"/>
          <p:nvPr/>
        </p:nvSpPr>
        <p:spPr>
          <a:xfrm>
            <a:off x="740664" y="3383280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Extra words added for politeness that make the request harder to find.</a:t>
            </a:r>
          </a:p>
        </p:txBody>
      </p:sp>
      <p:sp>
        <p:nvSpPr>
          <p:cNvPr id="27" name="vis:gloss"/>
          <p:cNvSpPr/>
          <p:nvPr/>
        </p:nvSpPr>
        <p:spPr>
          <a:xfrm>
            <a:off x="6178143" y="2962656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glossbar"/>
          <p:cNvSpPr/>
          <p:nvPr/>
        </p:nvSpPr>
        <p:spPr>
          <a:xfrm>
            <a:off x="6178143" y="2962656"/>
            <a:ext cx="54864" cy="107899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cell:glossterm"/>
          <p:cNvSpPr txBox="1"/>
          <p:nvPr/>
        </p:nvSpPr>
        <p:spPr>
          <a:xfrm>
            <a:off x="6415887" y="3072384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Register</a:t>
            </a:r>
          </a:p>
        </p:txBody>
      </p:sp>
      <p:sp>
        <p:nvSpPr>
          <p:cNvPr id="30" name="cell:glossdef"/>
          <p:cNvSpPr txBox="1"/>
          <p:nvPr/>
        </p:nvSpPr>
        <p:spPr>
          <a:xfrm>
            <a:off x="6415887" y="3383280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How formal a message is. Plain and warm travels better than heavy formality.</a:t>
            </a:r>
          </a:p>
        </p:txBody>
      </p:sp>
      <p:sp>
        <p:nvSpPr>
          <p:cNvPr id="31" name="vis:gloss"/>
          <p:cNvSpPr/>
          <p:nvPr/>
        </p:nvSpPr>
        <p:spPr>
          <a:xfrm>
            <a:off x="502920" y="4206240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glossbar"/>
          <p:cNvSpPr/>
          <p:nvPr/>
        </p:nvSpPr>
        <p:spPr>
          <a:xfrm>
            <a:off x="502920" y="4206240"/>
            <a:ext cx="54864" cy="107899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cell:glossterm"/>
          <p:cNvSpPr txBox="1"/>
          <p:nvPr/>
        </p:nvSpPr>
        <p:spPr>
          <a:xfrm>
            <a:off x="740664" y="4315968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Handover</a:t>
            </a:r>
          </a:p>
        </p:txBody>
      </p:sp>
      <p:sp>
        <p:nvSpPr>
          <p:cNvPr id="34" name="cell:glossdef"/>
          <p:cNvSpPr txBox="1"/>
          <p:nvPr/>
        </p:nvSpPr>
        <p:spPr>
          <a:xfrm>
            <a:off x="740664" y="4626864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note written for the person taking over. Read tired, so written short.</a:t>
            </a:r>
          </a:p>
        </p:txBody>
      </p:sp>
      <p:sp>
        <p:nvSpPr>
          <p:cNvPr id="35" name="vis:gloss"/>
          <p:cNvSpPr/>
          <p:nvPr/>
        </p:nvSpPr>
        <p:spPr>
          <a:xfrm>
            <a:off x="6178143" y="4206240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glossbar"/>
          <p:cNvSpPr/>
          <p:nvPr/>
        </p:nvSpPr>
        <p:spPr>
          <a:xfrm>
            <a:off x="6178143" y="4206240"/>
            <a:ext cx="54864" cy="1078992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cell:glossterm"/>
          <p:cNvSpPr txBox="1"/>
          <p:nvPr/>
        </p:nvSpPr>
        <p:spPr>
          <a:xfrm>
            <a:off x="6415887" y="4315968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Article</a:t>
            </a:r>
          </a:p>
        </p:txBody>
      </p:sp>
      <p:sp>
        <p:nvSpPr>
          <p:cNvPr id="38" name="cell:glossdef"/>
          <p:cNvSpPr txBox="1"/>
          <p:nvPr/>
        </p:nvSpPr>
        <p:spPr>
          <a:xfrm>
            <a:off x="6415887" y="4626864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"The" and "a". Small words that make instructions read less abrupt.</a:t>
            </a:r>
          </a:p>
        </p:txBody>
      </p:sp>
      <p:sp>
        <p:nvSpPr>
          <p:cNvPr id="39" name="nav:glossback">
            <a:hlinkClick action="ppaction://hlinksldjump" r:id="rId2"/>
          </p:cNvPr>
          <p:cNvSpPr/>
          <p:nvPr/>
        </p:nvSpPr>
        <p:spPr>
          <a:xfrm>
            <a:off x="502920" y="5504688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nav:glossbacktext"/>
          <p:cNvSpPr txBox="1"/>
          <p:nvPr/>
        </p:nvSpPr>
        <p:spPr>
          <a:xfrm>
            <a:off x="758952" y="5650992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menu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