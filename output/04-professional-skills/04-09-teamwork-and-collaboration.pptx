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8.xml"/><Relationship Id="rId8" Type="http://schemas.openxmlformats.org/officeDocument/2006/relationships/slide" Target="slide22.xml"/><Relationship Id="rId9" Type="http://schemas.openxmlformats.org/officeDocument/2006/relationships/slide" Target="slide23.xml"/><Relationship Id="rId10" Type="http://schemas.openxmlformats.org/officeDocument/2006/relationships/slide" Target="slide48.xml"/><Relationship Id="rId11" Type="http://schemas.openxmlformats.org/officeDocument/2006/relationships/slide" Target="slide4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19.xml"/><Relationship Id="rId4" Type="http://schemas.openxmlformats.org/officeDocument/2006/relationships/slide" Target="slide20.xml"/><Relationship Id="rId5" Type="http://schemas.openxmlformats.org/officeDocument/2006/relationships/slide" Target="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RQmUJZvrthE" TargetMode="Externa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4.xml"/><Relationship Id="rId4" Type="http://schemas.openxmlformats.org/officeDocument/2006/relationships/slide" Target="slide25.xml"/><Relationship Id="rId5" Type="http://schemas.openxmlformats.org/officeDocument/2006/relationships/slide" Target="slide26.xml"/><Relationship Id="rId6" Type="http://schemas.openxmlformats.org/officeDocument/2006/relationships/slide" Target="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9.xml"/><Relationship Id="rId4" Type="http://schemas.openxmlformats.org/officeDocument/2006/relationships/slide" Target="slide30.xml"/><Relationship Id="rId5" Type="http://schemas.openxmlformats.org/officeDocument/2006/relationships/slide" Target="slide31.xml"/><Relationship Id="rId6" Type="http://schemas.openxmlformats.org/officeDocument/2006/relationships/slide" Target="slide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4.xml"/><Relationship Id="rId4" Type="http://schemas.openxmlformats.org/officeDocument/2006/relationships/slide" Target="slide35.xml"/><Relationship Id="rId5" Type="http://schemas.openxmlformats.org/officeDocument/2006/relationships/slide" Target="slide36.xml"/><Relationship Id="rId6" Type="http://schemas.openxmlformats.org/officeDocument/2006/relationships/slide" Target="slide3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9.xml"/><Relationship Id="rId4" Type="http://schemas.openxmlformats.org/officeDocument/2006/relationships/slide" Target="slide40.xml"/><Relationship Id="rId5" Type="http://schemas.openxmlformats.org/officeDocument/2006/relationships/slide" Target="slide41.xml"/><Relationship Id="rId6" Type="http://schemas.openxmlformats.org/officeDocument/2006/relationships/slide" Target="slide4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4.xml"/><Relationship Id="rId4" Type="http://schemas.openxmlformats.org/officeDocument/2006/relationships/slide" Target="slide45.xml"/><Relationship Id="rId5" Type="http://schemas.openxmlformats.org/officeDocument/2006/relationships/slide" Target="slide46.xml"/><Relationship Id="rId6" Type="http://schemas.openxmlformats.org/officeDocument/2006/relationships/slide" Target="slide4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8.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pilot.microsoft.com" TargetMode="External"/><Relationship Id="rId3" Type="http://schemas.openxmlformats.org/officeDocument/2006/relationships/hyperlink" Target="https://chatgp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vis:coverphoto" descr="hero-teamwork.jpg"/>
          <p:cNvPicPr>
            <a:picLocks noChangeAspect="1"/>
          </p:cNvPicPr>
          <p:nvPr/>
        </p:nvPicPr>
        <p:blipFill>
          <a:blip r:embed="rId2"/>
          <a:srcRect l="22674" r="22674"/>
          <a:stretch>
            <a:fillRect/>
          </a:stretch>
        </p:blipFill>
        <p:spPr>
          <a:xfrm>
            <a:off x="5532120" y="0"/>
            <a:ext cx="6659575" cy="6858000"/>
          </a:xfrm>
          <a:prstGeom prst="rect">
            <a:avLst/>
          </a:prstGeom>
        </p:spPr>
      </p:pic>
      <p:sp>
        <p:nvSpPr>
          <p:cNvPr id="4" name="vis:coverpanel"/>
          <p:cNvSpPr/>
          <p:nvPr/>
        </p:nvSpPr>
        <p:spPr>
          <a:xfrm>
            <a:off x="0" y="0"/>
            <a:ext cx="5532120"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edge"/>
          <p:cNvSpPr/>
          <p:nvPr/>
        </p:nvSpPr>
        <p:spPr>
          <a:xfrm>
            <a:off x="5532120" y="0"/>
            <a:ext cx="64008" cy="68580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spine"/>
          <p:cNvSpPr/>
          <p:nvPr/>
        </p:nvSpPr>
        <p:spPr>
          <a:xfrm>
            <a:off x="0" y="0"/>
            <a:ext cx="201168" cy="68580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seclabel"/>
          <p:cNvSpPr txBox="1"/>
          <p:nvPr/>
        </p:nvSpPr>
        <p:spPr>
          <a:xfrm>
            <a:off x="841248" y="566420"/>
            <a:ext cx="418795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PROFESSIONAL SKILLS</a:t>
            </a:r>
          </a:p>
        </p:txBody>
      </p:sp>
      <p:sp>
        <p:nvSpPr>
          <p:cNvPr id="8" name="title:cover"/>
          <p:cNvSpPr txBox="1"/>
          <p:nvPr/>
        </p:nvSpPr>
        <p:spPr>
          <a:xfrm>
            <a:off x="841248" y="1023620"/>
            <a:ext cx="4187952"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Teamwork &amp; Collaboration</a:t>
            </a:r>
          </a:p>
        </p:txBody>
      </p:sp>
      <p:cxnSp>
        <p:nvCxnSpPr>
          <p:cNvPr id="9" name="vis:rule"/>
          <p:cNvCxnSpPr/>
          <p:nvPr/>
        </p:nvCxnSpPr>
        <p:spPr>
          <a:xfrm>
            <a:off x="841248" y="2805684"/>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0" name="body:coversub"/>
          <p:cNvSpPr txBox="1"/>
          <p:nvPr/>
        </p:nvSpPr>
        <p:spPr>
          <a:xfrm>
            <a:off x="841248" y="3080004"/>
            <a:ext cx="4187952" cy="114452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Handing work over so it arrives finished, and asking for help without friction.</a:t>
            </a:r>
          </a:p>
        </p:txBody>
      </p:sp>
      <p:sp>
        <p:nvSpPr>
          <p:cNvPr id="11" name="vis:chip"/>
          <p:cNvSpPr/>
          <p:nvPr/>
        </p:nvSpPr>
        <p:spPr>
          <a:xfrm>
            <a:off x="841248" y="4626864"/>
            <a:ext cx="961009" cy="310896"/>
          </a:xfrm>
          <a:prstGeom prst="roundRect">
            <a:avLst>
              <a:gd name="adj" fmla="val 14705"/>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vis:chiptext"/>
          <p:cNvSpPr txBox="1"/>
          <p:nvPr/>
        </p:nvSpPr>
        <p:spPr>
          <a:xfrm>
            <a:off x="996696" y="4672583"/>
            <a:ext cx="65011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PS-09</a:t>
            </a:r>
          </a:p>
        </p:txBody>
      </p:sp>
      <p:sp>
        <p:nvSpPr>
          <p:cNvPr id="13" name="vis:chip"/>
          <p:cNvSpPr/>
          <p:nvPr/>
        </p:nvSpPr>
        <p:spPr>
          <a:xfrm>
            <a:off x="1948561" y="4626864"/>
            <a:ext cx="1453134"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vis:chiptext"/>
          <p:cNvSpPr txBox="1"/>
          <p:nvPr/>
        </p:nvSpPr>
        <p:spPr>
          <a:xfrm>
            <a:off x="2104009" y="4672583"/>
            <a:ext cx="114223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17 MINUTES</a:t>
            </a:r>
          </a:p>
        </p:txBody>
      </p:sp>
      <p:sp>
        <p:nvSpPr>
          <p:cNvPr id="15" name="vis:chip"/>
          <p:cNvSpPr/>
          <p:nvPr/>
        </p:nvSpPr>
        <p:spPr>
          <a:xfrm>
            <a:off x="841248" y="504748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996696" y="5093207"/>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17" name="cell:coverhint"/>
          <p:cNvSpPr txBox="1"/>
          <p:nvPr/>
        </p:nvSpPr>
        <p:spPr>
          <a:xfrm>
            <a:off x="841248" y="5724144"/>
            <a:ext cx="4187952"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8"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PS-09  ·  Teamwork &amp; Collaboration</a:t>
            </a:r>
          </a:p>
        </p:txBody>
      </p:sp>
      <p:sp>
        <p:nvSpPr>
          <p:cNvPr id="19"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Anand's handover takes three days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92627" y="2222050"/>
            <a:ext cx="137320" cy="137320"/>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icon"/>
          <p:cNvSpPr/>
          <p:nvPr/>
        </p:nvSpPr>
        <p:spPr>
          <a:xfrm>
            <a:off x="1016739" y="2413577"/>
            <a:ext cx="289097" cy="126479"/>
          </a:xfrm>
          <a:custGeom>
            <a:avLst/>
            <a:gdLst/>
            <a:ahLst/>
            <a:cxnLst/>
            <a:rect l="l" t="t" r="r" b="b"/>
            <a:pathLst>
              <a:path w="289097" h="126479">
                <a:moveTo>
                  <a:pt x="0" y="126479"/>
                </a:moveTo>
                <a:lnTo>
                  <a:pt x="21682" y="0"/>
                </a:lnTo>
                <a:lnTo>
                  <a:pt x="267415" y="0"/>
                </a:lnTo>
                <a:lnTo>
                  <a:pt x="289097" y="126479"/>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Anand passes a costing job to another team in Chennai. He sends the file and says "please complete". Three days and eleven messages later, they still do not know which rate card to use or when it is due.</a:t>
            </a:r>
          </a:p>
        </p:txBody>
      </p:sp>
      <p:sp>
        <p:nvSpPr>
          <p:cNvPr id="21"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Three days of messages, for a job that took four hours.</a:t>
            </a:r>
          </a:p>
        </p:txBody>
      </p:sp>
      <p:sp>
        <p:nvSpPr>
          <p:cNvPr id="27"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AFTER THIS MODULE</a:t>
            </a:r>
          </a:p>
        </p:txBody>
      </p:sp>
      <p:cxnSp>
        <p:nvCxnSpPr>
          <p:cNvPr id="29"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0"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Four lines with any handover, and the questions never 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66367" y="1945974"/>
            <a:ext cx="188673" cy="259426"/>
          </a:xfrm>
          <a:prstGeom prst="roundRect">
            <a:avLst>
              <a:gd name="adj" fmla="val 24232"/>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07639" y="2028519"/>
            <a:ext cx="106129"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007639" y="2075688"/>
            <a:ext cx="106129"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007639" y="2122856"/>
            <a:ext cx="70753"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1"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Hand work over so it comes back finished, first time</a:t>
            </a:r>
          </a:p>
        </p:txBody>
      </p:sp>
      <p:sp>
        <p:nvSpPr>
          <p:cNvPr id="22"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936886" y="2865671"/>
            <a:ext cx="247634" cy="165089"/>
          </a:xfrm>
          <a:prstGeom prst="roundRect">
            <a:avLst>
              <a:gd name="adj" fmla="val 27694"/>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flipH="1">
            <a:off x="984055" y="3030760"/>
            <a:ext cx="11792" cy="6485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6" name="vis:icon"/>
          <p:cNvCxnSpPr/>
          <p:nvPr/>
        </p:nvCxnSpPr>
        <p:spPr>
          <a:xfrm flipV="1">
            <a:off x="984055" y="3030760"/>
            <a:ext cx="64856" cy="6485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7"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Ask for help in a way that gets a fast answer</a:t>
            </a:r>
          </a:p>
        </p:txBody>
      </p:sp>
      <p:sp>
        <p:nvSpPr>
          <p:cNvPr id="28"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icon"/>
          <p:cNvSpPr/>
          <p:nvPr/>
        </p:nvSpPr>
        <p:spPr>
          <a:xfrm>
            <a:off x="1004691" y="3741146"/>
            <a:ext cx="112024" cy="112024"/>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icon"/>
          <p:cNvSpPr/>
          <p:nvPr/>
        </p:nvSpPr>
        <p:spPr>
          <a:xfrm>
            <a:off x="942782" y="3897392"/>
            <a:ext cx="235843" cy="103181"/>
          </a:xfrm>
          <a:custGeom>
            <a:avLst/>
            <a:gdLst/>
            <a:ahLst/>
            <a:cxnLst/>
            <a:rect l="l" t="t" r="r" b="b"/>
            <a:pathLst>
              <a:path w="235843" h="103181">
                <a:moveTo>
                  <a:pt x="0" y="103181"/>
                </a:moveTo>
                <a:lnTo>
                  <a:pt x="17689" y="0"/>
                </a:lnTo>
                <a:lnTo>
                  <a:pt x="218154" y="0"/>
                </a:lnTo>
                <a:lnTo>
                  <a:pt x="235843" y="103181"/>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Say what "done" means before anyone starts</a:t>
            </a:r>
          </a:p>
        </p:txBody>
      </p:sp>
      <p:sp>
        <p:nvSpPr>
          <p:cNvPr id="33"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icon"/>
          <p:cNvSpPr/>
          <p:nvPr/>
        </p:nvSpPr>
        <p:spPr>
          <a:xfrm>
            <a:off x="925094" y="4634310"/>
            <a:ext cx="271219" cy="247635"/>
          </a:xfrm>
          <a:custGeom>
            <a:avLst/>
            <a:gdLst/>
            <a:ahLst/>
            <a:cxnLst/>
            <a:rect l="l" t="t" r="r" b="b"/>
            <a:pathLst>
              <a:path w="271219" h="247635">
                <a:moveTo>
                  <a:pt x="135610" y="0"/>
                </a:moveTo>
                <a:lnTo>
                  <a:pt x="271219" y="247635"/>
                </a:lnTo>
                <a:lnTo>
                  <a:pt x="0" y="247635"/>
                </a:lnTo>
                <a:close/>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vis:icon"/>
          <p:cNvCxnSpPr/>
          <p:nvPr/>
        </p:nvCxnSpPr>
        <p:spPr>
          <a:xfrm>
            <a:off x="1060704" y="4728647"/>
            <a:ext cx="0" cy="73701"/>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7" name="vis:icon"/>
          <p:cNvSpPr/>
          <p:nvPr/>
        </p:nvSpPr>
        <p:spPr>
          <a:xfrm>
            <a:off x="1045963" y="4828880"/>
            <a:ext cx="29480" cy="2948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Raise a problem with a colleague without a confrontation</a:t>
            </a:r>
          </a:p>
        </p:txBody>
      </p:sp>
      <p:sp>
        <p:nvSpPr>
          <p:cNvPr id="39"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1" name="vis:icon"/>
          <p:cNvCxnSpPr/>
          <p:nvPr/>
        </p:nvCxnSpPr>
        <p:spPr>
          <a:xfrm>
            <a:off x="954575" y="5666032"/>
            <a:ext cx="76648" cy="76648"/>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42" name="vis:icon"/>
          <p:cNvCxnSpPr/>
          <p:nvPr/>
        </p:nvCxnSpPr>
        <p:spPr>
          <a:xfrm flipV="1">
            <a:off x="1031223" y="5577591"/>
            <a:ext cx="141505" cy="165089"/>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3"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Give feedback that changes something, not just feelings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four-line handover</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What arrives finished</a:t>
            </a:r>
          </a:p>
        </p:txBody>
      </p:sp>
      <p:cxnSp>
        <p:nvCxnSpPr>
          <p:cNvPr id="13" name="vis:menuarrow"/>
          <p:cNvCxnSpPr/>
          <p:nvPr/>
        </p:nvCxnSpPr>
        <p:spPr>
          <a:xfrm>
            <a:off x="11213287" y="1997049"/>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Defining done</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commonest failure</a:t>
            </a:r>
          </a:p>
        </p:txBody>
      </p:sp>
      <p:cxnSp>
        <p:nvCxnSpPr>
          <p:cNvPr id="19" name="vis:menuarrow"/>
          <p:cNvCxnSpPr/>
          <p:nvPr/>
        </p:nvCxnSpPr>
        <p:spPr>
          <a:xfrm>
            <a:off x="11213287" y="2424988"/>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Asking for help</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Fast answers</a:t>
            </a:r>
          </a:p>
        </p:txBody>
      </p:sp>
      <p:cxnSp>
        <p:nvCxnSpPr>
          <p:cNvPr id="25" name="vis:menuarrow"/>
          <p:cNvCxnSpPr/>
          <p:nvPr/>
        </p:nvCxnSpPr>
        <p:spPr>
          <a:xfrm>
            <a:off x="11213287" y="2852928"/>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Raising a problem</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Without a confrontation</a:t>
            </a:r>
          </a:p>
        </p:txBody>
      </p:sp>
      <p:cxnSp>
        <p:nvCxnSpPr>
          <p:cNvPr id="31" name="vis:menuarrow"/>
          <p:cNvCxnSpPr/>
          <p:nvPr/>
        </p:nvCxnSpPr>
        <p:spPr>
          <a:xfrm>
            <a:off x="11213287" y="3280867"/>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Rewrite one handover</a:t>
            </a:r>
          </a:p>
        </p:txBody>
      </p:sp>
      <p:cxnSp>
        <p:nvCxnSpPr>
          <p:cNvPr id="37" name="vis:menuarrow"/>
          <p:cNvCxnSpPr/>
          <p:nvPr/>
        </p:nvCxnSpPr>
        <p:spPr>
          <a:xfrm>
            <a:off x="11213287" y="3708806"/>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cross-team decision</a:t>
            </a:r>
          </a:p>
        </p:txBody>
      </p:sp>
      <p:cxnSp>
        <p:nvCxnSpPr>
          <p:cNvPr id="43" name="vis:menuarrow"/>
          <p:cNvCxnSpPr/>
          <p:nvPr/>
        </p:nvCxnSpPr>
        <p:spPr>
          <a:xfrm>
            <a:off x="11213287" y="4136745"/>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15-minute outside guide</a:t>
            </a:r>
          </a:p>
        </p:txBody>
      </p:sp>
      <p:cxnSp>
        <p:nvCxnSpPr>
          <p:cNvPr id="49" name="vis:menuarrow"/>
          <p:cNvCxnSpPr/>
          <p:nvPr/>
        </p:nvCxnSpPr>
        <p:spPr>
          <a:xfrm>
            <a:off x="11213287" y="4564684"/>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FOUR-LINE HANDOVER</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lines, no questions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Most handover friction is not disagreement. It is four missing lines that nobody thought to write.</a:t>
            </a:r>
          </a:p>
        </p:txBody>
      </p:sp>
      <p:sp>
        <p:nvSpPr>
          <p:cNvPr id="16" name="vis:checktile"/>
          <p:cNvSpPr/>
          <p:nvPr/>
        </p:nvSpPr>
        <p:spPr>
          <a:xfrm>
            <a:off x="502920"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eckdot"/>
          <p:cNvSpPr/>
          <p:nvPr/>
        </p:nvSpPr>
        <p:spPr>
          <a:xfrm>
            <a:off x="722376" y="3387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815279" y="3546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860450" y="3494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cell:checkitem"/>
          <p:cNvSpPr txBox="1"/>
          <p:nvPr/>
        </p:nvSpPr>
        <p:spPr>
          <a:xfrm>
            <a:off x="1161288"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WHAT — the specific output, not the topic</a:t>
            </a:r>
          </a:p>
        </p:txBody>
      </p:sp>
      <p:sp>
        <p:nvSpPr>
          <p:cNvPr id="21" name="vis:checktile"/>
          <p:cNvSpPr/>
          <p:nvPr/>
        </p:nvSpPr>
        <p:spPr>
          <a:xfrm>
            <a:off x="6205575"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eckdot"/>
          <p:cNvSpPr/>
          <p:nvPr/>
        </p:nvSpPr>
        <p:spPr>
          <a:xfrm>
            <a:off x="6425031" y="3387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6517934" y="3546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V="1">
            <a:off x="6563106" y="3494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cell:checkitem"/>
          <p:cNvSpPr txBox="1"/>
          <p:nvPr/>
        </p:nvSpPr>
        <p:spPr>
          <a:xfrm>
            <a:off x="6863943"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DONE MEANS — what it looks like when it is finished</a:t>
            </a:r>
          </a:p>
        </p:txBody>
      </p:sp>
      <p:sp>
        <p:nvSpPr>
          <p:cNvPr id="26" name="vis:checktile"/>
          <p:cNvSpPr/>
          <p:nvPr/>
        </p:nvSpPr>
        <p:spPr>
          <a:xfrm>
            <a:off x="502920" y="447141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eckdot"/>
          <p:cNvSpPr/>
          <p:nvPr/>
        </p:nvSpPr>
        <p:spPr>
          <a:xfrm>
            <a:off x="722376" y="5024628"/>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815279" y="5183550"/>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9" name="vis:icon"/>
          <p:cNvCxnSpPr/>
          <p:nvPr/>
        </p:nvCxnSpPr>
        <p:spPr>
          <a:xfrm flipV="1">
            <a:off x="860450" y="513142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0" name="cell:checkitem"/>
          <p:cNvSpPr txBox="1"/>
          <p:nvPr/>
        </p:nvSpPr>
        <p:spPr>
          <a:xfrm>
            <a:off x="1161288" y="461772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BY WHEN — a date and a time, not "end of week"</a:t>
            </a:r>
          </a:p>
        </p:txBody>
      </p:sp>
      <p:sp>
        <p:nvSpPr>
          <p:cNvPr id="31" name="vis:checktile"/>
          <p:cNvSpPr/>
          <p:nvPr/>
        </p:nvSpPr>
        <p:spPr>
          <a:xfrm>
            <a:off x="6205575" y="447141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eckdot"/>
          <p:cNvSpPr/>
          <p:nvPr/>
        </p:nvSpPr>
        <p:spPr>
          <a:xfrm>
            <a:off x="6425031" y="5024628"/>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6517934" y="5183550"/>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563106" y="513142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cell:checkitem"/>
          <p:cNvSpPr txBox="1"/>
          <p:nvPr/>
        </p:nvSpPr>
        <p:spPr>
          <a:xfrm>
            <a:off x="6863943" y="461772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IF STUCK — who to ask, so nobody waits three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FOUR-LINE HANDOVER</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same job, two ways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212681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181592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"PLEASE COMPLETE"</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A file, and two words.</a:t>
            </a:r>
          </a:p>
          <a:p>
            <a:pPr algn="l">
              <a:lnSpc>
                <a:spcPts val="1690"/>
              </a:lnSpc>
              <a:spcBef>
                <a:spcPts val="0"/>
              </a:spcBef>
              <a:spcAft>
                <a:spcPts val="600"/>
              </a:spcAft>
            </a:pPr>
            <a:r>
              <a:rPr sz="1300" b="0">
                <a:solidFill>
                  <a:srgbClr val="2A3547"/>
                </a:solidFill>
                <a:latin typeface="Segoe UI"/>
              </a:rPr>
              <a:t>Eleven messages over three days about scope and rates.</a:t>
            </a:r>
          </a:p>
          <a:p>
            <a:pPr algn="l">
              <a:lnSpc>
                <a:spcPts val="1690"/>
              </a:lnSpc>
              <a:spcBef>
                <a:spcPts val="0"/>
              </a:spcBef>
              <a:spcAft>
                <a:spcPts val="600"/>
              </a:spcAft>
            </a:pPr>
            <a:r>
              <a:rPr sz="1300" b="0">
                <a:solidFill>
                  <a:srgbClr val="2A3547"/>
                </a:solidFill>
                <a:latin typeface="Segoe UI"/>
              </a:rPr>
              <a:t>It comes back on Thursday in the wrong format.</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144678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13588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FOUR LINES</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"Costing for the Sharjah tender, using the 2026 rate card."</a:t>
            </a:r>
          </a:p>
          <a:p>
            <a:pPr algn="l">
              <a:lnSpc>
                <a:spcPts val="1690"/>
              </a:lnSpc>
              <a:spcBef>
                <a:spcPts val="0"/>
              </a:spcBef>
              <a:spcAft>
                <a:spcPts val="600"/>
              </a:spcAft>
            </a:pPr>
            <a:r>
              <a:rPr sz="1300" b="0">
                <a:solidFill>
                  <a:srgbClr val="2A3547"/>
                </a:solidFill>
                <a:latin typeface="Segoe UI"/>
              </a:rPr>
              <a:t>"Done means every line priced, with exclusions listed at the bottom."</a:t>
            </a:r>
          </a:p>
          <a:p>
            <a:pPr algn="l">
              <a:lnSpc>
                <a:spcPts val="1690"/>
              </a:lnSpc>
              <a:spcBef>
                <a:spcPts val="0"/>
              </a:spcBef>
              <a:spcAft>
                <a:spcPts val="600"/>
              </a:spcAft>
            </a:pPr>
            <a:r>
              <a:rPr sz="1300" b="0">
                <a:solidFill>
                  <a:srgbClr val="2A3547"/>
                </a:solidFill>
                <a:latin typeface="Segoe UI"/>
              </a:rPr>
              <a:t>"By Wednesday 3pm. If a rate is missing, ask Priya rather than estimating."</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Four lines take ninety seconds to write and save three days of messages. This is the highest-return habit in the module.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DEFINING DONE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"Done" is the failure point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Two people can both be right about whether something is finished, and disagree completely.</a:t>
            </a:r>
          </a:p>
        </p:txBody>
      </p:sp>
      <p:sp>
        <p:nvSpPr>
          <p:cNvPr id="16" name="vis:panel"/>
          <p:cNvSpPr/>
          <p:nvPr/>
        </p:nvSpPr>
        <p:spPr>
          <a:xfrm>
            <a:off x="502920" y="2706624"/>
            <a:ext cx="5437479" cy="3310128"/>
          </a:xfrm>
          <a:prstGeom prst="roundRect">
            <a:avLst>
              <a:gd name="adj" fmla="val 276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anelspine"/>
          <p:cNvSpPr/>
          <p:nvPr/>
        </p:nvSpPr>
        <p:spPr>
          <a:xfrm>
            <a:off x="502920" y="2706624"/>
            <a:ext cx="68580" cy="3310128"/>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
          <p:cNvSpPr/>
          <p:nvPr/>
        </p:nvSpPr>
        <p:spPr>
          <a:xfrm>
            <a:off x="777240" y="2944368"/>
            <a:ext cx="1476579"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chiptext"/>
          <p:cNvSpPr txBox="1"/>
          <p:nvPr/>
        </p:nvSpPr>
        <p:spPr>
          <a:xfrm>
            <a:off x="932688" y="2971799"/>
            <a:ext cx="116568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YOU MEANT</a:t>
            </a:r>
          </a:p>
        </p:txBody>
      </p:sp>
      <p:sp>
        <p:nvSpPr>
          <p:cNvPr id="20" name="vis:paneltitle"/>
          <p:cNvSpPr txBox="1"/>
          <p:nvPr/>
        </p:nvSpPr>
        <p:spPr>
          <a:xfrm>
            <a:off x="777240" y="3364991"/>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Ready to send</a:t>
            </a:r>
          </a:p>
        </p:txBody>
      </p:sp>
      <p:sp>
        <p:nvSpPr>
          <p:cNvPr id="21" name="vis:icon"/>
          <p:cNvSpPr/>
          <p:nvPr/>
        </p:nvSpPr>
        <p:spPr>
          <a:xfrm>
            <a:off x="843076" y="4059021"/>
            <a:ext cx="69494" cy="69494"/>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4672" y="4155948"/>
            <a:ext cx="146304" cy="64008"/>
          </a:xfrm>
          <a:custGeom>
            <a:avLst/>
            <a:gdLst/>
            <a:ahLst/>
            <a:cxnLst/>
            <a:rect l="l" t="t" r="r" b="b"/>
            <a:pathLst>
              <a:path w="146304" h="64008">
                <a:moveTo>
                  <a:pt x="0" y="64008"/>
                </a:moveTo>
                <a:lnTo>
                  <a:pt x="10972" y="0"/>
                </a:lnTo>
                <a:lnTo>
                  <a:pt x="135331" y="0"/>
                </a:lnTo>
                <a:lnTo>
                  <a:pt x="146304" y="64008"/>
                </a:lnTo>
              </a:path>
            </a:pathLst>
          </a:cu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vis:panelitem"/>
          <p:cNvSpPr txBox="1"/>
          <p:nvPr/>
        </p:nvSpPr>
        <p:spPr>
          <a:xfrm>
            <a:off x="1078992" y="4005072"/>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Priced, checked and formatted</a:t>
            </a:r>
          </a:p>
        </p:txBody>
      </p:sp>
      <p:sp>
        <p:nvSpPr>
          <p:cNvPr id="24" name="vis:icon"/>
          <p:cNvSpPr/>
          <p:nvPr/>
        </p:nvSpPr>
        <p:spPr>
          <a:xfrm>
            <a:off x="843076" y="4507077"/>
            <a:ext cx="69494" cy="69494"/>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804672" y="4604004"/>
            <a:ext cx="146304" cy="64008"/>
          </a:xfrm>
          <a:custGeom>
            <a:avLst/>
            <a:gdLst/>
            <a:ahLst/>
            <a:cxnLst/>
            <a:rect l="l" t="t" r="r" b="b"/>
            <a:pathLst>
              <a:path w="146304" h="64008">
                <a:moveTo>
                  <a:pt x="0" y="64008"/>
                </a:moveTo>
                <a:lnTo>
                  <a:pt x="10972" y="0"/>
                </a:lnTo>
                <a:lnTo>
                  <a:pt x="135331" y="0"/>
                </a:lnTo>
                <a:lnTo>
                  <a:pt x="146304" y="64008"/>
                </a:lnTo>
              </a:path>
            </a:pathLst>
          </a:cu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is:panelitem"/>
          <p:cNvSpPr txBox="1"/>
          <p:nvPr/>
        </p:nvSpPr>
        <p:spPr>
          <a:xfrm>
            <a:off x="1078992" y="4453128"/>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Exclusions listed explicitly</a:t>
            </a:r>
          </a:p>
        </p:txBody>
      </p:sp>
      <p:sp>
        <p:nvSpPr>
          <p:cNvPr id="27" name="vis:icon"/>
          <p:cNvSpPr/>
          <p:nvPr/>
        </p:nvSpPr>
        <p:spPr>
          <a:xfrm>
            <a:off x="843076" y="4955133"/>
            <a:ext cx="69494" cy="69494"/>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icon"/>
          <p:cNvSpPr/>
          <p:nvPr/>
        </p:nvSpPr>
        <p:spPr>
          <a:xfrm>
            <a:off x="804672" y="5052060"/>
            <a:ext cx="146304" cy="64008"/>
          </a:xfrm>
          <a:custGeom>
            <a:avLst/>
            <a:gdLst/>
            <a:ahLst/>
            <a:cxnLst/>
            <a:rect l="l" t="t" r="r" b="b"/>
            <a:pathLst>
              <a:path w="146304" h="64008">
                <a:moveTo>
                  <a:pt x="0" y="64008"/>
                </a:moveTo>
                <a:lnTo>
                  <a:pt x="10972" y="0"/>
                </a:lnTo>
                <a:lnTo>
                  <a:pt x="135331" y="0"/>
                </a:lnTo>
                <a:lnTo>
                  <a:pt x="146304" y="64008"/>
                </a:lnTo>
              </a:path>
            </a:pathLst>
          </a:cu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vis:panelitem"/>
          <p:cNvSpPr txBox="1"/>
          <p:nvPr/>
        </p:nvSpPr>
        <p:spPr>
          <a:xfrm>
            <a:off x="1078992" y="4901184"/>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In the client template</a:t>
            </a:r>
          </a:p>
        </p:txBody>
      </p:sp>
      <p:sp>
        <p:nvSpPr>
          <p:cNvPr id="30" name="vis:icon"/>
          <p:cNvSpPr/>
          <p:nvPr/>
        </p:nvSpPr>
        <p:spPr>
          <a:xfrm>
            <a:off x="843076" y="5403189"/>
            <a:ext cx="69494" cy="69494"/>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icon"/>
          <p:cNvSpPr/>
          <p:nvPr/>
        </p:nvSpPr>
        <p:spPr>
          <a:xfrm>
            <a:off x="804672" y="5500116"/>
            <a:ext cx="146304" cy="64008"/>
          </a:xfrm>
          <a:custGeom>
            <a:avLst/>
            <a:gdLst/>
            <a:ahLst/>
            <a:cxnLst/>
            <a:rect l="l" t="t" r="r" b="b"/>
            <a:pathLst>
              <a:path w="146304" h="64008">
                <a:moveTo>
                  <a:pt x="0" y="64008"/>
                </a:moveTo>
                <a:lnTo>
                  <a:pt x="10972" y="0"/>
                </a:lnTo>
                <a:lnTo>
                  <a:pt x="135331" y="0"/>
                </a:lnTo>
                <a:lnTo>
                  <a:pt x="146304" y="64008"/>
                </a:lnTo>
              </a:path>
            </a:pathLst>
          </a:cu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vis:panelitem"/>
          <p:cNvSpPr txBox="1"/>
          <p:nvPr/>
        </p:nvSpPr>
        <p:spPr>
          <a:xfrm>
            <a:off x="1078992" y="5349240"/>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Ready to go out under your name</a:t>
            </a:r>
          </a:p>
        </p:txBody>
      </p:sp>
      <p:sp>
        <p:nvSpPr>
          <p:cNvPr id="33" name="vis:panel"/>
          <p:cNvSpPr/>
          <p:nvPr/>
        </p:nvSpPr>
        <p:spPr>
          <a:xfrm>
            <a:off x="6251295" y="2706624"/>
            <a:ext cx="5437479" cy="3310128"/>
          </a:xfrm>
          <a:prstGeom prst="roundRect">
            <a:avLst>
              <a:gd name="adj" fmla="val 276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panelspine"/>
          <p:cNvSpPr/>
          <p:nvPr/>
        </p:nvSpPr>
        <p:spPr>
          <a:xfrm>
            <a:off x="6251295" y="2706624"/>
            <a:ext cx="68580" cy="331012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
          <p:cNvSpPr/>
          <p:nvPr/>
        </p:nvSpPr>
        <p:spPr>
          <a:xfrm>
            <a:off x="6525615" y="2944368"/>
            <a:ext cx="151345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iptext"/>
          <p:cNvSpPr txBox="1"/>
          <p:nvPr/>
        </p:nvSpPr>
        <p:spPr>
          <a:xfrm>
            <a:off x="6681063" y="2971799"/>
            <a:ext cx="120256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THEY HEARD</a:t>
            </a:r>
          </a:p>
        </p:txBody>
      </p:sp>
      <p:sp>
        <p:nvSpPr>
          <p:cNvPr id="37" name="vis:paneltitle"/>
          <p:cNvSpPr txBox="1"/>
          <p:nvPr/>
        </p:nvSpPr>
        <p:spPr>
          <a:xfrm>
            <a:off x="6525615" y="3364991"/>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Numbers filled in</a:t>
            </a:r>
          </a:p>
        </p:txBody>
      </p:sp>
      <p:cxnSp>
        <p:nvCxnSpPr>
          <p:cNvPr id="38" name="vis:icon"/>
          <p:cNvCxnSpPr/>
          <p:nvPr/>
        </p:nvCxnSpPr>
        <p:spPr>
          <a:xfrm>
            <a:off x="6567677" y="4079138"/>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H="1">
            <a:off x="6567677" y="4079138"/>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0" name="vis:panelitem"/>
          <p:cNvSpPr txBox="1"/>
          <p:nvPr/>
        </p:nvSpPr>
        <p:spPr>
          <a:xfrm>
            <a:off x="6827367" y="4005072"/>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All the cells have figures in them</a:t>
            </a:r>
          </a:p>
        </p:txBody>
      </p:sp>
      <p:cxnSp>
        <p:nvCxnSpPr>
          <p:cNvPr id="41" name="vis:icon"/>
          <p:cNvCxnSpPr/>
          <p:nvPr/>
        </p:nvCxnSpPr>
        <p:spPr>
          <a:xfrm>
            <a:off x="6567677" y="4527194"/>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2" name="vis:icon"/>
          <p:cNvCxnSpPr/>
          <p:nvPr/>
        </p:nvCxnSpPr>
        <p:spPr>
          <a:xfrm flipH="1">
            <a:off x="6567677" y="4527194"/>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3" name="vis:panelitem"/>
          <p:cNvSpPr txBox="1"/>
          <p:nvPr/>
        </p:nvSpPr>
        <p:spPr>
          <a:xfrm>
            <a:off x="6827367" y="4453128"/>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Assumptions in their head, not written</a:t>
            </a:r>
          </a:p>
        </p:txBody>
      </p:sp>
      <p:cxnSp>
        <p:nvCxnSpPr>
          <p:cNvPr id="44" name="vis:icon"/>
          <p:cNvCxnSpPr/>
          <p:nvPr/>
        </p:nvCxnSpPr>
        <p:spPr>
          <a:xfrm>
            <a:off x="6567677" y="4975250"/>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5" name="vis:icon"/>
          <p:cNvCxnSpPr/>
          <p:nvPr/>
        </p:nvCxnSpPr>
        <p:spPr>
          <a:xfrm flipH="1">
            <a:off x="6567677" y="4975250"/>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6" name="vis:panelitem"/>
          <p:cNvSpPr txBox="1"/>
          <p:nvPr/>
        </p:nvSpPr>
        <p:spPr>
          <a:xfrm>
            <a:off x="6827367" y="4901184"/>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In whatever format they work in</a:t>
            </a:r>
          </a:p>
        </p:txBody>
      </p:sp>
      <p:cxnSp>
        <p:nvCxnSpPr>
          <p:cNvPr id="47" name="vis:icon"/>
          <p:cNvCxnSpPr/>
          <p:nvPr/>
        </p:nvCxnSpPr>
        <p:spPr>
          <a:xfrm>
            <a:off x="6567677" y="5423306"/>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8" name="vis:icon"/>
          <p:cNvCxnSpPr/>
          <p:nvPr/>
        </p:nvCxnSpPr>
        <p:spPr>
          <a:xfrm flipH="1">
            <a:off x="6567677" y="5423306"/>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9" name="vis:panelitem"/>
          <p:cNvSpPr txBox="1"/>
          <p:nvPr/>
        </p:nvSpPr>
        <p:spPr>
          <a:xfrm>
            <a:off x="6827367" y="5349240"/>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Expecting you to finish it off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DEFINING DONE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Say what done looks like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promptcard"/>
          <p:cNvSpPr/>
          <p:nvPr/>
        </p:nvSpPr>
        <p:spPr>
          <a:xfrm>
            <a:off x="502920" y="1719072"/>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wording</a:t>
            </a:r>
          </a:p>
        </p:txBody>
      </p:sp>
      <p:sp>
        <p:nvSpPr>
          <p:cNvPr id="27" name="card:prompt"/>
          <p:cNvSpPr txBox="1"/>
          <p:nvPr/>
        </p:nvSpPr>
        <p:spPr>
          <a:xfrm>
            <a:off x="777240" y="2267712"/>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Done means: every line priced using the 2026 rate card, exclusions listed at the bottom, in the client template, and ready to send without me editing it. If anything is missing, leave it blank and note it rather than estimating.</a:t>
            </a:r>
          </a:p>
        </p:txBody>
      </p:sp>
      <p:sp>
        <p:nvSpPr>
          <p:cNvPr id="28" name="vis:promptcap"/>
          <p:cNvSpPr txBox="1"/>
          <p:nvPr/>
        </p:nvSpPr>
        <p:spPr>
          <a:xfrm>
            <a:off x="777240" y="3393440"/>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"Ready to send without me editing it" is the line that does the work.</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describes the finished state, not the activity.</a:t>
            </a:r>
          </a:p>
        </p:txBody>
      </p:sp>
      <p:cxnSp>
        <p:nvCxnSpPr>
          <p:cNvPr id="33" name="vis:icon"/>
          <p:cNvCxnSpPr/>
          <p:nvPr/>
        </p:nvCxnSpPr>
        <p:spPr>
          <a:xfrm>
            <a:off x="7850361" y="3250143"/>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names the standard, so nobody has to guess.</a:t>
            </a:r>
          </a:p>
        </p:txBody>
      </p:sp>
      <p:cxnSp>
        <p:nvCxnSpPr>
          <p:cNvPr id="36" name="vis:icon"/>
          <p:cNvCxnSpPr/>
          <p:nvPr/>
        </p:nvCxnSpPr>
        <p:spPr>
          <a:xfrm>
            <a:off x="7850361" y="4182831"/>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"Leave it blank and note it" prevents invented figures.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ASKING FOR HELP</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Getting a fast answer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mistake"/>
          <p:cNvSpPr/>
          <p:nvPr/>
        </p:nvSpPr>
        <p:spPr>
          <a:xfrm>
            <a:off x="502920" y="1719072"/>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203911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210769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"Can I pick your brain sometime?"</a:t>
            </a:r>
          </a:p>
        </p:txBody>
      </p:sp>
      <p:cxnSp>
        <p:nvCxnSpPr>
          <p:cNvPr id="20" name="vis:line"/>
          <p:cNvCxnSpPr/>
          <p:nvPr/>
        </p:nvCxnSpPr>
        <p:spPr>
          <a:xfrm>
            <a:off x="6008686" y="1865376"/>
            <a:ext cx="0" cy="658368"/>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No question, no time, no scope. It gets a yes and then nothing happens.</a:t>
            </a:r>
          </a:p>
        </p:txBody>
      </p:sp>
      <p:sp>
        <p:nvSpPr>
          <p:cNvPr id="22" name="vis:mistake"/>
          <p:cNvSpPr/>
          <p:nvPr/>
        </p:nvSpPr>
        <p:spPr>
          <a:xfrm>
            <a:off x="502920" y="2834639"/>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834639"/>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315467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3223260"/>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926079"/>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"Are you free?"</a:t>
            </a:r>
          </a:p>
        </p:txBody>
      </p:sp>
      <p:cxnSp>
        <p:nvCxnSpPr>
          <p:cNvPr id="27" name="vis:line"/>
          <p:cNvCxnSpPr/>
          <p:nvPr/>
        </p:nvCxnSpPr>
        <p:spPr>
          <a:xfrm>
            <a:off x="6008686" y="2980944"/>
            <a:ext cx="0" cy="658367"/>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926079"/>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Nobody answers yes to this without knowing what it commits them to.</a:t>
            </a:r>
          </a:p>
        </p:txBody>
      </p:sp>
      <p:sp>
        <p:nvSpPr>
          <p:cNvPr id="29" name="vis:mistake"/>
          <p:cNvSpPr/>
          <p:nvPr/>
        </p:nvSpPr>
        <p:spPr>
          <a:xfrm>
            <a:off x="502920" y="3950208"/>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950208"/>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427024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433882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4041648"/>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 paragraph of background before the question</a:t>
            </a:r>
          </a:p>
        </p:txBody>
      </p:sp>
      <p:cxnSp>
        <p:nvCxnSpPr>
          <p:cNvPr id="34" name="vis:line"/>
          <p:cNvCxnSpPr/>
          <p:nvPr/>
        </p:nvCxnSpPr>
        <p:spPr>
          <a:xfrm>
            <a:off x="6008686" y="4096512"/>
            <a:ext cx="0" cy="658368"/>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4041648"/>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reader has to work out what is being asked before deciding whether they can help.</a:t>
            </a:r>
          </a:p>
        </p:txBody>
      </p:sp>
      <p:sp>
        <p:nvSpPr>
          <p:cNvPr id="36" name="vis:mistake"/>
          <p:cNvSpPr/>
          <p:nvPr/>
        </p:nvSpPr>
        <p:spPr>
          <a:xfrm>
            <a:off x="502920" y="5065776"/>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5065776"/>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5385816"/>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5454396"/>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5157216"/>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Asking without saying what you tried</a:t>
            </a:r>
          </a:p>
        </p:txBody>
      </p:sp>
      <p:cxnSp>
        <p:nvCxnSpPr>
          <p:cNvPr id="41" name="vis:line"/>
          <p:cNvCxnSpPr/>
          <p:nvPr/>
        </p:nvCxnSpPr>
        <p:spPr>
          <a:xfrm>
            <a:off x="6008686" y="5212080"/>
            <a:ext cx="0" cy="658368"/>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5157216"/>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They repeat the two things you already did, and you both lose ten minutes.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ASKING FOR HELP</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three-line ask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promptcard"/>
          <p:cNvSpPr/>
          <p:nvPr/>
        </p:nvSpPr>
        <p:spPr>
          <a:xfrm>
            <a:off x="502920" y="1719072"/>
            <a:ext cx="5816644" cy="2377440"/>
          </a:xfrm>
          <a:prstGeom prst="roundRect">
            <a:avLst>
              <a:gd name="adj" fmla="val 3846"/>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4459395" y="1792224"/>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464300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4661660" y="189536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4661660" y="192334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4870875"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5268004" cy="1155191"/>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Consolas"/>
              </a:rPr>
              <a:t>I am stuck on the Sharjah costing. I have tried the 2026 rate card and the old tender file, and neither has a rate for site supervision. Do you know where that lives, or who would? Two minutes would do it.</a:t>
            </a:r>
          </a:p>
        </p:txBody>
      </p:sp>
      <p:sp>
        <p:nvSpPr>
          <p:cNvPr id="28" name="vis:promptcap"/>
          <p:cNvSpPr txBox="1"/>
          <p:nvPr/>
        </p:nvSpPr>
        <p:spPr>
          <a:xfrm>
            <a:off x="777240" y="3624072"/>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Problem, what you tried, specific question, time required.</a:t>
            </a:r>
          </a:p>
        </p:txBody>
      </p:sp>
      <p:sp>
        <p:nvSpPr>
          <p:cNvPr id="29" name="vis:outcard"/>
          <p:cNvSpPr/>
          <p:nvPr/>
        </p:nvSpPr>
        <p:spPr>
          <a:xfrm>
            <a:off x="6685324" y="1719072"/>
            <a:ext cx="5003450" cy="2377440"/>
          </a:xfrm>
          <a:prstGeom prst="roundRect">
            <a:avLst>
              <a:gd name="adj" fmla="val 384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outspine"/>
          <p:cNvSpPr/>
          <p:nvPr/>
        </p:nvSpPr>
        <p:spPr>
          <a:xfrm>
            <a:off x="6685324" y="1719072"/>
            <a:ext cx="68580" cy="237744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ip"/>
          <p:cNvSpPr/>
          <p:nvPr/>
        </p:nvSpPr>
        <p:spPr>
          <a:xfrm>
            <a:off x="6941356" y="1920240"/>
            <a:ext cx="1723644"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text"/>
          <p:cNvSpPr txBox="1"/>
          <p:nvPr/>
        </p:nvSpPr>
        <p:spPr>
          <a:xfrm>
            <a:off x="7096804" y="1947672"/>
            <a:ext cx="141274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WHY IT WORKS</a:t>
            </a:r>
          </a:p>
        </p:txBody>
      </p:sp>
      <p:sp>
        <p:nvSpPr>
          <p:cNvPr id="33" name="vis:outbody"/>
          <p:cNvSpPr txBox="1"/>
          <p:nvPr/>
        </p:nvSpPr>
        <p:spPr>
          <a:xfrm>
            <a:off x="6941356" y="2359152"/>
            <a:ext cx="4491386" cy="15179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"What I tried" stops them suggesting what you already did.</a:t>
            </a:r>
          </a:p>
          <a:p>
            <a:pPr algn="l">
              <a:lnSpc>
                <a:spcPts val="1690"/>
              </a:lnSpc>
              <a:spcBef>
                <a:spcPts val="0"/>
              </a:spcBef>
              <a:spcAft>
                <a:spcPts val="600"/>
              </a:spcAft>
            </a:pPr>
            <a:r>
              <a:rPr sz="1300" b="0">
                <a:solidFill>
                  <a:srgbClr val="2A3547"/>
                </a:solidFill>
                <a:latin typeface="Segoe UI"/>
              </a:rPr>
              <a:t>A specific question can be answered in one line, often immediately.</a:t>
            </a:r>
          </a:p>
          <a:p>
            <a:pPr algn="l">
              <a:lnSpc>
                <a:spcPts val="1690"/>
              </a:lnSpc>
              <a:spcBef>
                <a:spcPts val="0"/>
              </a:spcBef>
              <a:spcAft>
                <a:spcPts val="600"/>
              </a:spcAft>
            </a:pPr>
            <a:r>
              <a:rPr sz="1300" b="0">
                <a:solidFill>
                  <a:srgbClr val="2A3547"/>
                </a:solidFill>
                <a:latin typeface="Segoe UI"/>
              </a:rPr>
              <a:t>"Two minutes" tells them the size before they commit.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RAISING A PROBLEM</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Without a confrontation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Most cross-team problems are process problems that look like people problems.</a:t>
            </a:r>
          </a:p>
        </p:txBody>
      </p:sp>
      <p:sp>
        <p:nvSpPr>
          <p:cNvPr id="16" name="vis:promptcard"/>
          <p:cNvSpPr/>
          <p:nvPr/>
        </p:nvSpPr>
        <p:spPr>
          <a:xfrm>
            <a:off x="502920" y="2432304"/>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romptbar"/>
          <p:cNvSpPr/>
          <p:nvPr/>
        </p:nvSpPr>
        <p:spPr>
          <a:xfrm>
            <a:off x="502920" y="2432304"/>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739932" y="2554467"/>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775045" y="2677363"/>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775045" y="2677363"/>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vis:copybtn"/>
          <p:cNvSpPr/>
          <p:nvPr/>
        </p:nvSpPr>
        <p:spPr>
          <a:xfrm>
            <a:off x="5577981" y="2505456"/>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5761592" y="2571292"/>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5780246" y="260860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263658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a:off x="5780246" y="2664561"/>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6" name="vis:copytext"/>
          <p:cNvSpPr txBox="1"/>
          <p:nvPr/>
        </p:nvSpPr>
        <p:spPr>
          <a:xfrm>
            <a:off x="5989461" y="2564892"/>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7" name="vis:prompthdr"/>
          <p:cNvSpPr txBox="1"/>
          <p:nvPr/>
        </p:nvSpPr>
        <p:spPr>
          <a:xfrm>
            <a:off x="1051560" y="2542032"/>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wording</a:t>
            </a:r>
          </a:p>
        </p:txBody>
      </p:sp>
      <p:sp>
        <p:nvSpPr>
          <p:cNvPr id="28" name="card:prompt"/>
          <p:cNvSpPr txBox="1"/>
          <p:nvPr/>
        </p:nvSpPr>
        <p:spPr>
          <a:xfrm>
            <a:off x="777240" y="2980944"/>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"The costings have come back after the deadline three times this quarter, and it is squeezing the review. I do not think that is anyone dragging their feet — I suspect we are handing them over too late. Could we look at the dates together?"</a:t>
            </a:r>
          </a:p>
        </p:txBody>
      </p:sp>
      <p:sp>
        <p:nvSpPr>
          <p:cNvPr id="29" name="vis:promptcap"/>
          <p:cNvSpPr txBox="1"/>
          <p:nvPr/>
        </p:nvSpPr>
        <p:spPr>
          <a:xfrm>
            <a:off x="777240" y="4106671"/>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Name the pattern, not the person. Offer to look together.</a:t>
            </a:r>
          </a:p>
        </p:txBody>
      </p:sp>
      <p:sp>
        <p:nvSpPr>
          <p:cNvPr id="30" name="seclabel"/>
          <p:cNvSpPr txBox="1"/>
          <p:nvPr/>
        </p:nvSpPr>
        <p:spPr>
          <a:xfrm>
            <a:off x="7803910" y="2487168"/>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WORKS</a:t>
            </a:r>
          </a:p>
        </p:txBody>
      </p:sp>
      <p:cxnSp>
        <p:nvCxnSpPr>
          <p:cNvPr id="31" name="vis:icon"/>
          <p:cNvCxnSpPr/>
          <p:nvPr/>
        </p:nvCxnSpPr>
        <p:spPr>
          <a:xfrm>
            <a:off x="7850361" y="3030687"/>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2" name="vis:icon"/>
          <p:cNvCxnSpPr/>
          <p:nvPr/>
        </p:nvCxnSpPr>
        <p:spPr>
          <a:xfrm flipV="1">
            <a:off x="7902665" y="2970336"/>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3" name="cell:why"/>
          <p:cNvSpPr txBox="1"/>
          <p:nvPr/>
        </p:nvSpPr>
        <p:spPr>
          <a:xfrm>
            <a:off x="8187958" y="2871216"/>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"Three times this quarter" is a fact, not a complaint.</a:t>
            </a:r>
          </a:p>
        </p:txBody>
      </p:sp>
      <p:cxnSp>
        <p:nvCxnSpPr>
          <p:cNvPr id="34" name="vis:icon"/>
          <p:cNvCxnSpPr/>
          <p:nvPr/>
        </p:nvCxnSpPr>
        <p:spPr>
          <a:xfrm>
            <a:off x="7850361" y="3963375"/>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flipV="1">
            <a:off x="7902665" y="3903024"/>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6" name="cell:why"/>
          <p:cNvSpPr txBox="1"/>
          <p:nvPr/>
        </p:nvSpPr>
        <p:spPr>
          <a:xfrm>
            <a:off x="8187958" y="380390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Explicitly removing blame lets them engage without defending.</a:t>
            </a:r>
          </a:p>
        </p:txBody>
      </p:sp>
      <p:cxnSp>
        <p:nvCxnSpPr>
          <p:cNvPr id="37" name="vis:icon"/>
          <p:cNvCxnSpPr/>
          <p:nvPr/>
        </p:nvCxnSpPr>
        <p:spPr>
          <a:xfrm>
            <a:off x="7850361" y="4896063"/>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7902665" y="4835712"/>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9" name="cell:why"/>
          <p:cNvSpPr txBox="1"/>
          <p:nvPr/>
        </p:nvSpPr>
        <p:spPr>
          <a:xfrm>
            <a:off x="8187958" y="473659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"Look at the dates together" makes it a shared problem.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RAISING A PROBLEM</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Where to raise it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Is this the first or the fourth time?</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1938104" y="3026664"/>
            <a:ext cx="1156539"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093552" y="3054096"/>
            <a:ext cx="84564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FOURTH</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71079" y="3834627"/>
            <a:ext cx="153619" cy="153619"/>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704216" y="3967764"/>
            <a:ext cx="61447" cy="61448"/>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Involve the managers</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With the dates written down and no commentary about anybody. A repeated pattern is a process problem, and process problems need the people who own the process.</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05929" y="3026664"/>
            <a:ext cx="93878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361377" y="3054096"/>
            <a:ext cx="62788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FIRST</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Direct and informal</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call or a quiet word with the person involved. Almost every first occurrence is a misunderstanding, and it resolves in five minutes without anyone else knowing.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rewrite one handover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tepnum"/>
          <p:cNvSpPr/>
          <p:nvPr/>
        </p:nvSpPr>
        <p:spPr>
          <a:xfrm>
            <a:off x="502920" y="2027681"/>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Find something you handed over that came back wrong.</a:t>
            </a:r>
          </a:p>
        </p:txBody>
      </p:sp>
      <p:sp>
        <p:nvSpPr>
          <p:cNvPr id="19" name="vis:stepnum"/>
          <p:cNvSpPr/>
          <p:nvPr/>
        </p:nvSpPr>
        <p:spPr>
          <a:xfrm>
            <a:off x="502920" y="3138677"/>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Write the four lines you did not write at the time.</a:t>
            </a:r>
          </a:p>
        </p:txBody>
      </p:sp>
      <p:sp>
        <p:nvSpPr>
          <p:cNvPr id="23" name="vis:stepnum"/>
          <p:cNvSpPr/>
          <p:nvPr/>
        </p:nvSpPr>
        <p:spPr>
          <a:xfrm>
            <a:off x="502920" y="4249674"/>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Notice which of the four would have prevented it.</a:t>
            </a:r>
          </a:p>
        </p:txBody>
      </p:sp>
      <p:sp>
        <p:nvSpPr>
          <p:cNvPr id="27" name="vis:stepnum"/>
          <p:cNvSpPr/>
          <p:nvPr/>
        </p:nvSpPr>
        <p:spPr>
          <a:xfrm>
            <a:off x="502920" y="5360670"/>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Use all four on the next thing you hand over.</a:t>
            </a:r>
          </a:p>
        </p:txBody>
      </p:sp>
      <p:sp>
        <p:nvSpPr>
          <p:cNvPr id="30" name="vis:promptcard"/>
          <p:cNvSpPr/>
          <p:nvPr/>
        </p:nvSpPr>
        <p:spPr>
          <a:xfrm>
            <a:off x="6461607" y="1719072"/>
            <a:ext cx="5227167" cy="2576068"/>
          </a:xfrm>
          <a:prstGeom prst="roundRect">
            <a:avLst>
              <a:gd name="adj" fmla="val 354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Turn my rough note into a handover with exactly four labelled lines: WHAT, DONE MEANS, BY WHEN, IF STUCK. Use only what I have written. Where I have not said something, write [NEEDS ANSWER] rather than inventing it.</a:t>
            </a:r>
          </a:p>
        </p:txBody>
      </p:sp>
      <p:sp>
        <p:nvSpPr>
          <p:cNvPr id="43" name="vis:promptcap"/>
          <p:cNvSpPr txBox="1"/>
          <p:nvPr/>
        </p:nvSpPr>
        <p:spPr>
          <a:xfrm>
            <a:off x="6735927" y="3624579"/>
            <a:ext cx="4678527" cy="45110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The [NEEDS ANSWER] markers are the questions you would have been asked anyway.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Feedback that changes something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Name the specific thing, not the general trait.</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Say the effect it had, factually and without heat.</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Say what you would like instead, concretely.</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Do it within two days, or do not do it at all.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Handing over a file with "please complete"</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Three days of messages establishing what you meant by complete.</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Assuming done means the same to both of you</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meant ready to send. They heard numbers filled in. Both were reasonable.</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Asking to "pick someone's brain"</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No question and no time attached. It gets agreed to and never happens.</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Raising a repeated problem as a personal one</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fourth late delivery is a process fault, and naming a person ends the conversation.</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Giving feedback three weeks later</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Nobody remembers the specifics, so it lands as a general judgement about them.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Working across sites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55789" y="2190229"/>
            <a:ext cx="301269" cy="301269"/>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V="1">
            <a:off x="1106424" y="2251852"/>
            <a:ext cx="0" cy="89011"/>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106424" y="2340863"/>
            <a:ext cx="75317" cy="27389"/>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0"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Say the time zone</a:t>
            </a:r>
          </a:p>
        </p:txBody>
      </p:sp>
      <p:sp>
        <p:nvSpPr>
          <p:cNvPr id="21"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"3pm Dubai time" removes an hour and a half of ambiguity with an Indian office.</a:t>
            </a:r>
          </a:p>
        </p:txBody>
      </p:sp>
      <p:sp>
        <p:nvSpPr>
          <p:cNvPr id="22"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4816929" y="2190229"/>
            <a:ext cx="219104" cy="301269"/>
          </a:xfrm>
          <a:prstGeom prst="roundRect">
            <a:avLst>
              <a:gd name="adj" fmla="val 20866"/>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4864859" y="2286087"/>
            <a:ext cx="123246"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6" name="vis:icon"/>
          <p:cNvCxnSpPr/>
          <p:nvPr/>
        </p:nvCxnSpPr>
        <p:spPr>
          <a:xfrm>
            <a:off x="4864859" y="2340863"/>
            <a:ext cx="123246"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a:off x="4864859" y="2395640"/>
            <a:ext cx="8216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8"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Write, then call</a:t>
            </a:r>
          </a:p>
        </p:txBody>
      </p:sp>
      <p:sp>
        <p:nvSpPr>
          <p:cNvPr id="29"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Written first gives everyone the same words. The call resolves what the writing could not.</a:t>
            </a:r>
          </a:p>
        </p:txBody>
      </p:sp>
      <p:sp>
        <p:nvSpPr>
          <p:cNvPr id="30"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681494" y="2193652"/>
            <a:ext cx="130093" cy="130093"/>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8609600" y="2375099"/>
            <a:ext cx="273881" cy="119823"/>
          </a:xfrm>
          <a:custGeom>
            <a:avLst/>
            <a:gdLst/>
            <a:ahLst/>
            <a:cxnLst/>
            <a:rect l="l" t="t" r="r" b="b"/>
            <a:pathLst>
              <a:path w="273881" h="119823">
                <a:moveTo>
                  <a:pt x="0" y="119823"/>
                </a:moveTo>
                <a:lnTo>
                  <a:pt x="20541" y="0"/>
                </a:lnTo>
                <a:lnTo>
                  <a:pt x="253340" y="0"/>
                </a:lnTo>
                <a:lnTo>
                  <a:pt x="273881" y="119823"/>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Name one contact</a:t>
            </a:r>
          </a:p>
        </p:txBody>
      </p:sp>
      <p:sp>
        <p:nvSpPr>
          <p:cNvPr id="35"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"Ask Priya" beats "ask the costing team", which reliably means asking nobody.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collaboration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alertband"/>
          <p:cNvSpPr/>
          <p:nvPr/>
        </p:nvSpPr>
        <p:spPr>
          <a:xfrm>
            <a:off x="0" y="1719072"/>
            <a:ext cx="12191695" cy="96012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Say what done looks like, when it is due, and who to ask when it is not clear.</a:t>
            </a:r>
          </a:p>
          <a:p>
            <a:pPr algn="l">
              <a:lnSpc>
                <a:spcPts val="1755"/>
              </a:lnSpc>
              <a:spcBef>
                <a:spcPts val="0"/>
              </a:spcBef>
              <a:spcAft>
                <a:spcPts val="0"/>
              </a:spcAft>
            </a:pPr>
            <a:r>
              <a:rPr sz="1350" b="0">
                <a:solidFill>
                  <a:srgbClr val="FFFFFF"/>
                </a:solidFill>
                <a:latin typeface="Segoe UI"/>
              </a:rPr>
              <a:t>Almost every cross-team problem is one of those three lines missing.</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Done means what, exactly.</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By when, with a time.</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Ask whom, by name.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Tuesday, 11:00 am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You need a costing from another team by Wednesday afternoon for a tender. The last two came back late and in the wrong format.</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Send the file with "please complete by tomorrow".</a:t>
            </a:r>
          </a:p>
        </p:txBody>
      </p:sp>
      <p:cxnSp>
        <p:nvCxnSpPr>
          <p:cNvPr id="23" name="vis:choicearrow"/>
          <p:cNvCxnSpPr/>
          <p:nvPr/>
        </p:nvCxnSpPr>
        <p:spPr>
          <a:xfrm>
            <a:off x="758952"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Send the four lines: what, done means, by when, if stuck.</a:t>
            </a:r>
          </a:p>
        </p:txBody>
      </p:sp>
      <p:cxnSp>
        <p:nvCxnSpPr>
          <p:cNvPr id="29" name="vis:choicearrow"/>
          <p:cNvCxnSpPr/>
          <p:nvPr/>
        </p:nvCxnSpPr>
        <p:spPr>
          <a:xfrm>
            <a:off x="4566818"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Do the costing yourself to avoid the hassle.</a:t>
            </a:r>
          </a:p>
        </p:txBody>
      </p:sp>
      <p:cxnSp>
        <p:nvCxnSpPr>
          <p:cNvPr id="35" name="vis:choicearrow"/>
          <p:cNvCxnSpPr/>
          <p:nvPr/>
        </p:nvCxnSpPr>
        <p:spPr>
          <a:xfrm>
            <a:off x="8374684"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The third one goes the same way</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They start on Wednesday morning because "tomorrow" had no time on it. They use last year's rate card because nobody said otherwise. It arrives at five, in their own format, and you rework it in the evening.</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same handover produces the same result, every time.</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Ninety seconds of writing, and it arrives finished</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"Costing for the Sharjah tender on the 2026 rate card. Done means every line priced, exclusions listed, in the client template, ready to send. By Wednesday 3pm. If a rate is missing, ask Priya rather than estimating." It arrives at two.</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Four lines is the whole intervention. Nothing else is needed.</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It gets done, and nothing improves</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lose an evening and the tender is fine. The next one has the same problem, because the handover was never fixed — and the other team never learns what you actually needed.</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Doing it yourself solves today and guarantees next month.</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Fifteen minutes on handing work over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Mastering Task Delegation - A Guide to Effective Teamwork (15 Minutes)</a:t>
            </a:r>
          </a:p>
        </p:txBody>
      </p:sp>
      <p:sp>
        <p:nvSpPr>
          <p:cNvPr id="19" name="vis:chip"/>
          <p:cNvSpPr/>
          <p:nvPr/>
        </p:nvSpPr>
        <p:spPr>
          <a:xfrm>
            <a:off x="868680" y="3858768"/>
            <a:ext cx="2397180"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208628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MICROLEARNING DAILY</a:t>
            </a:r>
          </a:p>
        </p:txBody>
      </p:sp>
      <p:sp>
        <p:nvSpPr>
          <p:cNvPr id="21" name="vis:chip"/>
          <p:cNvSpPr/>
          <p:nvPr/>
        </p:nvSpPr>
        <p:spPr>
          <a:xfrm>
            <a:off x="3412164" y="3858768"/>
            <a:ext cx="130200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3567612" y="3895344"/>
            <a:ext cx="99110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15:00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Where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The four-line handover is the working version.</a:t>
            </a:r>
          </a:p>
        </p:txBody>
      </p:sp>
      <p:cxnSp>
        <p:nvCxnSpPr>
          <p:cNvPr id="35" name="vis:icon"/>
          <p:cNvCxnSpPr/>
          <p:nvPr/>
        </p:nvCxnSpPr>
        <p:spPr>
          <a:xfrm>
            <a:off x="8439424" y="3743919"/>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delegate regularly and want more depth.</a:t>
            </a:r>
          </a:p>
        </p:txBody>
      </p:sp>
      <p:cxnSp>
        <p:nvCxnSpPr>
          <p:cNvPr id="38" name="vis:icon"/>
          <p:cNvCxnSpPr/>
          <p:nvPr/>
        </p:nvCxnSpPr>
        <p:spPr>
          <a:xfrm>
            <a:off x="8439424" y="4859487"/>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is missing from "please complete"?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Politeness</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What done looks like, the deadline, and who to ask</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reason the work is needed</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An offer to help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Politeness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is perfectly polite. The problem is that it contains none of the information the other person needs in order to start.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Done means, by when, and who to ask.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What done looks like, the deadline, and who to ask</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Three of the four lines are absent. Each one produces a round of messages, which is exactly where the three days went.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Done means, by when, and who to ask.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The reason the work is needed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Helpful context and rarely the blocker. People usually stall on scope and standard, not on motivation.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Done means, by when, and who to ask.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An offer to help</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"If stuck, ask Priya" covers this better, because it names somebody specific rather than offering vaguely.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Done means, by when, and who to ask.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does "done" cause so much trouble?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People are careless about finishing</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means different things to different people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Deadlines are usually too short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work is too complicated to define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People are careless about finishing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Usually not. Both sides are working carefully towards different, entirely reasonable definitions of the same word.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Both people can be right and still disagree.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It means different things to different people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"Ready to send" and "numbers filled in" are both legitimate readings of done. Neither person is careless, and nobody discovers the gap until the work comes back.</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Both people can be right and still disagree.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Deadlines are usually too short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separate problem. A short deadline with a clear definition of done still produces the right thing, just faster.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Both people can be right and still disagree.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The work is too complicated to define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Almost any output can be described in one sentence of finished state. "Ready to send without me editing" works for most things.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Both people can be right and still disagree.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makes an ask for help work?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Being apologetic about interrupting</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Naming what you already tried and the time needed</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Giving full background first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Asking whether they are free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Being apologetic about interrupting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Apology does not help them decide. What they need to know is what is being asked and how big it is.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Say what you tried, and how long it will take.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Naming what you already tried and the time needed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"What I tried" stops them suggesting your first two attempts. "Two minutes" lets them say yes without worrying it becomes an hour.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Say what you tried, and how long it will take.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Giving full background first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makes them work out what is being asked before they can decide whether they can help. Question first, background if needed.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Say what you tried, and how long it will take.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Asking whether they are free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Nobody can answer this. Free for what, and for how long? It usually gets a yes followed by nothing.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Say what you tried, and how long it will take.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Third late delivery. How do you raise it?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Copy both managers on the next chaser</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State the dates, remove blame, and offer to look together</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Say nothing and build in more buffer</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who was responsible each time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Copy both managers on the next chaser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an escalation before a conversation. It ends cooperation, and it treats a probable process fault as somebody's misconduct.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the pattern, not the person.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State the dates, remove blame, and offer to look together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"Three times this quarter — I suspect we hand over too late rather than anyone dragging their feet." The facts stand, nobody has to defend themselves, and you usually find the real cause.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the pattern, not the person.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Say nothing and build in more buffer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hides the problem and costs you time every month. The other team also never learns that anything is wrong.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the pattern, not the person.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Ask who was responsible each time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frames a repeated process failure as individual fault. People become careful rather than open, and the cause stays hidden.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the pattern, not the person.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is feedback worth giving?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At the annual review, so it is all together</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Within about two days, about one specific thing</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Whenever you feel calm enough</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Only if it is positive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At the annual review, so it is all together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Nobody can act on something from eight months ago, and hearing a list at review is the worst possible delivery. It also reads as ambush.</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Within two days, or not at all.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Within about two days, about one specific thing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Both people still remember the specifics, so it is a conversation about an event rather than a judgement about a person. After a week it becomes the second.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Within two days, or not at all.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Whenever you feel calm enough</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Being calm matters and waiting a week does not help. Wait an hour if you need to, not until the detail has faded.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Within two days, or not at all.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Only if it is positive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Then nothing ever improves. Specific, timely and unheated feedback about one thing is usually received perfectly well.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Within two days, or not at all.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Collaboration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Four lines with every handover</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done means, by when, and who to ask if stuck.</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Define done explicitly</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"Ready to send without me editing it" removes the whole ambiguity.</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Give a time, not a day</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"Wednesday 3pm" starts work on Tuesday. "Wednesday" starts it on Wednesday.</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Name one person to ask</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"Ask Priya" beats "ask the team", which means asking nobody.</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Say what you already tried</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It is the difference between a two-minute answer and a ten-minute one.</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Raise patterns, not people</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fourth late delivery is a process fault. Name the dates, not the person.</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AA87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AA8745"/>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AA8745"/>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Say what done looks like, when it is due, and who to ask when it is not clear.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93200" y="2382199"/>
            <a:ext cx="170414" cy="234320"/>
          </a:xfrm>
          <a:prstGeom prst="roundRect">
            <a:avLst>
              <a:gd name="adj" fmla="val 26828"/>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930478" y="2456756"/>
            <a:ext cx="95859"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930478" y="2499359"/>
            <a:ext cx="95859"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a:off x="930478" y="2541963"/>
            <a:ext cx="63906"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2"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four-line handover</a:t>
            </a:r>
          </a:p>
        </p:txBody>
      </p:sp>
      <p:sp>
        <p:nvSpPr>
          <p:cNvPr id="23"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done means, by when, if stuck.</a:t>
            </a:r>
          </a:p>
        </p:txBody>
      </p:sp>
      <p:sp>
        <p:nvSpPr>
          <p:cNvPr id="24"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866573" y="3305709"/>
            <a:ext cx="223669" cy="149113"/>
          </a:xfrm>
          <a:prstGeom prst="roundRect">
            <a:avLst>
              <a:gd name="adj" fmla="val 30661"/>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flipH="1">
            <a:off x="909176" y="3454822"/>
            <a:ext cx="10651" cy="5858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909176" y="3454822"/>
            <a:ext cx="58581" cy="5858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9"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three-line ask for help</a:t>
            </a:r>
          </a:p>
        </p:txBody>
      </p:sp>
      <p:sp>
        <p:nvSpPr>
          <p:cNvPr id="30"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Problem, what you tried, specific question, time needed.</a:t>
            </a:r>
          </a:p>
        </p:txBody>
      </p:sp>
      <p:sp>
        <p:nvSpPr>
          <p:cNvPr id="31"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927816" y="4189278"/>
            <a:ext cx="101183" cy="101183"/>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icon"/>
          <p:cNvSpPr/>
          <p:nvPr/>
        </p:nvSpPr>
        <p:spPr>
          <a:xfrm>
            <a:off x="871898" y="4330403"/>
            <a:ext cx="213019" cy="93195"/>
          </a:xfrm>
          <a:custGeom>
            <a:avLst/>
            <a:gdLst/>
            <a:ahLst/>
            <a:cxnLst/>
            <a:rect l="l" t="t" r="r" b="b"/>
            <a:pathLst>
              <a:path w="213019" h="93195">
                <a:moveTo>
                  <a:pt x="0" y="93195"/>
                </a:moveTo>
                <a:lnTo>
                  <a:pt x="15977" y="0"/>
                </a:lnTo>
                <a:lnTo>
                  <a:pt x="197042" y="0"/>
                </a:lnTo>
                <a:lnTo>
                  <a:pt x="213019" y="93195"/>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no-blame problem raise</a:t>
            </a:r>
          </a:p>
        </p:txBody>
      </p:sp>
      <p:sp>
        <p:nvSpPr>
          <p:cNvPr id="36"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The dates, blame removed, an offer to look together.</a:t>
            </a:r>
          </a:p>
        </p:txBody>
      </p:sp>
      <p:sp>
        <p:nvSpPr>
          <p:cNvPr id="37"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LINKS THAT WORK</a:t>
            </a:r>
          </a:p>
        </p:txBody>
      </p:sp>
      <p:sp>
        <p:nvSpPr>
          <p:cNvPr id="38"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icon"/>
          <p:cNvSpPr/>
          <p:nvPr/>
        </p:nvSpPr>
        <p:spPr>
          <a:xfrm>
            <a:off x="8339937" y="2300630"/>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0" name="vis:icon"/>
          <p:cNvCxnSpPr/>
          <p:nvPr/>
        </p:nvCxnSpPr>
        <p:spPr>
          <a:xfrm>
            <a:off x="8482584" y="2443276"/>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1"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2"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copilot.microsoft.com</a:t>
            </a:r>
          </a:p>
        </p:txBody>
      </p:sp>
      <p:sp>
        <p:nvSpPr>
          <p:cNvPr id="43"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icon"/>
          <p:cNvSpPr/>
          <p:nvPr/>
        </p:nvSpPr>
        <p:spPr>
          <a:xfrm>
            <a:off x="8339937" y="2977286"/>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5" name="vis:icon"/>
          <p:cNvCxnSpPr/>
          <p:nvPr/>
        </p:nvCxnSpPr>
        <p:spPr>
          <a:xfrm>
            <a:off x="8482584" y="3119932"/>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6"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7"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chatgpt.com</a:t>
            </a:r>
          </a:p>
        </p:txBody>
      </p:sp>
      <p:sp>
        <p:nvSpPr>
          <p:cNvPr id="48"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9" name="vis:icon"/>
          <p:cNvSpPr/>
          <p:nvPr/>
        </p:nvSpPr>
        <p:spPr>
          <a:xfrm>
            <a:off x="8339937" y="3653942"/>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0" name="vis:icon"/>
          <p:cNvCxnSpPr/>
          <p:nvPr/>
        </p:nvCxnSpPr>
        <p:spPr>
          <a:xfrm>
            <a:off x="8482584" y="3796588"/>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51"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2"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gemini.google.com</a:t>
            </a:r>
          </a:p>
        </p:txBody>
      </p:sp>
      <p:sp>
        <p:nvSpPr>
          <p:cNvPr id="53"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4"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DO THIS NEXT</a:t>
            </a:r>
          </a:p>
        </p:txBody>
      </p:sp>
      <p:sp>
        <p:nvSpPr>
          <p:cNvPr id="55"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That completes the Professional Skills track. The master index lists every module and the recommended learning paths.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PS-09  ·  Teamwork &amp; Collaboration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Handover</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Passing work to somebody else. Needs four lines, not a file and two words.</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Definition of done</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the finished output looks like, stated before anyone starts.</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Escalation</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Involving managers. Appropriate for a repeated pattern, not a first occurrence.</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Blocker</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Something stopping progress. Should reach a named person within hours, not days.</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Feedback</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One specific thing, its effect, and what you would like instead. Within two days.</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Buffer</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Extra time added to absorb delays. Useful, and it hides the problem if used instead of fixing it.</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