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Gd2N8bCKO98"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gpt.com" TargetMode="External"/><Relationship Id="rId3" Type="http://schemas.openxmlformats.org/officeDocument/2006/relationships/hyperlink" Target="https://copilot.microsof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role-prompts.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56642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PROMPT ENGINEERING</a:t>
            </a:r>
          </a:p>
        </p:txBody>
      </p:sp>
      <p:sp>
        <p:nvSpPr>
          <p:cNvPr id="8" name="title:cover"/>
          <p:cNvSpPr txBox="1"/>
          <p:nvPr/>
        </p:nvSpPr>
        <p:spPr>
          <a:xfrm>
            <a:off x="841248" y="102362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Role-Based Prompts</a:t>
            </a:r>
          </a:p>
        </p:txBody>
      </p:sp>
      <p:cxnSp>
        <p:nvCxnSpPr>
          <p:cNvPr id="9" name="vis:rule"/>
          <p:cNvCxnSpPr/>
          <p:nvPr/>
        </p:nvCxnSpPr>
        <p:spPr>
          <a:xfrm>
            <a:off x="841248" y="280568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3080004"/>
            <a:ext cx="4187952"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"Act as a…" — what it actually changes, when it helps, and when it is just decoration.</a:t>
            </a:r>
          </a:p>
        </p:txBody>
      </p:sp>
      <p:sp>
        <p:nvSpPr>
          <p:cNvPr id="11" name="vis:chip"/>
          <p:cNvSpPr/>
          <p:nvPr/>
        </p:nvSpPr>
        <p:spPr>
          <a:xfrm>
            <a:off x="841248" y="4626864"/>
            <a:ext cx="957834" cy="310896"/>
          </a:xfrm>
          <a:prstGeom prst="roundRect">
            <a:avLst>
              <a:gd name="adj" fmla="val 14705"/>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3"/>
            <a:ext cx="64693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PE-03</a:t>
            </a:r>
          </a:p>
        </p:txBody>
      </p:sp>
      <p:sp>
        <p:nvSpPr>
          <p:cNvPr id="13" name="vis:chip"/>
          <p:cNvSpPr/>
          <p:nvPr/>
        </p:nvSpPr>
        <p:spPr>
          <a:xfrm>
            <a:off x="1945386"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100834" y="4672583"/>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16 MINUTES</a:t>
            </a:r>
          </a:p>
        </p:txBody>
      </p:sp>
      <p:sp>
        <p:nvSpPr>
          <p:cNvPr id="15" name="vis:chip"/>
          <p:cNvSpPr/>
          <p:nvPr/>
        </p:nvSpPr>
        <p:spPr>
          <a:xfrm>
            <a:off x="841248" y="504748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7"/>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PE-03  ·  Role-Based Prompts</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Meera gets an answer for engineers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92627" y="2222050"/>
            <a:ext cx="137320" cy="137320"/>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icon"/>
          <p:cNvSpPr/>
          <p:nvPr/>
        </p:nvSpPr>
        <p:spPr>
          <a:xfrm>
            <a:off x="1016739" y="2413577"/>
            <a:ext cx="289097" cy="126479"/>
          </a:xfrm>
          <a:custGeom>
            <a:avLst/>
            <a:gdLst/>
            <a:ahLst/>
            <a:cxnLst/>
            <a:rect l="l" t="t" r="r" b="b"/>
            <a:pathLst>
              <a:path w="289097" h="126479">
                <a:moveTo>
                  <a:pt x="0" y="126479"/>
                </a:moveTo>
                <a:lnTo>
                  <a:pt x="21682" y="0"/>
                </a:lnTo>
                <a:lnTo>
                  <a:pt x="267415" y="0"/>
                </a:lnTo>
                <a:lnTo>
                  <a:pt x="289097" y="126479"/>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Meera runs quality checks at a Coimbatore plant. She asks for an explanation of a rejection trend to send to the sales team. What comes back is full of process capability indices. Sales read two lines and call her instead.</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The explanation was correct and completely unusable.</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One line naming the reader, and the same facts land first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1004691" y="1948922"/>
            <a:ext cx="112024" cy="112024"/>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42782" y="2105168"/>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a role line that changes the answer, not just the tone</a:t>
            </a:r>
          </a:p>
        </p:txBody>
      </p:sp>
      <p:sp>
        <p:nvSpPr>
          <p:cNvPr id="20"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925094" y="2865671"/>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vis:icon"/>
          <p:cNvSpPr/>
          <p:nvPr/>
        </p:nvSpPr>
        <p:spPr>
          <a:xfrm>
            <a:off x="1019431" y="2930527"/>
            <a:ext cx="82544" cy="82544"/>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Tell a useful role from a decorative one</a:t>
            </a:r>
          </a:p>
        </p:txBody>
      </p:sp>
      <p:sp>
        <p:nvSpPr>
          <p:cNvPr id="25"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936886" y="3761783"/>
            <a:ext cx="247634" cy="165089"/>
          </a:xfrm>
          <a:prstGeom prst="roundRect">
            <a:avLst>
              <a:gd name="adj" fmla="val 27694"/>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flipH="1">
            <a:off x="984055" y="3926872"/>
            <a:ext cx="11792" cy="6485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984055" y="3926872"/>
            <a:ext cx="64856" cy="6485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0"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Use the reader's role instead of the writer's, and see why</a:t>
            </a:r>
          </a:p>
        </p:txBody>
      </p:sp>
      <p:sp>
        <p:nvSpPr>
          <p:cNvPr id="31"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933938" y="4654947"/>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1007639" y="4675583"/>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vis:icon"/>
          <p:cNvSpPr/>
          <p:nvPr/>
        </p:nvSpPr>
        <p:spPr>
          <a:xfrm>
            <a:off x="933938" y="4743387"/>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6" name="vis:icon"/>
          <p:cNvCxnSpPr/>
          <p:nvPr/>
        </p:nvCxnSpPr>
        <p:spPr>
          <a:xfrm>
            <a:off x="1007639" y="4764024"/>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7" name="vis:icon"/>
          <p:cNvSpPr/>
          <p:nvPr/>
        </p:nvSpPr>
        <p:spPr>
          <a:xfrm>
            <a:off x="933938" y="4831828"/>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1007639" y="4852464"/>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Ask the same question from three roles to stress-test a plan</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925094" y="5530422"/>
            <a:ext cx="271219" cy="247635"/>
          </a:xfrm>
          <a:custGeom>
            <a:avLst/>
            <a:gdLst/>
            <a:ahLst/>
            <a:cxnLst/>
            <a:rect l="l" t="t" r="r" b="b"/>
            <a:pathLst>
              <a:path w="271219" h="247635">
                <a:moveTo>
                  <a:pt x="135610" y="0"/>
                </a:moveTo>
                <a:lnTo>
                  <a:pt x="271219" y="247635"/>
                </a:lnTo>
                <a:lnTo>
                  <a:pt x="0" y="247635"/>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vis:icon"/>
          <p:cNvCxnSpPr/>
          <p:nvPr/>
        </p:nvCxnSpPr>
        <p:spPr>
          <a:xfrm>
            <a:off x="1060704" y="5624759"/>
            <a:ext cx="0" cy="73701"/>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4" name="vis:icon"/>
          <p:cNvSpPr/>
          <p:nvPr/>
        </p:nvSpPr>
        <p:spPr>
          <a:xfrm>
            <a:off x="1045963" y="5724992"/>
            <a:ext cx="29480" cy="2948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Avoid the roles that invite invented authority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What a role changes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Vocabulary, depth, assumptions</a:t>
            </a:r>
          </a:p>
        </p:txBody>
      </p:sp>
      <p:cxnSp>
        <p:nvCxnSpPr>
          <p:cNvPr id="13" name="vis:menuarrow"/>
          <p:cNvCxnSpPr/>
          <p:nvPr/>
        </p:nvCxnSpPr>
        <p:spPr>
          <a:xfrm>
            <a:off x="11213287" y="1997049"/>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Reader beats writer</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Who receives it matters more</a:t>
            </a:r>
          </a:p>
        </p:txBody>
      </p:sp>
      <p:cxnSp>
        <p:nvCxnSpPr>
          <p:cNvPr id="19" name="vis:menuarrow"/>
          <p:cNvCxnSpPr/>
          <p:nvPr/>
        </p:nvCxnSpPr>
        <p:spPr>
          <a:xfrm>
            <a:off x="11213287" y="242498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Roles that earn their place</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Three that work</a:t>
            </a:r>
          </a:p>
        </p:txBody>
      </p:sp>
      <p:cxnSp>
        <p:nvCxnSpPr>
          <p:cNvPr id="25" name="vis:menuarrow"/>
          <p:cNvCxnSpPr/>
          <p:nvPr/>
        </p:nvCxnSpPr>
        <p:spPr>
          <a:xfrm>
            <a:off x="11213287" y="285292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Roles that do nothing</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Or worse than nothing</a:t>
            </a:r>
          </a:p>
        </p:txBody>
      </p:sp>
      <p:cxnSp>
        <p:nvCxnSpPr>
          <p:cNvPr id="31" name="vis:menuarrow"/>
          <p:cNvCxnSpPr/>
          <p:nvPr/>
        </p:nvCxnSpPr>
        <p:spPr>
          <a:xfrm>
            <a:off x="11213287" y="3280867"/>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Three roles, one question</a:t>
            </a:r>
          </a:p>
        </p:txBody>
      </p:sp>
      <p:cxnSp>
        <p:nvCxnSpPr>
          <p:cNvPr id="37" name="vis:menuarrow"/>
          <p:cNvCxnSpPr/>
          <p:nvPr/>
        </p:nvCxnSpPr>
        <p:spPr>
          <a:xfrm>
            <a:off x="11213287" y="3708806"/>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Monday morning decision</a:t>
            </a:r>
          </a:p>
        </p:txBody>
      </p:sp>
      <p:cxnSp>
        <p:nvCxnSpPr>
          <p:cNvPr id="43" name="vis:menuarrow"/>
          <p:cNvCxnSpPr/>
          <p:nvPr/>
        </p:nvCxnSpPr>
        <p:spPr>
          <a:xfrm>
            <a:off x="11213287" y="4136745"/>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4-minute outside explainer</a:t>
            </a:r>
          </a:p>
        </p:txBody>
      </p:sp>
      <p:cxnSp>
        <p:nvCxnSpPr>
          <p:cNvPr id="49" name="vis:menuarrow"/>
          <p:cNvCxnSpPr/>
          <p:nvPr/>
        </p:nvCxnSpPr>
        <p:spPr>
          <a:xfrm>
            <a:off x="11213287" y="456468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WHAT A ROLE CHANGES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a role actually changes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It does not make the tool an expert. It shifts which words and which level of detail become likely.</a:t>
            </a:r>
          </a:p>
        </p:txBody>
      </p:sp>
      <p:sp>
        <p:nvSpPr>
          <p:cNvPr id="16" name="vis:flowcard"/>
          <p:cNvSpPr/>
          <p:nvPr/>
        </p:nvSpPr>
        <p:spPr>
          <a:xfrm>
            <a:off x="502920"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3026663"/>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name a role</a:t>
            </a:r>
          </a:p>
        </p:txBody>
      </p:sp>
      <p:sp>
        <p:nvSpPr>
          <p:cNvPr id="20" name="vis:flowsub"/>
          <p:cNvSpPr txBox="1"/>
          <p:nvPr/>
        </p:nvSpPr>
        <p:spPr>
          <a:xfrm>
            <a:off x="704088"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"Explain this to a sales manager."</a:t>
            </a:r>
          </a:p>
        </p:txBody>
      </p:sp>
      <p:cxnSp>
        <p:nvCxnSpPr>
          <p:cNvPr id="21" name="vis:flowarrow"/>
          <p:cNvCxnSpPr/>
          <p:nvPr/>
        </p:nvCxnSpPr>
        <p:spPr>
          <a:xfrm>
            <a:off x="3093643" y="41696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3026663"/>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Vocabulary shifts</a:t>
            </a:r>
          </a:p>
        </p:txBody>
      </p:sp>
      <p:sp>
        <p:nvSpPr>
          <p:cNvPr id="26" name="vis:flowsub"/>
          <p:cNvSpPr txBox="1"/>
          <p:nvPr/>
        </p:nvSpPr>
        <p:spPr>
          <a:xfrm>
            <a:off x="3596563"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Fewer technical terms, more commercial ones.</a:t>
            </a:r>
          </a:p>
        </p:txBody>
      </p:sp>
      <p:cxnSp>
        <p:nvCxnSpPr>
          <p:cNvPr id="27" name="vis:flowarrow"/>
          <p:cNvCxnSpPr/>
          <p:nvPr/>
        </p:nvCxnSpPr>
        <p:spPr>
          <a:xfrm>
            <a:off x="5986119" y="41696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3026663"/>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Depth shifts</a:t>
            </a:r>
          </a:p>
        </p:txBody>
      </p:sp>
      <p:sp>
        <p:nvSpPr>
          <p:cNvPr id="32" name="vis:flowsub"/>
          <p:cNvSpPr txBox="1"/>
          <p:nvPr/>
        </p:nvSpPr>
        <p:spPr>
          <a:xfrm>
            <a:off x="6489039"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Less method, more consequence.</a:t>
            </a:r>
          </a:p>
        </p:txBody>
      </p:sp>
      <p:cxnSp>
        <p:nvCxnSpPr>
          <p:cNvPr id="33" name="vis:flowarrow"/>
          <p:cNvCxnSpPr/>
          <p:nvPr/>
        </p:nvCxnSpPr>
        <p:spPr>
          <a:xfrm>
            <a:off x="8878595" y="41696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3026663"/>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Assumptions shift</a:t>
            </a:r>
          </a:p>
        </p:txBody>
      </p:sp>
      <p:sp>
        <p:nvSpPr>
          <p:cNvPr id="38" name="vis:flowsub"/>
          <p:cNvSpPr txBox="1"/>
          <p:nvPr/>
        </p:nvSpPr>
        <p:spPr>
          <a:xfrm>
            <a:off x="9381515"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It stops explaining what they already know.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WHAT A ROLE CHANGES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same facts, two readers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76999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45910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 ROLE GIVEN</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"Explain why rejections rose from 1.4 to 2.1 per cent."</a:t>
            </a:r>
          </a:p>
          <a:p>
            <a:pPr algn="l">
              <a:lnSpc>
                <a:spcPts val="1690"/>
              </a:lnSpc>
              <a:spcBef>
                <a:spcPts val="0"/>
              </a:spcBef>
              <a:spcAft>
                <a:spcPts val="600"/>
              </a:spcAft>
            </a:pPr>
            <a:r>
              <a:rPr sz="1300" b="0">
                <a:solidFill>
                  <a:srgbClr val="2A3547"/>
                </a:solidFill>
                <a:latin typeface="Segoe UI"/>
              </a:rPr>
              <a:t>You get capability indices, sampling method and a control chart reference.</a:t>
            </a:r>
          </a:p>
          <a:p>
            <a:pPr algn="l">
              <a:lnSpc>
                <a:spcPts val="1690"/>
              </a:lnSpc>
              <a:spcBef>
                <a:spcPts val="0"/>
              </a:spcBef>
              <a:spcAft>
                <a:spcPts val="600"/>
              </a:spcAft>
            </a:pPr>
            <a:r>
              <a:rPr sz="1300" b="0">
                <a:solidFill>
                  <a:srgbClr val="2A3547"/>
                </a:solidFill>
                <a:latin typeface="Segoe UI"/>
              </a:rPr>
              <a:t>Correct, and unreadable for the person who asked.</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78396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4730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READER NAMED</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"Explain this to a sales manager who will talk to the customer."</a:t>
            </a:r>
          </a:p>
          <a:p>
            <a:pPr algn="l">
              <a:lnSpc>
                <a:spcPts val="1690"/>
              </a:lnSpc>
              <a:spcBef>
                <a:spcPts val="0"/>
              </a:spcBef>
              <a:spcAft>
                <a:spcPts val="600"/>
              </a:spcAft>
            </a:pPr>
            <a:r>
              <a:rPr sz="1300" b="0">
                <a:solidFill>
                  <a:srgbClr val="2A3547"/>
                </a:solidFill>
                <a:latin typeface="Segoe UI"/>
              </a:rPr>
              <a:t>You get: what it means for delivery, what we are doing, what to say.</a:t>
            </a:r>
          </a:p>
          <a:p>
            <a:pPr algn="l">
              <a:lnSpc>
                <a:spcPts val="1690"/>
              </a:lnSpc>
              <a:spcBef>
                <a:spcPts val="0"/>
              </a:spcBef>
              <a:spcAft>
                <a:spcPts val="600"/>
              </a:spcAft>
            </a:pPr>
            <a:r>
              <a:rPr sz="1300" b="0">
                <a:solidFill>
                  <a:srgbClr val="2A3547"/>
                </a:solidFill>
                <a:latin typeface="Segoe UI"/>
              </a:rPr>
              <a:t>Same facts, ordered by what the reader has to do next.</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role did not add knowledge. It changed which parts of the answer came first.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READER BEATS WRITER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Name the reader, not the expert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16293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85204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WEAKER</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"Act as a quality engineer"</a:t>
            </a:r>
          </a:p>
        </p:txBody>
      </p:sp>
      <p:sp>
        <p:nvSpPr>
          <p:cNvPr id="20" name="vis:icon"/>
          <p:cNvSpPr/>
          <p:nvPr/>
        </p:nvSpPr>
        <p:spPr>
          <a:xfrm>
            <a:off x="801014" y="3084271"/>
            <a:ext cx="153619" cy="102412"/>
          </a:xfrm>
          <a:prstGeom prst="roundRect">
            <a:avLst>
              <a:gd name="adj" fmla="val 44642"/>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flipH="1">
            <a:off x="830275" y="3186684"/>
            <a:ext cx="7315" cy="40233"/>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22" name="vis:icon"/>
          <p:cNvCxnSpPr/>
          <p:nvPr/>
        </p:nvCxnSpPr>
        <p:spPr>
          <a:xfrm flipV="1">
            <a:off x="830275" y="3186684"/>
            <a:ext cx="40233" cy="40233"/>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3"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Shifts vocabulary towards jargon</a:t>
            </a:r>
          </a:p>
        </p:txBody>
      </p:sp>
      <p:sp>
        <p:nvSpPr>
          <p:cNvPr id="24" name="vis:icon"/>
          <p:cNvSpPr/>
          <p:nvPr/>
        </p:nvSpPr>
        <p:spPr>
          <a:xfrm>
            <a:off x="801014" y="3779215"/>
            <a:ext cx="153619" cy="102412"/>
          </a:xfrm>
          <a:prstGeom prst="roundRect">
            <a:avLst>
              <a:gd name="adj" fmla="val 44642"/>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flipH="1">
            <a:off x="830275" y="3881627"/>
            <a:ext cx="7315" cy="40234"/>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26" name="vis:icon"/>
          <p:cNvCxnSpPr/>
          <p:nvPr/>
        </p:nvCxnSpPr>
        <p:spPr>
          <a:xfrm flipV="1">
            <a:off x="830275" y="3881627"/>
            <a:ext cx="40233" cy="40234"/>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7"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Adds depth nobody asked for</a:t>
            </a:r>
          </a:p>
        </p:txBody>
      </p:sp>
      <p:sp>
        <p:nvSpPr>
          <p:cNvPr id="28" name="vis:icon"/>
          <p:cNvSpPr/>
          <p:nvPr/>
        </p:nvSpPr>
        <p:spPr>
          <a:xfrm>
            <a:off x="801014" y="4474159"/>
            <a:ext cx="153619" cy="102412"/>
          </a:xfrm>
          <a:prstGeom prst="roundRect">
            <a:avLst>
              <a:gd name="adj" fmla="val 44642"/>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flipH="1">
            <a:off x="830275" y="4576571"/>
            <a:ext cx="7315" cy="40234"/>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V="1">
            <a:off x="830275" y="4576571"/>
            <a:ext cx="40233" cy="40234"/>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Does not know who will read it</a:t>
            </a:r>
          </a:p>
        </p:txBody>
      </p:sp>
      <p:sp>
        <p:nvSpPr>
          <p:cNvPr id="32" name="vis:icon"/>
          <p:cNvSpPr/>
          <p:nvPr/>
        </p:nvSpPr>
        <p:spPr>
          <a:xfrm>
            <a:off x="801014" y="5169103"/>
            <a:ext cx="153619" cy="102412"/>
          </a:xfrm>
          <a:prstGeom prst="roundRect">
            <a:avLst>
              <a:gd name="adj" fmla="val 44642"/>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830275" y="5271515"/>
            <a:ext cx="7315" cy="40234"/>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830275" y="5271515"/>
            <a:ext cx="40233" cy="40234"/>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5"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Sounds authoritative about our plant</a:t>
            </a:r>
          </a:p>
        </p:txBody>
      </p:sp>
      <p:sp>
        <p:nvSpPr>
          <p:cNvPr id="36"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panelspine"/>
          <p:cNvSpPr/>
          <p:nvPr/>
        </p:nvSpPr>
        <p:spPr>
          <a:xfrm>
            <a:off x="6251295"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chip"/>
          <p:cNvSpPr/>
          <p:nvPr/>
        </p:nvSpPr>
        <p:spPr>
          <a:xfrm>
            <a:off x="6525615" y="1956815"/>
            <a:ext cx="136359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chiptext"/>
          <p:cNvSpPr txBox="1"/>
          <p:nvPr/>
        </p:nvSpPr>
        <p:spPr>
          <a:xfrm>
            <a:off x="6681063" y="1984247"/>
            <a:ext cx="10527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STRONGER</a:t>
            </a:r>
          </a:p>
        </p:txBody>
      </p:sp>
      <p:sp>
        <p:nvSpPr>
          <p:cNvPr id="40"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"Write this for a sales manager"</a:t>
            </a:r>
          </a:p>
        </p:txBody>
      </p:sp>
      <p:cxnSp>
        <p:nvCxnSpPr>
          <p:cNvPr id="41" name="vis:icon"/>
          <p:cNvCxnSpPr/>
          <p:nvPr/>
        </p:nvCxnSpPr>
        <p:spPr>
          <a:xfrm>
            <a:off x="6560362"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V="1">
            <a:off x="6607911" y="309890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Shifts vocabulary towards the reader</a:t>
            </a:r>
          </a:p>
        </p:txBody>
      </p:sp>
      <p:cxnSp>
        <p:nvCxnSpPr>
          <p:cNvPr id="44" name="vis:icon"/>
          <p:cNvCxnSpPr/>
          <p:nvPr/>
        </p:nvCxnSpPr>
        <p:spPr>
          <a:xfrm>
            <a:off x="6560362"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flipV="1">
            <a:off x="6607911" y="379384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6"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Cuts detail the reader cannot use</a:t>
            </a:r>
          </a:p>
        </p:txBody>
      </p:sp>
      <p:cxnSp>
        <p:nvCxnSpPr>
          <p:cNvPr id="47" name="vis:icon"/>
          <p:cNvCxnSpPr/>
          <p:nvPr/>
        </p:nvCxnSpPr>
        <p:spPr>
          <a:xfrm>
            <a:off x="6560362"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8" name="vis:icon"/>
          <p:cNvCxnSpPr/>
          <p:nvPr/>
        </p:nvCxnSpPr>
        <p:spPr>
          <a:xfrm flipV="1">
            <a:off x="6607911" y="448878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9"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Orders points by what they must do</a:t>
            </a:r>
          </a:p>
        </p:txBody>
      </p:sp>
      <p:cxnSp>
        <p:nvCxnSpPr>
          <p:cNvPr id="50" name="vis:icon"/>
          <p:cNvCxnSpPr/>
          <p:nvPr/>
        </p:nvCxnSpPr>
        <p:spPr>
          <a:xfrm>
            <a:off x="6560362"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51" name="vis:icon"/>
          <p:cNvCxnSpPr/>
          <p:nvPr/>
        </p:nvCxnSpPr>
        <p:spPr>
          <a:xfrm flipV="1">
            <a:off x="6607911" y="518373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52"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Claims no authority it does not have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READER BEATS WRITER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reader line, ready to use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Write this for a sales manager who will speak to the customer this afternoon and has no technical background. They need to know what changed, what it means for delivery, and what we are doing about it. Under 120 words, no jargon, three short paragraphs.</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Reader, purpose, then the usual instructions.</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"Has no technical background" removes the jargon.</a:t>
            </a:r>
          </a:p>
        </p:txBody>
      </p:sp>
      <p:cxnSp>
        <p:nvCxnSpPr>
          <p:cNvPr id="33" name="vis:icon"/>
          <p:cNvCxnSpPr/>
          <p:nvPr/>
        </p:nvCxnSpPr>
        <p:spPr>
          <a:xfrm>
            <a:off x="7850361" y="3250143"/>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"Will speak this afternoon" sets the urgency and length.</a:t>
            </a:r>
          </a:p>
        </p:txBody>
      </p:sp>
      <p:cxnSp>
        <p:nvCxnSpPr>
          <p:cNvPr id="36" name="vis:icon"/>
          <p:cNvCxnSpPr/>
          <p:nvPr/>
        </p:nvCxnSpPr>
        <p:spPr>
          <a:xfrm>
            <a:off x="7850361" y="418283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three things they need decide the three paragraphs.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ROLES THAT EARN THEIR PLACE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roles that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1041377" y="2193652"/>
            <a:ext cx="130093" cy="130093"/>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69483"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reader</a:t>
            </a:r>
          </a:p>
        </p:txBody>
      </p:sp>
      <p:sp>
        <p:nvSpPr>
          <p:cNvPr id="20"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"For a warehouse supervisor with ten minutes." Sets vocabulary, length and what to leave out.</a:t>
            </a:r>
          </a:p>
        </p:txBody>
      </p:sp>
      <p:sp>
        <p:nvSpPr>
          <p:cNvPr id="21"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4769000" y="2217617"/>
            <a:ext cx="314964" cy="246493"/>
          </a:xfrm>
          <a:custGeom>
            <a:avLst/>
            <a:gdLst/>
            <a:ahLst/>
            <a:cxnLst/>
            <a:rect l="l" t="t" r="r" b="b"/>
            <a:pathLst>
              <a:path w="314964" h="246493">
                <a:moveTo>
                  <a:pt x="0" y="123246"/>
                </a:moveTo>
                <a:lnTo>
                  <a:pt x="157482" y="0"/>
                </a:lnTo>
                <a:lnTo>
                  <a:pt x="314964" y="123246"/>
                </a:lnTo>
                <a:lnTo>
                  <a:pt x="157482" y="246493"/>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is:icon"/>
          <p:cNvSpPr/>
          <p:nvPr/>
        </p:nvSpPr>
        <p:spPr>
          <a:xfrm>
            <a:off x="4878553" y="2292934"/>
            <a:ext cx="95858" cy="95858"/>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critic</a:t>
            </a:r>
          </a:p>
        </p:txBody>
      </p:sp>
      <p:sp>
        <p:nvSpPr>
          <p:cNvPr id="26"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"Read this as the customer would and list what annoys them." Finds problems you cannot see.</a:t>
            </a:r>
          </a:p>
        </p:txBody>
      </p:sp>
      <p:sp>
        <p:nvSpPr>
          <p:cNvPr id="27"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icon"/>
          <p:cNvSpPr/>
          <p:nvPr/>
        </p:nvSpPr>
        <p:spPr>
          <a:xfrm>
            <a:off x="8599329" y="2214193"/>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8684917" y="2238158"/>
            <a:ext cx="21225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1" name="vis:icon"/>
          <p:cNvSpPr/>
          <p:nvPr/>
        </p:nvSpPr>
        <p:spPr>
          <a:xfrm>
            <a:off x="8599329" y="2316899"/>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684917" y="2340863"/>
            <a:ext cx="21225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3" name="vis:icon"/>
          <p:cNvSpPr/>
          <p:nvPr/>
        </p:nvSpPr>
        <p:spPr>
          <a:xfrm>
            <a:off x="8599329" y="2419604"/>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8684917" y="2443569"/>
            <a:ext cx="21225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checker</a:t>
            </a:r>
          </a:p>
        </p:txBody>
      </p:sp>
      <p:sp>
        <p:nvSpPr>
          <p:cNvPr id="36"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 an auditor, what would you ask for evidence of?" Produces questions, not claims.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ROLES THAT EARN THEIR PLACE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critic role, ready to use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5816644" cy="2377440"/>
          </a:xfrm>
          <a:prstGeom prst="roundRect">
            <a:avLst>
              <a:gd name="adj" fmla="val 3846"/>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191"/>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Read the message below as if you are the customer receiving it, and you are already annoyed. List the three things most likely to irritate you, in order. Do not rewrite it. Just list the three things.</a:t>
            </a:r>
          </a:p>
        </p:txBody>
      </p:sp>
      <p:sp>
        <p:nvSpPr>
          <p:cNvPr id="28" name="vis:promptcap"/>
          <p:cNvSpPr txBox="1"/>
          <p:nvPr/>
        </p:nvSpPr>
        <p:spPr>
          <a:xfrm>
            <a:off x="777240" y="3624072"/>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"Do not rewrite it" is what makes this useful.</a:t>
            </a:r>
          </a:p>
        </p:txBody>
      </p:sp>
      <p:sp>
        <p:nvSpPr>
          <p:cNvPr id="29" name="vis:outcard"/>
          <p:cNvSpPr/>
          <p:nvPr/>
        </p:nvSpPr>
        <p:spPr>
          <a:xfrm>
            <a:off x="6685324" y="1719072"/>
            <a:ext cx="5003450" cy="2377440"/>
          </a:xfrm>
          <a:prstGeom prst="roundRect">
            <a:avLst>
              <a:gd name="adj" fmla="val 384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44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79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Three specific objections, usually including one you had not considered.</a:t>
            </a:r>
          </a:p>
          <a:p>
            <a:pPr algn="l">
              <a:lnSpc>
                <a:spcPts val="1690"/>
              </a:lnSpc>
              <a:spcBef>
                <a:spcPts val="0"/>
              </a:spcBef>
              <a:spcAft>
                <a:spcPts val="600"/>
              </a:spcAft>
            </a:pPr>
            <a:r>
              <a:rPr sz="1300" b="0">
                <a:solidFill>
                  <a:srgbClr val="2A3547"/>
                </a:solidFill>
                <a:latin typeface="Segoe UI"/>
              </a:rPr>
              <a:t>No rewrite, so you keep control of the wording.</a:t>
            </a:r>
          </a:p>
          <a:p>
            <a:pPr algn="l">
              <a:lnSpc>
                <a:spcPts val="1690"/>
              </a:lnSpc>
              <a:spcBef>
                <a:spcPts val="0"/>
              </a:spcBef>
              <a:spcAft>
                <a:spcPts val="600"/>
              </a:spcAft>
            </a:pPr>
            <a:r>
              <a:rPr sz="1300" b="0">
                <a:solidFill>
                  <a:srgbClr val="2A3547"/>
                </a:solidFill>
                <a:latin typeface="Segoe UI"/>
              </a:rPr>
              <a:t>You fix two of them in a minute and ignore the third on purpose.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ROLES THAT DO NOTHING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Roles that do nothing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mistake"/>
          <p:cNvSpPr/>
          <p:nvPr/>
        </p:nvSpPr>
        <p:spPr>
          <a:xfrm>
            <a:off x="502920" y="1719072"/>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203911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210769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"Act as a world-class expert"</a:t>
            </a:r>
          </a:p>
        </p:txBody>
      </p:sp>
      <p:cxnSp>
        <p:nvCxnSpPr>
          <p:cNvPr id="20" name="vis:line"/>
          <p:cNvCxnSpPr/>
          <p:nvPr/>
        </p:nvCxnSpPr>
        <p:spPr>
          <a:xfrm>
            <a:off x="6008686" y="1865376"/>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Adds confident phrasing and no accuracy. It was always going to sound certain.</a:t>
            </a:r>
          </a:p>
        </p:txBody>
      </p:sp>
      <p:sp>
        <p:nvSpPr>
          <p:cNvPr id="22" name="vis:mistake"/>
          <p:cNvSpPr/>
          <p:nvPr/>
        </p:nvSpPr>
        <p:spPr>
          <a:xfrm>
            <a:off x="502920" y="2834639"/>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834639"/>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315467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322326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926079"/>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"You are a lawyer"</a:t>
            </a:r>
          </a:p>
        </p:txBody>
      </p:sp>
      <p:cxnSp>
        <p:nvCxnSpPr>
          <p:cNvPr id="27" name="vis:line"/>
          <p:cNvCxnSpPr/>
          <p:nvPr/>
        </p:nvCxnSpPr>
        <p:spPr>
          <a:xfrm>
            <a:off x="6008686" y="2980944"/>
            <a:ext cx="0" cy="658367"/>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926079"/>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Produces legal-sounding text with no jurisdiction, no date and no liability behind it.</a:t>
            </a:r>
          </a:p>
        </p:txBody>
      </p:sp>
      <p:sp>
        <p:nvSpPr>
          <p:cNvPr id="29" name="vis:mistake"/>
          <p:cNvSpPr/>
          <p:nvPr/>
        </p:nvSpPr>
        <p:spPr>
          <a:xfrm>
            <a:off x="502920" y="3950208"/>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950208"/>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427024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433882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4041648"/>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"Act as our CFO"</a:t>
            </a:r>
          </a:p>
        </p:txBody>
      </p:sp>
      <p:cxnSp>
        <p:nvCxnSpPr>
          <p:cNvPr id="34" name="vis:line"/>
          <p:cNvCxnSpPr/>
          <p:nvPr/>
        </p:nvCxnSpPr>
        <p:spPr>
          <a:xfrm>
            <a:off x="6008686" y="4096512"/>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4041648"/>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Invents the priorities of a person who exists and can be quoted back at you.</a:t>
            </a:r>
          </a:p>
        </p:txBody>
      </p:sp>
      <p:sp>
        <p:nvSpPr>
          <p:cNvPr id="36" name="vis:mistake"/>
          <p:cNvSpPr/>
          <p:nvPr/>
        </p:nvSpPr>
        <p:spPr>
          <a:xfrm>
            <a:off x="502920" y="5065776"/>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5065776"/>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5385816"/>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5454396"/>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5157216"/>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"Pretend you have access to our data"</a:t>
            </a:r>
          </a:p>
        </p:txBody>
      </p:sp>
      <p:cxnSp>
        <p:nvCxnSpPr>
          <p:cNvPr id="41" name="vis:line"/>
          <p:cNvCxnSpPr/>
          <p:nvPr/>
        </p:nvCxnSpPr>
        <p:spPr>
          <a:xfrm>
            <a:off x="6008686" y="5212080"/>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5157216"/>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will pretend. Everything after that line is fiction presented as record.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ROLES THAT DO NOTHING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authority trap</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 role changes the wording. It never changes what the tool actually knows.</a:t>
            </a:r>
          </a:p>
          <a:p>
            <a:pPr algn="l">
              <a:lnSpc>
                <a:spcPts val="1755"/>
              </a:lnSpc>
              <a:spcBef>
                <a:spcPts val="0"/>
              </a:spcBef>
              <a:spcAft>
                <a:spcPts val="0"/>
              </a:spcAft>
            </a:pPr>
            <a:r>
              <a:rPr sz="1350" b="0">
                <a:solidFill>
                  <a:srgbClr val="FFFFFF"/>
                </a:solidFill>
                <a:latin typeface="Segoe UI"/>
              </a:rPr>
              <a:t>"Act as a tax adviser" produces tax-adviser sentences, not tax advice.</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It gains no new facts.</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It gains no jurisdiction.</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It gains a more confident voice.</a:t>
            </a:r>
          </a:p>
        </p:txBody>
      </p:sp>
      <p:sp>
        <p:nvSpPr>
          <p:cNvPr id="35"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36" name="vis:chip"/>
          <p:cNvSpPr/>
          <p:nvPr/>
        </p:nvSpPr>
        <p:spPr>
          <a:xfrm>
            <a:off x="2221991" y="5660136"/>
            <a:ext cx="2016815"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chiptext"/>
          <p:cNvSpPr txBox="1"/>
          <p:nvPr/>
        </p:nvSpPr>
        <p:spPr>
          <a:xfrm>
            <a:off x="2377439" y="5687568"/>
            <a:ext cx="170591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HALLUCINATION  ?</a:t>
            </a:r>
          </a:p>
        </p:txBody>
      </p:sp>
      <p:sp>
        <p:nvSpPr>
          <p:cNvPr id="38" name="nav:gloss">
            <a:hlinkClick action="ppaction://hlinksldjump" r:id="rId3"/>
          </p:cNvPr>
          <p:cNvSpPr/>
          <p:nvPr/>
        </p:nvSpPr>
        <p:spPr>
          <a:xfrm>
            <a:off x="2221991" y="5660136"/>
            <a:ext cx="2016815"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three roles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epnum"/>
          <p:cNvSpPr/>
          <p:nvPr/>
        </p:nvSpPr>
        <p:spPr>
          <a:xfrm>
            <a:off x="502920" y="2027681"/>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Take a plan or proposal you are working on.</a:t>
            </a:r>
          </a:p>
        </p:txBody>
      </p:sp>
      <p:sp>
        <p:nvSpPr>
          <p:cNvPr id="19" name="vis:stepnum"/>
          <p:cNvSpPr/>
          <p:nvPr/>
        </p:nvSpPr>
        <p:spPr>
          <a:xfrm>
            <a:off x="502920" y="3138677"/>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Paste it in and ask the first role question on the right.</a:t>
            </a:r>
          </a:p>
        </p:txBody>
      </p:sp>
      <p:sp>
        <p:nvSpPr>
          <p:cNvPr id="23" name="vis:stepnum"/>
          <p:cNvSpPr/>
          <p:nvPr/>
        </p:nvSpPr>
        <p:spPr>
          <a:xfrm>
            <a:off x="502920" y="4249674"/>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Ask the same question again as the second role, then the third.</a:t>
            </a:r>
          </a:p>
        </p:txBody>
      </p:sp>
      <p:sp>
        <p:nvSpPr>
          <p:cNvPr id="27" name="vis:stepnum"/>
          <p:cNvSpPr/>
          <p:nvPr/>
        </p:nvSpPr>
        <p:spPr>
          <a:xfrm>
            <a:off x="502920" y="5360670"/>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Keep every objection that appears in two of the three answers.</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Read the plan below three times and answer separately each time. First as the person who has to do the work. Then as the person paying for it. Then as the customer receiving the result. Each time, list the two biggest problems you see.</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One prompt, three viewpoints, six objections.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three viewpoints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nest"/>
          <p:cNvSpPr/>
          <p:nvPr/>
        </p:nvSpPr>
        <p:spPr>
          <a:xfrm>
            <a:off x="502920" y="2221991"/>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nestlabel"/>
          <p:cNvSpPr txBox="1"/>
          <p:nvPr/>
        </p:nvSpPr>
        <p:spPr>
          <a:xfrm>
            <a:off x="722376" y="2368296"/>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 viewpoint</a:t>
            </a:r>
          </a:p>
        </p:txBody>
      </p:sp>
      <p:sp>
        <p:nvSpPr>
          <p:cNvPr id="17" name="vis:nestsub"/>
          <p:cNvSpPr txBox="1"/>
          <p:nvPr/>
        </p:nvSpPr>
        <p:spPr>
          <a:xfrm>
            <a:off x="722376" y="2679191"/>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Finds the problems you already suspected.</a:t>
            </a:r>
          </a:p>
        </p:txBody>
      </p:sp>
      <p:sp>
        <p:nvSpPr>
          <p:cNvPr id="18" name="vis:nest"/>
          <p:cNvSpPr/>
          <p:nvPr/>
        </p:nvSpPr>
        <p:spPr>
          <a:xfrm>
            <a:off x="832104" y="3081527"/>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nestlabel"/>
          <p:cNvSpPr txBox="1"/>
          <p:nvPr/>
        </p:nvSpPr>
        <p:spPr>
          <a:xfrm>
            <a:off x="1051560" y="3227832"/>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Three viewpoints</a:t>
            </a:r>
          </a:p>
        </p:txBody>
      </p:sp>
      <p:sp>
        <p:nvSpPr>
          <p:cNvPr id="20" name="vis:nestsub"/>
          <p:cNvSpPr txBox="1"/>
          <p:nvPr/>
        </p:nvSpPr>
        <p:spPr>
          <a:xfrm>
            <a:off x="1051560" y="3538727"/>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Finds the conflicts between them.</a:t>
            </a:r>
          </a:p>
        </p:txBody>
      </p:sp>
      <p:sp>
        <p:nvSpPr>
          <p:cNvPr id="21" name="vis:nest"/>
          <p:cNvSpPr/>
          <p:nvPr/>
        </p:nvSpPr>
        <p:spPr>
          <a:xfrm>
            <a:off x="1161288" y="3941063"/>
            <a:ext cx="4947342" cy="1024128"/>
          </a:xfrm>
          <a:prstGeom prst="roundRect">
            <a:avLst>
              <a:gd name="adj" fmla="val 8928"/>
            </a:avLst>
          </a:prstGeom>
          <a:solidFill>
            <a:srgbClr val="F3F6FB"/>
          </a:solid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nestlabel"/>
          <p:cNvSpPr txBox="1"/>
          <p:nvPr/>
        </p:nvSpPr>
        <p:spPr>
          <a:xfrm>
            <a:off x="1380744" y="4087368"/>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6A2FA0"/>
                </a:solidFill>
                <a:latin typeface="Segoe UI Semibold"/>
              </a:rPr>
              <a:t>What survives all three</a:t>
            </a:r>
          </a:p>
        </p:txBody>
      </p:sp>
      <p:sp>
        <p:nvSpPr>
          <p:cNvPr id="23" name="vis:nestsub"/>
          <p:cNvSpPr txBox="1"/>
          <p:nvPr/>
        </p:nvSpPr>
        <p:spPr>
          <a:xfrm>
            <a:off x="1380744" y="4398264"/>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That is the objection worth fixing first.</a:t>
            </a:r>
          </a:p>
        </p:txBody>
      </p:sp>
      <p:sp>
        <p:nvSpPr>
          <p:cNvPr id="24" name="body:nestnote"/>
          <p:cNvSpPr txBox="1"/>
          <p:nvPr/>
        </p:nvSpPr>
        <p:spPr>
          <a:xfrm>
            <a:off x="7438150" y="2368296"/>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The value is not the tool's opinion. It is being made to look at your own plan from a seat you were not sitting 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with roles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Name the reader before you name any expert.</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Say what the reader must do next, not just who they are.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Use a role to find problems, never to grant authority.</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Never role-play a real named person from the company.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Naming a role and nothing else</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"Act as a manager" with no reader, no task and no length changes almost nothing.</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Treating expert wording as expert judgement</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sounds more certain, which is the opposite of what you needed.</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Role-playing a named colleague</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are inventing the views of someone who can be shown the transcript.</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a role to confirm your plan</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will agree. Ask it to attack the plan instead.</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Using a professional role for real advice</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Legal, tax and medical answers need a person who carries the liability.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to skip the role entirely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Does the reader change what should be said?</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Skip it</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Reformatting a table, shortening a paragraph, fixing grammar. A role adds words to your prompt and nothing to the answer.</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Name the reader</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Explanations, proposals, escalations, training notes. Who receives it decides the vocabulary, the order and the length.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role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Name who is reading it. Never claim who wrote it.</a:t>
            </a:r>
          </a:p>
          <a:p>
            <a:pPr algn="l">
              <a:lnSpc>
                <a:spcPts val="1755"/>
              </a:lnSpc>
              <a:spcBef>
                <a:spcPts val="0"/>
              </a:spcBef>
              <a:spcAft>
                <a:spcPts val="0"/>
              </a:spcAft>
            </a:pPr>
            <a:r>
              <a:rPr sz="1350" b="0">
                <a:solidFill>
                  <a:srgbClr val="FFFFFF"/>
                </a:solidFill>
                <a:latin typeface="Segoe UI"/>
              </a:rPr>
              <a:t>The first makes the answer usable. The second makes it sound trustworthy without being any more true.</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Reader named — better answer.</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Critic named — better questions.</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Expert claimed — false confidence.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Monday, 9:20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Rejections rose from 1.4 to 2.1 per cent. Sales need an explanation they can give a customer at 11. You have the quality data and twenty minutes.</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it to act as a quality engineer and explain the rise.</a:t>
            </a:r>
          </a:p>
        </p:txBody>
      </p:sp>
      <p:cxnSp>
        <p:nvCxnSpPr>
          <p:cNvPr id="23" name="vis:choicearrow"/>
          <p:cNvCxnSpPr/>
          <p:nvPr/>
        </p:nvCxnSpPr>
        <p:spPr>
          <a:xfrm>
            <a:off x="758952"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it to write for a sales manager with no technical background.</a:t>
            </a:r>
          </a:p>
        </p:txBody>
      </p:sp>
      <p:cxnSp>
        <p:nvCxnSpPr>
          <p:cNvPr id="29" name="vis:choicearrow"/>
          <p:cNvCxnSpPr/>
          <p:nvPr/>
        </p:nvCxnSpPr>
        <p:spPr>
          <a:xfrm>
            <a:off x="4566818"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it to act as your quality head and issue the explanation.</a:t>
            </a:r>
          </a:p>
        </p:txBody>
      </p:sp>
      <p:cxnSp>
        <p:nvCxnSpPr>
          <p:cNvPr id="35" name="vis:choicearrow"/>
          <p:cNvCxnSpPr/>
          <p:nvPr/>
        </p:nvCxnSpPr>
        <p:spPr>
          <a:xfrm>
            <a:off x="8374684"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Technically excellent, practically useless</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get capability indices, a sampling note and a control chart reference. All of it is reasonable and none of it can be said to a customer at 11 am. Sales ring you anyway, and you explain it verbally.</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 expert role writes for experts. Your reader was not one.</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Same facts, in the order sales needed them</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get three short paragraphs: what changed, what it means for their delivery, what we are doing about it. Sales use it almost verbatim at 11, and nobody has to ring you.</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reader and what they must do next.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put words in a real person's mouth</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text reads like an official position from a named colleague who has not seen it. If it reaches the customer, they will quote your quality head on a cause nobody has confirmed.</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role-play a real person who can be quoted back at you.</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minutes on role prompts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Role and Persona-Based Prompting</a:t>
            </a:r>
          </a:p>
        </p:txBody>
      </p:sp>
      <p:sp>
        <p:nvSpPr>
          <p:cNvPr id="19" name="vis:chip"/>
          <p:cNvSpPr/>
          <p:nvPr/>
        </p:nvSpPr>
        <p:spPr>
          <a:xfrm>
            <a:off x="868680" y="3858768"/>
            <a:ext cx="138772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0768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APPDIRECT</a:t>
            </a:r>
          </a:p>
        </p:txBody>
      </p:sp>
      <p:sp>
        <p:nvSpPr>
          <p:cNvPr id="21" name="vis:chip"/>
          <p:cNvSpPr/>
          <p:nvPr/>
        </p:nvSpPr>
        <p:spPr>
          <a:xfrm>
            <a:off x="2402713" y="3858768"/>
            <a:ext cx="123342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558161" y="3895344"/>
            <a:ext cx="92252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3:49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does a role actually change?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 the tool knows about the subject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vocabulary, the depth and what it assumes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How accurate the answer is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Whether it can access your systems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What the tool knows about the subject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Nothing changes about what it knows. The same patterns are there before and after the role line — only which ones become likely has shifted.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Wording and depth. Never knowledge.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vocabulary, the depth and what it assumes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exactly it. A role makes certain words and a certain level of detail more likely, and stops it explaining things that reader would already know.</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Wording and depth. Never knowledge.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How accurate the answer is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Accuracy is unaffected. "Act as an expert" produces more confident phrasing around exactly the same reliability, which is a worse position, not a better 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Wording and depth. Never knowledge.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Whether it can access your systems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 role grants access to anything. "Pretend you can see our data" produces pretending, presented in the same tone as fact.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Wording and depth. Never knowledge.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role line is strongest?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"Act as a world-class consultant"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"Write for a supervisor who has ten minutes"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"You are an experienced quality engineer"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"Act as our operations director"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"Act as a world-class consultant"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Pure decoration. It adds assured phrasing and nothing else, and assurance is the last thing an unverified answer needs more of.</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reader and what they must do.</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"Write for a supervisor who has ten minutes"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sets vocabulary, length, depth and priority all at once, and every one of those is checkable by you when the answer arrives.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reader and what they must do.</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"You are an experienced quality engineer"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Better than nothing, but it aims the answer at experts. If your reader is not one, you have made the text harder to use.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reader and what they must do.</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"Act as our operations director"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invents the views of a real person. Anything it produces can be quoted back as their position, and they have never seen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reader and what they must do.</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is the critic role for?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Rewriting your draft more sharply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Listing what a hostile reader would object to</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Confirming your plan is sound</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Checking your facts are correct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Rewriting your draft more sharply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a different job, and mixing them loses you control. Ask for the objections, decide which matter, then fix the wording yourself.</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Finding objections, not writing text.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Listing what a hostile reader would object to</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puts you in a seat you were not sitting in. Add "do not rewrite it" so you get a list you can act on rather than a version you have to review.</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Finding objections, not writing text.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Confirming your plan is sound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will confirm almost anything you seem to want. Agreement from a tool is not evidence, and asking for it wastes the one genuinely useful move here.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Finding objections, not writing text.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Checking your facts are correct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cannot check facts. A critic role finds weaknesses in argument and tone, which is real value, but verification still needs the source.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Finding objections, not writing text.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should you skip the role?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the task is short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you are reformatting or fixing grammar</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you are in a hurry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the answer will go to a customer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When the task is short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Length is not the test. A two-line escalation still changes completely depending on whether it goes to a supplier or to your own director.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the reader does not change the content, skip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When you are reformatting or fixing grammar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There is no reader-dependent judgement in turning a list into a table. A role adds words to your prompt and nothing to the result.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the reader does not change the content, skip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When you are in a hurry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Being in a hurry is when it helps most. One clause naming the reader saves you the rewrite you would otherwise do afterwards.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the reader does not change the content, skip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When the answer will go to a customer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precisely when to name the reader. A customer audience changes vocabulary, length and what you must not say.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the reader does not change the content, skip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not role-play a colleague?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tool refuses to do it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invents a real person's position</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produces worse writing</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slower than other roles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tool refuses to do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will usually do it without hesitation. That is the problem — nothing stops you, so the judgement has to be yours.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invent the views of a real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invents a real person's position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output reads like their view, can be forwarded as their view, and they have never seen it. That is a genuinely difficult conversation to have afterwards.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invent the views of a real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produces worse writing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writing is often perfectly good. The problem is not quality, it is that the words are attributed to someone who did not say them.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invent the views of a real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is slower than other roles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Speed is identical. The objection is entirely about attributing an invented position to a named colleague.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invent the views of a real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Role prompts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 role shifts words, not knowledge</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Vocabulary, depth and assumptions change. What it knows does not.</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Name the reader first</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Who receives it decides the language, the order and the length.</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Say what they must do next</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"Will speak to the customer at 11" sets urgency and shape in one clause.</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Use roles to attack, not to agree</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"List what annoys you about this" is worth far more than approval.</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Three seats beat one</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Ask as doer, payer and receiver. Fix whatever appears in two of three.</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impersonate a colleague</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You would be inventing the position of someone who can read the transcript.</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17CC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Name who is reading it. Never claim who wrote 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27816" y="2384862"/>
            <a:ext cx="101183" cy="101183"/>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icon"/>
          <p:cNvSpPr/>
          <p:nvPr/>
        </p:nvSpPr>
        <p:spPr>
          <a:xfrm>
            <a:off x="871898" y="2525987"/>
            <a:ext cx="213019" cy="93195"/>
          </a:xfrm>
          <a:custGeom>
            <a:avLst/>
            <a:gdLst/>
            <a:ahLst/>
            <a:cxnLst/>
            <a:rect l="l" t="t" r="r" b="b"/>
            <a:pathLst>
              <a:path w="213019" h="93195">
                <a:moveTo>
                  <a:pt x="0" y="93195"/>
                </a:moveTo>
                <a:lnTo>
                  <a:pt x="15977" y="0"/>
                </a:lnTo>
                <a:lnTo>
                  <a:pt x="197042" y="0"/>
                </a:lnTo>
                <a:lnTo>
                  <a:pt x="213019" y="93195"/>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reader line</a:t>
            </a:r>
          </a:p>
        </p:txBody>
      </p:sp>
      <p:sp>
        <p:nvSpPr>
          <p:cNvPr id="21"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Who they are, what they lack, what they must do next.</a:t>
            </a:r>
          </a:p>
        </p:txBody>
      </p:sp>
      <p:sp>
        <p:nvSpPr>
          <p:cNvPr id="22"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55922" y="3305709"/>
            <a:ext cx="244971" cy="191717"/>
          </a:xfrm>
          <a:custGeom>
            <a:avLst/>
            <a:gdLst/>
            <a:ahLst/>
            <a:cxnLst/>
            <a:rect l="l" t="t" r="r" b="b"/>
            <a:pathLst>
              <a:path w="244971" h="191717">
                <a:moveTo>
                  <a:pt x="0" y="95859"/>
                </a:moveTo>
                <a:lnTo>
                  <a:pt x="122486" y="0"/>
                </a:lnTo>
                <a:lnTo>
                  <a:pt x="244971" y="95859"/>
                </a:lnTo>
                <a:lnTo>
                  <a:pt x="122486" y="191717"/>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vis:icon"/>
          <p:cNvSpPr/>
          <p:nvPr/>
        </p:nvSpPr>
        <p:spPr>
          <a:xfrm>
            <a:off x="941129" y="3364289"/>
            <a:ext cx="74556" cy="74556"/>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critic prompt</a:t>
            </a:r>
          </a:p>
        </p:txBody>
      </p:sp>
      <p:sp>
        <p:nvSpPr>
          <p:cNvPr id="27"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Three objections, in order, and no rewriting.</a:t>
            </a:r>
          </a:p>
        </p:txBody>
      </p:sp>
      <p:sp>
        <p:nvSpPr>
          <p:cNvPr id="28"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63910" y="4205254"/>
            <a:ext cx="37278" cy="3727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930478" y="4223894"/>
            <a:ext cx="16509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2" name="vis:icon"/>
          <p:cNvSpPr/>
          <p:nvPr/>
        </p:nvSpPr>
        <p:spPr>
          <a:xfrm>
            <a:off x="863910" y="4285136"/>
            <a:ext cx="37278" cy="3727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930478" y="4303775"/>
            <a:ext cx="16509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4" name="vis:icon"/>
          <p:cNvSpPr/>
          <p:nvPr/>
        </p:nvSpPr>
        <p:spPr>
          <a:xfrm>
            <a:off x="863910" y="4365018"/>
            <a:ext cx="37278" cy="3727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930478" y="4383657"/>
            <a:ext cx="16509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6"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three-seats prompt</a:t>
            </a:r>
          </a:p>
        </p:txBody>
      </p:sp>
      <p:sp>
        <p:nvSpPr>
          <p:cNvPr id="37"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Doer, payer, receiver. Two problems each.</a:t>
            </a:r>
          </a:p>
        </p:txBody>
      </p:sp>
      <p:sp>
        <p:nvSpPr>
          <p:cNvPr id="38"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LINKS THAT WORK</a:t>
            </a:r>
          </a:p>
        </p:txBody>
      </p:sp>
      <p:sp>
        <p:nvSpPr>
          <p:cNvPr id="39"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icon"/>
          <p:cNvSpPr/>
          <p:nvPr/>
        </p:nvSpPr>
        <p:spPr>
          <a:xfrm>
            <a:off x="8339937" y="2300630"/>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1" name="vis:icon"/>
          <p:cNvCxnSpPr/>
          <p:nvPr/>
        </p:nvCxnSpPr>
        <p:spPr>
          <a:xfrm>
            <a:off x="8482584" y="2443276"/>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2"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3"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chatgpt.com</a:t>
            </a:r>
          </a:p>
        </p:txBody>
      </p:sp>
      <p:sp>
        <p:nvSpPr>
          <p:cNvPr id="44"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icon"/>
          <p:cNvSpPr/>
          <p:nvPr/>
        </p:nvSpPr>
        <p:spPr>
          <a:xfrm>
            <a:off x="8339937" y="2977286"/>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vis:icon"/>
          <p:cNvCxnSpPr/>
          <p:nvPr/>
        </p:nvCxnSpPr>
        <p:spPr>
          <a:xfrm>
            <a:off x="8482584" y="3119932"/>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7"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8"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copilot.microsoft.com</a:t>
            </a:r>
          </a:p>
        </p:txBody>
      </p:sp>
      <p:sp>
        <p:nvSpPr>
          <p:cNvPr id="49"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0" name="vis:icon"/>
          <p:cNvSpPr/>
          <p:nvPr/>
        </p:nvSpPr>
        <p:spPr>
          <a:xfrm>
            <a:off x="8339937" y="3653942"/>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1" name="vis:icon"/>
          <p:cNvCxnSpPr/>
          <p:nvPr/>
        </p:nvCxnSpPr>
        <p:spPr>
          <a:xfrm>
            <a:off x="8482584" y="3796588"/>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52"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3"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gemini.google.com</a:t>
            </a:r>
          </a:p>
        </p:txBody>
      </p:sp>
      <p:sp>
        <p:nvSpPr>
          <p:cNvPr id="54"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5"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DO THIS NEXT</a:t>
            </a:r>
          </a:p>
        </p:txBody>
      </p:sp>
      <p:sp>
        <p:nvSpPr>
          <p:cNvPr id="56"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a:rPr>
              <a:t>Next module: PE-04, Examples &amp; Structured Prompts. Showing one good example beats three paragraphs describing what good looks like.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PE-03  ·  Role-Based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Role prompt</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line naming who the answer is written by or for, which shifts vocabulary and depth.</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Persona</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Another word for the role you give the tool. It changes style, never knowledge.</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Context</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background you give so the tool knows the situation it is writing about.</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context plus instructions plus your facts.</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Hallucination</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confident, invented answer. A role makes these sound more authoritative, not less likely.</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Your draft, which you are responsible for checking.</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