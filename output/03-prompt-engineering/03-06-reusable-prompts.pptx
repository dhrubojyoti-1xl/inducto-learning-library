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f3IeLIT_HRc"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prompt-library.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Reusable Prompts</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Turning the prompts that worked into a library you and your team stop rewriting every week.</a:t>
            </a:r>
          </a:p>
        </p:txBody>
      </p:sp>
      <p:sp>
        <p:nvSpPr>
          <p:cNvPr id="11" name="vis:chip"/>
          <p:cNvSpPr/>
          <p:nvPr/>
        </p:nvSpPr>
        <p:spPr>
          <a:xfrm>
            <a:off x="841248" y="4626864"/>
            <a:ext cx="957834"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469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PE-06</a:t>
            </a:r>
          </a:p>
        </p:txBody>
      </p:sp>
      <p:sp>
        <p:nvSpPr>
          <p:cNvPr id="13" name="vis:chip"/>
          <p:cNvSpPr/>
          <p:nvPr/>
        </p:nvSpPr>
        <p:spPr>
          <a:xfrm>
            <a:off x="1945386" y="4626864"/>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0834" y="4672583"/>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PE-06  ·  Reusable Prompts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Karthik rewrites the same prompt weekly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17049" y="2252257"/>
            <a:ext cx="288477" cy="269731"/>
          </a:xfrm>
          <a:custGeom>
            <a:avLst/>
            <a:gdLst/>
            <a:ahLst/>
            <a:cxnLst/>
            <a:rect l="l" t="t" r="r" b="b"/>
            <a:pathLst>
              <a:path w="288477" h="269731">
                <a:moveTo>
                  <a:pt x="216513" y="0"/>
                </a:moveTo>
                <a:lnTo>
                  <a:pt x="252916" y="29875"/>
                </a:lnTo>
                <a:lnTo>
                  <a:pt x="277784" y="69866"/>
                </a:lnTo>
                <a:lnTo>
                  <a:pt x="288477" y="115729"/>
                </a:lnTo>
                <a:lnTo>
                  <a:pt x="283861" y="162594"/>
                </a:lnTo>
                <a:lnTo>
                  <a:pt x="264426" y="205489"/>
                </a:lnTo>
                <a:lnTo>
                  <a:pt x="232234" y="239860"/>
                </a:lnTo>
                <a:lnTo>
                  <a:pt x="190702" y="262060"/>
                </a:lnTo>
                <a:lnTo>
                  <a:pt x="144239" y="269731"/>
                </a:lnTo>
                <a:lnTo>
                  <a:pt x="97775" y="262060"/>
                </a:lnTo>
                <a:lnTo>
                  <a:pt x="56243" y="239860"/>
                </a:lnTo>
                <a:lnTo>
                  <a:pt x="24051" y="205489"/>
                </a:lnTo>
                <a:lnTo>
                  <a:pt x="4616" y="162594"/>
                </a:lnTo>
                <a:lnTo>
                  <a:pt x="0" y="115729"/>
                </a:lnTo>
                <a:lnTo>
                  <a:pt x="10693" y="69866"/>
                </a:lnTo>
                <a:lnTo>
                  <a:pt x="35561" y="29875"/>
                </a:lnTo>
                <a:lnTo>
                  <a:pt x="71964"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072752" y="2223496"/>
            <a:ext cx="66492" cy="57096"/>
          </a:xfrm>
          <a:custGeom>
            <a:avLst/>
            <a:gdLst/>
            <a:ahLst/>
            <a:cxnLst/>
            <a:rect l="l" t="t" r="r" b="b"/>
            <a:pathLst>
              <a:path w="66492" h="57096">
                <a:moveTo>
                  <a:pt x="66492" y="0"/>
                </a:moveTo>
                <a:lnTo>
                  <a:pt x="32523" y="57096"/>
                </a:lnTo>
                <a:lnTo>
                  <a:pt x="0" y="722"/>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Karthik runs IT support for a Chennai office. Every Monday he writes a prompt to turn the week's ticket log into a summary. Every Monday it takes four attempts, because he cannot remember what worked last week.</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Fifteen minutes a week rediscovering something he already knew.</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Saved once, with brackets. Ten seconds a week from then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84055" y="1957766"/>
            <a:ext cx="153297" cy="247634"/>
          </a:xfrm>
          <a:prstGeom prst="roundRect">
            <a:avLst>
              <a:gd name="adj" fmla="val 2982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19431" y="2028519"/>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19431" y="2081584"/>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19431" y="2134648"/>
            <a:ext cx="5896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prompt that worked into a reusable template today</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33938" y="2862723"/>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1007639" y="2883359"/>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33938" y="2951163"/>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007639" y="2971800"/>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8" name="vis:icon"/>
          <p:cNvSpPr/>
          <p:nvPr/>
        </p:nvSpPr>
        <p:spPr>
          <a:xfrm>
            <a:off x="933938" y="3039604"/>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1007639" y="3060240"/>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and store prompts so you can actually find them again</a:t>
            </a:r>
          </a:p>
        </p:txBody>
      </p:sp>
      <p:sp>
        <p:nvSpPr>
          <p:cNvPr id="31"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3938" y="3735250"/>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Strip a prompt of anything that must not be stored</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1004691" y="4637258"/>
            <a:ext cx="112024" cy="11202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42782" y="4793504"/>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Share a prompt so a colleague can use it without you</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Improve a stored prompt instead of starting 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Why prompts get lost</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Monday morning tax</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Turning one into a template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Brackets and a name</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Naming and storing</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So you find it in ten seconds</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Sharing safely</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must never be saved</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Build your first three</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 8-minute outside walkthrough</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PROMPTS GET LOST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Monday morning tax</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prompt that worked is thinking you already did. Almost nobody keeps it.</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get it right</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After three or four attempts, the answer is exactly right.</a:t>
            </a:r>
          </a:p>
        </p:txBody>
      </p:sp>
      <p:cxnSp>
        <p:nvCxnSpPr>
          <p:cNvPr id="21" name="vis:flowarrow"/>
          <p:cNvCxnSpPr/>
          <p:nvPr/>
        </p:nvCxnSpPr>
        <p:spPr>
          <a:xfrm>
            <a:off x="3093643"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use the answer</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job is done, so you close the tab.</a:t>
            </a:r>
          </a:p>
        </p:txBody>
      </p:sp>
      <p:cxnSp>
        <p:nvCxnSpPr>
          <p:cNvPr id="27" name="vis:flowarrow"/>
          <p:cNvCxnSpPr/>
          <p:nvPr/>
        </p:nvCxnSpPr>
        <p:spPr>
          <a:xfrm>
            <a:off x="5986119"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The prompt disappears</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was in a chat you will never scroll back to.</a:t>
            </a:r>
          </a:p>
        </p:txBody>
      </p:sp>
      <p:cxnSp>
        <p:nvCxnSpPr>
          <p:cNvPr id="33" name="vis:flowarrow"/>
          <p:cNvCxnSpPr/>
          <p:nvPr/>
        </p:nvCxnSpPr>
        <p:spPr>
          <a:xfrm>
            <a:off x="8878595"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Next week, from scratch</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Four attempts again, for the same job.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PROMPTS GET LOST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prompts are worth keeping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08864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7777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KEEP IT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Worth ten seconds to save</a:t>
            </a:r>
          </a:p>
        </p:txBody>
      </p:sp>
      <p:cxnSp>
        <p:nvCxnSpPr>
          <p:cNvPr id="20" name="vis:icon"/>
          <p:cNvCxnSpPr/>
          <p:nvPr/>
        </p:nvCxnSpPr>
        <p:spPr>
          <a:xfrm>
            <a:off x="811987"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859536" y="309890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will do this job again this month</a:t>
            </a:r>
          </a:p>
        </p:txBody>
      </p:sp>
      <p:cxnSp>
        <p:nvCxnSpPr>
          <p:cNvPr id="23" name="vis:icon"/>
          <p:cNvCxnSpPr/>
          <p:nvPr/>
        </p:nvCxnSpPr>
        <p:spPr>
          <a:xfrm>
            <a:off x="811987"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859536" y="379384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took more than two attempts to get right</a:t>
            </a:r>
          </a:p>
        </p:txBody>
      </p:sp>
      <p:cxnSp>
        <p:nvCxnSpPr>
          <p:cNvPr id="26" name="vis:icon"/>
          <p:cNvCxnSpPr/>
          <p:nvPr/>
        </p:nvCxnSpPr>
        <p:spPr>
          <a:xfrm>
            <a:off x="811987"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59536" y="4488789"/>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colleague does the same job</a:t>
            </a:r>
          </a:p>
        </p:txBody>
      </p:sp>
      <p:cxnSp>
        <p:nvCxnSpPr>
          <p:cNvPr id="29" name="vis:icon"/>
          <p:cNvCxnSpPr/>
          <p:nvPr/>
        </p:nvCxnSpPr>
        <p:spPr>
          <a:xfrm>
            <a:off x="811987"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59536" y="518373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format matters and drifts easily</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26707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9561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LET IT GO</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Not worth the filing</a:t>
            </a:r>
          </a:p>
        </p:txBody>
      </p:sp>
      <p:sp>
        <p:nvSpPr>
          <p:cNvPr id="37" name="vis:icon"/>
          <p:cNvSpPr/>
          <p:nvPr/>
        </p:nvSpPr>
        <p:spPr>
          <a:xfrm>
            <a:off x="6547561" y="308244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93281" y="3095244"/>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9" name="vis:icon"/>
          <p:cNvSpPr/>
          <p:nvPr/>
        </p:nvSpPr>
        <p:spPr>
          <a:xfrm>
            <a:off x="6547561" y="313730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6593281" y="3150108"/>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1" name="vis:icon"/>
          <p:cNvSpPr/>
          <p:nvPr/>
        </p:nvSpPr>
        <p:spPr>
          <a:xfrm>
            <a:off x="6547561" y="319217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6593281" y="3204972"/>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one-off question you will never repeat</a:t>
            </a:r>
          </a:p>
        </p:txBody>
      </p:sp>
      <p:sp>
        <p:nvSpPr>
          <p:cNvPr id="44" name="vis:icon"/>
          <p:cNvSpPr/>
          <p:nvPr/>
        </p:nvSpPr>
        <p:spPr>
          <a:xfrm>
            <a:off x="6547561" y="377738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6593281" y="3790187"/>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6" name="vis:icon"/>
          <p:cNvSpPr/>
          <p:nvPr/>
        </p:nvSpPr>
        <p:spPr>
          <a:xfrm>
            <a:off x="6547561" y="383225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6593281" y="3845051"/>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8" name="vis:icon"/>
          <p:cNvSpPr/>
          <p:nvPr/>
        </p:nvSpPr>
        <p:spPr>
          <a:xfrm>
            <a:off x="6547561" y="388711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6593281" y="3899915"/>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50"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worked on the first attempt anyway</a:t>
            </a:r>
          </a:p>
        </p:txBody>
      </p:sp>
      <p:sp>
        <p:nvSpPr>
          <p:cNvPr id="51" name="vis:icon"/>
          <p:cNvSpPr/>
          <p:nvPr/>
        </p:nvSpPr>
        <p:spPr>
          <a:xfrm>
            <a:off x="6547561" y="447233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6593281" y="4485131"/>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53" name="vis:icon"/>
          <p:cNvSpPr/>
          <p:nvPr/>
        </p:nvSpPr>
        <p:spPr>
          <a:xfrm>
            <a:off x="6547561" y="452719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4" name="vis:icon"/>
          <p:cNvCxnSpPr/>
          <p:nvPr/>
        </p:nvCxnSpPr>
        <p:spPr>
          <a:xfrm>
            <a:off x="6593281" y="4539995"/>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55" name="vis:icon"/>
          <p:cNvSpPr/>
          <p:nvPr/>
        </p:nvSpPr>
        <p:spPr>
          <a:xfrm>
            <a:off x="6547561" y="458205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6" name="vis:icon"/>
          <p:cNvCxnSpPr/>
          <p:nvPr/>
        </p:nvCxnSpPr>
        <p:spPr>
          <a:xfrm>
            <a:off x="6593281" y="4594859"/>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57"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only makes sense for today's document</a:t>
            </a:r>
          </a:p>
        </p:txBody>
      </p:sp>
      <p:sp>
        <p:nvSpPr>
          <p:cNvPr id="58" name="vis:icon"/>
          <p:cNvSpPr/>
          <p:nvPr/>
        </p:nvSpPr>
        <p:spPr>
          <a:xfrm>
            <a:off x="6547561" y="516727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9" name="vis:icon"/>
          <p:cNvCxnSpPr/>
          <p:nvPr/>
        </p:nvCxnSpPr>
        <p:spPr>
          <a:xfrm>
            <a:off x="6593281" y="5180075"/>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60" name="vis:icon"/>
          <p:cNvSpPr/>
          <p:nvPr/>
        </p:nvSpPr>
        <p:spPr>
          <a:xfrm>
            <a:off x="6547561" y="522213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1" name="vis:icon"/>
          <p:cNvCxnSpPr/>
          <p:nvPr/>
        </p:nvCxnSpPr>
        <p:spPr>
          <a:xfrm>
            <a:off x="6593281" y="5234939"/>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62" name="vis:icon"/>
          <p:cNvSpPr/>
          <p:nvPr/>
        </p:nvSpPr>
        <p:spPr>
          <a:xfrm>
            <a:off x="6547561" y="527700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3" name="vis:icon"/>
          <p:cNvCxnSpPr/>
          <p:nvPr/>
        </p:nvCxnSpPr>
        <p:spPr>
          <a:xfrm>
            <a:off x="6593281" y="5289803"/>
            <a:ext cx="113385"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64"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would rewrite it faster than find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TURNING ONE INTO A TEMPLATE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Brackets do the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The template pattern</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the [WHAT: ticket log / delay list / site notes] below into a [FORMAT: 200-word summary / table / five bullets] for [READER: my manager / the client / the team]. Use only what I have pasted. Do not add anything I have not given you. [TONE: brief and factual].</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Four brackets. Ten seconds to fill, every time.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Brackets say what belongs there, not just that something does.</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unchanging half is the half you kept getting wrong.</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Anyone can use it without asking you what you meant.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TURNING ONE INTO A TEMPLATE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Make the template for me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is a prompt that worked well for me. Turn it into a reusable template. Keep every instruction exactly as it is, and replace only the specific facts with clearly labelled brackets saying what belongs there. Do not improve the wording.</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"Do not improve the wording" protects what already worked.</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same prompt with your one-off details swapped for labelled brackets.</a:t>
            </a:r>
          </a:p>
          <a:p>
            <a:pPr algn="l">
              <a:lnSpc>
                <a:spcPts val="1690"/>
              </a:lnSpc>
              <a:spcBef>
                <a:spcPts val="0"/>
              </a:spcBef>
              <a:spcAft>
                <a:spcPts val="600"/>
              </a:spcAft>
            </a:pPr>
            <a:r>
              <a:rPr sz="1300" b="0">
                <a:solidFill>
                  <a:srgbClr val="2A3547"/>
                </a:solidFill>
                <a:latin typeface="Segoe UI"/>
              </a:rPr>
              <a:t>Instructions untouched, because you told it not to touch them.</a:t>
            </a:r>
          </a:p>
          <a:p>
            <a:pPr algn="l">
              <a:lnSpc>
                <a:spcPts val="1690"/>
              </a:lnSpc>
              <a:spcBef>
                <a:spcPts val="0"/>
              </a:spcBef>
              <a:spcAft>
                <a:spcPts val="600"/>
              </a:spcAft>
            </a:pPr>
            <a:r>
              <a:rPr sz="1300" b="0">
                <a:solidFill>
                  <a:srgbClr val="2A3547"/>
                </a:solidFill>
                <a:latin typeface="Segoe UI"/>
              </a:rPr>
              <a:t>A template you can paste next week without thinking about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NAMING AND STORING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Name it the way you search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prompt you cannot find in ten seconds is a prompt you will rewrite.</a:t>
            </a:r>
          </a:p>
        </p:txBody>
      </p:sp>
      <p:sp>
        <p:nvSpPr>
          <p:cNvPr id="16" name="vis:checktile"/>
          <p:cNvSpPr/>
          <p:nvPr/>
        </p:nvSpPr>
        <p:spPr>
          <a:xfrm>
            <a:off x="502920" y="269748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25069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40961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35749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84378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 it after the job, not the technique: "weekly ticket summary"</a:t>
            </a:r>
          </a:p>
        </p:txBody>
      </p:sp>
      <p:sp>
        <p:nvSpPr>
          <p:cNvPr id="21" name="vis:checktile"/>
          <p:cNvSpPr/>
          <p:nvPr/>
        </p:nvSpPr>
        <p:spPr>
          <a:xfrm>
            <a:off x="6205575" y="269748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25069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40961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35749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84378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Put the reader in the name if there are two versions</a:t>
            </a:r>
          </a:p>
        </p:txBody>
      </p:sp>
      <p:sp>
        <p:nvSpPr>
          <p:cNvPr id="26" name="vis:checktile"/>
          <p:cNvSpPr/>
          <p:nvPr/>
        </p:nvSpPr>
        <p:spPr>
          <a:xfrm>
            <a:off x="502920" y="433425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488746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04639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499426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48056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them all in one file, not scattered across chats</a:t>
            </a:r>
          </a:p>
        </p:txBody>
      </p:sp>
      <p:sp>
        <p:nvSpPr>
          <p:cNvPr id="31" name="vis:checktile"/>
          <p:cNvSpPr/>
          <p:nvPr/>
        </p:nvSpPr>
        <p:spPr>
          <a:xfrm>
            <a:off x="6205575" y="433425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488746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04639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499426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48056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Add one line saying what good output looked like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NAMING AND STORING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a library actually lives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96871" y="2190229"/>
            <a:ext cx="219104" cy="301269"/>
          </a:xfrm>
          <a:prstGeom prst="roundRect">
            <a:avLst>
              <a:gd name="adj" fmla="val 20866"/>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86087"/>
            <a:ext cx="12324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44800" y="2340863"/>
            <a:ext cx="12324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2395640"/>
            <a:ext cx="8216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shared file</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single document everyone can open beats a clever system nobody updates.</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79271" y="2214193"/>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864859" y="2238158"/>
            <a:ext cx="2122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4779271" y="2316899"/>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864859" y="2340863"/>
            <a:ext cx="2122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4779271" y="2419604"/>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4864859" y="2443569"/>
            <a:ext cx="2122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1"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line per prompt</a:t>
            </a:r>
          </a:p>
        </p:txBody>
      </p:sp>
      <p:sp>
        <p:nvSpPr>
          <p:cNvPr id="32"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 what it is for, the prompt itself. Nothing else needed to start.</a:t>
            </a:r>
          </a:p>
        </p:txBody>
      </p:sp>
      <p:sp>
        <p:nvSpPr>
          <p:cNvPr id="33"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681494" y="2193652"/>
            <a:ext cx="130093" cy="13009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8609600"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owner</a:t>
            </a:r>
          </a:p>
        </p:txBody>
      </p:sp>
      <p:sp>
        <p:nvSpPr>
          <p:cNvPr id="38"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Somebody who tidies it monthly. Otherwise it becomes a graveyard within a quarter.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SHARING SAFELY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never be saved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stored prompt gets copied, shared and pasted for years. Everything in it travels too.</a:t>
            </a:r>
          </a:p>
          <a:p>
            <a:pPr algn="l">
              <a:lnSpc>
                <a:spcPts val="1755"/>
              </a:lnSpc>
              <a:spcBef>
                <a:spcPts val="0"/>
              </a:spcBef>
              <a:spcAft>
                <a:spcPts val="0"/>
              </a:spcAft>
            </a:pPr>
            <a:r>
              <a:rPr sz="1350" b="0">
                <a:solidFill>
                  <a:srgbClr val="FFFFFF"/>
                </a:solidFill>
                <a:latin typeface="Segoe UI"/>
              </a:rPr>
              <a:t>The parts that change are exactly the parts that must not be stored.</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names, sites, contacts or order numbers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Prices, margins or wording taken from a contract</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Colleague names beside performance or pay</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marked internal, confidential or restricted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SHARING SAFELY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Strip it before you save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6350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45260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SAVED AS USED</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"Summarise the ticket log for Ashirwad Traders, account 4471, contact Ramesh Nair..."</a:t>
            </a:r>
          </a:p>
          <a:p>
            <a:pPr algn="l">
              <a:lnSpc>
                <a:spcPts val="1690"/>
              </a:lnSpc>
              <a:spcBef>
                <a:spcPts val="0"/>
              </a:spcBef>
              <a:spcAft>
                <a:spcPts val="600"/>
              </a:spcAft>
            </a:pPr>
            <a:r>
              <a:rPr sz="1300" b="0">
                <a:solidFill>
                  <a:srgbClr val="2A3547"/>
                </a:solidFill>
                <a:latin typeface="Segoe UI"/>
              </a:rPr>
              <a:t>The template now carries a real customer, a real account and a real name.</a:t>
            </a:r>
          </a:p>
          <a:p>
            <a:pPr algn="l">
              <a:lnSpc>
                <a:spcPts val="1690"/>
              </a:lnSpc>
              <a:spcBef>
                <a:spcPts val="0"/>
              </a:spcBef>
              <a:spcAft>
                <a:spcPts val="600"/>
              </a:spcAft>
            </a:pPr>
            <a:r>
              <a:rPr sz="1300" b="0">
                <a:solidFill>
                  <a:srgbClr val="2A3547"/>
                </a:solidFill>
                <a:latin typeface="Segoe UI"/>
              </a:rPr>
              <a:t>It gets shared with four colleagues and pasted for two years.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15837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84747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SAVED AS TEMPLATE</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"Summarise the ticket log for [CLIENT], account [NUMBER], contact [NAME]..."</a:t>
            </a:r>
          </a:p>
          <a:p>
            <a:pPr algn="l">
              <a:lnSpc>
                <a:spcPts val="1690"/>
              </a:lnSpc>
              <a:spcBef>
                <a:spcPts val="0"/>
              </a:spcBef>
              <a:spcAft>
                <a:spcPts val="600"/>
              </a:spcAft>
            </a:pPr>
            <a:r>
              <a:rPr sz="1300" b="0">
                <a:solidFill>
                  <a:srgbClr val="2A3547"/>
                </a:solidFill>
                <a:latin typeface="Segoe UI"/>
              </a:rPr>
              <a:t>Identical usefulness, and nothing identifying is stored anywhere.</a:t>
            </a:r>
          </a:p>
          <a:p>
            <a:pPr algn="l">
              <a:lnSpc>
                <a:spcPts val="1690"/>
              </a:lnSpc>
              <a:spcBef>
                <a:spcPts val="0"/>
              </a:spcBef>
              <a:spcAft>
                <a:spcPts val="600"/>
              </a:spcAft>
            </a:pPr>
            <a:r>
              <a:rPr sz="1300" b="0">
                <a:solidFill>
                  <a:srgbClr val="2A3547"/>
                </a:solidFill>
                <a:latin typeface="Segoe UI"/>
              </a:rPr>
              <a:t>Safe to share with anyone, including a new joiner on day one.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brackets are not only convenience. They are what makes a prompt safe to keep.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build three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a blank document and call it "My prompts".</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the three jobs you do most often in writing.</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For each, paste the prompt you last used and add brackets.</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Put it where your team can reach it: [COMPANY INPUT NEEDED: shared location].</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the [WHAT] below into a [FORMAT] for [READER]. Use only what I have pasted and do not add anything I have not given you. Keep it under [NUMBER] words. [TONE]. No introduction and no closing summary.</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Start with this one. It covers most writing jobs as it stands.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Improving a stored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Did the stored prompt give a weak answer today?</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Leave it alone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template that works does not need polishing. Tinkering with a good prompt is how teams end up with six versions of one thing.</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Fix the template</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Add the missing line to the stored version straight away, not just to today's chat. Otherwise you meet the same gap next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that keep it alive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Save it the day it works, not the day you have time.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Fix the stored version, never just today's copy.</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 anything nobody has used in six months.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Show a new joiner the file in their first week.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Meaning to save it later</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tab closes, the week moves on, and Monday costs you fifteen minutes again.</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Saving the version with real data in it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customer's details get copied into a file four people share for two years.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Naming it after the technique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"Few-shot summary v2" is unfindable. "Weekly ticket summary" is not.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six near-identical versions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Nobody knows which one is current, so everyone writes a seventh.</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Fixing today's copy and not the template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solve the same gap every month and never notice you are doing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a good library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file everyone can open</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 a folder, not an app nobody logs into.</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Ten to twenty prompts</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Named after jobs people actually do.</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6A2FA0"/>
                </a:solidFill>
                <a:latin typeface="Segoe UI Semibold"/>
              </a:rPr>
              <a:t>Every one with brackets</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 customer, no colleague, no contract in any of them.</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Twenty good prompts covers most of what an office writes in a week. Beyond that, teams stop reading the list and start rewriting again.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reusable prompt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Save the shape the day it works. Never save the details.</a:t>
            </a:r>
          </a:p>
          <a:p>
            <a:pPr algn="l">
              <a:lnSpc>
                <a:spcPts val="1755"/>
              </a:lnSpc>
              <a:spcBef>
                <a:spcPts val="0"/>
              </a:spcBef>
              <a:spcAft>
                <a:spcPts val="0"/>
              </a:spcAft>
            </a:pPr>
            <a:r>
              <a:rPr sz="1350" b="0">
                <a:solidFill>
                  <a:srgbClr val="FFFFFF"/>
                </a:solidFill>
                <a:latin typeface="Segoe UI"/>
              </a:rPr>
              <a:t>The shape is what you keep rediscovering. The details are what you must not store.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Worked today — save it today.</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Real names in it — bracket them out.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Nobody uses it — delete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9:00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weekly ticket summary is due at 10. You wrote a prompt for this three weeks ago that worked beautifully, and you cannot find it.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Scroll back through your chat history to find it.</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it fresh, then save it with brackets straight away.</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Copy the prompt from last week's chat, real names and all, into a shared file.</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Sometimes works, never reliably</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Twelve minutes of scrolling. You find something close, but you are not sure whether it is the version that worked or the one before it. You use it anyway and spend another five minutes fixing the output.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Chat history is not storage. It is a place things go to be lost.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Costs today. Free every week after.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Four attempts, as usual, and eight minutes. Then thirty seconds pasting it into a shared file with [CLIENT] and [WEEK] in place of the specifics. Next Monday the same job takes under a minute, and so does the Monday after.</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saving is the cheap part. Doing it the same day is what makes it happen.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just filed a customer record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prompt works, and the file now contains a real client name, an account number and a named contact. Four colleagues have access to it, and it will still be there in two years, long after that account has closed.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Bracket the details before anything is stored or shared.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Eight minutes on building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Why You Need an AI Prompt Library Now &amp; How to Build One</a:t>
            </a:r>
          </a:p>
        </p:txBody>
      </p:sp>
      <p:sp>
        <p:nvSpPr>
          <p:cNvPr id="19" name="vis:chip"/>
          <p:cNvSpPr/>
          <p:nvPr/>
        </p:nvSpPr>
        <p:spPr>
          <a:xfrm>
            <a:off x="868680" y="3858768"/>
            <a:ext cx="2403828"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09293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MARKETING EXPLAINED</a:t>
            </a:r>
          </a:p>
        </p:txBody>
      </p:sp>
      <p:sp>
        <p:nvSpPr>
          <p:cNvPr id="21" name="vis:chip"/>
          <p:cNvSpPr/>
          <p:nvPr/>
        </p:nvSpPr>
        <p:spPr>
          <a:xfrm>
            <a:off x="3418812" y="3858768"/>
            <a:ext cx="12016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574260" y="3895344"/>
            <a:ext cx="8907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8:17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A single shared file is still enough to start.</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A single shared file is enough to start.</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your team wants something more organised.</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prompt is worth saving?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One that worked on the first attempt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One that took four attempts and you will need again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one-off question about today's document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 prompt at all — save everything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One that worked on the first attempt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it worked immediately, you will get it right immediately next time too. The filing costs more than the rewriting would.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Repeated, and hard to get right first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One that took four attempts and you will need again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Those four attempts were real thinking. Saving it means you never repeat that work, and a colleague gets it without doing it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Repeated, and hard to get right first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one-off question about today's document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only makes sense alongside a document you will never open again. Storing it clutters the file without helping anyone.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Repeated, and hard to get right first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Any prompt at all — save everything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library of two hundred prompts is one nobody reads. Ten to twenty good ones is the range where people actually look before writing.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Repeated, and hard to get right first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 brackets actually 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tell the tool to search for the value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mark what changes, and keep real data out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make the prompt shorter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stop the tool inventing facts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They tell the tool to search for the value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search. If you leave a bracket unfilled it will either ask you or invent something plausible to put there.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make it reusable and safe to store.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They mark what changes, and keep real data 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Both at once. [CLIENT] tells the next person what belongs there, and it means no real client name is sitting in a file four people can open.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make it reusable and safe to store.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They make the prompt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roughly unchanged. The gain is that the unchanging part — the part you kept getting wrong — is now settled permanently.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make it reusable and safe to store.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They stop the tool inventing facts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what "do not add anything I have not given you" does. Brackets are about reuse and safety, not invention.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make it reusable and safe to store.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should you name a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"Few-shot structured summary v3"</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"Weekly ticket summary for my manager"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"Prompt 7"</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first line of the prompt itself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"Few-shot structured summary v3"</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Nobody searches for that, including you in six weeks. The name describes how it works rather than what it is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the job, not the technique.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"Weekly ticket summary for my manager"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names the job and the reader, which is exactly what someone types when they go looking. A colleague who has never met you can find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the job, not the technique.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"Prompt 7"</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Findable only by opening every prompt in turn. Within a month the file is unusable and people start rewriting from scratch.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the job, not the technique.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first line of the prompt itself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Usually too long and too similar to its neighbours. Three prompts starting "Turn the following into..." are indistinguishable in a list.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the job, not the technique.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stored prompt gave a weak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Fix it in today's chat and move 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Add the missing line to the stored version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a new prompt and save that too</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 the template — it clearly does not work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Fix it in today's chat and move 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have solved it for an hour. Next month the stored version has the same gap and somebody solves it again, probably differently.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Fix the template, not just today's copy.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Add the missing line to the stored version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Thirty seconds, and the fix belongs to everyone from now on. This is the single habit that separates a living library from a graveyard.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Fix the template, not just today's copy.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Write a new prompt and save that too</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Now there are two versions and nobody knows which is current. Six months later there are five, and people write a sixth rather than choose.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Fix the template, not just today's copy.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Delete the template — it clearly does not work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weak answer is not a broken template. It usually means one missing constraint, which is a one-line repair, not a reason to throw away the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Fix the template, not just today's copy.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never go in a saved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word count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real client name and account number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tone instruction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reader description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word count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Word counts belong in the stored version. They are part of the shape you are trying to keep, and they identify nobody.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identifies a person or a deal.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real client name and account number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stored prompt is copied, shared and pasted for years. Anything identifying inside it travels to everyone who ever opens the file, long after the account has closed.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identifies a person or a deal.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tone instruction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Tone is exactly what you want to preserve. "Brief and factual" took you three attempts to settle on the first time.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identifies a person or a deal.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reader description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"For my manager" or "for a client who is already annoyed" is a role, not an identity. It names nobody and improves every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identifies a person or a deal.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Reusable prompts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Save it the day it works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tab closes and the thinking goes with it. Later never arrives.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Brackets mark what changes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[CLIENT], [WEEK], [NUMBER]. Ten seconds to fill, every time.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Brackets also keep it safe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 real name, account or price is ever stored in the file.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Name it after the job</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"Weekly ticket summary", never "structured prompt v3".</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Fix the template, not the copy</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line added to the stored version fixes it for everybody.</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Twenty is plenty</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library nobody reads is a library that gets rewritten from scratch.</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Save the shape the day it works. Never save the details.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09176" y="2392850"/>
            <a:ext cx="138462" cy="223669"/>
          </a:xfrm>
          <a:prstGeom prst="roundRect">
            <a:avLst>
              <a:gd name="adj" fmla="val 33019"/>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41129" y="2456756"/>
            <a:ext cx="745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41129" y="2504685"/>
            <a:ext cx="745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941129" y="2552614"/>
            <a:ext cx="5325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four-bracket template</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format, reader, tone. Covers most writing jobs.</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72126" y="3309328"/>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is:icon"/>
          <p:cNvSpPr/>
          <p:nvPr/>
        </p:nvSpPr>
        <p:spPr>
          <a:xfrm>
            <a:off x="913171" y="3288135"/>
            <a:ext cx="48994" cy="42071"/>
          </a:xfrm>
          <a:custGeom>
            <a:avLst/>
            <a:gdLst/>
            <a:ahLst/>
            <a:cxnLst/>
            <a:rect l="l" t="t" r="r" b="b"/>
            <a:pathLst>
              <a:path w="48994" h="42071">
                <a:moveTo>
                  <a:pt x="48994" y="0"/>
                </a:moveTo>
                <a:lnTo>
                  <a:pt x="23964" y="42071"/>
                </a:lnTo>
                <a:lnTo>
                  <a:pt x="0" y="533"/>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template-builder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Turns a prompt that worked into a reusable one.</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3910" y="4183953"/>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strip-before-saving check</a:t>
            </a:r>
          </a:p>
        </p:txBody>
      </p:sp>
      <p:sp>
        <p:nvSpPr>
          <p:cNvPr id="34"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Bracket every name, number and price first.</a:t>
            </a:r>
          </a:p>
        </p:txBody>
      </p:sp>
      <p:sp>
        <p:nvSpPr>
          <p:cNvPr id="35"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36"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9"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0"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1"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46"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0"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1"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3"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PE-07, Evaluating AI Responses. A short way to score an answer so you know whether to send it, fix it or throw it away.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PE-06  ·  Reusable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Template</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prompt with brackets where the specifics go, so it can be reused without rewriting.</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 library</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shared file of named prompts your team reuses instead of writing from scratch.</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Bracket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labelled gap like [CLIENT] that says what belongs there, and keeps real data out.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background you give so the tool knows the situation it is writing about.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