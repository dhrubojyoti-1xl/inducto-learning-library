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9.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49.xml"/><Relationship Id="rId11" Type="http://schemas.openxmlformats.org/officeDocument/2006/relationships/slide" Target="slide5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0.xml"/><Relationship Id="rId4" Type="http://schemas.openxmlformats.org/officeDocument/2006/relationships/slide" Target="slide21.xml"/><Relationship Id="rId5" Type="http://schemas.openxmlformats.org/officeDocument/2006/relationships/slide" Target="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LrclePP0KRk" TargetMode="External"/><Relationship Id="rId3"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5.xml"/><Relationship Id="rId4" Type="http://schemas.openxmlformats.org/officeDocument/2006/relationships/slide" Target="slide26.xml"/><Relationship Id="rId5" Type="http://schemas.openxmlformats.org/officeDocument/2006/relationships/slide" Target="slide27.xml"/><Relationship Id="rId6" Type="http://schemas.openxmlformats.org/officeDocument/2006/relationships/slide" Target="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0.xml"/><Relationship Id="rId4" Type="http://schemas.openxmlformats.org/officeDocument/2006/relationships/slide" Target="slide31.xml"/><Relationship Id="rId5" Type="http://schemas.openxmlformats.org/officeDocument/2006/relationships/slide" Target="slide32.xml"/><Relationship Id="rId6" Type="http://schemas.openxmlformats.org/officeDocument/2006/relationships/slide" Target="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5.xml"/><Relationship Id="rId4" Type="http://schemas.openxmlformats.org/officeDocument/2006/relationships/slide" Target="slide36.xml"/><Relationship Id="rId5" Type="http://schemas.openxmlformats.org/officeDocument/2006/relationships/slide" Target="slide37.xml"/><Relationship Id="rId6" Type="http://schemas.openxmlformats.org/officeDocument/2006/relationships/slide" Target="slide3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0.xml"/><Relationship Id="rId4" Type="http://schemas.openxmlformats.org/officeDocument/2006/relationships/slide" Target="slide41.xml"/><Relationship Id="rId5" Type="http://schemas.openxmlformats.org/officeDocument/2006/relationships/slide" Target="slide42.xml"/><Relationship Id="rId6" Type="http://schemas.openxmlformats.org/officeDocument/2006/relationships/slide" Target="slide4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5.xml"/><Relationship Id="rId4" Type="http://schemas.openxmlformats.org/officeDocument/2006/relationships/slide" Target="slide46.xml"/><Relationship Id="rId5" Type="http://schemas.openxmlformats.org/officeDocument/2006/relationships/slide" Target="slide47.xml"/><Relationship Id="rId6" Type="http://schemas.openxmlformats.org/officeDocument/2006/relationships/slide" Target="slide4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9.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hatgpt.com" TargetMode="External"/><Relationship Id="rId3" Type="http://schemas.openxmlformats.org/officeDocument/2006/relationships/hyperlink" Target="https://copilot.microsof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coverspine"/>
          <p:cNvSpPr/>
          <p:nvPr/>
        </p:nvSpPr>
        <p:spPr>
          <a:xfrm>
            <a:off x="0" y="0"/>
            <a:ext cx="201168" cy="685800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 name="vis:coverbubble"/>
          <p:cNvSpPr/>
          <p:nvPr/>
        </p:nvSpPr>
        <p:spPr>
          <a:xfrm>
            <a:off x="7589520" y="1751990"/>
            <a:ext cx="3302812" cy="1316736"/>
          </a:xfrm>
          <a:prstGeom prst="roundRect">
            <a:avLst>
              <a:gd name="adj" fmla="val 6944"/>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vis:coverline"/>
          <p:cNvSpPr/>
          <p:nvPr/>
        </p:nvSpPr>
        <p:spPr>
          <a:xfrm>
            <a:off x="7863840" y="2015337"/>
            <a:ext cx="1981687" cy="100584"/>
          </a:xfrm>
          <a:prstGeom prst="rect">
            <a:avLst/>
          </a:prstGeom>
          <a:solidFill>
            <a:srgbClr val="5B67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vis:coverline"/>
          <p:cNvSpPr/>
          <p:nvPr/>
        </p:nvSpPr>
        <p:spPr>
          <a:xfrm>
            <a:off x="7863840" y="2271369"/>
            <a:ext cx="1387181" cy="100584"/>
          </a:xfrm>
          <a:prstGeom prst="rect">
            <a:avLst/>
          </a:prstGeom>
          <a:solidFill>
            <a:srgbClr val="5B67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vis:coverline"/>
          <p:cNvSpPr/>
          <p:nvPr/>
        </p:nvSpPr>
        <p:spPr>
          <a:xfrm>
            <a:off x="7863840" y="2527401"/>
            <a:ext cx="1717462" cy="100584"/>
          </a:xfrm>
          <a:prstGeom prst="rect">
            <a:avLst/>
          </a:prstGeom>
          <a:solidFill>
            <a:srgbClr val="5B67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coverbubble"/>
          <p:cNvSpPr/>
          <p:nvPr/>
        </p:nvSpPr>
        <p:spPr>
          <a:xfrm>
            <a:off x="8127187" y="3397910"/>
            <a:ext cx="3302812" cy="1250899"/>
          </a:xfrm>
          <a:prstGeom prst="roundRect">
            <a:avLst>
              <a:gd name="adj" fmla="val 7309"/>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coverline"/>
          <p:cNvSpPr/>
          <p:nvPr/>
        </p:nvSpPr>
        <p:spPr>
          <a:xfrm>
            <a:off x="8401507" y="3661257"/>
            <a:ext cx="2179856" cy="1005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coverline"/>
          <p:cNvSpPr/>
          <p:nvPr/>
        </p:nvSpPr>
        <p:spPr>
          <a:xfrm>
            <a:off x="8401507" y="3917289"/>
            <a:ext cx="1585350" cy="1005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seclabel"/>
          <p:cNvSpPr txBox="1"/>
          <p:nvPr/>
        </p:nvSpPr>
        <p:spPr>
          <a:xfrm>
            <a:off x="960120" y="932434"/>
            <a:ext cx="5501487"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17CC3"/>
                </a:solidFill>
                <a:latin typeface="Segoe UI Semibold"/>
              </a:rPr>
              <a:t>PROMPT ENGINEERING</a:t>
            </a:r>
          </a:p>
        </p:txBody>
      </p:sp>
      <p:sp>
        <p:nvSpPr>
          <p:cNvPr id="12" name="title:cover"/>
          <p:cNvSpPr txBox="1"/>
          <p:nvPr/>
        </p:nvSpPr>
        <p:spPr>
          <a:xfrm>
            <a:off x="960120" y="1389634"/>
            <a:ext cx="5501487" cy="150774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Instructions &amp; Context</a:t>
            </a:r>
          </a:p>
        </p:txBody>
      </p:sp>
      <p:cxnSp>
        <p:nvCxnSpPr>
          <p:cNvPr id="13" name="vis:rule"/>
          <p:cNvCxnSpPr/>
          <p:nvPr/>
        </p:nvCxnSpPr>
        <p:spPr>
          <a:xfrm>
            <a:off x="960120" y="3171698"/>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4" name="body:coversub"/>
          <p:cNvSpPr txBox="1"/>
          <p:nvPr/>
        </p:nvSpPr>
        <p:spPr>
          <a:xfrm>
            <a:off x="960120" y="3446018"/>
            <a:ext cx="5501487" cy="114452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How much background to give — and the point where adding more starts making the answer worse.</a:t>
            </a:r>
          </a:p>
        </p:txBody>
      </p:sp>
      <p:sp>
        <p:nvSpPr>
          <p:cNvPr id="15" name="vis:chip"/>
          <p:cNvSpPr/>
          <p:nvPr/>
        </p:nvSpPr>
        <p:spPr>
          <a:xfrm>
            <a:off x="960120" y="4992878"/>
            <a:ext cx="957834" cy="310896"/>
          </a:xfrm>
          <a:prstGeom prst="roundRect">
            <a:avLst>
              <a:gd name="adj" fmla="val 14705"/>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iptext"/>
          <p:cNvSpPr txBox="1"/>
          <p:nvPr/>
        </p:nvSpPr>
        <p:spPr>
          <a:xfrm>
            <a:off x="1115568" y="5038598"/>
            <a:ext cx="64693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PE-02</a:t>
            </a:r>
          </a:p>
        </p:txBody>
      </p:sp>
      <p:sp>
        <p:nvSpPr>
          <p:cNvPr id="17" name="vis:chip"/>
          <p:cNvSpPr/>
          <p:nvPr/>
        </p:nvSpPr>
        <p:spPr>
          <a:xfrm>
            <a:off x="2064258" y="4992878"/>
            <a:ext cx="145630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2219706" y="5038598"/>
            <a:ext cx="11454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18 MINUTES</a:t>
            </a:r>
          </a:p>
        </p:txBody>
      </p:sp>
      <p:sp>
        <p:nvSpPr>
          <p:cNvPr id="19" name="vis:chip"/>
          <p:cNvSpPr/>
          <p:nvPr/>
        </p:nvSpPr>
        <p:spPr>
          <a:xfrm>
            <a:off x="3666871" y="4992878"/>
            <a:ext cx="230202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3822319" y="5038598"/>
            <a:ext cx="19911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NEW JOINERS + STAFF</a:t>
            </a:r>
          </a:p>
        </p:txBody>
      </p:sp>
      <p:sp>
        <p:nvSpPr>
          <p:cNvPr id="21" name="cell:coverhint"/>
          <p:cNvSpPr txBox="1"/>
          <p:nvPr/>
        </p:nvSpPr>
        <p:spPr>
          <a:xfrm>
            <a:off x="960120" y="5724144"/>
            <a:ext cx="5501487"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2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PE-02  ·  Instructions &amp; Context</a:t>
            </a:r>
          </a:p>
        </p:txBody>
      </p:sp>
      <p:sp>
        <p:nvSpPr>
          <p:cNvPr id="2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Nikhil gets a plan for someone else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45649" y="2218436"/>
            <a:ext cx="231277" cy="318006"/>
          </a:xfrm>
          <a:prstGeom prst="roundRect">
            <a:avLst>
              <a:gd name="adj" fmla="val 19768"/>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96241" y="2319620"/>
            <a:ext cx="130093"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1096241" y="2377439"/>
            <a:ext cx="130093"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a:off x="1096241" y="2435259"/>
            <a:ext cx="86729"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2"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Nikhil coordinates projects for a Hyderabad office. He asks for "a project plan for a warehouse fit-out". He gets a polished twelve-week plan, with roles the company does not have, for a country it does not operate in.</a:t>
            </a:r>
          </a:p>
        </p:txBody>
      </p:sp>
      <p:sp>
        <p:nvSpPr>
          <p:cNvPr id="23"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7"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Forty minutes deleting somebody else's assumptions.</a:t>
            </a:r>
          </a:p>
        </p:txBody>
      </p:sp>
      <p:sp>
        <p:nvSpPr>
          <p:cNvPr id="29"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17CC3"/>
                </a:solidFill>
                <a:latin typeface="Segoe UI Semibold"/>
              </a:rPr>
              <a:t>AFTER THIS MODULE</a:t>
            </a:r>
          </a:p>
        </p:txBody>
      </p:sp>
      <p:cxnSp>
        <p:nvCxnSpPr>
          <p:cNvPr id="31"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2"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Four lines of context, and the plan describes your project.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33938" y="1966611"/>
            <a:ext cx="41272" cy="412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07639" y="1987247"/>
            <a:ext cx="182778"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933938" y="2055051"/>
            <a:ext cx="41272" cy="412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07639" y="2075688"/>
            <a:ext cx="182778"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1" name="vis:icon"/>
          <p:cNvSpPr/>
          <p:nvPr/>
        </p:nvSpPr>
        <p:spPr>
          <a:xfrm>
            <a:off x="933938" y="2143492"/>
            <a:ext cx="41272" cy="412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1007639" y="2164128"/>
            <a:ext cx="182778"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3"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Write the four context lines from memory, every time</a:t>
            </a:r>
          </a:p>
        </p:txBody>
      </p:sp>
      <p:sp>
        <p:nvSpPr>
          <p:cNvPr id="24"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936886" y="2865671"/>
            <a:ext cx="247634" cy="165089"/>
          </a:xfrm>
          <a:prstGeom prst="roundRect">
            <a:avLst>
              <a:gd name="adj" fmla="val 27694"/>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flipH="1">
            <a:off x="984055" y="3030760"/>
            <a:ext cx="11792" cy="6485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984055" y="3030760"/>
            <a:ext cx="64856" cy="6485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9"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Tell an instruction apart from a piece of context</a:t>
            </a:r>
          </a:p>
        </p:txBody>
      </p:sp>
      <p:sp>
        <p:nvSpPr>
          <p:cNvPr id="30"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930990" y="3738198"/>
            <a:ext cx="259426" cy="259426"/>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969315" y="3776523"/>
            <a:ext cx="182777" cy="18277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4"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Use negative instructions to stop the three usual habits</a:t>
            </a:r>
          </a:p>
        </p:txBody>
      </p:sp>
      <p:sp>
        <p:nvSpPr>
          <p:cNvPr id="35"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925094" y="4657895"/>
            <a:ext cx="271219" cy="212257"/>
          </a:xfrm>
          <a:custGeom>
            <a:avLst/>
            <a:gdLst/>
            <a:ahLst/>
            <a:cxnLst/>
            <a:rect l="l" t="t" r="r" b="b"/>
            <a:pathLst>
              <a:path w="271219" h="212257">
                <a:moveTo>
                  <a:pt x="0" y="106129"/>
                </a:moveTo>
                <a:lnTo>
                  <a:pt x="135610" y="0"/>
                </a:lnTo>
                <a:lnTo>
                  <a:pt x="271219" y="106129"/>
                </a:lnTo>
                <a:lnTo>
                  <a:pt x="135610" y="212257"/>
                </a:lnTo>
                <a:close/>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vis:icon"/>
          <p:cNvSpPr/>
          <p:nvPr/>
        </p:nvSpPr>
        <p:spPr>
          <a:xfrm>
            <a:off x="1019431" y="4722751"/>
            <a:ext cx="82544" cy="82544"/>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Recognise when extra context is making the answer worse</a:t>
            </a:r>
          </a:p>
        </p:txBody>
      </p:sp>
      <p:sp>
        <p:nvSpPr>
          <p:cNvPr id="40"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vis:icon"/>
          <p:cNvSpPr/>
          <p:nvPr/>
        </p:nvSpPr>
        <p:spPr>
          <a:xfrm>
            <a:off x="943035" y="5558013"/>
            <a:ext cx="235337" cy="220044"/>
          </a:xfrm>
          <a:custGeom>
            <a:avLst/>
            <a:gdLst/>
            <a:ahLst/>
            <a:cxnLst/>
            <a:rect l="l" t="t" r="r" b="b"/>
            <a:pathLst>
              <a:path w="235337" h="220044">
                <a:moveTo>
                  <a:pt x="176629" y="0"/>
                </a:moveTo>
                <a:lnTo>
                  <a:pt x="206326" y="24372"/>
                </a:lnTo>
                <a:lnTo>
                  <a:pt x="226613" y="56996"/>
                </a:lnTo>
                <a:lnTo>
                  <a:pt x="235337" y="94410"/>
                </a:lnTo>
                <a:lnTo>
                  <a:pt x="231571" y="132643"/>
                </a:lnTo>
                <a:lnTo>
                  <a:pt x="215716" y="167636"/>
                </a:lnTo>
                <a:lnTo>
                  <a:pt x="189454" y="195676"/>
                </a:lnTo>
                <a:lnTo>
                  <a:pt x="155573" y="213785"/>
                </a:lnTo>
                <a:lnTo>
                  <a:pt x="117669" y="220044"/>
                </a:lnTo>
                <a:lnTo>
                  <a:pt x="79764" y="213785"/>
                </a:lnTo>
                <a:lnTo>
                  <a:pt x="45883" y="195676"/>
                </a:lnTo>
                <a:lnTo>
                  <a:pt x="19621" y="167636"/>
                </a:lnTo>
                <a:lnTo>
                  <a:pt x="3766" y="132643"/>
                </a:lnTo>
                <a:lnTo>
                  <a:pt x="0" y="94410"/>
                </a:lnTo>
                <a:lnTo>
                  <a:pt x="8724" y="56996"/>
                </a:lnTo>
                <a:lnTo>
                  <a:pt x="29011" y="24372"/>
                </a:lnTo>
                <a:lnTo>
                  <a:pt x="58708" y="0"/>
                </a:lnTo>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vis:icon"/>
          <p:cNvSpPr/>
          <p:nvPr/>
        </p:nvSpPr>
        <p:spPr>
          <a:xfrm>
            <a:off x="988477" y="5534550"/>
            <a:ext cx="54244" cy="46578"/>
          </a:xfrm>
          <a:custGeom>
            <a:avLst/>
            <a:gdLst/>
            <a:ahLst/>
            <a:cxnLst/>
            <a:rect l="l" t="t" r="r" b="b"/>
            <a:pathLst>
              <a:path w="54244" h="46578">
                <a:moveTo>
                  <a:pt x="54244" y="0"/>
                </a:moveTo>
                <a:lnTo>
                  <a:pt x="26532" y="46578"/>
                </a:lnTo>
                <a:lnTo>
                  <a:pt x="0" y="589"/>
                </a:lnTo>
                <a:close/>
              </a:path>
            </a:pathLst>
          </a:cu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Rewrite a weak prompt into a specific one in 30 seconds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The four context lines</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Who, what, where, why</a:t>
            </a:r>
          </a:p>
        </p:txBody>
      </p:sp>
      <p:cxnSp>
        <p:nvCxnSpPr>
          <p:cNvPr id="13" name="vis:menuarrow"/>
          <p:cNvCxnSpPr/>
          <p:nvPr/>
        </p:nvCxnSpPr>
        <p:spPr>
          <a:xfrm>
            <a:off x="11213287" y="1997049"/>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Instruction or context?</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Two different jobs</a:t>
            </a:r>
          </a:p>
        </p:txBody>
      </p:sp>
      <p:cxnSp>
        <p:nvCxnSpPr>
          <p:cNvPr id="19" name="vis:menuarrow"/>
          <p:cNvCxnSpPr/>
          <p:nvPr/>
        </p:nvCxnSpPr>
        <p:spPr>
          <a:xfrm>
            <a:off x="11213287" y="2424988"/>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Saying what not to do</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three usual habits</a:t>
            </a:r>
          </a:p>
        </p:txBody>
      </p:sp>
      <p:cxnSp>
        <p:nvCxnSpPr>
          <p:cNvPr id="25" name="vis:menuarrow"/>
          <p:cNvCxnSpPr/>
          <p:nvPr/>
        </p:nvCxnSpPr>
        <p:spPr>
          <a:xfrm>
            <a:off x="11213287" y="2852928"/>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How much is too much</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Where it starts to hurt</a:t>
            </a:r>
          </a:p>
        </p:txBody>
      </p:sp>
      <p:cxnSp>
        <p:nvCxnSpPr>
          <p:cNvPr id="31" name="vis:menuarrow"/>
          <p:cNvCxnSpPr/>
          <p:nvPr/>
        </p:nvCxnSpPr>
        <p:spPr>
          <a:xfrm>
            <a:off x="11213287" y="3280867"/>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Rewrite one real prompt</a:t>
            </a:r>
          </a:p>
        </p:txBody>
      </p:sp>
      <p:cxnSp>
        <p:nvCxnSpPr>
          <p:cNvPr id="37" name="vis:menuarrow"/>
          <p:cNvCxnSpPr/>
          <p:nvPr/>
        </p:nvCxnSpPr>
        <p:spPr>
          <a:xfrm>
            <a:off x="11213287" y="3708806"/>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Thursday afternoon decision</a:t>
            </a:r>
          </a:p>
        </p:txBody>
      </p:sp>
      <p:cxnSp>
        <p:nvCxnSpPr>
          <p:cNvPr id="43" name="vis:menuarrow"/>
          <p:cNvCxnSpPr/>
          <p:nvPr/>
        </p:nvCxnSpPr>
        <p:spPr>
          <a:xfrm>
            <a:off x="11213287" y="4136745"/>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6-minute outside explainer</a:t>
            </a:r>
          </a:p>
        </p:txBody>
      </p:sp>
      <p:cxnSp>
        <p:nvCxnSpPr>
          <p:cNvPr id="49" name="vis:menuarrow"/>
          <p:cNvCxnSpPr/>
          <p:nvPr/>
        </p:nvCxnSpPr>
        <p:spPr>
          <a:xfrm>
            <a:off x="11213287" y="4564684"/>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THE FOUR CONTEXT LINES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lines it cannot guess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Without these it invents a company, a reader and a situation. All three will be wrong.</a:t>
            </a:r>
          </a:p>
        </p:txBody>
      </p:sp>
      <p:sp>
        <p:nvSpPr>
          <p:cNvPr id="16" name="vis:checktile"/>
          <p:cNvSpPr/>
          <p:nvPr/>
        </p:nvSpPr>
        <p:spPr>
          <a:xfrm>
            <a:off x="502920" y="283464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eckdot"/>
          <p:cNvSpPr/>
          <p:nvPr/>
        </p:nvSpPr>
        <p:spPr>
          <a:xfrm>
            <a:off x="722376" y="3387852"/>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815279" y="3546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860450" y="3494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cell:checkitem"/>
          <p:cNvSpPr txBox="1"/>
          <p:nvPr/>
        </p:nvSpPr>
        <p:spPr>
          <a:xfrm>
            <a:off x="1161288" y="2980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WHO IS READING — "a client who is already annoyed with us"</a:t>
            </a:r>
          </a:p>
        </p:txBody>
      </p:sp>
      <p:sp>
        <p:nvSpPr>
          <p:cNvPr id="21" name="vis:checktile"/>
          <p:cNvSpPr/>
          <p:nvPr/>
        </p:nvSpPr>
        <p:spPr>
          <a:xfrm>
            <a:off x="6205575" y="283464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eckdot"/>
          <p:cNvSpPr/>
          <p:nvPr/>
        </p:nvSpPr>
        <p:spPr>
          <a:xfrm>
            <a:off x="6425031" y="3387852"/>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6517934" y="3546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flipV="1">
            <a:off x="6563106" y="3494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cell:checkitem"/>
          <p:cNvSpPr txBox="1"/>
          <p:nvPr/>
        </p:nvSpPr>
        <p:spPr>
          <a:xfrm>
            <a:off x="6863943" y="2980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WHAT WE DO — "we run bonded warehousing in Bhiwandi"</a:t>
            </a:r>
          </a:p>
        </p:txBody>
      </p:sp>
      <p:sp>
        <p:nvSpPr>
          <p:cNvPr id="26" name="vis:checktile"/>
          <p:cNvSpPr/>
          <p:nvPr/>
        </p:nvSpPr>
        <p:spPr>
          <a:xfrm>
            <a:off x="502920" y="447141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eckdot"/>
          <p:cNvSpPr/>
          <p:nvPr/>
        </p:nvSpPr>
        <p:spPr>
          <a:xfrm>
            <a:off x="722376" y="5024628"/>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815279" y="5183550"/>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9" name="vis:icon"/>
          <p:cNvCxnSpPr/>
          <p:nvPr/>
        </p:nvCxnSpPr>
        <p:spPr>
          <a:xfrm flipV="1">
            <a:off x="860450" y="513142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0" name="cell:checkitem"/>
          <p:cNvSpPr txBox="1"/>
          <p:nvPr/>
        </p:nvSpPr>
        <p:spPr>
          <a:xfrm>
            <a:off x="1161288" y="461772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WHERE — "India, so rupees and Indian labour rules"</a:t>
            </a:r>
          </a:p>
        </p:txBody>
      </p:sp>
      <p:sp>
        <p:nvSpPr>
          <p:cNvPr id="31" name="vis:checktile"/>
          <p:cNvSpPr/>
          <p:nvPr/>
        </p:nvSpPr>
        <p:spPr>
          <a:xfrm>
            <a:off x="6205575" y="447141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eckdot"/>
          <p:cNvSpPr/>
          <p:nvPr/>
        </p:nvSpPr>
        <p:spPr>
          <a:xfrm>
            <a:off x="6425031" y="5024628"/>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6517934" y="5183550"/>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563106" y="513142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cell:checkitem"/>
          <p:cNvSpPr txBox="1"/>
          <p:nvPr/>
        </p:nvSpPr>
        <p:spPr>
          <a:xfrm>
            <a:off x="6863943" y="461772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WHY NOW — "they escalated to my director this morning"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THE FOUR CONTEXT LINES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each line prevents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flowcard"/>
          <p:cNvSpPr/>
          <p:nvPr/>
        </p:nvSpPr>
        <p:spPr>
          <a:xfrm>
            <a:off x="502920"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flownum"/>
          <p:cNvSpPr/>
          <p:nvPr/>
        </p:nvSpPr>
        <p:spPr>
          <a:xfrm>
            <a:off x="685800" y="2039111"/>
            <a:ext cx="384048" cy="38404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text"/>
          <p:cNvSpPr txBox="1"/>
          <p:nvPr/>
        </p:nvSpPr>
        <p:spPr>
          <a:xfrm>
            <a:off x="685800"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8" name="vis:flowtitle"/>
          <p:cNvSpPr txBox="1"/>
          <p:nvPr/>
        </p:nvSpPr>
        <p:spPr>
          <a:xfrm>
            <a:off x="704088"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No reader</a:t>
            </a:r>
          </a:p>
        </p:txBody>
      </p:sp>
      <p:sp>
        <p:nvSpPr>
          <p:cNvPr id="19" name="vis:flowsub"/>
          <p:cNvSpPr txBox="1"/>
          <p:nvPr/>
        </p:nvSpPr>
        <p:spPr>
          <a:xfrm>
            <a:off x="704088"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It writes for a general audience and pleases nobody.</a:t>
            </a:r>
          </a:p>
        </p:txBody>
      </p:sp>
      <p:cxnSp>
        <p:nvCxnSpPr>
          <p:cNvPr id="20" name="vis:flowarrow"/>
          <p:cNvCxnSpPr/>
          <p:nvPr/>
        </p:nvCxnSpPr>
        <p:spPr>
          <a:xfrm>
            <a:off x="3093643" y="3182111"/>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vis:flowcard"/>
          <p:cNvSpPr/>
          <p:nvPr/>
        </p:nvSpPr>
        <p:spPr>
          <a:xfrm>
            <a:off x="3395395"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flownum"/>
          <p:cNvSpPr/>
          <p:nvPr/>
        </p:nvSpPr>
        <p:spPr>
          <a:xfrm>
            <a:off x="3578275" y="2039111"/>
            <a:ext cx="384048" cy="38404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text"/>
          <p:cNvSpPr txBox="1"/>
          <p:nvPr/>
        </p:nvSpPr>
        <p:spPr>
          <a:xfrm>
            <a:off x="3578275"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4" name="vis:flowtitle"/>
          <p:cNvSpPr txBox="1"/>
          <p:nvPr/>
        </p:nvSpPr>
        <p:spPr>
          <a:xfrm>
            <a:off x="3596563"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No business</a:t>
            </a:r>
          </a:p>
        </p:txBody>
      </p:sp>
      <p:sp>
        <p:nvSpPr>
          <p:cNvPr id="25" name="vis:flowsub"/>
          <p:cNvSpPr txBox="1"/>
          <p:nvPr/>
        </p:nvSpPr>
        <p:spPr>
          <a:xfrm>
            <a:off x="3596563"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It assumes an industry, usually American software.</a:t>
            </a:r>
          </a:p>
        </p:txBody>
      </p:sp>
      <p:cxnSp>
        <p:nvCxnSpPr>
          <p:cNvPr id="26" name="vis:flowarrow"/>
          <p:cNvCxnSpPr/>
          <p:nvPr/>
        </p:nvCxnSpPr>
        <p:spPr>
          <a:xfrm>
            <a:off x="5986119" y="3182111"/>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vis:flowcard"/>
          <p:cNvSpPr/>
          <p:nvPr/>
        </p:nvSpPr>
        <p:spPr>
          <a:xfrm>
            <a:off x="6287871"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flownum"/>
          <p:cNvSpPr/>
          <p:nvPr/>
        </p:nvSpPr>
        <p:spPr>
          <a:xfrm>
            <a:off x="6470751" y="2039111"/>
            <a:ext cx="384048" cy="38404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text"/>
          <p:cNvSpPr txBox="1"/>
          <p:nvPr/>
        </p:nvSpPr>
        <p:spPr>
          <a:xfrm>
            <a:off x="6470751"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0" name="vis:flowtitle"/>
          <p:cNvSpPr txBox="1"/>
          <p:nvPr/>
        </p:nvSpPr>
        <p:spPr>
          <a:xfrm>
            <a:off x="6489039"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No place</a:t>
            </a:r>
          </a:p>
        </p:txBody>
      </p:sp>
      <p:sp>
        <p:nvSpPr>
          <p:cNvPr id="31" name="vis:flowsub"/>
          <p:cNvSpPr txBox="1"/>
          <p:nvPr/>
        </p:nvSpPr>
        <p:spPr>
          <a:xfrm>
            <a:off x="6489039"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You get dollars, US law and the wrong holidays.</a:t>
            </a:r>
          </a:p>
        </p:txBody>
      </p:sp>
      <p:cxnSp>
        <p:nvCxnSpPr>
          <p:cNvPr id="32" name="vis:flowarrow"/>
          <p:cNvCxnSpPr/>
          <p:nvPr/>
        </p:nvCxnSpPr>
        <p:spPr>
          <a:xfrm>
            <a:off x="8878595" y="3182111"/>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vis:flowcard"/>
          <p:cNvSpPr/>
          <p:nvPr/>
        </p:nvSpPr>
        <p:spPr>
          <a:xfrm>
            <a:off x="9180347"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flownum"/>
          <p:cNvSpPr/>
          <p:nvPr/>
        </p:nvSpPr>
        <p:spPr>
          <a:xfrm>
            <a:off x="9363227" y="2039111"/>
            <a:ext cx="384048" cy="38404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text"/>
          <p:cNvSpPr txBox="1"/>
          <p:nvPr/>
        </p:nvSpPr>
        <p:spPr>
          <a:xfrm>
            <a:off x="9363227"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6" name="vis:flowtitle"/>
          <p:cNvSpPr txBox="1"/>
          <p:nvPr/>
        </p:nvSpPr>
        <p:spPr>
          <a:xfrm>
            <a:off x="9381515"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No urgency</a:t>
            </a:r>
          </a:p>
        </p:txBody>
      </p:sp>
      <p:sp>
        <p:nvSpPr>
          <p:cNvPr id="37" name="vis:flowsub"/>
          <p:cNvSpPr txBox="1"/>
          <p:nvPr/>
        </p:nvSpPr>
        <p:spPr>
          <a:xfrm>
            <a:off x="9381515"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It writes a leisurely note when you needed three 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INSTRUCTION OR CONTEXT?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Instruction or context?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panel"/>
          <p:cNvSpPr/>
          <p:nvPr/>
        </p:nvSpPr>
        <p:spPr>
          <a:xfrm>
            <a:off x="502920" y="1719072"/>
            <a:ext cx="5437479" cy="3822192"/>
          </a:xfrm>
          <a:prstGeom prst="roundRect">
            <a:avLst>
              <a:gd name="adj" fmla="val 23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anelspine"/>
          <p:cNvSpPr/>
          <p:nvPr/>
        </p:nvSpPr>
        <p:spPr>
          <a:xfrm>
            <a:off x="502920" y="1719072"/>
            <a:ext cx="68580" cy="3822192"/>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77240" y="1956815"/>
            <a:ext cx="1247443"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32688" y="1984247"/>
            <a:ext cx="93654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CONTEXT</a:t>
            </a:r>
          </a:p>
        </p:txBody>
      </p:sp>
      <p:sp>
        <p:nvSpPr>
          <p:cNvPr id="19" name="vis:paneltitle"/>
          <p:cNvSpPr txBox="1"/>
          <p:nvPr/>
        </p:nvSpPr>
        <p:spPr>
          <a:xfrm>
            <a:off x="777240"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Facts about the situation</a:t>
            </a:r>
          </a:p>
        </p:txBody>
      </p:sp>
      <p:sp>
        <p:nvSpPr>
          <p:cNvPr id="20" name="vis:icon"/>
          <p:cNvSpPr/>
          <p:nvPr/>
        </p:nvSpPr>
        <p:spPr>
          <a:xfrm>
            <a:off x="799185" y="3082442"/>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844905" y="3095244"/>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2" name="vis:icon"/>
          <p:cNvSpPr/>
          <p:nvPr/>
        </p:nvSpPr>
        <p:spPr>
          <a:xfrm>
            <a:off x="799185" y="3137306"/>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44905" y="3150108"/>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vis:icon"/>
          <p:cNvSpPr/>
          <p:nvPr/>
        </p:nvSpPr>
        <p:spPr>
          <a:xfrm>
            <a:off x="799185" y="3192170"/>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844905" y="3204972"/>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6" name="vis:panelitem"/>
          <p:cNvSpPr txBox="1"/>
          <p:nvPr/>
        </p:nvSpPr>
        <p:spPr>
          <a:xfrm>
            <a:off x="1078992" y="3017520"/>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"The client is in Sharjah"</a:t>
            </a:r>
          </a:p>
        </p:txBody>
      </p:sp>
      <p:sp>
        <p:nvSpPr>
          <p:cNvPr id="27" name="vis:icon"/>
          <p:cNvSpPr/>
          <p:nvPr/>
        </p:nvSpPr>
        <p:spPr>
          <a:xfrm>
            <a:off x="799185" y="3658514"/>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844905" y="3671315"/>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9" name="vis:icon"/>
          <p:cNvSpPr/>
          <p:nvPr/>
        </p:nvSpPr>
        <p:spPr>
          <a:xfrm>
            <a:off x="799185" y="3713378"/>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0" name="vis:icon"/>
          <p:cNvCxnSpPr/>
          <p:nvPr/>
        </p:nvCxnSpPr>
        <p:spPr>
          <a:xfrm>
            <a:off x="844905" y="3726179"/>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1" name="vis:icon"/>
          <p:cNvSpPr/>
          <p:nvPr/>
        </p:nvSpPr>
        <p:spPr>
          <a:xfrm>
            <a:off x="799185" y="3768242"/>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4905" y="3781044"/>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3" name="vis:panelitem"/>
          <p:cNvSpPr txBox="1"/>
          <p:nvPr/>
        </p:nvSpPr>
        <p:spPr>
          <a:xfrm>
            <a:off x="1078992" y="3593591"/>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"This is the third delay this quarter"</a:t>
            </a:r>
          </a:p>
        </p:txBody>
      </p:sp>
      <p:sp>
        <p:nvSpPr>
          <p:cNvPr id="34" name="vis:icon"/>
          <p:cNvSpPr/>
          <p:nvPr/>
        </p:nvSpPr>
        <p:spPr>
          <a:xfrm>
            <a:off x="799185" y="4234586"/>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5" name="vis:icon"/>
          <p:cNvCxnSpPr/>
          <p:nvPr/>
        </p:nvCxnSpPr>
        <p:spPr>
          <a:xfrm>
            <a:off x="844905" y="4247388"/>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6" name="vis:icon"/>
          <p:cNvSpPr/>
          <p:nvPr/>
        </p:nvSpPr>
        <p:spPr>
          <a:xfrm>
            <a:off x="799185" y="4289450"/>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844905" y="4302251"/>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8" name="vis:icon"/>
          <p:cNvSpPr/>
          <p:nvPr/>
        </p:nvSpPr>
        <p:spPr>
          <a:xfrm>
            <a:off x="799185" y="4344314"/>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9" name="vis:icon"/>
          <p:cNvCxnSpPr/>
          <p:nvPr/>
        </p:nvCxnSpPr>
        <p:spPr>
          <a:xfrm>
            <a:off x="844905" y="4357116"/>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40" name="vis:panelitem"/>
          <p:cNvSpPr txBox="1"/>
          <p:nvPr/>
        </p:nvSpPr>
        <p:spPr>
          <a:xfrm>
            <a:off x="1078992" y="4169663"/>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"We cannot offer a discount"</a:t>
            </a:r>
          </a:p>
        </p:txBody>
      </p:sp>
      <p:sp>
        <p:nvSpPr>
          <p:cNvPr id="41" name="vis:icon"/>
          <p:cNvSpPr/>
          <p:nvPr/>
        </p:nvSpPr>
        <p:spPr>
          <a:xfrm>
            <a:off x="799185" y="4810658"/>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844905" y="4823459"/>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43" name="vis:icon"/>
          <p:cNvSpPr/>
          <p:nvPr/>
        </p:nvSpPr>
        <p:spPr>
          <a:xfrm>
            <a:off x="799185" y="4865522"/>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4" name="vis:icon"/>
          <p:cNvCxnSpPr/>
          <p:nvPr/>
        </p:nvCxnSpPr>
        <p:spPr>
          <a:xfrm>
            <a:off x="844905" y="4878323"/>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45" name="vis:icon"/>
          <p:cNvSpPr/>
          <p:nvPr/>
        </p:nvSpPr>
        <p:spPr>
          <a:xfrm>
            <a:off x="799185" y="4920386"/>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6" name="vis:icon"/>
          <p:cNvCxnSpPr/>
          <p:nvPr/>
        </p:nvCxnSpPr>
        <p:spPr>
          <a:xfrm>
            <a:off x="844905" y="4933188"/>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47" name="vis:panelitem"/>
          <p:cNvSpPr txBox="1"/>
          <p:nvPr/>
        </p:nvSpPr>
        <p:spPr>
          <a:xfrm>
            <a:off x="1078992" y="4745736"/>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"Our contact there is new to the account"</a:t>
            </a:r>
          </a:p>
        </p:txBody>
      </p:sp>
      <p:sp>
        <p:nvSpPr>
          <p:cNvPr id="48" name="vis:panel"/>
          <p:cNvSpPr/>
          <p:nvPr/>
        </p:nvSpPr>
        <p:spPr>
          <a:xfrm>
            <a:off x="6251295" y="1719072"/>
            <a:ext cx="5437479" cy="3822192"/>
          </a:xfrm>
          <a:prstGeom prst="roundRect">
            <a:avLst>
              <a:gd name="adj" fmla="val 23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9" name="vis:panelspine"/>
          <p:cNvSpPr/>
          <p:nvPr/>
        </p:nvSpPr>
        <p:spPr>
          <a:xfrm>
            <a:off x="6251295" y="1719072"/>
            <a:ext cx="68580" cy="38221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0" name="vis:chip"/>
          <p:cNvSpPr/>
          <p:nvPr/>
        </p:nvSpPr>
        <p:spPr>
          <a:xfrm>
            <a:off x="6525615" y="1956815"/>
            <a:ext cx="1610614" cy="274320"/>
          </a:xfrm>
          <a:prstGeom prst="roundRect">
            <a:avLst>
              <a:gd name="adj" fmla="val 16666"/>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chiptext"/>
          <p:cNvSpPr txBox="1"/>
          <p:nvPr/>
        </p:nvSpPr>
        <p:spPr>
          <a:xfrm>
            <a:off x="6681063" y="1984247"/>
            <a:ext cx="129971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INSTRUCTION</a:t>
            </a:r>
          </a:p>
        </p:txBody>
      </p:sp>
      <p:sp>
        <p:nvSpPr>
          <p:cNvPr id="52" name="vis:paneltitle"/>
          <p:cNvSpPr txBox="1"/>
          <p:nvPr/>
        </p:nvSpPr>
        <p:spPr>
          <a:xfrm>
            <a:off x="6525615"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What to do with them</a:t>
            </a:r>
          </a:p>
        </p:txBody>
      </p:sp>
      <p:sp>
        <p:nvSpPr>
          <p:cNvPr id="53" name="vis:icon"/>
          <p:cNvSpPr/>
          <p:nvPr/>
        </p:nvSpPr>
        <p:spPr>
          <a:xfrm>
            <a:off x="6549390" y="3084271"/>
            <a:ext cx="153619" cy="102412"/>
          </a:xfrm>
          <a:prstGeom prst="roundRect">
            <a:avLst>
              <a:gd name="adj" fmla="val 44642"/>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4" name="vis:icon"/>
          <p:cNvCxnSpPr/>
          <p:nvPr/>
        </p:nvCxnSpPr>
        <p:spPr>
          <a:xfrm flipH="1">
            <a:off x="6578650" y="3186684"/>
            <a:ext cx="7316" cy="40233"/>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55" name="vis:icon"/>
          <p:cNvCxnSpPr/>
          <p:nvPr/>
        </p:nvCxnSpPr>
        <p:spPr>
          <a:xfrm flipV="1">
            <a:off x="6578650" y="3186684"/>
            <a:ext cx="40234" cy="40233"/>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56" name="vis:panelitem"/>
          <p:cNvSpPr txBox="1"/>
          <p:nvPr/>
        </p:nvSpPr>
        <p:spPr>
          <a:xfrm>
            <a:off x="6827367" y="3017520"/>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"Write a reply email"</a:t>
            </a:r>
          </a:p>
        </p:txBody>
      </p:sp>
      <p:sp>
        <p:nvSpPr>
          <p:cNvPr id="57" name="vis:icon"/>
          <p:cNvSpPr/>
          <p:nvPr/>
        </p:nvSpPr>
        <p:spPr>
          <a:xfrm>
            <a:off x="6549390" y="3660343"/>
            <a:ext cx="153619" cy="102412"/>
          </a:xfrm>
          <a:prstGeom prst="roundRect">
            <a:avLst>
              <a:gd name="adj" fmla="val 44642"/>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8" name="vis:icon"/>
          <p:cNvCxnSpPr/>
          <p:nvPr/>
        </p:nvCxnSpPr>
        <p:spPr>
          <a:xfrm flipH="1">
            <a:off x="6578650" y="3762755"/>
            <a:ext cx="7316" cy="4023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59" name="vis:icon"/>
          <p:cNvCxnSpPr/>
          <p:nvPr/>
        </p:nvCxnSpPr>
        <p:spPr>
          <a:xfrm flipV="1">
            <a:off x="6578650" y="3762755"/>
            <a:ext cx="40234" cy="4023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60" name="vis:panelitem"/>
          <p:cNvSpPr txBox="1"/>
          <p:nvPr/>
        </p:nvSpPr>
        <p:spPr>
          <a:xfrm>
            <a:off x="6827367" y="3593591"/>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"Under 120 words"</a:t>
            </a:r>
          </a:p>
        </p:txBody>
      </p:sp>
      <p:sp>
        <p:nvSpPr>
          <p:cNvPr id="61" name="vis:icon"/>
          <p:cNvSpPr/>
          <p:nvPr/>
        </p:nvSpPr>
        <p:spPr>
          <a:xfrm>
            <a:off x="6549390" y="4236415"/>
            <a:ext cx="153619" cy="102412"/>
          </a:xfrm>
          <a:prstGeom prst="roundRect">
            <a:avLst>
              <a:gd name="adj" fmla="val 44642"/>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62" name="vis:icon"/>
          <p:cNvCxnSpPr/>
          <p:nvPr/>
        </p:nvCxnSpPr>
        <p:spPr>
          <a:xfrm flipH="1">
            <a:off x="6578650" y="4338827"/>
            <a:ext cx="7316" cy="4023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63" name="vis:icon"/>
          <p:cNvCxnSpPr/>
          <p:nvPr/>
        </p:nvCxnSpPr>
        <p:spPr>
          <a:xfrm flipV="1">
            <a:off x="6578650" y="4338827"/>
            <a:ext cx="40234" cy="4023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64" name="vis:panelitem"/>
          <p:cNvSpPr txBox="1"/>
          <p:nvPr/>
        </p:nvSpPr>
        <p:spPr>
          <a:xfrm>
            <a:off x="6827367" y="4169663"/>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"Apologetic but do not accept liability"</a:t>
            </a:r>
          </a:p>
        </p:txBody>
      </p:sp>
      <p:sp>
        <p:nvSpPr>
          <p:cNvPr id="65" name="vis:icon"/>
          <p:cNvSpPr/>
          <p:nvPr/>
        </p:nvSpPr>
        <p:spPr>
          <a:xfrm>
            <a:off x="6549390" y="4812487"/>
            <a:ext cx="153619" cy="102412"/>
          </a:xfrm>
          <a:prstGeom prst="roundRect">
            <a:avLst>
              <a:gd name="adj" fmla="val 44642"/>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66" name="vis:icon"/>
          <p:cNvCxnSpPr/>
          <p:nvPr/>
        </p:nvCxnSpPr>
        <p:spPr>
          <a:xfrm flipH="1">
            <a:off x="6578650" y="4914899"/>
            <a:ext cx="7316" cy="4023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67" name="vis:icon"/>
          <p:cNvCxnSpPr/>
          <p:nvPr/>
        </p:nvCxnSpPr>
        <p:spPr>
          <a:xfrm flipV="1">
            <a:off x="6578650" y="4914899"/>
            <a:ext cx="40234" cy="4023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68" name="vis:panelitem"/>
          <p:cNvSpPr txBox="1"/>
          <p:nvPr/>
        </p:nvSpPr>
        <p:spPr>
          <a:xfrm>
            <a:off x="6827367" y="4745736"/>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"End with a question, not a statement"</a:t>
            </a:r>
          </a:p>
        </p:txBody>
      </p:sp>
      <p:sp>
        <p:nvSpPr>
          <p:cNvPr id="69" name="cell:glosshint"/>
          <p:cNvSpPr txBox="1"/>
          <p:nvPr/>
        </p:nvSpPr>
        <p:spPr>
          <a:xfrm>
            <a:off x="502920" y="5687568"/>
            <a:ext cx="1609344" cy="23774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does this mean?</a:t>
            </a:r>
          </a:p>
        </p:txBody>
      </p:sp>
      <p:sp>
        <p:nvSpPr>
          <p:cNvPr id="70" name="vis:chip"/>
          <p:cNvSpPr/>
          <p:nvPr/>
        </p:nvSpPr>
        <p:spPr>
          <a:xfrm>
            <a:off x="2221991" y="5660136"/>
            <a:ext cx="1430958"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1" name="vis:chiptext"/>
          <p:cNvSpPr txBox="1"/>
          <p:nvPr/>
        </p:nvSpPr>
        <p:spPr>
          <a:xfrm>
            <a:off x="2377439" y="5687568"/>
            <a:ext cx="112006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CONTEXT  ?</a:t>
            </a:r>
          </a:p>
        </p:txBody>
      </p:sp>
      <p:sp>
        <p:nvSpPr>
          <p:cNvPr id="72" name="nav:gloss">
            <a:hlinkClick action="ppaction://hlinksldjump" r:id="rId3"/>
          </p:cNvPr>
          <p:cNvSpPr/>
          <p:nvPr/>
        </p:nvSpPr>
        <p:spPr>
          <a:xfrm>
            <a:off x="2221991" y="5660136"/>
            <a:ext cx="1430958"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INSTRUCTION OR CONTEXT?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Both, in one paragraph</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promptcard"/>
          <p:cNvSpPr/>
          <p:nvPr/>
        </p:nvSpPr>
        <p:spPr>
          <a:xfrm>
            <a:off x="502920" y="1719072"/>
            <a:ext cx="6935230"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7" name="card:prompt"/>
          <p:cNvSpPr txBox="1"/>
          <p:nvPr/>
        </p:nvSpPr>
        <p:spPr>
          <a:xfrm>
            <a:off x="777240" y="2267712"/>
            <a:ext cx="6386590"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Write a reply email to a client in Sharjah. Context: this is the third delay this quarter, our contact there is new to the account, and we cannot offer a discount. Instructions: under 120 words, apologetic without accepting liability, end with a question rather than a statement.</a:t>
            </a:r>
          </a:p>
        </p:txBody>
      </p:sp>
      <p:sp>
        <p:nvSpPr>
          <p:cNvPr id="28" name="vis:promptcap"/>
          <p:cNvSpPr txBox="1"/>
          <p:nvPr/>
        </p:nvSpPr>
        <p:spPr>
          <a:xfrm>
            <a:off x="777240" y="3624579"/>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Context first, instructions second. It works as written.</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The two words "Context" and "Instructions" do real work.</a:t>
            </a:r>
          </a:p>
        </p:txBody>
      </p:sp>
      <p:cxnSp>
        <p:nvCxnSpPr>
          <p:cNvPr id="33" name="vis:icon"/>
          <p:cNvCxnSpPr/>
          <p:nvPr/>
        </p:nvCxnSpPr>
        <p:spPr>
          <a:xfrm>
            <a:off x="7850361" y="3250143"/>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Nothing about the situation is left for it to invent.</a:t>
            </a:r>
          </a:p>
        </p:txBody>
      </p:sp>
      <p:cxnSp>
        <p:nvCxnSpPr>
          <p:cNvPr id="36" name="vis:icon"/>
          <p:cNvCxnSpPr/>
          <p:nvPr/>
        </p:nvCxnSpPr>
        <p:spPr>
          <a:xfrm>
            <a:off x="7850361" y="4182831"/>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You can check each line of the reply against your own text.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SAYING WHAT NOT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Say what not to do</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body:lead"/>
          <p:cNvSpPr txBox="1"/>
          <p:nvPr/>
        </p:nvSpPr>
        <p:spPr>
          <a:xfrm>
            <a:off x="502920" y="1719072"/>
            <a:ext cx="8343671" cy="548640"/>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Three habits show up in almost every AI draft. One line each removes them.</a:t>
            </a:r>
          </a:p>
        </p:txBody>
      </p:sp>
      <p:sp>
        <p:nvSpPr>
          <p:cNvPr id="16" name="vis:mistake"/>
          <p:cNvSpPr/>
          <p:nvPr/>
        </p:nvSpPr>
        <p:spPr>
          <a:xfrm>
            <a:off x="502920" y="2432304"/>
            <a:ext cx="11185855" cy="1085088"/>
          </a:xfrm>
          <a:prstGeom prst="roundRect">
            <a:avLst>
              <a:gd name="adj" fmla="val 674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bar"/>
          <p:cNvSpPr/>
          <p:nvPr/>
        </p:nvSpPr>
        <p:spPr>
          <a:xfrm>
            <a:off x="502920" y="2432304"/>
            <a:ext cx="68580" cy="1085088"/>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
          <p:cNvSpPr/>
          <p:nvPr/>
        </p:nvSpPr>
        <p:spPr>
          <a:xfrm>
            <a:off x="740664" y="2819400"/>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mistakenumtext"/>
          <p:cNvSpPr txBox="1"/>
          <p:nvPr/>
        </p:nvSpPr>
        <p:spPr>
          <a:xfrm>
            <a:off x="740664" y="2887980"/>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20" name="cell:mistake"/>
          <p:cNvSpPr txBox="1"/>
          <p:nvPr/>
        </p:nvSpPr>
        <p:spPr>
          <a:xfrm>
            <a:off x="1179576" y="2523744"/>
            <a:ext cx="4682806" cy="902208"/>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The throat-clearing opener</a:t>
            </a:r>
          </a:p>
        </p:txBody>
      </p:sp>
      <p:cxnSp>
        <p:nvCxnSpPr>
          <p:cNvPr id="21" name="vis:line"/>
          <p:cNvCxnSpPr/>
          <p:nvPr/>
        </p:nvCxnSpPr>
        <p:spPr>
          <a:xfrm>
            <a:off x="6008686" y="2578608"/>
            <a:ext cx="0" cy="79248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mistakewhy"/>
          <p:cNvSpPr txBox="1"/>
          <p:nvPr/>
        </p:nvSpPr>
        <p:spPr>
          <a:xfrm>
            <a:off x="6173278" y="2523744"/>
            <a:ext cx="5296040" cy="902208"/>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 hope this email finds you well." Add: no opening pleasantries, start with the point.</a:t>
            </a:r>
          </a:p>
        </p:txBody>
      </p:sp>
      <p:sp>
        <p:nvSpPr>
          <p:cNvPr id="23" name="vis:mistake"/>
          <p:cNvSpPr/>
          <p:nvPr/>
        </p:nvSpPr>
        <p:spPr>
          <a:xfrm>
            <a:off x="502920" y="3681984"/>
            <a:ext cx="11185855" cy="1085088"/>
          </a:xfrm>
          <a:prstGeom prst="roundRect">
            <a:avLst>
              <a:gd name="adj" fmla="val 674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bar"/>
          <p:cNvSpPr/>
          <p:nvPr/>
        </p:nvSpPr>
        <p:spPr>
          <a:xfrm>
            <a:off x="502920" y="3681984"/>
            <a:ext cx="68580" cy="1085088"/>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
          <p:cNvSpPr/>
          <p:nvPr/>
        </p:nvSpPr>
        <p:spPr>
          <a:xfrm>
            <a:off x="740664" y="4069080"/>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mistakenumtext"/>
          <p:cNvSpPr txBox="1"/>
          <p:nvPr/>
        </p:nvSpPr>
        <p:spPr>
          <a:xfrm>
            <a:off x="740664" y="4137660"/>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7" name="cell:mistake"/>
          <p:cNvSpPr txBox="1"/>
          <p:nvPr/>
        </p:nvSpPr>
        <p:spPr>
          <a:xfrm>
            <a:off x="1179576" y="3773424"/>
            <a:ext cx="4682806" cy="902208"/>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The apology for everything</a:t>
            </a:r>
          </a:p>
        </p:txBody>
      </p:sp>
      <p:cxnSp>
        <p:nvCxnSpPr>
          <p:cNvPr id="28" name="vis:line"/>
          <p:cNvCxnSpPr/>
          <p:nvPr/>
        </p:nvCxnSpPr>
        <p:spPr>
          <a:xfrm>
            <a:off x="6008686" y="3828288"/>
            <a:ext cx="0" cy="79248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9" name="cell:mistakewhy"/>
          <p:cNvSpPr txBox="1"/>
          <p:nvPr/>
        </p:nvSpPr>
        <p:spPr>
          <a:xfrm>
            <a:off x="6173278" y="3773424"/>
            <a:ext cx="5296040" cy="902208"/>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"We sincerely apologise for any inconvenience." Add: one apology only, and be specific.</a:t>
            </a:r>
          </a:p>
        </p:txBody>
      </p:sp>
      <p:sp>
        <p:nvSpPr>
          <p:cNvPr id="30" name="vis:mistake"/>
          <p:cNvSpPr/>
          <p:nvPr/>
        </p:nvSpPr>
        <p:spPr>
          <a:xfrm>
            <a:off x="502920" y="4931664"/>
            <a:ext cx="11185855" cy="1085088"/>
          </a:xfrm>
          <a:prstGeom prst="roundRect">
            <a:avLst>
              <a:gd name="adj" fmla="val 674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bar"/>
          <p:cNvSpPr/>
          <p:nvPr/>
        </p:nvSpPr>
        <p:spPr>
          <a:xfrm>
            <a:off x="502920" y="4931664"/>
            <a:ext cx="68580" cy="1085088"/>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
          <p:cNvSpPr/>
          <p:nvPr/>
        </p:nvSpPr>
        <p:spPr>
          <a:xfrm>
            <a:off x="740664" y="5318760"/>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istakenumtext"/>
          <p:cNvSpPr txBox="1"/>
          <p:nvPr/>
        </p:nvSpPr>
        <p:spPr>
          <a:xfrm>
            <a:off x="740664" y="5387340"/>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4" name="cell:mistake"/>
          <p:cNvSpPr txBox="1"/>
          <p:nvPr/>
        </p:nvSpPr>
        <p:spPr>
          <a:xfrm>
            <a:off x="1179576" y="5023104"/>
            <a:ext cx="4682806" cy="902208"/>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The summary of your own question</a:t>
            </a:r>
          </a:p>
        </p:txBody>
      </p:sp>
      <p:cxnSp>
        <p:nvCxnSpPr>
          <p:cNvPr id="35" name="vis:line"/>
          <p:cNvCxnSpPr/>
          <p:nvPr/>
        </p:nvCxnSpPr>
        <p:spPr>
          <a:xfrm>
            <a:off x="6008686" y="5077968"/>
            <a:ext cx="0" cy="79248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6" name="cell:mistakewhy"/>
          <p:cNvSpPr txBox="1"/>
          <p:nvPr/>
        </p:nvSpPr>
        <p:spPr>
          <a:xfrm>
            <a:off x="6173278" y="5023104"/>
            <a:ext cx="5296040" cy="902208"/>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"You asked me to write about..." Add: no preamble, no restating the request.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SAYING WHAT NOT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three lines to reuse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promptcard"/>
          <p:cNvSpPr/>
          <p:nvPr/>
        </p:nvSpPr>
        <p:spPr>
          <a:xfrm>
            <a:off x="502920" y="1719072"/>
            <a:ext cx="5816644" cy="2377440"/>
          </a:xfrm>
          <a:prstGeom prst="roundRect">
            <a:avLst>
              <a:gd name="adj" fmla="val 3846"/>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5816644"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4459395" y="1792224"/>
            <a:ext cx="1677289" cy="256032"/>
          </a:xfrm>
          <a:prstGeom prst="roundRect">
            <a:avLst>
              <a:gd name="adj" fmla="val 1785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464300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4661660" y="189536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4661660" y="192334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4661660"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4870875"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3298107"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7" name="card:prompt"/>
          <p:cNvSpPr txBox="1"/>
          <p:nvPr/>
        </p:nvSpPr>
        <p:spPr>
          <a:xfrm>
            <a:off x="777240" y="2267712"/>
            <a:ext cx="5268004" cy="1155191"/>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Consolas"/>
              </a:rPr>
              <a:t>Do not open with pleasantries — start with the point. Do not restate my request back to me. Use one apology at most, and make it specific rather than general.</a:t>
            </a:r>
          </a:p>
        </p:txBody>
      </p:sp>
      <p:sp>
        <p:nvSpPr>
          <p:cNvPr id="28" name="vis:promptcap"/>
          <p:cNvSpPr txBox="1"/>
          <p:nvPr/>
        </p:nvSpPr>
        <p:spPr>
          <a:xfrm>
            <a:off x="777240" y="3624072"/>
            <a:ext cx="5268004"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Paste these under any writing prompt, every time.</a:t>
            </a:r>
          </a:p>
        </p:txBody>
      </p:sp>
      <p:sp>
        <p:nvSpPr>
          <p:cNvPr id="29" name="vis:outcard"/>
          <p:cNvSpPr/>
          <p:nvPr/>
        </p:nvSpPr>
        <p:spPr>
          <a:xfrm>
            <a:off x="6685324" y="1719072"/>
            <a:ext cx="5003450" cy="2377440"/>
          </a:xfrm>
          <a:prstGeom prst="roundRect">
            <a:avLst>
              <a:gd name="adj" fmla="val 384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outspine"/>
          <p:cNvSpPr/>
          <p:nvPr/>
        </p:nvSpPr>
        <p:spPr>
          <a:xfrm>
            <a:off x="6685324" y="1719072"/>
            <a:ext cx="68580" cy="237744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ip"/>
          <p:cNvSpPr/>
          <p:nvPr/>
        </p:nvSpPr>
        <p:spPr>
          <a:xfrm>
            <a:off x="6941356" y="1920240"/>
            <a:ext cx="1812395" cy="274320"/>
          </a:xfrm>
          <a:prstGeom prst="roundRect">
            <a:avLst>
              <a:gd name="adj" fmla="val 16666"/>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text"/>
          <p:cNvSpPr txBox="1"/>
          <p:nvPr/>
        </p:nvSpPr>
        <p:spPr>
          <a:xfrm>
            <a:off x="7096804" y="1947672"/>
            <a:ext cx="150149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CHANGES</a:t>
            </a:r>
          </a:p>
        </p:txBody>
      </p:sp>
      <p:sp>
        <p:nvSpPr>
          <p:cNvPr id="33" name="vis:outbody"/>
          <p:cNvSpPr txBox="1"/>
          <p:nvPr/>
        </p:nvSpPr>
        <p:spPr>
          <a:xfrm>
            <a:off x="6941356" y="2359152"/>
            <a:ext cx="4491386" cy="15179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The email starts with the actual news instead of a line about hoping you are well.</a:t>
            </a:r>
          </a:p>
          <a:p>
            <a:pPr algn="l">
              <a:lnSpc>
                <a:spcPts val="1690"/>
              </a:lnSpc>
              <a:spcBef>
                <a:spcPts val="0"/>
              </a:spcBef>
              <a:spcAft>
                <a:spcPts val="600"/>
              </a:spcAft>
            </a:pPr>
            <a:r>
              <a:rPr sz="1300" b="0">
                <a:solidFill>
                  <a:srgbClr val="2A3547"/>
                </a:solidFill>
                <a:latin typeface="Segoe UI"/>
              </a:rPr>
              <a:t>Roughly forty words disappear, and none of them were carrying meaning.</a:t>
            </a:r>
          </a:p>
          <a:p>
            <a:pPr algn="l">
              <a:lnSpc>
                <a:spcPts val="1690"/>
              </a:lnSpc>
              <a:spcBef>
                <a:spcPts val="0"/>
              </a:spcBef>
              <a:spcAft>
                <a:spcPts val="600"/>
              </a:spcAft>
            </a:pPr>
            <a:r>
              <a:rPr sz="1300" b="0">
                <a:solidFill>
                  <a:srgbClr val="2A3547"/>
                </a:solidFill>
                <a:latin typeface="Segoe UI"/>
              </a:rPr>
              <a:t>It reads like a person wrote it in a hurry, which is usually what you want.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HOW MUCH IS TOO MUCH</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Where extra context hurts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Would a new colleague need this to do the task?</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550596" y="3819265"/>
            <a:ext cx="225308" cy="225308"/>
          </a:xfrm>
          <a:prstGeom prst="ellipse">
            <a:avLst/>
          </a:pr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583880" y="3852550"/>
            <a:ext cx="158740" cy="158739"/>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Leave it out</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Extra background dilutes the instruction. The tool starts weighing detail you did not care about, and the reply drifts away from the point.</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Include it</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If a capable new joiner could not write the email without knowing it, the tool cannot either. That is the whole test.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HOW MUCH IS TOO MUCH</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Too little, right, too much</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1402284"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109138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TOO LITTLE</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"Write a reply about the delay."</a:t>
            </a:r>
          </a:p>
          <a:p>
            <a:pPr algn="l">
              <a:lnSpc>
                <a:spcPts val="1690"/>
              </a:lnSpc>
              <a:spcBef>
                <a:spcPts val="0"/>
              </a:spcBef>
              <a:spcAft>
                <a:spcPts val="600"/>
              </a:spcAft>
            </a:pPr>
            <a:r>
              <a:rPr sz="1300" b="0">
                <a:solidFill>
                  <a:srgbClr val="2A3547"/>
                </a:solidFill>
                <a:latin typeface="Segoe UI"/>
              </a:rPr>
              <a:t>You get a general apology letter with no dates and no position.</a:t>
            </a:r>
          </a:p>
          <a:p>
            <a:pPr algn="l">
              <a:lnSpc>
                <a:spcPts val="1690"/>
              </a:lnSpc>
              <a:spcBef>
                <a:spcPts val="0"/>
              </a:spcBef>
              <a:spcAft>
                <a:spcPts val="600"/>
              </a:spcAft>
            </a:pPr>
            <a:r>
              <a:rPr sz="1300" b="0">
                <a:solidFill>
                  <a:srgbClr val="2A3547"/>
                </a:solidFill>
                <a:latin typeface="Segoe UI"/>
              </a:rPr>
              <a:t>Everything that mattered was left for it to invent.</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1398424"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10875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TOO MUCH</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Four paragraphs of company history, then the request.</a:t>
            </a:r>
          </a:p>
          <a:p>
            <a:pPr algn="l">
              <a:lnSpc>
                <a:spcPts val="1690"/>
              </a:lnSpc>
              <a:spcBef>
                <a:spcPts val="0"/>
              </a:spcBef>
              <a:spcAft>
                <a:spcPts val="600"/>
              </a:spcAft>
            </a:pPr>
            <a:r>
              <a:rPr sz="1300" b="0">
                <a:solidFill>
                  <a:srgbClr val="2A3547"/>
                </a:solidFill>
                <a:latin typeface="Segoe UI"/>
              </a:rPr>
              <a:t>You get a reply that mentions the history and buries the new date.</a:t>
            </a:r>
          </a:p>
          <a:p>
            <a:pPr algn="l">
              <a:lnSpc>
                <a:spcPts val="1690"/>
              </a:lnSpc>
              <a:spcBef>
                <a:spcPts val="0"/>
              </a:spcBef>
              <a:spcAft>
                <a:spcPts val="600"/>
              </a:spcAft>
            </a:pPr>
            <a:r>
              <a:rPr sz="1300" b="0">
                <a:solidFill>
                  <a:srgbClr val="2A3547"/>
                </a:solidFill>
                <a:latin typeface="Segoe UI"/>
              </a:rPr>
              <a:t>It weighted what you spent the most words on.</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It reads emphasis from volume. Whatever you write most about is what the answer will be about.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rewrite one prompt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stepnum"/>
          <p:cNvSpPr/>
          <p:nvPr/>
        </p:nvSpPr>
        <p:spPr>
          <a:xfrm>
            <a:off x="502920" y="2027681"/>
            <a:ext cx="347472" cy="3474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Think of a message you sent an AI tool this week that disappointed you.</a:t>
            </a:r>
          </a:p>
        </p:txBody>
      </p:sp>
      <p:sp>
        <p:nvSpPr>
          <p:cNvPr id="19" name="vis:stepnum"/>
          <p:cNvSpPr/>
          <p:nvPr/>
        </p:nvSpPr>
        <p:spPr>
          <a:xfrm>
            <a:off x="502920" y="3138677"/>
            <a:ext cx="347472" cy="3474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Write the four context lines for it: reader, business, place, urgency.</a:t>
            </a:r>
          </a:p>
        </p:txBody>
      </p:sp>
      <p:sp>
        <p:nvSpPr>
          <p:cNvPr id="23" name="vis:stepnum"/>
          <p:cNvSpPr/>
          <p:nvPr/>
        </p:nvSpPr>
        <p:spPr>
          <a:xfrm>
            <a:off x="502920" y="4249674"/>
            <a:ext cx="347472" cy="3474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Add your instructions: length, tone, format, and what not to do.</a:t>
            </a:r>
          </a:p>
        </p:txBody>
      </p:sp>
      <p:sp>
        <p:nvSpPr>
          <p:cNvPr id="27" name="vis:stepnum"/>
          <p:cNvSpPr/>
          <p:nvPr/>
        </p:nvSpPr>
        <p:spPr>
          <a:xfrm>
            <a:off x="502920" y="5360670"/>
            <a:ext cx="347472" cy="3474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Run it again and compare the two answers side by side.</a:t>
            </a:r>
          </a:p>
        </p:txBody>
      </p:sp>
      <p:sp>
        <p:nvSpPr>
          <p:cNvPr id="30" name="vis:promptcard"/>
          <p:cNvSpPr/>
          <p:nvPr/>
        </p:nvSpPr>
        <p:spPr>
          <a:xfrm>
            <a:off x="6461607" y="1719072"/>
            <a:ext cx="5227167" cy="2609087"/>
          </a:xfrm>
          <a:prstGeom prst="roundRect">
            <a:avLst>
              <a:gd name="adj" fmla="val 3504"/>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38683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Context: you are writing for me, a project coordinator at an Indian logistics company. The reader is a site contractor who has missed two deadlines. Instructions: write a firm progress-chasing email, under 100 words, no pleasantries, end with a specific date request.</a:t>
            </a:r>
          </a:p>
        </p:txBody>
      </p:sp>
      <p:sp>
        <p:nvSpPr>
          <p:cNvPr id="43" name="vis:promptcap"/>
          <p:cNvSpPr txBox="1"/>
          <p:nvPr/>
        </p:nvSpPr>
        <p:spPr>
          <a:xfrm>
            <a:off x="6735927" y="385571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Swap in your own reader and business. The shape stays identical.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Context you should never add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Context makes answers better. Some context makes the company liable.</a:t>
            </a:r>
          </a:p>
          <a:p>
            <a:pPr algn="l">
              <a:lnSpc>
                <a:spcPts val="1755"/>
              </a:lnSpc>
              <a:spcBef>
                <a:spcPts val="0"/>
              </a:spcBef>
              <a:spcAft>
                <a:spcPts val="0"/>
              </a:spcAft>
            </a:pPr>
            <a:r>
              <a:rPr sz="1350" b="0">
                <a:solidFill>
                  <a:srgbClr val="FFFFFF"/>
                </a:solidFill>
                <a:latin typeface="Segoe UI"/>
              </a:rPr>
              <a:t>Everything here can be described without identifying anyone.</a:t>
            </a:r>
          </a:p>
        </p:txBody>
      </p:sp>
      <p:sp>
        <p:nvSpPr>
          <p:cNvPr id="20" name="vis:checktile"/>
          <p:cNvSpPr/>
          <p:nvPr/>
        </p:nvSpPr>
        <p:spPr>
          <a:xfrm>
            <a:off x="502920" y="2953512"/>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608313"/>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The client's name, address or phone number</a:t>
            </a:r>
          </a:p>
        </p:txBody>
      </p:sp>
      <p:sp>
        <p:nvSpPr>
          <p:cNvPr id="25" name="vis:checktile"/>
          <p:cNvSpPr/>
          <p:nvPr/>
        </p:nvSpPr>
        <p:spPr>
          <a:xfrm>
            <a:off x="6205575" y="2953512"/>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6425031"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6504035"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6526621"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6863943" y="3099816"/>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Prices, margins or wording lifted from a contract</a:t>
            </a:r>
          </a:p>
        </p:txBody>
      </p:sp>
      <p:sp>
        <p:nvSpPr>
          <p:cNvPr id="30" name="vis:checktile"/>
          <p:cNvSpPr/>
          <p:nvPr/>
        </p:nvSpPr>
        <p:spPr>
          <a:xfrm>
            <a:off x="502920" y="4590288"/>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722376" y="514349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01380" y="5222504"/>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23965" y="5245089"/>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1161288" y="4736592"/>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 colleague's name attached to pay or performance</a:t>
            </a:r>
          </a:p>
        </p:txBody>
      </p:sp>
      <p:sp>
        <p:nvSpPr>
          <p:cNvPr id="35" name="vis:checktile"/>
          <p:cNvSpPr/>
          <p:nvPr/>
        </p:nvSpPr>
        <p:spPr>
          <a:xfrm>
            <a:off x="6205575" y="4590288"/>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eckdot"/>
          <p:cNvSpPr/>
          <p:nvPr/>
        </p:nvSpPr>
        <p:spPr>
          <a:xfrm>
            <a:off x="6425031" y="514349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6504035" y="5222504"/>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8" name="vis:icon"/>
          <p:cNvCxnSpPr/>
          <p:nvPr/>
        </p:nvCxnSpPr>
        <p:spPr>
          <a:xfrm>
            <a:off x="6526621" y="5245089"/>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9" name="cell:checkitem"/>
          <p:cNvSpPr txBox="1"/>
          <p:nvPr/>
        </p:nvSpPr>
        <p:spPr>
          <a:xfrm>
            <a:off x="6863943" y="4736592"/>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Anything marked internal, confidential or restricted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habits worth keeping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Label your two blocks: "Context:" then "Instructions:"</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Describe the reader in one clause, never in a paragraph.</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Keep the three do-not lines pasted at the end.</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Cut any background a new colleague would not need.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Giving the task but never the reader</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tool writes for nobody in particular, which reads as a form letter to everybody.</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Assuming it knows the country</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Without a location you get dollars, US holidays and the wrong labour rules.</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Pasting the whole email thread for context</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You have now shared every name and address in it, to improve one paragraph.</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Writing context as one long story</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weights by volume. The longest part of your prompt becomes the point of the answer.</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Never saying what to avoid</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pleasantries, the preamble and the triple apology come back every single time.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good context looks like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1041377" y="2193652"/>
            <a:ext cx="130093" cy="130093"/>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969483" y="2375099"/>
            <a:ext cx="273881" cy="119823"/>
          </a:xfrm>
          <a:custGeom>
            <a:avLst/>
            <a:gdLst/>
            <a:ahLst/>
            <a:cxnLst/>
            <a:rect l="l" t="t" r="r" b="b"/>
            <a:pathLst>
              <a:path w="273881" h="119823">
                <a:moveTo>
                  <a:pt x="0" y="119823"/>
                </a:moveTo>
                <a:lnTo>
                  <a:pt x="20541" y="0"/>
                </a:lnTo>
                <a:lnTo>
                  <a:pt x="253340" y="0"/>
                </a:lnTo>
                <a:lnTo>
                  <a:pt x="273881" y="119823"/>
                </a:lnTo>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One clause per fact</a:t>
            </a:r>
          </a:p>
        </p:txBody>
      </p:sp>
      <p:sp>
        <p:nvSpPr>
          <p:cNvPr id="20"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new contact, already annoyed, in Sharjah." Three facts, eight words, no names.</a:t>
            </a:r>
          </a:p>
        </p:txBody>
      </p:sp>
      <p:sp>
        <p:nvSpPr>
          <p:cNvPr id="21"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4775847" y="2190229"/>
            <a:ext cx="301269" cy="301269"/>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flipV="1">
            <a:off x="4926482" y="2251852"/>
            <a:ext cx="0" cy="89011"/>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a:off x="4926482" y="2340863"/>
            <a:ext cx="75317" cy="27389"/>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6"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Front-loaded</a:t>
            </a:r>
          </a:p>
        </p:txBody>
      </p:sp>
      <p:sp>
        <p:nvSpPr>
          <p:cNvPr id="27"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Context first, instructions last. The final instruction is the one it follows hardest.</a:t>
            </a:r>
          </a:p>
        </p:txBody>
      </p:sp>
      <p:sp>
        <p:nvSpPr>
          <p:cNvPr id="28"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icon"/>
          <p:cNvSpPr/>
          <p:nvPr/>
        </p:nvSpPr>
        <p:spPr>
          <a:xfrm>
            <a:off x="8595906" y="2190229"/>
            <a:ext cx="301269" cy="301269"/>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1" name="vis:icon"/>
          <p:cNvCxnSpPr/>
          <p:nvPr/>
        </p:nvCxnSpPr>
        <p:spPr>
          <a:xfrm>
            <a:off x="8640411" y="2234735"/>
            <a:ext cx="212258" cy="21225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2"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Explicitly bounded</a:t>
            </a:r>
          </a:p>
        </p:txBody>
      </p:sp>
      <p:sp>
        <p:nvSpPr>
          <p:cNvPr id="33"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to avoid is as useful as what to do, and far more reliable than hoping.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context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alertband"/>
          <p:cNvSpPr/>
          <p:nvPr/>
        </p:nvSpPr>
        <p:spPr>
          <a:xfrm>
            <a:off x="0" y="1719072"/>
            <a:ext cx="12191695" cy="96012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Give it what a new colleague would need, and nothing a new colleague would not.</a:t>
            </a:r>
          </a:p>
          <a:p>
            <a:pPr algn="l">
              <a:lnSpc>
                <a:spcPts val="1755"/>
              </a:lnSpc>
              <a:spcBef>
                <a:spcPts val="0"/>
              </a:spcBef>
              <a:spcAft>
                <a:spcPts val="0"/>
              </a:spcAft>
            </a:pPr>
            <a:r>
              <a:rPr sz="1350" b="0">
                <a:solidFill>
                  <a:srgbClr val="FFFFFF"/>
                </a:solidFill>
                <a:latin typeface="Segoe UI"/>
              </a:rPr>
              <a:t>That single test settles both halves of the question.</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They would need it — include it.</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They would not — cut it.</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They must not see it — never type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Thursday, 2:30 pm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A contractor has missed two deadlines. Your director wants a firm email sent today. You have the dates, the contract terms and thirty seconds to think.</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Paste the whole email thread in and ask for a firm reply.</a:t>
            </a:r>
          </a:p>
        </p:txBody>
      </p:sp>
      <p:cxnSp>
        <p:nvCxnSpPr>
          <p:cNvPr id="23" name="vis:choicearrow"/>
          <p:cNvCxnSpPr/>
          <p:nvPr/>
        </p:nvCxnSpPr>
        <p:spPr>
          <a:xfrm>
            <a:off x="758952" y="5632704"/>
            <a:ext cx="292608"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Write four context lines and three instructions, with no names.</a:t>
            </a:r>
          </a:p>
        </p:txBody>
      </p:sp>
      <p:cxnSp>
        <p:nvCxnSpPr>
          <p:cNvPr id="29" name="vis:choicearrow"/>
          <p:cNvCxnSpPr/>
          <p:nvPr/>
        </p:nvCxnSpPr>
        <p:spPr>
          <a:xfrm>
            <a:off x="4566818" y="5632704"/>
            <a:ext cx="292608"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Type "write a firm email chasing a late contractor" and edit the result.</a:t>
            </a:r>
          </a:p>
        </p:txBody>
      </p:sp>
      <p:cxnSp>
        <p:nvCxnSpPr>
          <p:cNvPr id="35" name="vis:choicearrow"/>
          <p:cNvCxnSpPr/>
          <p:nvPr/>
        </p:nvCxnSpPr>
        <p:spPr>
          <a:xfrm>
            <a:off x="8374684" y="5632704"/>
            <a:ext cx="292608"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See what happens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It works, and it costs more than you saved</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reply is good, because the thread carried the context. It also carried the contractor's name, phone number, site address and your director's comments about them. All of that left the company to save you two minutes of typing.</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Describe the situation. Never forward the thread.</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Two minutes, and nothing left the building</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site contractor, two missed deadlines, eight and fifteen days late, no discount available, escalated internally today." The email that comes back is firm, specific and carries no identifying detail at all.</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Context is facts about the situation, not the documents it came from.</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icon"/>
          <p:cNvSpPr/>
          <p:nvPr/>
        </p:nvSpPr>
        <p:spPr>
          <a:xfrm>
            <a:off x="519744" y="409285"/>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vis:icon"/>
          <p:cNvCxnSpPr/>
          <p:nvPr/>
        </p:nvCxnSpPr>
        <p:spPr>
          <a:xfrm>
            <a:off x="713232" y="543885"/>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vis:icon"/>
          <p:cNvSpPr/>
          <p:nvPr/>
        </p:nvSpPr>
        <p:spPr>
          <a:xfrm>
            <a:off x="692200" y="686897"/>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Safe, but you will do the work anyway</a:t>
            </a:r>
          </a:p>
        </p:txBody>
      </p:sp>
      <p:sp>
        <p:nvSpPr>
          <p:cNvPr id="7"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get a generic chaser with no dates, no position on the discount and no deadline. Editing it into something sendable takes longer than writing the four context lines would have.</a:t>
            </a:r>
          </a:p>
        </p:txBody>
      </p:sp>
      <p:sp>
        <p:nvSpPr>
          <p:cNvPr id="8"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THE RULE</a:t>
            </a:r>
          </a:p>
        </p:txBody>
      </p:sp>
      <p:sp>
        <p:nvSpPr>
          <p:cNvPr id="10"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context you skip is the work you do afterwards.</a:t>
            </a:r>
          </a:p>
        </p:txBody>
      </p:sp>
      <p:sp>
        <p:nvSpPr>
          <p:cNvPr id="11" name="nav:scback">
            <a:hlinkClick action="ppaction://hlinksldjump" r:id="rId2"/>
          </p:cNvPr>
          <p:cNvSpPr/>
          <p:nvPr/>
        </p:nvSpPr>
        <p:spPr>
          <a:xfrm>
            <a:off x="502920" y="4718304"/>
            <a:ext cx="301752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Six minutes on what is missing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Your AI Prompt is Missing These 3 Things (ChatGPT &amp; Gemini)</a:t>
            </a:r>
          </a:p>
        </p:txBody>
      </p:sp>
      <p:sp>
        <p:nvSpPr>
          <p:cNvPr id="19" name="vis:chip"/>
          <p:cNvSpPr/>
          <p:nvPr/>
        </p:nvSpPr>
        <p:spPr>
          <a:xfrm>
            <a:off x="868680" y="3858768"/>
            <a:ext cx="1587168"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127627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SIMPLETIVITY</a:t>
            </a:r>
          </a:p>
        </p:txBody>
      </p:sp>
      <p:sp>
        <p:nvSpPr>
          <p:cNvPr id="21" name="vis:chip"/>
          <p:cNvSpPr/>
          <p:nvPr/>
        </p:nvSpPr>
        <p:spPr>
          <a:xfrm>
            <a:off x="2602152" y="3858768"/>
            <a:ext cx="1233424"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2757600" y="3895344"/>
            <a:ext cx="92252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5:54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not company material. Where it differs from this module, follow this module.</a:t>
            </a:r>
          </a:p>
        </p:txBody>
      </p:sp>
      <p:sp>
        <p:nvSpPr>
          <p:cNvPr id="25" name="nav:videobtn">
            <a:hlinkClick r:id="rId2"/>
          </p:cNvPr>
          <p:cNvSpPr/>
          <p:nvPr/>
        </p:nvSpPr>
        <p:spPr>
          <a:xfrm>
            <a:off x="868680" y="5230368"/>
            <a:ext cx="3017520" cy="493776"/>
          </a:xfrm>
          <a:prstGeom prst="roundRect">
            <a:avLst>
              <a:gd name="adj" fmla="val 11111"/>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Everything you need is already in this deck.</a:t>
            </a:r>
          </a:p>
        </p:txBody>
      </p:sp>
      <p:cxnSp>
        <p:nvCxnSpPr>
          <p:cNvPr id="35" name="vis:icon"/>
          <p:cNvCxnSpPr/>
          <p:nvPr/>
        </p:nvCxnSpPr>
        <p:spPr>
          <a:xfrm>
            <a:off x="8439424" y="3743919"/>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 prefer watching to reading.</a:t>
            </a:r>
          </a:p>
        </p:txBody>
      </p:sp>
      <p:cxnSp>
        <p:nvCxnSpPr>
          <p:cNvPr id="38" name="vis:icon"/>
          <p:cNvCxnSpPr/>
          <p:nvPr/>
        </p:nvCxnSpPr>
        <p:spPr>
          <a:xfrm>
            <a:off x="8439424" y="4859487"/>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of these is context?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"Under 100 words"</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client escalated to my director this morning"</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"End with a question"</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"Apologetic but firm"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"Under 100 words"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an instruction — it tells the tool what to do with the facts. Useful, but it describes the output rather than the situation.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Context is the situation. Instructions are the job.</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"The client escalated to my director this morning"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fact about the situation that changes how the whole message should read. Nobody could infer it, and it carries no identifying detail.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Context is the situation. Instructions are the job.</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"End with a question"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An instruction about the shape of the output. Good to include, but it tells the tool nothing about what is actually going 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Context is the situation. Instructions are the job.</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"Apologetic but firm"</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tone instruction. It shapes the wording, but the tool still has no idea what happened or who it is writing to.</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Context is the situation. Instructions are the job.</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does missing location cause?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Nothing — it writes neutrally</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Wrong currency, wrong rules, wrong holidays</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asks you where you are</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uses British English by default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Nothing — it writes neutrally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There is no neutral. Without a location it falls back on whatever dominated its training text, which means dollars, US law and American conventions.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 place means American defaults.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Wrong currency, wrong rules, wrong holidays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Exactly. You get dollars instead of rupees or dirhams, US labour assumptions, and references to holidays nobody in your office takes.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 place means American defaults.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It asks you where you are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Occasionally it will, and that is the good case. Far more often it simply assumes, and the assumption is invisible until a customer points it out.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 place means American defaults.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It uses British English by default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Language style is the least of it. The real cost is the legal, financial and calendar assumptions baked into the answer.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 place means American defaults.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How much context is right?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 much as you can possibly give it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Whatever a capable new colleague would need</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Only the task, nothing else</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Everything in the email thread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As much as you can possibly give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More is not better past a point. It reads emphasis from volume, so a long backstory pulls the answer towards the backstory and away from your request.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What a new colleague would need. Nothing more.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Whatever a capable new colleague would need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clean, fast test that works both ways. If they could not do the task without knowing it, include it. If they could, leave it out.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What a new colleague would need. Nothing more.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Only the task, nothing else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the too-little end, and it is where most disappointing answers come from. The tool fills every gap you leave with a plausible invention.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What a new colleague would need. Nothing more.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Everything in the email thread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This gives good context and terrible data hygiene. You have shared every name, address and internal comment in that thread to improve one paragraph.</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What a new colleague would need. Nothing more.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say what not to do?</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makes the tool try harder</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Some habits appear unless you rule them out</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shortens the answer</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stops hallucinations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It makes the tool try harder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There is no effort dial. What changes is the range of likely outputs — you have ruled out a pattern it would otherwise have reached for.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Naming the habit is what removes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Some habits appear unless you rule them out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Pleasantries, restating your request and triple apologies are extremely common in the text it learned from. Without an instruction they come back every single time.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Naming the habit is what removes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It shortens the answer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usually does, but that is a side effect. The real gain is that the words removed were the ones carrying no meaning.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Naming the habit is what removes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It stops hallucinations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Different problem. Negative instructions control style and habit. Invented facts are controlled by supplying the facts and saying "add nothing".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Naming the habit is what removes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Where should instructions go?</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stem"/>
          <p:cNvSpPr/>
          <p:nvPr/>
        </p:nvSpPr>
        <p:spPr>
          <a:xfrm>
            <a:off x="502920" y="1719072"/>
            <a:ext cx="11185855" cy="713232"/>
          </a:xfrm>
          <a:prstGeom prst="roundRect">
            <a:avLst>
              <a:gd name="adj" fmla="val 1025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780897" y="1976932"/>
            <a:ext cx="230428" cy="153619"/>
          </a:xfrm>
          <a:prstGeom prst="roundRect">
            <a:avLst>
              <a:gd name="adj" fmla="val 29761"/>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flipH="1">
            <a:off x="824788" y="2130552"/>
            <a:ext cx="10973" cy="6035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24788" y="2130552"/>
            <a:ext cx="60351" cy="6035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9" name="cell:stem"/>
          <p:cNvSpPr txBox="1"/>
          <p:nvPr/>
        </p:nvSpPr>
        <p:spPr>
          <a:xfrm>
            <a:off x="1197864" y="1828800"/>
            <a:ext cx="10234879" cy="493776"/>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You have four lines of context and three instructions to write into one prompt.</a:t>
            </a:r>
          </a:p>
        </p:txBody>
      </p:sp>
      <p:sp>
        <p:nvSpPr>
          <p:cNvPr id="20" name="quiz:answer">
            <a:hlinkClick action="ppaction://hlinksldjump" r:id="rId3"/>
          </p:cNvPr>
          <p:cNvSpPr/>
          <p:nvPr/>
        </p:nvSpPr>
        <p:spPr>
          <a:xfrm>
            <a:off x="502920"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
          <p:cNvSpPr/>
          <p:nvPr/>
        </p:nvSpPr>
        <p:spPr>
          <a:xfrm>
            <a:off x="740664" y="32506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answerkeytext"/>
          <p:cNvSpPr txBox="1"/>
          <p:nvPr/>
        </p:nvSpPr>
        <p:spPr>
          <a:xfrm>
            <a:off x="740664"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23" name="cell:answer"/>
          <p:cNvSpPr txBox="1"/>
          <p:nvPr/>
        </p:nvSpPr>
        <p:spPr>
          <a:xfrm>
            <a:off x="1252728"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Instructions first, context after</a:t>
            </a:r>
          </a:p>
        </p:txBody>
      </p:sp>
      <p:sp>
        <p:nvSpPr>
          <p:cNvPr id="24" name="quiz:answer">
            <a:hlinkClick action="ppaction://hlinksldjump" r:id="rId4"/>
          </p:cNvPr>
          <p:cNvSpPr/>
          <p:nvPr/>
        </p:nvSpPr>
        <p:spPr>
          <a:xfrm>
            <a:off x="6187287"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
          <p:cNvSpPr/>
          <p:nvPr/>
        </p:nvSpPr>
        <p:spPr>
          <a:xfrm>
            <a:off x="6425031" y="32506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answerkeytext"/>
          <p:cNvSpPr txBox="1"/>
          <p:nvPr/>
        </p:nvSpPr>
        <p:spPr>
          <a:xfrm>
            <a:off x="6425031"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7" name="cell:answer"/>
          <p:cNvSpPr txBox="1"/>
          <p:nvPr/>
        </p:nvSpPr>
        <p:spPr>
          <a:xfrm>
            <a:off x="6937095"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Context first, instructions last</a:t>
            </a:r>
          </a:p>
        </p:txBody>
      </p:sp>
      <p:sp>
        <p:nvSpPr>
          <p:cNvPr id="28" name="quiz:answer">
            <a:hlinkClick action="ppaction://hlinksldjump" r:id="rId5"/>
          </p:cNvPr>
          <p:cNvSpPr/>
          <p:nvPr/>
        </p:nvSpPr>
        <p:spPr>
          <a:xfrm>
            <a:off x="502920"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
          <p:cNvSpPr/>
          <p:nvPr/>
        </p:nvSpPr>
        <p:spPr>
          <a:xfrm>
            <a:off x="740664" y="50337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answerkeytext"/>
          <p:cNvSpPr txBox="1"/>
          <p:nvPr/>
        </p:nvSpPr>
        <p:spPr>
          <a:xfrm>
            <a:off x="740664"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31" name="cell:answer"/>
          <p:cNvSpPr txBox="1"/>
          <p:nvPr/>
        </p:nvSpPr>
        <p:spPr>
          <a:xfrm>
            <a:off x="1252728"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Alternate them line by line</a:t>
            </a:r>
          </a:p>
        </p:txBody>
      </p:sp>
      <p:sp>
        <p:nvSpPr>
          <p:cNvPr id="32" name="quiz:answer">
            <a:hlinkClick action="ppaction://hlinksldjump" r:id="rId6"/>
          </p:cNvPr>
          <p:cNvSpPr/>
          <p:nvPr/>
        </p:nvSpPr>
        <p:spPr>
          <a:xfrm>
            <a:off x="6187287"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answerkey"/>
          <p:cNvSpPr/>
          <p:nvPr/>
        </p:nvSpPr>
        <p:spPr>
          <a:xfrm>
            <a:off x="6425031" y="50337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answerkeytext"/>
          <p:cNvSpPr txBox="1"/>
          <p:nvPr/>
        </p:nvSpPr>
        <p:spPr>
          <a:xfrm>
            <a:off x="6425031"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5" name="cell:answer"/>
          <p:cNvSpPr txBox="1"/>
          <p:nvPr/>
        </p:nvSpPr>
        <p:spPr>
          <a:xfrm>
            <a:off x="6937095"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makes no difference at all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Instructions first, context after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Workable, but weaker. The last thing in a prompt tends to be followed most closely, and you want that position spent on length, tone and format.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Context first. Instructions last.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Context first, instructions last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Set the scene, then say what to do about it. The instruction sits closest to the answer, which is where it has most effect on length and tone.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Context first. Instructions last.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Alternate them line by line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Hard to read and hard to edit later. When you reuse the prompt next month you want two clean blocks you can update separately.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Context first. Instructions last.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It makes no difference at all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makes a modest but real difference, and it costs nothing to get right. More importantly, two labelled blocks are far easier to reuse.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Context first. Instructions last.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Context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Four lines it cannot guess</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Who is reading, what we do, where we are, why it matters now.</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Context is not instruction</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One describes the situation, the other says what to do with it. Label both.</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Say what not to do</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No pleasantries, no restating the request, one specific apology.</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Volume equals emphasis</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Whatever you write most about becomes what the answer is about.</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new colleague test</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Would they need this to do the job? If not, leave it out.</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Never identify anyone</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 useful context line can be written without a name or a number.</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A17CC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A17CC3"/>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A17CC3"/>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470"/>
              </a:lnSpc>
              <a:spcBef>
                <a:spcPts val="0"/>
              </a:spcBef>
              <a:spcAft>
                <a:spcPts val="0"/>
              </a:spcAft>
            </a:pPr>
            <a:r>
              <a:rPr sz="1900" b="0">
                <a:solidFill>
                  <a:srgbClr val="FFFFFF"/>
                </a:solidFill>
                <a:latin typeface="Segoe UI Semibold"/>
              </a:rPr>
              <a:t>Give it what a new colleague would need, and nothing a new colleague should never see.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63910" y="2400838"/>
            <a:ext cx="37278" cy="3727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930478" y="2419478"/>
            <a:ext cx="165090"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863910" y="2480720"/>
            <a:ext cx="37278" cy="3727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930478" y="2499359"/>
            <a:ext cx="165090"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2" name="vis:icon"/>
          <p:cNvSpPr/>
          <p:nvPr/>
        </p:nvSpPr>
        <p:spPr>
          <a:xfrm>
            <a:off x="863910" y="2560602"/>
            <a:ext cx="37278" cy="3727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930478" y="2579241"/>
            <a:ext cx="165090"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4"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four context lines</a:t>
            </a:r>
          </a:p>
        </p:txBody>
      </p:sp>
      <p:sp>
        <p:nvSpPr>
          <p:cNvPr id="25"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Reader, business, place, urgency. One clause each.</a:t>
            </a:r>
          </a:p>
        </p:txBody>
      </p:sp>
      <p:sp>
        <p:nvSpPr>
          <p:cNvPr id="26"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icon"/>
          <p:cNvSpPr/>
          <p:nvPr/>
        </p:nvSpPr>
        <p:spPr>
          <a:xfrm>
            <a:off x="861247" y="3284407"/>
            <a:ext cx="234320" cy="234320"/>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9" name="vis:icon"/>
          <p:cNvCxnSpPr/>
          <p:nvPr/>
        </p:nvCxnSpPr>
        <p:spPr>
          <a:xfrm>
            <a:off x="895863" y="3319023"/>
            <a:ext cx="165089" cy="165089"/>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0"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three do-not lines</a:t>
            </a:r>
          </a:p>
        </p:txBody>
      </p:sp>
      <p:sp>
        <p:nvSpPr>
          <p:cNvPr id="31"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No pleasantries, no preamble, one specific apology.</a:t>
            </a:r>
          </a:p>
        </p:txBody>
      </p:sp>
      <p:sp>
        <p:nvSpPr>
          <p:cNvPr id="32"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icon"/>
          <p:cNvSpPr/>
          <p:nvPr/>
        </p:nvSpPr>
        <p:spPr>
          <a:xfrm>
            <a:off x="861247" y="4223894"/>
            <a:ext cx="234320" cy="159763"/>
          </a:xfrm>
          <a:prstGeom prst="roundRect">
            <a:avLst>
              <a:gd name="adj" fmla="val 28617"/>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5" name="vis:icon"/>
          <p:cNvCxnSpPr/>
          <p:nvPr/>
        </p:nvCxnSpPr>
        <p:spPr>
          <a:xfrm>
            <a:off x="861247" y="4234544"/>
            <a:ext cx="117161" cy="85208"/>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978408" y="4234544"/>
            <a:ext cx="117160" cy="85208"/>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7"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context-and-instructions prompt</a:t>
            </a:r>
          </a:p>
        </p:txBody>
      </p:sp>
      <p:sp>
        <p:nvSpPr>
          <p:cNvPr id="38"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Two labelled blocks, works as written.</a:t>
            </a:r>
          </a:p>
        </p:txBody>
      </p:sp>
      <p:sp>
        <p:nvSpPr>
          <p:cNvPr id="39"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LINKS THAT WORK</a:t>
            </a:r>
          </a:p>
        </p:txBody>
      </p:sp>
      <p:sp>
        <p:nvSpPr>
          <p:cNvPr id="40"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339937" y="2300630"/>
            <a:ext cx="164592" cy="164592"/>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8482584" y="2443276"/>
            <a:ext cx="65836" cy="6583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43"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44"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a:rPr>
              <a:t>chatgpt.com</a:t>
            </a:r>
          </a:p>
        </p:txBody>
      </p:sp>
      <p:sp>
        <p:nvSpPr>
          <p:cNvPr id="45"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icon"/>
          <p:cNvSpPr/>
          <p:nvPr/>
        </p:nvSpPr>
        <p:spPr>
          <a:xfrm>
            <a:off x="8339937" y="2977286"/>
            <a:ext cx="164592" cy="164592"/>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7" name="vis:icon"/>
          <p:cNvCxnSpPr/>
          <p:nvPr/>
        </p:nvCxnSpPr>
        <p:spPr>
          <a:xfrm>
            <a:off x="8482584" y="3119932"/>
            <a:ext cx="65836" cy="6583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48"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49"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a:rPr>
              <a:t>copilot.microsoft.com</a:t>
            </a:r>
          </a:p>
        </p:txBody>
      </p:sp>
      <p:sp>
        <p:nvSpPr>
          <p:cNvPr id="50"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icon"/>
          <p:cNvSpPr/>
          <p:nvPr/>
        </p:nvSpPr>
        <p:spPr>
          <a:xfrm>
            <a:off x="8339937" y="3653942"/>
            <a:ext cx="164592" cy="164592"/>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2" name="vis:icon"/>
          <p:cNvCxnSpPr/>
          <p:nvPr/>
        </p:nvCxnSpPr>
        <p:spPr>
          <a:xfrm>
            <a:off x="8482584" y="3796588"/>
            <a:ext cx="65836" cy="6583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53"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54"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a:rPr>
              <a:t>gemini.google.com</a:t>
            </a:r>
          </a:p>
        </p:txBody>
      </p:sp>
      <p:sp>
        <p:nvSpPr>
          <p:cNvPr id="55"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6"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17CC3"/>
                </a:solidFill>
                <a:latin typeface="Segoe UI Semibold"/>
              </a:rPr>
              <a:t>DO THIS NEXT</a:t>
            </a:r>
          </a:p>
        </p:txBody>
      </p:sp>
      <p:sp>
        <p:nvSpPr>
          <p:cNvPr id="57"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module: PE-03, Role-Based Prompts. Telling it who to be changes the vocabulary, the assumptions and the level of detail you get back.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PE-02  ·  Instructions &amp; Context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Context</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background you give so the tool knows who the text is for and why it is being written.</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Instruction</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to do with that background: the task, the length, the tone, the format.</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Negative instruction</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Naming something you do not want, so a common habit is ruled out.</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Prompt</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Everything you type in: context plus instructions plus your facts.</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Token</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small piece of text, roughly three quarters of a word. Long prompts are counted in these.</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Output</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comes back. Your draft, which you are responsible for checking.</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