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4.xml"/><Relationship Id="rId7" Type="http://schemas.openxmlformats.org/officeDocument/2006/relationships/slide" Target="slide20.xml"/><Relationship Id="rId8" Type="http://schemas.openxmlformats.org/officeDocument/2006/relationships/slide" Target="slide24.xml"/><Relationship Id="rId9" Type="http://schemas.openxmlformats.org/officeDocument/2006/relationships/slide" Target="slide25.xml"/><Relationship Id="rId10" Type="http://schemas.openxmlformats.org/officeDocument/2006/relationships/slide" Target="slide50.xml"/><Relationship Id="rId11" Type="http://schemas.openxmlformats.org/officeDocument/2006/relationships/slide" Target="slide5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1.xml"/><Relationship Id="rId4" Type="http://schemas.openxmlformats.org/officeDocument/2006/relationships/slide" Target="slide22.xml"/><Relationship Id="rId5" Type="http://schemas.openxmlformats.org/officeDocument/2006/relationships/slide" Target="slide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xm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kOs8H4j0cFg" TargetMode="External"/><Relationship Id="rId3" Type="http://schemas.openxmlformats.org/officeDocument/2006/relationships/slide" Target="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6.xml"/><Relationship Id="rId4" Type="http://schemas.openxmlformats.org/officeDocument/2006/relationships/slide" Target="slide27.xml"/><Relationship Id="rId5" Type="http://schemas.openxmlformats.org/officeDocument/2006/relationships/slide" Target="slide28.xml"/><Relationship Id="rId6" Type="http://schemas.openxmlformats.org/officeDocument/2006/relationships/slide" Target="slide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0.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xml"/><Relationship Id="rId3" Type="http://schemas.openxmlformats.org/officeDocument/2006/relationships/slide" Target="slid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1.xml"/><Relationship Id="rId4" Type="http://schemas.openxmlformats.org/officeDocument/2006/relationships/slide" Target="slide32.xml"/><Relationship Id="rId5" Type="http://schemas.openxmlformats.org/officeDocument/2006/relationships/slide" Target="slide33.xml"/><Relationship Id="rId6" Type="http://schemas.openxmlformats.org/officeDocument/2006/relationships/slide" Target="slide3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0.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0.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5.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0.xml"/><Relationship Id="rId3" Type="http://schemas.openxmlformats.org/officeDocument/2006/relationships/slide" Target="slide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6.xml"/><Relationship Id="rId4" Type="http://schemas.openxmlformats.org/officeDocument/2006/relationships/slide" Target="slide37.xml"/><Relationship Id="rId5" Type="http://schemas.openxmlformats.org/officeDocument/2006/relationships/slide" Target="slide38.xml"/><Relationship Id="rId6" Type="http://schemas.openxmlformats.org/officeDocument/2006/relationships/slide" Target="slide3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5.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0.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5.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5.xml"/><Relationship Id="rId3" Type="http://schemas.openxmlformats.org/officeDocument/2006/relationships/slide" Target="slide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1.xml"/><Relationship Id="rId4" Type="http://schemas.openxmlformats.org/officeDocument/2006/relationships/slide" Target="slide42.xml"/><Relationship Id="rId5" Type="http://schemas.openxmlformats.org/officeDocument/2006/relationships/slide" Target="slide43.xml"/><Relationship Id="rId6" Type="http://schemas.openxmlformats.org/officeDocument/2006/relationships/slide" Target="slide4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0.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5.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0.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0.xml"/><Relationship Id="rId3" Type="http://schemas.openxmlformats.org/officeDocument/2006/relationships/slide" Target="slide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6.xml"/><Relationship Id="rId4" Type="http://schemas.openxmlformats.org/officeDocument/2006/relationships/slide" Target="slide47.xml"/><Relationship Id="rId5" Type="http://schemas.openxmlformats.org/officeDocument/2006/relationships/slide" Target="slide48.xml"/><Relationship Id="rId6" Type="http://schemas.openxmlformats.org/officeDocument/2006/relationships/slide" Target="slide4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5.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0.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5.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5.xml"/><Relationship Id="rId3"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gpt.com" TargetMode="External"/><Relationship Id="rId3" Type="http://schemas.openxmlformats.org/officeDocument/2006/relationships/hyperlink" Target="https://copilot.microsof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vis:coverphoto" descr="hero-prompting-basics.jpg"/>
          <p:cNvPicPr>
            <a:picLocks noChangeAspect="1"/>
          </p:cNvPicPr>
          <p:nvPr/>
        </p:nvPicPr>
        <p:blipFill>
          <a:blip r:embed="rId2"/>
          <a:srcRect l="22674" r="22674"/>
          <a:stretch>
            <a:fillRect/>
          </a:stretch>
        </p:blipFill>
        <p:spPr>
          <a:xfrm>
            <a:off x="5532120" y="0"/>
            <a:ext cx="6659575" cy="6858000"/>
          </a:xfrm>
          <a:prstGeom prst="rect">
            <a:avLst/>
          </a:prstGeom>
        </p:spPr>
      </p:pic>
      <p:sp>
        <p:nvSpPr>
          <p:cNvPr id="4" name="vis:coverpanel"/>
          <p:cNvSpPr/>
          <p:nvPr/>
        </p:nvSpPr>
        <p:spPr>
          <a:xfrm>
            <a:off x="0" y="0"/>
            <a:ext cx="5532120"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edge"/>
          <p:cNvSpPr/>
          <p:nvPr/>
        </p:nvSpPr>
        <p:spPr>
          <a:xfrm>
            <a:off x="5532120" y="0"/>
            <a:ext cx="64008" cy="685800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spine"/>
          <p:cNvSpPr/>
          <p:nvPr/>
        </p:nvSpPr>
        <p:spPr>
          <a:xfrm>
            <a:off x="0" y="0"/>
            <a:ext cx="201168" cy="685800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seclabel"/>
          <p:cNvSpPr txBox="1"/>
          <p:nvPr/>
        </p:nvSpPr>
        <p:spPr>
          <a:xfrm>
            <a:off x="841248" y="903731"/>
            <a:ext cx="418795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17CC3"/>
                </a:solidFill>
                <a:latin typeface="Segoe UI Semibold"/>
              </a:rPr>
              <a:t>PROMPT ENGINEERING</a:t>
            </a:r>
          </a:p>
        </p:txBody>
      </p:sp>
      <p:sp>
        <p:nvSpPr>
          <p:cNvPr id="8" name="title:cover"/>
          <p:cNvSpPr txBox="1"/>
          <p:nvPr/>
        </p:nvSpPr>
        <p:spPr>
          <a:xfrm>
            <a:off x="841248" y="1360931"/>
            <a:ext cx="4187952" cy="78130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Basic Prompting</a:t>
            </a:r>
          </a:p>
        </p:txBody>
      </p:sp>
      <p:cxnSp>
        <p:nvCxnSpPr>
          <p:cNvPr id="9" name="vis:rule"/>
          <p:cNvCxnSpPr/>
          <p:nvPr/>
        </p:nvCxnSpPr>
        <p:spPr>
          <a:xfrm>
            <a:off x="841248" y="2416556"/>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0" name="body:coversub"/>
          <p:cNvSpPr txBox="1"/>
          <p:nvPr/>
        </p:nvSpPr>
        <p:spPr>
          <a:xfrm>
            <a:off x="841248" y="2690876"/>
            <a:ext cx="4187952" cy="150774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The first prompt you ever write — and the six-part shape that makes it work every time, not just when you get lucky.</a:t>
            </a:r>
          </a:p>
        </p:txBody>
      </p:sp>
      <p:sp>
        <p:nvSpPr>
          <p:cNvPr id="11" name="vis:chip"/>
          <p:cNvSpPr/>
          <p:nvPr/>
        </p:nvSpPr>
        <p:spPr>
          <a:xfrm>
            <a:off x="841248" y="4600956"/>
            <a:ext cx="932434" cy="310896"/>
          </a:xfrm>
          <a:prstGeom prst="roundRect">
            <a:avLst>
              <a:gd name="adj" fmla="val 14705"/>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vis:chiptext"/>
          <p:cNvSpPr txBox="1"/>
          <p:nvPr/>
        </p:nvSpPr>
        <p:spPr>
          <a:xfrm>
            <a:off x="996696" y="4646675"/>
            <a:ext cx="62153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PE-01</a:t>
            </a:r>
          </a:p>
        </p:txBody>
      </p:sp>
      <p:sp>
        <p:nvSpPr>
          <p:cNvPr id="13" name="vis:chip"/>
          <p:cNvSpPr/>
          <p:nvPr/>
        </p:nvSpPr>
        <p:spPr>
          <a:xfrm>
            <a:off x="1919986" y="4600956"/>
            <a:ext cx="14817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vis:chiptext"/>
          <p:cNvSpPr txBox="1"/>
          <p:nvPr/>
        </p:nvSpPr>
        <p:spPr>
          <a:xfrm>
            <a:off x="2075434" y="4646675"/>
            <a:ext cx="117081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20 MINUTES</a:t>
            </a:r>
          </a:p>
        </p:txBody>
      </p:sp>
      <p:sp>
        <p:nvSpPr>
          <p:cNvPr id="15" name="vis:chip"/>
          <p:cNvSpPr/>
          <p:nvPr/>
        </p:nvSpPr>
        <p:spPr>
          <a:xfrm>
            <a:off x="841248" y="5021580"/>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996696" y="5067299"/>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17" name="cell:coverhint"/>
          <p:cNvSpPr txBox="1"/>
          <p:nvPr/>
        </p:nvSpPr>
        <p:spPr>
          <a:xfrm>
            <a:off x="841248" y="5724144"/>
            <a:ext cx="4187952"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8"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PE-01  ·  Basic Prompting</a:t>
            </a:r>
          </a:p>
        </p:txBody>
      </p:sp>
      <p:sp>
        <p:nvSpPr>
          <p:cNvPr id="19"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Anjali types four words and gets junk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09512" y="2247346"/>
            <a:ext cx="303551" cy="202367"/>
          </a:xfrm>
          <a:prstGeom prst="roundRect">
            <a:avLst>
              <a:gd name="adj" fmla="val 22592"/>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1067331" y="2449714"/>
            <a:ext cx="14455" cy="79501"/>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1067331" y="2449714"/>
            <a:ext cx="79502" cy="79501"/>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1"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Anjali handles client escalations for a Dubai office. She types "write reply to angry customer" and gets a bland three-paragraph letter with no order number and no promise in it. She deletes it and writes the email herself, the way she always has.</a:t>
            </a:r>
          </a:p>
        </p:txBody>
      </p:sp>
      <p:sp>
        <p:nvSpPr>
          <p:cNvPr id="22"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Twenty minutes lost — and a quiet decision that the tool does not work.</a:t>
            </a:r>
          </a:p>
        </p:txBody>
      </p:sp>
      <p:sp>
        <p:nvSpPr>
          <p:cNvPr id="28"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17CC3"/>
                </a:solidFill>
                <a:latin typeface="Segoe UI Semibold"/>
              </a:rPr>
              <a:t>AFTER THIS MODULE</a:t>
            </a:r>
          </a:p>
        </p:txBody>
      </p:sp>
      <p:cxnSp>
        <p:nvCxnSpPr>
          <p:cNvPr id="30"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1"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Six short parts, in one paragraph. The first draft comes back usable instead of generic.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36886" y="1969559"/>
            <a:ext cx="247634" cy="165089"/>
          </a:xfrm>
          <a:prstGeom prst="roundRect">
            <a:avLst>
              <a:gd name="adj" fmla="val 27694"/>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984055" y="2134648"/>
            <a:ext cx="11792" cy="6485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984055" y="2134648"/>
            <a:ext cx="64856" cy="6485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0"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Write a prompt with all six parts, without looking anything up</a:t>
            </a:r>
          </a:p>
        </p:txBody>
      </p:sp>
      <p:sp>
        <p:nvSpPr>
          <p:cNvPr id="21"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966367" y="2842086"/>
            <a:ext cx="188673" cy="259426"/>
          </a:xfrm>
          <a:prstGeom prst="roundRect">
            <a:avLst>
              <a:gd name="adj" fmla="val 24232"/>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1007639" y="2924631"/>
            <a:ext cx="106129"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a:off x="1007639" y="2971800"/>
            <a:ext cx="106129"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6" name="vis:icon"/>
          <p:cNvCxnSpPr/>
          <p:nvPr/>
        </p:nvCxnSpPr>
        <p:spPr>
          <a:xfrm>
            <a:off x="1007639" y="3018968"/>
            <a:ext cx="70753"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7"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Turn a vague request into a specific one in under 30 seconds</a:t>
            </a:r>
          </a:p>
        </p:txBody>
      </p:sp>
      <p:sp>
        <p:nvSpPr>
          <p:cNvPr id="28"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icon"/>
          <p:cNvSpPr/>
          <p:nvPr/>
        </p:nvSpPr>
        <p:spPr>
          <a:xfrm>
            <a:off x="930990" y="3755887"/>
            <a:ext cx="259426" cy="224049"/>
          </a:xfrm>
          <a:prstGeom prst="roundRect">
            <a:avLst>
              <a:gd name="adj" fmla="val 20406"/>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1" name="vis:icon"/>
          <p:cNvCxnSpPr/>
          <p:nvPr/>
        </p:nvCxnSpPr>
        <p:spPr>
          <a:xfrm>
            <a:off x="930990" y="3826639"/>
            <a:ext cx="259427"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2" name="vis:icon"/>
          <p:cNvCxnSpPr/>
          <p:nvPr/>
        </p:nvCxnSpPr>
        <p:spPr>
          <a:xfrm>
            <a:off x="1031223" y="3755887"/>
            <a:ext cx="0" cy="224049"/>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a:off x="930990" y="3903288"/>
            <a:ext cx="259427"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4"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Set length, tone and format so you are not fixing them afterwards</a:t>
            </a:r>
          </a:p>
        </p:txBody>
      </p:sp>
      <p:sp>
        <p:nvSpPr>
          <p:cNvPr id="35"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943035" y="4661901"/>
            <a:ext cx="235337" cy="220044"/>
          </a:xfrm>
          <a:custGeom>
            <a:avLst/>
            <a:gdLst/>
            <a:ahLst/>
            <a:cxnLst/>
            <a:rect l="l" t="t" r="r" b="b"/>
            <a:pathLst>
              <a:path w="235337" h="220044">
                <a:moveTo>
                  <a:pt x="176629" y="0"/>
                </a:moveTo>
                <a:lnTo>
                  <a:pt x="206326" y="24372"/>
                </a:lnTo>
                <a:lnTo>
                  <a:pt x="226613" y="56996"/>
                </a:lnTo>
                <a:lnTo>
                  <a:pt x="235337" y="94410"/>
                </a:lnTo>
                <a:lnTo>
                  <a:pt x="231571" y="132643"/>
                </a:lnTo>
                <a:lnTo>
                  <a:pt x="215716" y="167636"/>
                </a:lnTo>
                <a:lnTo>
                  <a:pt x="189454" y="195676"/>
                </a:lnTo>
                <a:lnTo>
                  <a:pt x="155573" y="213785"/>
                </a:lnTo>
                <a:lnTo>
                  <a:pt x="117669" y="220044"/>
                </a:lnTo>
                <a:lnTo>
                  <a:pt x="79764" y="213785"/>
                </a:lnTo>
                <a:lnTo>
                  <a:pt x="45883" y="195676"/>
                </a:lnTo>
                <a:lnTo>
                  <a:pt x="19621" y="167636"/>
                </a:lnTo>
                <a:lnTo>
                  <a:pt x="3766" y="132643"/>
                </a:lnTo>
                <a:lnTo>
                  <a:pt x="0" y="94410"/>
                </a:lnTo>
                <a:lnTo>
                  <a:pt x="8724" y="56996"/>
                </a:lnTo>
                <a:lnTo>
                  <a:pt x="29011" y="24372"/>
                </a:lnTo>
                <a:lnTo>
                  <a:pt x="58708" y="0"/>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vis:icon"/>
          <p:cNvSpPr/>
          <p:nvPr/>
        </p:nvSpPr>
        <p:spPr>
          <a:xfrm>
            <a:off x="988477" y="4638438"/>
            <a:ext cx="54244" cy="46578"/>
          </a:xfrm>
          <a:custGeom>
            <a:avLst/>
            <a:gdLst/>
            <a:ahLst/>
            <a:cxnLst/>
            <a:rect l="l" t="t" r="r" b="b"/>
            <a:pathLst>
              <a:path w="54244" h="46578">
                <a:moveTo>
                  <a:pt x="54244" y="0"/>
                </a:moveTo>
                <a:lnTo>
                  <a:pt x="26532" y="46578"/>
                </a:lnTo>
                <a:lnTo>
                  <a:pt x="0" y="589"/>
                </a:lnTo>
                <a:close/>
              </a:path>
            </a:pathLst>
          </a:cu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Repair a weak answer with one follow-up instead of starting again</a:t>
            </a:r>
          </a:p>
        </p:txBody>
      </p:sp>
      <p:sp>
        <p:nvSpPr>
          <p:cNvPr id="40"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984055" y="5542214"/>
            <a:ext cx="153297" cy="247634"/>
          </a:xfrm>
          <a:prstGeom prst="roundRect">
            <a:avLst>
              <a:gd name="adj" fmla="val 29824"/>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3" name="vis:icon"/>
          <p:cNvCxnSpPr/>
          <p:nvPr/>
        </p:nvCxnSpPr>
        <p:spPr>
          <a:xfrm>
            <a:off x="1019431" y="5612967"/>
            <a:ext cx="82545"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44" name="vis:icon"/>
          <p:cNvCxnSpPr/>
          <p:nvPr/>
        </p:nvCxnSpPr>
        <p:spPr>
          <a:xfrm>
            <a:off x="1019431" y="5666032"/>
            <a:ext cx="82545"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45" name="vis:icon"/>
          <p:cNvCxnSpPr/>
          <p:nvPr/>
        </p:nvCxnSpPr>
        <p:spPr>
          <a:xfrm>
            <a:off x="1019431" y="5719096"/>
            <a:ext cx="58961"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6"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Keep your best prompts so you never have to write them twice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Why prompts fail</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four-word problem</a:t>
            </a:r>
          </a:p>
        </p:txBody>
      </p:sp>
      <p:cxnSp>
        <p:nvCxnSpPr>
          <p:cNvPr id="13" name="vis:menuarrow"/>
          <p:cNvCxnSpPr/>
          <p:nvPr/>
        </p:nvCxnSpPr>
        <p:spPr>
          <a:xfrm>
            <a:off x="11213287" y="1997049"/>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six parts</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shape of every good prompt</a:t>
            </a:r>
          </a:p>
        </p:txBody>
      </p:sp>
      <p:cxnSp>
        <p:nvCxnSpPr>
          <p:cNvPr id="19" name="vis:menuarrow"/>
          <p:cNvCxnSpPr/>
          <p:nvPr/>
        </p:nvCxnSpPr>
        <p:spPr>
          <a:xfrm>
            <a:off x="11213287" y="2424988"/>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Build one now</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Do it live, with your own email</a:t>
            </a:r>
          </a:p>
        </p:txBody>
      </p:sp>
      <p:cxnSp>
        <p:nvCxnSpPr>
          <p:cNvPr id="25" name="vis:menuarrow"/>
          <p:cNvCxnSpPr/>
          <p:nvPr/>
        </p:nvCxnSpPr>
        <p:spPr>
          <a:xfrm>
            <a:off x="11213287" y="2852928"/>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Set the output</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Length, tone and format</a:t>
            </a:r>
          </a:p>
        </p:txBody>
      </p:sp>
      <p:cxnSp>
        <p:nvCxnSpPr>
          <p:cNvPr id="31" name="vis:menuarrow"/>
          <p:cNvCxnSpPr/>
          <p:nvPr/>
        </p:nvCxnSpPr>
        <p:spPr>
          <a:xfrm>
            <a:off x="11213287" y="3280867"/>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Fix a weak answer</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One follow-up, not a restart</a:t>
            </a:r>
          </a:p>
        </p:txBody>
      </p:sp>
      <p:cxnSp>
        <p:nvCxnSpPr>
          <p:cNvPr id="37" name="vis:menuarrow"/>
          <p:cNvCxnSpPr/>
          <p:nvPr/>
        </p:nvCxnSpPr>
        <p:spPr>
          <a:xfrm>
            <a:off x="11213287" y="3708806"/>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Tuesday afternoon decision</a:t>
            </a:r>
          </a:p>
        </p:txBody>
      </p:sp>
      <p:cxnSp>
        <p:nvCxnSpPr>
          <p:cNvPr id="43" name="vis:menuarrow"/>
          <p:cNvCxnSpPr/>
          <p:nvPr/>
        </p:nvCxnSpPr>
        <p:spPr>
          <a:xfrm>
            <a:off x="11213287" y="4136745"/>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4-minute outside formula</a:t>
            </a:r>
          </a:p>
        </p:txBody>
      </p:sp>
      <p:cxnSp>
        <p:nvCxnSpPr>
          <p:cNvPr id="49" name="vis:menuarrow"/>
          <p:cNvCxnSpPr/>
          <p:nvPr/>
        </p:nvCxnSpPr>
        <p:spPr>
          <a:xfrm>
            <a:off x="11213287" y="4564684"/>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PROMPTS FAIL</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"write an email" fails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The tool is not guessing badly. It is guessing — because you left it nothing else to do.</a:t>
            </a:r>
          </a:p>
        </p:txBody>
      </p:sp>
      <p:sp>
        <p:nvSpPr>
          <p:cNvPr id="16" name="vis:panel"/>
          <p:cNvSpPr/>
          <p:nvPr/>
        </p:nvSpPr>
        <p:spPr>
          <a:xfrm>
            <a:off x="502920" y="2706624"/>
            <a:ext cx="5437479" cy="3310128"/>
          </a:xfrm>
          <a:prstGeom prst="roundRect">
            <a:avLst>
              <a:gd name="adj" fmla="val 276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anelspine"/>
          <p:cNvSpPr/>
          <p:nvPr/>
        </p:nvSpPr>
        <p:spPr>
          <a:xfrm>
            <a:off x="502920" y="2706624"/>
            <a:ext cx="68580" cy="3310128"/>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
          <p:cNvSpPr/>
          <p:nvPr/>
        </p:nvSpPr>
        <p:spPr>
          <a:xfrm>
            <a:off x="777240" y="2944368"/>
            <a:ext cx="1943205"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chiptext"/>
          <p:cNvSpPr txBox="1"/>
          <p:nvPr/>
        </p:nvSpPr>
        <p:spPr>
          <a:xfrm>
            <a:off x="932688" y="2971799"/>
            <a:ext cx="163230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YOU TYPED</a:t>
            </a:r>
          </a:p>
        </p:txBody>
      </p:sp>
      <p:sp>
        <p:nvSpPr>
          <p:cNvPr id="20" name="vis:paneltitle"/>
          <p:cNvSpPr txBox="1"/>
          <p:nvPr/>
        </p:nvSpPr>
        <p:spPr>
          <a:xfrm>
            <a:off x="777240" y="3364991"/>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write reply to angry customer</a:t>
            </a:r>
          </a:p>
        </p:txBody>
      </p:sp>
      <p:sp>
        <p:nvSpPr>
          <p:cNvPr id="21" name="vis:icon"/>
          <p:cNvSpPr/>
          <p:nvPr/>
        </p:nvSpPr>
        <p:spPr>
          <a:xfrm>
            <a:off x="801014" y="4071823"/>
            <a:ext cx="153619" cy="102412"/>
          </a:xfrm>
          <a:prstGeom prst="roundRect">
            <a:avLst>
              <a:gd name="adj" fmla="val 44642"/>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flipH="1">
            <a:off x="830275" y="4174235"/>
            <a:ext cx="7315" cy="40234"/>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30275" y="4174235"/>
            <a:ext cx="40233" cy="40234"/>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vis:panelitem"/>
          <p:cNvSpPr txBox="1"/>
          <p:nvPr/>
        </p:nvSpPr>
        <p:spPr>
          <a:xfrm>
            <a:off x="1078992" y="4005072"/>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No order number, so it cannot mention one</a:t>
            </a:r>
          </a:p>
        </p:txBody>
      </p:sp>
      <p:sp>
        <p:nvSpPr>
          <p:cNvPr id="25" name="vis:icon"/>
          <p:cNvSpPr/>
          <p:nvPr/>
        </p:nvSpPr>
        <p:spPr>
          <a:xfrm>
            <a:off x="801014" y="4519879"/>
            <a:ext cx="153619" cy="102412"/>
          </a:xfrm>
          <a:prstGeom prst="roundRect">
            <a:avLst>
              <a:gd name="adj" fmla="val 44642"/>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6" name="vis:icon"/>
          <p:cNvCxnSpPr/>
          <p:nvPr/>
        </p:nvCxnSpPr>
        <p:spPr>
          <a:xfrm flipH="1">
            <a:off x="830275" y="4622292"/>
            <a:ext cx="7315" cy="40233"/>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flipV="1">
            <a:off x="830275" y="4622292"/>
            <a:ext cx="40233" cy="40233"/>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8" name="vis:panelitem"/>
          <p:cNvSpPr txBox="1"/>
          <p:nvPr/>
        </p:nvSpPr>
        <p:spPr>
          <a:xfrm>
            <a:off x="1078992" y="4453128"/>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No reason, so it apologises for nothing in particular</a:t>
            </a:r>
          </a:p>
        </p:txBody>
      </p:sp>
      <p:sp>
        <p:nvSpPr>
          <p:cNvPr id="29" name="vis:icon"/>
          <p:cNvSpPr/>
          <p:nvPr/>
        </p:nvSpPr>
        <p:spPr>
          <a:xfrm>
            <a:off x="801014" y="4967935"/>
            <a:ext cx="153619" cy="102412"/>
          </a:xfrm>
          <a:prstGeom prst="roundRect">
            <a:avLst>
              <a:gd name="adj" fmla="val 44642"/>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0" name="vis:icon"/>
          <p:cNvCxnSpPr/>
          <p:nvPr/>
        </p:nvCxnSpPr>
        <p:spPr>
          <a:xfrm flipH="1">
            <a:off x="830275" y="5070348"/>
            <a:ext cx="7315" cy="40233"/>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830275" y="5070348"/>
            <a:ext cx="40233" cy="40233"/>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2" name="vis:panelitem"/>
          <p:cNvSpPr txBox="1"/>
          <p:nvPr/>
        </p:nvSpPr>
        <p:spPr>
          <a:xfrm>
            <a:off x="1078992" y="4901184"/>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No length, so you get six paragraphs</a:t>
            </a:r>
          </a:p>
        </p:txBody>
      </p:sp>
      <p:sp>
        <p:nvSpPr>
          <p:cNvPr id="33" name="vis:icon"/>
          <p:cNvSpPr/>
          <p:nvPr/>
        </p:nvSpPr>
        <p:spPr>
          <a:xfrm>
            <a:off x="801014" y="5415991"/>
            <a:ext cx="153619" cy="102412"/>
          </a:xfrm>
          <a:prstGeom prst="roundRect">
            <a:avLst>
              <a:gd name="adj" fmla="val 44642"/>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flipH="1">
            <a:off x="830275" y="5518404"/>
            <a:ext cx="7315" cy="40233"/>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flipV="1">
            <a:off x="830275" y="5518404"/>
            <a:ext cx="40233" cy="40233"/>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6" name="vis:panelitem"/>
          <p:cNvSpPr txBox="1"/>
          <p:nvPr/>
        </p:nvSpPr>
        <p:spPr>
          <a:xfrm>
            <a:off x="1078992" y="5349240"/>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No tone, so it sounds like a form letter</a:t>
            </a:r>
          </a:p>
        </p:txBody>
      </p:sp>
      <p:sp>
        <p:nvSpPr>
          <p:cNvPr id="37" name="vis:panel"/>
          <p:cNvSpPr/>
          <p:nvPr/>
        </p:nvSpPr>
        <p:spPr>
          <a:xfrm>
            <a:off x="6251295" y="2706624"/>
            <a:ext cx="5437479" cy="3310128"/>
          </a:xfrm>
          <a:prstGeom prst="roundRect">
            <a:avLst>
              <a:gd name="adj" fmla="val 276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panelspine"/>
          <p:cNvSpPr/>
          <p:nvPr/>
        </p:nvSpPr>
        <p:spPr>
          <a:xfrm>
            <a:off x="6251295" y="2706624"/>
            <a:ext cx="68580" cy="331012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chip"/>
          <p:cNvSpPr/>
          <p:nvPr/>
        </p:nvSpPr>
        <p:spPr>
          <a:xfrm>
            <a:off x="6525615" y="2944368"/>
            <a:ext cx="2531115"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chiptext"/>
          <p:cNvSpPr txBox="1"/>
          <p:nvPr/>
        </p:nvSpPr>
        <p:spPr>
          <a:xfrm>
            <a:off x="6681063" y="2971799"/>
            <a:ext cx="222021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IT HAD TO INVENT</a:t>
            </a:r>
          </a:p>
        </p:txBody>
      </p:sp>
      <p:sp>
        <p:nvSpPr>
          <p:cNvPr id="41" name="vis:paneltitle"/>
          <p:cNvSpPr txBox="1"/>
          <p:nvPr/>
        </p:nvSpPr>
        <p:spPr>
          <a:xfrm>
            <a:off x="6525615" y="3364991"/>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Everything else</a:t>
            </a:r>
          </a:p>
        </p:txBody>
      </p:sp>
      <p:cxnSp>
        <p:nvCxnSpPr>
          <p:cNvPr id="42" name="vis:icon"/>
          <p:cNvCxnSpPr/>
          <p:nvPr/>
        </p:nvCxnSpPr>
        <p:spPr>
          <a:xfrm>
            <a:off x="6567677" y="4079138"/>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flipH="1">
            <a:off x="6567677" y="4079138"/>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4" name="vis:panelitem"/>
          <p:cNvSpPr txBox="1"/>
          <p:nvPr/>
        </p:nvSpPr>
        <p:spPr>
          <a:xfrm>
            <a:off x="6827367" y="4005072"/>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Who the customer is and what they bought</a:t>
            </a:r>
          </a:p>
        </p:txBody>
      </p:sp>
      <p:cxnSp>
        <p:nvCxnSpPr>
          <p:cNvPr id="45" name="vis:icon"/>
          <p:cNvCxnSpPr/>
          <p:nvPr/>
        </p:nvCxnSpPr>
        <p:spPr>
          <a:xfrm>
            <a:off x="6567677" y="4527194"/>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6" name="vis:icon"/>
          <p:cNvCxnSpPr/>
          <p:nvPr/>
        </p:nvCxnSpPr>
        <p:spPr>
          <a:xfrm flipH="1">
            <a:off x="6567677" y="4527194"/>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7" name="vis:panelitem"/>
          <p:cNvSpPr txBox="1"/>
          <p:nvPr/>
        </p:nvSpPr>
        <p:spPr>
          <a:xfrm>
            <a:off x="6827367" y="4453128"/>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What actually went wrong, and whose fault it was</a:t>
            </a:r>
          </a:p>
        </p:txBody>
      </p:sp>
      <p:cxnSp>
        <p:nvCxnSpPr>
          <p:cNvPr id="48" name="vis:icon"/>
          <p:cNvCxnSpPr/>
          <p:nvPr/>
        </p:nvCxnSpPr>
        <p:spPr>
          <a:xfrm>
            <a:off x="6567677" y="4975250"/>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9" name="vis:icon"/>
          <p:cNvCxnSpPr/>
          <p:nvPr/>
        </p:nvCxnSpPr>
        <p:spPr>
          <a:xfrm flipH="1">
            <a:off x="6567677" y="4975250"/>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50" name="vis:panelitem"/>
          <p:cNvSpPr txBox="1"/>
          <p:nvPr/>
        </p:nvSpPr>
        <p:spPr>
          <a:xfrm>
            <a:off x="6827367" y="4901184"/>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What you are willing to promise them</a:t>
            </a:r>
          </a:p>
        </p:txBody>
      </p:sp>
      <p:cxnSp>
        <p:nvCxnSpPr>
          <p:cNvPr id="51" name="vis:icon"/>
          <p:cNvCxnSpPr/>
          <p:nvPr/>
        </p:nvCxnSpPr>
        <p:spPr>
          <a:xfrm>
            <a:off x="6567677" y="5423306"/>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52" name="vis:icon"/>
          <p:cNvCxnSpPr/>
          <p:nvPr/>
        </p:nvCxnSpPr>
        <p:spPr>
          <a:xfrm flipH="1">
            <a:off x="6567677" y="5423306"/>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53" name="vis:panelitem"/>
          <p:cNvSpPr txBox="1"/>
          <p:nvPr/>
        </p:nvSpPr>
        <p:spPr>
          <a:xfrm>
            <a:off x="6827367" y="5349240"/>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Whether this is an email, a WhatsApp or a call note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PROMPTS FAIL</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 prompt is a briefing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Think of it as briefing a capable temp on their first morning. They will do exactly what you describe, and invent the rest.</a:t>
            </a:r>
          </a:p>
        </p:txBody>
      </p:sp>
      <p:sp>
        <p:nvSpPr>
          <p:cNvPr id="16" name="vis:flowcard"/>
          <p:cNvSpPr/>
          <p:nvPr/>
        </p:nvSpPr>
        <p:spPr>
          <a:xfrm>
            <a:off x="502920"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
          <p:cNvSpPr/>
          <p:nvPr/>
        </p:nvSpPr>
        <p:spPr>
          <a:xfrm>
            <a:off x="685800" y="3026663"/>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flownumtext"/>
          <p:cNvSpPr txBox="1"/>
          <p:nvPr/>
        </p:nvSpPr>
        <p:spPr>
          <a:xfrm>
            <a:off x="685800"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9" name="vis:flowtitle"/>
          <p:cNvSpPr txBox="1"/>
          <p:nvPr/>
        </p:nvSpPr>
        <p:spPr>
          <a:xfrm>
            <a:off x="704088"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brief it</a:t>
            </a:r>
          </a:p>
        </p:txBody>
      </p:sp>
      <p:sp>
        <p:nvSpPr>
          <p:cNvPr id="20" name="vis:flowsub"/>
          <p:cNvSpPr txBox="1"/>
          <p:nvPr/>
        </p:nvSpPr>
        <p:spPr>
          <a:xfrm>
            <a:off x="704088"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Task, context, facts, format — in plain sentences.</a:t>
            </a:r>
          </a:p>
        </p:txBody>
      </p:sp>
      <p:cxnSp>
        <p:nvCxnSpPr>
          <p:cNvPr id="21" name="vis:flowarrow"/>
          <p:cNvCxnSpPr/>
          <p:nvPr/>
        </p:nvCxnSpPr>
        <p:spPr>
          <a:xfrm>
            <a:off x="3093643" y="4169663"/>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vis:flowcard"/>
          <p:cNvSpPr/>
          <p:nvPr/>
        </p:nvSpPr>
        <p:spPr>
          <a:xfrm>
            <a:off x="3395395"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
          <p:cNvSpPr/>
          <p:nvPr/>
        </p:nvSpPr>
        <p:spPr>
          <a:xfrm>
            <a:off x="3578275" y="3026663"/>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flownumtext"/>
          <p:cNvSpPr txBox="1"/>
          <p:nvPr/>
        </p:nvSpPr>
        <p:spPr>
          <a:xfrm>
            <a:off x="3578275"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5" name="vis:flowtitle"/>
          <p:cNvSpPr txBox="1"/>
          <p:nvPr/>
        </p:nvSpPr>
        <p:spPr>
          <a:xfrm>
            <a:off x="3596563"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It fills the gaps</a:t>
            </a:r>
          </a:p>
        </p:txBody>
      </p:sp>
      <p:sp>
        <p:nvSpPr>
          <p:cNvPr id="26" name="vis:flowsub"/>
          <p:cNvSpPr txBox="1"/>
          <p:nvPr/>
        </p:nvSpPr>
        <p:spPr>
          <a:xfrm>
            <a:off x="3596563"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Anything you left out, it invents a reasonable version of.</a:t>
            </a:r>
          </a:p>
        </p:txBody>
      </p:sp>
      <p:cxnSp>
        <p:nvCxnSpPr>
          <p:cNvPr id="27" name="vis:flowarrow"/>
          <p:cNvCxnSpPr/>
          <p:nvPr/>
        </p:nvCxnSpPr>
        <p:spPr>
          <a:xfrm>
            <a:off x="5986119" y="4169663"/>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vis:flowcard"/>
          <p:cNvSpPr/>
          <p:nvPr/>
        </p:nvSpPr>
        <p:spPr>
          <a:xfrm>
            <a:off x="6287871"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
          <p:cNvSpPr/>
          <p:nvPr/>
        </p:nvSpPr>
        <p:spPr>
          <a:xfrm>
            <a:off x="6470751" y="3026663"/>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flownumtext"/>
          <p:cNvSpPr txBox="1"/>
          <p:nvPr/>
        </p:nvSpPr>
        <p:spPr>
          <a:xfrm>
            <a:off x="6470751"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1" name="vis:flowtitle"/>
          <p:cNvSpPr txBox="1"/>
          <p:nvPr/>
        </p:nvSpPr>
        <p:spPr>
          <a:xfrm>
            <a:off x="6489039"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get a draft</a:t>
            </a:r>
          </a:p>
        </p:txBody>
      </p:sp>
      <p:sp>
        <p:nvSpPr>
          <p:cNvPr id="32" name="vis:flowsub"/>
          <p:cNvSpPr txBox="1"/>
          <p:nvPr/>
        </p:nvSpPr>
        <p:spPr>
          <a:xfrm>
            <a:off x="6489039"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Specific if you were specific. Generic if you were vague.</a:t>
            </a:r>
          </a:p>
        </p:txBody>
      </p:sp>
      <p:cxnSp>
        <p:nvCxnSpPr>
          <p:cNvPr id="33" name="vis:flowarrow"/>
          <p:cNvCxnSpPr/>
          <p:nvPr/>
        </p:nvCxnSpPr>
        <p:spPr>
          <a:xfrm>
            <a:off x="8878595" y="4169663"/>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vis:flowcard"/>
          <p:cNvSpPr/>
          <p:nvPr/>
        </p:nvSpPr>
        <p:spPr>
          <a:xfrm>
            <a:off x="9180347"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
          <p:cNvSpPr/>
          <p:nvPr/>
        </p:nvSpPr>
        <p:spPr>
          <a:xfrm>
            <a:off x="9363227" y="3026663"/>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flownumtext"/>
          <p:cNvSpPr txBox="1"/>
          <p:nvPr/>
        </p:nvSpPr>
        <p:spPr>
          <a:xfrm>
            <a:off x="9363227"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7" name="vis:flowtitle"/>
          <p:cNvSpPr txBox="1"/>
          <p:nvPr/>
        </p:nvSpPr>
        <p:spPr>
          <a:xfrm>
            <a:off x="9381515"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check and send</a:t>
            </a:r>
          </a:p>
        </p:txBody>
      </p:sp>
      <p:sp>
        <p:nvSpPr>
          <p:cNvPr id="38" name="vis:flowsub"/>
          <p:cNvSpPr txBox="1"/>
          <p:nvPr/>
        </p:nvSpPr>
        <p:spPr>
          <a:xfrm>
            <a:off x="9381515"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Two minutes of checking, not twenty of rewriting.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SIX PARTS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six parts of a good prompt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Say these six things and there is almost nothing left for the tool to guess.</a:t>
            </a:r>
          </a:p>
        </p:txBody>
      </p:sp>
      <p:sp>
        <p:nvSpPr>
          <p:cNvPr id="16" name="vis:checktile"/>
          <p:cNvSpPr/>
          <p:nvPr/>
        </p:nvSpPr>
        <p:spPr>
          <a:xfrm>
            <a:off x="502920" y="2432304"/>
            <a:ext cx="5483199" cy="1048512"/>
          </a:xfrm>
          <a:prstGeom prst="roundRect">
            <a:avLst>
              <a:gd name="adj" fmla="val 87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eckdot"/>
          <p:cNvSpPr/>
          <p:nvPr/>
        </p:nvSpPr>
        <p:spPr>
          <a:xfrm>
            <a:off x="722376" y="280111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815279" y="296003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860450" y="290791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cell:checkitem"/>
          <p:cNvSpPr txBox="1"/>
          <p:nvPr/>
        </p:nvSpPr>
        <p:spPr>
          <a:xfrm>
            <a:off x="1161288" y="2578608"/>
            <a:ext cx="4605375" cy="755904"/>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TASK — what you want made. "Write a reply email."</a:t>
            </a:r>
          </a:p>
        </p:txBody>
      </p:sp>
      <p:sp>
        <p:nvSpPr>
          <p:cNvPr id="21" name="vis:checktile"/>
          <p:cNvSpPr/>
          <p:nvPr/>
        </p:nvSpPr>
        <p:spPr>
          <a:xfrm>
            <a:off x="6205575" y="2432304"/>
            <a:ext cx="5483199" cy="1048512"/>
          </a:xfrm>
          <a:prstGeom prst="roundRect">
            <a:avLst>
              <a:gd name="adj" fmla="val 87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eckdot"/>
          <p:cNvSpPr/>
          <p:nvPr/>
        </p:nvSpPr>
        <p:spPr>
          <a:xfrm>
            <a:off x="6425031" y="280111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6517934" y="296003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V="1">
            <a:off x="6563106" y="290791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cell:checkitem"/>
          <p:cNvSpPr txBox="1"/>
          <p:nvPr/>
        </p:nvSpPr>
        <p:spPr>
          <a:xfrm>
            <a:off x="6863943" y="2578608"/>
            <a:ext cx="4605375" cy="755904"/>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CONTEXT — who it is for and why. "To a client whose delivery slipped."</a:t>
            </a:r>
          </a:p>
        </p:txBody>
      </p:sp>
      <p:sp>
        <p:nvSpPr>
          <p:cNvPr id="26" name="vis:checktile"/>
          <p:cNvSpPr/>
          <p:nvPr/>
        </p:nvSpPr>
        <p:spPr>
          <a:xfrm>
            <a:off x="502920" y="3700272"/>
            <a:ext cx="5483199" cy="1048512"/>
          </a:xfrm>
          <a:prstGeom prst="roundRect">
            <a:avLst>
              <a:gd name="adj" fmla="val 87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eckdot"/>
          <p:cNvSpPr/>
          <p:nvPr/>
        </p:nvSpPr>
        <p:spPr>
          <a:xfrm>
            <a:off x="722376" y="4069080"/>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815279" y="4228002"/>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9" name="vis:icon"/>
          <p:cNvCxnSpPr/>
          <p:nvPr/>
        </p:nvCxnSpPr>
        <p:spPr>
          <a:xfrm flipV="1">
            <a:off x="860450" y="4175881"/>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0" name="cell:checkitem"/>
          <p:cNvSpPr txBox="1"/>
          <p:nvPr/>
        </p:nvSpPr>
        <p:spPr>
          <a:xfrm>
            <a:off x="1161288" y="3846576"/>
            <a:ext cx="4605375" cy="755904"/>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FACTS — the details only you have. "Order 4471, due 12 March, now 15 March."</a:t>
            </a:r>
          </a:p>
        </p:txBody>
      </p:sp>
      <p:sp>
        <p:nvSpPr>
          <p:cNvPr id="31" name="vis:checktile"/>
          <p:cNvSpPr/>
          <p:nvPr/>
        </p:nvSpPr>
        <p:spPr>
          <a:xfrm>
            <a:off x="6205575" y="3700272"/>
            <a:ext cx="5483199" cy="1048512"/>
          </a:xfrm>
          <a:prstGeom prst="roundRect">
            <a:avLst>
              <a:gd name="adj" fmla="val 87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eckdot"/>
          <p:cNvSpPr/>
          <p:nvPr/>
        </p:nvSpPr>
        <p:spPr>
          <a:xfrm>
            <a:off x="6425031" y="4069080"/>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6517934" y="4228002"/>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563106" y="4175881"/>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cell:checkitem"/>
          <p:cNvSpPr txBox="1"/>
          <p:nvPr/>
        </p:nvSpPr>
        <p:spPr>
          <a:xfrm>
            <a:off x="6863943" y="3846576"/>
            <a:ext cx="4605375" cy="755904"/>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TONE — how it should sound. "Apologetic but calm."</a:t>
            </a:r>
          </a:p>
        </p:txBody>
      </p:sp>
      <p:sp>
        <p:nvSpPr>
          <p:cNvPr id="36" name="vis:checktile"/>
          <p:cNvSpPr/>
          <p:nvPr/>
        </p:nvSpPr>
        <p:spPr>
          <a:xfrm>
            <a:off x="502920" y="4968240"/>
            <a:ext cx="5483199" cy="1048512"/>
          </a:xfrm>
          <a:prstGeom prst="roundRect">
            <a:avLst>
              <a:gd name="adj" fmla="val 87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checkdot"/>
          <p:cNvSpPr/>
          <p:nvPr/>
        </p:nvSpPr>
        <p:spPr>
          <a:xfrm>
            <a:off x="722376" y="5337048"/>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815279" y="5495970"/>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60450" y="544384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cell:checkitem"/>
          <p:cNvSpPr txBox="1"/>
          <p:nvPr/>
        </p:nvSpPr>
        <p:spPr>
          <a:xfrm>
            <a:off x="1161288" y="5114544"/>
            <a:ext cx="4605375" cy="755904"/>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LENGTH — how long. "Under 120 words."</a:t>
            </a:r>
          </a:p>
        </p:txBody>
      </p:sp>
      <p:sp>
        <p:nvSpPr>
          <p:cNvPr id="41" name="vis:checktile"/>
          <p:cNvSpPr/>
          <p:nvPr/>
        </p:nvSpPr>
        <p:spPr>
          <a:xfrm>
            <a:off x="6205575" y="4968240"/>
            <a:ext cx="5483199" cy="1048512"/>
          </a:xfrm>
          <a:prstGeom prst="roundRect">
            <a:avLst>
              <a:gd name="adj" fmla="val 87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checkdot"/>
          <p:cNvSpPr/>
          <p:nvPr/>
        </p:nvSpPr>
        <p:spPr>
          <a:xfrm>
            <a:off x="6425031" y="5337048"/>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3" name="vis:icon"/>
          <p:cNvCxnSpPr/>
          <p:nvPr/>
        </p:nvCxnSpPr>
        <p:spPr>
          <a:xfrm>
            <a:off x="6517934" y="5495970"/>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4" name="vis:icon"/>
          <p:cNvCxnSpPr/>
          <p:nvPr/>
        </p:nvCxnSpPr>
        <p:spPr>
          <a:xfrm flipV="1">
            <a:off x="6563106" y="544384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5" name="cell:checkitem"/>
          <p:cNvSpPr txBox="1"/>
          <p:nvPr/>
        </p:nvSpPr>
        <p:spPr>
          <a:xfrm>
            <a:off x="6863943" y="5114544"/>
            <a:ext cx="4605375" cy="755904"/>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FORMAT — the shape you want back. "An email with a subject 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SIX PARTS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six parts, in one paragraph</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You do not need headings or bullet points. Write it the way you would say it out loud.</a:t>
            </a:r>
          </a:p>
        </p:txBody>
      </p:sp>
      <p:sp>
        <p:nvSpPr>
          <p:cNvPr id="16" name="vis:promptcard"/>
          <p:cNvSpPr/>
          <p:nvPr/>
        </p:nvSpPr>
        <p:spPr>
          <a:xfrm>
            <a:off x="502920" y="2706624"/>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romptbar"/>
          <p:cNvSpPr/>
          <p:nvPr/>
        </p:nvSpPr>
        <p:spPr>
          <a:xfrm>
            <a:off x="502920" y="2706624"/>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739932" y="2828787"/>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775045" y="2951683"/>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775045" y="2951683"/>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vis:copybtn"/>
          <p:cNvSpPr/>
          <p:nvPr/>
        </p:nvSpPr>
        <p:spPr>
          <a:xfrm>
            <a:off x="5577981" y="2779776"/>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5761592" y="2845612"/>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5780246" y="288292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291090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a:off x="5780246" y="2938881"/>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6" name="vis:copytext"/>
          <p:cNvSpPr txBox="1"/>
          <p:nvPr/>
        </p:nvSpPr>
        <p:spPr>
          <a:xfrm>
            <a:off x="5989461" y="2839212"/>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7" name="vis:prompthdr"/>
          <p:cNvSpPr txBox="1"/>
          <p:nvPr/>
        </p:nvSpPr>
        <p:spPr>
          <a:xfrm>
            <a:off x="1051560" y="2816352"/>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8" name="card:prompt"/>
          <p:cNvSpPr txBox="1"/>
          <p:nvPr/>
        </p:nvSpPr>
        <p:spPr>
          <a:xfrm>
            <a:off x="777240" y="3255264"/>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Write a reply email to a client whose delivery slipped. Order 4471 was promised on 12 March and will now arrive on 15 March, delayed by a transport strike. Tone: apologetic but calm. Under 120 words. Give me a subject line too.</a:t>
            </a:r>
          </a:p>
        </p:txBody>
      </p:sp>
      <p:sp>
        <p:nvSpPr>
          <p:cNvPr id="29" name="vis:promptcap"/>
          <p:cNvSpPr txBox="1"/>
          <p:nvPr/>
        </p:nvSpPr>
        <p:spPr>
          <a:xfrm>
            <a:off x="777240" y="4380992"/>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Six parts, one paragraph, 42 words. It works as written.</a:t>
            </a:r>
          </a:p>
        </p:txBody>
      </p:sp>
      <p:sp>
        <p:nvSpPr>
          <p:cNvPr id="30" name="seclabel"/>
          <p:cNvSpPr txBox="1"/>
          <p:nvPr/>
        </p:nvSpPr>
        <p:spPr>
          <a:xfrm>
            <a:off x="7803910" y="2761488"/>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THIS WORKS</a:t>
            </a:r>
          </a:p>
        </p:txBody>
      </p:sp>
      <p:cxnSp>
        <p:nvCxnSpPr>
          <p:cNvPr id="31" name="vis:icon"/>
          <p:cNvCxnSpPr/>
          <p:nvPr/>
        </p:nvCxnSpPr>
        <p:spPr>
          <a:xfrm>
            <a:off x="7850361" y="3305007"/>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2" name="vis:icon"/>
          <p:cNvCxnSpPr/>
          <p:nvPr/>
        </p:nvCxnSpPr>
        <p:spPr>
          <a:xfrm flipV="1">
            <a:off x="7902665" y="3244656"/>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3" name="cell:why"/>
          <p:cNvSpPr txBox="1"/>
          <p:nvPr/>
        </p:nvSpPr>
        <p:spPr>
          <a:xfrm>
            <a:off x="8187958" y="3145536"/>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Every gap is filled, so nothing has to be invented.</a:t>
            </a:r>
          </a:p>
        </p:txBody>
      </p:sp>
      <p:cxnSp>
        <p:nvCxnSpPr>
          <p:cNvPr id="34" name="vis:icon"/>
          <p:cNvCxnSpPr/>
          <p:nvPr/>
        </p:nvCxnSpPr>
        <p:spPr>
          <a:xfrm>
            <a:off x="7850361" y="4237695"/>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flipV="1">
            <a:off x="7902665" y="4177344"/>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6" name="cell:why"/>
          <p:cNvSpPr txBox="1"/>
          <p:nvPr/>
        </p:nvSpPr>
        <p:spPr>
          <a:xfrm>
            <a:off x="8187958" y="407822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Each fact in the reply can be checked against your prompt.</a:t>
            </a:r>
          </a:p>
        </p:txBody>
      </p:sp>
      <p:cxnSp>
        <p:nvCxnSpPr>
          <p:cNvPr id="37" name="vis:icon"/>
          <p:cNvCxnSpPr/>
          <p:nvPr/>
        </p:nvCxnSpPr>
        <p:spPr>
          <a:xfrm>
            <a:off x="7850361" y="5170383"/>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7902665" y="5110032"/>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9" name="cell:why"/>
          <p:cNvSpPr txBox="1"/>
          <p:nvPr/>
        </p:nvSpPr>
        <p:spPr>
          <a:xfrm>
            <a:off x="8187958" y="501091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No headings needed — plain sentences are enough.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BUILD ONE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Build one now, with your own work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tepnum"/>
          <p:cNvSpPr/>
          <p:nvPr/>
        </p:nvSpPr>
        <p:spPr>
          <a:xfrm>
            <a:off x="502920" y="2027681"/>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Pick a real message you actually have to send today.</a:t>
            </a:r>
          </a:p>
        </p:txBody>
      </p:sp>
      <p:sp>
        <p:nvSpPr>
          <p:cNvPr id="19" name="vis:stepnum"/>
          <p:cNvSpPr/>
          <p:nvPr/>
        </p:nvSpPr>
        <p:spPr>
          <a:xfrm>
            <a:off x="502920" y="3138677"/>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Say the six parts out loud first. It takes thirty seconds.</a:t>
            </a:r>
          </a:p>
        </p:txBody>
      </p:sp>
      <p:sp>
        <p:nvSpPr>
          <p:cNvPr id="23" name="vis:stepnum"/>
          <p:cNvSpPr/>
          <p:nvPr/>
        </p:nvSpPr>
        <p:spPr>
          <a:xfrm>
            <a:off x="502920" y="4249674"/>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Type them as one paragraph. Do not format it, do not use bullet points.</a:t>
            </a:r>
          </a:p>
        </p:txBody>
      </p:sp>
      <p:sp>
        <p:nvSpPr>
          <p:cNvPr id="27" name="vis:stepnum"/>
          <p:cNvSpPr/>
          <p:nvPr/>
        </p:nvSpPr>
        <p:spPr>
          <a:xfrm>
            <a:off x="502920" y="5360670"/>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Read the reply and count how many of your facts it used.</a:t>
            </a:r>
          </a:p>
        </p:txBody>
      </p:sp>
      <p:sp>
        <p:nvSpPr>
          <p:cNvPr id="30" name="vis:promptcard"/>
          <p:cNvSpPr/>
          <p:nvPr/>
        </p:nvSpPr>
        <p:spPr>
          <a:xfrm>
            <a:off x="6461607" y="1719072"/>
            <a:ext cx="5227167" cy="2609087"/>
          </a:xfrm>
          <a:prstGeom prst="roundRect">
            <a:avLst>
              <a:gd name="adj" fmla="val 3504"/>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38683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Write a short WhatsApp message to a supplier chasing a pending delivery. PO 2290 was due on 8 April and has not arrived. This is the second time we have followed up. Tone: firm but polite. Under 60 words. Just the message, no greeting block.</a:t>
            </a:r>
          </a:p>
        </p:txBody>
      </p:sp>
      <p:sp>
        <p:nvSpPr>
          <p:cNvPr id="43" name="vis:promptcap"/>
          <p:cNvSpPr txBox="1"/>
          <p:nvPr/>
        </p:nvSpPr>
        <p:spPr>
          <a:xfrm>
            <a:off x="6735927" y="385571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Try this one first, then rewrite it with your own PO number.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BUILD ONE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words versus six parts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159600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128511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FOUR WORDS</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You type:  write reply to angry customer</a:t>
            </a:r>
          </a:p>
          <a:p>
            <a:pPr algn="l">
              <a:lnSpc>
                <a:spcPts val="1690"/>
              </a:lnSpc>
              <a:spcBef>
                <a:spcPts val="0"/>
              </a:spcBef>
              <a:spcAft>
                <a:spcPts val="600"/>
              </a:spcAft>
            </a:pPr>
            <a:r>
              <a:rPr sz="1300" b="0">
                <a:solidFill>
                  <a:srgbClr val="2A3547"/>
                </a:solidFill>
                <a:latin typeface="Segoe UI"/>
              </a:rPr>
              <a:t>You get a letter that apologises for "the inconvenience" three times and names nothing at all.</a:t>
            </a:r>
          </a:p>
          <a:p>
            <a:pPr algn="l">
              <a:lnSpc>
                <a:spcPts val="1690"/>
              </a:lnSpc>
              <a:spcBef>
                <a:spcPts val="0"/>
              </a:spcBef>
              <a:spcAft>
                <a:spcPts val="600"/>
              </a:spcAft>
            </a:pPr>
            <a:r>
              <a:rPr sz="1300" b="0">
                <a:solidFill>
                  <a:srgbClr val="2A3547"/>
                </a:solidFill>
                <a:latin typeface="Segoe UI"/>
              </a:rPr>
              <a:t>You delete it and write the email yourself. Twenty minutes gone.</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1317680"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00678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SIX PARTS</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You type the six-part paragraph from two slides back.</a:t>
            </a:r>
          </a:p>
          <a:p>
            <a:pPr algn="l">
              <a:lnSpc>
                <a:spcPts val="1690"/>
              </a:lnSpc>
              <a:spcBef>
                <a:spcPts val="0"/>
              </a:spcBef>
              <a:spcAft>
                <a:spcPts val="600"/>
              </a:spcAft>
            </a:pPr>
            <a:r>
              <a:rPr sz="1300" b="0">
                <a:solidFill>
                  <a:srgbClr val="2A3547"/>
                </a:solidFill>
                <a:latin typeface="Segoe UI"/>
              </a:rPr>
              <a:t>You get a 110-word reply carrying the order number, both dates and one clear apology.</a:t>
            </a:r>
          </a:p>
          <a:p>
            <a:pPr algn="l">
              <a:lnSpc>
                <a:spcPts val="1690"/>
              </a:lnSpc>
              <a:spcBef>
                <a:spcPts val="0"/>
              </a:spcBef>
              <a:spcAft>
                <a:spcPts val="600"/>
              </a:spcAft>
            </a:pPr>
            <a:r>
              <a:rPr sz="1300" b="0">
                <a:solidFill>
                  <a:srgbClr val="2A3547"/>
                </a:solidFill>
                <a:latin typeface="Segoe UI"/>
              </a:rPr>
              <a:t>You check the dates, change one word, and send. Three minutes.</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Same tool, same afternoon. The difference was thirty seconds of typing.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SET THE OUTPUT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Length, tone and format do the work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55789" y="2190229"/>
            <a:ext cx="301269" cy="301269"/>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V="1">
            <a:off x="1106424" y="2251852"/>
            <a:ext cx="0" cy="89011"/>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106424" y="2340863"/>
            <a:ext cx="75317" cy="27389"/>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0"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Length</a:t>
            </a:r>
          </a:p>
        </p:txBody>
      </p:sp>
      <p:sp>
        <p:nvSpPr>
          <p:cNvPr id="21"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"Under 120 words." "Exactly five bullets." "Two sentences." Always say a number.</a:t>
            </a:r>
          </a:p>
        </p:txBody>
      </p:sp>
      <p:sp>
        <p:nvSpPr>
          <p:cNvPr id="22"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4782694" y="2217617"/>
            <a:ext cx="287575" cy="191716"/>
          </a:xfrm>
          <a:prstGeom prst="roundRect">
            <a:avLst>
              <a:gd name="adj" fmla="val 23847"/>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flipH="1">
            <a:off x="4837471" y="2409334"/>
            <a:ext cx="13694" cy="7531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6" name="vis:icon"/>
          <p:cNvCxnSpPr/>
          <p:nvPr/>
        </p:nvCxnSpPr>
        <p:spPr>
          <a:xfrm flipV="1">
            <a:off x="4837471" y="2409334"/>
            <a:ext cx="75317" cy="7531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7"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Tone</a:t>
            </a:r>
          </a:p>
        </p:txBody>
      </p:sp>
      <p:sp>
        <p:nvSpPr>
          <p:cNvPr id="28"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"Apologetic but calm." "Direct, no small talk." "Warm — this client has been with us nine years."</a:t>
            </a:r>
          </a:p>
        </p:txBody>
      </p:sp>
      <p:sp>
        <p:nvSpPr>
          <p:cNvPr id="29"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icon"/>
          <p:cNvSpPr/>
          <p:nvPr/>
        </p:nvSpPr>
        <p:spPr>
          <a:xfrm>
            <a:off x="8595906" y="2210770"/>
            <a:ext cx="301269" cy="260187"/>
          </a:xfrm>
          <a:prstGeom prst="roundRect">
            <a:avLst>
              <a:gd name="adj" fmla="val 17571"/>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595906" y="2292934"/>
            <a:ext cx="301269"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a:off x="8712305" y="2210770"/>
            <a:ext cx="0" cy="26018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a:off x="8595906" y="2381946"/>
            <a:ext cx="301269"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5"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Format</a:t>
            </a:r>
          </a:p>
        </p:txBody>
      </p:sp>
      <p:sp>
        <p:nvSpPr>
          <p:cNvPr id="36"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table with three columns." "An email with a subject line." "Five bullets, no introduction."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SET THE OUTPUT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Ask for a table, get a table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promptcard"/>
          <p:cNvSpPr/>
          <p:nvPr/>
        </p:nvSpPr>
        <p:spPr>
          <a:xfrm>
            <a:off x="502920" y="1719072"/>
            <a:ext cx="5816644" cy="2609087"/>
          </a:xfrm>
          <a:prstGeom prst="roundRect">
            <a:avLst>
              <a:gd name="adj" fmla="val 3504"/>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4459395" y="1792224"/>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464300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4661660" y="189536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4661660" y="192334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4870875"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5268004" cy="138683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Turn this into a table with three columns: item, problem, who fixes it. One row per item and no extra commentary. Items: printer on the 2nd floor jams every third print; meeting room AC has not cooled since Monday; visitor wifi password is not working for guests.</a:t>
            </a:r>
          </a:p>
        </p:txBody>
      </p:sp>
      <p:sp>
        <p:nvSpPr>
          <p:cNvPr id="28" name="vis:promptcap"/>
          <p:cNvSpPr txBox="1"/>
          <p:nvPr/>
        </p:nvSpPr>
        <p:spPr>
          <a:xfrm>
            <a:off x="777240" y="3855719"/>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"No extra commentary" is the part people forget.</a:t>
            </a:r>
          </a:p>
        </p:txBody>
      </p:sp>
      <p:sp>
        <p:nvSpPr>
          <p:cNvPr id="29" name="vis:outcard"/>
          <p:cNvSpPr/>
          <p:nvPr/>
        </p:nvSpPr>
        <p:spPr>
          <a:xfrm>
            <a:off x="6685324" y="1719072"/>
            <a:ext cx="5003450" cy="2609087"/>
          </a:xfrm>
          <a:prstGeom prst="roundRect">
            <a:avLst>
              <a:gd name="adj" fmla="val 350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outspine"/>
          <p:cNvSpPr/>
          <p:nvPr/>
        </p:nvSpPr>
        <p:spPr>
          <a:xfrm>
            <a:off x="6685324" y="1719072"/>
            <a:ext cx="68580" cy="2609087"/>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ip"/>
          <p:cNvSpPr/>
          <p:nvPr/>
        </p:nvSpPr>
        <p:spPr>
          <a:xfrm>
            <a:off x="6941356" y="1920240"/>
            <a:ext cx="2087885"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text"/>
          <p:cNvSpPr txBox="1"/>
          <p:nvPr/>
        </p:nvSpPr>
        <p:spPr>
          <a:xfrm>
            <a:off x="7096804" y="1947672"/>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3" name="vis:outbody"/>
          <p:cNvSpPr txBox="1"/>
          <p:nvPr/>
        </p:nvSpPr>
        <p:spPr>
          <a:xfrm>
            <a:off x="6941356" y="2359152"/>
            <a:ext cx="4491386" cy="1749551"/>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A clean three-column table with three rows, and nothing else around it.</a:t>
            </a:r>
          </a:p>
          <a:p>
            <a:pPr algn="l">
              <a:lnSpc>
                <a:spcPts val="1690"/>
              </a:lnSpc>
              <a:spcBef>
                <a:spcPts val="0"/>
              </a:spcBef>
              <a:spcAft>
                <a:spcPts val="600"/>
              </a:spcAft>
            </a:pPr>
            <a:r>
              <a:rPr sz="1300" b="0">
                <a:solidFill>
                  <a:srgbClr val="2A3547"/>
                </a:solidFill>
                <a:latin typeface="Segoe UI"/>
              </a:rPr>
              <a:t>No "Here is your table", no closing sentence — because you asked for no extra commentary.</a:t>
            </a:r>
          </a:p>
          <a:p>
            <a:pPr algn="l">
              <a:lnSpc>
                <a:spcPts val="1690"/>
              </a:lnSpc>
              <a:spcBef>
                <a:spcPts val="0"/>
              </a:spcBef>
              <a:spcAft>
                <a:spcPts val="600"/>
              </a:spcAft>
            </a:pPr>
            <a:r>
              <a:rPr sz="1300" b="0">
                <a:solidFill>
                  <a:srgbClr val="2A3547"/>
                </a:solidFill>
                <a:latin typeface="Segoe UI"/>
              </a:rPr>
              <a:t>You can paste it straight into an email or a Word file without deleting anything.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SET THE OUTPUT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that make a prompt worse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"Make it professional"</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cannot tell what that means to you. Say "no slang, no exclamation marks, full sentences".</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"Make it better"</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Better than what? Name the change: shorter, warmer, fewer numbers, one apology instead of three.</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"Urgent" and "ASAP"</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tool has no clock and no queue. You spent a word on urgency instead of on the order number.</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"...and so on"</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will invent the rest of your list. Write out every item you actually want covered.</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"Summarise this" with nothing attached</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There is nothing to summarise, so you get a general paragraph about the topic. Paste the text first.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FIX A WEAK ANSWER</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One follow-up beats a restart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promptcard"/>
          <p:cNvSpPr/>
          <p:nvPr/>
        </p:nvSpPr>
        <p:spPr>
          <a:xfrm>
            <a:off x="502920" y="1719072"/>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follow-up</a:t>
            </a:r>
          </a:p>
        </p:txBody>
      </p:sp>
      <p:sp>
        <p:nvSpPr>
          <p:cNvPr id="27" name="card:prompt"/>
          <p:cNvSpPr txBox="1"/>
          <p:nvPr/>
        </p:nvSpPr>
        <p:spPr>
          <a:xfrm>
            <a:off x="777240" y="2267712"/>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That is close. Keep the first two paragraphs exactly as they are. Replace the last paragraph with one line confirming the new delivery date of 15 March. Cut the whole thing to under 100 words.</a:t>
            </a:r>
          </a:p>
        </p:txBody>
      </p:sp>
      <p:sp>
        <p:nvSpPr>
          <p:cNvPr id="28" name="vis:promptcap"/>
          <p:cNvSpPr txBox="1"/>
          <p:nvPr/>
        </p:nvSpPr>
        <p:spPr>
          <a:xfrm>
            <a:off x="777240" y="3393440"/>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Protect, then change, then give the new fact.</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keeps the part that already worked.</a:t>
            </a:r>
          </a:p>
        </p:txBody>
      </p:sp>
      <p:cxnSp>
        <p:nvCxnSpPr>
          <p:cNvPr id="33" name="vis:icon"/>
          <p:cNvCxnSpPr/>
          <p:nvPr/>
        </p:nvCxnSpPr>
        <p:spPr>
          <a:xfrm>
            <a:off x="7850361" y="3250143"/>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names the change, so nothing else moves.</a:t>
            </a:r>
          </a:p>
        </p:txBody>
      </p:sp>
      <p:cxnSp>
        <p:nvCxnSpPr>
          <p:cNvPr id="36" name="vis:icon"/>
          <p:cNvCxnSpPr/>
          <p:nvPr/>
        </p:nvCxnSpPr>
        <p:spPr>
          <a:xfrm>
            <a:off x="7850361" y="4182831"/>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supplies the new fact, so nothing gets invented.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FIX A WEAK ANSWER</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Three follow-ups that always work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55789" y="2190229"/>
            <a:ext cx="301269" cy="301269"/>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V="1">
            <a:off x="1106424" y="2251852"/>
            <a:ext cx="0" cy="89011"/>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106424" y="2340863"/>
            <a:ext cx="75317" cy="27389"/>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0"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Cut it down</a:t>
            </a:r>
          </a:p>
        </p:txBody>
      </p:sp>
      <p:sp>
        <p:nvSpPr>
          <p:cNvPr id="21"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"Half the length, same facts, keep both dates." A target plus something to protect.</a:t>
            </a:r>
          </a:p>
        </p:txBody>
      </p:sp>
      <p:sp>
        <p:nvSpPr>
          <p:cNvPr id="22"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4861435" y="2193652"/>
            <a:ext cx="130093" cy="130093"/>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4789541" y="2375099"/>
            <a:ext cx="273881" cy="119823"/>
          </a:xfrm>
          <a:custGeom>
            <a:avLst/>
            <a:gdLst/>
            <a:ahLst/>
            <a:cxnLst/>
            <a:rect l="l" t="t" r="r" b="b"/>
            <a:pathLst>
              <a:path w="273881" h="119823">
                <a:moveTo>
                  <a:pt x="0" y="119823"/>
                </a:moveTo>
                <a:lnTo>
                  <a:pt x="20541" y="0"/>
                </a:lnTo>
                <a:lnTo>
                  <a:pt x="253340" y="0"/>
                </a:lnTo>
                <a:lnTo>
                  <a:pt x="273881" y="119823"/>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Change the reader</a:t>
            </a:r>
          </a:p>
        </p:txBody>
      </p:sp>
      <p:sp>
        <p:nvSpPr>
          <p:cNvPr id="27"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"Rewrite this for a client who is already annoyed with us." The facts stay, the tone moves.</a:t>
            </a:r>
          </a:p>
        </p:txBody>
      </p:sp>
      <p:sp>
        <p:nvSpPr>
          <p:cNvPr id="28"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icon"/>
          <p:cNvSpPr/>
          <p:nvPr/>
        </p:nvSpPr>
        <p:spPr>
          <a:xfrm>
            <a:off x="8599329" y="2214193"/>
            <a:ext cx="47929" cy="47929"/>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1" name="vis:icon"/>
          <p:cNvCxnSpPr/>
          <p:nvPr/>
        </p:nvCxnSpPr>
        <p:spPr>
          <a:xfrm>
            <a:off x="8684917" y="2238158"/>
            <a:ext cx="21225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2" name="vis:icon"/>
          <p:cNvSpPr/>
          <p:nvPr/>
        </p:nvSpPr>
        <p:spPr>
          <a:xfrm>
            <a:off x="8599329" y="2316899"/>
            <a:ext cx="47929" cy="47929"/>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684917" y="2340863"/>
            <a:ext cx="21225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4" name="vis:icon"/>
          <p:cNvSpPr/>
          <p:nvPr/>
        </p:nvSpPr>
        <p:spPr>
          <a:xfrm>
            <a:off x="8599329" y="2419604"/>
            <a:ext cx="47929" cy="47929"/>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vis:icon"/>
          <p:cNvCxnSpPr/>
          <p:nvPr/>
        </p:nvCxnSpPr>
        <p:spPr>
          <a:xfrm>
            <a:off x="8684917" y="2443569"/>
            <a:ext cx="21225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6"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Ask for options</a:t>
            </a:r>
          </a:p>
        </p:txBody>
      </p:sp>
      <p:sp>
        <p:nvSpPr>
          <p:cNvPr id="37"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"Give me three versions, numbered, and say what is different about each."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FIX A WEAK ANSWER</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not to bother prompting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Is the answer already written down somewhere?</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571079" y="3937040"/>
            <a:ext cx="66568"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V="1">
            <a:off x="637647" y="3860231"/>
            <a:ext cx="122896"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Write the prompt</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have the facts in your head or on the screen in front of you, and what you actually need is the wording. This is exactly what prompting is for.</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7730026" y="3834627"/>
            <a:ext cx="153619" cy="153619"/>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7863163" y="3967764"/>
            <a:ext cx="61448" cy="61448"/>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Go and get it</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GST rate, a clause in the contract, last month's dispatch number. Opening the file takes less time than checking an answer that might be invented.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FIX A WEAK ANSWER</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Keep your best prompts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The people who get the most out of these tools are not the fastest typists. They are the ones with ten good prompts saved.</a:t>
            </a:r>
          </a:p>
        </p:txBody>
      </p:sp>
      <p:sp>
        <p:nvSpPr>
          <p:cNvPr id="16" name="vis:checktile"/>
          <p:cNvSpPr/>
          <p:nvPr/>
        </p:nvSpPr>
        <p:spPr>
          <a:xfrm>
            <a:off x="502920"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eckdot"/>
          <p:cNvSpPr/>
          <p:nvPr/>
        </p:nvSpPr>
        <p:spPr>
          <a:xfrm>
            <a:off x="722376" y="338785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815279" y="3546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860450" y="3494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cell:checkitem"/>
          <p:cNvSpPr txBox="1"/>
          <p:nvPr/>
        </p:nvSpPr>
        <p:spPr>
          <a:xfrm>
            <a:off x="1161288"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The day a prompt works, paste it into a notes file. Not next week — that day.</a:t>
            </a:r>
          </a:p>
        </p:txBody>
      </p:sp>
      <p:sp>
        <p:nvSpPr>
          <p:cNvPr id="21" name="vis:checktile"/>
          <p:cNvSpPr/>
          <p:nvPr/>
        </p:nvSpPr>
        <p:spPr>
          <a:xfrm>
            <a:off x="6205575"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eckdot"/>
          <p:cNvSpPr/>
          <p:nvPr/>
        </p:nvSpPr>
        <p:spPr>
          <a:xfrm>
            <a:off x="6425031" y="338785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6517934" y="3546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V="1">
            <a:off x="6563106" y="3494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cell:checkitem"/>
          <p:cNvSpPr txBox="1"/>
          <p:nvPr/>
        </p:nvSpPr>
        <p:spPr>
          <a:xfrm>
            <a:off x="6863943"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Name it the way you would search for it: "late delivery email".</a:t>
            </a:r>
          </a:p>
        </p:txBody>
      </p:sp>
      <p:sp>
        <p:nvSpPr>
          <p:cNvPr id="26" name="vis:checktile"/>
          <p:cNvSpPr/>
          <p:nvPr/>
        </p:nvSpPr>
        <p:spPr>
          <a:xfrm>
            <a:off x="502920" y="447141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eckdot"/>
          <p:cNvSpPr/>
          <p:nvPr/>
        </p:nvSpPr>
        <p:spPr>
          <a:xfrm>
            <a:off x="722376" y="5024628"/>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815279" y="5183550"/>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9" name="vis:icon"/>
          <p:cNvCxnSpPr/>
          <p:nvPr/>
        </p:nvCxnSpPr>
        <p:spPr>
          <a:xfrm flipV="1">
            <a:off x="860450" y="513142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0" name="cell:checkitem"/>
          <p:cNvSpPr txBox="1"/>
          <p:nvPr/>
        </p:nvSpPr>
        <p:spPr>
          <a:xfrm>
            <a:off x="1161288" y="461772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Swap the specifics for brackets so you can refill them next time.</a:t>
            </a:r>
          </a:p>
        </p:txBody>
      </p:sp>
      <p:sp>
        <p:nvSpPr>
          <p:cNvPr id="31" name="vis:checktile"/>
          <p:cNvSpPr/>
          <p:nvPr/>
        </p:nvSpPr>
        <p:spPr>
          <a:xfrm>
            <a:off x="6205575" y="447141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eckdot"/>
          <p:cNvSpPr/>
          <p:nvPr/>
        </p:nvSpPr>
        <p:spPr>
          <a:xfrm>
            <a:off x="6425031" y="5024628"/>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6517934" y="5183550"/>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563106" y="513142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cell:checkitem"/>
          <p:cNvSpPr txBox="1"/>
          <p:nvPr/>
        </p:nvSpPr>
        <p:spPr>
          <a:xfrm>
            <a:off x="6863943" y="461772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Put it where the team can find it: [COMPANY INPUT NEEDED: where the shared prompt library lives].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FIX A WEAK ANSWER</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 prompt you can reuse tomorrow</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promptcard"/>
          <p:cNvSpPr/>
          <p:nvPr/>
        </p:nvSpPr>
        <p:spPr>
          <a:xfrm>
            <a:off x="502920" y="1719072"/>
            <a:ext cx="5816644" cy="2609087"/>
          </a:xfrm>
          <a:prstGeom prst="roundRect">
            <a:avLst>
              <a:gd name="adj" fmla="val 3504"/>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4459395" y="1792224"/>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464300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4661660" y="189536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4661660" y="192334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4870875"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5268004" cy="138683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Write a [type of message] to [who it is for]. Situation: [what happened, in one sentence]. Facts: [the dates, numbers and names you are willing to share]. Tone: [how it should sound]. Length: under [number] words. Format: [email with a subject line / plain message / bullets].</a:t>
            </a:r>
          </a:p>
        </p:txBody>
      </p:sp>
      <p:sp>
        <p:nvSpPr>
          <p:cNvPr id="28" name="vis:promptcap"/>
          <p:cNvSpPr txBox="1"/>
          <p:nvPr/>
        </p:nvSpPr>
        <p:spPr>
          <a:xfrm>
            <a:off x="777240" y="3855719"/>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Six brackets. That is the whole method.</a:t>
            </a:r>
          </a:p>
        </p:txBody>
      </p:sp>
      <p:sp>
        <p:nvSpPr>
          <p:cNvPr id="29" name="vis:outcard"/>
          <p:cNvSpPr/>
          <p:nvPr/>
        </p:nvSpPr>
        <p:spPr>
          <a:xfrm>
            <a:off x="6685324" y="1719072"/>
            <a:ext cx="5003450" cy="2609087"/>
          </a:xfrm>
          <a:prstGeom prst="roundRect">
            <a:avLst>
              <a:gd name="adj" fmla="val 350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outspine"/>
          <p:cNvSpPr/>
          <p:nvPr/>
        </p:nvSpPr>
        <p:spPr>
          <a:xfrm>
            <a:off x="6685324" y="1719072"/>
            <a:ext cx="68580" cy="2609087"/>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ip"/>
          <p:cNvSpPr/>
          <p:nvPr/>
        </p:nvSpPr>
        <p:spPr>
          <a:xfrm>
            <a:off x="6941356" y="1920240"/>
            <a:ext cx="2905329"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text"/>
          <p:cNvSpPr txBox="1"/>
          <p:nvPr/>
        </p:nvSpPr>
        <p:spPr>
          <a:xfrm>
            <a:off x="7096804" y="1947672"/>
            <a:ext cx="25944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FILLED IN, IT LOOKS LIKE THIS</a:t>
            </a:r>
          </a:p>
        </p:txBody>
      </p:sp>
      <p:sp>
        <p:nvSpPr>
          <p:cNvPr id="33" name="vis:outbody"/>
          <p:cNvSpPr txBox="1"/>
          <p:nvPr/>
        </p:nvSpPr>
        <p:spPr>
          <a:xfrm>
            <a:off x="6941356" y="2359152"/>
            <a:ext cx="4491386" cy="1749551"/>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"Write a WhatsApp message to our transporter. Situation: the 8 April pickup did not happen."</a:t>
            </a:r>
          </a:p>
          <a:p>
            <a:pPr algn="l">
              <a:lnSpc>
                <a:spcPts val="1690"/>
              </a:lnSpc>
              <a:spcBef>
                <a:spcPts val="0"/>
              </a:spcBef>
              <a:spcAft>
                <a:spcPts val="600"/>
              </a:spcAft>
            </a:pPr>
            <a:r>
              <a:rPr sz="1300" b="0">
                <a:solidFill>
                  <a:srgbClr val="2A3547"/>
                </a:solidFill>
                <a:latin typeface="Segoe UI"/>
              </a:rPr>
              <a:t>"Facts: PO 2290, due 8 April, second follow-up. Tone: firm but polite. Length: under 60 words. Format: plain message."</a:t>
            </a:r>
          </a:p>
          <a:p>
            <a:pPr algn="l">
              <a:lnSpc>
                <a:spcPts val="1690"/>
              </a:lnSpc>
              <a:spcBef>
                <a:spcPts val="0"/>
              </a:spcBef>
              <a:spcAft>
                <a:spcPts val="600"/>
              </a:spcAft>
            </a:pPr>
            <a:r>
              <a:rPr sz="1300" b="0">
                <a:solidFill>
                  <a:srgbClr val="2A3547"/>
                </a:solidFill>
                <a:latin typeface="Segoe UI"/>
              </a:rPr>
              <a:t>Thirty seconds of filling in, and a message you can send.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FIX A WEAK ANSWER</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Never put these in a prompt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A prompt leaves your laptop. Write it as if it will be read by someone outside the company.</a:t>
            </a:r>
          </a:p>
          <a:p>
            <a:pPr algn="l">
              <a:lnSpc>
                <a:spcPts val="1755"/>
              </a:lnSpc>
              <a:spcBef>
                <a:spcPts val="0"/>
              </a:spcBef>
              <a:spcAft>
                <a:spcPts val="0"/>
              </a:spcAft>
            </a:pPr>
            <a:r>
              <a:rPr sz="1350" b="0">
                <a:solidFill>
                  <a:srgbClr val="FFFFFF"/>
                </a:solidFill>
                <a:latin typeface="Segoe UI"/>
              </a:rPr>
              <a:t>Because in most cases it is — the tool runs on somebody else's servers.</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Customer names, phone numbers or addresses</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460315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462573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Prices, margins or anything lifted from a contract</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40492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42750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 colleague's name attached to pay or performance</a:t>
            </a:r>
          </a:p>
        </p:txBody>
      </p:sp>
      <p:sp>
        <p:nvSpPr>
          <p:cNvPr id="35"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36" name="vis:chip"/>
          <p:cNvSpPr/>
          <p:nvPr/>
        </p:nvSpPr>
        <p:spPr>
          <a:xfrm>
            <a:off x="2221991" y="5660136"/>
            <a:ext cx="1430958"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chiptext"/>
          <p:cNvSpPr txBox="1"/>
          <p:nvPr/>
        </p:nvSpPr>
        <p:spPr>
          <a:xfrm>
            <a:off x="2377439" y="5687568"/>
            <a:ext cx="112006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CONTEXT  ?</a:t>
            </a:r>
          </a:p>
        </p:txBody>
      </p:sp>
      <p:sp>
        <p:nvSpPr>
          <p:cNvPr id="38" name="nav:gloss">
            <a:hlinkClick action="ppaction://hlinksldjump" r:id="rId3"/>
          </p:cNvPr>
          <p:cNvSpPr/>
          <p:nvPr/>
        </p:nvSpPr>
        <p:spPr>
          <a:xfrm>
            <a:off x="2221991" y="5660136"/>
            <a:ext cx="1430958"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Tuesday, 4:15 pm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Your manager forwards a 14-page site report and asks for "a summary by 5". You have 45 minutes and you have not read a word of it.</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Paste the report in and type "summarise this".</a:t>
            </a:r>
          </a:p>
        </p:txBody>
      </p:sp>
      <p:cxnSp>
        <p:nvCxnSpPr>
          <p:cNvPr id="23" name="vis:choicearrow"/>
          <p:cNvCxnSpPr/>
          <p:nvPr/>
        </p:nvCxnSpPr>
        <p:spPr>
          <a:xfrm>
            <a:off x="758952" y="5632704"/>
            <a:ext cx="292608"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Ask your manager what the summary is for, then write the prompt.</a:t>
            </a:r>
          </a:p>
        </p:txBody>
      </p:sp>
      <p:cxnSp>
        <p:nvCxnSpPr>
          <p:cNvPr id="29" name="vis:choicearrow"/>
          <p:cNvCxnSpPr/>
          <p:nvPr/>
        </p:nvCxnSpPr>
        <p:spPr>
          <a:xfrm>
            <a:off x="4566818" y="5632704"/>
            <a:ext cx="292608"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Ask for five bullets and forward them straight on.</a:t>
            </a:r>
          </a:p>
        </p:txBody>
      </p:sp>
      <p:cxnSp>
        <p:nvCxnSpPr>
          <p:cNvPr id="35" name="vis:choicearrow"/>
          <p:cNvCxnSpPr/>
          <p:nvPr/>
        </p:nvCxnSpPr>
        <p:spPr>
          <a:xfrm>
            <a:off x="8374684" y="5632704"/>
            <a:ext cx="292608"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See what happens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A good summary of the wrong things</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get a fair summary, weighted towards whatever is longest in the document. The two points your manager actually needs are in paragraph three, or missing. You still have to read all 14 pages to find out which.</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Say what the summary is for. That is what decides which parts matter.</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Ninety seconds very well spent</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She needs to know whether the Chakan line restarts on Monday. So you ask: "From this report, answer one question in under 100 words — does the Chakan line restart on Monday, and what would stop it?" You send the answer at 4:32.</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summary with no purpose is just a shorter report.</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You forwarded something you had not checked</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five bullets read beautifully. One says the line restarts Monday. The report actually says Monday is the earliest possible date, if the spare part arrives. Your manager plans around Monday. The part arrives Thursday.</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own every sentence you forward. Check it against the source before it leaves you.</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minutes, one clear formula</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Master Prompt Engineering in 5 Minutes! (Copy This Formula)</a:t>
            </a:r>
          </a:p>
        </p:txBody>
      </p:sp>
      <p:sp>
        <p:nvSpPr>
          <p:cNvPr id="19" name="vis:chip"/>
          <p:cNvSpPr/>
          <p:nvPr/>
        </p:nvSpPr>
        <p:spPr>
          <a:xfrm>
            <a:off x="868680" y="3858768"/>
            <a:ext cx="2121392"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1810496"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PROF. RYAN AHMED</a:t>
            </a:r>
          </a:p>
        </p:txBody>
      </p:sp>
      <p:sp>
        <p:nvSpPr>
          <p:cNvPr id="21" name="vis:chip"/>
          <p:cNvSpPr/>
          <p:nvPr/>
        </p:nvSpPr>
        <p:spPr>
          <a:xfrm>
            <a:off x="3136376" y="3858768"/>
            <a:ext cx="123342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3291824" y="3895344"/>
            <a:ext cx="92252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4:30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Where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The six parts above are all you actually need.</a:t>
            </a:r>
          </a:p>
        </p:txBody>
      </p:sp>
      <p:cxnSp>
        <p:nvCxnSpPr>
          <p:cNvPr id="35" name="vis:icon"/>
          <p:cNvCxnSpPr/>
          <p:nvPr/>
        </p:nvCxnSpPr>
        <p:spPr>
          <a:xfrm>
            <a:off x="8439424" y="3743919"/>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prefer hearing a method to reading one.</a:t>
            </a:r>
          </a:p>
        </p:txBody>
      </p:sp>
      <p:cxnSp>
        <p:nvCxnSpPr>
          <p:cNvPr id="38" name="vis:icon"/>
          <p:cNvCxnSpPr/>
          <p:nvPr/>
        </p:nvCxnSpPr>
        <p:spPr>
          <a:xfrm>
            <a:off x="8439424" y="4859487"/>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prompt will work better?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tem"/>
          <p:cNvSpPr/>
          <p:nvPr/>
        </p:nvSpPr>
        <p:spPr>
          <a:xfrm>
            <a:off x="502920" y="1719072"/>
            <a:ext cx="11185855" cy="713232"/>
          </a:xfrm>
          <a:prstGeom prst="roundRect">
            <a:avLst>
              <a:gd name="adj" fmla="val 1025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780897" y="1976932"/>
            <a:ext cx="230428" cy="153619"/>
          </a:xfrm>
          <a:prstGeom prst="roundRect">
            <a:avLst>
              <a:gd name="adj" fmla="val 29761"/>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flipH="1">
            <a:off x="824788" y="2130552"/>
            <a:ext cx="10973" cy="6035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24788" y="2130552"/>
            <a:ext cx="60351" cy="6035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9" name="cell:stem"/>
          <p:cNvSpPr txBox="1"/>
          <p:nvPr/>
        </p:nvSpPr>
        <p:spPr>
          <a:xfrm>
            <a:off x="1197864" y="1828800"/>
            <a:ext cx="10234879" cy="493776"/>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Both are asking for the same thing: an email about a delivery that slipped by three days.</a:t>
            </a:r>
          </a:p>
        </p:txBody>
      </p:sp>
      <p:sp>
        <p:nvSpPr>
          <p:cNvPr id="20" name="quiz:answer">
            <a:hlinkClick action="ppaction://hlinksldjump" r:id="rId3"/>
          </p:cNvPr>
          <p:cNvSpPr/>
          <p:nvPr/>
        </p:nvSpPr>
        <p:spPr>
          <a:xfrm>
            <a:off x="502920"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
          <p:cNvSpPr/>
          <p:nvPr/>
        </p:nvSpPr>
        <p:spPr>
          <a:xfrm>
            <a:off x="740664" y="32506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answerkeytext"/>
          <p:cNvSpPr txBox="1"/>
          <p:nvPr/>
        </p:nvSpPr>
        <p:spPr>
          <a:xfrm>
            <a:off x="740664"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23" name="cell:answer"/>
          <p:cNvSpPr txBox="1"/>
          <p:nvPr/>
        </p:nvSpPr>
        <p:spPr>
          <a:xfrm>
            <a:off x="1252728"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"Write a professional email about the delay."</a:t>
            </a:r>
          </a:p>
        </p:txBody>
      </p:sp>
      <p:sp>
        <p:nvSpPr>
          <p:cNvPr id="24" name="quiz:answer">
            <a:hlinkClick action="ppaction://hlinksldjump" r:id="rId4"/>
          </p:cNvPr>
          <p:cNvSpPr/>
          <p:nvPr/>
        </p:nvSpPr>
        <p:spPr>
          <a:xfrm>
            <a:off x="6187287"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
          <p:cNvSpPr/>
          <p:nvPr/>
        </p:nvSpPr>
        <p:spPr>
          <a:xfrm>
            <a:off x="6425031" y="32506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answerkeytext"/>
          <p:cNvSpPr txBox="1"/>
          <p:nvPr/>
        </p:nvSpPr>
        <p:spPr>
          <a:xfrm>
            <a:off x="6425031"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7" name="cell:answer"/>
          <p:cNvSpPr txBox="1"/>
          <p:nvPr/>
        </p:nvSpPr>
        <p:spPr>
          <a:xfrm>
            <a:off x="6937095"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"Write a 100-word email. Order 4471 was due 12 March, now arriving 15 March, delayed by a strike. Apologetic but calm."</a:t>
            </a:r>
          </a:p>
        </p:txBody>
      </p:sp>
      <p:sp>
        <p:nvSpPr>
          <p:cNvPr id="28" name="quiz:answer">
            <a:hlinkClick action="ppaction://hlinksldjump" r:id="rId5"/>
          </p:cNvPr>
          <p:cNvSpPr/>
          <p:nvPr/>
        </p:nvSpPr>
        <p:spPr>
          <a:xfrm>
            <a:off x="502920"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
          <p:cNvSpPr/>
          <p:nvPr/>
        </p:nvSpPr>
        <p:spPr>
          <a:xfrm>
            <a:off x="740664" y="50337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answerkeytext"/>
          <p:cNvSpPr txBox="1"/>
          <p:nvPr/>
        </p:nvSpPr>
        <p:spPr>
          <a:xfrm>
            <a:off x="740664"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31" name="cell:answer"/>
          <p:cNvSpPr txBox="1"/>
          <p:nvPr/>
        </p:nvSpPr>
        <p:spPr>
          <a:xfrm>
            <a:off x="1252728"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"Write the best possible email about the delay."</a:t>
            </a:r>
          </a:p>
        </p:txBody>
      </p:sp>
      <p:sp>
        <p:nvSpPr>
          <p:cNvPr id="32" name="quiz:answer">
            <a:hlinkClick action="ppaction://hlinksldjump" r:id="rId6"/>
          </p:cNvPr>
          <p:cNvSpPr/>
          <p:nvPr/>
        </p:nvSpPr>
        <p:spPr>
          <a:xfrm>
            <a:off x="6187287"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answerkey"/>
          <p:cNvSpPr/>
          <p:nvPr/>
        </p:nvSpPr>
        <p:spPr>
          <a:xfrm>
            <a:off x="6425031" y="50337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answerkeytext"/>
          <p:cNvSpPr txBox="1"/>
          <p:nvPr/>
        </p:nvSpPr>
        <p:spPr>
          <a:xfrm>
            <a:off x="6425031"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5" name="cell:answer"/>
          <p:cNvSpPr txBox="1"/>
          <p:nvPr/>
        </p:nvSpPr>
        <p:spPr>
          <a:xfrm>
            <a:off x="6937095"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"Write an email about the delay, ASAP."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"Write a professional email about the delay."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"Professional" gives it nothing to act on. You will get a polite, empty letter with no order number and no date, because you supplied neither. The word is doing no work at all.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Specific beats polite. Facts beat adjectives.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"Write a 100-word email. Order 4471 was due 12 March, now arriving 15 </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Task, facts, tone and length are all there. Every sentence it writes can be checked against something you typed, so there is nothing left for it to invent.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Specific beats polite. Facts beat adjectives.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"Write the best possible email about the delay."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"Best possible" is not an instruction — there is no scale for it to measure against. It falls back on a generic template, the same one everybody else gets.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Specific beats polite. Facts beat adjectives.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"Write an email about the delay, ASAP."</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tool has no clock and no queue, so ASAP changes nothing about the answer. You have spent a word on urgency that could have been the order number.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Specific beats polite. Facts beat adjectives.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part is missing 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tem"/>
          <p:cNvSpPr/>
          <p:nvPr/>
        </p:nvSpPr>
        <p:spPr>
          <a:xfrm>
            <a:off x="502920" y="1719072"/>
            <a:ext cx="11185855" cy="713232"/>
          </a:xfrm>
          <a:prstGeom prst="roundRect">
            <a:avLst>
              <a:gd name="adj" fmla="val 1025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780897" y="1976932"/>
            <a:ext cx="230428" cy="153619"/>
          </a:xfrm>
          <a:prstGeom prst="roundRect">
            <a:avLst>
              <a:gd name="adj" fmla="val 29761"/>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flipH="1">
            <a:off x="824788" y="2130552"/>
            <a:ext cx="10973" cy="6035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24788" y="2130552"/>
            <a:ext cx="60351" cy="6035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9" name="cell:stem"/>
          <p:cNvSpPr txBox="1"/>
          <p:nvPr/>
        </p:nvSpPr>
        <p:spPr>
          <a:xfrm>
            <a:off x="1197864" y="1828800"/>
            <a:ext cx="10234879" cy="493776"/>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"Write a reply to our supplier about the late PO. Tone: firm but polite. Under 60 words. Plain message."</a:t>
            </a:r>
          </a:p>
        </p:txBody>
      </p:sp>
      <p:sp>
        <p:nvSpPr>
          <p:cNvPr id="20" name="quiz:answer">
            <a:hlinkClick action="ppaction://hlinksldjump" r:id="rId3"/>
          </p:cNvPr>
          <p:cNvSpPr/>
          <p:nvPr/>
        </p:nvSpPr>
        <p:spPr>
          <a:xfrm>
            <a:off x="502920"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
          <p:cNvSpPr/>
          <p:nvPr/>
        </p:nvSpPr>
        <p:spPr>
          <a:xfrm>
            <a:off x="740664" y="32506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answerkeytext"/>
          <p:cNvSpPr txBox="1"/>
          <p:nvPr/>
        </p:nvSpPr>
        <p:spPr>
          <a:xfrm>
            <a:off x="740664"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23" name="cell:answer"/>
          <p:cNvSpPr txBox="1"/>
          <p:nvPr/>
        </p:nvSpPr>
        <p:spPr>
          <a:xfrm>
            <a:off x="1252728"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task</a:t>
            </a:r>
          </a:p>
        </p:txBody>
      </p:sp>
      <p:sp>
        <p:nvSpPr>
          <p:cNvPr id="24" name="quiz:answer">
            <a:hlinkClick action="ppaction://hlinksldjump" r:id="rId4"/>
          </p:cNvPr>
          <p:cNvSpPr/>
          <p:nvPr/>
        </p:nvSpPr>
        <p:spPr>
          <a:xfrm>
            <a:off x="6187287"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
          <p:cNvSpPr/>
          <p:nvPr/>
        </p:nvSpPr>
        <p:spPr>
          <a:xfrm>
            <a:off x="6425031" y="32506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answerkeytext"/>
          <p:cNvSpPr txBox="1"/>
          <p:nvPr/>
        </p:nvSpPr>
        <p:spPr>
          <a:xfrm>
            <a:off x="6425031"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7" name="cell:answer"/>
          <p:cNvSpPr txBox="1"/>
          <p:nvPr/>
        </p:nvSpPr>
        <p:spPr>
          <a:xfrm>
            <a:off x="6937095"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tone</a:t>
            </a:r>
          </a:p>
        </p:txBody>
      </p:sp>
      <p:sp>
        <p:nvSpPr>
          <p:cNvPr id="28" name="quiz:answer">
            <a:hlinkClick action="ppaction://hlinksldjump" r:id="rId5"/>
          </p:cNvPr>
          <p:cNvSpPr/>
          <p:nvPr/>
        </p:nvSpPr>
        <p:spPr>
          <a:xfrm>
            <a:off x="502920"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
          <p:cNvSpPr/>
          <p:nvPr/>
        </p:nvSpPr>
        <p:spPr>
          <a:xfrm>
            <a:off x="740664" y="50337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answerkeytext"/>
          <p:cNvSpPr txBox="1"/>
          <p:nvPr/>
        </p:nvSpPr>
        <p:spPr>
          <a:xfrm>
            <a:off x="740664"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31" name="cell:answer"/>
          <p:cNvSpPr txBox="1"/>
          <p:nvPr/>
        </p:nvSpPr>
        <p:spPr>
          <a:xfrm>
            <a:off x="1252728"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facts</a:t>
            </a:r>
          </a:p>
        </p:txBody>
      </p:sp>
      <p:sp>
        <p:nvSpPr>
          <p:cNvPr id="32" name="quiz:answer">
            <a:hlinkClick action="ppaction://hlinksldjump" r:id="rId6"/>
          </p:cNvPr>
          <p:cNvSpPr/>
          <p:nvPr/>
        </p:nvSpPr>
        <p:spPr>
          <a:xfrm>
            <a:off x="6187287"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answerkey"/>
          <p:cNvSpPr/>
          <p:nvPr/>
        </p:nvSpPr>
        <p:spPr>
          <a:xfrm>
            <a:off x="6425031" y="50337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answerkeytext"/>
          <p:cNvSpPr txBox="1"/>
          <p:nvPr/>
        </p:nvSpPr>
        <p:spPr>
          <a:xfrm>
            <a:off x="6425031"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5" name="cell:answer"/>
          <p:cNvSpPr txBox="1"/>
          <p:nvPr/>
        </p:nvSpPr>
        <p:spPr>
          <a:xfrm>
            <a:off x="6937095"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length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The task</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task is there — "write a reply". What is missing is what actually happened. Look for the part that nobody but you could supply.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facts are the part only you have. Never leave them out.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The tone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Tone is present and doing its job: "firm but polite". That is one of the six parts already handled.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facts are the part only you have. Never leave them out.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The facts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Correct. There is no PO number, no due date and no mention that this is the second chase. The tool will either leave those gaps visible or fill them with something plausible.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facts are the part only you have. Never leave them out.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The length</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Length is there: "under 60 words". It is one of the easiest parts to get right and one of the most useful, and this prompt already has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facts are the part only you have. Never leave them out.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How do you get exactly five bullets?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for "a few bullet points"</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for "exactly five bullet points, no introduction"</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Write them yourself, it is faster</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twice and keep the better answer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Ask for "a few bullet points"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few" means nothing here. You will get three, or seven, or a paragraph with dashes in it. Then you are editing again.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you want a number, say the number.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Ask for "exactly five bullet points, no introduction"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number plus what to leave out. The "no introduction" matters — without it you usually get a lead-in sentence you then have to delete every time.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you want a number, say the number.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Write them yourself, it is faster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For five bullets out of notes you already have, it is not. The whole point of saying "exactly five" is that you stop editing the output at all.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you want a number, say the number.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Ask twice and keep the better answer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doubles your work to fix something one word would have solved. Save re-asking for when the content is wrong, not the formatting.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you want a number, say the number.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reply is too long. Now what?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tem"/>
          <p:cNvSpPr/>
          <p:nvPr/>
        </p:nvSpPr>
        <p:spPr>
          <a:xfrm>
            <a:off x="502920" y="1719072"/>
            <a:ext cx="11185855" cy="713232"/>
          </a:xfrm>
          <a:prstGeom prst="roundRect">
            <a:avLst>
              <a:gd name="adj" fmla="val 1025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780897" y="1976932"/>
            <a:ext cx="230428" cy="153619"/>
          </a:xfrm>
          <a:prstGeom prst="roundRect">
            <a:avLst>
              <a:gd name="adj" fmla="val 29761"/>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flipH="1">
            <a:off x="824788" y="2130552"/>
            <a:ext cx="10973" cy="6035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24788" y="2130552"/>
            <a:ext cx="60351" cy="6035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9" name="cell:stem"/>
          <p:cNvSpPr txBox="1"/>
          <p:nvPr/>
        </p:nvSpPr>
        <p:spPr>
          <a:xfrm>
            <a:off x="1197864" y="1828800"/>
            <a:ext cx="10234879" cy="493776"/>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The structure and the tone are exactly right. It is just 180 words when you wanted about 80.</a:t>
            </a:r>
          </a:p>
        </p:txBody>
      </p:sp>
      <p:sp>
        <p:nvSpPr>
          <p:cNvPr id="20" name="quiz:answer">
            <a:hlinkClick action="ppaction://hlinksldjump" r:id="rId3"/>
          </p:cNvPr>
          <p:cNvSpPr/>
          <p:nvPr/>
        </p:nvSpPr>
        <p:spPr>
          <a:xfrm>
            <a:off x="502920"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
          <p:cNvSpPr/>
          <p:nvPr/>
        </p:nvSpPr>
        <p:spPr>
          <a:xfrm>
            <a:off x="740664" y="32506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answerkeytext"/>
          <p:cNvSpPr txBox="1"/>
          <p:nvPr/>
        </p:nvSpPr>
        <p:spPr>
          <a:xfrm>
            <a:off x="740664"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23" name="cell:answer"/>
          <p:cNvSpPr txBox="1"/>
          <p:nvPr/>
        </p:nvSpPr>
        <p:spPr>
          <a:xfrm>
            <a:off x="1252728"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Type "make it shorter"</a:t>
            </a:r>
          </a:p>
        </p:txBody>
      </p:sp>
      <p:sp>
        <p:nvSpPr>
          <p:cNvPr id="24" name="quiz:answer">
            <a:hlinkClick action="ppaction://hlinksldjump" r:id="rId4"/>
          </p:cNvPr>
          <p:cNvSpPr/>
          <p:nvPr/>
        </p:nvSpPr>
        <p:spPr>
          <a:xfrm>
            <a:off x="6187287"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
          <p:cNvSpPr/>
          <p:nvPr/>
        </p:nvSpPr>
        <p:spPr>
          <a:xfrm>
            <a:off x="6425031" y="32506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answerkeytext"/>
          <p:cNvSpPr txBox="1"/>
          <p:nvPr/>
        </p:nvSpPr>
        <p:spPr>
          <a:xfrm>
            <a:off x="6425031"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7" name="cell:answer"/>
          <p:cNvSpPr txBox="1"/>
          <p:nvPr/>
        </p:nvSpPr>
        <p:spPr>
          <a:xfrm>
            <a:off x="6937095"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Type "cut it to under 80 words, keep both dates"</a:t>
            </a:r>
          </a:p>
        </p:txBody>
      </p:sp>
      <p:sp>
        <p:nvSpPr>
          <p:cNvPr id="28" name="quiz:answer">
            <a:hlinkClick action="ppaction://hlinksldjump" r:id="rId5"/>
          </p:cNvPr>
          <p:cNvSpPr/>
          <p:nvPr/>
        </p:nvSpPr>
        <p:spPr>
          <a:xfrm>
            <a:off x="502920"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
          <p:cNvSpPr/>
          <p:nvPr/>
        </p:nvSpPr>
        <p:spPr>
          <a:xfrm>
            <a:off x="740664" y="50337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answerkeytext"/>
          <p:cNvSpPr txBox="1"/>
          <p:nvPr/>
        </p:nvSpPr>
        <p:spPr>
          <a:xfrm>
            <a:off x="740664"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31" name="cell:answer"/>
          <p:cNvSpPr txBox="1"/>
          <p:nvPr/>
        </p:nvSpPr>
        <p:spPr>
          <a:xfrm>
            <a:off x="1252728"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Start again with a shorter prompt</a:t>
            </a:r>
          </a:p>
        </p:txBody>
      </p:sp>
      <p:sp>
        <p:nvSpPr>
          <p:cNvPr id="32" name="quiz:answer">
            <a:hlinkClick action="ppaction://hlinksldjump" r:id="rId6"/>
          </p:cNvPr>
          <p:cNvSpPr/>
          <p:nvPr/>
        </p:nvSpPr>
        <p:spPr>
          <a:xfrm>
            <a:off x="6187287"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answerkey"/>
          <p:cNvSpPr/>
          <p:nvPr/>
        </p:nvSpPr>
        <p:spPr>
          <a:xfrm>
            <a:off x="6425031" y="50337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answerkeytext"/>
          <p:cNvSpPr txBox="1"/>
          <p:nvPr/>
        </p:nvSpPr>
        <p:spPr>
          <a:xfrm>
            <a:off x="6425031"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5" name="cell:answer"/>
          <p:cNvSpPr txBox="1"/>
          <p:nvPr/>
        </p:nvSpPr>
        <p:spPr>
          <a:xfrm>
            <a:off x="6937095"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Delete the extra paragraphs yourself</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Type "make it shorter"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will shorten it by some amount of its own choosing — maybe a tenth, maybe half. You will be back here in a minute asking again.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Say the number, and say what to keep.</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Type "cut it to under 80 words, keep both dates"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number, plus something to protect. It now knows exactly how much to cut and exactly what it is not allowed to lose on the way.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Say the number, and say what to keep.</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Start again with a shorter prompt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would throw away a draft that was right in every way except length. Starting again also hands you a fresh set of gaps to check.</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Say the number, and say what to keep.</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Delete the extra paragraphs yourself</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Fine once. But do it every time and you are still hand-editing — which is the work you were trying to get rid of.</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Say the number, and say what to keep.</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belongs in a saved prompt?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exact client name and order number you used</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shape, with brackets where the details go</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Just the first line — you will remember the rest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Nothing. Write a fresh prompt every time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The exact client name and order number you used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Those are the parts that change every single time, and one of them is customer data. Swap them for brackets before the prompt is saved anywhere.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Save the shape. Never save the customer's details.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The shape, with brackets where the details go</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reusable part is the structure: task, context, [facts], tone, length, format. You refill the brackets in about ten seconds each time.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Save the shape. Never save the customer's details.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Just the first line — you will remember the rest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will not, and neither will the colleague you share it with. A prompt is only reusable if the whole thing is written down.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Save the shape. Never save the customer's details.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Nothing. Write a fresh prompt every time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Then you pay the thinking cost again on every message. Ten saved prompts is the difference between using the tool and fighting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Save the shape. Never save the customer's details.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Basic Prompting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Six parts, one paragraph</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Task, context, facts, tone, length, format — in plain sentences.</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facts are your job</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Dates, numbers and names are the part only you have. Leave them out and they get invented.</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Say the number</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"Under 100 words." "Exactly five bullets." "Three columns." Vague in, vague out.</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Adjectives do nothing</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"Professional", "better", "urgent" give it nothing to act on. Name the actual change.</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Correct, don't restart</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"Keep the first two paragraphs. Cut to 80 words." One line saves the whole draft.</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Save the shape, not the details</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Store the prompt with brackets where the customer data used to be.</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A17CC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A17CC3"/>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A17CC3"/>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015"/>
              </a:lnSpc>
              <a:spcBef>
                <a:spcPts val="0"/>
              </a:spcBef>
              <a:spcAft>
                <a:spcPts val="0"/>
              </a:spcAft>
            </a:pPr>
            <a:r>
              <a:rPr sz="1550" b="0">
                <a:solidFill>
                  <a:srgbClr val="FFFFFF"/>
                </a:solidFill>
                <a:latin typeface="Segoe UI Semibold"/>
              </a:rPr>
              <a:t>A prompt is a briefing. Everything you leave out gets filled in for you — and you may not notice which parts.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1247" y="2419478"/>
            <a:ext cx="234320" cy="159763"/>
          </a:xfrm>
          <a:prstGeom prst="roundRect">
            <a:avLst>
              <a:gd name="adj" fmla="val 28617"/>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861247" y="2430128"/>
            <a:ext cx="117161" cy="85208"/>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978408" y="2430128"/>
            <a:ext cx="117160" cy="85208"/>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1"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six-part prompt</a:t>
            </a:r>
          </a:p>
        </p:txBody>
      </p:sp>
      <p:sp>
        <p:nvSpPr>
          <p:cNvPr id="22"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Task, context, facts, tone, length, format. One paragraph, works as written.</a:t>
            </a:r>
          </a:p>
        </p:txBody>
      </p:sp>
      <p:sp>
        <p:nvSpPr>
          <p:cNvPr id="23"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861247" y="3300384"/>
            <a:ext cx="234320" cy="202367"/>
          </a:xfrm>
          <a:prstGeom prst="roundRect">
            <a:avLst>
              <a:gd name="adj" fmla="val 22592"/>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6" name="vis:icon"/>
          <p:cNvCxnSpPr/>
          <p:nvPr/>
        </p:nvCxnSpPr>
        <p:spPr>
          <a:xfrm>
            <a:off x="861247" y="3364289"/>
            <a:ext cx="234321"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a:off x="951780" y="3300384"/>
            <a:ext cx="0" cy="20236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a:off x="861247" y="3433520"/>
            <a:ext cx="234321"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9"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"make it a table" prompt</a:t>
            </a:r>
          </a:p>
        </p:txBody>
      </p:sp>
      <p:sp>
        <p:nvSpPr>
          <p:cNvPr id="30"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Name the columns, then say "no extra commentary".</a:t>
            </a:r>
          </a:p>
        </p:txBody>
      </p:sp>
      <p:sp>
        <p:nvSpPr>
          <p:cNvPr id="31"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872126" y="4211536"/>
            <a:ext cx="212563" cy="198749"/>
          </a:xfrm>
          <a:custGeom>
            <a:avLst/>
            <a:gdLst/>
            <a:ahLst/>
            <a:cxnLst/>
            <a:rect l="l" t="t" r="r" b="b"/>
            <a:pathLst>
              <a:path w="212563" h="198749">
                <a:moveTo>
                  <a:pt x="159536" y="0"/>
                </a:moveTo>
                <a:lnTo>
                  <a:pt x="186359" y="22013"/>
                </a:lnTo>
                <a:lnTo>
                  <a:pt x="204683" y="51480"/>
                </a:lnTo>
                <a:lnTo>
                  <a:pt x="212563" y="85273"/>
                </a:lnTo>
                <a:lnTo>
                  <a:pt x="209162" y="119806"/>
                </a:lnTo>
                <a:lnTo>
                  <a:pt x="194841" y="151413"/>
                </a:lnTo>
                <a:lnTo>
                  <a:pt x="171120" y="176739"/>
                </a:lnTo>
                <a:lnTo>
                  <a:pt x="140518" y="193096"/>
                </a:lnTo>
                <a:lnTo>
                  <a:pt x="106282" y="198749"/>
                </a:lnTo>
                <a:lnTo>
                  <a:pt x="72045" y="193096"/>
                </a:lnTo>
                <a:lnTo>
                  <a:pt x="41443" y="176739"/>
                </a:lnTo>
                <a:lnTo>
                  <a:pt x="17722" y="151413"/>
                </a:lnTo>
                <a:lnTo>
                  <a:pt x="3401" y="119806"/>
                </a:lnTo>
                <a:lnTo>
                  <a:pt x="0" y="85273"/>
                </a:lnTo>
                <a:lnTo>
                  <a:pt x="7880" y="51480"/>
                </a:lnTo>
                <a:lnTo>
                  <a:pt x="26204" y="22013"/>
                </a:lnTo>
                <a:lnTo>
                  <a:pt x="53027" y="0"/>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vis:icon"/>
          <p:cNvSpPr/>
          <p:nvPr/>
        </p:nvSpPr>
        <p:spPr>
          <a:xfrm>
            <a:off x="913171" y="4190343"/>
            <a:ext cx="48994" cy="42071"/>
          </a:xfrm>
          <a:custGeom>
            <a:avLst/>
            <a:gdLst/>
            <a:ahLst/>
            <a:cxnLst/>
            <a:rect l="l" t="t" r="r" b="b"/>
            <a:pathLst>
              <a:path w="48994" h="42071">
                <a:moveTo>
                  <a:pt x="48994" y="0"/>
                </a:moveTo>
                <a:lnTo>
                  <a:pt x="23964" y="42071"/>
                </a:lnTo>
                <a:lnTo>
                  <a:pt x="0" y="533"/>
                </a:lnTo>
                <a:close/>
              </a:path>
            </a:pathLst>
          </a:cu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one-line correction</a:t>
            </a:r>
          </a:p>
        </p:txBody>
      </p:sp>
      <p:sp>
        <p:nvSpPr>
          <p:cNvPr id="36"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Keep what worked, name the change, supply the new fact.</a:t>
            </a:r>
          </a:p>
        </p:txBody>
      </p:sp>
      <p:sp>
        <p:nvSpPr>
          <p:cNvPr id="37"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LINKS THAT WORK</a:t>
            </a:r>
          </a:p>
        </p:txBody>
      </p:sp>
      <p:sp>
        <p:nvSpPr>
          <p:cNvPr id="38"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icon"/>
          <p:cNvSpPr/>
          <p:nvPr/>
        </p:nvSpPr>
        <p:spPr>
          <a:xfrm>
            <a:off x="8339937" y="2300630"/>
            <a:ext cx="164592" cy="164592"/>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0" name="vis:icon"/>
          <p:cNvCxnSpPr/>
          <p:nvPr/>
        </p:nvCxnSpPr>
        <p:spPr>
          <a:xfrm>
            <a:off x="8482584" y="2443276"/>
            <a:ext cx="65836" cy="6583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1"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2"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a:rPr>
              <a:t>chatgpt.com</a:t>
            </a:r>
          </a:p>
        </p:txBody>
      </p:sp>
      <p:sp>
        <p:nvSpPr>
          <p:cNvPr id="43"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icon"/>
          <p:cNvSpPr/>
          <p:nvPr/>
        </p:nvSpPr>
        <p:spPr>
          <a:xfrm>
            <a:off x="8339937" y="2977286"/>
            <a:ext cx="164592" cy="164592"/>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5" name="vis:icon"/>
          <p:cNvCxnSpPr/>
          <p:nvPr/>
        </p:nvCxnSpPr>
        <p:spPr>
          <a:xfrm>
            <a:off x="8482584" y="3119932"/>
            <a:ext cx="65836" cy="6583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6"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7"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a:rPr>
              <a:t>copilot.microsoft.com</a:t>
            </a:r>
          </a:p>
        </p:txBody>
      </p:sp>
      <p:sp>
        <p:nvSpPr>
          <p:cNvPr id="48"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9" name="vis:icon"/>
          <p:cNvSpPr/>
          <p:nvPr/>
        </p:nvSpPr>
        <p:spPr>
          <a:xfrm>
            <a:off x="8339937" y="3653942"/>
            <a:ext cx="164592" cy="164592"/>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0" name="vis:icon"/>
          <p:cNvCxnSpPr/>
          <p:nvPr/>
        </p:nvCxnSpPr>
        <p:spPr>
          <a:xfrm>
            <a:off x="8482584" y="3796588"/>
            <a:ext cx="65836" cy="6583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51"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2"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a:rPr>
              <a:t>gemini.google.com</a:t>
            </a:r>
          </a:p>
        </p:txBody>
      </p:sp>
      <p:sp>
        <p:nvSpPr>
          <p:cNvPr id="53"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4"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17CC3"/>
                </a:solidFill>
                <a:latin typeface="Segoe UI Semibold"/>
              </a:rPr>
              <a:t>DO THIS NEXT</a:t>
            </a:r>
          </a:p>
        </p:txBody>
      </p:sp>
      <p:sp>
        <p:nvSpPr>
          <p:cNvPr id="55"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625"/>
              </a:lnSpc>
              <a:spcBef>
                <a:spcPts val="0"/>
              </a:spcBef>
              <a:spcAft>
                <a:spcPts val="0"/>
              </a:spcAft>
            </a:pPr>
            <a:r>
              <a:rPr sz="1250" b="0">
                <a:solidFill>
                  <a:srgbClr val="FFFFFF"/>
                </a:solidFill>
                <a:latin typeface="Segoe UI"/>
              </a:rPr>
              <a:t>Next module: PE-02, Instructions &amp; Context. It shows you how much background to give — and the point where adding more context starts making the answer worse.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PE-01  ·  Basic Prompting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 the request plus the facts you choose to supply.</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Context</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background you give so the tool knows who the text is for and why it is being written.</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Token</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small piece of text, roughly three quarters of a word. Length limits are counted in tokens, not letters.</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Zero-shot</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Asking for something without showing an example first. Most everyday prompts are zero-shot.</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Few-shot</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Giving one or two examples of what good looks like before you make your request.</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Output</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comes back. A draft you are responsible for, never a source you can quote.</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