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9qdgEBVkWR4"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ubble"/>
          <p:cNvSpPr/>
          <p:nvPr/>
        </p:nvSpPr>
        <p:spPr>
          <a:xfrm>
            <a:off x="7589520" y="1751990"/>
            <a:ext cx="3302812" cy="1316736"/>
          </a:xfrm>
          <a:prstGeom prst="roundRect">
            <a:avLst>
              <a:gd name="adj" fmla="val 694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ine"/>
          <p:cNvSpPr/>
          <p:nvPr/>
        </p:nvSpPr>
        <p:spPr>
          <a:xfrm>
            <a:off x="7863840" y="2015337"/>
            <a:ext cx="1981687" cy="100584"/>
          </a:xfrm>
          <a:prstGeom prst="rect">
            <a:avLst/>
          </a:prstGeom>
          <a:solidFill>
            <a:srgbClr val="5B67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ine"/>
          <p:cNvSpPr/>
          <p:nvPr/>
        </p:nvSpPr>
        <p:spPr>
          <a:xfrm>
            <a:off x="7863840" y="2271369"/>
            <a:ext cx="1387181" cy="100584"/>
          </a:xfrm>
          <a:prstGeom prst="rect">
            <a:avLst/>
          </a:prstGeom>
          <a:solidFill>
            <a:srgbClr val="5B67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ine"/>
          <p:cNvSpPr/>
          <p:nvPr/>
        </p:nvSpPr>
        <p:spPr>
          <a:xfrm>
            <a:off x="7863840" y="2527401"/>
            <a:ext cx="1717462" cy="100584"/>
          </a:xfrm>
          <a:prstGeom prst="rect">
            <a:avLst/>
          </a:prstGeom>
          <a:solidFill>
            <a:srgbClr val="5B67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coverbubble"/>
          <p:cNvSpPr/>
          <p:nvPr/>
        </p:nvSpPr>
        <p:spPr>
          <a:xfrm>
            <a:off x="8127187" y="3397910"/>
            <a:ext cx="3302812" cy="1250899"/>
          </a:xfrm>
          <a:prstGeom prst="roundRect">
            <a:avLst>
              <a:gd name="adj" fmla="val 7309"/>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coverline"/>
          <p:cNvSpPr/>
          <p:nvPr/>
        </p:nvSpPr>
        <p:spPr>
          <a:xfrm>
            <a:off x="8401507" y="3661257"/>
            <a:ext cx="2179856" cy="100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coverline"/>
          <p:cNvSpPr/>
          <p:nvPr/>
        </p:nvSpPr>
        <p:spPr>
          <a:xfrm>
            <a:off x="8401507" y="3917289"/>
            <a:ext cx="1585350" cy="100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11404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12" name="title:cover"/>
          <p:cNvSpPr txBox="1"/>
          <p:nvPr/>
        </p:nvSpPr>
        <p:spPr>
          <a:xfrm>
            <a:off x="960120" y="157124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Examples &amp; Structured Prompts</a:t>
            </a:r>
          </a:p>
        </p:txBody>
      </p:sp>
      <p:cxnSp>
        <p:nvCxnSpPr>
          <p:cNvPr id="13" name="vis:rule"/>
          <p:cNvCxnSpPr/>
          <p:nvPr/>
        </p:nvCxnSpPr>
        <p:spPr>
          <a:xfrm>
            <a:off x="960120" y="335330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62762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Showing one good example beats three paragraphs describing what good looks like.</a:t>
            </a:r>
          </a:p>
        </p:txBody>
      </p:sp>
      <p:sp>
        <p:nvSpPr>
          <p:cNvPr id="15" name="vis:chip"/>
          <p:cNvSpPr/>
          <p:nvPr/>
        </p:nvSpPr>
        <p:spPr>
          <a:xfrm>
            <a:off x="960120" y="4811268"/>
            <a:ext cx="961009"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856988"/>
            <a:ext cx="650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PE-04</a:t>
            </a:r>
          </a:p>
        </p:txBody>
      </p:sp>
      <p:sp>
        <p:nvSpPr>
          <p:cNvPr id="17" name="vis:chip"/>
          <p:cNvSpPr/>
          <p:nvPr/>
        </p:nvSpPr>
        <p:spPr>
          <a:xfrm>
            <a:off x="2067433" y="481126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222881" y="485698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9" name="vis:chip"/>
          <p:cNvSpPr/>
          <p:nvPr/>
        </p:nvSpPr>
        <p:spPr>
          <a:xfrm>
            <a:off x="3670045" y="481126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825493" y="485698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PE-04  ·  Examples &amp; Structured Prompts</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Aditya explains the format four times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40119"/>
            <a:ext cx="318006" cy="274641"/>
          </a:xfrm>
          <a:prstGeom prst="roundRect">
            <a:avLst>
              <a:gd name="adj" fmla="val 16647"/>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326848"/>
            <a:ext cx="31800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25150" y="2240119"/>
            <a:ext cx="0" cy="27464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02284" y="2420804"/>
            <a:ext cx="31800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Aditya prepares payment summaries for a Mumbai finance team. He describes the format he wants in three sentences. The answer comes back close but wrong. He describes it again. And again. On the fourth try he pastes one finished example instead.</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Twelve minutes of describing, when showing took twenty seconds.</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worked example does what a paragraph of description cannot.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84055" y="1957766"/>
            <a:ext cx="153297" cy="247634"/>
          </a:xfrm>
          <a:prstGeom prst="roundRect">
            <a:avLst>
              <a:gd name="adj" fmla="val 2982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19431" y="2028519"/>
            <a:ext cx="8254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19431" y="2081584"/>
            <a:ext cx="8254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19431" y="2134648"/>
            <a:ext cx="5896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format you keep re-explaining into a single example</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930990" y="2859775"/>
            <a:ext cx="259426" cy="224049"/>
          </a:xfrm>
          <a:prstGeom prst="roundRect">
            <a:avLst>
              <a:gd name="adj" fmla="val 20406"/>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930990" y="2930527"/>
            <a:ext cx="25942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a:off x="1031223" y="2859775"/>
            <a:ext cx="0" cy="22404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930990" y="3007176"/>
            <a:ext cx="25942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Get the same layout back every time, without editing</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33938" y="3758835"/>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1007639" y="3779471"/>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933938" y="3847275"/>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1007639" y="3867911"/>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933938" y="3935716"/>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1007639" y="3956352"/>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two examples to fix a tone you cannot describe</a:t>
            </a:r>
          </a:p>
        </p:txBody>
      </p:sp>
      <p:sp>
        <p:nvSpPr>
          <p:cNvPr id="38"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954575" y="4769920"/>
            <a:ext cx="76648" cy="7664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1031223" y="4681479"/>
            <a:ext cx="141505" cy="1650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2"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fill-in-the-blanks prompt that cannot drift</a:t>
            </a:r>
          </a:p>
        </p:txBody>
      </p:sp>
      <p:sp>
        <p:nvSpPr>
          <p:cNvPr id="43"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943035" y="5558013"/>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is:icon"/>
          <p:cNvSpPr/>
          <p:nvPr/>
        </p:nvSpPr>
        <p:spPr>
          <a:xfrm>
            <a:off x="988477" y="5534550"/>
            <a:ext cx="54244" cy="46578"/>
          </a:xfrm>
          <a:custGeom>
            <a:avLst/>
            <a:gdLst/>
            <a:ahLst/>
            <a:cxnLst/>
            <a:rect l="l" t="t" r="r" b="b"/>
            <a:pathLst>
              <a:path w="54244" h="46578">
                <a:moveTo>
                  <a:pt x="54244" y="0"/>
                </a:moveTo>
                <a:lnTo>
                  <a:pt x="26532" y="46578"/>
                </a:lnTo>
                <a:lnTo>
                  <a:pt x="0" y="589"/>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Build a structured prompt you reuse without rewriting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Show, do not describe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one example wins</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One example, done well</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worked pattern</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Two examples fix tone</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description cannot reach</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Fill-in-the-blanks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Structure that cannot drift</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Turn a repeat job into a template</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month-end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5-minute outside explainer</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SHOW, DO NOT DESCRIBE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one example wins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Describing a format is a translation step. An example removes it entirely.</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describe a format</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Three sentences about columns and order.</a:t>
            </a:r>
          </a:p>
        </p:txBody>
      </p:sp>
      <p:cxnSp>
        <p:nvCxnSpPr>
          <p:cNvPr id="21" name="vis:flowarrow"/>
          <p:cNvCxnSpPr/>
          <p:nvPr/>
        </p:nvCxnSpPr>
        <p:spPr>
          <a:xfrm>
            <a:off x="3093643" y="389534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interprets them</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Its reading of your words, not your picture.</a:t>
            </a:r>
          </a:p>
        </p:txBody>
      </p:sp>
      <p:cxnSp>
        <p:nvCxnSpPr>
          <p:cNvPr id="27" name="vis:flowarrow"/>
          <p:cNvCxnSpPr/>
          <p:nvPr/>
        </p:nvCxnSpPr>
        <p:spPr>
          <a:xfrm>
            <a:off x="5986119" y="389534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correct it</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Twice, usually, and it drifts back.</a:t>
            </a:r>
          </a:p>
        </p:txBody>
      </p:sp>
      <p:cxnSp>
        <p:nvCxnSpPr>
          <p:cNvPr id="33" name="vis:flowarrow"/>
          <p:cNvCxnSpPr/>
          <p:nvPr/>
        </p:nvCxnSpPr>
        <p:spPr>
          <a:xfrm>
            <a:off x="8878595" y="389534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Or you show one</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pattern is now unambiguous.</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152801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12171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FEW-SHOT  ?</a:t>
            </a:r>
          </a:p>
        </p:txBody>
      </p:sp>
      <p:sp>
        <p:nvSpPr>
          <p:cNvPr id="42" name="nav:gloss">
            <a:hlinkClick action="ppaction://hlinksldjump" r:id="rId3"/>
          </p:cNvPr>
          <p:cNvSpPr/>
          <p:nvPr/>
        </p:nvSpPr>
        <p:spPr>
          <a:xfrm>
            <a:off x="2221991" y="5660136"/>
            <a:ext cx="152801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SHOW, DO NOT DESCRIBE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Describing versus showing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38772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0768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DESCRIBED</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"Give me a short summary line for each invoice, with the amount at the end in brackets."</a:t>
            </a:r>
          </a:p>
          <a:p>
            <a:pPr algn="l">
              <a:lnSpc>
                <a:spcPts val="1690"/>
              </a:lnSpc>
              <a:spcBef>
                <a:spcPts val="0"/>
              </a:spcBef>
              <a:spcAft>
                <a:spcPts val="600"/>
              </a:spcAft>
            </a:pPr>
            <a:r>
              <a:rPr sz="1300" b="0">
                <a:solidFill>
                  <a:srgbClr val="2A3547"/>
                </a:solidFill>
                <a:latin typeface="Segoe UI"/>
              </a:rPr>
              <a:t>You get full sentences, amounts in the middle, and a heading you did not ask for.</a:t>
            </a:r>
          </a:p>
          <a:p>
            <a:pPr algn="l">
              <a:lnSpc>
                <a:spcPts val="1690"/>
              </a:lnSpc>
              <a:spcBef>
                <a:spcPts val="0"/>
              </a:spcBef>
              <a:spcAft>
                <a:spcPts val="600"/>
              </a:spcAft>
            </a:pPr>
            <a:r>
              <a:rPr sz="1300" b="0">
                <a:solidFill>
                  <a:srgbClr val="2A3547"/>
                </a:solidFill>
                <a:latin typeface="Segoe UI"/>
              </a:rPr>
              <a:t>Three rounds of correction later it is nearly right.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12928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8183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SHOWN</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"Follow this exact pattern: Ashirwad Traders — 45 days overdue, second reminder sent (₹2,40,000)"</a:t>
            </a:r>
          </a:p>
          <a:p>
            <a:pPr algn="l">
              <a:lnSpc>
                <a:spcPts val="1690"/>
              </a:lnSpc>
              <a:spcBef>
                <a:spcPts val="0"/>
              </a:spcBef>
              <a:spcAft>
                <a:spcPts val="600"/>
              </a:spcAft>
            </a:pPr>
            <a:r>
              <a:rPr sz="1300" b="0">
                <a:solidFill>
                  <a:srgbClr val="2A3547"/>
                </a:solidFill>
                <a:latin typeface="Segoe UI"/>
              </a:rPr>
              <a:t>You get twelve lines in that shape, first time.</a:t>
            </a:r>
          </a:p>
          <a:p>
            <a:pPr algn="l">
              <a:lnSpc>
                <a:spcPts val="1690"/>
              </a:lnSpc>
              <a:spcBef>
                <a:spcPts val="0"/>
              </a:spcBef>
              <a:spcAft>
                <a:spcPts val="600"/>
              </a:spcAft>
            </a:pPr>
            <a:r>
              <a:rPr sz="1300" b="0">
                <a:solidFill>
                  <a:srgbClr val="2A3547"/>
                </a:solidFill>
                <a:latin typeface="Segoe UI"/>
              </a:rPr>
              <a:t>Nothing to correct, because nothing was open to interpretation.</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 example is not a hint. It is the specification, written in the only language that cannot be misread.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ONE EXAMPLE, DONE WELL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one-example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Rewrite each line below to follow this exact pattern, and nothing else: Ashirwad Traders — 45 days overdue, second reminder sent (₹2,40,000). Keep the same punctuation, the same order and the brackets. No heading, no introduction, one line per entry.</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Then paste your messy lines underneath it.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example fixes order, punctuation and bracket style at once.</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heading, no introduction" stops the usual additions.</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can check twelve lines against one pattern in seconds.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ONE EXAMPLE, DONE WELL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an example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is complete — no gaps for the tool to interpret.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is real — an actual line you would have written.</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shows edge details — punctuation, casing, brackets.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is followed by "same pattern, nothing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TWO EXAMPLES FIX TONE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examples fix a tone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Tone is the thing people describe worst and recognise instantly. Show it twice.</a:t>
            </a:r>
          </a:p>
        </p:txBody>
      </p:sp>
      <p:sp>
        <p:nvSpPr>
          <p:cNvPr id="16" name="vis:promptcard"/>
          <p:cNvSpPr/>
          <p:nvPr/>
        </p:nvSpPr>
        <p:spPr>
          <a:xfrm>
            <a:off x="502920" y="2432304"/>
            <a:ext cx="5816644"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505456"/>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6086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63658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2980944"/>
            <a:ext cx="5268004"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Match the tone of these two examples exactly. Example one: "Thanks — noted. I will confirm the revised date by Thursday." Example two: "Understood. We will cover the freight difference on this consignment." Now write a reply to the message below, in that same tone.</a:t>
            </a:r>
          </a:p>
        </p:txBody>
      </p:sp>
      <p:sp>
        <p:nvSpPr>
          <p:cNvPr id="29" name="vis:promptcap"/>
          <p:cNvSpPr txBox="1"/>
          <p:nvPr/>
        </p:nvSpPr>
        <p:spPr>
          <a:xfrm>
            <a:off x="777240" y="456895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Short, warm, no padding. Far easier to show than to describe.</a:t>
            </a:r>
          </a:p>
        </p:txBody>
      </p:sp>
      <p:sp>
        <p:nvSpPr>
          <p:cNvPr id="30" name="vis:outcard"/>
          <p:cNvSpPr/>
          <p:nvPr/>
        </p:nvSpPr>
        <p:spPr>
          <a:xfrm>
            <a:off x="6685324" y="2432304"/>
            <a:ext cx="5003450" cy="2609087"/>
          </a:xfrm>
          <a:prstGeom prst="roundRect">
            <a:avLst>
              <a:gd name="adj" fmla="val 350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432304"/>
            <a:ext cx="68580" cy="2609087"/>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633472"/>
            <a:ext cx="208788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66090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072384"/>
            <a:ext cx="4491386" cy="174955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reply in the same clipped, decisive register as your two examples.</a:t>
            </a:r>
          </a:p>
          <a:p>
            <a:pPr algn="l">
              <a:lnSpc>
                <a:spcPts val="1690"/>
              </a:lnSpc>
              <a:spcBef>
                <a:spcPts val="0"/>
              </a:spcBef>
              <a:spcAft>
                <a:spcPts val="600"/>
              </a:spcAft>
            </a:pPr>
            <a:r>
              <a:rPr sz="1300" b="0">
                <a:solidFill>
                  <a:srgbClr val="2A3547"/>
                </a:solidFill>
                <a:latin typeface="Segoe UI"/>
              </a:rPr>
              <a:t>No "I hope this finds you well", because neither example had one.</a:t>
            </a:r>
          </a:p>
          <a:p>
            <a:pPr algn="l">
              <a:lnSpc>
                <a:spcPts val="1690"/>
              </a:lnSpc>
              <a:spcBef>
                <a:spcPts val="0"/>
              </a:spcBef>
              <a:spcAft>
                <a:spcPts val="600"/>
              </a:spcAft>
            </a:pPr>
            <a:r>
              <a:rPr sz="1300" b="0">
                <a:solidFill>
                  <a:srgbClr val="2A3547"/>
                </a:solidFill>
                <a:latin typeface="Segoe UI"/>
              </a:rPr>
              <a:t>Tone matched without you ever finding a word for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TWO EXAMPLES FIX TONE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many examples to give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636063"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32516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EXAMPLE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Fixes structure</a:t>
            </a:r>
          </a:p>
        </p:txBody>
      </p:sp>
      <p:sp>
        <p:nvSpPr>
          <p:cNvPr id="20" name="vis:icon"/>
          <p:cNvSpPr/>
          <p:nvPr/>
        </p:nvSpPr>
        <p:spPr>
          <a:xfrm>
            <a:off x="799185" y="308244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844905" y="3095244"/>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799185" y="313730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44905" y="3150108"/>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799185" y="319217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844905" y="3204972"/>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Layout, order and punctuation</a:t>
            </a:r>
          </a:p>
        </p:txBody>
      </p:sp>
      <p:sp>
        <p:nvSpPr>
          <p:cNvPr id="27" name="vis:icon"/>
          <p:cNvSpPr/>
          <p:nvPr/>
        </p:nvSpPr>
        <p:spPr>
          <a:xfrm>
            <a:off x="799185" y="377738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44905" y="3790187"/>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799185" y="383225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44905" y="3845051"/>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icon"/>
          <p:cNvSpPr/>
          <p:nvPr/>
        </p:nvSpPr>
        <p:spPr>
          <a:xfrm>
            <a:off x="799185" y="388711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4905" y="389991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3"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Field names and their sequence</a:t>
            </a:r>
          </a:p>
        </p:txBody>
      </p:sp>
      <p:sp>
        <p:nvSpPr>
          <p:cNvPr id="34" name="vis:icon"/>
          <p:cNvSpPr/>
          <p:nvPr/>
        </p:nvSpPr>
        <p:spPr>
          <a:xfrm>
            <a:off x="799185" y="447233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44905" y="4485131"/>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6" name="vis:icon"/>
          <p:cNvSpPr/>
          <p:nvPr/>
        </p:nvSpPr>
        <p:spPr>
          <a:xfrm>
            <a:off x="799185" y="452719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844905" y="453999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8" name="vis:icon"/>
          <p:cNvSpPr/>
          <p:nvPr/>
        </p:nvSpPr>
        <p:spPr>
          <a:xfrm>
            <a:off x="799185" y="458205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4905" y="4594859"/>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Line length and bracket style</a:t>
            </a:r>
          </a:p>
        </p:txBody>
      </p:sp>
      <p:sp>
        <p:nvSpPr>
          <p:cNvPr id="41" name="vis:icon"/>
          <p:cNvSpPr/>
          <p:nvPr/>
        </p:nvSpPr>
        <p:spPr>
          <a:xfrm>
            <a:off x="799185" y="516727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4905" y="518007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3" name="vis:icon"/>
          <p:cNvSpPr/>
          <p:nvPr/>
        </p:nvSpPr>
        <p:spPr>
          <a:xfrm>
            <a:off x="799185" y="522213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4905" y="5234939"/>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5" name="vis:icon"/>
          <p:cNvSpPr/>
          <p:nvPr/>
        </p:nvSpPr>
        <p:spPr>
          <a:xfrm>
            <a:off x="799185" y="527700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4905" y="5289803"/>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7"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Enough for most formatting jobs</a:t>
            </a:r>
          </a:p>
        </p:txBody>
      </p:sp>
      <p:sp>
        <p:nvSpPr>
          <p:cNvPr id="48"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panelspine"/>
          <p:cNvSpPr/>
          <p:nvPr/>
        </p:nvSpPr>
        <p:spPr>
          <a:xfrm>
            <a:off x="6251295"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chip"/>
          <p:cNvSpPr/>
          <p:nvPr/>
        </p:nvSpPr>
        <p:spPr>
          <a:xfrm>
            <a:off x="6525615" y="1956815"/>
            <a:ext cx="1720518"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chiptext"/>
          <p:cNvSpPr txBox="1"/>
          <p:nvPr/>
        </p:nvSpPr>
        <p:spPr>
          <a:xfrm>
            <a:off x="6681063" y="1984247"/>
            <a:ext cx="140962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TWO OR THREE</a:t>
            </a:r>
          </a:p>
        </p:txBody>
      </p:sp>
      <p:sp>
        <p:nvSpPr>
          <p:cNvPr id="52"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Fixes tone and judgement</a:t>
            </a:r>
          </a:p>
        </p:txBody>
      </p:sp>
      <p:cxnSp>
        <p:nvCxnSpPr>
          <p:cNvPr id="53" name="vis:icon"/>
          <p:cNvCxnSpPr/>
          <p:nvPr/>
        </p:nvCxnSpPr>
        <p:spPr>
          <a:xfrm>
            <a:off x="6560362" y="3153765"/>
            <a:ext cx="47549" cy="4754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54" name="vis:icon"/>
          <p:cNvCxnSpPr/>
          <p:nvPr/>
        </p:nvCxnSpPr>
        <p:spPr>
          <a:xfrm flipV="1">
            <a:off x="6607911" y="3098901"/>
            <a:ext cx="87783" cy="10241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5"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Register — clipped, warm, formal</a:t>
            </a:r>
          </a:p>
        </p:txBody>
      </p:sp>
      <p:cxnSp>
        <p:nvCxnSpPr>
          <p:cNvPr id="56" name="vis:icon"/>
          <p:cNvCxnSpPr/>
          <p:nvPr/>
        </p:nvCxnSpPr>
        <p:spPr>
          <a:xfrm>
            <a:off x="6560362" y="3848709"/>
            <a:ext cx="47549" cy="4754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57" name="vis:icon"/>
          <p:cNvCxnSpPr/>
          <p:nvPr/>
        </p:nvCxnSpPr>
        <p:spPr>
          <a:xfrm flipV="1">
            <a:off x="6607911" y="3793845"/>
            <a:ext cx="87783" cy="10241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8"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to include and what to drop</a:t>
            </a:r>
          </a:p>
        </p:txBody>
      </p:sp>
      <p:cxnSp>
        <p:nvCxnSpPr>
          <p:cNvPr id="59" name="vis:icon"/>
          <p:cNvCxnSpPr/>
          <p:nvPr/>
        </p:nvCxnSpPr>
        <p:spPr>
          <a:xfrm>
            <a:off x="6560362" y="4543653"/>
            <a:ext cx="47549" cy="4754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60" name="vis:icon"/>
          <p:cNvCxnSpPr/>
          <p:nvPr/>
        </p:nvCxnSpPr>
        <p:spPr>
          <a:xfrm flipV="1">
            <a:off x="6607911" y="4488789"/>
            <a:ext cx="87783" cy="10241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61"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How to handle an awkward case</a:t>
            </a:r>
          </a:p>
        </p:txBody>
      </p:sp>
      <p:cxnSp>
        <p:nvCxnSpPr>
          <p:cNvPr id="62" name="vis:icon"/>
          <p:cNvCxnSpPr/>
          <p:nvPr/>
        </p:nvCxnSpPr>
        <p:spPr>
          <a:xfrm>
            <a:off x="6560362" y="5238597"/>
            <a:ext cx="47549" cy="4754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63" name="vis:icon"/>
          <p:cNvCxnSpPr/>
          <p:nvPr/>
        </p:nvCxnSpPr>
        <p:spPr>
          <a:xfrm flipV="1">
            <a:off x="6607911" y="5183733"/>
            <a:ext cx="87783" cy="10241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64"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Worth it for anything customer-facing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FILL-IN-THE-BLANKS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Structure that cannot drift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structured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Fill in this exact structure and change nothing else. SITUATION: one sentence. WHAT CHANGED: one sentence. IMPACT ON THE CUSTOMER: one sentence. WHAT WE ARE DOING: two sentences. NEXT UPDATE: a date. Use only the facts below and write [CHECK] where a fact is missing.</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Headings in capitals are followed far more reliably.</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shape is fixed, so every answer is comparable.</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[CHECK] makes a missing fact visible instead of invented.</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Anyone on the team can read it the same 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FILL-IN-THE-BLANKS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structure pays off most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9776" y="2222270"/>
            <a:ext cx="273295" cy="255534"/>
          </a:xfrm>
          <a:custGeom>
            <a:avLst/>
            <a:gdLst/>
            <a:ahLst/>
            <a:cxnLst/>
            <a:rect l="l" t="t" r="r" b="b"/>
            <a:pathLst>
              <a:path w="273295" h="255534">
                <a:moveTo>
                  <a:pt x="205118" y="0"/>
                </a:moveTo>
                <a:lnTo>
                  <a:pt x="239605" y="28302"/>
                </a:lnTo>
                <a:lnTo>
                  <a:pt x="263164" y="66189"/>
                </a:lnTo>
                <a:lnTo>
                  <a:pt x="273295" y="109637"/>
                </a:lnTo>
                <a:lnTo>
                  <a:pt x="268922" y="154036"/>
                </a:lnTo>
                <a:lnTo>
                  <a:pt x="250509" y="194674"/>
                </a:lnTo>
                <a:lnTo>
                  <a:pt x="220012" y="227236"/>
                </a:lnTo>
                <a:lnTo>
                  <a:pt x="180666" y="248267"/>
                </a:lnTo>
                <a:lnTo>
                  <a:pt x="136648" y="255534"/>
                </a:lnTo>
                <a:lnTo>
                  <a:pt x="92629" y="248267"/>
                </a:lnTo>
                <a:lnTo>
                  <a:pt x="53283" y="227236"/>
                </a:lnTo>
                <a:lnTo>
                  <a:pt x="22786" y="194674"/>
                </a:lnTo>
                <a:lnTo>
                  <a:pt x="4373" y="154036"/>
                </a:lnTo>
                <a:lnTo>
                  <a:pt x="0" y="109637"/>
                </a:lnTo>
                <a:lnTo>
                  <a:pt x="10131" y="66189"/>
                </a:lnTo>
                <a:lnTo>
                  <a:pt x="33690" y="28302"/>
                </a:lnTo>
                <a:lnTo>
                  <a:pt x="68177"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22547" y="2195022"/>
            <a:ext cx="62993" cy="54091"/>
          </a:xfrm>
          <a:custGeom>
            <a:avLst/>
            <a:gdLst/>
            <a:ahLst/>
            <a:cxnLst/>
            <a:rect l="l" t="t" r="r" b="b"/>
            <a:pathLst>
              <a:path w="62993" h="54091">
                <a:moveTo>
                  <a:pt x="62993" y="0"/>
                </a:moveTo>
                <a:lnTo>
                  <a:pt x="30812" y="54091"/>
                </a:lnTo>
                <a:lnTo>
                  <a:pt x="0" y="685"/>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Anything repeated</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weekly update, a site report, a delay note. The shape stops being a decision every time.</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861435" y="2193652"/>
            <a:ext cx="130093" cy="13009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Anything compared</a:t>
            </a:r>
          </a:p>
        </p:txBody>
      </p:sp>
      <p:sp>
        <p:nvSpPr>
          <p:cNvPr id="26"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Five supplier assessments in the same five fields can actually be read side by side.</a:t>
            </a:r>
          </a:p>
        </p:txBody>
      </p:sp>
      <p:sp>
        <p:nvSpPr>
          <p:cNvPr id="27"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8599329" y="2214193"/>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684917" y="2238158"/>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1" name="vis:icon"/>
          <p:cNvSpPr/>
          <p:nvPr/>
        </p:nvSpPr>
        <p:spPr>
          <a:xfrm>
            <a:off x="8599329" y="2316899"/>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684917" y="2340863"/>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8599329" y="2419604"/>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84917" y="2443569"/>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Anything handed over</a:t>
            </a:r>
          </a:p>
        </p:txBody>
      </p:sp>
      <p:sp>
        <p:nvSpPr>
          <p:cNvPr id="36"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colleague picking it up knows exactly where each piece of information lives.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build one template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a document you produce more than once a month.</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Take the best one you have ever written and open it.</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it in with the prompt on the right.</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Save what comes back. That is your template from now on.</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is a good example of a document I write regularly. Turn it into a reusable template: keep the structure and the headings exactly, and replace every specific fact with a clearly marked bracket saying what belongs there. Do not change the wording around the brackets.</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Your own best work becomes the specification.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Never put these in an example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An example is pasted text. Everything in it leaves the company with it.</a:t>
            </a:r>
          </a:p>
          <a:p>
            <a:pPr algn="l">
              <a:lnSpc>
                <a:spcPts val="1755"/>
              </a:lnSpc>
              <a:spcBef>
                <a:spcPts val="0"/>
              </a:spcBef>
              <a:spcAft>
                <a:spcPts val="0"/>
              </a:spcAft>
            </a:pPr>
            <a:r>
              <a:rPr sz="1350" b="0">
                <a:solidFill>
                  <a:srgbClr val="FFFFFF"/>
                </a:solidFill>
                <a:latin typeface="Segoe UI"/>
              </a:rPr>
              <a:t>Use a realistic invented case, or strip the real one first.</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real customer's name, site or contact details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Real prices, margins or contract wording</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colleague's name beside performance or pay</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Account numbers, references or internal system names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with examples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Show one example before describing anything.</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Follow it with "same pattern, nothing else".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capitals for structure headings you want obeyed.</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Strip names and figures out of the example first.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Describing a format in three sentences</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are asking it to imagine your picture. Showing the picture takes twenty seconds.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Giving a half-finished example</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Every gap in the example becomes a decision it makes for you, differently each time.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a real customer record as the example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format was the point. The name, address and amount went with it.</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five examples when one would do</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Long prompts dilute the instruction. One complete example beats five partial ones.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Forgetting "nothing else"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your format plus a heading, an introduction and a closing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Describe or show?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Could I show what I want in under five lines?</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Describe it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Long documents and complex judgements. Describe the structure in capitals, then show one section as an example.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Show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Layouts, tone, line formats, table shapes. An example is shorter than the description and cannot be misread.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example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If you have explained the format twice, stop explaining and paste an example.</a:t>
            </a:r>
          </a:p>
          <a:p>
            <a:pPr algn="l">
              <a:lnSpc>
                <a:spcPts val="1755"/>
              </a:lnSpc>
              <a:spcBef>
                <a:spcPts val="0"/>
              </a:spcBef>
              <a:spcAft>
                <a:spcPts val="0"/>
              </a:spcAft>
            </a:pPr>
            <a:r>
              <a:rPr sz="1350" b="0">
                <a:solidFill>
                  <a:srgbClr val="FFFFFF"/>
                </a:solidFill>
                <a:latin typeface="Segoe UI"/>
              </a:rPr>
              <a:t>The second explanation is always slower than the example would have been.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example — structure fixed.</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Two examples — tone fixed.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Zero examples — you will explain it again.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Month-end, 5:10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need twenty overdue-account lines in a specific format for tomorrow's review. You have described the format twice and the answer is still not right.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Describe the format a third time, more carefully.</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one perfect line yourself and say "follow this exactly".</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last month's finished report as the example.</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may work. It will not work reliably.</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third description gets you closer, and the twentieth line still drifts. You end up hand-editing six of them, which is exactly the work you were trying to avoid, twelve minutes later than you started.</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third description is the signal to switch to an example.</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Twenty seconds, and twenty correct lines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write one line the way you want it, using an invented company name. You add "same pattern, nothing else, one line per entry". All twenty come back correct, and you check them against the pattern in under a minute.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Show the pattern once. Never describe it three times.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Right method, wrong file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format lands perfectly. So do twenty real customer names, their outstanding amounts and their payment histories, into a tool the company cannot audit. The formatting problem is solved and a much larger one has started.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Show the shape with invented data. Never with a real record.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minutes on few-shot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Discover Few-Shot Prompting | Google AI Essentials</a:t>
            </a:r>
          </a:p>
        </p:txBody>
      </p:sp>
      <p:sp>
        <p:nvSpPr>
          <p:cNvPr id="19" name="vis:chip"/>
          <p:cNvSpPr/>
          <p:nvPr/>
        </p:nvSpPr>
        <p:spPr>
          <a:xfrm>
            <a:off x="868680" y="3858768"/>
            <a:ext cx="220116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8902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GROW WITH GOOGLE</a:t>
            </a:r>
          </a:p>
        </p:txBody>
      </p:sp>
      <p:sp>
        <p:nvSpPr>
          <p:cNvPr id="21" name="vis:chip"/>
          <p:cNvSpPr/>
          <p:nvPr/>
        </p:nvSpPr>
        <p:spPr>
          <a:xfrm>
            <a:off x="3216148" y="3858768"/>
            <a:ext cx="12080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371596" y="3895344"/>
            <a:ext cx="8971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4:31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From Google's own AI Essentials course. The worked examples above are the version you will actually use.</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prompts in this deck already work as written.</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like watching a method demonstrated.</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does an example beat a description?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Examples are shorter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description must be interpreted; an example cannot be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copies examples word for word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Examples stop it inventing facts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Examples are shorter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usually are, but that is a side benefit. A long example still beats a short description, because there is nothing left to interpret.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description has to be interpreted. An example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description must be interpreted; an example cannot be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Exactly. Your three sentences about layout become its reading of your sentences. An example is the picture itself, so the translation step disappears.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description has to be interpreted. An example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tool copies examples word for 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does not copy — it follows the pattern. That is what you want, because your new content is different while the shape stays fixed.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description has to be interpreted. An example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Examples stop it inventing facts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Different problem. Examples fix format and tone. Invented facts are controlled by supplying the facts and saying "add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description has to be interpreted. An example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many examples for tone?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One is always enough</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Two or three, so the pattern is clearly a range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 many as you can find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None — just describe the tone you want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One is always enough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One is enough for layout, where the pattern is visible in a single line. Tone is a range, and one sample can be read as a one-off.</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fixes structure. Two fix tone.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Two or three, so the pattern is clearly a range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samples show what stays constant across different content, which is precisely what tone is. Three is the sensible upper limit before the prompt bloats.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fixes structure. Two fix tone.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 many as you can find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Long prompts dilute your actual instruction. Past three, you are adding length without adding clarity.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fixes structure. Two fix tone.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None — just describe the tone you want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Tone is the single hardest thing to describe and the easiest to demonstrate. "Professional but warm" means something different to everyone.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fixes structure. Two fix tone.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follow your example?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"Do your best"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"Follow this exactly, nothing else"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"Make it better than the example"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"Use similar formatting"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"Do your best"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gives the tool nothing to act on, and it leaves the door open for a heading, an introduction and a closing line you did not ask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"Same pattern, nothing else."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"Follow this exactly, nothing else"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second half is what stops the extras. Without it you reliably get your format plus a friendly introduction and a summary you then delete.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"Same pattern, nothing else."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"Make it better than the example"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Now you have invited it to change the very thing you were fixing. The example is the specification, not a starting point to improve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"Same pattern, nothing else."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"Use similar formatting"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"Similar" is an invitation to drift. By line twelve you will be looking at three different layouts.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"Same pattern, nothing else."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goes into a good example?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real record, so it is definitely accurate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complete invented case with all the edge details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rough sketch of the layout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Three partial examples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real record, so it is definitely accurate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format is what you are demonstrating, and it works identically with invented data. A real record sends a real customer's details out of the company.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Complete, realistic, and carrying no real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complete invented case with all the edge details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Complete means no gaps for it to fill differently each time. Invented means nothing leaves the company. Edge details mean punctuation and brackets land right.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Complete, realistic, and carrying no real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rough sketch of the layout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gap in a sketch becomes a decision the tool makes for you, and it will make it differently on line nine than on line two.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Complete, realistic, and carrying no real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Three partial examples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incomplete patterns give it three different signals. One complete example is clearer than three half ones.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Complete, realistic, and carrying no real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[CHECK] do in a template?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tells the tool to search for the answer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a missing fact visible instead of filled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marks text for your manager to review</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shortens the output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tells the tool to search for the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cannot search. The marker is not an instruction to find anything — it is an instruction to stop and flag.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turns an invented fact into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makes a missing fact visible instead of filled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Without it, a gap gets closed with something plausible and you never see that it happened. With it, you get a marker you can go and resolve properly.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turns an invented fact into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marks text for your manager to review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could use it that way, but its real job is earlier: stopping the tool from quietly inventing the missing piece in the first place.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turns an invented fact into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shortens the output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unaffected. What changes is honesty — a gap appears as a gap rather than as a confident sentence.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turns an invented fact into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Examples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Show, do not describe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description must be interpreted. An example cannot be misread.</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example fixes structure</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Layout, order, punctuation and bracket style, all in one line.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Two examples fix tone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Register is easy to recognise and almost impossible to describe.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Always add "nothing else"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Otherwise you get your format plus a heading and an introduction.</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Use capitals for structure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SITUATION, IMPACT, NEXT UPDATE. Headings in capitals get followed.</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show a real record</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format works with invented data. A real one leaks a real customer.</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If you have explained the format twice, stop explaining and paste an example.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09176" y="2392850"/>
            <a:ext cx="138462" cy="223669"/>
          </a:xfrm>
          <a:prstGeom prst="roundRect">
            <a:avLst>
              <a:gd name="adj" fmla="val 33019"/>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41129" y="2456756"/>
            <a:ext cx="745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41129" y="2504685"/>
            <a:ext cx="745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941129" y="2552614"/>
            <a:ext cx="5325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one-example prompt</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perfect line, then "same pattern, nothing else".</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66573" y="3305709"/>
            <a:ext cx="223669" cy="149113"/>
          </a:xfrm>
          <a:prstGeom prst="roundRect">
            <a:avLst>
              <a:gd name="adj" fmla="val 3066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909176" y="3454822"/>
            <a:ext cx="10651" cy="5858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909176" y="3454822"/>
            <a:ext cx="58581" cy="5858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two-example tone prompt</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short samples, then your new message.</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1247" y="4202592"/>
            <a:ext cx="234320" cy="202367"/>
          </a:xfrm>
          <a:prstGeom prst="roundRect">
            <a:avLst>
              <a:gd name="adj" fmla="val 2259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1247" y="4266497"/>
            <a:ext cx="23432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951780" y="4202592"/>
            <a:ext cx="0" cy="20236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861247" y="4335728"/>
            <a:ext cx="23432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fill-in-the-blanks structure</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Capital headings, one sentence each, [CHECK] for gaps.</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PE-05, Advanced Prompting. Breaking a big job into steps, and setting constraints the answer has to respect.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PE-04  ·  Examples &amp; Structured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Few-shot</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Giving one or two worked examples before your request, so the pattern is shown rather than described.</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Zero-shot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Asking without any example. Fine for simple jobs, weak for formats and tone.</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Template</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reusable prompt with brackets where the specifics go.</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Structured 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prompt with fixed headings the answer must fill in, so every result is comparable.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context plus instructions plus your facts.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