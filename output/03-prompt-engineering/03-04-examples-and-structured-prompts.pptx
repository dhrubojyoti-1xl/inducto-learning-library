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7.xml"/><Relationship Id="rId4" Type="http://schemas.openxmlformats.org/officeDocument/2006/relationships/slide" Target="slide9.xml"/><Relationship Id="rId5" Type="http://schemas.openxmlformats.org/officeDocument/2006/relationships/slide" Target="slide11.xml"/><Relationship Id="rId6" Type="http://schemas.openxmlformats.org/officeDocument/2006/relationships/slide" Target="slide13.xml"/><Relationship Id="rId7" Type="http://schemas.openxmlformats.org/officeDocument/2006/relationships/slide" Target="slide19.xml"/><Relationship Id="rId8" Type="http://schemas.openxmlformats.org/officeDocument/2006/relationships/slide" Target="slide23.xml"/><Relationship Id="rId9" Type="http://schemas.openxmlformats.org/officeDocument/2006/relationships/slide" Target="slide24.xml"/><Relationship Id="rId10" Type="http://schemas.openxmlformats.org/officeDocument/2006/relationships/slide" Target="slide49.xml"/><Relationship Id="rId11" Type="http://schemas.openxmlformats.org/officeDocument/2006/relationships/slide" Target="slide5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5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0.xml"/><Relationship Id="rId4" Type="http://schemas.openxmlformats.org/officeDocument/2006/relationships/slide" Target="slide21.xml"/><Relationship Id="rId5" Type="http://schemas.openxmlformats.org/officeDocument/2006/relationships/slide" Target="slide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 Id="rId3" Type="http://schemas.openxmlformats.org/officeDocument/2006/relationships/slide" Target="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youtube.com/watch?v=9qdgEBVkWR4" TargetMode="External"/><Relationship Id="rId3" Type="http://schemas.openxmlformats.org/officeDocument/2006/relationships/slide" Target="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25.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slide" Target="slide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0.xml"/><Relationship Id="rId4" Type="http://schemas.openxmlformats.org/officeDocument/2006/relationships/slide" Target="slide31.xml"/><Relationship Id="rId5" Type="http://schemas.openxmlformats.org/officeDocument/2006/relationships/slide" Target="slide32.xml"/><Relationship Id="rId6" Type="http://schemas.openxmlformats.org/officeDocument/2006/relationships/slide" Target="slide3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9.xml"/><Relationship Id="rId3" Type="http://schemas.openxmlformats.org/officeDocument/2006/relationships/slide" Target="slide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35.xml"/><Relationship Id="rId4" Type="http://schemas.openxmlformats.org/officeDocument/2006/relationships/slide" Target="slide36.xml"/><Relationship Id="rId5" Type="http://schemas.openxmlformats.org/officeDocument/2006/relationships/slide" Target="slide37.xml"/><Relationship Id="rId6" Type="http://schemas.openxmlformats.org/officeDocument/2006/relationships/slide" Target="slide3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4.xml"/><Relationship Id="rId3" Type="http://schemas.openxmlformats.org/officeDocument/2006/relationships/slide" Target="slide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0.xml"/><Relationship Id="rId4" Type="http://schemas.openxmlformats.org/officeDocument/2006/relationships/slide" Target="slide41.xml"/><Relationship Id="rId5" Type="http://schemas.openxmlformats.org/officeDocument/2006/relationships/slide" Target="slide42.xml"/><Relationship Id="rId6" Type="http://schemas.openxmlformats.org/officeDocument/2006/relationships/slide" Target="slide4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5.xml"/><Relationship Id="rId4" Type="http://schemas.openxmlformats.org/officeDocument/2006/relationships/slide" Target="slide46.xml"/><Relationship Id="rId5" Type="http://schemas.openxmlformats.org/officeDocument/2006/relationships/slide" Target="slide47.xml"/><Relationship Id="rId6" Type="http://schemas.openxmlformats.org/officeDocument/2006/relationships/slide" Target="slide4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9.xml"/><Relationship Id="rId3" Type="http://schemas.openxmlformats.org/officeDocument/2006/relationships/slide" Target="slide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slide" Target="slide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hatgpt.com" TargetMode="External"/><Relationship Id="rId3" Type="http://schemas.openxmlformats.org/officeDocument/2006/relationships/hyperlink" Target="https://copilot.microsoft.com" TargetMode="External"/><Relationship Id="rId4" Type="http://schemas.openxmlformats.org/officeDocument/2006/relationships/hyperlink" Target="https://gemini.google.com" TargetMode="External"/><Relationship Id="rId5" Type="http://schemas.openxmlformats.org/officeDocument/2006/relationships/slide" Target="slide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vis:bg"/>
          <p:cNvSpPr/>
          <p:nvPr/>
        </p:nvSpPr>
        <p:spPr>
          <a:xfrm>
            <a:off x="0" y="0"/>
            <a:ext cx="12191695" cy="6858000"/>
          </a:xfrm>
          <a:prstGeom prst="rect">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coverspine"/>
          <p:cNvSpPr/>
          <p:nvPr/>
        </p:nvSpPr>
        <p:spPr>
          <a:xfrm>
            <a:off x="0" y="0"/>
            <a:ext cx="201168" cy="685800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 name="vis:coverbubble"/>
          <p:cNvSpPr/>
          <p:nvPr/>
        </p:nvSpPr>
        <p:spPr>
          <a:xfrm>
            <a:off x="7589520" y="1751990"/>
            <a:ext cx="3302812" cy="1316736"/>
          </a:xfrm>
          <a:prstGeom prst="roundRect">
            <a:avLst>
              <a:gd name="adj" fmla="val 6944"/>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 name="vis:coverline"/>
          <p:cNvSpPr/>
          <p:nvPr/>
        </p:nvSpPr>
        <p:spPr>
          <a:xfrm>
            <a:off x="7863840" y="2015337"/>
            <a:ext cx="1981687" cy="100584"/>
          </a:xfrm>
          <a:prstGeom prst="rect">
            <a:avLst/>
          </a:prstGeom>
          <a:solidFill>
            <a:srgbClr val="5B67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vis:coverline"/>
          <p:cNvSpPr/>
          <p:nvPr/>
        </p:nvSpPr>
        <p:spPr>
          <a:xfrm>
            <a:off x="7863840" y="2271369"/>
            <a:ext cx="1387181" cy="100584"/>
          </a:xfrm>
          <a:prstGeom prst="rect">
            <a:avLst/>
          </a:prstGeom>
          <a:solidFill>
            <a:srgbClr val="5B67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7" name="vis:coverline"/>
          <p:cNvSpPr/>
          <p:nvPr/>
        </p:nvSpPr>
        <p:spPr>
          <a:xfrm>
            <a:off x="7863840" y="2527401"/>
            <a:ext cx="1717462" cy="100584"/>
          </a:xfrm>
          <a:prstGeom prst="rect">
            <a:avLst/>
          </a:prstGeom>
          <a:solidFill>
            <a:srgbClr val="5B67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coverbubble"/>
          <p:cNvSpPr/>
          <p:nvPr/>
        </p:nvSpPr>
        <p:spPr>
          <a:xfrm>
            <a:off x="8127187" y="3397910"/>
            <a:ext cx="3302812" cy="1250899"/>
          </a:xfrm>
          <a:prstGeom prst="roundRect">
            <a:avLst>
              <a:gd name="adj" fmla="val 7309"/>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coverline"/>
          <p:cNvSpPr/>
          <p:nvPr/>
        </p:nvSpPr>
        <p:spPr>
          <a:xfrm>
            <a:off x="8401507" y="3661257"/>
            <a:ext cx="2179856" cy="100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coverline"/>
          <p:cNvSpPr/>
          <p:nvPr/>
        </p:nvSpPr>
        <p:spPr>
          <a:xfrm>
            <a:off x="8401507" y="3917289"/>
            <a:ext cx="1585350" cy="1005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seclabel"/>
          <p:cNvSpPr txBox="1"/>
          <p:nvPr/>
        </p:nvSpPr>
        <p:spPr>
          <a:xfrm>
            <a:off x="960120" y="1114044"/>
            <a:ext cx="5501487"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PROMPT ENGINEERING</a:t>
            </a:r>
          </a:p>
        </p:txBody>
      </p:sp>
      <p:sp>
        <p:nvSpPr>
          <p:cNvPr id="12" name="title:cover"/>
          <p:cNvSpPr txBox="1"/>
          <p:nvPr/>
        </p:nvSpPr>
        <p:spPr>
          <a:xfrm>
            <a:off x="960120" y="1571244"/>
            <a:ext cx="5501487" cy="1507744"/>
          </a:xfrm>
          <a:prstGeom prst="rect">
            <a:avLst/>
          </a:prstGeom>
          <a:noFill/>
        </p:spPr>
        <p:txBody>
          <a:bodyPr wrap="square" lIns="0" rIns="0" tIns="0" bIns="0" anchor="t">
            <a:spAutoFit/>
          </a:bodyPr>
          <a:lstStyle/>
          <a:p>
            <a:pPr algn="l">
              <a:lnSpc>
                <a:spcPts val="5720"/>
              </a:lnSpc>
              <a:spcBef>
                <a:spcPts val="0"/>
              </a:spcBef>
              <a:spcAft>
                <a:spcPts val="0"/>
              </a:spcAft>
            </a:pPr>
            <a:r>
              <a:rPr sz="4400" b="0">
                <a:solidFill>
                  <a:srgbClr val="FFFFFF"/>
                </a:solidFill>
                <a:latin typeface="Segoe UI Semibold"/>
              </a:rPr>
              <a:t>Examples &amp; Structured Prompts</a:t>
            </a:r>
          </a:p>
        </p:txBody>
      </p:sp>
      <p:cxnSp>
        <p:nvCxnSpPr>
          <p:cNvPr id="13" name="vis:rule"/>
          <p:cNvCxnSpPr/>
          <p:nvPr/>
        </p:nvCxnSpPr>
        <p:spPr>
          <a:xfrm>
            <a:off x="960120" y="3353308"/>
            <a:ext cx="3606698"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14" name="body:coversub"/>
          <p:cNvSpPr txBox="1"/>
          <p:nvPr/>
        </p:nvSpPr>
        <p:spPr>
          <a:xfrm>
            <a:off x="960120" y="3627628"/>
            <a:ext cx="5501487" cy="781304"/>
          </a:xfrm>
          <a:prstGeom prst="rect">
            <a:avLst/>
          </a:prstGeom>
          <a:noFill/>
        </p:spPr>
        <p:txBody>
          <a:bodyPr wrap="square" lIns="0" rIns="0" tIns="0" bIns="0" anchor="t">
            <a:spAutoFit/>
          </a:bodyPr>
          <a:lstStyle/>
          <a:p>
            <a:pPr algn="l">
              <a:lnSpc>
                <a:spcPts val="2860"/>
              </a:lnSpc>
              <a:spcBef>
                <a:spcPts val="0"/>
              </a:spcBef>
              <a:spcAft>
                <a:spcPts val="0"/>
              </a:spcAft>
            </a:pPr>
            <a:r>
              <a:rPr sz="2200" b="0">
                <a:solidFill>
                  <a:srgbClr val="C9D1DE"/>
                </a:solidFill>
                <a:latin typeface="Segoe UI"/>
              </a:rPr>
              <a:t>Showing one good example beats three paragraphs describing what good looks like.</a:t>
            </a:r>
          </a:p>
        </p:txBody>
      </p:sp>
      <p:sp>
        <p:nvSpPr>
          <p:cNvPr id="15" name="vis:chip"/>
          <p:cNvSpPr/>
          <p:nvPr/>
        </p:nvSpPr>
        <p:spPr>
          <a:xfrm>
            <a:off x="960120" y="4811268"/>
            <a:ext cx="961009" cy="310896"/>
          </a:xfrm>
          <a:prstGeom prst="roundRect">
            <a:avLst>
              <a:gd name="adj" fmla="val 14705"/>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iptext"/>
          <p:cNvSpPr txBox="1"/>
          <p:nvPr/>
        </p:nvSpPr>
        <p:spPr>
          <a:xfrm>
            <a:off x="1115568" y="4856988"/>
            <a:ext cx="65011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PE-04</a:t>
            </a:r>
          </a:p>
        </p:txBody>
      </p:sp>
      <p:sp>
        <p:nvSpPr>
          <p:cNvPr id="17" name="vis:chip"/>
          <p:cNvSpPr/>
          <p:nvPr/>
        </p:nvSpPr>
        <p:spPr>
          <a:xfrm>
            <a:off x="2067433" y="4811268"/>
            <a:ext cx="145630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2222881" y="4856988"/>
            <a:ext cx="114541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18 MINUTES</a:t>
            </a:r>
          </a:p>
        </p:txBody>
      </p:sp>
      <p:sp>
        <p:nvSpPr>
          <p:cNvPr id="19" name="vis:chip"/>
          <p:cNvSpPr/>
          <p:nvPr/>
        </p:nvSpPr>
        <p:spPr>
          <a:xfrm>
            <a:off x="3670045" y="4811268"/>
            <a:ext cx="2302029" cy="310896"/>
          </a:xfrm>
          <a:prstGeom prst="roundRect">
            <a:avLst>
              <a:gd name="adj" fmla="val 14705"/>
            </a:avLst>
          </a:prstGeom>
          <a:no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3825493" y="4856988"/>
            <a:ext cx="19911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C9D1DE"/>
                </a:solidFill>
                <a:latin typeface="Segoe UI Semibold"/>
              </a:rPr>
              <a:t>NEW JOINERS + STAFF</a:t>
            </a:r>
          </a:p>
        </p:txBody>
      </p:sp>
      <p:sp>
        <p:nvSpPr>
          <p:cNvPr id="21" name="cell:coverhint"/>
          <p:cNvSpPr txBox="1"/>
          <p:nvPr/>
        </p:nvSpPr>
        <p:spPr>
          <a:xfrm>
            <a:off x="960120" y="5724144"/>
            <a:ext cx="5501487" cy="43891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Start here  →  the next slide shows what this saves you.</a:t>
            </a:r>
          </a:p>
        </p:txBody>
      </p:sp>
      <p:sp>
        <p:nvSpPr>
          <p:cNvPr id="2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848D9A"/>
                </a:solidFill>
                <a:latin typeface="Segoe UI"/>
              </a:rPr>
              <a:t>PE-04  ·  Examples &amp; Structured Prompts</a:t>
            </a:r>
          </a:p>
        </p:txBody>
      </p:sp>
      <p:sp>
        <p:nvSpPr>
          <p:cNvPr id="2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848D9A"/>
                </a:solidFill>
                <a:latin typeface="Segoe UI"/>
              </a:rPr>
              <a:t>Inducto Learning Library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MATTERS TO YOU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Aditya explains the format four times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ory"/>
          <p:cNvSpPr/>
          <p:nvPr/>
        </p:nvSpPr>
        <p:spPr>
          <a:xfrm>
            <a:off x="502920" y="1719072"/>
            <a:ext cx="6448882" cy="3273552"/>
          </a:xfrm>
          <a:prstGeom prst="roundRect">
            <a:avLst>
              <a:gd name="adj" fmla="val 279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oryspine"/>
          <p:cNvSpPr/>
          <p:nvPr/>
        </p:nvSpPr>
        <p:spPr>
          <a:xfrm>
            <a:off x="502920" y="1719072"/>
            <a:ext cx="68580" cy="327355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813816" y="2029967"/>
            <a:ext cx="694944" cy="694944"/>
          </a:xfrm>
          <a:prstGeom prst="roundRect">
            <a:avLst>
              <a:gd name="adj" fmla="val 131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1002284" y="2240119"/>
            <a:ext cx="318006" cy="274641"/>
          </a:xfrm>
          <a:prstGeom prst="roundRect">
            <a:avLst>
              <a:gd name="adj" fmla="val 16647"/>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02284" y="2326848"/>
            <a:ext cx="31800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125150" y="2240119"/>
            <a:ext cx="0" cy="274641"/>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1002284" y="2420804"/>
            <a:ext cx="31800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2" name="body:scenario"/>
          <p:cNvSpPr txBox="1"/>
          <p:nvPr/>
        </p:nvSpPr>
        <p:spPr>
          <a:xfrm>
            <a:off x="813816" y="2944368"/>
            <a:ext cx="5827090" cy="1792224"/>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101826"/>
                </a:solidFill>
                <a:latin typeface="Segoe UI"/>
              </a:rPr>
              <a:t>Aditya prepares payment summaries for a Mumbai finance team. He describes the format he wants in three sentences. The answer comes back close but wrong. He describes it again. And again. On the fourth try he pastes one finished example instead.</a:t>
            </a:r>
          </a:p>
        </p:txBody>
      </p:sp>
      <p:sp>
        <p:nvSpPr>
          <p:cNvPr id="23" name="vis:cost"/>
          <p:cNvSpPr/>
          <p:nvPr/>
        </p:nvSpPr>
        <p:spPr>
          <a:xfrm>
            <a:off x="502920" y="5230368"/>
            <a:ext cx="6448882" cy="786384"/>
          </a:xfrm>
          <a:prstGeom prst="roundRect">
            <a:avLst>
              <a:gd name="adj" fmla="val 9302"/>
            </a:avLst>
          </a:prstGeom>
          <a:solidFill>
            <a:srgbClr val="FFFFFF"/>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costspine"/>
          <p:cNvSpPr/>
          <p:nvPr/>
        </p:nvSpPr>
        <p:spPr>
          <a:xfrm>
            <a:off x="502920" y="5230368"/>
            <a:ext cx="68580" cy="786384"/>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icon"/>
          <p:cNvSpPr/>
          <p:nvPr/>
        </p:nvSpPr>
        <p:spPr>
          <a:xfrm>
            <a:off x="826983" y="5478719"/>
            <a:ext cx="302849" cy="276514"/>
          </a:xfrm>
          <a:custGeom>
            <a:avLst/>
            <a:gdLst/>
            <a:ahLst/>
            <a:cxnLst/>
            <a:rect l="l" t="t" r="r" b="b"/>
            <a:pathLst>
              <a:path w="302849" h="276514">
                <a:moveTo>
                  <a:pt x="151425" y="0"/>
                </a:moveTo>
                <a:lnTo>
                  <a:pt x="302849" y="276514"/>
                </a:lnTo>
                <a:lnTo>
                  <a:pt x="0" y="276514"/>
                </a:lnTo>
                <a:close/>
              </a:path>
            </a:pathLst>
          </a:custGeom>
          <a:noFill/>
          <a:ln w="1905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vis:icon"/>
          <p:cNvCxnSpPr/>
          <p:nvPr/>
        </p:nvCxnSpPr>
        <p:spPr>
          <a:xfrm>
            <a:off x="978408" y="5584057"/>
            <a:ext cx="0" cy="82296"/>
          </a:xfrm>
          <a:prstGeom prst="line">
            <a:avLst/>
          </a:prstGeom>
          <a:ln w="19050">
            <a:solidFill>
              <a:srgbClr val="C62828"/>
            </a:solidFill>
          </a:ln>
          <a:effectLst/>
        </p:spPr>
        <p:style>
          <a:lnRef idx="2">
            <a:schemeClr val="accent1"/>
          </a:lnRef>
          <a:fillRef idx="0">
            <a:schemeClr val="accent1"/>
          </a:fillRef>
          <a:effectRef idx="1">
            <a:schemeClr val="accent1"/>
          </a:effectRef>
          <a:fontRef idx="minor">
            <a:schemeClr val="tx1"/>
          </a:fontRef>
        </p:style>
      </p:cxnSp>
      <p:sp>
        <p:nvSpPr>
          <p:cNvPr id="27" name="vis:icon"/>
          <p:cNvSpPr/>
          <p:nvPr/>
        </p:nvSpPr>
        <p:spPr>
          <a:xfrm>
            <a:off x="961948" y="5695980"/>
            <a:ext cx="32918" cy="32918"/>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body:cost"/>
          <p:cNvSpPr txBox="1"/>
          <p:nvPr/>
        </p:nvSpPr>
        <p:spPr>
          <a:xfrm>
            <a:off x="1362456" y="5358383"/>
            <a:ext cx="5315026" cy="530352"/>
          </a:xfrm>
          <a:prstGeom prst="rect">
            <a:avLst/>
          </a:prstGeom>
          <a:noFill/>
        </p:spPr>
        <p:txBody>
          <a:bodyPr wrap="square" lIns="0" rIns="0" tIns="0" bIns="0" anchor="ctr">
            <a:spAutoFit/>
          </a:bodyPr>
          <a:lstStyle/>
          <a:p>
            <a:pPr algn="l">
              <a:lnSpc>
                <a:spcPts val="2080"/>
              </a:lnSpc>
              <a:spcBef>
                <a:spcPts val="0"/>
              </a:spcBef>
              <a:spcAft>
                <a:spcPts val="0"/>
              </a:spcAft>
            </a:pPr>
            <a:r>
              <a:rPr sz="1600" b="0">
                <a:solidFill>
                  <a:srgbClr val="C62828"/>
                </a:solidFill>
                <a:latin typeface="Segoe UI Semibold"/>
              </a:rPr>
              <a:t>Twelve minutes of describing, when showing took twenty seconds.</a:t>
            </a:r>
          </a:p>
        </p:txBody>
      </p:sp>
      <p:sp>
        <p:nvSpPr>
          <p:cNvPr id="29" name="vis:fix"/>
          <p:cNvSpPr/>
          <p:nvPr/>
        </p:nvSpPr>
        <p:spPr>
          <a:xfrm>
            <a:off x="8082076" y="1719072"/>
            <a:ext cx="3606698" cy="4297680"/>
          </a:xfrm>
          <a:prstGeom prst="roundRect">
            <a:avLst>
              <a:gd name="adj" fmla="val 253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seclabel"/>
          <p:cNvSpPr txBox="1"/>
          <p:nvPr/>
        </p:nvSpPr>
        <p:spPr>
          <a:xfrm>
            <a:off x="8411260" y="2066543"/>
            <a:ext cx="2948330"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AFTER THIS MODULE</a:t>
            </a:r>
          </a:p>
        </p:txBody>
      </p:sp>
      <p:cxnSp>
        <p:nvCxnSpPr>
          <p:cNvPr id="31" name="vis:rule"/>
          <p:cNvCxnSpPr/>
          <p:nvPr/>
        </p:nvCxnSpPr>
        <p:spPr>
          <a:xfrm>
            <a:off x="8411260" y="2505456"/>
            <a:ext cx="2948331"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2" name="body:fix"/>
          <p:cNvSpPr txBox="1"/>
          <p:nvPr/>
        </p:nvSpPr>
        <p:spPr>
          <a:xfrm>
            <a:off x="8411260" y="2724912"/>
            <a:ext cx="2948330" cy="292608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One worked example does what a paragraph of description cannot.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WHAT YOU'LL BE ABLE TO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By the end, you can do these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ome"/>
          <p:cNvSpPr/>
          <p:nvPr/>
        </p:nvSpPr>
        <p:spPr>
          <a:xfrm>
            <a:off x="502920" y="1719072"/>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1792224"/>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84055" y="1957766"/>
            <a:ext cx="153297" cy="247634"/>
          </a:xfrm>
          <a:prstGeom prst="roundRect">
            <a:avLst>
              <a:gd name="adj" fmla="val 29824"/>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19431" y="2028519"/>
            <a:ext cx="8254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a:off x="1019431" y="2081584"/>
            <a:ext cx="8254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1019431" y="2134648"/>
            <a:ext cx="58961"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1" name="cell:outcome"/>
          <p:cNvSpPr txBox="1"/>
          <p:nvPr/>
        </p:nvSpPr>
        <p:spPr>
          <a:xfrm>
            <a:off x="1545336" y="1828800"/>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Turn a format you keep re-explaining into a single example</a:t>
            </a:r>
          </a:p>
        </p:txBody>
      </p:sp>
      <p:sp>
        <p:nvSpPr>
          <p:cNvPr id="22" name="vis:outcome"/>
          <p:cNvSpPr/>
          <p:nvPr/>
        </p:nvSpPr>
        <p:spPr>
          <a:xfrm>
            <a:off x="502920" y="2615184"/>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badge"/>
          <p:cNvSpPr/>
          <p:nvPr/>
        </p:nvSpPr>
        <p:spPr>
          <a:xfrm>
            <a:off x="777240" y="2688336"/>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930990" y="2859775"/>
            <a:ext cx="259426" cy="224049"/>
          </a:xfrm>
          <a:prstGeom prst="roundRect">
            <a:avLst>
              <a:gd name="adj" fmla="val 20406"/>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930990" y="2930527"/>
            <a:ext cx="25942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6" name="vis:icon"/>
          <p:cNvCxnSpPr/>
          <p:nvPr/>
        </p:nvCxnSpPr>
        <p:spPr>
          <a:xfrm>
            <a:off x="1031223" y="2859775"/>
            <a:ext cx="0" cy="22404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7" name="vis:icon"/>
          <p:cNvCxnSpPr/>
          <p:nvPr/>
        </p:nvCxnSpPr>
        <p:spPr>
          <a:xfrm>
            <a:off x="930990" y="3007176"/>
            <a:ext cx="25942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8" name="cell:outcome"/>
          <p:cNvSpPr txBox="1"/>
          <p:nvPr/>
        </p:nvSpPr>
        <p:spPr>
          <a:xfrm>
            <a:off x="1545336" y="2724912"/>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Get the same layout back every time, without editing</a:t>
            </a:r>
          </a:p>
        </p:txBody>
      </p:sp>
      <p:sp>
        <p:nvSpPr>
          <p:cNvPr id="29" name="vis:outcome"/>
          <p:cNvSpPr/>
          <p:nvPr/>
        </p:nvSpPr>
        <p:spPr>
          <a:xfrm>
            <a:off x="502920" y="3511296"/>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badge"/>
          <p:cNvSpPr/>
          <p:nvPr/>
        </p:nvSpPr>
        <p:spPr>
          <a:xfrm>
            <a:off x="777240" y="3584448"/>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icon"/>
          <p:cNvSpPr/>
          <p:nvPr/>
        </p:nvSpPr>
        <p:spPr>
          <a:xfrm>
            <a:off x="933938" y="3758835"/>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1007639" y="3779471"/>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3" name="vis:icon"/>
          <p:cNvSpPr/>
          <p:nvPr/>
        </p:nvSpPr>
        <p:spPr>
          <a:xfrm>
            <a:off x="933938" y="3847275"/>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1007639" y="3867911"/>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vis:icon"/>
          <p:cNvSpPr/>
          <p:nvPr/>
        </p:nvSpPr>
        <p:spPr>
          <a:xfrm>
            <a:off x="933938" y="3935716"/>
            <a:ext cx="41272" cy="412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6" name="vis:icon"/>
          <p:cNvCxnSpPr/>
          <p:nvPr/>
        </p:nvCxnSpPr>
        <p:spPr>
          <a:xfrm>
            <a:off x="1007639" y="3956352"/>
            <a:ext cx="18277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outcome"/>
          <p:cNvSpPr txBox="1"/>
          <p:nvPr/>
        </p:nvSpPr>
        <p:spPr>
          <a:xfrm>
            <a:off x="1545336" y="3621024"/>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Use two examples to fix a tone you cannot describe</a:t>
            </a:r>
          </a:p>
        </p:txBody>
      </p:sp>
      <p:sp>
        <p:nvSpPr>
          <p:cNvPr id="38" name="vis:outcome"/>
          <p:cNvSpPr/>
          <p:nvPr/>
        </p:nvSpPr>
        <p:spPr>
          <a:xfrm>
            <a:off x="502920" y="4407408"/>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badge"/>
          <p:cNvSpPr/>
          <p:nvPr/>
        </p:nvSpPr>
        <p:spPr>
          <a:xfrm>
            <a:off x="777240" y="4480560"/>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0" name="vis:icon"/>
          <p:cNvCxnSpPr/>
          <p:nvPr/>
        </p:nvCxnSpPr>
        <p:spPr>
          <a:xfrm>
            <a:off x="954575" y="4769920"/>
            <a:ext cx="76648" cy="76648"/>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41" name="vis:icon"/>
          <p:cNvCxnSpPr/>
          <p:nvPr/>
        </p:nvCxnSpPr>
        <p:spPr>
          <a:xfrm flipV="1">
            <a:off x="1031223" y="4681479"/>
            <a:ext cx="141505" cy="16508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2" name="cell:outcome"/>
          <p:cNvSpPr txBox="1"/>
          <p:nvPr/>
        </p:nvSpPr>
        <p:spPr>
          <a:xfrm>
            <a:off x="1545336" y="4517136"/>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Write a fill-in-the-blanks prompt that cannot drift</a:t>
            </a:r>
          </a:p>
        </p:txBody>
      </p:sp>
      <p:sp>
        <p:nvSpPr>
          <p:cNvPr id="43" name="vis:outcome"/>
          <p:cNvSpPr/>
          <p:nvPr/>
        </p:nvSpPr>
        <p:spPr>
          <a:xfrm>
            <a:off x="502920" y="5303520"/>
            <a:ext cx="11185855" cy="713232"/>
          </a:xfrm>
          <a:prstGeom prst="roundRect">
            <a:avLst>
              <a:gd name="adj" fmla="val 1282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badge"/>
          <p:cNvSpPr/>
          <p:nvPr/>
        </p:nvSpPr>
        <p:spPr>
          <a:xfrm>
            <a:off x="777240" y="5376672"/>
            <a:ext cx="566928" cy="566928"/>
          </a:xfrm>
          <a:prstGeom prst="roundRect">
            <a:avLst>
              <a:gd name="adj" fmla="val 16129"/>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icon"/>
          <p:cNvSpPr/>
          <p:nvPr/>
        </p:nvSpPr>
        <p:spPr>
          <a:xfrm>
            <a:off x="943035" y="5558013"/>
            <a:ext cx="235337" cy="220044"/>
          </a:xfrm>
          <a:custGeom>
            <a:avLst/>
            <a:gdLst/>
            <a:ahLst/>
            <a:cxnLst/>
            <a:rect l="l" t="t" r="r" b="b"/>
            <a:pathLst>
              <a:path w="235337" h="220044">
                <a:moveTo>
                  <a:pt x="176629" y="0"/>
                </a:moveTo>
                <a:lnTo>
                  <a:pt x="206326" y="24372"/>
                </a:lnTo>
                <a:lnTo>
                  <a:pt x="226613" y="56996"/>
                </a:lnTo>
                <a:lnTo>
                  <a:pt x="235337" y="94410"/>
                </a:lnTo>
                <a:lnTo>
                  <a:pt x="231571" y="132643"/>
                </a:lnTo>
                <a:lnTo>
                  <a:pt x="215716" y="167636"/>
                </a:lnTo>
                <a:lnTo>
                  <a:pt x="189454" y="195676"/>
                </a:lnTo>
                <a:lnTo>
                  <a:pt x="155573" y="213785"/>
                </a:lnTo>
                <a:lnTo>
                  <a:pt x="117669" y="220044"/>
                </a:lnTo>
                <a:lnTo>
                  <a:pt x="79764" y="213785"/>
                </a:lnTo>
                <a:lnTo>
                  <a:pt x="45883" y="195676"/>
                </a:lnTo>
                <a:lnTo>
                  <a:pt x="19621" y="167636"/>
                </a:lnTo>
                <a:lnTo>
                  <a:pt x="3766" y="132643"/>
                </a:lnTo>
                <a:lnTo>
                  <a:pt x="0" y="94410"/>
                </a:lnTo>
                <a:lnTo>
                  <a:pt x="8724" y="56996"/>
                </a:lnTo>
                <a:lnTo>
                  <a:pt x="29011" y="24372"/>
                </a:lnTo>
                <a:lnTo>
                  <a:pt x="58708"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vis:icon"/>
          <p:cNvSpPr/>
          <p:nvPr/>
        </p:nvSpPr>
        <p:spPr>
          <a:xfrm>
            <a:off x="988477" y="5534550"/>
            <a:ext cx="54244" cy="46578"/>
          </a:xfrm>
          <a:custGeom>
            <a:avLst/>
            <a:gdLst/>
            <a:ahLst/>
            <a:cxnLst/>
            <a:rect l="l" t="t" r="r" b="b"/>
            <a:pathLst>
              <a:path w="54244" h="46578">
                <a:moveTo>
                  <a:pt x="54244" y="0"/>
                </a:moveTo>
                <a:lnTo>
                  <a:pt x="26532" y="46578"/>
                </a:lnTo>
                <a:lnTo>
                  <a:pt x="0" y="589"/>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ell:outcome"/>
          <p:cNvSpPr txBox="1"/>
          <p:nvPr/>
        </p:nvSpPr>
        <p:spPr>
          <a:xfrm>
            <a:off x="1545336" y="5413248"/>
            <a:ext cx="9814255" cy="493776"/>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101826"/>
                </a:solidFill>
                <a:latin typeface="Segoe UI"/>
              </a:rPr>
              <a:t>Build a structured prompt you reuse without rewriting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INTERACTIVE MENU</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Tap any line to jump straight there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cell:menuhint"/>
          <p:cNvSpPr txBox="1"/>
          <p:nvPr/>
        </p:nvSpPr>
        <p:spPr>
          <a:xfrm>
            <a:off x="502920" y="1554480"/>
            <a:ext cx="11185855" cy="219456"/>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Every slide has a Menu button in the top-right corner to bring you back here.</a:t>
            </a:r>
          </a:p>
        </p:txBody>
      </p:sp>
      <p:sp>
        <p:nvSpPr>
          <p:cNvPr id="8" name="nav:menurow">
            <a:hlinkClick action="ppaction://hlinksldjump" r:id="rId2"/>
          </p:cNvPr>
          <p:cNvSpPr/>
          <p:nvPr/>
        </p:nvSpPr>
        <p:spPr>
          <a:xfrm>
            <a:off x="502920" y="1828800"/>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vis:menubar"/>
          <p:cNvSpPr/>
          <p:nvPr/>
        </p:nvSpPr>
        <p:spPr>
          <a:xfrm>
            <a:off x="502920" y="1828800"/>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0" name="vis:menunum"/>
          <p:cNvSpPr txBox="1"/>
          <p:nvPr/>
        </p:nvSpPr>
        <p:spPr>
          <a:xfrm>
            <a:off x="813816" y="1883664"/>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01</a:t>
            </a:r>
          </a:p>
        </p:txBody>
      </p:sp>
      <p:sp>
        <p:nvSpPr>
          <p:cNvPr id="11" name="cell:menulabel"/>
          <p:cNvSpPr txBox="1"/>
          <p:nvPr/>
        </p:nvSpPr>
        <p:spPr>
          <a:xfrm>
            <a:off x="1344168" y="1883664"/>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Show, do not describe</a:t>
            </a:r>
          </a:p>
        </p:txBody>
      </p:sp>
      <p:sp>
        <p:nvSpPr>
          <p:cNvPr id="12" name="cell:menusub"/>
          <p:cNvSpPr txBox="1"/>
          <p:nvPr/>
        </p:nvSpPr>
        <p:spPr>
          <a:xfrm>
            <a:off x="7134682" y="1883664"/>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Why one example wins</a:t>
            </a:r>
          </a:p>
        </p:txBody>
      </p:sp>
      <p:cxnSp>
        <p:nvCxnSpPr>
          <p:cNvPr id="13" name="vis:menuarrow"/>
          <p:cNvCxnSpPr/>
          <p:nvPr/>
        </p:nvCxnSpPr>
        <p:spPr>
          <a:xfrm>
            <a:off x="11213287" y="1997049"/>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nav:menurow">
            <a:hlinkClick action="ppaction://hlinksldjump" r:id="rId3"/>
          </p:cNvPr>
          <p:cNvSpPr/>
          <p:nvPr/>
        </p:nvSpPr>
        <p:spPr>
          <a:xfrm>
            <a:off x="502920" y="2256739"/>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menubar"/>
          <p:cNvSpPr/>
          <p:nvPr/>
        </p:nvSpPr>
        <p:spPr>
          <a:xfrm>
            <a:off x="502920" y="2256739"/>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enunum"/>
          <p:cNvSpPr txBox="1"/>
          <p:nvPr/>
        </p:nvSpPr>
        <p:spPr>
          <a:xfrm>
            <a:off x="813816" y="2311603"/>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02</a:t>
            </a:r>
          </a:p>
        </p:txBody>
      </p:sp>
      <p:sp>
        <p:nvSpPr>
          <p:cNvPr id="17" name="cell:menulabel"/>
          <p:cNvSpPr txBox="1"/>
          <p:nvPr/>
        </p:nvSpPr>
        <p:spPr>
          <a:xfrm>
            <a:off x="1344168" y="2311603"/>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One example, done well</a:t>
            </a:r>
          </a:p>
        </p:txBody>
      </p:sp>
      <p:sp>
        <p:nvSpPr>
          <p:cNvPr id="18" name="cell:menusub"/>
          <p:cNvSpPr txBox="1"/>
          <p:nvPr/>
        </p:nvSpPr>
        <p:spPr>
          <a:xfrm>
            <a:off x="7134682" y="2311603"/>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worked pattern</a:t>
            </a:r>
          </a:p>
        </p:txBody>
      </p:sp>
      <p:cxnSp>
        <p:nvCxnSpPr>
          <p:cNvPr id="19" name="vis:menuarrow"/>
          <p:cNvCxnSpPr/>
          <p:nvPr/>
        </p:nvCxnSpPr>
        <p:spPr>
          <a:xfrm>
            <a:off x="11213287" y="242498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nav:menurow">
            <a:hlinkClick action="ppaction://hlinksldjump" r:id="rId4"/>
          </p:cNvPr>
          <p:cNvSpPr/>
          <p:nvPr/>
        </p:nvSpPr>
        <p:spPr>
          <a:xfrm>
            <a:off x="502920" y="2684678"/>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menubar"/>
          <p:cNvSpPr/>
          <p:nvPr/>
        </p:nvSpPr>
        <p:spPr>
          <a:xfrm>
            <a:off x="502920" y="2684678"/>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menunum"/>
          <p:cNvSpPr txBox="1"/>
          <p:nvPr/>
        </p:nvSpPr>
        <p:spPr>
          <a:xfrm>
            <a:off x="813816" y="2739542"/>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03</a:t>
            </a:r>
          </a:p>
        </p:txBody>
      </p:sp>
      <p:sp>
        <p:nvSpPr>
          <p:cNvPr id="23" name="cell:menulabel"/>
          <p:cNvSpPr txBox="1"/>
          <p:nvPr/>
        </p:nvSpPr>
        <p:spPr>
          <a:xfrm>
            <a:off x="1344168" y="2739542"/>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Two examples fix tone</a:t>
            </a:r>
          </a:p>
        </p:txBody>
      </p:sp>
      <p:sp>
        <p:nvSpPr>
          <p:cNvPr id="24" name="cell:menusub"/>
          <p:cNvSpPr txBox="1"/>
          <p:nvPr/>
        </p:nvSpPr>
        <p:spPr>
          <a:xfrm>
            <a:off x="7134682" y="2739542"/>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What description cannot reach</a:t>
            </a:r>
          </a:p>
        </p:txBody>
      </p:sp>
      <p:cxnSp>
        <p:nvCxnSpPr>
          <p:cNvPr id="25" name="vis:menuarrow"/>
          <p:cNvCxnSpPr/>
          <p:nvPr/>
        </p:nvCxnSpPr>
        <p:spPr>
          <a:xfrm>
            <a:off x="11213287" y="2852928"/>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nav:menurow">
            <a:hlinkClick action="ppaction://hlinksldjump" r:id="rId5"/>
          </p:cNvPr>
          <p:cNvSpPr/>
          <p:nvPr/>
        </p:nvSpPr>
        <p:spPr>
          <a:xfrm>
            <a:off x="502920" y="3112617"/>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menubar"/>
          <p:cNvSpPr/>
          <p:nvPr/>
        </p:nvSpPr>
        <p:spPr>
          <a:xfrm>
            <a:off x="502920" y="3112617"/>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menunum"/>
          <p:cNvSpPr txBox="1"/>
          <p:nvPr/>
        </p:nvSpPr>
        <p:spPr>
          <a:xfrm>
            <a:off x="813816" y="3167481"/>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04</a:t>
            </a:r>
          </a:p>
        </p:txBody>
      </p:sp>
      <p:sp>
        <p:nvSpPr>
          <p:cNvPr id="29" name="cell:menulabel"/>
          <p:cNvSpPr txBox="1"/>
          <p:nvPr/>
        </p:nvSpPr>
        <p:spPr>
          <a:xfrm>
            <a:off x="1344168" y="3167481"/>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Fill-in-the-blanks</a:t>
            </a:r>
          </a:p>
        </p:txBody>
      </p:sp>
      <p:sp>
        <p:nvSpPr>
          <p:cNvPr id="30" name="cell:menusub"/>
          <p:cNvSpPr txBox="1"/>
          <p:nvPr/>
        </p:nvSpPr>
        <p:spPr>
          <a:xfrm>
            <a:off x="7134682" y="3167481"/>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Structure that cannot drift</a:t>
            </a:r>
          </a:p>
        </p:txBody>
      </p:sp>
      <p:cxnSp>
        <p:nvCxnSpPr>
          <p:cNvPr id="31" name="vis:menuarrow"/>
          <p:cNvCxnSpPr/>
          <p:nvPr/>
        </p:nvCxnSpPr>
        <p:spPr>
          <a:xfrm>
            <a:off x="11213287" y="3280867"/>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nav:menurow">
            <a:hlinkClick action="ppaction://hlinksldjump" r:id="rId6"/>
          </p:cNvPr>
          <p:cNvSpPr/>
          <p:nvPr/>
        </p:nvSpPr>
        <p:spPr>
          <a:xfrm>
            <a:off x="502920" y="354055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menubar"/>
          <p:cNvSpPr/>
          <p:nvPr/>
        </p:nvSpPr>
        <p:spPr>
          <a:xfrm>
            <a:off x="502920" y="354055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vis:menunum"/>
          <p:cNvSpPr txBox="1"/>
          <p:nvPr/>
        </p:nvSpPr>
        <p:spPr>
          <a:xfrm>
            <a:off x="813816" y="3595420"/>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05</a:t>
            </a:r>
          </a:p>
        </p:txBody>
      </p:sp>
      <p:sp>
        <p:nvSpPr>
          <p:cNvPr id="35" name="cell:menulabel"/>
          <p:cNvSpPr txBox="1"/>
          <p:nvPr/>
        </p:nvSpPr>
        <p:spPr>
          <a:xfrm>
            <a:off x="1344168" y="3595420"/>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Do this now</a:t>
            </a:r>
          </a:p>
        </p:txBody>
      </p:sp>
      <p:sp>
        <p:nvSpPr>
          <p:cNvPr id="36" name="cell:menusub"/>
          <p:cNvSpPr txBox="1"/>
          <p:nvPr/>
        </p:nvSpPr>
        <p:spPr>
          <a:xfrm>
            <a:off x="7134682" y="3595420"/>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Turn a repeat job into a template</a:t>
            </a:r>
          </a:p>
        </p:txBody>
      </p:sp>
      <p:cxnSp>
        <p:nvCxnSpPr>
          <p:cNvPr id="37" name="vis:menuarrow"/>
          <p:cNvCxnSpPr/>
          <p:nvPr/>
        </p:nvCxnSpPr>
        <p:spPr>
          <a:xfrm>
            <a:off x="11213287" y="3708806"/>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8" name="nav:menurow">
            <a:hlinkClick action="ppaction://hlinksldjump" r:id="rId7"/>
          </p:cNvPr>
          <p:cNvSpPr/>
          <p:nvPr/>
        </p:nvSpPr>
        <p:spPr>
          <a:xfrm>
            <a:off x="502920" y="3968496"/>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enubar"/>
          <p:cNvSpPr/>
          <p:nvPr/>
        </p:nvSpPr>
        <p:spPr>
          <a:xfrm>
            <a:off x="502920" y="3968496"/>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vis:menunum"/>
          <p:cNvSpPr txBox="1"/>
          <p:nvPr/>
        </p:nvSpPr>
        <p:spPr>
          <a:xfrm>
            <a:off x="813816" y="402335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06</a:t>
            </a:r>
          </a:p>
        </p:txBody>
      </p:sp>
      <p:sp>
        <p:nvSpPr>
          <p:cNvPr id="41" name="cell:menulabel"/>
          <p:cNvSpPr txBox="1"/>
          <p:nvPr/>
        </p:nvSpPr>
        <p:spPr>
          <a:xfrm>
            <a:off x="1344168" y="402335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Choose what you'd do</a:t>
            </a:r>
          </a:p>
        </p:txBody>
      </p:sp>
      <p:sp>
        <p:nvSpPr>
          <p:cNvPr id="42" name="cell:menusub"/>
          <p:cNvSpPr txBox="1"/>
          <p:nvPr/>
        </p:nvSpPr>
        <p:spPr>
          <a:xfrm>
            <a:off x="7134682" y="402335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month-end decision</a:t>
            </a:r>
          </a:p>
        </p:txBody>
      </p:sp>
      <p:cxnSp>
        <p:nvCxnSpPr>
          <p:cNvPr id="43" name="vis:menuarrow"/>
          <p:cNvCxnSpPr/>
          <p:nvPr/>
        </p:nvCxnSpPr>
        <p:spPr>
          <a:xfrm>
            <a:off x="11213287" y="4136745"/>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nav:menurow">
            <a:hlinkClick action="ppaction://hlinksldjump" r:id="rId8"/>
          </p:cNvPr>
          <p:cNvSpPr/>
          <p:nvPr/>
        </p:nvSpPr>
        <p:spPr>
          <a:xfrm>
            <a:off x="502920" y="4396435"/>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enubar"/>
          <p:cNvSpPr/>
          <p:nvPr/>
        </p:nvSpPr>
        <p:spPr>
          <a:xfrm>
            <a:off x="502920" y="4396435"/>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enunum"/>
          <p:cNvSpPr txBox="1"/>
          <p:nvPr/>
        </p:nvSpPr>
        <p:spPr>
          <a:xfrm>
            <a:off x="813816" y="4451299"/>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07</a:t>
            </a:r>
          </a:p>
        </p:txBody>
      </p:sp>
      <p:sp>
        <p:nvSpPr>
          <p:cNvPr id="47" name="cell:menulabel"/>
          <p:cNvSpPr txBox="1"/>
          <p:nvPr/>
        </p:nvSpPr>
        <p:spPr>
          <a:xfrm>
            <a:off x="1344168" y="4451299"/>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Watch this</a:t>
            </a:r>
          </a:p>
        </p:txBody>
      </p:sp>
      <p:sp>
        <p:nvSpPr>
          <p:cNvPr id="48" name="cell:menusub"/>
          <p:cNvSpPr txBox="1"/>
          <p:nvPr/>
        </p:nvSpPr>
        <p:spPr>
          <a:xfrm>
            <a:off x="7134682" y="4451299"/>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A 5-minute outside explainer</a:t>
            </a:r>
          </a:p>
        </p:txBody>
      </p:sp>
      <p:cxnSp>
        <p:nvCxnSpPr>
          <p:cNvPr id="49" name="vis:menuarrow"/>
          <p:cNvCxnSpPr/>
          <p:nvPr/>
        </p:nvCxnSpPr>
        <p:spPr>
          <a:xfrm>
            <a:off x="11213287" y="456468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0" name="nav:menurow">
            <a:hlinkClick action="ppaction://hlinksldjump" r:id="rId9"/>
          </p:cNvPr>
          <p:cNvSpPr/>
          <p:nvPr/>
        </p:nvSpPr>
        <p:spPr>
          <a:xfrm>
            <a:off x="502920" y="4824374"/>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menubar"/>
          <p:cNvSpPr/>
          <p:nvPr/>
        </p:nvSpPr>
        <p:spPr>
          <a:xfrm>
            <a:off x="502920" y="4824374"/>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2" name="vis:menunum"/>
          <p:cNvSpPr txBox="1"/>
          <p:nvPr/>
        </p:nvSpPr>
        <p:spPr>
          <a:xfrm>
            <a:off x="813816" y="4879238"/>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08</a:t>
            </a:r>
          </a:p>
        </p:txBody>
      </p:sp>
      <p:sp>
        <p:nvSpPr>
          <p:cNvPr id="53" name="cell:menulabel"/>
          <p:cNvSpPr txBox="1"/>
          <p:nvPr/>
        </p:nvSpPr>
        <p:spPr>
          <a:xfrm>
            <a:off x="1344168" y="4879238"/>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Quiz</a:t>
            </a:r>
          </a:p>
        </p:txBody>
      </p:sp>
      <p:sp>
        <p:nvSpPr>
          <p:cNvPr id="54" name="cell:menusub"/>
          <p:cNvSpPr txBox="1"/>
          <p:nvPr/>
        </p:nvSpPr>
        <p:spPr>
          <a:xfrm>
            <a:off x="7134682" y="4879238"/>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5 questions, instant feedback</a:t>
            </a:r>
          </a:p>
        </p:txBody>
      </p:sp>
      <p:cxnSp>
        <p:nvCxnSpPr>
          <p:cNvPr id="55" name="vis:menuarrow"/>
          <p:cNvCxnSpPr/>
          <p:nvPr/>
        </p:nvCxnSpPr>
        <p:spPr>
          <a:xfrm>
            <a:off x="11213287" y="499262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nav:menurow">
            <a:hlinkClick action="ppaction://hlinksldjump" r:id="rId10"/>
          </p:cNvPr>
          <p:cNvSpPr/>
          <p:nvPr/>
        </p:nvSpPr>
        <p:spPr>
          <a:xfrm>
            <a:off x="502920" y="5252313"/>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7" name="vis:menubar"/>
          <p:cNvSpPr/>
          <p:nvPr/>
        </p:nvSpPr>
        <p:spPr>
          <a:xfrm>
            <a:off x="502920" y="5252313"/>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8" name="vis:menunum"/>
          <p:cNvSpPr txBox="1"/>
          <p:nvPr/>
        </p:nvSpPr>
        <p:spPr>
          <a:xfrm>
            <a:off x="813816" y="5307177"/>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09</a:t>
            </a:r>
          </a:p>
        </p:txBody>
      </p:sp>
      <p:sp>
        <p:nvSpPr>
          <p:cNvPr id="59" name="cell:menulabel"/>
          <p:cNvSpPr txBox="1"/>
          <p:nvPr/>
        </p:nvSpPr>
        <p:spPr>
          <a:xfrm>
            <a:off x="1344168" y="5307177"/>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Recap card</a:t>
            </a:r>
          </a:p>
        </p:txBody>
      </p:sp>
      <p:sp>
        <p:nvSpPr>
          <p:cNvPr id="60" name="cell:menusub"/>
          <p:cNvSpPr txBox="1"/>
          <p:nvPr/>
        </p:nvSpPr>
        <p:spPr>
          <a:xfrm>
            <a:off x="7134682" y="5307177"/>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whole topic on one screen</a:t>
            </a:r>
          </a:p>
        </p:txBody>
      </p:sp>
      <p:cxnSp>
        <p:nvCxnSpPr>
          <p:cNvPr id="61" name="vis:menuarrow"/>
          <p:cNvCxnSpPr/>
          <p:nvPr/>
        </p:nvCxnSpPr>
        <p:spPr>
          <a:xfrm>
            <a:off x="11213287" y="5420563"/>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nav:menurow">
            <a:hlinkClick action="ppaction://hlinksldjump" r:id="rId11"/>
          </p:cNvPr>
          <p:cNvSpPr/>
          <p:nvPr/>
        </p:nvSpPr>
        <p:spPr>
          <a:xfrm>
            <a:off x="502920" y="5680252"/>
            <a:ext cx="11185855" cy="336499"/>
          </a:xfrm>
          <a:prstGeom prst="roundRect">
            <a:avLst>
              <a:gd name="adj" fmla="val 2173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3" name="vis:menubar"/>
          <p:cNvSpPr/>
          <p:nvPr/>
        </p:nvSpPr>
        <p:spPr>
          <a:xfrm>
            <a:off x="502920" y="5680252"/>
            <a:ext cx="68580" cy="336499"/>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4" name="vis:menunum"/>
          <p:cNvSpPr txBox="1"/>
          <p:nvPr/>
        </p:nvSpPr>
        <p:spPr>
          <a:xfrm>
            <a:off x="813816" y="5735116"/>
            <a:ext cx="402336" cy="22677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6A2FA0"/>
                </a:solidFill>
                <a:latin typeface="Segoe UI Semibold"/>
              </a:rPr>
              <a:t>10</a:t>
            </a:r>
          </a:p>
        </p:txBody>
      </p:sp>
      <p:sp>
        <p:nvSpPr>
          <p:cNvPr id="65" name="cell:menulabel"/>
          <p:cNvSpPr txBox="1"/>
          <p:nvPr/>
        </p:nvSpPr>
        <p:spPr>
          <a:xfrm>
            <a:off x="1344168" y="5735116"/>
            <a:ext cx="4554093" cy="226771"/>
          </a:xfrm>
          <a:prstGeom prst="rect">
            <a:avLst/>
          </a:prstGeom>
          <a:noFill/>
        </p:spPr>
        <p:txBody>
          <a:bodyPr wrap="square" lIns="0" rIns="0" tIns="0" bIns="0" anchor="ctr">
            <a:spAutoFit/>
          </a:bodyPr>
          <a:lstStyle/>
          <a:p>
            <a:pPr algn="l">
              <a:lnSpc>
                <a:spcPts val="1755"/>
              </a:lnSpc>
              <a:spcBef>
                <a:spcPts val="0"/>
              </a:spcBef>
              <a:spcAft>
                <a:spcPts val="0"/>
              </a:spcAft>
            </a:pPr>
            <a:r>
              <a:rPr sz="1350" b="0">
                <a:solidFill>
                  <a:srgbClr val="101826"/>
                </a:solidFill>
                <a:latin typeface="Segoe UI Semibold"/>
              </a:rPr>
              <a:t>Your toolkit</a:t>
            </a:r>
          </a:p>
        </p:txBody>
      </p:sp>
      <p:sp>
        <p:nvSpPr>
          <p:cNvPr id="66" name="cell:menusub"/>
          <p:cNvSpPr txBox="1"/>
          <p:nvPr/>
        </p:nvSpPr>
        <p:spPr>
          <a:xfrm>
            <a:off x="7134682" y="5735116"/>
            <a:ext cx="3606698" cy="226771"/>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Templates, links, what to do next</a:t>
            </a:r>
          </a:p>
        </p:txBody>
      </p:sp>
      <p:cxnSp>
        <p:nvCxnSpPr>
          <p:cNvPr id="67" name="vis:menuarrow"/>
          <p:cNvCxnSpPr/>
          <p:nvPr/>
        </p:nvCxnSpPr>
        <p:spPr>
          <a:xfrm>
            <a:off x="11213287" y="5848502"/>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SHOW, DO NOT DESCRIBE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one example wins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Describing a format is a translation step. An example removes it entirely.</a:t>
            </a:r>
          </a:p>
        </p:txBody>
      </p:sp>
      <p:sp>
        <p:nvSpPr>
          <p:cNvPr id="16" name="vis:flowcard"/>
          <p:cNvSpPr/>
          <p:nvPr/>
        </p:nvSpPr>
        <p:spPr>
          <a:xfrm>
            <a:off x="502920"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flownum"/>
          <p:cNvSpPr/>
          <p:nvPr/>
        </p:nvSpPr>
        <p:spPr>
          <a:xfrm>
            <a:off x="685800"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flownumtext"/>
          <p:cNvSpPr txBox="1"/>
          <p:nvPr/>
        </p:nvSpPr>
        <p:spPr>
          <a:xfrm>
            <a:off x="685800"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sp>
        <p:nvSpPr>
          <p:cNvPr id="19" name="vis:flowtitle"/>
          <p:cNvSpPr txBox="1"/>
          <p:nvPr/>
        </p:nvSpPr>
        <p:spPr>
          <a:xfrm>
            <a:off x="704088"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describe a format</a:t>
            </a:r>
          </a:p>
        </p:txBody>
      </p:sp>
      <p:sp>
        <p:nvSpPr>
          <p:cNvPr id="20" name="vis:flowsub"/>
          <p:cNvSpPr txBox="1"/>
          <p:nvPr/>
        </p:nvSpPr>
        <p:spPr>
          <a:xfrm>
            <a:off x="704088"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Three sentences about columns and order.</a:t>
            </a:r>
          </a:p>
        </p:txBody>
      </p:sp>
      <p:cxnSp>
        <p:nvCxnSpPr>
          <p:cNvPr id="21" name="vis:flowarrow"/>
          <p:cNvCxnSpPr/>
          <p:nvPr/>
        </p:nvCxnSpPr>
        <p:spPr>
          <a:xfrm>
            <a:off x="3093643" y="389534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vis:flowcard"/>
          <p:cNvSpPr/>
          <p:nvPr/>
        </p:nvSpPr>
        <p:spPr>
          <a:xfrm>
            <a:off x="3395395"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flownum"/>
          <p:cNvSpPr/>
          <p:nvPr/>
        </p:nvSpPr>
        <p:spPr>
          <a:xfrm>
            <a:off x="3578275"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flownumtext"/>
          <p:cNvSpPr txBox="1"/>
          <p:nvPr/>
        </p:nvSpPr>
        <p:spPr>
          <a:xfrm>
            <a:off x="3578275"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sp>
        <p:nvSpPr>
          <p:cNvPr id="25" name="vis:flowtitle"/>
          <p:cNvSpPr txBox="1"/>
          <p:nvPr/>
        </p:nvSpPr>
        <p:spPr>
          <a:xfrm>
            <a:off x="3596563"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It interprets them</a:t>
            </a:r>
          </a:p>
        </p:txBody>
      </p:sp>
      <p:sp>
        <p:nvSpPr>
          <p:cNvPr id="26" name="vis:flowsub"/>
          <p:cNvSpPr txBox="1"/>
          <p:nvPr/>
        </p:nvSpPr>
        <p:spPr>
          <a:xfrm>
            <a:off x="3596563"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Its reading of your words, not your picture.</a:t>
            </a:r>
          </a:p>
        </p:txBody>
      </p:sp>
      <p:cxnSp>
        <p:nvCxnSpPr>
          <p:cNvPr id="27" name="vis:flowarrow"/>
          <p:cNvCxnSpPr/>
          <p:nvPr/>
        </p:nvCxnSpPr>
        <p:spPr>
          <a:xfrm>
            <a:off x="5986119" y="389534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vis:flowcard"/>
          <p:cNvSpPr/>
          <p:nvPr/>
        </p:nvSpPr>
        <p:spPr>
          <a:xfrm>
            <a:off x="6287871"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flownum"/>
          <p:cNvSpPr/>
          <p:nvPr/>
        </p:nvSpPr>
        <p:spPr>
          <a:xfrm>
            <a:off x="6470751"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flownumtext"/>
          <p:cNvSpPr txBox="1"/>
          <p:nvPr/>
        </p:nvSpPr>
        <p:spPr>
          <a:xfrm>
            <a:off x="6470751"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sp>
        <p:nvSpPr>
          <p:cNvPr id="31" name="vis:flowtitle"/>
          <p:cNvSpPr txBox="1"/>
          <p:nvPr/>
        </p:nvSpPr>
        <p:spPr>
          <a:xfrm>
            <a:off x="6489039"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You correct it</a:t>
            </a:r>
          </a:p>
        </p:txBody>
      </p:sp>
      <p:sp>
        <p:nvSpPr>
          <p:cNvPr id="32" name="vis:flowsub"/>
          <p:cNvSpPr txBox="1"/>
          <p:nvPr/>
        </p:nvSpPr>
        <p:spPr>
          <a:xfrm>
            <a:off x="6489039"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Twice, usually, and it drifts back.</a:t>
            </a:r>
          </a:p>
        </p:txBody>
      </p:sp>
      <p:cxnSp>
        <p:nvCxnSpPr>
          <p:cNvPr id="33" name="vis:flowarrow"/>
          <p:cNvCxnSpPr/>
          <p:nvPr/>
        </p:nvCxnSpPr>
        <p:spPr>
          <a:xfrm>
            <a:off x="8878595" y="3895344"/>
            <a:ext cx="219456"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vis:flowcard"/>
          <p:cNvSpPr/>
          <p:nvPr/>
        </p:nvSpPr>
        <p:spPr>
          <a:xfrm>
            <a:off x="9180347" y="2935224"/>
            <a:ext cx="2508427" cy="1920240"/>
          </a:xfrm>
          <a:prstGeom prst="roundRect">
            <a:avLst>
              <a:gd name="adj" fmla="val 476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5" name="vis:flownum"/>
          <p:cNvSpPr/>
          <p:nvPr/>
        </p:nvSpPr>
        <p:spPr>
          <a:xfrm>
            <a:off x="9363227" y="2752344"/>
            <a:ext cx="384048" cy="384048"/>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flownumtext"/>
          <p:cNvSpPr txBox="1"/>
          <p:nvPr/>
        </p:nvSpPr>
        <p:spPr>
          <a:xfrm>
            <a:off x="9363227" y="2830068"/>
            <a:ext cx="384048" cy="237744"/>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37" name="vis:flowtitle"/>
          <p:cNvSpPr txBox="1"/>
          <p:nvPr/>
        </p:nvSpPr>
        <p:spPr>
          <a:xfrm>
            <a:off x="9381515" y="3300984"/>
            <a:ext cx="2106091" cy="512064"/>
          </a:xfrm>
          <a:prstGeom prst="rect">
            <a:avLst/>
          </a:prstGeom>
          <a:noFill/>
        </p:spPr>
        <p:txBody>
          <a:bodyPr wrap="square" lIns="0" rIns="0" tIns="0" bIns="0" anchor="t">
            <a:spAutoFit/>
          </a:bodyPr>
          <a:lstStyle/>
          <a:p>
            <a:pPr algn="l">
              <a:lnSpc>
                <a:spcPts val="2080"/>
              </a:lnSpc>
              <a:spcBef>
                <a:spcPts val="0"/>
              </a:spcBef>
              <a:spcAft>
                <a:spcPts val="0"/>
              </a:spcAft>
            </a:pPr>
            <a:r>
              <a:rPr sz="1600" b="0">
                <a:solidFill>
                  <a:srgbClr val="101826"/>
                </a:solidFill>
                <a:latin typeface="Segoe UI Semibold"/>
              </a:rPr>
              <a:t>Or you show one</a:t>
            </a:r>
          </a:p>
        </p:txBody>
      </p:sp>
      <p:sp>
        <p:nvSpPr>
          <p:cNvPr id="38" name="vis:flowsub"/>
          <p:cNvSpPr txBox="1"/>
          <p:nvPr/>
        </p:nvSpPr>
        <p:spPr>
          <a:xfrm>
            <a:off x="9381515" y="3849624"/>
            <a:ext cx="2106091" cy="84124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The pattern is now unambiguous.</a:t>
            </a:r>
          </a:p>
        </p:txBody>
      </p:sp>
      <p:sp>
        <p:nvSpPr>
          <p:cNvPr id="39" name="cell:glosshint"/>
          <p:cNvSpPr txBox="1"/>
          <p:nvPr/>
        </p:nvSpPr>
        <p:spPr>
          <a:xfrm>
            <a:off x="502920" y="5687568"/>
            <a:ext cx="1609344" cy="23774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What does this mean?</a:t>
            </a:r>
          </a:p>
        </p:txBody>
      </p:sp>
      <p:sp>
        <p:nvSpPr>
          <p:cNvPr id="40" name="vis:chip"/>
          <p:cNvSpPr/>
          <p:nvPr/>
        </p:nvSpPr>
        <p:spPr>
          <a:xfrm>
            <a:off x="2221991" y="5660136"/>
            <a:ext cx="1528014" cy="274320"/>
          </a:xfrm>
          <a:prstGeom prst="roundRect">
            <a:avLst>
              <a:gd name="adj" fmla="val 16666"/>
            </a:avLst>
          </a:prstGeom>
          <a:noFill/>
          <a:ln w="12700">
            <a:solidFill>
              <a:srgbClr val="5B6779"/>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chiptext"/>
          <p:cNvSpPr txBox="1"/>
          <p:nvPr/>
        </p:nvSpPr>
        <p:spPr>
          <a:xfrm>
            <a:off x="2377439" y="5687568"/>
            <a:ext cx="121711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5B6779"/>
                </a:solidFill>
                <a:latin typeface="Segoe UI Semibold"/>
              </a:rPr>
              <a:t>FEW-SHOT  ?</a:t>
            </a:r>
          </a:p>
        </p:txBody>
      </p:sp>
      <p:sp>
        <p:nvSpPr>
          <p:cNvPr id="42" name="nav:gloss">
            <a:hlinkClick action="ppaction://hlinksldjump" r:id="rId3"/>
          </p:cNvPr>
          <p:cNvSpPr/>
          <p:nvPr/>
        </p:nvSpPr>
        <p:spPr>
          <a:xfrm>
            <a:off x="2221991" y="5660136"/>
            <a:ext cx="1528014" cy="27432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SHOW, DO NOT DESCRIBE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Describing versus showing</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outcard"/>
          <p:cNvSpPr/>
          <p:nvPr/>
        </p:nvSpPr>
        <p:spPr>
          <a:xfrm>
            <a:off x="502920"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outspine"/>
          <p:cNvSpPr/>
          <p:nvPr/>
        </p:nvSpPr>
        <p:spPr>
          <a:xfrm>
            <a:off x="502920" y="1719072"/>
            <a:ext cx="68580" cy="32918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58952" y="1920240"/>
            <a:ext cx="1387729" cy="274320"/>
          </a:xfrm>
          <a:prstGeom prst="roundRect">
            <a:avLst>
              <a:gd name="adj" fmla="val 16666"/>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14400" y="1947672"/>
            <a:ext cx="107683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DESCRIBED</a:t>
            </a:r>
          </a:p>
        </p:txBody>
      </p:sp>
      <p:sp>
        <p:nvSpPr>
          <p:cNvPr id="19" name="vis:outbody"/>
          <p:cNvSpPr txBox="1"/>
          <p:nvPr/>
        </p:nvSpPr>
        <p:spPr>
          <a:xfrm>
            <a:off x="758952"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"Give me a short summary line for each invoice, with the amount at the end in brackets."</a:t>
            </a:r>
          </a:p>
          <a:p>
            <a:pPr algn="l">
              <a:lnSpc>
                <a:spcPts val="1690"/>
              </a:lnSpc>
              <a:spcBef>
                <a:spcPts val="0"/>
              </a:spcBef>
              <a:spcAft>
                <a:spcPts val="600"/>
              </a:spcAft>
            </a:pPr>
            <a:r>
              <a:rPr sz="1300" b="0">
                <a:solidFill>
                  <a:srgbClr val="2A3547"/>
                </a:solidFill>
                <a:latin typeface="Segoe UI"/>
              </a:rPr>
              <a:t>You get full sentences, amounts in the middle, and a heading you did not ask for.</a:t>
            </a:r>
          </a:p>
          <a:p>
            <a:pPr algn="l">
              <a:lnSpc>
                <a:spcPts val="1690"/>
              </a:lnSpc>
              <a:spcBef>
                <a:spcPts val="0"/>
              </a:spcBef>
              <a:spcAft>
                <a:spcPts val="600"/>
              </a:spcAft>
            </a:pPr>
            <a:r>
              <a:rPr sz="1300" b="0">
                <a:solidFill>
                  <a:srgbClr val="2A3547"/>
                </a:solidFill>
                <a:latin typeface="Segoe UI"/>
              </a:rPr>
              <a:t>Three rounds of correction later it is nearly right.</a:t>
            </a:r>
          </a:p>
        </p:txBody>
      </p:sp>
      <p:sp>
        <p:nvSpPr>
          <p:cNvPr id="20" name="vis:outcard"/>
          <p:cNvSpPr/>
          <p:nvPr/>
        </p:nvSpPr>
        <p:spPr>
          <a:xfrm>
            <a:off x="6278727" y="1719072"/>
            <a:ext cx="5410047" cy="3291840"/>
          </a:xfrm>
          <a:prstGeom prst="roundRect">
            <a:avLst>
              <a:gd name="adj" fmla="val 27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outspine"/>
          <p:cNvSpPr/>
          <p:nvPr/>
        </p:nvSpPr>
        <p:spPr>
          <a:xfrm>
            <a:off x="6278727" y="1719072"/>
            <a:ext cx="68580" cy="329184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
          <p:cNvSpPr/>
          <p:nvPr/>
        </p:nvSpPr>
        <p:spPr>
          <a:xfrm>
            <a:off x="6534759" y="1920240"/>
            <a:ext cx="1129284"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chiptext"/>
          <p:cNvSpPr txBox="1"/>
          <p:nvPr/>
        </p:nvSpPr>
        <p:spPr>
          <a:xfrm>
            <a:off x="6690207" y="1947672"/>
            <a:ext cx="81838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SHOWN</a:t>
            </a:r>
          </a:p>
        </p:txBody>
      </p:sp>
      <p:sp>
        <p:nvSpPr>
          <p:cNvPr id="24" name="vis:outbody"/>
          <p:cNvSpPr txBox="1"/>
          <p:nvPr/>
        </p:nvSpPr>
        <p:spPr>
          <a:xfrm>
            <a:off x="6534759" y="2359152"/>
            <a:ext cx="4897983" cy="2432304"/>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"Follow this exact pattern: Ashirwad Traders — 45 days overdue, second reminder sent (₹2,40,000)"</a:t>
            </a:r>
          </a:p>
          <a:p>
            <a:pPr algn="l">
              <a:lnSpc>
                <a:spcPts val="1690"/>
              </a:lnSpc>
              <a:spcBef>
                <a:spcPts val="0"/>
              </a:spcBef>
              <a:spcAft>
                <a:spcPts val="600"/>
              </a:spcAft>
            </a:pPr>
            <a:r>
              <a:rPr sz="1300" b="0">
                <a:solidFill>
                  <a:srgbClr val="2A3547"/>
                </a:solidFill>
                <a:latin typeface="Segoe UI"/>
              </a:rPr>
              <a:t>You get twelve lines in that shape, first time.</a:t>
            </a:r>
          </a:p>
          <a:p>
            <a:pPr algn="l">
              <a:lnSpc>
                <a:spcPts val="1690"/>
              </a:lnSpc>
              <a:spcBef>
                <a:spcPts val="0"/>
              </a:spcBef>
              <a:spcAft>
                <a:spcPts val="600"/>
              </a:spcAft>
            </a:pPr>
            <a:r>
              <a:rPr sz="1300" b="0">
                <a:solidFill>
                  <a:srgbClr val="2A3547"/>
                </a:solidFill>
                <a:latin typeface="Segoe UI"/>
              </a:rPr>
              <a:t>Nothing to correct, because nothing was open to interpretation.</a:t>
            </a:r>
          </a:p>
        </p:txBody>
      </p:sp>
      <p:sp>
        <p:nvSpPr>
          <p:cNvPr id="25" name="cell:banote"/>
          <p:cNvSpPr txBox="1"/>
          <p:nvPr/>
        </p:nvSpPr>
        <p:spPr>
          <a:xfrm>
            <a:off x="502920" y="5193792"/>
            <a:ext cx="11185855" cy="34747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An example is not a hint. It is the specification, written in the only language that cannot be misread.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ONE EXAMPLE, DONE WELL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one-example prompt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Rewrite each line below to follow this exact pattern, and nothing else: Ashirwad Traders — 45 days overdue, second reminder sent (₹2,40,000). Keep the same punctuation, the same order and the brackets. No heading, no introduction, one line per entry.</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Then paste your messy lines underneath it.</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example fixes order, punctuation and bracket style at once.</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"No heading, no introduction" stops the usual additions.</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You can check twelve lines against one pattern in seconds.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ONE EXAMPLE, DONE WELL</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makes an example work</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is complete — no gaps for the tool to interpret.</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is real — an actual line you would have written.</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shows edge details — punctuation, casing, brackets.</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It is followed by "same pattern, nothing else".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TWO EXAMPLES FIX TONE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Two examples fix a tone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body:lead"/>
          <p:cNvSpPr txBox="1"/>
          <p:nvPr/>
        </p:nvSpPr>
        <p:spPr>
          <a:xfrm>
            <a:off x="502920" y="1719072"/>
            <a:ext cx="8343671" cy="548640"/>
          </a:xfrm>
          <a:prstGeom prst="rect">
            <a:avLst/>
          </a:prstGeom>
          <a:noFill/>
        </p:spPr>
        <p:txBody>
          <a:bodyPr wrap="square" lIns="0" rIns="0" tIns="0" bIns="0" anchor="t">
            <a:spAutoFit/>
          </a:bodyPr>
          <a:lstStyle/>
          <a:p>
            <a:pPr algn="l">
              <a:lnSpc>
                <a:spcPts val="2340"/>
              </a:lnSpc>
              <a:spcBef>
                <a:spcPts val="0"/>
              </a:spcBef>
              <a:spcAft>
                <a:spcPts val="0"/>
              </a:spcAft>
            </a:pPr>
            <a:r>
              <a:rPr sz="1800" b="0">
                <a:solidFill>
                  <a:srgbClr val="2A3547"/>
                </a:solidFill>
                <a:latin typeface="Segoe UI"/>
              </a:rPr>
              <a:t>Tone is the thing people describe worst and recognise instantly. Show it twice.</a:t>
            </a:r>
          </a:p>
        </p:txBody>
      </p:sp>
      <p:sp>
        <p:nvSpPr>
          <p:cNvPr id="16" name="vis:promptcard"/>
          <p:cNvSpPr/>
          <p:nvPr/>
        </p:nvSpPr>
        <p:spPr>
          <a:xfrm>
            <a:off x="502920" y="2432304"/>
            <a:ext cx="5816644"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romptbar"/>
          <p:cNvSpPr/>
          <p:nvPr/>
        </p:nvSpPr>
        <p:spPr>
          <a:xfrm>
            <a:off x="502920" y="2432304"/>
            <a:ext cx="5816644"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739932" y="2554467"/>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flipH="1">
            <a:off x="775045" y="2677363"/>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flipV="1">
            <a:off x="775045" y="2677363"/>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vis:copybtn"/>
          <p:cNvSpPr/>
          <p:nvPr/>
        </p:nvSpPr>
        <p:spPr>
          <a:xfrm>
            <a:off x="4459395" y="2505456"/>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4643007" y="2571292"/>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4661660" y="260860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4661660" y="2636580"/>
            <a:ext cx="43526"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5" name="vis:icon"/>
          <p:cNvCxnSpPr/>
          <p:nvPr/>
        </p:nvCxnSpPr>
        <p:spPr>
          <a:xfrm>
            <a:off x="4661660" y="2664561"/>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6" name="vis:copytext"/>
          <p:cNvSpPr txBox="1"/>
          <p:nvPr/>
        </p:nvSpPr>
        <p:spPr>
          <a:xfrm>
            <a:off x="4870875" y="2564892"/>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7" name="vis:prompthdr"/>
          <p:cNvSpPr txBox="1"/>
          <p:nvPr/>
        </p:nvSpPr>
        <p:spPr>
          <a:xfrm>
            <a:off x="1051560" y="2542032"/>
            <a:ext cx="3298107"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28" name="card:prompt"/>
          <p:cNvSpPr txBox="1"/>
          <p:nvPr/>
        </p:nvSpPr>
        <p:spPr>
          <a:xfrm>
            <a:off x="777240" y="2980944"/>
            <a:ext cx="5268004"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Match the tone of these two examples exactly. Example one: "Thanks — noted. I will confirm the revised date by Thursday." Example two: "Understood. We will cover the freight difference on this consignment." Now write a reply to the message below, in that same tone.</a:t>
            </a:r>
          </a:p>
        </p:txBody>
      </p:sp>
      <p:sp>
        <p:nvSpPr>
          <p:cNvPr id="29" name="vis:promptcap"/>
          <p:cNvSpPr txBox="1"/>
          <p:nvPr/>
        </p:nvSpPr>
        <p:spPr>
          <a:xfrm>
            <a:off x="777240" y="4568952"/>
            <a:ext cx="5268004"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Short, warm, no padding. Far easier to show than to describe.</a:t>
            </a:r>
          </a:p>
        </p:txBody>
      </p:sp>
      <p:sp>
        <p:nvSpPr>
          <p:cNvPr id="30" name="vis:outcard"/>
          <p:cNvSpPr/>
          <p:nvPr/>
        </p:nvSpPr>
        <p:spPr>
          <a:xfrm>
            <a:off x="6685324" y="2432304"/>
            <a:ext cx="5003450" cy="2609087"/>
          </a:xfrm>
          <a:prstGeom prst="roundRect">
            <a:avLst>
              <a:gd name="adj" fmla="val 350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outspine"/>
          <p:cNvSpPr/>
          <p:nvPr/>
        </p:nvSpPr>
        <p:spPr>
          <a:xfrm>
            <a:off x="6685324" y="2432304"/>
            <a:ext cx="68580" cy="2609087"/>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6941356" y="2633472"/>
            <a:ext cx="2087885"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7096804" y="2660904"/>
            <a:ext cx="1776989"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WHAT COMES BACK</a:t>
            </a:r>
          </a:p>
        </p:txBody>
      </p:sp>
      <p:sp>
        <p:nvSpPr>
          <p:cNvPr id="34" name="vis:outbody"/>
          <p:cNvSpPr txBox="1"/>
          <p:nvPr/>
        </p:nvSpPr>
        <p:spPr>
          <a:xfrm>
            <a:off x="6941356" y="3072384"/>
            <a:ext cx="4491386" cy="1749551"/>
          </a:xfrm>
          <a:prstGeom prst="rect">
            <a:avLst/>
          </a:prstGeom>
          <a:noFill/>
        </p:spPr>
        <p:txBody>
          <a:bodyPr wrap="square" lIns="0" rIns="0" tIns="0" bIns="0" anchor="t">
            <a:spAutoFit/>
          </a:bodyPr>
          <a:lstStyle/>
          <a:p>
            <a:pPr algn="l">
              <a:lnSpc>
                <a:spcPts val="1690"/>
              </a:lnSpc>
              <a:spcBef>
                <a:spcPts val="0"/>
              </a:spcBef>
              <a:spcAft>
                <a:spcPts val="600"/>
              </a:spcAft>
            </a:pPr>
            <a:r>
              <a:rPr sz="1300" b="0">
                <a:solidFill>
                  <a:srgbClr val="2A3547"/>
                </a:solidFill>
                <a:latin typeface="Segoe UI"/>
              </a:rPr>
              <a:t>A reply in the same clipped, decisive register as your two examples.</a:t>
            </a:r>
          </a:p>
          <a:p>
            <a:pPr algn="l">
              <a:lnSpc>
                <a:spcPts val="1690"/>
              </a:lnSpc>
              <a:spcBef>
                <a:spcPts val="0"/>
              </a:spcBef>
              <a:spcAft>
                <a:spcPts val="600"/>
              </a:spcAft>
            </a:pPr>
            <a:r>
              <a:rPr sz="1300" b="0">
                <a:solidFill>
                  <a:srgbClr val="2A3547"/>
                </a:solidFill>
                <a:latin typeface="Segoe UI"/>
              </a:rPr>
              <a:t>No "I hope this finds you well", because neither example had one.</a:t>
            </a:r>
          </a:p>
          <a:p>
            <a:pPr algn="l">
              <a:lnSpc>
                <a:spcPts val="1690"/>
              </a:lnSpc>
              <a:spcBef>
                <a:spcPts val="0"/>
              </a:spcBef>
              <a:spcAft>
                <a:spcPts val="600"/>
              </a:spcAft>
            </a:pPr>
            <a:r>
              <a:rPr sz="1300" b="0">
                <a:solidFill>
                  <a:srgbClr val="2A3547"/>
                </a:solidFill>
                <a:latin typeface="Segoe UI"/>
              </a:rPr>
              <a:t>Tone matched without you ever finding a word for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TWO EXAMPLES FIX TONE</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many examples to give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anel"/>
          <p:cNvSpPr/>
          <p:nvPr/>
        </p:nvSpPr>
        <p:spPr>
          <a:xfrm>
            <a:off x="502920"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anelspine"/>
          <p:cNvSpPr/>
          <p:nvPr/>
        </p:nvSpPr>
        <p:spPr>
          <a:xfrm>
            <a:off x="502920" y="1719072"/>
            <a:ext cx="68580" cy="42976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chip"/>
          <p:cNvSpPr/>
          <p:nvPr/>
        </p:nvSpPr>
        <p:spPr>
          <a:xfrm>
            <a:off x="777240" y="1956815"/>
            <a:ext cx="1636063"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chiptext"/>
          <p:cNvSpPr txBox="1"/>
          <p:nvPr/>
        </p:nvSpPr>
        <p:spPr>
          <a:xfrm>
            <a:off x="932688" y="1984247"/>
            <a:ext cx="132516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ONE EXAMPLE</a:t>
            </a:r>
          </a:p>
        </p:txBody>
      </p:sp>
      <p:sp>
        <p:nvSpPr>
          <p:cNvPr id="19" name="vis:paneltitle"/>
          <p:cNvSpPr txBox="1"/>
          <p:nvPr/>
        </p:nvSpPr>
        <p:spPr>
          <a:xfrm>
            <a:off x="777240"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Fixes structure</a:t>
            </a:r>
          </a:p>
        </p:txBody>
      </p:sp>
      <p:sp>
        <p:nvSpPr>
          <p:cNvPr id="20" name="vis:icon"/>
          <p:cNvSpPr/>
          <p:nvPr/>
        </p:nvSpPr>
        <p:spPr>
          <a:xfrm>
            <a:off x="799185" y="308244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844905" y="3095244"/>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2" name="vis:icon"/>
          <p:cNvSpPr/>
          <p:nvPr/>
        </p:nvSpPr>
        <p:spPr>
          <a:xfrm>
            <a:off x="799185" y="313730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44905" y="3150108"/>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vis:icon"/>
          <p:cNvSpPr/>
          <p:nvPr/>
        </p:nvSpPr>
        <p:spPr>
          <a:xfrm>
            <a:off x="799185" y="319217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844905" y="3204972"/>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panelitem"/>
          <p:cNvSpPr txBox="1"/>
          <p:nvPr/>
        </p:nvSpPr>
        <p:spPr>
          <a:xfrm>
            <a:off x="1078992"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Layout, order and punctuation</a:t>
            </a:r>
          </a:p>
        </p:txBody>
      </p:sp>
      <p:sp>
        <p:nvSpPr>
          <p:cNvPr id="27" name="vis:icon"/>
          <p:cNvSpPr/>
          <p:nvPr/>
        </p:nvSpPr>
        <p:spPr>
          <a:xfrm>
            <a:off x="799185" y="3777386"/>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844905" y="3790187"/>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9" name="vis:icon"/>
          <p:cNvSpPr/>
          <p:nvPr/>
        </p:nvSpPr>
        <p:spPr>
          <a:xfrm>
            <a:off x="799185" y="383225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844905" y="3845051"/>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1" name="vis:icon"/>
          <p:cNvSpPr/>
          <p:nvPr/>
        </p:nvSpPr>
        <p:spPr>
          <a:xfrm>
            <a:off x="799185" y="388711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4905" y="3899915"/>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3" name="vis:panelitem"/>
          <p:cNvSpPr txBox="1"/>
          <p:nvPr/>
        </p:nvSpPr>
        <p:spPr>
          <a:xfrm>
            <a:off x="1078992"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Field names and their sequence</a:t>
            </a:r>
          </a:p>
        </p:txBody>
      </p:sp>
      <p:sp>
        <p:nvSpPr>
          <p:cNvPr id="34" name="vis:icon"/>
          <p:cNvSpPr/>
          <p:nvPr/>
        </p:nvSpPr>
        <p:spPr>
          <a:xfrm>
            <a:off x="799185" y="4472330"/>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5" name="vis:icon"/>
          <p:cNvCxnSpPr/>
          <p:nvPr/>
        </p:nvCxnSpPr>
        <p:spPr>
          <a:xfrm>
            <a:off x="844905" y="4485131"/>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6" name="vis:icon"/>
          <p:cNvSpPr/>
          <p:nvPr/>
        </p:nvSpPr>
        <p:spPr>
          <a:xfrm>
            <a:off x="799185" y="452719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844905" y="4539995"/>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38" name="vis:icon"/>
          <p:cNvSpPr/>
          <p:nvPr/>
        </p:nvSpPr>
        <p:spPr>
          <a:xfrm>
            <a:off x="799185" y="458205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9" name="vis:icon"/>
          <p:cNvCxnSpPr/>
          <p:nvPr/>
        </p:nvCxnSpPr>
        <p:spPr>
          <a:xfrm>
            <a:off x="844905" y="4594859"/>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0" name="vis:panelitem"/>
          <p:cNvSpPr txBox="1"/>
          <p:nvPr/>
        </p:nvSpPr>
        <p:spPr>
          <a:xfrm>
            <a:off x="1078992"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Line length and bracket style</a:t>
            </a:r>
          </a:p>
        </p:txBody>
      </p:sp>
      <p:sp>
        <p:nvSpPr>
          <p:cNvPr id="41" name="vis:icon"/>
          <p:cNvSpPr/>
          <p:nvPr/>
        </p:nvSpPr>
        <p:spPr>
          <a:xfrm>
            <a:off x="799185" y="5167274"/>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4905" y="5180075"/>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3" name="vis:icon"/>
          <p:cNvSpPr/>
          <p:nvPr/>
        </p:nvSpPr>
        <p:spPr>
          <a:xfrm>
            <a:off x="799185" y="5222138"/>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4" name="vis:icon"/>
          <p:cNvCxnSpPr/>
          <p:nvPr/>
        </p:nvCxnSpPr>
        <p:spPr>
          <a:xfrm>
            <a:off x="844905" y="5234939"/>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5" name="vis:icon"/>
          <p:cNvSpPr/>
          <p:nvPr/>
        </p:nvSpPr>
        <p:spPr>
          <a:xfrm>
            <a:off x="799185" y="5277002"/>
            <a:ext cx="25603" cy="25603"/>
          </a:xfrm>
          <a:prstGeom prst="ellipse">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6" name="vis:icon"/>
          <p:cNvCxnSpPr/>
          <p:nvPr/>
        </p:nvCxnSpPr>
        <p:spPr>
          <a:xfrm>
            <a:off x="844905" y="5289803"/>
            <a:ext cx="113386" cy="0"/>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47" name="vis:panelitem"/>
          <p:cNvSpPr txBox="1"/>
          <p:nvPr/>
        </p:nvSpPr>
        <p:spPr>
          <a:xfrm>
            <a:off x="1078992"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Enough for most formatting jobs</a:t>
            </a:r>
          </a:p>
        </p:txBody>
      </p:sp>
      <p:sp>
        <p:nvSpPr>
          <p:cNvPr id="48" name="vis:panel"/>
          <p:cNvSpPr/>
          <p:nvPr/>
        </p:nvSpPr>
        <p:spPr>
          <a:xfrm>
            <a:off x="6251295" y="1719072"/>
            <a:ext cx="5437479" cy="4297680"/>
          </a:xfrm>
          <a:prstGeom prst="roundRect">
            <a:avLst>
              <a:gd name="adj" fmla="val 212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9" name="vis:panelspine"/>
          <p:cNvSpPr/>
          <p:nvPr/>
        </p:nvSpPr>
        <p:spPr>
          <a:xfrm>
            <a:off x="6251295"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0" name="vis:chip"/>
          <p:cNvSpPr/>
          <p:nvPr/>
        </p:nvSpPr>
        <p:spPr>
          <a:xfrm>
            <a:off x="6525615" y="1956815"/>
            <a:ext cx="1720518"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chiptext"/>
          <p:cNvSpPr txBox="1"/>
          <p:nvPr/>
        </p:nvSpPr>
        <p:spPr>
          <a:xfrm>
            <a:off x="6681063" y="1984247"/>
            <a:ext cx="140962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TWO OR THREE</a:t>
            </a:r>
          </a:p>
        </p:txBody>
      </p:sp>
      <p:sp>
        <p:nvSpPr>
          <p:cNvPr id="52" name="vis:paneltitle"/>
          <p:cNvSpPr txBox="1"/>
          <p:nvPr/>
        </p:nvSpPr>
        <p:spPr>
          <a:xfrm>
            <a:off x="6525615" y="2377439"/>
            <a:ext cx="4888839"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Fixes tone and judgement</a:t>
            </a:r>
          </a:p>
        </p:txBody>
      </p:sp>
      <p:cxnSp>
        <p:nvCxnSpPr>
          <p:cNvPr id="53" name="vis:icon"/>
          <p:cNvCxnSpPr/>
          <p:nvPr/>
        </p:nvCxnSpPr>
        <p:spPr>
          <a:xfrm>
            <a:off x="6560362" y="3153765"/>
            <a:ext cx="47549" cy="4754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54" name="vis:icon"/>
          <p:cNvCxnSpPr/>
          <p:nvPr/>
        </p:nvCxnSpPr>
        <p:spPr>
          <a:xfrm flipV="1">
            <a:off x="6607911" y="3098901"/>
            <a:ext cx="87783" cy="102413"/>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5" name="vis:panelitem"/>
          <p:cNvSpPr txBox="1"/>
          <p:nvPr/>
        </p:nvSpPr>
        <p:spPr>
          <a:xfrm>
            <a:off x="6827367" y="3017520"/>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Register — clipped, warm, formal</a:t>
            </a:r>
          </a:p>
        </p:txBody>
      </p:sp>
      <p:cxnSp>
        <p:nvCxnSpPr>
          <p:cNvPr id="56" name="vis:icon"/>
          <p:cNvCxnSpPr/>
          <p:nvPr/>
        </p:nvCxnSpPr>
        <p:spPr>
          <a:xfrm>
            <a:off x="6560362" y="3848709"/>
            <a:ext cx="47549" cy="4754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57" name="vis:icon"/>
          <p:cNvCxnSpPr/>
          <p:nvPr/>
        </p:nvCxnSpPr>
        <p:spPr>
          <a:xfrm flipV="1">
            <a:off x="6607911" y="3793845"/>
            <a:ext cx="87783" cy="102413"/>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8" name="vis:panelitem"/>
          <p:cNvSpPr txBox="1"/>
          <p:nvPr/>
        </p:nvSpPr>
        <p:spPr>
          <a:xfrm>
            <a:off x="6827367" y="3712463"/>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What to include and what to drop</a:t>
            </a:r>
          </a:p>
        </p:txBody>
      </p:sp>
      <p:cxnSp>
        <p:nvCxnSpPr>
          <p:cNvPr id="59" name="vis:icon"/>
          <p:cNvCxnSpPr/>
          <p:nvPr/>
        </p:nvCxnSpPr>
        <p:spPr>
          <a:xfrm>
            <a:off x="6560362" y="4543653"/>
            <a:ext cx="47549" cy="4754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60" name="vis:icon"/>
          <p:cNvCxnSpPr/>
          <p:nvPr/>
        </p:nvCxnSpPr>
        <p:spPr>
          <a:xfrm flipV="1">
            <a:off x="6607911" y="4488789"/>
            <a:ext cx="87783" cy="102413"/>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61" name="vis:panelitem"/>
          <p:cNvSpPr txBox="1"/>
          <p:nvPr/>
        </p:nvSpPr>
        <p:spPr>
          <a:xfrm>
            <a:off x="6827367" y="4407407"/>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How to handle an awkward case</a:t>
            </a:r>
          </a:p>
        </p:txBody>
      </p:sp>
      <p:cxnSp>
        <p:nvCxnSpPr>
          <p:cNvPr id="62" name="vis:icon"/>
          <p:cNvCxnSpPr/>
          <p:nvPr/>
        </p:nvCxnSpPr>
        <p:spPr>
          <a:xfrm>
            <a:off x="6560362" y="5238597"/>
            <a:ext cx="47549" cy="47549"/>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63" name="vis:icon"/>
          <p:cNvCxnSpPr/>
          <p:nvPr/>
        </p:nvCxnSpPr>
        <p:spPr>
          <a:xfrm flipV="1">
            <a:off x="6607911" y="5183733"/>
            <a:ext cx="87783" cy="102413"/>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64" name="vis:panelitem"/>
          <p:cNvSpPr txBox="1"/>
          <p:nvPr/>
        </p:nvSpPr>
        <p:spPr>
          <a:xfrm>
            <a:off x="6827367" y="5102351"/>
            <a:ext cx="4587087" cy="64008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2A3547"/>
                </a:solidFill>
                <a:latin typeface="Segoe UI"/>
              </a:rPr>
              <a:t>Worth it for anything customer-facing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FILL-IN-THE-BLANKS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Structure that cannot drift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promptcard"/>
          <p:cNvSpPr/>
          <p:nvPr/>
        </p:nvSpPr>
        <p:spPr>
          <a:xfrm>
            <a:off x="502920" y="1719072"/>
            <a:ext cx="6935230" cy="2377947"/>
          </a:xfrm>
          <a:prstGeom prst="roundRect">
            <a:avLst>
              <a:gd name="adj" fmla="val 384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romptbar"/>
          <p:cNvSpPr/>
          <p:nvPr/>
        </p:nvSpPr>
        <p:spPr>
          <a:xfrm>
            <a:off x="502920" y="1719072"/>
            <a:ext cx="6935230"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739932"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flipH="1">
            <a:off x="775045"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9" name="vis:icon"/>
          <p:cNvCxnSpPr/>
          <p:nvPr/>
        </p:nvCxnSpPr>
        <p:spPr>
          <a:xfrm flipV="1">
            <a:off x="775045"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copybtn"/>
          <p:cNvSpPr/>
          <p:nvPr/>
        </p:nvSpPr>
        <p:spPr>
          <a:xfrm>
            <a:off x="5577981"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icon"/>
          <p:cNvSpPr/>
          <p:nvPr/>
        </p:nvSpPr>
        <p:spPr>
          <a:xfrm>
            <a:off x="5761592"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5780246"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a:off x="5780246"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4" name="vis:icon"/>
          <p:cNvCxnSpPr/>
          <p:nvPr/>
        </p:nvCxnSpPr>
        <p:spPr>
          <a:xfrm>
            <a:off x="5780246"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5" name="vis:copytext"/>
          <p:cNvSpPr txBox="1"/>
          <p:nvPr/>
        </p:nvSpPr>
        <p:spPr>
          <a:xfrm>
            <a:off x="5989461"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26" name="vis:prompthdr"/>
          <p:cNvSpPr txBox="1"/>
          <p:nvPr/>
        </p:nvSpPr>
        <p:spPr>
          <a:xfrm>
            <a:off x="1051560" y="1828800"/>
            <a:ext cx="4416693"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structured prompt</a:t>
            </a:r>
          </a:p>
        </p:txBody>
      </p:sp>
      <p:sp>
        <p:nvSpPr>
          <p:cNvPr id="27" name="card:prompt"/>
          <p:cNvSpPr txBox="1"/>
          <p:nvPr/>
        </p:nvSpPr>
        <p:spPr>
          <a:xfrm>
            <a:off x="777240" y="2267712"/>
            <a:ext cx="6386590" cy="115569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Fill in this exact structure and change nothing else. SITUATION: one sentence. WHAT CHANGED: one sentence. IMPACT ON THE CUSTOMER: one sentence. WHAT WE ARE DOING: two sentences. NEXT UPDATE: a date. Use only the facts below and write [CHECK] where a fact is missing.</a:t>
            </a:r>
          </a:p>
        </p:txBody>
      </p:sp>
      <p:sp>
        <p:nvSpPr>
          <p:cNvPr id="28" name="vis:promptcap"/>
          <p:cNvSpPr txBox="1"/>
          <p:nvPr/>
        </p:nvSpPr>
        <p:spPr>
          <a:xfrm>
            <a:off x="777240" y="3624579"/>
            <a:ext cx="6386590"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Headings in capitals are followed far more reliably.</a:t>
            </a:r>
          </a:p>
        </p:txBody>
      </p:sp>
      <p:sp>
        <p:nvSpPr>
          <p:cNvPr id="29" name="seclabel"/>
          <p:cNvSpPr txBox="1"/>
          <p:nvPr/>
        </p:nvSpPr>
        <p:spPr>
          <a:xfrm>
            <a:off x="7803910" y="1773936"/>
            <a:ext cx="3884864"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WHY THIS WORKS</a:t>
            </a:r>
          </a:p>
        </p:txBody>
      </p:sp>
      <p:cxnSp>
        <p:nvCxnSpPr>
          <p:cNvPr id="30" name="vis:icon"/>
          <p:cNvCxnSpPr/>
          <p:nvPr/>
        </p:nvCxnSpPr>
        <p:spPr>
          <a:xfrm>
            <a:off x="7850361" y="2317455"/>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1" name="vis:icon"/>
          <p:cNvCxnSpPr/>
          <p:nvPr/>
        </p:nvCxnSpPr>
        <p:spPr>
          <a:xfrm flipV="1">
            <a:off x="7902665" y="2257104"/>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2" name="cell:why"/>
          <p:cNvSpPr txBox="1"/>
          <p:nvPr/>
        </p:nvSpPr>
        <p:spPr>
          <a:xfrm>
            <a:off x="8187958" y="2157984"/>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The shape is fixed, so every answer is comparable.</a:t>
            </a:r>
          </a:p>
        </p:txBody>
      </p:sp>
      <p:cxnSp>
        <p:nvCxnSpPr>
          <p:cNvPr id="33" name="vis:icon"/>
          <p:cNvCxnSpPr/>
          <p:nvPr/>
        </p:nvCxnSpPr>
        <p:spPr>
          <a:xfrm>
            <a:off x="7850361" y="3250143"/>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902665" y="3189792"/>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why"/>
          <p:cNvSpPr txBox="1"/>
          <p:nvPr/>
        </p:nvSpPr>
        <p:spPr>
          <a:xfrm>
            <a:off x="8187958" y="3090672"/>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[CHECK] makes a missing fact visible instead of invented.</a:t>
            </a:r>
          </a:p>
        </p:txBody>
      </p:sp>
      <p:cxnSp>
        <p:nvCxnSpPr>
          <p:cNvPr id="36" name="vis:icon"/>
          <p:cNvCxnSpPr/>
          <p:nvPr/>
        </p:nvCxnSpPr>
        <p:spPr>
          <a:xfrm>
            <a:off x="7850361" y="418283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7" name="vis:icon"/>
          <p:cNvCxnSpPr/>
          <p:nvPr/>
        </p:nvCxnSpPr>
        <p:spPr>
          <a:xfrm flipV="1">
            <a:off x="7902665" y="4122480"/>
            <a:ext cx="96561"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8" name="cell:why"/>
          <p:cNvSpPr txBox="1"/>
          <p:nvPr/>
        </p:nvSpPr>
        <p:spPr>
          <a:xfrm>
            <a:off x="8187958" y="4023360"/>
            <a:ext cx="3500816" cy="78638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Anyone on the team can read it the same way.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FILL-IN-THE-BLANKS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Where structure pays off most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ile"/>
          <p:cNvSpPr/>
          <p:nvPr/>
        </p:nvSpPr>
        <p:spPr>
          <a:xfrm>
            <a:off x="502920"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badge"/>
          <p:cNvSpPr/>
          <p:nvPr/>
        </p:nvSpPr>
        <p:spPr>
          <a:xfrm>
            <a:off x="777240"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969776" y="2222270"/>
            <a:ext cx="273295" cy="255534"/>
          </a:xfrm>
          <a:custGeom>
            <a:avLst/>
            <a:gdLst/>
            <a:ahLst/>
            <a:cxnLst/>
            <a:rect l="l" t="t" r="r" b="b"/>
            <a:pathLst>
              <a:path w="273295" h="255534">
                <a:moveTo>
                  <a:pt x="205118" y="0"/>
                </a:moveTo>
                <a:lnTo>
                  <a:pt x="239605" y="28302"/>
                </a:lnTo>
                <a:lnTo>
                  <a:pt x="263164" y="66189"/>
                </a:lnTo>
                <a:lnTo>
                  <a:pt x="273295" y="109637"/>
                </a:lnTo>
                <a:lnTo>
                  <a:pt x="268922" y="154036"/>
                </a:lnTo>
                <a:lnTo>
                  <a:pt x="250509" y="194674"/>
                </a:lnTo>
                <a:lnTo>
                  <a:pt x="220012" y="227236"/>
                </a:lnTo>
                <a:lnTo>
                  <a:pt x="180666" y="248267"/>
                </a:lnTo>
                <a:lnTo>
                  <a:pt x="136648" y="255534"/>
                </a:lnTo>
                <a:lnTo>
                  <a:pt x="92629" y="248267"/>
                </a:lnTo>
                <a:lnTo>
                  <a:pt x="53283" y="227236"/>
                </a:lnTo>
                <a:lnTo>
                  <a:pt x="22786" y="194674"/>
                </a:lnTo>
                <a:lnTo>
                  <a:pt x="4373" y="154036"/>
                </a:lnTo>
                <a:lnTo>
                  <a:pt x="0" y="109637"/>
                </a:lnTo>
                <a:lnTo>
                  <a:pt x="10131" y="66189"/>
                </a:lnTo>
                <a:lnTo>
                  <a:pt x="33690" y="28302"/>
                </a:lnTo>
                <a:lnTo>
                  <a:pt x="68177" y="0"/>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is:icon"/>
          <p:cNvSpPr/>
          <p:nvPr/>
        </p:nvSpPr>
        <p:spPr>
          <a:xfrm>
            <a:off x="1022547" y="2195022"/>
            <a:ext cx="62993" cy="54091"/>
          </a:xfrm>
          <a:custGeom>
            <a:avLst/>
            <a:gdLst/>
            <a:ahLst/>
            <a:cxnLst/>
            <a:rect l="l" t="t" r="r" b="b"/>
            <a:pathLst>
              <a:path w="62993" h="54091">
                <a:moveTo>
                  <a:pt x="62993" y="0"/>
                </a:moveTo>
                <a:lnTo>
                  <a:pt x="30812" y="54091"/>
                </a:lnTo>
                <a:lnTo>
                  <a:pt x="0" y="685"/>
                </a:lnTo>
                <a:close/>
              </a:path>
            </a:pathLst>
          </a:cu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cell:tilelabel"/>
          <p:cNvSpPr txBox="1"/>
          <p:nvPr/>
        </p:nvSpPr>
        <p:spPr>
          <a:xfrm>
            <a:off x="777240"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Anything repeated</a:t>
            </a:r>
          </a:p>
        </p:txBody>
      </p:sp>
      <p:sp>
        <p:nvSpPr>
          <p:cNvPr id="20" name="cell:tilesub"/>
          <p:cNvSpPr txBox="1"/>
          <p:nvPr/>
        </p:nvSpPr>
        <p:spPr>
          <a:xfrm>
            <a:off x="777240"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weekly update, a site report, a delay note. The shape stops being a decision every time.</a:t>
            </a:r>
          </a:p>
        </p:txBody>
      </p:sp>
      <p:sp>
        <p:nvSpPr>
          <p:cNvPr id="21" name="vis:tile"/>
          <p:cNvSpPr/>
          <p:nvPr/>
        </p:nvSpPr>
        <p:spPr>
          <a:xfrm>
            <a:off x="4322978"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badge"/>
          <p:cNvSpPr/>
          <p:nvPr/>
        </p:nvSpPr>
        <p:spPr>
          <a:xfrm>
            <a:off x="4597298"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icon"/>
          <p:cNvSpPr/>
          <p:nvPr/>
        </p:nvSpPr>
        <p:spPr>
          <a:xfrm>
            <a:off x="4861435" y="2193652"/>
            <a:ext cx="130093" cy="130093"/>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4789541" y="2375099"/>
            <a:ext cx="273881" cy="119823"/>
          </a:xfrm>
          <a:custGeom>
            <a:avLst/>
            <a:gdLst/>
            <a:ahLst/>
            <a:cxnLst/>
            <a:rect l="l" t="t" r="r" b="b"/>
            <a:pathLst>
              <a:path w="273881" h="119823">
                <a:moveTo>
                  <a:pt x="0" y="119823"/>
                </a:moveTo>
                <a:lnTo>
                  <a:pt x="20541" y="0"/>
                </a:lnTo>
                <a:lnTo>
                  <a:pt x="253340" y="0"/>
                </a:lnTo>
                <a:lnTo>
                  <a:pt x="273881" y="119823"/>
                </a:lnTo>
              </a:path>
            </a:pathLst>
          </a:cu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tilelabel"/>
          <p:cNvSpPr txBox="1"/>
          <p:nvPr/>
        </p:nvSpPr>
        <p:spPr>
          <a:xfrm>
            <a:off x="4597298"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Anything compared</a:t>
            </a:r>
          </a:p>
        </p:txBody>
      </p:sp>
      <p:sp>
        <p:nvSpPr>
          <p:cNvPr id="26" name="cell:tilesub"/>
          <p:cNvSpPr txBox="1"/>
          <p:nvPr/>
        </p:nvSpPr>
        <p:spPr>
          <a:xfrm>
            <a:off x="4597298"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Five supplier assessments in the same five fields can actually be read side by side.</a:t>
            </a:r>
          </a:p>
        </p:txBody>
      </p:sp>
      <p:sp>
        <p:nvSpPr>
          <p:cNvPr id="27" name="vis:tile"/>
          <p:cNvSpPr/>
          <p:nvPr/>
        </p:nvSpPr>
        <p:spPr>
          <a:xfrm>
            <a:off x="8143036" y="1719072"/>
            <a:ext cx="3545738" cy="2926080"/>
          </a:xfrm>
          <a:prstGeom prst="roundRect">
            <a:avLst>
              <a:gd name="adj" fmla="val 312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badge"/>
          <p:cNvSpPr/>
          <p:nvPr/>
        </p:nvSpPr>
        <p:spPr>
          <a:xfrm>
            <a:off x="8417356" y="2011679"/>
            <a:ext cx="658368" cy="658368"/>
          </a:xfrm>
          <a:prstGeom prst="roundRect">
            <a:avLst>
              <a:gd name="adj" fmla="val 13888"/>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icon"/>
          <p:cNvSpPr/>
          <p:nvPr/>
        </p:nvSpPr>
        <p:spPr>
          <a:xfrm>
            <a:off x="8599329" y="2214193"/>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0" name="vis:icon"/>
          <p:cNvCxnSpPr/>
          <p:nvPr/>
        </p:nvCxnSpPr>
        <p:spPr>
          <a:xfrm>
            <a:off x="8684917" y="2238158"/>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1" name="vis:icon"/>
          <p:cNvSpPr/>
          <p:nvPr/>
        </p:nvSpPr>
        <p:spPr>
          <a:xfrm>
            <a:off x="8599329" y="2316899"/>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684917" y="2340863"/>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3" name="vis:icon"/>
          <p:cNvSpPr/>
          <p:nvPr/>
        </p:nvSpPr>
        <p:spPr>
          <a:xfrm>
            <a:off x="8599329" y="2419604"/>
            <a:ext cx="47929" cy="47929"/>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684917" y="2443569"/>
            <a:ext cx="212258"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5" name="cell:tilelabel"/>
          <p:cNvSpPr txBox="1"/>
          <p:nvPr/>
        </p:nvSpPr>
        <p:spPr>
          <a:xfrm>
            <a:off x="8417356" y="2852928"/>
            <a:ext cx="2997098" cy="566928"/>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Anything handed over</a:t>
            </a:r>
          </a:p>
        </p:txBody>
      </p:sp>
      <p:sp>
        <p:nvSpPr>
          <p:cNvPr id="36" name="cell:tilesub"/>
          <p:cNvSpPr txBox="1"/>
          <p:nvPr/>
        </p:nvSpPr>
        <p:spPr>
          <a:xfrm>
            <a:off x="8417356" y="3493008"/>
            <a:ext cx="2997098" cy="91440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colleague picking it up knows exactly where each piece of information lives.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Do this now: build one template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tepnum"/>
          <p:cNvSpPr/>
          <p:nvPr/>
        </p:nvSpPr>
        <p:spPr>
          <a:xfrm>
            <a:off x="502920" y="2027681"/>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stepnumtext"/>
          <p:cNvSpPr txBox="1"/>
          <p:nvPr/>
        </p:nvSpPr>
        <p:spPr>
          <a:xfrm>
            <a:off x="502920" y="2105406"/>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1</a:t>
            </a:r>
          </a:p>
        </p:txBody>
      </p:sp>
      <p:cxnSp>
        <p:nvCxnSpPr>
          <p:cNvPr id="17" name="vis:line"/>
          <p:cNvCxnSpPr/>
          <p:nvPr/>
        </p:nvCxnSpPr>
        <p:spPr>
          <a:xfrm>
            <a:off x="676656" y="2375154"/>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18" name="cell:step"/>
          <p:cNvSpPr txBox="1"/>
          <p:nvPr/>
        </p:nvSpPr>
        <p:spPr>
          <a:xfrm>
            <a:off x="1051560" y="1719072"/>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Find a document you produce more than once a month.</a:t>
            </a:r>
          </a:p>
        </p:txBody>
      </p:sp>
      <p:sp>
        <p:nvSpPr>
          <p:cNvPr id="19" name="vis:stepnum"/>
          <p:cNvSpPr/>
          <p:nvPr/>
        </p:nvSpPr>
        <p:spPr>
          <a:xfrm>
            <a:off x="502920" y="3138677"/>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stepnumtext"/>
          <p:cNvSpPr txBox="1"/>
          <p:nvPr/>
        </p:nvSpPr>
        <p:spPr>
          <a:xfrm>
            <a:off x="502920" y="3216401"/>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2</a:t>
            </a:r>
          </a:p>
        </p:txBody>
      </p:sp>
      <p:cxnSp>
        <p:nvCxnSpPr>
          <p:cNvPr id="21" name="vis:line"/>
          <p:cNvCxnSpPr/>
          <p:nvPr/>
        </p:nvCxnSpPr>
        <p:spPr>
          <a:xfrm>
            <a:off x="676656" y="3486150"/>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2" name="cell:step"/>
          <p:cNvSpPr txBox="1"/>
          <p:nvPr/>
        </p:nvSpPr>
        <p:spPr>
          <a:xfrm>
            <a:off x="1051560" y="2830068"/>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Take the best one you have ever written and open it.</a:t>
            </a:r>
          </a:p>
        </p:txBody>
      </p:sp>
      <p:sp>
        <p:nvSpPr>
          <p:cNvPr id="23" name="vis:stepnum"/>
          <p:cNvSpPr/>
          <p:nvPr/>
        </p:nvSpPr>
        <p:spPr>
          <a:xfrm>
            <a:off x="502920" y="4249674"/>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stepnumtext"/>
          <p:cNvSpPr txBox="1"/>
          <p:nvPr/>
        </p:nvSpPr>
        <p:spPr>
          <a:xfrm>
            <a:off x="502920" y="4327398"/>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3</a:t>
            </a:r>
          </a:p>
        </p:txBody>
      </p:sp>
      <p:cxnSp>
        <p:nvCxnSpPr>
          <p:cNvPr id="25" name="vis:line"/>
          <p:cNvCxnSpPr/>
          <p:nvPr/>
        </p:nvCxnSpPr>
        <p:spPr>
          <a:xfrm>
            <a:off x="676656" y="4597146"/>
            <a:ext cx="0" cy="76352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6" name="cell:step"/>
          <p:cNvSpPr txBox="1"/>
          <p:nvPr/>
        </p:nvSpPr>
        <p:spPr>
          <a:xfrm>
            <a:off x="1051560" y="3941064"/>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Paste it in with the prompt on the right.</a:t>
            </a:r>
          </a:p>
        </p:txBody>
      </p:sp>
      <p:sp>
        <p:nvSpPr>
          <p:cNvPr id="27" name="vis:stepnum"/>
          <p:cNvSpPr/>
          <p:nvPr/>
        </p:nvSpPr>
        <p:spPr>
          <a:xfrm>
            <a:off x="502920" y="5360670"/>
            <a:ext cx="347472" cy="34747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stepnumtext"/>
          <p:cNvSpPr txBox="1"/>
          <p:nvPr/>
        </p:nvSpPr>
        <p:spPr>
          <a:xfrm>
            <a:off x="502920" y="5438394"/>
            <a:ext cx="347472" cy="219456"/>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4</a:t>
            </a:r>
          </a:p>
        </p:txBody>
      </p:sp>
      <p:sp>
        <p:nvSpPr>
          <p:cNvPr id="29" name="cell:step"/>
          <p:cNvSpPr txBox="1"/>
          <p:nvPr/>
        </p:nvSpPr>
        <p:spPr>
          <a:xfrm>
            <a:off x="1051560" y="5052060"/>
            <a:ext cx="5044287" cy="964692"/>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2A3547"/>
                </a:solidFill>
                <a:latin typeface="Segoe UI"/>
              </a:rPr>
              <a:t>Save what comes back. That is your template from now on.</a:t>
            </a:r>
          </a:p>
        </p:txBody>
      </p:sp>
      <p:sp>
        <p:nvSpPr>
          <p:cNvPr id="30" name="vis:promptcard"/>
          <p:cNvSpPr/>
          <p:nvPr/>
        </p:nvSpPr>
        <p:spPr>
          <a:xfrm>
            <a:off x="6461607" y="1719072"/>
            <a:ext cx="5227167" cy="2609087"/>
          </a:xfrm>
          <a:prstGeom prst="roundRect">
            <a:avLst>
              <a:gd name="adj" fmla="val 3504"/>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promptbar"/>
          <p:cNvSpPr/>
          <p:nvPr/>
        </p:nvSpPr>
        <p:spPr>
          <a:xfrm>
            <a:off x="6461607" y="1719072"/>
            <a:ext cx="5227167" cy="402336"/>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6698620" y="1841235"/>
            <a:ext cx="184343" cy="122895"/>
          </a:xfrm>
          <a:prstGeom prst="roundRect">
            <a:avLst>
              <a:gd name="adj" fmla="val 37202"/>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flipH="1">
            <a:off x="6733733" y="1964131"/>
            <a:ext cx="8778"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6733733" y="1964131"/>
            <a:ext cx="48280" cy="4828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5" name="vis:copybtn"/>
          <p:cNvSpPr/>
          <p:nvPr/>
        </p:nvSpPr>
        <p:spPr>
          <a:xfrm>
            <a:off x="9828606" y="1792224"/>
            <a:ext cx="1677289" cy="256032"/>
          </a:xfrm>
          <a:prstGeom prst="roundRect">
            <a:avLst>
              <a:gd name="adj" fmla="val 1785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icon"/>
          <p:cNvSpPr/>
          <p:nvPr/>
        </p:nvSpPr>
        <p:spPr>
          <a:xfrm>
            <a:off x="10012217" y="1858060"/>
            <a:ext cx="80832" cy="130576"/>
          </a:xfrm>
          <a:prstGeom prst="roundRect">
            <a:avLst>
              <a:gd name="adj" fmla="val 50000"/>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7" name="vis:icon"/>
          <p:cNvCxnSpPr/>
          <p:nvPr/>
        </p:nvCxnSpPr>
        <p:spPr>
          <a:xfrm>
            <a:off x="10030871" y="189536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8" name="vis:icon"/>
          <p:cNvCxnSpPr/>
          <p:nvPr/>
        </p:nvCxnSpPr>
        <p:spPr>
          <a:xfrm>
            <a:off x="10030871" y="1923348"/>
            <a:ext cx="43525"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a:off x="10030871" y="1951329"/>
            <a:ext cx="31090"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40" name="vis:copytext"/>
          <p:cNvSpPr txBox="1"/>
          <p:nvPr/>
        </p:nvSpPr>
        <p:spPr>
          <a:xfrm>
            <a:off x="10240086" y="1851660"/>
            <a:ext cx="1064641"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Select + copy</a:t>
            </a:r>
          </a:p>
        </p:txBody>
      </p:sp>
      <p:sp>
        <p:nvSpPr>
          <p:cNvPr id="41" name="vis:prompthdr"/>
          <p:cNvSpPr txBox="1"/>
          <p:nvPr/>
        </p:nvSpPr>
        <p:spPr>
          <a:xfrm>
            <a:off x="7010247" y="1828800"/>
            <a:ext cx="2708630" cy="201168"/>
          </a:xfrm>
          <a:prstGeom prst="rect">
            <a:avLst/>
          </a:prstGeom>
          <a:noFill/>
        </p:spPr>
        <p:txBody>
          <a:bodyPr wrap="square" lIns="0" rIns="0" tIns="0" bIns="0" anchor="t">
            <a:spAutoFit/>
          </a:bodyPr>
          <a:lstStyle/>
          <a:p>
            <a:pPr algn="l">
              <a:lnSpc>
                <a:spcPts val="1560"/>
              </a:lnSpc>
              <a:spcBef>
                <a:spcPts val="0"/>
              </a:spcBef>
              <a:spcAft>
                <a:spcPts val="0"/>
              </a:spcAft>
            </a:pPr>
            <a:r>
              <a:rPr sz="1200" b="0" spc="60">
                <a:solidFill>
                  <a:srgbClr val="FFFFFF"/>
                </a:solidFill>
                <a:latin typeface="Segoe UI Semibold"/>
              </a:rPr>
              <a:t>Copy this prompt</a:t>
            </a:r>
          </a:p>
        </p:txBody>
      </p:sp>
      <p:sp>
        <p:nvSpPr>
          <p:cNvPr id="42" name="card:prompt"/>
          <p:cNvSpPr txBox="1"/>
          <p:nvPr/>
        </p:nvSpPr>
        <p:spPr>
          <a:xfrm>
            <a:off x="6735927" y="2267712"/>
            <a:ext cx="4678527" cy="1386839"/>
          </a:xfrm>
          <a:prstGeom prst="rect">
            <a:avLst/>
          </a:prstGeom>
          <a:noFill/>
        </p:spPr>
        <p:txBody>
          <a:bodyPr wrap="square" lIns="0" rIns="0" tIns="0" bIns="0" anchor="t">
            <a:spAutoFit/>
          </a:bodyPr>
          <a:lstStyle/>
          <a:p>
            <a:pPr algn="l">
              <a:lnSpc>
                <a:spcPts val="1755"/>
              </a:lnSpc>
              <a:spcBef>
                <a:spcPts val="0"/>
              </a:spcBef>
              <a:spcAft>
                <a:spcPts val="0"/>
              </a:spcAft>
            </a:pPr>
            <a:r>
              <a:rPr sz="1350" b="0">
                <a:solidFill>
                  <a:srgbClr val="FFFFFF"/>
                </a:solidFill>
                <a:latin typeface="Consolas"/>
              </a:rPr>
              <a:t>Below is a good example of a document I write regularly. Turn it into a reusable template: keep the structure and the headings exactly, and replace every specific fact with a clearly marked bracket saying what belongs there. Do not change the wording around the brackets.</a:t>
            </a:r>
          </a:p>
        </p:txBody>
      </p:sp>
      <p:sp>
        <p:nvSpPr>
          <p:cNvPr id="43" name="vis:promptcap"/>
          <p:cNvSpPr txBox="1"/>
          <p:nvPr/>
        </p:nvSpPr>
        <p:spPr>
          <a:xfrm>
            <a:off x="6735927" y="3855719"/>
            <a:ext cx="4678527" cy="252984"/>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C9D1DE"/>
                </a:solidFill>
                <a:latin typeface="Segoe UI"/>
              </a:rPr>
              <a:t>Your own best work becomes the specification.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Never put these in an example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An example is pasted text. Everything in it leaves the company with it.</a:t>
            </a:r>
          </a:p>
          <a:p>
            <a:pPr algn="l">
              <a:lnSpc>
                <a:spcPts val="1755"/>
              </a:lnSpc>
              <a:spcBef>
                <a:spcPts val="0"/>
              </a:spcBef>
              <a:spcAft>
                <a:spcPts val="0"/>
              </a:spcAft>
            </a:pPr>
            <a:r>
              <a:rPr sz="1350" b="0">
                <a:solidFill>
                  <a:srgbClr val="FFFFFF"/>
                </a:solidFill>
                <a:latin typeface="Segoe UI"/>
              </a:rPr>
              <a:t>Use a realistic invented case, or strip the real one first.</a:t>
            </a:r>
          </a:p>
        </p:txBody>
      </p:sp>
      <p:sp>
        <p:nvSpPr>
          <p:cNvPr id="20" name="vis:checktile"/>
          <p:cNvSpPr/>
          <p:nvPr/>
        </p:nvSpPr>
        <p:spPr>
          <a:xfrm>
            <a:off x="502920"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icon"/>
          <p:cNvSpPr/>
          <p:nvPr/>
        </p:nvSpPr>
        <p:spPr>
          <a:xfrm>
            <a:off x="801380"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3" name="vis:icon"/>
          <p:cNvCxnSpPr/>
          <p:nvPr/>
        </p:nvCxnSpPr>
        <p:spPr>
          <a:xfrm>
            <a:off x="823965" y="3608313"/>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real customer's name, site or contact details</a:t>
            </a:r>
          </a:p>
        </p:txBody>
      </p:sp>
      <p:sp>
        <p:nvSpPr>
          <p:cNvPr id="25" name="vis:checktile"/>
          <p:cNvSpPr/>
          <p:nvPr/>
        </p:nvSpPr>
        <p:spPr>
          <a:xfrm>
            <a:off x="6205575" y="2953512"/>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6425031" y="3506724"/>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icon"/>
          <p:cNvSpPr/>
          <p:nvPr/>
        </p:nvSpPr>
        <p:spPr>
          <a:xfrm>
            <a:off x="6504035" y="3585728"/>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8" name="vis:icon"/>
          <p:cNvCxnSpPr/>
          <p:nvPr/>
        </p:nvCxnSpPr>
        <p:spPr>
          <a:xfrm>
            <a:off x="6526621" y="3608313"/>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6863943" y="3099816"/>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Real prices, margins or contract wording</a:t>
            </a:r>
          </a:p>
        </p:txBody>
      </p:sp>
      <p:sp>
        <p:nvSpPr>
          <p:cNvPr id="30" name="vis:checktile"/>
          <p:cNvSpPr/>
          <p:nvPr/>
        </p:nvSpPr>
        <p:spPr>
          <a:xfrm>
            <a:off x="502920"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722376"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icon"/>
          <p:cNvSpPr/>
          <p:nvPr/>
        </p:nvSpPr>
        <p:spPr>
          <a:xfrm>
            <a:off x="801380"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823965" y="5245089"/>
            <a:ext cx="107717"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1161288"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 colleague's name beside performance or pay</a:t>
            </a:r>
          </a:p>
        </p:txBody>
      </p:sp>
      <p:sp>
        <p:nvSpPr>
          <p:cNvPr id="35" name="vis:checktile"/>
          <p:cNvSpPr/>
          <p:nvPr/>
        </p:nvSpPr>
        <p:spPr>
          <a:xfrm>
            <a:off x="6205575" y="4590288"/>
            <a:ext cx="5483199" cy="1417319"/>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checkdot"/>
          <p:cNvSpPr/>
          <p:nvPr/>
        </p:nvSpPr>
        <p:spPr>
          <a:xfrm>
            <a:off x="6425031" y="514349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icon"/>
          <p:cNvSpPr/>
          <p:nvPr/>
        </p:nvSpPr>
        <p:spPr>
          <a:xfrm>
            <a:off x="6504035" y="5222504"/>
            <a:ext cx="152887" cy="152887"/>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8" name="vis:icon"/>
          <p:cNvCxnSpPr/>
          <p:nvPr/>
        </p:nvCxnSpPr>
        <p:spPr>
          <a:xfrm>
            <a:off x="6526621" y="5245089"/>
            <a:ext cx="107716" cy="107717"/>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9" name="cell:checkitem"/>
          <p:cNvSpPr txBox="1"/>
          <p:nvPr/>
        </p:nvSpPr>
        <p:spPr>
          <a:xfrm>
            <a:off x="6863943" y="4736592"/>
            <a:ext cx="4605375" cy="1124711"/>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Account numbers, references or internal system names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Four habits with examples</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checktile"/>
          <p:cNvSpPr/>
          <p:nvPr/>
        </p:nvSpPr>
        <p:spPr>
          <a:xfrm>
            <a:off x="502920"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checkdot"/>
          <p:cNvSpPr/>
          <p:nvPr/>
        </p:nvSpPr>
        <p:spPr>
          <a:xfrm>
            <a:off x="722376"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815279" y="3052998"/>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18" name="vis:icon"/>
          <p:cNvCxnSpPr/>
          <p:nvPr/>
        </p:nvCxnSpPr>
        <p:spPr>
          <a:xfrm flipV="1">
            <a:off x="860450"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cell:checkitem"/>
          <p:cNvSpPr txBox="1"/>
          <p:nvPr/>
        </p:nvSpPr>
        <p:spPr>
          <a:xfrm>
            <a:off x="1161288"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Show one example before describing anything.</a:t>
            </a:r>
          </a:p>
        </p:txBody>
      </p:sp>
      <p:sp>
        <p:nvSpPr>
          <p:cNvPr id="20" name="vis:checktile"/>
          <p:cNvSpPr/>
          <p:nvPr/>
        </p:nvSpPr>
        <p:spPr>
          <a:xfrm>
            <a:off x="6205575" y="2340864"/>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6425031" y="2894076"/>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6517934" y="3052998"/>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6563106" y="3000877"/>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6863943" y="2487168"/>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Follow it with "same pattern, nothing else".</a:t>
            </a:r>
          </a:p>
        </p:txBody>
      </p:sp>
      <p:sp>
        <p:nvSpPr>
          <p:cNvPr id="25" name="vis:checktile"/>
          <p:cNvSpPr/>
          <p:nvPr/>
        </p:nvSpPr>
        <p:spPr>
          <a:xfrm>
            <a:off x="502920"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722376"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815279" y="4689774"/>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860450"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1161288"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Use capitals for structure headings you want obeyed.</a:t>
            </a:r>
          </a:p>
        </p:txBody>
      </p:sp>
      <p:sp>
        <p:nvSpPr>
          <p:cNvPr id="30" name="vis:checktile"/>
          <p:cNvSpPr/>
          <p:nvPr/>
        </p:nvSpPr>
        <p:spPr>
          <a:xfrm>
            <a:off x="6205575" y="3977639"/>
            <a:ext cx="5483199"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6425031" y="4530852"/>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6517934" y="4689774"/>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6563106" y="4637653"/>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6863943" y="4123944"/>
            <a:ext cx="4605375"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Strip names and figures out of the example first.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mistakes people really make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mistake"/>
          <p:cNvSpPr/>
          <p:nvPr/>
        </p:nvSpPr>
        <p:spPr>
          <a:xfrm>
            <a:off x="502920" y="1719072"/>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mistakebar"/>
          <p:cNvSpPr/>
          <p:nvPr/>
        </p:nvSpPr>
        <p:spPr>
          <a:xfrm>
            <a:off x="502920" y="1719072"/>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mistakenum"/>
          <p:cNvSpPr/>
          <p:nvPr/>
        </p:nvSpPr>
        <p:spPr>
          <a:xfrm>
            <a:off x="740664" y="1927555"/>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mistakenumtext"/>
          <p:cNvSpPr txBox="1"/>
          <p:nvPr/>
        </p:nvSpPr>
        <p:spPr>
          <a:xfrm>
            <a:off x="740664" y="1996135"/>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1</a:t>
            </a:r>
          </a:p>
        </p:txBody>
      </p:sp>
      <p:sp>
        <p:nvSpPr>
          <p:cNvPr id="19" name="cell:mistake"/>
          <p:cNvSpPr txBox="1"/>
          <p:nvPr/>
        </p:nvSpPr>
        <p:spPr>
          <a:xfrm>
            <a:off x="1179576" y="1810512"/>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Describing a format in three sentences</a:t>
            </a:r>
          </a:p>
        </p:txBody>
      </p:sp>
      <p:cxnSp>
        <p:nvCxnSpPr>
          <p:cNvPr id="20" name="vis:line"/>
          <p:cNvCxnSpPr/>
          <p:nvPr/>
        </p:nvCxnSpPr>
        <p:spPr>
          <a:xfrm>
            <a:off x="6008686" y="1865376"/>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1" name="cell:mistakewhy"/>
          <p:cNvSpPr txBox="1"/>
          <p:nvPr/>
        </p:nvSpPr>
        <p:spPr>
          <a:xfrm>
            <a:off x="6173278" y="1810512"/>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are asking it to imagine your picture. Showing the picture takes twenty seconds.</a:t>
            </a:r>
          </a:p>
        </p:txBody>
      </p:sp>
      <p:sp>
        <p:nvSpPr>
          <p:cNvPr id="22" name="vis:mistake"/>
          <p:cNvSpPr/>
          <p:nvPr/>
        </p:nvSpPr>
        <p:spPr>
          <a:xfrm>
            <a:off x="502920" y="2611526"/>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mistakebar"/>
          <p:cNvSpPr/>
          <p:nvPr/>
        </p:nvSpPr>
        <p:spPr>
          <a:xfrm>
            <a:off x="502920" y="2611526"/>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mistakenum"/>
          <p:cNvSpPr/>
          <p:nvPr/>
        </p:nvSpPr>
        <p:spPr>
          <a:xfrm>
            <a:off x="740664" y="2820009"/>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mistakenumtext"/>
          <p:cNvSpPr txBox="1"/>
          <p:nvPr/>
        </p:nvSpPr>
        <p:spPr>
          <a:xfrm>
            <a:off x="740664" y="2888589"/>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2</a:t>
            </a:r>
          </a:p>
        </p:txBody>
      </p:sp>
      <p:sp>
        <p:nvSpPr>
          <p:cNvPr id="26" name="cell:mistake"/>
          <p:cNvSpPr txBox="1"/>
          <p:nvPr/>
        </p:nvSpPr>
        <p:spPr>
          <a:xfrm>
            <a:off x="1179576" y="2702966"/>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Giving a half-finished example</a:t>
            </a:r>
          </a:p>
        </p:txBody>
      </p:sp>
      <p:cxnSp>
        <p:nvCxnSpPr>
          <p:cNvPr id="27" name="vis:line"/>
          <p:cNvCxnSpPr/>
          <p:nvPr/>
        </p:nvCxnSpPr>
        <p:spPr>
          <a:xfrm>
            <a:off x="6008686" y="2757830"/>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28" name="cell:mistakewhy"/>
          <p:cNvSpPr txBox="1"/>
          <p:nvPr/>
        </p:nvSpPr>
        <p:spPr>
          <a:xfrm>
            <a:off x="6173278" y="2702966"/>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Every gap in the example becomes a decision it makes for you, differently each time.</a:t>
            </a:r>
          </a:p>
        </p:txBody>
      </p:sp>
      <p:sp>
        <p:nvSpPr>
          <p:cNvPr id="29" name="vis:mistake"/>
          <p:cNvSpPr/>
          <p:nvPr/>
        </p:nvSpPr>
        <p:spPr>
          <a:xfrm>
            <a:off x="502920" y="3503980"/>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mistakebar"/>
          <p:cNvSpPr/>
          <p:nvPr/>
        </p:nvSpPr>
        <p:spPr>
          <a:xfrm>
            <a:off x="502920" y="3503980"/>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mistakenum"/>
          <p:cNvSpPr/>
          <p:nvPr/>
        </p:nvSpPr>
        <p:spPr>
          <a:xfrm>
            <a:off x="740664" y="3712463"/>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mistakenumtext"/>
          <p:cNvSpPr txBox="1"/>
          <p:nvPr/>
        </p:nvSpPr>
        <p:spPr>
          <a:xfrm>
            <a:off x="740664" y="3781044"/>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3</a:t>
            </a:r>
          </a:p>
        </p:txBody>
      </p:sp>
      <p:sp>
        <p:nvSpPr>
          <p:cNvPr id="33" name="cell:mistake"/>
          <p:cNvSpPr txBox="1"/>
          <p:nvPr/>
        </p:nvSpPr>
        <p:spPr>
          <a:xfrm>
            <a:off x="1179576" y="3595420"/>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Pasting a real customer record as the example</a:t>
            </a:r>
          </a:p>
        </p:txBody>
      </p:sp>
      <p:cxnSp>
        <p:nvCxnSpPr>
          <p:cNvPr id="34" name="vis:line"/>
          <p:cNvCxnSpPr/>
          <p:nvPr/>
        </p:nvCxnSpPr>
        <p:spPr>
          <a:xfrm>
            <a:off x="6008686" y="3650284"/>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35" name="cell:mistakewhy"/>
          <p:cNvSpPr txBox="1"/>
          <p:nvPr/>
        </p:nvSpPr>
        <p:spPr>
          <a:xfrm>
            <a:off x="6173278" y="3595420"/>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The format was the point. The name, address and amount went with it.</a:t>
            </a:r>
          </a:p>
        </p:txBody>
      </p:sp>
      <p:sp>
        <p:nvSpPr>
          <p:cNvPr id="36" name="vis:mistake"/>
          <p:cNvSpPr/>
          <p:nvPr/>
        </p:nvSpPr>
        <p:spPr>
          <a:xfrm>
            <a:off x="502920" y="4396435"/>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mistakebar"/>
          <p:cNvSpPr/>
          <p:nvPr/>
        </p:nvSpPr>
        <p:spPr>
          <a:xfrm>
            <a:off x="502920" y="4396435"/>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vis:mistakenum"/>
          <p:cNvSpPr/>
          <p:nvPr/>
        </p:nvSpPr>
        <p:spPr>
          <a:xfrm>
            <a:off x="740664" y="4604918"/>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9" name="vis:mistakenumtext"/>
          <p:cNvSpPr txBox="1"/>
          <p:nvPr/>
        </p:nvSpPr>
        <p:spPr>
          <a:xfrm>
            <a:off x="740664" y="4673498"/>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4</a:t>
            </a:r>
          </a:p>
        </p:txBody>
      </p:sp>
      <p:sp>
        <p:nvSpPr>
          <p:cNvPr id="40" name="cell:mistake"/>
          <p:cNvSpPr txBox="1"/>
          <p:nvPr/>
        </p:nvSpPr>
        <p:spPr>
          <a:xfrm>
            <a:off x="1179576" y="4487875"/>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Using five examples when one would do</a:t>
            </a:r>
          </a:p>
        </p:txBody>
      </p:sp>
      <p:cxnSp>
        <p:nvCxnSpPr>
          <p:cNvPr id="41" name="vis:line"/>
          <p:cNvCxnSpPr/>
          <p:nvPr/>
        </p:nvCxnSpPr>
        <p:spPr>
          <a:xfrm>
            <a:off x="6008686" y="4542739"/>
            <a:ext cx="0" cy="435254"/>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2" name="cell:mistakewhy"/>
          <p:cNvSpPr txBox="1"/>
          <p:nvPr/>
        </p:nvSpPr>
        <p:spPr>
          <a:xfrm>
            <a:off x="6173278" y="4487875"/>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Long prompts dilute the instruction. One complete example beats five partial ones.</a:t>
            </a:r>
          </a:p>
        </p:txBody>
      </p:sp>
      <p:sp>
        <p:nvSpPr>
          <p:cNvPr id="43" name="vis:mistake"/>
          <p:cNvSpPr/>
          <p:nvPr/>
        </p:nvSpPr>
        <p:spPr>
          <a:xfrm>
            <a:off x="502920" y="5288889"/>
            <a:ext cx="11185855" cy="727862"/>
          </a:xfrm>
          <a:prstGeom prst="roundRect">
            <a:avLst>
              <a:gd name="adj" fmla="val 10050"/>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4" name="vis:mistakebar"/>
          <p:cNvSpPr/>
          <p:nvPr/>
        </p:nvSpPr>
        <p:spPr>
          <a:xfrm>
            <a:off x="502920" y="5288889"/>
            <a:ext cx="68580" cy="72786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5" name="vis:mistakenum"/>
          <p:cNvSpPr/>
          <p:nvPr/>
        </p:nvSpPr>
        <p:spPr>
          <a:xfrm>
            <a:off x="740664" y="5497372"/>
            <a:ext cx="310896" cy="310896"/>
          </a:xfrm>
          <a:prstGeom prst="ellipse">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mistakenumtext"/>
          <p:cNvSpPr txBox="1"/>
          <p:nvPr/>
        </p:nvSpPr>
        <p:spPr>
          <a:xfrm>
            <a:off x="740664" y="5565952"/>
            <a:ext cx="310896" cy="201168"/>
          </a:xfrm>
          <a:prstGeom prst="rect">
            <a:avLst/>
          </a:prstGeom>
          <a:noFill/>
        </p:spPr>
        <p:txBody>
          <a:bodyPr wrap="square" lIns="0" rIns="0" tIns="0" bIns="0" anchor="t">
            <a:spAutoFit/>
          </a:bodyPr>
          <a:lstStyle/>
          <a:p>
            <a:pPr algn="ctr">
              <a:lnSpc>
                <a:spcPts val="1560"/>
              </a:lnSpc>
              <a:spcBef>
                <a:spcPts val="0"/>
              </a:spcBef>
              <a:spcAft>
                <a:spcPts val="0"/>
              </a:spcAft>
            </a:pPr>
            <a:r>
              <a:rPr sz="1200" b="0">
                <a:solidFill>
                  <a:srgbClr val="FFFFFF"/>
                </a:solidFill>
                <a:latin typeface="Segoe UI Semibold"/>
              </a:rPr>
              <a:t>5</a:t>
            </a:r>
          </a:p>
        </p:txBody>
      </p:sp>
      <p:sp>
        <p:nvSpPr>
          <p:cNvPr id="47" name="cell:mistake"/>
          <p:cNvSpPr txBox="1"/>
          <p:nvPr/>
        </p:nvSpPr>
        <p:spPr>
          <a:xfrm>
            <a:off x="1179576" y="5380329"/>
            <a:ext cx="4682806" cy="54498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101826"/>
                </a:solidFill>
                <a:latin typeface="Segoe UI Semibold"/>
              </a:rPr>
              <a:t>Forgetting "nothing else"</a:t>
            </a:r>
          </a:p>
        </p:txBody>
      </p:sp>
      <p:cxnSp>
        <p:nvCxnSpPr>
          <p:cNvPr id="48" name="vis:line"/>
          <p:cNvCxnSpPr/>
          <p:nvPr/>
        </p:nvCxnSpPr>
        <p:spPr>
          <a:xfrm>
            <a:off x="6008686" y="5435193"/>
            <a:ext cx="0" cy="435255"/>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49" name="cell:mistakewhy"/>
          <p:cNvSpPr txBox="1"/>
          <p:nvPr/>
        </p:nvSpPr>
        <p:spPr>
          <a:xfrm>
            <a:off x="6173278" y="5380329"/>
            <a:ext cx="5296040" cy="544982"/>
          </a:xfrm>
          <a:prstGeom prst="rect">
            <a:avLst/>
          </a:prstGeom>
          <a:noFill/>
        </p:spPr>
        <p:txBody>
          <a:bodyPr wrap="square" lIns="0" rIns="0" tIns="0" bIns="0" anchor="ctr">
            <a:spAutoFit/>
          </a:bodyPr>
          <a:lstStyle/>
          <a:p>
            <a:pPr algn="l">
              <a:lnSpc>
                <a:spcPts val="1690"/>
              </a:lnSpc>
              <a:spcBef>
                <a:spcPts val="0"/>
              </a:spcBef>
              <a:spcAft>
                <a:spcPts val="0"/>
              </a:spcAft>
            </a:pPr>
            <a:r>
              <a:rPr sz="1300" b="0">
                <a:solidFill>
                  <a:srgbClr val="5B6779"/>
                </a:solidFill>
                <a:latin typeface="Segoe UI"/>
              </a:rPr>
              <a:t>You get your format plus a heading, an introduction and a closing 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Describe or show?</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treeq"/>
          <p:cNvSpPr/>
          <p:nvPr/>
        </p:nvSpPr>
        <p:spPr>
          <a:xfrm>
            <a:off x="3746818" y="1810512"/>
            <a:ext cx="4698059" cy="841248"/>
          </a:xfrm>
          <a:prstGeom prst="roundRect">
            <a:avLst>
              <a:gd name="adj" fmla="val 10869"/>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treeqtext"/>
          <p:cNvSpPr txBox="1"/>
          <p:nvPr/>
        </p:nvSpPr>
        <p:spPr>
          <a:xfrm>
            <a:off x="3947986" y="1938528"/>
            <a:ext cx="4295723" cy="585216"/>
          </a:xfrm>
          <a:prstGeom prst="rect">
            <a:avLst/>
          </a:prstGeom>
          <a:noFill/>
        </p:spPr>
        <p:txBody>
          <a:bodyPr wrap="square" lIns="0" rIns="0" tIns="0" bIns="0" anchor="ctr">
            <a:spAutoFit/>
          </a:bodyPr>
          <a:lstStyle/>
          <a:p>
            <a:pPr algn="ctr">
              <a:lnSpc>
                <a:spcPts val="1950"/>
              </a:lnSpc>
              <a:spcBef>
                <a:spcPts val="0"/>
              </a:spcBef>
              <a:spcAft>
                <a:spcPts val="0"/>
              </a:spcAft>
            </a:pPr>
            <a:r>
              <a:rPr sz="1500" b="0">
                <a:solidFill>
                  <a:srgbClr val="FFFFFF"/>
                </a:solidFill>
                <a:latin typeface="Segoe UI Semibold"/>
              </a:rPr>
              <a:t>Could I show what I want in under five lines?</a:t>
            </a:r>
          </a:p>
        </p:txBody>
      </p:sp>
      <p:cxnSp>
        <p:nvCxnSpPr>
          <p:cNvPr id="17" name="vis:line"/>
          <p:cNvCxnSpPr/>
          <p:nvPr/>
        </p:nvCxnSpPr>
        <p:spPr>
          <a:xfrm>
            <a:off x="6095847" y="2651760"/>
            <a:ext cx="0" cy="237743"/>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8" name="vis:line"/>
          <p:cNvCxnSpPr/>
          <p:nvPr/>
        </p:nvCxnSpPr>
        <p:spPr>
          <a:xfrm>
            <a:off x="2516373" y="2889503"/>
            <a:ext cx="7158948" cy="0"/>
          </a:xfrm>
          <a:prstGeom prst="line">
            <a:avLst/>
          </a:prstGeom>
          <a:ln w="19050">
            <a:solidFill>
              <a:srgbClr val="C9D1DE"/>
            </a:solidFill>
          </a:ln>
          <a:effectLst/>
        </p:spPr>
        <p:style>
          <a:lnRef idx="2">
            <a:schemeClr val="accent1"/>
          </a:lnRef>
          <a:fillRef idx="0">
            <a:schemeClr val="accent1"/>
          </a:fillRef>
          <a:effectRef idx="1">
            <a:schemeClr val="accent1"/>
          </a:effectRef>
          <a:fontRef idx="minor">
            <a:schemeClr val="tx1"/>
          </a:fontRef>
        </p:style>
      </p:cxnSp>
      <p:cxnSp>
        <p:nvCxnSpPr>
          <p:cNvPr id="19" name="vis:line"/>
          <p:cNvCxnSpPr/>
          <p:nvPr/>
        </p:nvCxnSpPr>
        <p:spPr>
          <a:xfrm>
            <a:off x="2516373"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0" name="vis:chip"/>
          <p:cNvSpPr/>
          <p:nvPr/>
        </p:nvSpPr>
        <p:spPr>
          <a:xfrm>
            <a:off x="2138739" y="3026664"/>
            <a:ext cx="755269" cy="274320"/>
          </a:xfrm>
          <a:prstGeom prst="roundRect">
            <a:avLst>
              <a:gd name="adj" fmla="val 16666"/>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2294187" y="3054096"/>
            <a:ext cx="44437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NO</a:t>
            </a:r>
          </a:p>
        </p:txBody>
      </p:sp>
      <p:sp>
        <p:nvSpPr>
          <p:cNvPr id="22" name="vis:treebox"/>
          <p:cNvSpPr/>
          <p:nvPr/>
        </p:nvSpPr>
        <p:spPr>
          <a:xfrm>
            <a:off x="279202"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3" name="vis:treebar"/>
          <p:cNvSpPr/>
          <p:nvPr/>
        </p:nvSpPr>
        <p:spPr>
          <a:xfrm>
            <a:off x="279202" y="3493008"/>
            <a:ext cx="4474342" cy="68580"/>
          </a:xfrm>
          <a:prstGeom prst="rect">
            <a:avLst/>
          </a:prstGeom>
          <a:solidFill>
            <a:srgbClr val="2A35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icon"/>
          <p:cNvSpPr/>
          <p:nvPr/>
        </p:nvSpPr>
        <p:spPr>
          <a:xfrm>
            <a:off x="571079" y="3834627"/>
            <a:ext cx="153619" cy="153619"/>
          </a:xfrm>
          <a:prstGeom prst="ellipse">
            <a:avLst/>
          </a:prstGeom>
          <a:noFill/>
          <a:ln w="19050">
            <a:solidFill>
              <a:srgbClr val="2A35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5" name="vis:icon"/>
          <p:cNvCxnSpPr/>
          <p:nvPr/>
        </p:nvCxnSpPr>
        <p:spPr>
          <a:xfrm>
            <a:off x="704216" y="3967764"/>
            <a:ext cx="61447" cy="61448"/>
          </a:xfrm>
          <a:prstGeom prst="line">
            <a:avLst/>
          </a:prstGeom>
          <a:ln w="1905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6" name="vis:treelabel"/>
          <p:cNvSpPr txBox="1"/>
          <p:nvPr/>
        </p:nvSpPr>
        <p:spPr>
          <a:xfrm>
            <a:off x="900994"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Describe it</a:t>
            </a:r>
          </a:p>
        </p:txBody>
      </p:sp>
      <p:sp>
        <p:nvSpPr>
          <p:cNvPr id="27" name="vis:treedetail"/>
          <p:cNvSpPr txBox="1"/>
          <p:nvPr/>
        </p:nvSpPr>
        <p:spPr>
          <a:xfrm>
            <a:off x="535234"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Long documents and complex judgements. Describe the structure in capitals, then show one section as an example.</a:t>
            </a:r>
          </a:p>
        </p:txBody>
      </p:sp>
      <p:cxnSp>
        <p:nvCxnSpPr>
          <p:cNvPr id="28" name="vis:line"/>
          <p:cNvCxnSpPr/>
          <p:nvPr/>
        </p:nvCxnSpPr>
        <p:spPr>
          <a:xfrm>
            <a:off x="9675321" y="2889503"/>
            <a:ext cx="0" cy="274321"/>
          </a:xfrm>
          <a:prstGeom prst="line">
            <a:avLst/>
          </a:prstGeom>
          <a:ln w="19050">
            <a:solidFill>
              <a:srgbClr val="C9D1DE"/>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vis:chip"/>
          <p:cNvSpPr/>
          <p:nvPr/>
        </p:nvSpPr>
        <p:spPr>
          <a:xfrm>
            <a:off x="9282446" y="3026664"/>
            <a:ext cx="785749" cy="274320"/>
          </a:xfrm>
          <a:prstGeom prst="roundRect">
            <a:avLst>
              <a:gd name="adj" fmla="val 16666"/>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chiptext"/>
          <p:cNvSpPr txBox="1"/>
          <p:nvPr/>
        </p:nvSpPr>
        <p:spPr>
          <a:xfrm>
            <a:off x="9437894" y="3054096"/>
            <a:ext cx="474852"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YES</a:t>
            </a:r>
          </a:p>
        </p:txBody>
      </p:sp>
      <p:sp>
        <p:nvSpPr>
          <p:cNvPr id="31" name="vis:treebox"/>
          <p:cNvSpPr/>
          <p:nvPr/>
        </p:nvSpPr>
        <p:spPr>
          <a:xfrm>
            <a:off x="7438150" y="3493008"/>
            <a:ext cx="4474342" cy="2523744"/>
          </a:xfrm>
          <a:prstGeom prst="roundRect">
            <a:avLst>
              <a:gd name="adj" fmla="val 3623"/>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treebar"/>
          <p:cNvSpPr/>
          <p:nvPr/>
        </p:nvSpPr>
        <p:spPr>
          <a:xfrm>
            <a:off x="7438150" y="3493008"/>
            <a:ext cx="4474342" cy="6858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3" name="vis:icon"/>
          <p:cNvCxnSpPr/>
          <p:nvPr/>
        </p:nvCxnSpPr>
        <p:spPr>
          <a:xfrm>
            <a:off x="7730026" y="3937040"/>
            <a:ext cx="66569" cy="66568"/>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cxnSp>
        <p:nvCxnSpPr>
          <p:cNvPr id="34" name="vis:icon"/>
          <p:cNvCxnSpPr/>
          <p:nvPr/>
        </p:nvCxnSpPr>
        <p:spPr>
          <a:xfrm flipV="1">
            <a:off x="7796595" y="3860231"/>
            <a:ext cx="122895" cy="143377"/>
          </a:xfrm>
          <a:prstGeom prst="line">
            <a:avLst/>
          </a:prstGeom>
          <a:ln w="19050">
            <a:solidFill>
              <a:srgbClr val="1B7F4B"/>
            </a:solidFill>
          </a:ln>
          <a:effectLst/>
        </p:spPr>
        <p:style>
          <a:lnRef idx="2">
            <a:schemeClr val="accent1"/>
          </a:lnRef>
          <a:fillRef idx="0">
            <a:schemeClr val="accent1"/>
          </a:fillRef>
          <a:effectRef idx="1">
            <a:schemeClr val="accent1"/>
          </a:effectRef>
          <a:fontRef idx="minor">
            <a:schemeClr val="tx1"/>
          </a:fontRef>
        </p:style>
      </p:cxnSp>
      <p:sp>
        <p:nvSpPr>
          <p:cNvPr id="35" name="vis:treelabel"/>
          <p:cNvSpPr txBox="1"/>
          <p:nvPr/>
        </p:nvSpPr>
        <p:spPr>
          <a:xfrm>
            <a:off x="8059942" y="3749039"/>
            <a:ext cx="3614806" cy="365760"/>
          </a:xfrm>
          <a:prstGeom prst="rect">
            <a:avLst/>
          </a:prstGeom>
          <a:noFill/>
        </p:spPr>
        <p:txBody>
          <a:bodyPr wrap="square" lIns="0" rIns="0" tIns="0" bIns="0" anchor="t">
            <a:spAutoFit/>
          </a:bodyPr>
          <a:lstStyle/>
          <a:p>
            <a:pPr algn="l">
              <a:lnSpc>
                <a:spcPts val="2210"/>
              </a:lnSpc>
              <a:spcBef>
                <a:spcPts val="0"/>
              </a:spcBef>
              <a:spcAft>
                <a:spcPts val="0"/>
              </a:spcAft>
            </a:pPr>
            <a:r>
              <a:rPr sz="1700" b="0">
                <a:solidFill>
                  <a:srgbClr val="101826"/>
                </a:solidFill>
                <a:latin typeface="Segoe UI Semibold"/>
              </a:rPr>
              <a:t>Show it</a:t>
            </a:r>
          </a:p>
        </p:txBody>
      </p:sp>
      <p:sp>
        <p:nvSpPr>
          <p:cNvPr id="36" name="vis:treedetail"/>
          <p:cNvSpPr txBox="1"/>
          <p:nvPr/>
        </p:nvSpPr>
        <p:spPr>
          <a:xfrm>
            <a:off x="7694182" y="4224528"/>
            <a:ext cx="3962278" cy="159105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Layouts, tone, line formats, table shapes. An example is shorter than the description and cannot be misread.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DO THIS NOW</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The example rule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alertband"/>
          <p:cNvSpPr/>
          <p:nvPr/>
        </p:nvSpPr>
        <p:spPr>
          <a:xfrm>
            <a:off x="0" y="1719072"/>
            <a:ext cx="12191695" cy="9601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519744" y="2014057"/>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vis:icon"/>
          <p:cNvCxnSpPr/>
          <p:nvPr/>
        </p:nvCxnSpPr>
        <p:spPr>
          <a:xfrm>
            <a:off x="713232" y="2148657"/>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692200" y="2291669"/>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9" name="body:alert"/>
          <p:cNvSpPr txBox="1"/>
          <p:nvPr/>
        </p:nvSpPr>
        <p:spPr>
          <a:xfrm>
            <a:off x="1179576" y="1901952"/>
            <a:ext cx="10509199" cy="594360"/>
          </a:xfrm>
          <a:prstGeom prst="rect">
            <a:avLst/>
          </a:prstGeom>
          <a:noFill/>
        </p:spPr>
        <p:txBody>
          <a:bodyPr wrap="square" lIns="0" rIns="0" tIns="0" bIns="0" anchor="ctr">
            <a:spAutoFit/>
          </a:bodyPr>
          <a:lstStyle/>
          <a:p>
            <a:pPr algn="l">
              <a:lnSpc>
                <a:spcPts val="2470"/>
              </a:lnSpc>
              <a:spcBef>
                <a:spcPts val="0"/>
              </a:spcBef>
              <a:spcAft>
                <a:spcPts val="400"/>
              </a:spcAft>
            </a:pPr>
            <a:r>
              <a:rPr sz="1900" b="0">
                <a:solidFill>
                  <a:srgbClr val="FFFFFF"/>
                </a:solidFill>
                <a:latin typeface="Segoe UI Semibold"/>
              </a:rPr>
              <a:t>If you have explained the format twice, stop explaining and paste an example.</a:t>
            </a:r>
          </a:p>
          <a:p>
            <a:pPr algn="l">
              <a:lnSpc>
                <a:spcPts val="1755"/>
              </a:lnSpc>
              <a:spcBef>
                <a:spcPts val="0"/>
              </a:spcBef>
              <a:spcAft>
                <a:spcPts val="0"/>
              </a:spcAft>
            </a:pPr>
            <a:r>
              <a:rPr sz="1350" b="0">
                <a:solidFill>
                  <a:srgbClr val="FFFFFF"/>
                </a:solidFill>
                <a:latin typeface="Segoe UI"/>
              </a:rPr>
              <a:t>The second explanation is always slower than the example would have been.</a:t>
            </a:r>
          </a:p>
        </p:txBody>
      </p:sp>
      <p:sp>
        <p:nvSpPr>
          <p:cNvPr id="20" name="vis:checktile"/>
          <p:cNvSpPr/>
          <p:nvPr/>
        </p:nvSpPr>
        <p:spPr>
          <a:xfrm>
            <a:off x="50292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eckdot"/>
          <p:cNvSpPr/>
          <p:nvPr/>
        </p:nvSpPr>
        <p:spPr>
          <a:xfrm>
            <a:off x="72237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2" name="vis:icon"/>
          <p:cNvCxnSpPr/>
          <p:nvPr/>
        </p:nvCxnSpPr>
        <p:spPr>
          <a:xfrm>
            <a:off x="81527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3" name="vis:icon"/>
          <p:cNvCxnSpPr/>
          <p:nvPr/>
        </p:nvCxnSpPr>
        <p:spPr>
          <a:xfrm flipV="1">
            <a:off x="860450"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4" name="cell:checkitem"/>
          <p:cNvSpPr txBox="1"/>
          <p:nvPr/>
        </p:nvSpPr>
        <p:spPr>
          <a:xfrm>
            <a:off x="116128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One example — structure fixed.</a:t>
            </a:r>
          </a:p>
        </p:txBody>
      </p:sp>
      <p:sp>
        <p:nvSpPr>
          <p:cNvPr id="25" name="vis:checktile"/>
          <p:cNvSpPr/>
          <p:nvPr/>
        </p:nvSpPr>
        <p:spPr>
          <a:xfrm>
            <a:off x="430469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eckdot"/>
          <p:cNvSpPr/>
          <p:nvPr/>
        </p:nvSpPr>
        <p:spPr>
          <a:xfrm>
            <a:off x="452414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4617049" y="3665646"/>
            <a:ext cx="45171"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4662220" y="3613525"/>
            <a:ext cx="83394"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9" name="cell:checkitem"/>
          <p:cNvSpPr txBox="1"/>
          <p:nvPr/>
        </p:nvSpPr>
        <p:spPr>
          <a:xfrm>
            <a:off x="496305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Two examples — tone fixed.</a:t>
            </a:r>
          </a:p>
        </p:txBody>
      </p:sp>
      <p:sp>
        <p:nvSpPr>
          <p:cNvPr id="30" name="vis:checktile"/>
          <p:cNvSpPr/>
          <p:nvPr/>
        </p:nvSpPr>
        <p:spPr>
          <a:xfrm>
            <a:off x="8106460" y="2953512"/>
            <a:ext cx="3582314" cy="1417320"/>
          </a:xfrm>
          <a:prstGeom prst="roundRect">
            <a:avLst>
              <a:gd name="adj" fmla="val 6451"/>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vis:checkdot"/>
          <p:cNvSpPr/>
          <p:nvPr/>
        </p:nvSpPr>
        <p:spPr>
          <a:xfrm>
            <a:off x="8325916" y="3506724"/>
            <a:ext cx="310896" cy="31089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2" name="vis:icon"/>
          <p:cNvCxnSpPr/>
          <p:nvPr/>
        </p:nvCxnSpPr>
        <p:spPr>
          <a:xfrm>
            <a:off x="8418819" y="3665646"/>
            <a:ext cx="45172" cy="4517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63991" y="3613525"/>
            <a:ext cx="83393" cy="97293"/>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34" name="cell:checkitem"/>
          <p:cNvSpPr txBox="1"/>
          <p:nvPr/>
        </p:nvSpPr>
        <p:spPr>
          <a:xfrm>
            <a:off x="8764828" y="3099816"/>
            <a:ext cx="2704490" cy="1124712"/>
          </a:xfrm>
          <a:prstGeom prst="rect">
            <a:avLst/>
          </a:prstGeom>
          <a:noFill/>
        </p:spPr>
        <p:txBody>
          <a:bodyPr wrap="square" lIns="0" rIns="0" tIns="0" bIns="0" anchor="ctr">
            <a:spAutoFit/>
          </a:bodyPr>
          <a:lstStyle/>
          <a:p>
            <a:pPr algn="l">
              <a:lnSpc>
                <a:spcPts val="1820"/>
              </a:lnSpc>
              <a:spcBef>
                <a:spcPts val="0"/>
              </a:spcBef>
              <a:spcAft>
                <a:spcPts val="0"/>
              </a:spcAft>
            </a:pPr>
            <a:r>
              <a:rPr sz="1400" b="0">
                <a:solidFill>
                  <a:srgbClr val="2A3547"/>
                </a:solidFill>
                <a:latin typeface="Segoe UI"/>
              </a:rPr>
              <a:t>Zero examples — you will explain it again.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CHOOSE WHAT YOU'D DO</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Month-end, 5:10 pm</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sccard"/>
          <p:cNvSpPr/>
          <p:nvPr/>
        </p:nvSpPr>
        <p:spPr>
          <a:xfrm>
            <a:off x="502920" y="1719072"/>
            <a:ext cx="11185855" cy="1097280"/>
          </a:xfrm>
          <a:prstGeom prst="roundRect">
            <a:avLst>
              <a:gd name="adj" fmla="val 8333"/>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942929" y="2063252"/>
            <a:ext cx="180685" cy="180685"/>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icon"/>
          <p:cNvSpPr/>
          <p:nvPr/>
        </p:nvSpPr>
        <p:spPr>
          <a:xfrm>
            <a:off x="843076" y="2315260"/>
            <a:ext cx="380391" cy="166421"/>
          </a:xfrm>
          <a:custGeom>
            <a:avLst/>
            <a:gdLst/>
            <a:ahLst/>
            <a:cxnLst/>
            <a:rect l="l" t="t" r="r" b="b"/>
            <a:pathLst>
              <a:path w="380391" h="166421">
                <a:moveTo>
                  <a:pt x="0" y="166421"/>
                </a:moveTo>
                <a:lnTo>
                  <a:pt x="28530" y="0"/>
                </a:lnTo>
                <a:lnTo>
                  <a:pt x="351861" y="0"/>
                </a:lnTo>
                <a:lnTo>
                  <a:pt x="380391" y="166421"/>
                </a:lnTo>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situation"/>
          <p:cNvSpPr txBox="1"/>
          <p:nvPr/>
        </p:nvSpPr>
        <p:spPr>
          <a:xfrm>
            <a:off x="1472184" y="1901952"/>
            <a:ext cx="9905695" cy="731520"/>
          </a:xfrm>
          <a:prstGeom prst="rect">
            <a:avLst/>
          </a:prstGeom>
          <a:noFill/>
        </p:spPr>
        <p:txBody>
          <a:bodyPr wrap="square" lIns="0" rIns="0" tIns="0" bIns="0" anchor="ctr">
            <a:spAutoFit/>
          </a:bodyPr>
          <a:lstStyle/>
          <a:p>
            <a:pPr algn="l">
              <a:lnSpc>
                <a:spcPts val="2340"/>
              </a:lnSpc>
              <a:spcBef>
                <a:spcPts val="0"/>
              </a:spcBef>
              <a:spcAft>
                <a:spcPts val="0"/>
              </a:spcAft>
            </a:pPr>
            <a:r>
              <a:rPr sz="1800" b="0">
                <a:solidFill>
                  <a:srgbClr val="FFFFFF"/>
                </a:solidFill>
                <a:latin typeface="Segoe UI"/>
              </a:rPr>
              <a:t>You need twenty overdue-account lines in a specific format for tomorrow's review. You have described the format twice and the answer is still not right.</a:t>
            </a:r>
          </a:p>
        </p:txBody>
      </p:sp>
      <p:sp>
        <p:nvSpPr>
          <p:cNvPr id="19" name="quiz:choice">
            <a:hlinkClick action="ppaction://hlinksldjump" r:id="rId3"/>
          </p:cNvPr>
          <p:cNvSpPr/>
          <p:nvPr/>
        </p:nvSpPr>
        <p:spPr>
          <a:xfrm>
            <a:off x="502920"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
          <p:cNvSpPr/>
          <p:nvPr/>
        </p:nvSpPr>
        <p:spPr>
          <a:xfrm>
            <a:off x="758952" y="3364991"/>
            <a:ext cx="129692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chiptext"/>
          <p:cNvSpPr txBox="1"/>
          <p:nvPr/>
        </p:nvSpPr>
        <p:spPr>
          <a:xfrm>
            <a:off x="914400" y="3392423"/>
            <a:ext cx="98602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A</a:t>
            </a:r>
          </a:p>
        </p:txBody>
      </p:sp>
      <p:sp>
        <p:nvSpPr>
          <p:cNvPr id="22" name="cell:choice"/>
          <p:cNvSpPr txBox="1"/>
          <p:nvPr/>
        </p:nvSpPr>
        <p:spPr>
          <a:xfrm>
            <a:off x="758952"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Describe the format a third time, more carefully.</a:t>
            </a:r>
          </a:p>
        </p:txBody>
      </p:sp>
      <p:cxnSp>
        <p:nvCxnSpPr>
          <p:cNvPr id="23" name="vis:choicearrow"/>
          <p:cNvCxnSpPr/>
          <p:nvPr/>
        </p:nvCxnSpPr>
        <p:spPr>
          <a:xfrm>
            <a:off x="758952"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cell:choicego"/>
          <p:cNvSpPr txBox="1"/>
          <p:nvPr/>
        </p:nvSpPr>
        <p:spPr>
          <a:xfrm>
            <a:off x="1161288"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25" name="quiz:choice">
            <a:hlinkClick action="ppaction://hlinksldjump" r:id="rId4"/>
          </p:cNvPr>
          <p:cNvSpPr/>
          <p:nvPr/>
        </p:nvSpPr>
        <p:spPr>
          <a:xfrm>
            <a:off x="4310786"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chip"/>
          <p:cNvSpPr/>
          <p:nvPr/>
        </p:nvSpPr>
        <p:spPr>
          <a:xfrm>
            <a:off x="4566818" y="3364991"/>
            <a:ext cx="1287399"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7" name="vis:chiptext"/>
          <p:cNvSpPr txBox="1"/>
          <p:nvPr/>
        </p:nvSpPr>
        <p:spPr>
          <a:xfrm>
            <a:off x="4722266" y="3392423"/>
            <a:ext cx="976503"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B</a:t>
            </a:r>
          </a:p>
        </p:txBody>
      </p:sp>
      <p:sp>
        <p:nvSpPr>
          <p:cNvPr id="28" name="cell:choice"/>
          <p:cNvSpPr txBox="1"/>
          <p:nvPr/>
        </p:nvSpPr>
        <p:spPr>
          <a:xfrm>
            <a:off x="4566818"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Write one perfect line yourself and say "follow this exactly".</a:t>
            </a:r>
          </a:p>
        </p:txBody>
      </p:sp>
      <p:cxnSp>
        <p:nvCxnSpPr>
          <p:cNvPr id="29" name="vis:choicearrow"/>
          <p:cNvCxnSpPr/>
          <p:nvPr/>
        </p:nvCxnSpPr>
        <p:spPr>
          <a:xfrm>
            <a:off x="4566818"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cell:choicego"/>
          <p:cNvSpPr txBox="1"/>
          <p:nvPr/>
        </p:nvSpPr>
        <p:spPr>
          <a:xfrm>
            <a:off x="4969154"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
        <p:nvSpPr>
          <p:cNvPr id="31" name="quiz:choice">
            <a:hlinkClick action="ppaction://hlinksldjump" r:id="rId5"/>
          </p:cNvPr>
          <p:cNvSpPr/>
          <p:nvPr/>
        </p:nvSpPr>
        <p:spPr>
          <a:xfrm>
            <a:off x="8118652" y="3108960"/>
            <a:ext cx="3570122" cy="2907792"/>
          </a:xfrm>
          <a:prstGeom prst="roundRect">
            <a:avLst>
              <a:gd name="adj" fmla="val 3144"/>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chip"/>
          <p:cNvSpPr/>
          <p:nvPr/>
        </p:nvSpPr>
        <p:spPr>
          <a:xfrm>
            <a:off x="8374684" y="3364991"/>
            <a:ext cx="1290574" cy="274320"/>
          </a:xfrm>
          <a:prstGeom prst="roundRect">
            <a:avLst>
              <a:gd name="adj" fmla="val 16666"/>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chiptext"/>
          <p:cNvSpPr txBox="1"/>
          <p:nvPr/>
        </p:nvSpPr>
        <p:spPr>
          <a:xfrm>
            <a:off x="8530132" y="3392423"/>
            <a:ext cx="97967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FFFFFF"/>
                </a:solidFill>
                <a:latin typeface="Segoe UI Semibold"/>
              </a:rPr>
              <a:t>OPTION C</a:t>
            </a:r>
          </a:p>
        </p:txBody>
      </p:sp>
      <p:sp>
        <p:nvSpPr>
          <p:cNvPr id="34" name="cell:choice"/>
          <p:cNvSpPr txBox="1"/>
          <p:nvPr/>
        </p:nvSpPr>
        <p:spPr>
          <a:xfrm>
            <a:off x="8374684" y="3913632"/>
            <a:ext cx="3058058" cy="153619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a:rPr>
              <a:t>Paste last month's finished report as the example.</a:t>
            </a:r>
          </a:p>
        </p:txBody>
      </p:sp>
      <p:cxnSp>
        <p:nvCxnSpPr>
          <p:cNvPr id="35" name="vis:choicearrow"/>
          <p:cNvCxnSpPr/>
          <p:nvPr/>
        </p:nvCxnSpPr>
        <p:spPr>
          <a:xfrm>
            <a:off x="8374684" y="5632704"/>
            <a:ext cx="292608" cy="0"/>
          </a:xfrm>
          <a:prstGeom prst="line">
            <a:avLst/>
          </a:prstGeom>
          <a:ln w="19050">
            <a:solidFill>
              <a:srgbClr val="6A2FA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cell:choicego"/>
          <p:cNvSpPr txBox="1"/>
          <p:nvPr/>
        </p:nvSpPr>
        <p:spPr>
          <a:xfrm>
            <a:off x="8777020" y="5504688"/>
            <a:ext cx="2655722"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See what happens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 name="vis:icon"/>
          <p:cNvSpPr/>
          <p:nvPr/>
        </p:nvSpPr>
        <p:spPr>
          <a:xfrm>
            <a:off x="519744" y="409285"/>
            <a:ext cx="386975" cy="353324"/>
          </a:xfrm>
          <a:custGeom>
            <a:avLst/>
            <a:gdLst/>
            <a:ahLst/>
            <a:cxnLst/>
            <a:rect l="l" t="t" r="r" b="b"/>
            <a:pathLst>
              <a:path w="386975" h="353324">
                <a:moveTo>
                  <a:pt x="193488" y="0"/>
                </a:moveTo>
                <a:lnTo>
                  <a:pt x="386975" y="353324"/>
                </a:lnTo>
                <a:lnTo>
                  <a:pt x="0" y="353324"/>
                </a:lnTo>
                <a:close/>
              </a:path>
            </a:pathLst>
          </a:cu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vis:icon"/>
          <p:cNvCxnSpPr/>
          <p:nvPr/>
        </p:nvCxnSpPr>
        <p:spPr>
          <a:xfrm>
            <a:off x="713232" y="543885"/>
            <a:ext cx="0" cy="105156"/>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vis:icon"/>
          <p:cNvSpPr/>
          <p:nvPr/>
        </p:nvSpPr>
        <p:spPr>
          <a:xfrm>
            <a:off x="692200" y="686897"/>
            <a:ext cx="42062" cy="4206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6"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It may work. It will not work reliably.</a:t>
            </a:r>
          </a:p>
        </p:txBody>
      </p:sp>
      <p:sp>
        <p:nvSpPr>
          <p:cNvPr id="7"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third description gets you closer, and the twentieth line still drifts. You end up hand-editing six of them, which is exactly the work you were trying to avoid, twelve minutes later than you started.</a:t>
            </a:r>
          </a:p>
        </p:txBody>
      </p:sp>
      <p:sp>
        <p:nvSpPr>
          <p:cNvPr id="8"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10"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third description is the signal to switch to an example.</a:t>
            </a:r>
          </a:p>
        </p:txBody>
      </p:sp>
      <p:sp>
        <p:nvSpPr>
          <p:cNvPr id="11"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Twenty seconds, and twenty correct lines</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write one line the way you want it, using an invented company name. You add "same pattern, nothing else, one line per entry". All twenty come back correct, and you check them against the pattern in under a minute.</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Show the pattern once. Never describe it three times.</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Right method, wrong file</a:t>
            </a:r>
          </a:p>
        </p:txBody>
      </p:sp>
      <p:sp>
        <p:nvSpPr>
          <p:cNvPr id="6" name="body:consequence"/>
          <p:cNvSpPr txBox="1"/>
          <p:nvPr/>
        </p:nvSpPr>
        <p:spPr>
          <a:xfrm>
            <a:off x="502920" y="1517904"/>
            <a:ext cx="6448882" cy="265176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format lands perfectly. So do twenty real customer names, their outstanding amounts and their payment histories, into a tool the company cannot audit. The formatting problem is solved and a much larger one has started.</a:t>
            </a:r>
          </a:p>
        </p:txBody>
      </p:sp>
      <p:sp>
        <p:nvSpPr>
          <p:cNvPr id="7" name="vis:fbcard"/>
          <p:cNvSpPr/>
          <p:nvPr/>
        </p:nvSpPr>
        <p:spPr>
          <a:xfrm>
            <a:off x="8082076" y="1517904"/>
            <a:ext cx="3606698" cy="2194560"/>
          </a:xfrm>
          <a:prstGeom prst="roundRect">
            <a:avLst>
              <a:gd name="adj" fmla="val 4166"/>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seclabel"/>
          <p:cNvSpPr txBox="1"/>
          <p:nvPr/>
        </p:nvSpPr>
        <p:spPr>
          <a:xfrm>
            <a:off x="8356396" y="1755648"/>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THE RULE</a:t>
            </a:r>
          </a:p>
        </p:txBody>
      </p:sp>
      <p:sp>
        <p:nvSpPr>
          <p:cNvPr id="9" name="cell:rule"/>
          <p:cNvSpPr txBox="1"/>
          <p:nvPr/>
        </p:nvSpPr>
        <p:spPr>
          <a:xfrm>
            <a:off x="8356396" y="2121408"/>
            <a:ext cx="3058058" cy="137160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Show the shape with invented data. Never with a real record.</a:t>
            </a:r>
          </a:p>
        </p:txBody>
      </p:sp>
      <p:sp>
        <p:nvSpPr>
          <p:cNvPr id="10" name="nav:scback">
            <a:hlinkClick action="ppaction://hlinksldjump" r:id="rId2"/>
          </p:cNvPr>
          <p:cNvSpPr/>
          <p:nvPr/>
        </p:nvSpPr>
        <p:spPr>
          <a:xfrm>
            <a:off x="502920" y="4718304"/>
            <a:ext cx="301752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1" name="nav:scbacktext"/>
          <p:cNvSpPr txBox="1"/>
          <p:nvPr/>
        </p:nvSpPr>
        <p:spPr>
          <a:xfrm>
            <a:off x="777240" y="4882896"/>
            <a:ext cx="246888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situation  →</a:t>
            </a:r>
          </a:p>
        </p:txBody>
      </p:sp>
      <p:sp>
        <p:nvSpPr>
          <p:cNvPr id="12"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3"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4"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5"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6"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7"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8"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9"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0"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1"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WATCH THIS</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Five minutes on few-shot</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3"/>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nav:video">
            <a:hlinkClick r:id="rId2"/>
          </p:cNvPr>
          <p:cNvSpPr/>
          <p:nvPr/>
        </p:nvSpPr>
        <p:spPr>
          <a:xfrm>
            <a:off x="502920" y="1719072"/>
            <a:ext cx="6448882" cy="4297680"/>
          </a:xfrm>
          <a:prstGeom prst="roundRect">
            <a:avLst>
              <a:gd name="adj" fmla="val 2127"/>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play"/>
          <p:cNvSpPr/>
          <p:nvPr/>
        </p:nvSpPr>
        <p:spPr>
          <a:xfrm>
            <a:off x="1161288" y="2432303"/>
            <a:ext cx="950976" cy="950976"/>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playtri"/>
          <p:cNvSpPr/>
          <p:nvPr/>
        </p:nvSpPr>
        <p:spPr>
          <a:xfrm>
            <a:off x="1499616" y="2679191"/>
            <a:ext cx="384048" cy="457200"/>
          </a:xfrm>
          <a:custGeom>
            <a:avLst/>
            <a:gdLst/>
            <a:ahLst/>
            <a:cxnLst/>
            <a:rect l="l" t="t" r="r" b="b"/>
            <a:pathLst>
              <a:path w="384048" h="457200">
                <a:moveTo>
                  <a:pt x="0" y="0"/>
                </a:moveTo>
                <a:lnTo>
                  <a:pt x="384048" y="228600"/>
                </a:lnTo>
                <a:lnTo>
                  <a:pt x="0" y="457200"/>
                </a:lnTo>
                <a:close/>
              </a:path>
            </a:pathLst>
          </a:cu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ody:videotitle"/>
          <p:cNvSpPr txBox="1"/>
          <p:nvPr/>
        </p:nvSpPr>
        <p:spPr>
          <a:xfrm>
            <a:off x="2514600" y="2231136"/>
            <a:ext cx="4126306" cy="1371600"/>
          </a:xfrm>
          <a:prstGeom prst="rect">
            <a:avLst/>
          </a:prstGeom>
          <a:noFill/>
        </p:spPr>
        <p:txBody>
          <a:bodyPr wrap="square" lIns="0" rIns="0" tIns="0" bIns="0" anchor="t">
            <a:spAutoFit/>
          </a:bodyPr>
          <a:lstStyle/>
          <a:p>
            <a:pPr algn="l">
              <a:lnSpc>
                <a:spcPts val="2730"/>
              </a:lnSpc>
              <a:spcBef>
                <a:spcPts val="0"/>
              </a:spcBef>
              <a:spcAft>
                <a:spcPts val="0"/>
              </a:spcAft>
            </a:pPr>
            <a:r>
              <a:rPr sz="2100" b="0">
                <a:solidFill>
                  <a:srgbClr val="FFFFFF"/>
                </a:solidFill>
                <a:latin typeface="Segoe UI Semibold"/>
              </a:rPr>
              <a:t>Discover Few-Shot Prompting | Google AI Essentials</a:t>
            </a:r>
          </a:p>
        </p:txBody>
      </p:sp>
      <p:sp>
        <p:nvSpPr>
          <p:cNvPr id="19" name="vis:chip"/>
          <p:cNvSpPr/>
          <p:nvPr/>
        </p:nvSpPr>
        <p:spPr>
          <a:xfrm>
            <a:off x="868680" y="3858768"/>
            <a:ext cx="220116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chiptext"/>
          <p:cNvSpPr txBox="1"/>
          <p:nvPr/>
        </p:nvSpPr>
        <p:spPr>
          <a:xfrm>
            <a:off x="1024128" y="3895344"/>
            <a:ext cx="1890268"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GROW WITH GOOGLE</a:t>
            </a:r>
          </a:p>
        </p:txBody>
      </p:sp>
      <p:sp>
        <p:nvSpPr>
          <p:cNvPr id="21" name="vis:chip"/>
          <p:cNvSpPr/>
          <p:nvPr/>
        </p:nvSpPr>
        <p:spPr>
          <a:xfrm>
            <a:off x="3216148" y="3858768"/>
            <a:ext cx="1208024" cy="292608"/>
          </a:xfrm>
          <a:prstGeom prst="roundRect">
            <a:avLst>
              <a:gd name="adj" fmla="val 15625"/>
            </a:avLst>
          </a:prstGeom>
          <a:noFill/>
          <a:ln w="12700">
            <a:solidFill>
              <a:srgbClr val="848D9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vis:chiptext"/>
          <p:cNvSpPr txBox="1"/>
          <p:nvPr/>
        </p:nvSpPr>
        <p:spPr>
          <a:xfrm>
            <a:off x="3371596" y="3895344"/>
            <a:ext cx="897127" cy="219456"/>
          </a:xfrm>
          <a:prstGeom prst="rect">
            <a:avLst/>
          </a:prstGeom>
          <a:noFill/>
        </p:spPr>
        <p:txBody>
          <a:bodyPr wrap="square" lIns="0" rIns="0" tIns="0" bIns="0" anchor="t">
            <a:spAutoFit/>
          </a:bodyPr>
          <a:lstStyle/>
          <a:p>
            <a:pPr algn="l">
              <a:lnSpc>
                <a:spcPts val="1560"/>
              </a:lnSpc>
              <a:spcBef>
                <a:spcPts val="0"/>
              </a:spcBef>
              <a:spcAft>
                <a:spcPts val="0"/>
              </a:spcAft>
            </a:pPr>
            <a:r>
              <a:rPr sz="1200" b="0" spc="90">
                <a:solidFill>
                  <a:srgbClr val="848D9A"/>
                </a:solidFill>
                <a:latin typeface="Segoe UI Semibold"/>
              </a:rPr>
              <a:t>4:31 MIN</a:t>
            </a:r>
          </a:p>
        </p:txBody>
      </p:sp>
      <p:cxnSp>
        <p:nvCxnSpPr>
          <p:cNvPr id="23" name="vis:rule"/>
          <p:cNvCxnSpPr/>
          <p:nvPr/>
        </p:nvCxnSpPr>
        <p:spPr>
          <a:xfrm>
            <a:off x="868680" y="4425696"/>
            <a:ext cx="5717362" cy="0"/>
          </a:xfrm>
          <a:prstGeom prst="line">
            <a:avLst/>
          </a:prstGeom>
          <a:ln w="12700">
            <a:solidFill>
              <a:srgbClr val="2A3547"/>
            </a:solidFill>
          </a:ln>
          <a:effectLst/>
        </p:spPr>
        <p:style>
          <a:lnRef idx="2">
            <a:schemeClr val="accent1"/>
          </a:lnRef>
          <a:fillRef idx="0">
            <a:schemeClr val="accent1"/>
          </a:fillRef>
          <a:effectRef idx="1">
            <a:schemeClr val="accent1"/>
          </a:effectRef>
          <a:fontRef idx="minor">
            <a:schemeClr val="tx1"/>
          </a:fontRef>
        </p:style>
      </p:cxnSp>
      <p:sp>
        <p:nvSpPr>
          <p:cNvPr id="24" name="body:videonote"/>
          <p:cNvSpPr txBox="1"/>
          <p:nvPr/>
        </p:nvSpPr>
        <p:spPr>
          <a:xfrm>
            <a:off x="868680" y="4645152"/>
            <a:ext cx="5717362" cy="548640"/>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848D9A"/>
                </a:solidFill>
                <a:latin typeface="Segoe UI"/>
              </a:rPr>
              <a:t>From Google's own AI Essentials course. The worked examples above are the version you will actually use.</a:t>
            </a:r>
          </a:p>
        </p:txBody>
      </p:sp>
      <p:sp>
        <p:nvSpPr>
          <p:cNvPr id="25" name="nav:videobtn">
            <a:hlinkClick r:id="rId2"/>
          </p:cNvPr>
          <p:cNvSpPr/>
          <p:nvPr/>
        </p:nvSpPr>
        <p:spPr>
          <a:xfrm>
            <a:off x="868680" y="5230368"/>
            <a:ext cx="3017520" cy="493776"/>
          </a:xfrm>
          <a:prstGeom prst="roundRect">
            <a:avLst>
              <a:gd name="adj" fmla="val 11111"/>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1069116" y="5370819"/>
            <a:ext cx="153619" cy="153619"/>
          </a:xfrm>
          <a:prstGeom prst="ellipse">
            <a:avLst/>
          </a:prstGeom>
          <a:no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a:off x="1202253" y="5503956"/>
            <a:ext cx="61447" cy="61448"/>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8" name="nav:videobtntext"/>
          <p:cNvSpPr txBox="1"/>
          <p:nvPr/>
        </p:nvSpPr>
        <p:spPr>
          <a:xfrm>
            <a:off x="1417320" y="5358384"/>
            <a:ext cx="2286000"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Click to open on YouTube</a:t>
            </a:r>
          </a:p>
        </p:txBody>
      </p:sp>
      <p:sp>
        <p:nvSpPr>
          <p:cNvPr id="29" name="vis:videohow"/>
          <p:cNvSpPr/>
          <p:nvPr/>
        </p:nvSpPr>
        <p:spPr>
          <a:xfrm>
            <a:off x="8082076" y="1719072"/>
            <a:ext cx="3606698" cy="4297680"/>
          </a:xfrm>
          <a:prstGeom prst="roundRect">
            <a:avLst>
              <a:gd name="adj" fmla="val 253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vis:videospine"/>
          <p:cNvSpPr/>
          <p:nvPr/>
        </p:nvSpPr>
        <p:spPr>
          <a:xfrm>
            <a:off x="8082076" y="1719072"/>
            <a:ext cx="68580" cy="4297680"/>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1" name="seclabel"/>
          <p:cNvSpPr txBox="1"/>
          <p:nvPr/>
        </p:nvSpPr>
        <p:spPr>
          <a:xfrm>
            <a:off x="8392972" y="2029967"/>
            <a:ext cx="2984906"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HOW TO USE IT</a:t>
            </a:r>
          </a:p>
        </p:txBody>
      </p:sp>
      <p:cxnSp>
        <p:nvCxnSpPr>
          <p:cNvPr id="32" name="vis:icon"/>
          <p:cNvCxnSpPr/>
          <p:nvPr/>
        </p:nvCxnSpPr>
        <p:spPr>
          <a:xfrm>
            <a:off x="8439424" y="2628351"/>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3" name="vis:icon"/>
          <p:cNvCxnSpPr/>
          <p:nvPr/>
        </p:nvCxnSpPr>
        <p:spPr>
          <a:xfrm flipV="1">
            <a:off x="8491728" y="2568000"/>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4" name="cell:why"/>
          <p:cNvSpPr txBox="1"/>
          <p:nvPr/>
        </p:nvSpPr>
        <p:spPr>
          <a:xfrm>
            <a:off x="8777020" y="2468879"/>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Optional. The prompts in this deck already work as written.</a:t>
            </a:r>
          </a:p>
        </p:txBody>
      </p:sp>
      <p:cxnSp>
        <p:nvCxnSpPr>
          <p:cNvPr id="35" name="vis:icon"/>
          <p:cNvCxnSpPr/>
          <p:nvPr/>
        </p:nvCxnSpPr>
        <p:spPr>
          <a:xfrm>
            <a:off x="8439424" y="3743919"/>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flipV="1">
            <a:off x="8491728" y="3683568"/>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why"/>
          <p:cNvSpPr txBox="1"/>
          <p:nvPr/>
        </p:nvSpPr>
        <p:spPr>
          <a:xfrm>
            <a:off x="8777020" y="3584448"/>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Useful if you like watching a method demonstrated.</a:t>
            </a:r>
          </a:p>
        </p:txBody>
      </p:sp>
      <p:cxnSp>
        <p:nvCxnSpPr>
          <p:cNvPr id="38" name="vis:icon"/>
          <p:cNvCxnSpPr/>
          <p:nvPr/>
        </p:nvCxnSpPr>
        <p:spPr>
          <a:xfrm>
            <a:off x="8439424" y="4859487"/>
            <a:ext cx="52304" cy="52304"/>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9" name="vis:icon"/>
          <p:cNvCxnSpPr/>
          <p:nvPr/>
        </p:nvCxnSpPr>
        <p:spPr>
          <a:xfrm flipV="1">
            <a:off x="8491728" y="4799136"/>
            <a:ext cx="96560" cy="112655"/>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0" name="cell:why"/>
          <p:cNvSpPr txBox="1"/>
          <p:nvPr/>
        </p:nvSpPr>
        <p:spPr>
          <a:xfrm>
            <a:off x="8777020" y="4700016"/>
            <a:ext cx="2600858" cy="96926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2A3547"/>
                </a:solidFill>
                <a:latin typeface="Segoe UI"/>
              </a:rPr>
              <a:t>It opens in your browser. Turn the sound 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1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Why does an example beat a description?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Examples are shorter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description must be interpreted; an example cannot be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The tool copies examples word for word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Examples stop it inventing facts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Examples are shorter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They usually are, but that is a side benefit. A long example still beats a short description, because there is nothing left to interpret.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description has to be interpreted. An example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description must be interpreted; an example cannot be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Exactly. Your three sentences about layout become its reading of your sentences. An example is the picture itself, so the translation step disappears.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description has to be interpreted. An example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The tool copies examples word for word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does not copy — it follows the pattern. That is what you want, because your new content is different while the shape stays fixed.</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description has to be interpreted. An example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Examples stop it inventing facts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Different problem. Examples fix format and tone. Invented facts are controlled by supplying the facts and saying "add nothing".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A description has to be interpreted. An example does not.</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2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How many examples for tone?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One is always enough</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Two or three, so the pattern is clearly a range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As many as you can find</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None — just describe the tone you want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One is always enough</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One is enough for layout, where the pattern is visible in a single line. Tone is a range, and one sample can be read as a one-off.</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fixes structure. Two fix tone.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Two or three, so the pattern is clearly a range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Two samples show what stays constant across different content, which is precisely what tone is. Three is the sensible upper limit before the prompt bloats.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fixes structure. Two fix tone.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As many as you can find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Long prompts dilute your actual instruction. Past three, you are adding length without adding clarity.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fixes structure. Two fix tone.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None — just describe the tone you want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Tone is the single hardest thing to describe and the easiest to demonstrate. "Professional but warm" means something different to everyone.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One fixes structure. Two fix tone.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3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must follow your example?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"Do your best"</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"Follow this exactly, nothing else"</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"Make it better than the example"</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"Use similar formatting"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"Do your best"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gives the tool nothing to act on, and it leaves the door open for a heading, an introduction and a closing line you did not ask for.</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"Same pattern, nothing else."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"Follow this exactly, nothing else"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second half is what stops the extras. Without it you reliably get your format plus a friendly introduction and a summary you then delete.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"Same pattern, nothing else."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"Make it better than the example"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Now you have invited it to change the very thing you were fixing. The example is the specification, not a starting point to improve on.</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"Same pattern, nothing else."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"Use similar formatting"</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"Similar" is an invitation to drift. By line twelve you will be looking at three different layouts.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"Same pattern, nothing else."</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4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goes into a good example?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real record, so it is definitely accurate</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complete invented case with all the edge details</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A rough sketch of the layout</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Three partial examples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A real record, so it is definitely accurate</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The format is what you are demonstrating, and it works identically with invented data. A real record sends a real customer's details out of the company.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Complete, realistic, and carrying no real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A complete invented case with all the edge details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Complete means no gaps for it to fill differently each time. Invented means nothing leaves the company. Edge details mean punctuation and brackets land right.</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Complete, realistic, and carrying no real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Next question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A rough sketch of the layout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Every gap in a sketch becomes a decision the tool makes for you, and it will make it differently on line nine than on line two.</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Complete, realistic, and carrying no real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Three partial examples</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Three incomplete patterns give it three different signals. One complete example is clearer than three half ones.</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Complete, realistic, and carrying no real data.</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QUIZ  ·  QUESTION 5 OF 5</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What does [CHECK] do in a template?</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quiz:answer">
            <a:hlinkClick action="ppaction://hlinksldjump" r:id="rId3"/>
          </p:cNvPr>
          <p:cNvSpPr/>
          <p:nvPr/>
        </p:nvSpPr>
        <p:spPr>
          <a:xfrm>
            <a:off x="502920"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answerkey"/>
          <p:cNvSpPr/>
          <p:nvPr/>
        </p:nvSpPr>
        <p:spPr>
          <a:xfrm>
            <a:off x="740664"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answerkeytext"/>
          <p:cNvSpPr txBox="1"/>
          <p:nvPr/>
        </p:nvSpPr>
        <p:spPr>
          <a:xfrm>
            <a:off x="740664"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A</a:t>
            </a:r>
          </a:p>
        </p:txBody>
      </p:sp>
      <p:sp>
        <p:nvSpPr>
          <p:cNvPr id="18" name="cell:answer"/>
          <p:cNvSpPr txBox="1"/>
          <p:nvPr/>
        </p:nvSpPr>
        <p:spPr>
          <a:xfrm>
            <a:off x="1252728"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tells the tool to search for the answer</a:t>
            </a:r>
          </a:p>
        </p:txBody>
      </p:sp>
      <p:sp>
        <p:nvSpPr>
          <p:cNvPr id="19" name="quiz:answer">
            <a:hlinkClick action="ppaction://hlinksldjump" r:id="rId4"/>
          </p:cNvPr>
          <p:cNvSpPr/>
          <p:nvPr/>
        </p:nvSpPr>
        <p:spPr>
          <a:xfrm>
            <a:off x="6187287" y="171907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answerkey"/>
          <p:cNvSpPr/>
          <p:nvPr/>
        </p:nvSpPr>
        <p:spPr>
          <a:xfrm>
            <a:off x="6425031" y="2564891"/>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answerkeytext"/>
          <p:cNvSpPr txBox="1"/>
          <p:nvPr/>
        </p:nvSpPr>
        <p:spPr>
          <a:xfrm>
            <a:off x="6425031" y="2642615"/>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B</a:t>
            </a:r>
          </a:p>
        </p:txBody>
      </p:sp>
      <p:sp>
        <p:nvSpPr>
          <p:cNvPr id="22" name="cell:answer"/>
          <p:cNvSpPr txBox="1"/>
          <p:nvPr/>
        </p:nvSpPr>
        <p:spPr>
          <a:xfrm>
            <a:off x="6937095" y="184708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makes a missing fact visible instead of filled</a:t>
            </a:r>
          </a:p>
        </p:txBody>
      </p:sp>
      <p:sp>
        <p:nvSpPr>
          <p:cNvPr id="23" name="quiz:answer">
            <a:hlinkClick action="ppaction://hlinksldjump" r:id="rId5"/>
          </p:cNvPr>
          <p:cNvSpPr/>
          <p:nvPr/>
        </p:nvSpPr>
        <p:spPr>
          <a:xfrm>
            <a:off x="502920"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answerkey"/>
          <p:cNvSpPr/>
          <p:nvPr/>
        </p:nvSpPr>
        <p:spPr>
          <a:xfrm>
            <a:off x="740664"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answerkeytext"/>
          <p:cNvSpPr txBox="1"/>
          <p:nvPr/>
        </p:nvSpPr>
        <p:spPr>
          <a:xfrm>
            <a:off x="740664"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C</a:t>
            </a:r>
          </a:p>
        </p:txBody>
      </p:sp>
      <p:sp>
        <p:nvSpPr>
          <p:cNvPr id="26" name="cell:answer"/>
          <p:cNvSpPr txBox="1"/>
          <p:nvPr/>
        </p:nvSpPr>
        <p:spPr>
          <a:xfrm>
            <a:off x="1252728"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marks text for your manager to review</a:t>
            </a:r>
          </a:p>
        </p:txBody>
      </p:sp>
      <p:sp>
        <p:nvSpPr>
          <p:cNvPr id="27" name="quiz:answer">
            <a:hlinkClick action="ppaction://hlinksldjump" r:id="rId6"/>
          </p:cNvPr>
          <p:cNvSpPr/>
          <p:nvPr/>
        </p:nvSpPr>
        <p:spPr>
          <a:xfrm>
            <a:off x="6187287" y="3959352"/>
            <a:ext cx="5501487" cy="2057400"/>
          </a:xfrm>
          <a:prstGeom prst="roundRect">
            <a:avLst>
              <a:gd name="adj" fmla="val 3555"/>
            </a:avLst>
          </a:prstGeom>
          <a:solidFill>
            <a:srgbClr val="F3F6FB"/>
          </a:solidFill>
          <a:ln w="12700">
            <a:solidFill>
              <a:srgbClr val="C9D1D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answerkey"/>
          <p:cNvSpPr/>
          <p:nvPr/>
        </p:nvSpPr>
        <p:spPr>
          <a:xfrm>
            <a:off x="6425031" y="4805172"/>
            <a:ext cx="365760" cy="365760"/>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answerkeytext"/>
          <p:cNvSpPr txBox="1"/>
          <p:nvPr/>
        </p:nvSpPr>
        <p:spPr>
          <a:xfrm>
            <a:off x="6425031" y="4882896"/>
            <a:ext cx="365760" cy="228600"/>
          </a:xfrm>
          <a:prstGeom prst="rect">
            <a:avLst/>
          </a:prstGeom>
          <a:noFill/>
        </p:spPr>
        <p:txBody>
          <a:bodyPr wrap="square" lIns="0" rIns="0" tIns="0" bIns="0" anchor="t">
            <a:spAutoFit/>
          </a:bodyPr>
          <a:lstStyle/>
          <a:p>
            <a:pPr algn="ctr">
              <a:lnSpc>
                <a:spcPts val="1820"/>
              </a:lnSpc>
              <a:spcBef>
                <a:spcPts val="0"/>
              </a:spcBef>
              <a:spcAft>
                <a:spcPts val="0"/>
              </a:spcAft>
            </a:pPr>
            <a:r>
              <a:rPr sz="1400" b="0">
                <a:solidFill>
                  <a:srgbClr val="FFFFFF"/>
                </a:solidFill>
                <a:latin typeface="Segoe UI Semibold"/>
              </a:rPr>
              <a:t>D</a:t>
            </a:r>
          </a:p>
        </p:txBody>
      </p:sp>
      <p:sp>
        <p:nvSpPr>
          <p:cNvPr id="30" name="cell:answer"/>
          <p:cNvSpPr txBox="1"/>
          <p:nvPr/>
        </p:nvSpPr>
        <p:spPr>
          <a:xfrm>
            <a:off x="6937095" y="4087368"/>
            <a:ext cx="4495647" cy="1801368"/>
          </a:xfrm>
          <a:prstGeom prst="rect">
            <a:avLst/>
          </a:prstGeom>
          <a:noFill/>
        </p:spPr>
        <p:txBody>
          <a:bodyPr wrap="square" lIns="0" rIns="0" tIns="0" bIns="0" anchor="ctr">
            <a:spAutoFit/>
          </a:bodyPr>
          <a:lstStyle/>
          <a:p>
            <a:pPr algn="l">
              <a:lnSpc>
                <a:spcPts val="1950"/>
              </a:lnSpc>
              <a:spcBef>
                <a:spcPts val="0"/>
              </a:spcBef>
              <a:spcAft>
                <a:spcPts val="0"/>
              </a:spcAft>
            </a:pPr>
            <a:r>
              <a:rPr sz="1500" b="0">
                <a:solidFill>
                  <a:srgbClr val="101826"/>
                </a:solidFill>
                <a:latin typeface="Segoe UI"/>
              </a:rPr>
              <a:t>It shortens the output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A.  It tells the tool to search for the answer</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It cannot search. The marker is not an instruction to find anything — it is an instruction to stop and flag.</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turns an invented fact into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61807" y="602772"/>
            <a:ext cx="109362" cy="109362"/>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V="1">
            <a:off x="671169" y="476585"/>
            <a:ext cx="201900" cy="23554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Correct — here's why</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B.  It makes a missing fact visible instead of filled</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Without it, a gap gets closed with something plausible and you never see that it happened. With it, you get a marker you can go and resolve properly.</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turns an invented fact into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See the recap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C.  It marks text for your manager to review</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You could use it that way, but its real job is earlier: stopping the tool from quietly inventing the missing piece in the first place.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turns an invented fact into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vis:fbband"/>
          <p:cNvSpPr/>
          <p:nvPr/>
        </p:nvSpPr>
        <p:spPr>
          <a:xfrm>
            <a:off x="0" y="0"/>
            <a:ext cx="12191695"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 name="vis:icon"/>
          <p:cNvCxnSpPr/>
          <p:nvPr/>
        </p:nvCxnSpPr>
        <p:spPr>
          <a:xfrm>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cxnSp>
        <p:nvCxnSpPr>
          <p:cNvPr id="4" name="vis:icon"/>
          <p:cNvCxnSpPr/>
          <p:nvPr/>
        </p:nvCxnSpPr>
        <p:spPr>
          <a:xfrm flipH="1">
            <a:off x="578632" y="459760"/>
            <a:ext cx="269199" cy="269199"/>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5" name="title:banner"/>
          <p:cNvSpPr txBox="1"/>
          <p:nvPr/>
        </p:nvSpPr>
        <p:spPr>
          <a:xfrm>
            <a:off x="1179576" y="365760"/>
            <a:ext cx="8343671" cy="512064"/>
          </a:xfrm>
          <a:prstGeom prst="rect">
            <a:avLst/>
          </a:prstGeom>
          <a:noFill/>
        </p:spPr>
        <p:txBody>
          <a:bodyPr wrap="square" lIns="0" rIns="0" tIns="0" bIns="0" anchor="ctr">
            <a:spAutoFit/>
          </a:bodyPr>
          <a:lstStyle/>
          <a:p>
            <a:pPr algn="l">
              <a:lnSpc>
                <a:spcPts val="3380"/>
              </a:lnSpc>
              <a:spcBef>
                <a:spcPts val="0"/>
              </a:spcBef>
              <a:spcAft>
                <a:spcPts val="0"/>
              </a:spcAft>
            </a:pPr>
            <a:r>
              <a:rPr sz="2600" b="0">
                <a:solidFill>
                  <a:srgbClr val="FFFFFF"/>
                </a:solidFill>
                <a:latin typeface="Segoe UI Semibold"/>
              </a:rPr>
              <a:t>Not quite — here's what actually happens</a:t>
            </a:r>
          </a:p>
        </p:txBody>
      </p:sp>
      <p:sp>
        <p:nvSpPr>
          <p:cNvPr id="6" name="seclabel"/>
          <p:cNvSpPr txBox="1"/>
          <p:nvPr/>
        </p:nvSpPr>
        <p:spPr>
          <a:xfrm>
            <a:off x="502920" y="1481328"/>
            <a:ext cx="7396276"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20">
                <a:solidFill>
                  <a:srgbClr val="5B6779"/>
                </a:solidFill>
                <a:latin typeface="Segoe UI Semibold"/>
              </a:rPr>
              <a:t>YOU CHOSE  D.  It shortens the output</a:t>
            </a:r>
          </a:p>
        </p:txBody>
      </p:sp>
      <p:sp>
        <p:nvSpPr>
          <p:cNvPr id="7" name="body:fbwhy"/>
          <p:cNvSpPr txBox="1"/>
          <p:nvPr/>
        </p:nvSpPr>
        <p:spPr>
          <a:xfrm>
            <a:off x="502920" y="1920240"/>
            <a:ext cx="6448882" cy="2377440"/>
          </a:xfrm>
          <a:prstGeom prst="rect">
            <a:avLst/>
          </a:prstGeom>
          <a:noFill/>
        </p:spPr>
        <p:txBody>
          <a:bodyPr wrap="square" lIns="0" rIns="0" tIns="0" bIns="0" anchor="t">
            <a:spAutoFit/>
          </a:bodyPr>
          <a:lstStyle/>
          <a:p>
            <a:pPr algn="l">
              <a:lnSpc>
                <a:spcPts val="2600"/>
              </a:lnSpc>
              <a:spcBef>
                <a:spcPts val="0"/>
              </a:spcBef>
              <a:spcAft>
                <a:spcPts val="0"/>
              </a:spcAft>
            </a:pPr>
            <a:r>
              <a:rPr sz="2000" b="0">
                <a:solidFill>
                  <a:srgbClr val="101826"/>
                </a:solidFill>
                <a:latin typeface="Segoe UI"/>
              </a:rPr>
              <a:t>Length is unaffected. What changes is honesty — a gap appears as a gap rather than as a confident sentence.</a:t>
            </a:r>
          </a:p>
        </p:txBody>
      </p:sp>
      <p:sp>
        <p:nvSpPr>
          <p:cNvPr id="8" name="vis:fbcard"/>
          <p:cNvSpPr/>
          <p:nvPr/>
        </p:nvSpPr>
        <p:spPr>
          <a:xfrm>
            <a:off x="8082076" y="1920240"/>
            <a:ext cx="3606698" cy="2011680"/>
          </a:xfrm>
          <a:prstGeom prst="roundRect">
            <a:avLst>
              <a:gd name="adj" fmla="val 4545"/>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9" name="seclabel"/>
          <p:cNvSpPr txBox="1"/>
          <p:nvPr/>
        </p:nvSpPr>
        <p:spPr>
          <a:xfrm>
            <a:off x="8356396" y="2157984"/>
            <a:ext cx="3058058" cy="256032"/>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REMEMBER</a:t>
            </a:r>
          </a:p>
        </p:txBody>
      </p:sp>
      <p:sp>
        <p:nvSpPr>
          <p:cNvPr id="10" name="cell:fbremember"/>
          <p:cNvSpPr txBox="1"/>
          <p:nvPr/>
        </p:nvSpPr>
        <p:spPr>
          <a:xfrm>
            <a:off x="8356396" y="2523744"/>
            <a:ext cx="3058058" cy="1225296"/>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2A3547"/>
                </a:solidFill>
                <a:latin typeface="Segoe UI"/>
              </a:rPr>
              <a:t>It turns an invented fact into a visible gap.</a:t>
            </a:r>
          </a:p>
        </p:txBody>
      </p:sp>
      <p:sp>
        <p:nvSpPr>
          <p:cNvPr id="11" name="nav:fbnext">
            <a:hlinkClick action="ppaction://hlinksldjump" r:id="rId2"/>
          </p:cNvPr>
          <p:cNvSpPr/>
          <p:nvPr/>
        </p:nvSpPr>
        <p:spPr>
          <a:xfrm>
            <a:off x="502920" y="4846320"/>
            <a:ext cx="2834640" cy="566928"/>
          </a:xfrm>
          <a:prstGeom prst="roundRect">
            <a:avLst>
              <a:gd name="adj" fmla="val 9677"/>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2" name="nav:fbnexttext"/>
          <p:cNvSpPr txBox="1"/>
          <p:nvPr/>
        </p:nvSpPr>
        <p:spPr>
          <a:xfrm>
            <a:off x="777240" y="5010912"/>
            <a:ext cx="2286000" cy="256032"/>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Try this question again  →</a:t>
            </a:r>
          </a:p>
        </p:txBody>
      </p:sp>
      <p:sp>
        <p:nvSpPr>
          <p:cNvPr id="13"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14"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15" name="nav:menu">
            <a:hlinkClick action="ppaction://hlinksldjump" r:id="rId3"/>
          </p:cNvPr>
          <p:cNvSpPr/>
          <p:nvPr/>
        </p:nvSpPr>
        <p:spPr>
          <a:xfrm>
            <a:off x="10682935" y="347472"/>
            <a:ext cx="1005840" cy="329184"/>
          </a:xfrm>
          <a:prstGeom prst="roundRect">
            <a:avLst>
              <a:gd name="adj" fmla="val 13888"/>
            </a:avLst>
          </a:prstGeom>
          <a:no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icon"/>
          <p:cNvSpPr/>
          <p:nvPr/>
        </p:nvSpPr>
        <p:spPr>
          <a:xfrm>
            <a:off x="10839160" y="461909"/>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7" name="vis:icon"/>
          <p:cNvCxnSpPr/>
          <p:nvPr/>
        </p:nvCxnSpPr>
        <p:spPr>
          <a:xfrm>
            <a:off x="10874593" y="47183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8" name="vis:icon"/>
          <p:cNvSpPr/>
          <p:nvPr/>
        </p:nvSpPr>
        <p:spPr>
          <a:xfrm>
            <a:off x="10839160" y="50442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10874593" y="514350"/>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0" name="vis:icon"/>
          <p:cNvSpPr/>
          <p:nvPr/>
        </p:nvSpPr>
        <p:spPr>
          <a:xfrm>
            <a:off x="10839160" y="546948"/>
            <a:ext cx="19842" cy="19842"/>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1" name="vis:icon"/>
          <p:cNvCxnSpPr/>
          <p:nvPr/>
        </p:nvCxnSpPr>
        <p:spPr>
          <a:xfrm>
            <a:off x="10874593" y="556869"/>
            <a:ext cx="87874" cy="0"/>
          </a:xfrm>
          <a:prstGeom prst="line">
            <a:avLst/>
          </a:prstGeom>
          <a:ln w="1905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22"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FFFFFF"/>
                </a:solidFill>
                <a:latin typeface="Segoe UI Semibold"/>
              </a:rPr>
              <a:t>Menu</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RECAP CARD</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Examples on one screen</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cell:recaphint"/>
          <p:cNvSpPr txBox="1"/>
          <p:nvPr/>
        </p:nvSpPr>
        <p:spPr>
          <a:xfrm>
            <a:off x="502920" y="1591056"/>
            <a:ext cx="11185855" cy="256032"/>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Screenshot this slide. It is the whole module in one screen.</a:t>
            </a:r>
          </a:p>
        </p:txBody>
      </p:sp>
      <p:sp>
        <p:nvSpPr>
          <p:cNvPr id="16" name="vis:recaptile"/>
          <p:cNvSpPr/>
          <p:nvPr/>
        </p:nvSpPr>
        <p:spPr>
          <a:xfrm>
            <a:off x="502920"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recapbar"/>
          <p:cNvSpPr/>
          <p:nvPr/>
        </p:nvSpPr>
        <p:spPr>
          <a:xfrm>
            <a:off x="502920"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cell:recaphead"/>
          <p:cNvSpPr txBox="1"/>
          <p:nvPr/>
        </p:nvSpPr>
        <p:spPr>
          <a:xfrm>
            <a:off x="740664"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Show, do not describe</a:t>
            </a:r>
          </a:p>
        </p:txBody>
      </p:sp>
      <p:sp>
        <p:nvSpPr>
          <p:cNvPr id="19" name="cell:recapsub"/>
          <p:cNvSpPr txBox="1"/>
          <p:nvPr/>
        </p:nvSpPr>
        <p:spPr>
          <a:xfrm>
            <a:off x="740664"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description must be interpreted. An example cannot be misread.</a:t>
            </a:r>
          </a:p>
        </p:txBody>
      </p:sp>
      <p:sp>
        <p:nvSpPr>
          <p:cNvPr id="20" name="vis:recaptile"/>
          <p:cNvSpPr/>
          <p:nvPr/>
        </p:nvSpPr>
        <p:spPr>
          <a:xfrm>
            <a:off x="6178143" y="190195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vis:recapbar"/>
          <p:cNvSpPr/>
          <p:nvPr/>
        </p:nvSpPr>
        <p:spPr>
          <a:xfrm>
            <a:off x="6178143" y="190195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2" name="cell:recaphead"/>
          <p:cNvSpPr txBox="1"/>
          <p:nvPr/>
        </p:nvSpPr>
        <p:spPr>
          <a:xfrm>
            <a:off x="6415887" y="201168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One example fixes structure</a:t>
            </a:r>
          </a:p>
        </p:txBody>
      </p:sp>
      <p:sp>
        <p:nvSpPr>
          <p:cNvPr id="23" name="cell:recapsub"/>
          <p:cNvSpPr txBox="1"/>
          <p:nvPr/>
        </p:nvSpPr>
        <p:spPr>
          <a:xfrm>
            <a:off x="6415887" y="232257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Layout, order, punctuation and bracket style, all in one line.</a:t>
            </a:r>
          </a:p>
        </p:txBody>
      </p:sp>
      <p:sp>
        <p:nvSpPr>
          <p:cNvPr id="24" name="vis:recaptile"/>
          <p:cNvSpPr/>
          <p:nvPr/>
        </p:nvSpPr>
        <p:spPr>
          <a:xfrm>
            <a:off x="502920"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recapbar"/>
          <p:cNvSpPr/>
          <p:nvPr/>
        </p:nvSpPr>
        <p:spPr>
          <a:xfrm>
            <a:off x="502920"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cell:recaphead"/>
          <p:cNvSpPr txBox="1"/>
          <p:nvPr/>
        </p:nvSpPr>
        <p:spPr>
          <a:xfrm>
            <a:off x="740664"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Two examples fix tone</a:t>
            </a:r>
          </a:p>
        </p:txBody>
      </p:sp>
      <p:sp>
        <p:nvSpPr>
          <p:cNvPr id="27" name="cell:recapsub"/>
          <p:cNvSpPr txBox="1"/>
          <p:nvPr/>
        </p:nvSpPr>
        <p:spPr>
          <a:xfrm>
            <a:off x="740664"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Register is easy to recognise and almost impossible to describe.</a:t>
            </a:r>
          </a:p>
        </p:txBody>
      </p:sp>
      <p:sp>
        <p:nvSpPr>
          <p:cNvPr id="28" name="vis:recaptile"/>
          <p:cNvSpPr/>
          <p:nvPr/>
        </p:nvSpPr>
        <p:spPr>
          <a:xfrm>
            <a:off x="6178143" y="302971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vis:recapbar"/>
          <p:cNvSpPr/>
          <p:nvPr/>
        </p:nvSpPr>
        <p:spPr>
          <a:xfrm>
            <a:off x="6178143" y="302971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0" name="cell:recaphead"/>
          <p:cNvSpPr txBox="1"/>
          <p:nvPr/>
        </p:nvSpPr>
        <p:spPr>
          <a:xfrm>
            <a:off x="6415887" y="313944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Always add "nothing else"</a:t>
            </a:r>
          </a:p>
        </p:txBody>
      </p:sp>
      <p:sp>
        <p:nvSpPr>
          <p:cNvPr id="31" name="cell:recapsub"/>
          <p:cNvSpPr txBox="1"/>
          <p:nvPr/>
        </p:nvSpPr>
        <p:spPr>
          <a:xfrm>
            <a:off x="6415887" y="345033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Otherwise you get your format plus a heading and an introduction.</a:t>
            </a:r>
          </a:p>
        </p:txBody>
      </p:sp>
      <p:sp>
        <p:nvSpPr>
          <p:cNvPr id="32" name="vis:recaptile"/>
          <p:cNvSpPr/>
          <p:nvPr/>
        </p:nvSpPr>
        <p:spPr>
          <a:xfrm>
            <a:off x="502920"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recapbar"/>
          <p:cNvSpPr/>
          <p:nvPr/>
        </p:nvSpPr>
        <p:spPr>
          <a:xfrm>
            <a:off x="502920"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4" name="cell:recaphead"/>
          <p:cNvSpPr txBox="1"/>
          <p:nvPr/>
        </p:nvSpPr>
        <p:spPr>
          <a:xfrm>
            <a:off x="740664"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Use capitals for structure</a:t>
            </a:r>
          </a:p>
        </p:txBody>
      </p:sp>
      <p:sp>
        <p:nvSpPr>
          <p:cNvPr id="35" name="cell:recapsub"/>
          <p:cNvSpPr txBox="1"/>
          <p:nvPr/>
        </p:nvSpPr>
        <p:spPr>
          <a:xfrm>
            <a:off x="740664"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SITUATION, IMPACT, NEXT UPDATE. Headings in capitals get followed.</a:t>
            </a:r>
          </a:p>
        </p:txBody>
      </p:sp>
      <p:sp>
        <p:nvSpPr>
          <p:cNvPr id="36" name="vis:recaptile"/>
          <p:cNvSpPr/>
          <p:nvPr/>
        </p:nvSpPr>
        <p:spPr>
          <a:xfrm>
            <a:off x="6178143" y="4157472"/>
            <a:ext cx="5510631" cy="963168"/>
          </a:xfrm>
          <a:prstGeom prst="roundRect">
            <a:avLst>
              <a:gd name="adj" fmla="val 7594"/>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vis:recapbar"/>
          <p:cNvSpPr/>
          <p:nvPr/>
        </p:nvSpPr>
        <p:spPr>
          <a:xfrm>
            <a:off x="6178143" y="4157472"/>
            <a:ext cx="54864" cy="963168"/>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8" name="cell:recaphead"/>
          <p:cNvSpPr txBox="1"/>
          <p:nvPr/>
        </p:nvSpPr>
        <p:spPr>
          <a:xfrm>
            <a:off x="6415887" y="42672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Never show a real record</a:t>
            </a:r>
          </a:p>
        </p:txBody>
      </p:sp>
      <p:sp>
        <p:nvSpPr>
          <p:cNvPr id="39" name="cell:recapsub"/>
          <p:cNvSpPr txBox="1"/>
          <p:nvPr/>
        </p:nvSpPr>
        <p:spPr>
          <a:xfrm>
            <a:off x="6415887" y="4578096"/>
            <a:ext cx="5035143" cy="43281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The format works with invented data. A real one leaks a real customer.</a:t>
            </a:r>
          </a:p>
        </p:txBody>
      </p:sp>
      <p:sp>
        <p:nvSpPr>
          <p:cNvPr id="40" name="vis:recapline"/>
          <p:cNvSpPr/>
          <p:nvPr/>
        </p:nvSpPr>
        <p:spPr>
          <a:xfrm>
            <a:off x="502920" y="5266944"/>
            <a:ext cx="11185855" cy="749808"/>
          </a:xfrm>
          <a:prstGeom prst="roundRect">
            <a:avLst>
              <a:gd name="adj" fmla="val 1219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75995" y="5464820"/>
            <a:ext cx="241401" cy="241401"/>
          </a:xfrm>
          <a:prstGeom prst="ellipse">
            <a:avLst/>
          </a:prstGeom>
          <a:noFill/>
          <a:ln w="19050">
            <a:solidFill>
              <a:srgbClr val="A17CC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932322" y="5738408"/>
            <a:ext cx="128747"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cxnSp>
        <p:nvCxnSpPr>
          <p:cNvPr id="43" name="vis:icon"/>
          <p:cNvCxnSpPr/>
          <p:nvPr/>
        </p:nvCxnSpPr>
        <p:spPr>
          <a:xfrm>
            <a:off x="948415" y="5802782"/>
            <a:ext cx="96561" cy="0"/>
          </a:xfrm>
          <a:prstGeom prst="line">
            <a:avLst/>
          </a:prstGeom>
          <a:ln w="19050">
            <a:solidFill>
              <a:srgbClr val="A17CC3"/>
            </a:solidFill>
          </a:ln>
          <a:effectLst/>
        </p:spPr>
        <p:style>
          <a:lnRef idx="2">
            <a:schemeClr val="accent1"/>
          </a:lnRef>
          <a:fillRef idx="0">
            <a:schemeClr val="accent1"/>
          </a:fillRef>
          <a:effectRef idx="1">
            <a:schemeClr val="accent1"/>
          </a:effectRef>
          <a:fontRef idx="minor">
            <a:schemeClr val="tx1"/>
          </a:fontRef>
        </p:style>
      </p:cxnSp>
      <p:sp>
        <p:nvSpPr>
          <p:cNvPr id="44" name="cell:recapone"/>
          <p:cNvSpPr txBox="1"/>
          <p:nvPr/>
        </p:nvSpPr>
        <p:spPr>
          <a:xfrm>
            <a:off x="1417320" y="5394959"/>
            <a:ext cx="9960559" cy="493776"/>
          </a:xfrm>
          <a:prstGeom prst="rect">
            <a:avLst/>
          </a:prstGeom>
          <a:noFill/>
        </p:spPr>
        <p:txBody>
          <a:bodyPr wrap="square" lIns="0" rIns="0" tIns="0" bIns="0" anchor="ctr">
            <a:spAutoFit/>
          </a:bodyPr>
          <a:lstStyle/>
          <a:p>
            <a:pPr algn="l">
              <a:lnSpc>
                <a:spcPts val="2600"/>
              </a:lnSpc>
              <a:spcBef>
                <a:spcPts val="0"/>
              </a:spcBef>
              <a:spcAft>
                <a:spcPts val="0"/>
              </a:spcAft>
            </a:pPr>
            <a:r>
              <a:rPr sz="2000" b="0">
                <a:solidFill>
                  <a:srgbClr val="FFFFFF"/>
                </a:solidFill>
                <a:latin typeface="Segoe UI Semibold"/>
              </a:rPr>
              <a:t>If you have explained the format twice, stop explaining and paste an example.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YOUR TOOLKIT</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Take these three things with you</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5"/>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seclabel"/>
          <p:cNvSpPr txBox="1"/>
          <p:nvPr/>
        </p:nvSpPr>
        <p:spPr>
          <a:xfrm>
            <a:off x="502920" y="1719072"/>
            <a:ext cx="6448882"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TEMPLATES YOU CAN REUSE TODAY</a:t>
            </a:r>
          </a:p>
        </p:txBody>
      </p:sp>
      <p:sp>
        <p:nvSpPr>
          <p:cNvPr id="16" name="vis:tk"/>
          <p:cNvSpPr/>
          <p:nvPr/>
        </p:nvSpPr>
        <p:spPr>
          <a:xfrm>
            <a:off x="502920" y="2121408"/>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vis:badge"/>
          <p:cNvSpPr/>
          <p:nvPr/>
        </p:nvSpPr>
        <p:spPr>
          <a:xfrm>
            <a:off x="722376" y="2243328"/>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8" name="vis:icon"/>
          <p:cNvSpPr/>
          <p:nvPr/>
        </p:nvSpPr>
        <p:spPr>
          <a:xfrm>
            <a:off x="909176" y="2392850"/>
            <a:ext cx="138462" cy="223669"/>
          </a:xfrm>
          <a:prstGeom prst="roundRect">
            <a:avLst>
              <a:gd name="adj" fmla="val 33019"/>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9" name="vis:icon"/>
          <p:cNvCxnSpPr/>
          <p:nvPr/>
        </p:nvCxnSpPr>
        <p:spPr>
          <a:xfrm>
            <a:off x="941129" y="2456756"/>
            <a:ext cx="7455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0" name="vis:icon"/>
          <p:cNvCxnSpPr/>
          <p:nvPr/>
        </p:nvCxnSpPr>
        <p:spPr>
          <a:xfrm>
            <a:off x="941129" y="2504685"/>
            <a:ext cx="74557"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1" name="vis:icon"/>
          <p:cNvCxnSpPr/>
          <p:nvPr/>
        </p:nvCxnSpPr>
        <p:spPr>
          <a:xfrm>
            <a:off x="941129" y="2552614"/>
            <a:ext cx="53255"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2" name="cell:tkname"/>
          <p:cNvSpPr txBox="1"/>
          <p:nvPr/>
        </p:nvSpPr>
        <p:spPr>
          <a:xfrm>
            <a:off x="1417320" y="2212848"/>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one-example prompt</a:t>
            </a:r>
          </a:p>
        </p:txBody>
      </p:sp>
      <p:sp>
        <p:nvSpPr>
          <p:cNvPr id="23" name="cell:tksub"/>
          <p:cNvSpPr txBox="1"/>
          <p:nvPr/>
        </p:nvSpPr>
        <p:spPr>
          <a:xfrm>
            <a:off x="1417320" y="2517648"/>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One perfect line, then "same pattern, nothing else".</a:t>
            </a:r>
          </a:p>
        </p:txBody>
      </p:sp>
      <p:sp>
        <p:nvSpPr>
          <p:cNvPr id="24" name="vis:tk"/>
          <p:cNvSpPr/>
          <p:nvPr/>
        </p:nvSpPr>
        <p:spPr>
          <a:xfrm>
            <a:off x="502920" y="3023616"/>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vis:badge"/>
          <p:cNvSpPr/>
          <p:nvPr/>
        </p:nvSpPr>
        <p:spPr>
          <a:xfrm>
            <a:off x="722376" y="3145536"/>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6" name="vis:icon"/>
          <p:cNvSpPr/>
          <p:nvPr/>
        </p:nvSpPr>
        <p:spPr>
          <a:xfrm>
            <a:off x="866573" y="3305709"/>
            <a:ext cx="223669" cy="149113"/>
          </a:xfrm>
          <a:prstGeom prst="roundRect">
            <a:avLst>
              <a:gd name="adj" fmla="val 30661"/>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27" name="vis:icon"/>
          <p:cNvCxnSpPr/>
          <p:nvPr/>
        </p:nvCxnSpPr>
        <p:spPr>
          <a:xfrm flipH="1">
            <a:off x="909176" y="3454822"/>
            <a:ext cx="10651" cy="5858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28" name="vis:icon"/>
          <p:cNvCxnSpPr/>
          <p:nvPr/>
        </p:nvCxnSpPr>
        <p:spPr>
          <a:xfrm flipV="1">
            <a:off x="909176" y="3454822"/>
            <a:ext cx="58581" cy="5858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29" name="cell:tkname"/>
          <p:cNvSpPr txBox="1"/>
          <p:nvPr/>
        </p:nvSpPr>
        <p:spPr>
          <a:xfrm>
            <a:off x="1417320" y="3115056"/>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two-example tone prompt</a:t>
            </a:r>
          </a:p>
        </p:txBody>
      </p:sp>
      <p:sp>
        <p:nvSpPr>
          <p:cNvPr id="30" name="cell:tksub"/>
          <p:cNvSpPr txBox="1"/>
          <p:nvPr/>
        </p:nvSpPr>
        <p:spPr>
          <a:xfrm>
            <a:off x="1417320" y="3419856"/>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Two short samples, then your new message.</a:t>
            </a:r>
          </a:p>
        </p:txBody>
      </p:sp>
      <p:sp>
        <p:nvSpPr>
          <p:cNvPr id="31" name="vis:tk"/>
          <p:cNvSpPr/>
          <p:nvPr/>
        </p:nvSpPr>
        <p:spPr>
          <a:xfrm>
            <a:off x="502920" y="3925823"/>
            <a:ext cx="6448882" cy="755904"/>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badge"/>
          <p:cNvSpPr/>
          <p:nvPr/>
        </p:nvSpPr>
        <p:spPr>
          <a:xfrm>
            <a:off x="722376" y="4047743"/>
            <a:ext cx="512064" cy="512064"/>
          </a:xfrm>
          <a:prstGeom prst="roundRect">
            <a:avLst>
              <a:gd name="adj" fmla="val 17857"/>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vis:icon"/>
          <p:cNvSpPr/>
          <p:nvPr/>
        </p:nvSpPr>
        <p:spPr>
          <a:xfrm>
            <a:off x="861247" y="4202592"/>
            <a:ext cx="234320" cy="202367"/>
          </a:xfrm>
          <a:prstGeom prst="roundRect">
            <a:avLst>
              <a:gd name="adj" fmla="val 22592"/>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34" name="vis:icon"/>
          <p:cNvCxnSpPr/>
          <p:nvPr/>
        </p:nvCxnSpPr>
        <p:spPr>
          <a:xfrm>
            <a:off x="861247" y="4266497"/>
            <a:ext cx="234321"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5" name="vis:icon"/>
          <p:cNvCxnSpPr/>
          <p:nvPr/>
        </p:nvCxnSpPr>
        <p:spPr>
          <a:xfrm>
            <a:off x="951780" y="4202592"/>
            <a:ext cx="0" cy="20236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cxnSp>
        <p:nvCxnSpPr>
          <p:cNvPr id="36" name="vis:icon"/>
          <p:cNvCxnSpPr/>
          <p:nvPr/>
        </p:nvCxnSpPr>
        <p:spPr>
          <a:xfrm>
            <a:off x="861247" y="4335728"/>
            <a:ext cx="234321"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37" name="cell:tkname"/>
          <p:cNvSpPr txBox="1"/>
          <p:nvPr/>
        </p:nvSpPr>
        <p:spPr>
          <a:xfrm>
            <a:off x="1417320" y="4017263"/>
            <a:ext cx="5278450" cy="377952"/>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The fill-in-the-blanks structure</a:t>
            </a:r>
          </a:p>
        </p:txBody>
      </p:sp>
      <p:sp>
        <p:nvSpPr>
          <p:cNvPr id="38" name="cell:tksub"/>
          <p:cNvSpPr txBox="1"/>
          <p:nvPr/>
        </p:nvSpPr>
        <p:spPr>
          <a:xfrm>
            <a:off x="1417320" y="4322063"/>
            <a:ext cx="5278450" cy="332597"/>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Capital headings, one sentence each, [CHECK] for gaps.</a:t>
            </a:r>
          </a:p>
        </p:txBody>
      </p:sp>
      <p:sp>
        <p:nvSpPr>
          <p:cNvPr id="39" name="seclabel"/>
          <p:cNvSpPr txBox="1"/>
          <p:nvPr/>
        </p:nvSpPr>
        <p:spPr>
          <a:xfrm>
            <a:off x="8082076" y="1719072"/>
            <a:ext cx="3606698" cy="274320"/>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LINKS THAT WORK</a:t>
            </a:r>
          </a:p>
        </p:txBody>
      </p:sp>
      <p:sp>
        <p:nvSpPr>
          <p:cNvPr id="40" name="nav:link">
            <a:hlinkClick r:id="rId2"/>
          </p:cNvPr>
          <p:cNvSpPr/>
          <p:nvPr/>
        </p:nvSpPr>
        <p:spPr>
          <a:xfrm>
            <a:off x="8082076" y="2121408"/>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1" name="vis:icon"/>
          <p:cNvSpPr/>
          <p:nvPr/>
        </p:nvSpPr>
        <p:spPr>
          <a:xfrm>
            <a:off x="8339937" y="2300630"/>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2" name="vis:icon"/>
          <p:cNvCxnSpPr/>
          <p:nvPr/>
        </p:nvCxnSpPr>
        <p:spPr>
          <a:xfrm>
            <a:off x="8482584" y="2443276"/>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3" name="cell:linklabel"/>
          <p:cNvSpPr txBox="1"/>
          <p:nvPr/>
        </p:nvSpPr>
        <p:spPr>
          <a:xfrm>
            <a:off x="8703868" y="2203703"/>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ChatGPT</a:t>
            </a:r>
          </a:p>
        </p:txBody>
      </p:sp>
      <p:sp>
        <p:nvSpPr>
          <p:cNvPr id="44" name="cell:linkurl"/>
          <p:cNvSpPr txBox="1"/>
          <p:nvPr/>
        </p:nvSpPr>
        <p:spPr>
          <a:xfrm>
            <a:off x="8703868" y="2423160"/>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chatgpt.com</a:t>
            </a:r>
          </a:p>
        </p:txBody>
      </p:sp>
      <p:sp>
        <p:nvSpPr>
          <p:cNvPr id="45" name="nav:link">
            <a:hlinkClick r:id="rId3"/>
          </p:cNvPr>
          <p:cNvSpPr/>
          <p:nvPr/>
        </p:nvSpPr>
        <p:spPr>
          <a:xfrm>
            <a:off x="8082076" y="2798063"/>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6" name="vis:icon"/>
          <p:cNvSpPr/>
          <p:nvPr/>
        </p:nvSpPr>
        <p:spPr>
          <a:xfrm>
            <a:off x="8339937" y="2977286"/>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47" name="vis:icon"/>
          <p:cNvCxnSpPr/>
          <p:nvPr/>
        </p:nvCxnSpPr>
        <p:spPr>
          <a:xfrm>
            <a:off x="8482584" y="3119932"/>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48" name="cell:linklabel"/>
          <p:cNvSpPr txBox="1"/>
          <p:nvPr/>
        </p:nvSpPr>
        <p:spPr>
          <a:xfrm>
            <a:off x="8703868" y="2880359"/>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Microsoft Copilot</a:t>
            </a:r>
          </a:p>
        </p:txBody>
      </p:sp>
      <p:sp>
        <p:nvSpPr>
          <p:cNvPr id="49" name="cell:linkurl"/>
          <p:cNvSpPr txBox="1"/>
          <p:nvPr/>
        </p:nvSpPr>
        <p:spPr>
          <a:xfrm>
            <a:off x="8703868" y="3099815"/>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copilot.microsoft.com</a:t>
            </a:r>
          </a:p>
        </p:txBody>
      </p:sp>
      <p:sp>
        <p:nvSpPr>
          <p:cNvPr id="50" name="nav:link">
            <a:hlinkClick r:id="rId4"/>
          </p:cNvPr>
          <p:cNvSpPr/>
          <p:nvPr/>
        </p:nvSpPr>
        <p:spPr>
          <a:xfrm>
            <a:off x="8082076" y="3474720"/>
            <a:ext cx="3606698" cy="566928"/>
          </a:xfrm>
          <a:prstGeom prst="roundRect">
            <a:avLst>
              <a:gd name="adj" fmla="val 9677"/>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1" name="vis:icon"/>
          <p:cNvSpPr/>
          <p:nvPr/>
        </p:nvSpPr>
        <p:spPr>
          <a:xfrm>
            <a:off x="8339937" y="3653942"/>
            <a:ext cx="164592" cy="164592"/>
          </a:xfrm>
          <a:prstGeom prst="ellipse">
            <a:avLst/>
          </a:prstGeom>
          <a:noFill/>
          <a:ln w="1905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52" name="vis:icon"/>
          <p:cNvCxnSpPr/>
          <p:nvPr/>
        </p:nvCxnSpPr>
        <p:spPr>
          <a:xfrm>
            <a:off x="8482584" y="3796588"/>
            <a:ext cx="65836" cy="65837"/>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53" name="cell:linklabel"/>
          <p:cNvSpPr txBox="1"/>
          <p:nvPr/>
        </p:nvSpPr>
        <p:spPr>
          <a:xfrm>
            <a:off x="8703868" y="3557015"/>
            <a:ext cx="2747162" cy="219456"/>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101826"/>
                </a:solidFill>
                <a:latin typeface="Segoe UI Semibold"/>
              </a:rPr>
              <a:t>Google Gemini</a:t>
            </a:r>
          </a:p>
        </p:txBody>
      </p:sp>
      <p:sp>
        <p:nvSpPr>
          <p:cNvPr id="54" name="cell:linkurl"/>
          <p:cNvSpPr txBox="1"/>
          <p:nvPr/>
        </p:nvSpPr>
        <p:spPr>
          <a:xfrm>
            <a:off x="8703868" y="3776472"/>
            <a:ext cx="2747162" cy="201168"/>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a:rPr>
              <a:t>gemini.google.com</a:t>
            </a:r>
          </a:p>
        </p:txBody>
      </p:sp>
      <p:sp>
        <p:nvSpPr>
          <p:cNvPr id="55" name="vis:next"/>
          <p:cNvSpPr/>
          <p:nvPr/>
        </p:nvSpPr>
        <p:spPr>
          <a:xfrm>
            <a:off x="8082076" y="4297680"/>
            <a:ext cx="3606698" cy="1719072"/>
          </a:xfrm>
          <a:prstGeom prst="roundRect">
            <a:avLst>
              <a:gd name="adj" fmla="val 4255"/>
            </a:avLst>
          </a:prstGeom>
          <a:solidFill>
            <a:srgbClr val="1018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56" name="seclabel"/>
          <p:cNvSpPr txBox="1"/>
          <p:nvPr/>
        </p:nvSpPr>
        <p:spPr>
          <a:xfrm>
            <a:off x="8338108" y="4480560"/>
            <a:ext cx="3094634"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A17CC3"/>
                </a:solidFill>
                <a:latin typeface="Segoe UI Semibold"/>
              </a:rPr>
              <a:t>DO THIS NEXT</a:t>
            </a:r>
          </a:p>
        </p:txBody>
      </p:sp>
      <p:sp>
        <p:nvSpPr>
          <p:cNvPr id="57" name="cell:next"/>
          <p:cNvSpPr txBox="1"/>
          <p:nvPr/>
        </p:nvSpPr>
        <p:spPr>
          <a:xfrm>
            <a:off x="8338108" y="4809744"/>
            <a:ext cx="3094634" cy="987551"/>
          </a:xfrm>
          <a:prstGeom prst="rect">
            <a:avLst/>
          </a:prstGeom>
          <a:noFill/>
        </p:spPr>
        <p:txBody>
          <a:bodyPr wrap="square" lIns="0" rIns="0" tIns="0" bIns="0" anchor="t">
            <a:spAutoFit/>
          </a:bodyPr>
          <a:lstStyle/>
          <a:p>
            <a:pPr algn="l">
              <a:lnSpc>
                <a:spcPts val="1885"/>
              </a:lnSpc>
              <a:spcBef>
                <a:spcPts val="0"/>
              </a:spcBef>
              <a:spcAft>
                <a:spcPts val="0"/>
              </a:spcAft>
            </a:pPr>
            <a:r>
              <a:rPr sz="1450" b="0">
                <a:solidFill>
                  <a:srgbClr val="FFFFFF"/>
                </a:solidFill>
                <a:latin typeface="Segoe UI"/>
              </a:rPr>
              <a:t>Next module: PE-05, Advanced Prompting. Breaking a big job into steps, and setting constraints the answer has to respect.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eclabel"/>
          <p:cNvSpPr txBox="1"/>
          <p:nvPr/>
        </p:nvSpPr>
        <p:spPr>
          <a:xfrm>
            <a:off x="502920" y="365760"/>
            <a:ext cx="7396276" cy="237744"/>
          </a:xfrm>
          <a:prstGeom prst="rect">
            <a:avLst/>
          </a:prstGeom>
          <a:noFill/>
        </p:spPr>
        <p:txBody>
          <a:bodyPr wrap="square" lIns="0" rIns="0" tIns="0" bIns="0" anchor="t">
            <a:spAutoFit/>
          </a:bodyPr>
          <a:lstStyle/>
          <a:p>
            <a:pPr algn="l">
              <a:lnSpc>
                <a:spcPts val="1690"/>
              </a:lnSpc>
              <a:spcBef>
                <a:spcPts val="0"/>
              </a:spcBef>
              <a:spcAft>
                <a:spcPts val="0"/>
              </a:spcAft>
            </a:pPr>
            <a:r>
              <a:rPr sz="1300" b="0" spc="140">
                <a:solidFill>
                  <a:srgbClr val="6A2FA0"/>
                </a:solidFill>
                <a:latin typeface="Segoe UI Semibold"/>
              </a:rPr>
              <a:t>GLOSSARY</a:t>
            </a:r>
          </a:p>
        </p:txBody>
      </p:sp>
      <p:sp>
        <p:nvSpPr>
          <p:cNvPr id="3" name="title"/>
          <p:cNvSpPr txBox="1"/>
          <p:nvPr/>
        </p:nvSpPr>
        <p:spPr>
          <a:xfrm>
            <a:off x="502920" y="658368"/>
            <a:ext cx="9291066" cy="749808"/>
          </a:xfrm>
          <a:prstGeom prst="rect">
            <a:avLst/>
          </a:prstGeom>
          <a:noFill/>
        </p:spPr>
        <p:txBody>
          <a:bodyPr wrap="square" lIns="0" rIns="0" tIns="0" bIns="0" anchor="b">
            <a:spAutoFit/>
          </a:bodyPr>
          <a:lstStyle/>
          <a:p>
            <a:pPr algn="l">
              <a:lnSpc>
                <a:spcPts val="4420"/>
              </a:lnSpc>
              <a:spcBef>
                <a:spcPts val="0"/>
              </a:spcBef>
              <a:spcAft>
                <a:spcPts val="0"/>
              </a:spcAft>
            </a:pPr>
            <a:r>
              <a:rPr sz="3400" b="0">
                <a:solidFill>
                  <a:srgbClr val="101826"/>
                </a:solidFill>
                <a:latin typeface="Segoe UI Semibold"/>
              </a:rPr>
              <a:t>Words people use around AI</a:t>
            </a:r>
          </a:p>
        </p:txBody>
      </p:sp>
      <p:cxnSp>
        <p:nvCxnSpPr>
          <p:cNvPr id="4" name="vis:rule"/>
          <p:cNvCxnSpPr/>
          <p:nvPr/>
        </p:nvCxnSpPr>
        <p:spPr>
          <a:xfrm>
            <a:off x="502920" y="1499616"/>
            <a:ext cx="11185855" cy="0"/>
          </a:xfrm>
          <a:prstGeom prst="line">
            <a:avLst/>
          </a:prstGeom>
          <a:ln w="12700">
            <a:solidFill>
              <a:srgbClr val="C9D1DE"/>
            </a:solidFill>
          </a:ln>
          <a:effectLst/>
        </p:spPr>
        <p:style>
          <a:lnRef idx="2">
            <a:schemeClr val="accent1"/>
          </a:lnRef>
          <a:fillRef idx="0">
            <a:schemeClr val="accent1"/>
          </a:fillRef>
          <a:effectRef idx="1">
            <a:schemeClr val="accent1"/>
          </a:effectRef>
          <a:fontRef idx="minor">
            <a:schemeClr val="tx1"/>
          </a:fontRef>
        </p:style>
      </p:cxnSp>
      <p:sp>
        <p:nvSpPr>
          <p:cNvPr id="5" name="footer"/>
          <p:cNvSpPr txBox="1"/>
          <p:nvPr/>
        </p:nvSpPr>
        <p:spPr>
          <a:xfrm>
            <a:off x="502920" y="6291072"/>
            <a:ext cx="6448882" cy="27432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5B6779"/>
                </a:solidFill>
                <a:latin typeface="Segoe UI"/>
              </a:rPr>
              <a:t>PE-04  ·  Examples &amp; Structured Prompts</a:t>
            </a:r>
          </a:p>
        </p:txBody>
      </p:sp>
      <p:sp>
        <p:nvSpPr>
          <p:cNvPr id="6" name="footer"/>
          <p:cNvSpPr txBox="1"/>
          <p:nvPr/>
        </p:nvSpPr>
        <p:spPr>
          <a:xfrm>
            <a:off x="8082076" y="6291072"/>
            <a:ext cx="3606698" cy="274320"/>
          </a:xfrm>
          <a:prstGeom prst="rect">
            <a:avLst/>
          </a:prstGeom>
          <a:noFill/>
        </p:spPr>
        <p:txBody>
          <a:bodyPr wrap="square" lIns="0" rIns="0" tIns="0" bIns="0" anchor="t">
            <a:spAutoFit/>
          </a:bodyPr>
          <a:lstStyle/>
          <a:p>
            <a:pPr algn="r">
              <a:lnSpc>
                <a:spcPts val="1560"/>
              </a:lnSpc>
              <a:spcBef>
                <a:spcPts val="0"/>
              </a:spcBef>
              <a:spcAft>
                <a:spcPts val="0"/>
              </a:spcAft>
            </a:pPr>
            <a:r>
              <a:rPr sz="1200" b="0">
                <a:solidFill>
                  <a:srgbClr val="5B6779"/>
                </a:solidFill>
                <a:latin typeface="Segoe UI"/>
              </a:rPr>
              <a:t>Inducto Learning Library</a:t>
            </a:r>
          </a:p>
        </p:txBody>
      </p:sp>
      <p:sp>
        <p:nvSpPr>
          <p:cNvPr id="7" name="nav:menu">
            <a:hlinkClick action="ppaction://hlinksldjump" r:id="rId2"/>
          </p:cNvPr>
          <p:cNvSpPr/>
          <p:nvPr/>
        </p:nvSpPr>
        <p:spPr>
          <a:xfrm>
            <a:off x="10682935" y="347472"/>
            <a:ext cx="1005840" cy="329184"/>
          </a:xfrm>
          <a:prstGeom prst="roundRect">
            <a:avLst>
              <a:gd name="adj" fmla="val 13888"/>
            </a:avLst>
          </a:prstGeom>
          <a:noFill/>
          <a:ln w="12700">
            <a:solidFill>
              <a:srgbClr val="6A2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8" name="vis:icon"/>
          <p:cNvSpPr/>
          <p:nvPr/>
        </p:nvSpPr>
        <p:spPr>
          <a:xfrm>
            <a:off x="10839160" y="461909"/>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9" name="vis:icon"/>
          <p:cNvCxnSpPr/>
          <p:nvPr/>
        </p:nvCxnSpPr>
        <p:spPr>
          <a:xfrm>
            <a:off x="10874593" y="47183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0" name="vis:icon"/>
          <p:cNvSpPr/>
          <p:nvPr/>
        </p:nvSpPr>
        <p:spPr>
          <a:xfrm>
            <a:off x="10839160" y="50442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1" name="vis:icon"/>
          <p:cNvCxnSpPr/>
          <p:nvPr/>
        </p:nvCxnSpPr>
        <p:spPr>
          <a:xfrm>
            <a:off x="10874593" y="514350"/>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2" name="vis:icon"/>
          <p:cNvSpPr/>
          <p:nvPr/>
        </p:nvSpPr>
        <p:spPr>
          <a:xfrm>
            <a:off x="10839160" y="546948"/>
            <a:ext cx="19842" cy="19842"/>
          </a:xfrm>
          <a:prstGeom prst="ellipse">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cxnSp>
        <p:nvCxnSpPr>
          <p:cNvPr id="13" name="vis:icon"/>
          <p:cNvCxnSpPr/>
          <p:nvPr/>
        </p:nvCxnSpPr>
        <p:spPr>
          <a:xfrm>
            <a:off x="10874593" y="556869"/>
            <a:ext cx="87874" cy="0"/>
          </a:xfrm>
          <a:prstGeom prst="line">
            <a:avLst/>
          </a:prstGeom>
          <a:ln w="19050">
            <a:solidFill>
              <a:srgbClr val="6A2FA0"/>
            </a:solidFill>
          </a:ln>
          <a:effectLst/>
        </p:spPr>
        <p:style>
          <a:lnRef idx="2">
            <a:schemeClr val="accent1"/>
          </a:lnRef>
          <a:fillRef idx="0">
            <a:schemeClr val="accent1"/>
          </a:fillRef>
          <a:effectRef idx="1">
            <a:schemeClr val="accent1"/>
          </a:effectRef>
          <a:fontRef idx="minor">
            <a:schemeClr val="tx1"/>
          </a:fontRef>
        </p:style>
      </p:cxnSp>
      <p:sp>
        <p:nvSpPr>
          <p:cNvPr id="14" name="nav:menutext"/>
          <p:cNvSpPr txBox="1"/>
          <p:nvPr/>
        </p:nvSpPr>
        <p:spPr>
          <a:xfrm>
            <a:off x="11066983" y="425196"/>
            <a:ext cx="493776" cy="182880"/>
          </a:xfrm>
          <a:prstGeom prst="rect">
            <a:avLst/>
          </a:prstGeom>
          <a:noFill/>
        </p:spPr>
        <p:txBody>
          <a:bodyPr wrap="square" lIns="0" rIns="0" tIns="0" bIns="0" anchor="t">
            <a:spAutoFit/>
          </a:bodyPr>
          <a:lstStyle/>
          <a:p>
            <a:pPr algn="l">
              <a:lnSpc>
                <a:spcPts val="1560"/>
              </a:lnSpc>
              <a:spcBef>
                <a:spcPts val="0"/>
              </a:spcBef>
              <a:spcAft>
                <a:spcPts val="0"/>
              </a:spcAft>
            </a:pPr>
            <a:r>
              <a:rPr sz="1200" b="0">
                <a:solidFill>
                  <a:srgbClr val="6A2FA0"/>
                </a:solidFill>
                <a:latin typeface="Segoe UI Semibold"/>
              </a:rPr>
              <a:t>Menu</a:t>
            </a:r>
          </a:p>
        </p:txBody>
      </p:sp>
      <p:sp>
        <p:nvSpPr>
          <p:cNvPr id="15" name="vis:gloss"/>
          <p:cNvSpPr/>
          <p:nvPr/>
        </p:nvSpPr>
        <p:spPr>
          <a:xfrm>
            <a:off x="502920"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6" name="vis:glossbar"/>
          <p:cNvSpPr/>
          <p:nvPr/>
        </p:nvSpPr>
        <p:spPr>
          <a:xfrm>
            <a:off x="502920"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17" name="cell:glossterm"/>
          <p:cNvSpPr txBox="1"/>
          <p:nvPr/>
        </p:nvSpPr>
        <p:spPr>
          <a:xfrm>
            <a:off x="740664"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Few-shot</a:t>
            </a:r>
          </a:p>
        </p:txBody>
      </p:sp>
      <p:sp>
        <p:nvSpPr>
          <p:cNvPr id="18" name="cell:glossdef"/>
          <p:cNvSpPr txBox="1"/>
          <p:nvPr/>
        </p:nvSpPr>
        <p:spPr>
          <a:xfrm>
            <a:off x="740664"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Giving one or two worked examples before your request, so the pattern is shown rather than described.</a:t>
            </a:r>
          </a:p>
        </p:txBody>
      </p:sp>
      <p:sp>
        <p:nvSpPr>
          <p:cNvPr id="19" name="vis:gloss"/>
          <p:cNvSpPr/>
          <p:nvPr/>
        </p:nvSpPr>
        <p:spPr>
          <a:xfrm>
            <a:off x="6178143" y="1719072"/>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0" name="vis:glossbar"/>
          <p:cNvSpPr/>
          <p:nvPr/>
        </p:nvSpPr>
        <p:spPr>
          <a:xfrm>
            <a:off x="6178143" y="1719072"/>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1" name="cell:glossterm"/>
          <p:cNvSpPr txBox="1"/>
          <p:nvPr/>
        </p:nvSpPr>
        <p:spPr>
          <a:xfrm>
            <a:off x="6415887" y="1828800"/>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Zero-shot</a:t>
            </a:r>
          </a:p>
        </p:txBody>
      </p:sp>
      <p:sp>
        <p:nvSpPr>
          <p:cNvPr id="22" name="cell:glossdef"/>
          <p:cNvSpPr txBox="1"/>
          <p:nvPr/>
        </p:nvSpPr>
        <p:spPr>
          <a:xfrm>
            <a:off x="6415887" y="2139696"/>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Asking without any example. Fine for simple jobs, weak for formats and tone.</a:t>
            </a:r>
          </a:p>
        </p:txBody>
      </p:sp>
      <p:sp>
        <p:nvSpPr>
          <p:cNvPr id="23" name="vis:gloss"/>
          <p:cNvSpPr/>
          <p:nvPr/>
        </p:nvSpPr>
        <p:spPr>
          <a:xfrm>
            <a:off x="502920"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4" name="vis:glossbar"/>
          <p:cNvSpPr/>
          <p:nvPr/>
        </p:nvSpPr>
        <p:spPr>
          <a:xfrm>
            <a:off x="502920"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5" name="cell:glossterm"/>
          <p:cNvSpPr txBox="1"/>
          <p:nvPr/>
        </p:nvSpPr>
        <p:spPr>
          <a:xfrm>
            <a:off x="740664"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Template</a:t>
            </a:r>
          </a:p>
        </p:txBody>
      </p:sp>
      <p:sp>
        <p:nvSpPr>
          <p:cNvPr id="26" name="cell:glossdef"/>
          <p:cNvSpPr txBox="1"/>
          <p:nvPr/>
        </p:nvSpPr>
        <p:spPr>
          <a:xfrm>
            <a:off x="740664"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reusable prompt with brackets where the specifics go.</a:t>
            </a:r>
          </a:p>
        </p:txBody>
      </p:sp>
      <p:sp>
        <p:nvSpPr>
          <p:cNvPr id="27" name="vis:gloss"/>
          <p:cNvSpPr/>
          <p:nvPr/>
        </p:nvSpPr>
        <p:spPr>
          <a:xfrm>
            <a:off x="6178143" y="2962656"/>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8" name="vis:glossbar"/>
          <p:cNvSpPr/>
          <p:nvPr/>
        </p:nvSpPr>
        <p:spPr>
          <a:xfrm>
            <a:off x="6178143" y="2962656"/>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29" name="cell:glossterm"/>
          <p:cNvSpPr txBox="1"/>
          <p:nvPr/>
        </p:nvSpPr>
        <p:spPr>
          <a:xfrm>
            <a:off x="6415887" y="3072384"/>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Structured prompt</a:t>
            </a:r>
          </a:p>
        </p:txBody>
      </p:sp>
      <p:sp>
        <p:nvSpPr>
          <p:cNvPr id="30" name="cell:glossdef"/>
          <p:cNvSpPr txBox="1"/>
          <p:nvPr/>
        </p:nvSpPr>
        <p:spPr>
          <a:xfrm>
            <a:off x="6415887" y="3383280"/>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A prompt with fixed headings the answer must fill in, so every result is comparable.</a:t>
            </a:r>
          </a:p>
        </p:txBody>
      </p:sp>
      <p:sp>
        <p:nvSpPr>
          <p:cNvPr id="31" name="vis:gloss"/>
          <p:cNvSpPr/>
          <p:nvPr/>
        </p:nvSpPr>
        <p:spPr>
          <a:xfrm>
            <a:off x="502920"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2" name="vis:glossbar"/>
          <p:cNvSpPr/>
          <p:nvPr/>
        </p:nvSpPr>
        <p:spPr>
          <a:xfrm>
            <a:off x="502920"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3" name="cell:glossterm"/>
          <p:cNvSpPr txBox="1"/>
          <p:nvPr/>
        </p:nvSpPr>
        <p:spPr>
          <a:xfrm>
            <a:off x="740664"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Prompt</a:t>
            </a:r>
          </a:p>
        </p:txBody>
      </p:sp>
      <p:sp>
        <p:nvSpPr>
          <p:cNvPr id="34" name="cell:glossdef"/>
          <p:cNvSpPr txBox="1"/>
          <p:nvPr/>
        </p:nvSpPr>
        <p:spPr>
          <a:xfrm>
            <a:off x="740664"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Everything you type in: context plus instructions plus your facts.</a:t>
            </a:r>
          </a:p>
        </p:txBody>
      </p:sp>
      <p:sp>
        <p:nvSpPr>
          <p:cNvPr id="35" name="vis:gloss"/>
          <p:cNvSpPr/>
          <p:nvPr/>
        </p:nvSpPr>
        <p:spPr>
          <a:xfrm>
            <a:off x="6178143" y="4206240"/>
            <a:ext cx="5510631" cy="1078992"/>
          </a:xfrm>
          <a:prstGeom prst="roundRect">
            <a:avLst>
              <a:gd name="adj" fmla="val 6779"/>
            </a:avLst>
          </a:prstGeom>
          <a:solidFill>
            <a:srgbClr val="F3F6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6" name="vis:glossbar"/>
          <p:cNvSpPr/>
          <p:nvPr/>
        </p:nvSpPr>
        <p:spPr>
          <a:xfrm>
            <a:off x="6178143" y="4206240"/>
            <a:ext cx="54864" cy="1078992"/>
          </a:xfrm>
          <a:prstGeom prst="rect">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37" name="cell:glossterm"/>
          <p:cNvSpPr txBox="1"/>
          <p:nvPr/>
        </p:nvSpPr>
        <p:spPr>
          <a:xfrm>
            <a:off x="6415887" y="4315968"/>
            <a:ext cx="5035143" cy="274320"/>
          </a:xfrm>
          <a:prstGeom prst="rect">
            <a:avLst/>
          </a:prstGeom>
          <a:noFill/>
        </p:spPr>
        <p:txBody>
          <a:bodyPr wrap="square" lIns="0" rIns="0" tIns="0" bIns="0" anchor="t">
            <a:spAutoFit/>
          </a:bodyPr>
          <a:lstStyle/>
          <a:p>
            <a:pPr algn="l">
              <a:lnSpc>
                <a:spcPts val="1950"/>
              </a:lnSpc>
              <a:spcBef>
                <a:spcPts val="0"/>
              </a:spcBef>
              <a:spcAft>
                <a:spcPts val="0"/>
              </a:spcAft>
            </a:pPr>
            <a:r>
              <a:rPr sz="1500" b="0">
                <a:solidFill>
                  <a:srgbClr val="101826"/>
                </a:solidFill>
                <a:latin typeface="Segoe UI Semibold"/>
              </a:rPr>
              <a:t>Output</a:t>
            </a:r>
          </a:p>
        </p:txBody>
      </p:sp>
      <p:sp>
        <p:nvSpPr>
          <p:cNvPr id="38" name="cell:glossdef"/>
          <p:cNvSpPr txBox="1"/>
          <p:nvPr/>
        </p:nvSpPr>
        <p:spPr>
          <a:xfrm>
            <a:off x="6415887" y="4626864"/>
            <a:ext cx="5035143" cy="548640"/>
          </a:xfrm>
          <a:prstGeom prst="rect">
            <a:avLst/>
          </a:prstGeom>
          <a:noFill/>
        </p:spPr>
        <p:txBody>
          <a:bodyPr wrap="square" lIns="0" rIns="0" tIns="0" bIns="0" anchor="t">
            <a:spAutoFit/>
          </a:bodyPr>
          <a:lstStyle/>
          <a:p>
            <a:pPr algn="l">
              <a:lnSpc>
                <a:spcPts val="1690"/>
              </a:lnSpc>
              <a:spcBef>
                <a:spcPts val="0"/>
              </a:spcBef>
              <a:spcAft>
                <a:spcPts val="0"/>
              </a:spcAft>
            </a:pPr>
            <a:r>
              <a:rPr sz="1300" b="0">
                <a:solidFill>
                  <a:srgbClr val="5B6779"/>
                </a:solidFill>
                <a:latin typeface="Segoe UI"/>
              </a:rPr>
              <a:t>What comes back. Your draft, which you are responsible for checking.</a:t>
            </a:r>
          </a:p>
        </p:txBody>
      </p:sp>
      <p:sp>
        <p:nvSpPr>
          <p:cNvPr id="39" name="nav:glossback">
            <a:hlinkClick action="ppaction://hlinksldjump" r:id="rId2"/>
          </p:cNvPr>
          <p:cNvSpPr/>
          <p:nvPr/>
        </p:nvSpPr>
        <p:spPr>
          <a:xfrm>
            <a:off x="502920" y="5504688"/>
            <a:ext cx="2651760" cy="512064"/>
          </a:xfrm>
          <a:prstGeom prst="roundRect">
            <a:avLst>
              <a:gd name="adj" fmla="val 10714"/>
            </a:avLst>
          </a:prstGeom>
          <a:solidFill>
            <a:srgbClr val="6A2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p:txBody>
      </p:sp>
      <p:sp>
        <p:nvSpPr>
          <p:cNvPr id="40" name="nav:glossbacktext"/>
          <p:cNvSpPr txBox="1"/>
          <p:nvPr/>
        </p:nvSpPr>
        <p:spPr>
          <a:xfrm>
            <a:off x="758952" y="5650992"/>
            <a:ext cx="2139696" cy="237744"/>
          </a:xfrm>
          <a:prstGeom prst="rect">
            <a:avLst/>
          </a:prstGeom>
          <a:noFill/>
        </p:spPr>
        <p:txBody>
          <a:bodyPr wrap="square" lIns="0" rIns="0" tIns="0" bIns="0" anchor="t">
            <a:spAutoFit/>
          </a:bodyPr>
          <a:lstStyle/>
          <a:p>
            <a:pPr algn="l">
              <a:lnSpc>
                <a:spcPts val="1820"/>
              </a:lnSpc>
              <a:spcBef>
                <a:spcPts val="0"/>
              </a:spcBef>
              <a:spcAft>
                <a:spcPts val="0"/>
              </a:spcAft>
            </a:pPr>
            <a:r>
              <a:rPr sz="1400" b="0">
                <a:solidFill>
                  <a:srgbClr val="FFFFFF"/>
                </a:solidFill>
                <a:latin typeface="Segoe UI Semibold"/>
              </a:rPr>
              <a:t>Back to the menu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