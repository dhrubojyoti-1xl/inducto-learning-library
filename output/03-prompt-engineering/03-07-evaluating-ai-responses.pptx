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gQx973zsOOw"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gpt.com" TargetMode="External"/><Relationship Id="rId3" Type="http://schemas.openxmlformats.org/officeDocument/2006/relationships/hyperlink" Target="https://copilot.microsof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block"/>
          <p:cNvSpPr/>
          <p:nvPr/>
        </p:nvSpPr>
        <p:spPr>
          <a:xfrm>
            <a:off x="7589520" y="2509113"/>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 name="vis:coverline"/>
          <p:cNvCxnSpPr/>
          <p:nvPr/>
        </p:nvCxnSpPr>
        <p:spPr>
          <a:xfrm flipV="1">
            <a:off x="8355787" y="2493696"/>
            <a:ext cx="234086"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vis:coverblock"/>
          <p:cNvSpPr/>
          <p:nvPr/>
        </p:nvSpPr>
        <p:spPr>
          <a:xfrm>
            <a:off x="8626449" y="2838297"/>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7" name="vis:coverline"/>
          <p:cNvCxnSpPr/>
          <p:nvPr/>
        </p:nvCxnSpPr>
        <p:spPr>
          <a:xfrm>
            <a:off x="9392716" y="3152064"/>
            <a:ext cx="234087"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vis:coverblock"/>
          <p:cNvSpPr/>
          <p:nvPr/>
        </p:nvSpPr>
        <p:spPr>
          <a:xfrm>
            <a:off x="9663379" y="2509113"/>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coverline"/>
          <p:cNvCxnSpPr/>
          <p:nvPr/>
        </p:nvCxnSpPr>
        <p:spPr>
          <a:xfrm flipV="1">
            <a:off x="10429646" y="2493696"/>
            <a:ext cx="234086"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vis:coverblock"/>
          <p:cNvSpPr/>
          <p:nvPr/>
        </p:nvSpPr>
        <p:spPr>
          <a:xfrm>
            <a:off x="10700308" y="2838297"/>
            <a:ext cx="729691" cy="627534"/>
          </a:xfrm>
          <a:prstGeom prst="roundRect">
            <a:avLst>
              <a:gd name="adj" fmla="val 14571"/>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seclabel"/>
          <p:cNvSpPr txBox="1"/>
          <p:nvPr/>
        </p:nvSpPr>
        <p:spPr>
          <a:xfrm>
            <a:off x="960120" y="1114044"/>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PROMPT ENGINEERING</a:t>
            </a:r>
          </a:p>
        </p:txBody>
      </p:sp>
      <p:sp>
        <p:nvSpPr>
          <p:cNvPr id="12" name="title:cover"/>
          <p:cNvSpPr txBox="1"/>
          <p:nvPr/>
        </p:nvSpPr>
        <p:spPr>
          <a:xfrm>
            <a:off x="960120" y="1571244"/>
            <a:ext cx="5501487"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Evaluating AI Responses</a:t>
            </a:r>
          </a:p>
        </p:txBody>
      </p:sp>
      <p:cxnSp>
        <p:nvCxnSpPr>
          <p:cNvPr id="13" name="vis:rule"/>
          <p:cNvCxnSpPr/>
          <p:nvPr/>
        </p:nvCxnSpPr>
        <p:spPr>
          <a:xfrm>
            <a:off x="960120" y="335330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4" name="body:coversub"/>
          <p:cNvSpPr txBox="1"/>
          <p:nvPr/>
        </p:nvSpPr>
        <p:spPr>
          <a:xfrm>
            <a:off x="960120" y="3627628"/>
            <a:ext cx="5501487" cy="78130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A thirty-second way to decide whether to send it, fix it or throw it away.</a:t>
            </a:r>
          </a:p>
        </p:txBody>
      </p:sp>
      <p:sp>
        <p:nvSpPr>
          <p:cNvPr id="15" name="vis:chip"/>
          <p:cNvSpPr/>
          <p:nvPr/>
        </p:nvSpPr>
        <p:spPr>
          <a:xfrm>
            <a:off x="960120" y="4811268"/>
            <a:ext cx="954659" cy="310896"/>
          </a:xfrm>
          <a:prstGeom prst="roundRect">
            <a:avLst>
              <a:gd name="adj" fmla="val 14705"/>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1115568" y="4856988"/>
            <a:ext cx="64376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PE-07</a:t>
            </a:r>
          </a:p>
        </p:txBody>
      </p:sp>
      <p:sp>
        <p:nvSpPr>
          <p:cNvPr id="17" name="vis:chip"/>
          <p:cNvSpPr/>
          <p:nvPr/>
        </p:nvSpPr>
        <p:spPr>
          <a:xfrm>
            <a:off x="2061083" y="4811268"/>
            <a:ext cx="1453134"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2216531" y="4856988"/>
            <a:ext cx="11422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17 MINUTES</a:t>
            </a:r>
          </a:p>
        </p:txBody>
      </p:sp>
      <p:sp>
        <p:nvSpPr>
          <p:cNvPr id="19" name="vis:chip"/>
          <p:cNvSpPr/>
          <p:nvPr/>
        </p:nvSpPr>
        <p:spPr>
          <a:xfrm>
            <a:off x="3660521" y="481126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3815969" y="485698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21"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2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PE-07  ·  Evaluating AI Responses</a:t>
            </a:r>
          </a:p>
        </p:txBody>
      </p:sp>
      <p:sp>
        <p:nvSpPr>
          <p:cNvPr id="2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Neha sends a draft she half-read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95057" y="2247346"/>
            <a:ext cx="332461" cy="260187"/>
          </a:xfrm>
          <a:custGeom>
            <a:avLst/>
            <a:gdLst/>
            <a:ahLst/>
            <a:cxnLst/>
            <a:rect l="l" t="t" r="r" b="b"/>
            <a:pathLst>
              <a:path w="332461" h="260187">
                <a:moveTo>
                  <a:pt x="0" y="130093"/>
                </a:moveTo>
                <a:lnTo>
                  <a:pt x="166231" y="0"/>
                </a:lnTo>
                <a:lnTo>
                  <a:pt x="332461" y="130093"/>
                </a:lnTo>
                <a:lnTo>
                  <a:pt x="166231" y="260187"/>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is:icon"/>
          <p:cNvSpPr/>
          <p:nvPr/>
        </p:nvSpPr>
        <p:spPr>
          <a:xfrm>
            <a:off x="1110696" y="2326848"/>
            <a:ext cx="101183" cy="101183"/>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Neha writes training notes for a Noida team. The AI draft reads well, so she skims it and sends it. Two paragraphs in, it describes a sign-off step the company does not have. Fourteen people follow it for a fortnight.</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A fortnight of a process nobody actually approved.</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Four questions, thirty seconds, before anything is sent.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954575" y="2081584"/>
            <a:ext cx="76648" cy="76648"/>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1031223" y="1993143"/>
            <a:ext cx="141505" cy="16508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9"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Score any answer against four questions in thirty seconds</a:t>
            </a:r>
          </a:p>
        </p:txBody>
      </p:sp>
      <p:sp>
        <p:nvSpPr>
          <p:cNvPr id="20"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943035" y="2869677"/>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vis:icon"/>
          <p:cNvSpPr/>
          <p:nvPr/>
        </p:nvSpPr>
        <p:spPr>
          <a:xfrm>
            <a:off x="988477" y="2846214"/>
            <a:ext cx="54244" cy="46578"/>
          </a:xfrm>
          <a:custGeom>
            <a:avLst/>
            <a:gdLst/>
            <a:ahLst/>
            <a:cxnLst/>
            <a:rect l="l" t="t" r="r" b="b"/>
            <a:pathLst>
              <a:path w="54244" h="46578">
                <a:moveTo>
                  <a:pt x="54244" y="0"/>
                </a:moveTo>
                <a:lnTo>
                  <a:pt x="26532" y="46578"/>
                </a:lnTo>
                <a:lnTo>
                  <a:pt x="0" y="589"/>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Decide correctly between send, fix and throw away</a:t>
            </a:r>
          </a:p>
        </p:txBody>
      </p:sp>
      <p:sp>
        <p:nvSpPr>
          <p:cNvPr id="25"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936886" y="3761783"/>
            <a:ext cx="247634" cy="165089"/>
          </a:xfrm>
          <a:prstGeom prst="roundRect">
            <a:avLst>
              <a:gd name="adj" fmla="val 27694"/>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flipH="1">
            <a:off x="984055" y="3926872"/>
            <a:ext cx="11792" cy="6485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984055" y="3926872"/>
            <a:ext cx="64856" cy="6485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0"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a correction that keeps the good 80 per cent</a:t>
            </a:r>
          </a:p>
        </p:txBody>
      </p:sp>
      <p:sp>
        <p:nvSpPr>
          <p:cNvPr id="31"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925094" y="4657895"/>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vis:icon"/>
          <p:cNvSpPr/>
          <p:nvPr/>
        </p:nvSpPr>
        <p:spPr>
          <a:xfrm>
            <a:off x="1019431" y="4722751"/>
            <a:ext cx="82544" cy="82544"/>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Notice when a fluent answer is quietly avoiding your question</a:t>
            </a:r>
          </a:p>
        </p:txBody>
      </p:sp>
      <p:sp>
        <p:nvSpPr>
          <p:cNvPr id="36"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icon"/>
          <p:cNvSpPr/>
          <p:nvPr/>
        </p:nvSpPr>
        <p:spPr>
          <a:xfrm>
            <a:off x="933938" y="5551059"/>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vis:icon"/>
          <p:cNvCxnSpPr/>
          <p:nvPr/>
        </p:nvCxnSpPr>
        <p:spPr>
          <a:xfrm>
            <a:off x="1007639" y="5571695"/>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0" name="vis:icon"/>
          <p:cNvSpPr/>
          <p:nvPr/>
        </p:nvSpPr>
        <p:spPr>
          <a:xfrm>
            <a:off x="933938" y="5639499"/>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1" name="vis:icon"/>
          <p:cNvCxnSpPr/>
          <p:nvPr/>
        </p:nvCxnSpPr>
        <p:spPr>
          <a:xfrm>
            <a:off x="1007639" y="5660136"/>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2" name="vis:icon"/>
          <p:cNvSpPr/>
          <p:nvPr/>
        </p:nvSpPr>
        <p:spPr>
          <a:xfrm>
            <a:off x="933938" y="5727940"/>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1007639" y="5748576"/>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4"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Compare two answers without re-reading both in full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four questions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Thirty seconds, every time</a:t>
            </a:r>
          </a:p>
        </p:txBody>
      </p:sp>
      <p:cxnSp>
        <p:nvCxnSpPr>
          <p:cNvPr id="13" name="vis:menuarrow"/>
          <p:cNvCxnSpPr/>
          <p:nvPr/>
        </p:nvCxnSpPr>
        <p:spPr>
          <a:xfrm>
            <a:off x="11213287" y="1997049"/>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Send, fix or bin</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Choosing correctly</a:t>
            </a:r>
          </a:p>
        </p:txBody>
      </p:sp>
      <p:cxnSp>
        <p:nvCxnSpPr>
          <p:cNvPr id="19" name="vis:menuarrow"/>
          <p:cNvCxnSpPr/>
          <p:nvPr/>
        </p:nvCxnSpPr>
        <p:spPr>
          <a:xfrm>
            <a:off x="11213287" y="242498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Writing the correction</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Keep what worked</a:t>
            </a:r>
          </a:p>
        </p:txBody>
      </p:sp>
      <p:cxnSp>
        <p:nvCxnSpPr>
          <p:cNvPr id="25" name="vis:menuarrow"/>
          <p:cNvCxnSpPr/>
          <p:nvPr/>
        </p:nvCxnSpPr>
        <p:spPr>
          <a:xfrm>
            <a:off x="11213287" y="285292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Fluent but empty</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answer that dodges</a:t>
            </a:r>
          </a:p>
        </p:txBody>
      </p:sp>
      <p:cxnSp>
        <p:nvCxnSpPr>
          <p:cNvPr id="31" name="vis:menuarrow"/>
          <p:cNvCxnSpPr/>
          <p:nvPr/>
        </p:nvCxnSpPr>
        <p:spPr>
          <a:xfrm>
            <a:off x="11213287" y="3280867"/>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Score a real answer</a:t>
            </a:r>
          </a:p>
        </p:txBody>
      </p:sp>
      <p:cxnSp>
        <p:nvCxnSpPr>
          <p:cNvPr id="37" name="vis:menuarrow"/>
          <p:cNvCxnSpPr/>
          <p:nvPr/>
        </p:nvCxnSpPr>
        <p:spPr>
          <a:xfrm>
            <a:off x="11213287" y="3708806"/>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Friday afternoon decision</a:t>
            </a:r>
          </a:p>
        </p:txBody>
      </p:sp>
      <p:cxnSp>
        <p:nvCxnSpPr>
          <p:cNvPr id="43" name="vis:menuarrow"/>
          <p:cNvCxnSpPr/>
          <p:nvPr/>
        </p:nvCxnSpPr>
        <p:spPr>
          <a:xfrm>
            <a:off x="11213287" y="4136745"/>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7-minute outside explainer</a:t>
            </a:r>
          </a:p>
        </p:txBody>
      </p:sp>
      <p:cxnSp>
        <p:nvCxnSpPr>
          <p:cNvPr id="49" name="vis:menuarrow"/>
          <p:cNvCxnSpPr/>
          <p:nvPr/>
        </p:nvCxnSpPr>
        <p:spPr>
          <a:xfrm>
            <a:off x="11213287" y="456468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FOUR QUESTIONS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questions, thirty seconds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Ask these in order. Most answers fail on question two, and you stop there.</a:t>
            </a:r>
          </a:p>
        </p:txBody>
      </p:sp>
      <p:sp>
        <p:nvSpPr>
          <p:cNvPr id="16" name="vis:checktile"/>
          <p:cNvSpPr/>
          <p:nvPr/>
        </p:nvSpPr>
        <p:spPr>
          <a:xfrm>
            <a:off x="502920" y="269748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25069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340961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335749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84378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TRACEABLE — is every fact one I supplied?</a:t>
            </a:r>
          </a:p>
        </p:txBody>
      </p:sp>
      <p:sp>
        <p:nvSpPr>
          <p:cNvPr id="21" name="vis:checktile"/>
          <p:cNvSpPr/>
          <p:nvPr/>
        </p:nvSpPr>
        <p:spPr>
          <a:xfrm>
            <a:off x="6205575" y="269748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25069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340961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335749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84378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COMPLETE — did it answer what I actually asked?</a:t>
            </a:r>
          </a:p>
        </p:txBody>
      </p:sp>
      <p:sp>
        <p:nvSpPr>
          <p:cNvPr id="26" name="vis:checktile"/>
          <p:cNvSpPr/>
          <p:nvPr/>
        </p:nvSpPr>
        <p:spPr>
          <a:xfrm>
            <a:off x="502920" y="433425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4887468"/>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504639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499426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48056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USABLE — could I send this without rewriting it?</a:t>
            </a:r>
          </a:p>
        </p:txBody>
      </p:sp>
      <p:sp>
        <p:nvSpPr>
          <p:cNvPr id="31" name="vis:checktile"/>
          <p:cNvSpPr/>
          <p:nvPr/>
        </p:nvSpPr>
        <p:spPr>
          <a:xfrm>
            <a:off x="6205575" y="433425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4887468"/>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17934" y="504639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563106" y="499426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448056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SAFE — would I be happy for anyone to read the prompt?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FOUR QUESTIONS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fluency fools people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reads well</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Clean sentences, confident tone, no hedging.</a:t>
            </a:r>
          </a:p>
        </p:txBody>
      </p:sp>
      <p:cxnSp>
        <p:nvCxnSpPr>
          <p:cNvPr id="20" name="vis:flowarrow"/>
          <p:cNvCxnSpPr/>
          <p:nvPr/>
        </p:nvCxnSpPr>
        <p:spPr>
          <a:xfrm>
            <a:off x="3093643" y="3182111"/>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relax</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Good writing signals care, in every other context.</a:t>
            </a:r>
          </a:p>
        </p:txBody>
      </p:sp>
      <p:cxnSp>
        <p:nvCxnSpPr>
          <p:cNvPr id="26" name="vis:flowarrow"/>
          <p:cNvCxnSpPr/>
          <p:nvPr/>
        </p:nvCxnSpPr>
        <p:spPr>
          <a:xfrm>
            <a:off x="5986119" y="3182111"/>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skim</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You check the wording rather than the content.</a:t>
            </a:r>
          </a:p>
        </p:txBody>
      </p:sp>
      <p:cxnSp>
        <p:nvCxnSpPr>
          <p:cNvPr id="32" name="vis:flowarrow"/>
          <p:cNvCxnSpPr/>
          <p:nvPr/>
        </p:nvCxnSpPr>
        <p:spPr>
          <a:xfrm>
            <a:off x="8878595" y="3182111"/>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The middle slips through</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Where the invented line usually 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SEND, FIX OR BIN</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Send, fix or throw away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Is the structure right and only the details wrong?</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50596"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583880"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Throw it away</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the shape is wrong, the prompt was wrong. Correcting it round by round costs more than one better prompt would.</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Fix it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what to keep, name what to change, supply the correct fact. One line of correction beats any amount of rewriting.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SEND, FIX OR BIN</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three-way test in practice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95338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64249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FIX IT</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Structure right, details wrong</a:t>
            </a:r>
          </a:p>
        </p:txBody>
      </p:sp>
      <p:cxnSp>
        <p:nvCxnSpPr>
          <p:cNvPr id="20" name="vis:icon"/>
          <p:cNvCxnSpPr/>
          <p:nvPr/>
        </p:nvCxnSpPr>
        <p:spPr>
          <a:xfrm>
            <a:off x="811987"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V="1">
            <a:off x="859536" y="3098901"/>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Correct shape, one wrong date</a:t>
            </a:r>
          </a:p>
        </p:txBody>
      </p:sp>
      <p:cxnSp>
        <p:nvCxnSpPr>
          <p:cNvPr id="23" name="vis:icon"/>
          <p:cNvCxnSpPr/>
          <p:nvPr/>
        </p:nvCxnSpPr>
        <p:spPr>
          <a:xfrm>
            <a:off x="811987"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859536" y="3793845"/>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Right tone, forty words too long</a:t>
            </a:r>
          </a:p>
        </p:txBody>
      </p:sp>
      <p:cxnSp>
        <p:nvCxnSpPr>
          <p:cNvPr id="26" name="vis:icon"/>
          <p:cNvCxnSpPr/>
          <p:nvPr/>
        </p:nvCxnSpPr>
        <p:spPr>
          <a:xfrm>
            <a:off x="811987"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V="1">
            <a:off x="859536" y="4488789"/>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Good order, one invented line</a:t>
            </a:r>
          </a:p>
        </p:txBody>
      </p:sp>
      <p:cxnSp>
        <p:nvCxnSpPr>
          <p:cNvPr id="29" name="vis:icon"/>
          <p:cNvCxnSpPr/>
          <p:nvPr/>
        </p:nvCxnSpPr>
        <p:spPr>
          <a:xfrm>
            <a:off x="811987"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V="1">
            <a:off x="859536" y="5183733"/>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Almost there, missing the closing ask</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581790"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127089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START AGAIN</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It answered a different question</a:t>
            </a:r>
          </a:p>
        </p:txBody>
      </p:sp>
      <p:cxnSp>
        <p:nvCxnSpPr>
          <p:cNvPr id="37" name="vis:icon"/>
          <p:cNvCxnSpPr/>
          <p:nvPr/>
        </p:nvCxnSpPr>
        <p:spPr>
          <a:xfrm>
            <a:off x="6567677" y="309158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H="1">
            <a:off x="6567677" y="309158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Written for the wrong reader entirely</a:t>
            </a:r>
          </a:p>
        </p:txBody>
      </p:sp>
      <p:cxnSp>
        <p:nvCxnSpPr>
          <p:cNvPr id="40" name="vis:icon"/>
          <p:cNvCxnSpPr/>
          <p:nvPr/>
        </p:nvCxnSpPr>
        <p:spPr>
          <a:xfrm>
            <a:off x="6567677" y="378653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H="1">
            <a:off x="6567677" y="378653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General advice where you wanted specifics</a:t>
            </a:r>
          </a:p>
        </p:txBody>
      </p:sp>
      <p:cxnSp>
        <p:nvCxnSpPr>
          <p:cNvPr id="43" name="vis:icon"/>
          <p:cNvCxnSpPr/>
          <p:nvPr/>
        </p:nvCxnSpPr>
        <p:spPr>
          <a:xfrm>
            <a:off x="6567677" y="448147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H="1">
            <a:off x="6567677" y="448147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Ignored the constraint you cared most about</a:t>
            </a:r>
          </a:p>
        </p:txBody>
      </p:sp>
      <p:cxnSp>
        <p:nvCxnSpPr>
          <p:cNvPr id="46" name="vis:icon"/>
          <p:cNvCxnSpPr/>
          <p:nvPr/>
        </p:nvCxnSpPr>
        <p:spPr>
          <a:xfrm>
            <a:off x="6567677" y="517641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H="1">
            <a:off x="6567677" y="517641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Three rounds in and still drifting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WRITING THE CORRECTION</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Keep, change, supply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correction pattern</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Keep the structure, the tone and the first two paragraphs exactly as they are. Change two things: the review step in paragraph three does not exist, so remove it; and the deadline is 15 March, not 12 March. Reissue the whole thing.</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Keep, change, supply — in that order, every time.</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Naming what to keep stops it rewriting the good part.</a:t>
            </a:r>
          </a:p>
        </p:txBody>
      </p:sp>
      <p:cxnSp>
        <p:nvCxnSpPr>
          <p:cNvPr id="33" name="vis:icon"/>
          <p:cNvCxnSpPr/>
          <p:nvPr/>
        </p:nvCxnSpPr>
        <p:spPr>
          <a:xfrm>
            <a:off x="7850361" y="3250143"/>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Two specific changes work far better than "fix this".</a:t>
            </a:r>
          </a:p>
        </p:txBody>
      </p:sp>
      <p:cxnSp>
        <p:nvCxnSpPr>
          <p:cNvPr id="36" name="vis:icon"/>
          <p:cNvCxnSpPr/>
          <p:nvPr/>
        </p:nvCxnSpPr>
        <p:spPr>
          <a:xfrm>
            <a:off x="7850361" y="418283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Supplying the right date means nothing gets invented.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WRITING THE CORRECTION</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Corrections that do not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mistake"/>
          <p:cNvSpPr/>
          <p:nvPr/>
        </p:nvSpPr>
        <p:spPr>
          <a:xfrm>
            <a:off x="502920" y="1719072"/>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203911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210769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"Make it better"</a:t>
            </a:r>
          </a:p>
        </p:txBody>
      </p:sp>
      <p:cxnSp>
        <p:nvCxnSpPr>
          <p:cNvPr id="20" name="vis:line"/>
          <p:cNvCxnSpPr/>
          <p:nvPr/>
        </p:nvCxnSpPr>
        <p:spPr>
          <a:xfrm>
            <a:off x="6008686" y="1865376"/>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There is no scale for better. You get a different draft with a different set of problems.</a:t>
            </a:r>
          </a:p>
        </p:txBody>
      </p:sp>
      <p:sp>
        <p:nvSpPr>
          <p:cNvPr id="22" name="vis:mistake"/>
          <p:cNvSpPr/>
          <p:nvPr/>
        </p:nvSpPr>
        <p:spPr>
          <a:xfrm>
            <a:off x="502920" y="2834639"/>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834639"/>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315467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322326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926079"/>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"That is wrong, try again"</a:t>
            </a:r>
          </a:p>
        </p:txBody>
      </p:sp>
      <p:cxnSp>
        <p:nvCxnSpPr>
          <p:cNvPr id="27" name="vis:line"/>
          <p:cNvCxnSpPr/>
          <p:nvPr/>
        </p:nvCxnSpPr>
        <p:spPr>
          <a:xfrm>
            <a:off x="6008686" y="2980944"/>
            <a:ext cx="0" cy="658367"/>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926079"/>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does not know which part. Usually it rewrites the part that was fine.</a:t>
            </a:r>
          </a:p>
        </p:txBody>
      </p:sp>
      <p:sp>
        <p:nvSpPr>
          <p:cNvPr id="29" name="vis:mistake"/>
          <p:cNvSpPr/>
          <p:nvPr/>
        </p:nvSpPr>
        <p:spPr>
          <a:xfrm>
            <a:off x="502920" y="3950208"/>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950208"/>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427024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433882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4041648"/>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"Shorter"</a:t>
            </a:r>
          </a:p>
        </p:txBody>
      </p:sp>
      <p:cxnSp>
        <p:nvCxnSpPr>
          <p:cNvPr id="34" name="vis:line"/>
          <p:cNvCxnSpPr/>
          <p:nvPr/>
        </p:nvCxnSpPr>
        <p:spPr>
          <a:xfrm>
            <a:off x="6008686" y="4096512"/>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4041648"/>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picks an amount. You will be back in a minute asking again. Give a number.</a:t>
            </a:r>
          </a:p>
        </p:txBody>
      </p:sp>
      <p:sp>
        <p:nvSpPr>
          <p:cNvPr id="36" name="vis:mistake"/>
          <p:cNvSpPr/>
          <p:nvPr/>
        </p:nvSpPr>
        <p:spPr>
          <a:xfrm>
            <a:off x="502920" y="5065776"/>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5065776"/>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5385816"/>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5454396"/>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5157216"/>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Listing eight changes at once</a:t>
            </a:r>
          </a:p>
        </p:txBody>
      </p:sp>
      <p:cxnSp>
        <p:nvCxnSpPr>
          <p:cNvPr id="41" name="vis:line"/>
          <p:cNvCxnSpPr/>
          <p:nvPr/>
        </p:nvCxnSpPr>
        <p:spPr>
          <a:xfrm>
            <a:off x="6008686" y="5212080"/>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5157216"/>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first three land, the rest drift. Two or three per round is the reliable limit.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FLUENT BUT EMPTY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answer that dodges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Some answers are perfectly written and contain nothing. They are the easiest to miss.</a:t>
            </a:r>
          </a:p>
        </p:txBody>
      </p:sp>
      <p:sp>
        <p:nvSpPr>
          <p:cNvPr id="16" name="vis:outcard"/>
          <p:cNvSpPr/>
          <p:nvPr/>
        </p:nvSpPr>
        <p:spPr>
          <a:xfrm>
            <a:off x="502920" y="2706624"/>
            <a:ext cx="5410047" cy="2743200"/>
          </a:xfrm>
          <a:prstGeom prst="roundRect">
            <a:avLst>
              <a:gd name="adj" fmla="val 333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outspine"/>
          <p:cNvSpPr/>
          <p:nvPr/>
        </p:nvSpPr>
        <p:spPr>
          <a:xfrm>
            <a:off x="502920" y="2706624"/>
            <a:ext cx="68580" cy="27432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58952" y="2907792"/>
            <a:ext cx="210908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14400" y="2935224"/>
            <a:ext cx="179819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FLUENT AND EMPTY</a:t>
            </a:r>
          </a:p>
        </p:txBody>
      </p:sp>
      <p:sp>
        <p:nvSpPr>
          <p:cNvPr id="20" name="vis:outbody"/>
          <p:cNvSpPr txBox="1"/>
          <p:nvPr/>
        </p:nvSpPr>
        <p:spPr>
          <a:xfrm>
            <a:off x="758952" y="3346704"/>
            <a:ext cx="4897983" cy="188366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asked: "Should we accept a 45-day payment term?"</a:t>
            </a:r>
          </a:p>
          <a:p>
            <a:pPr algn="l">
              <a:lnSpc>
                <a:spcPts val="1690"/>
              </a:lnSpc>
              <a:spcBef>
                <a:spcPts val="0"/>
              </a:spcBef>
              <a:spcAft>
                <a:spcPts val="600"/>
              </a:spcAft>
            </a:pPr>
            <a:r>
              <a:rPr sz="1300" b="0">
                <a:solidFill>
                  <a:srgbClr val="2A3547"/>
                </a:solidFill>
                <a:latin typeface="Segoe UI"/>
              </a:rPr>
              <a:t>You got: three balanced paragraphs on the general considerations around payment terms.</a:t>
            </a:r>
          </a:p>
          <a:p>
            <a:pPr algn="l">
              <a:lnSpc>
                <a:spcPts val="1690"/>
              </a:lnSpc>
              <a:spcBef>
                <a:spcPts val="0"/>
              </a:spcBef>
              <a:spcAft>
                <a:spcPts val="600"/>
              </a:spcAft>
            </a:pPr>
            <a:r>
              <a:rPr sz="1300" b="0">
                <a:solidFill>
                  <a:srgbClr val="2A3547"/>
                </a:solidFill>
                <a:latin typeface="Segoe UI"/>
              </a:rPr>
              <a:t>Nothing in it referred to your cash position or your customer.</a:t>
            </a:r>
          </a:p>
        </p:txBody>
      </p:sp>
      <p:sp>
        <p:nvSpPr>
          <p:cNvPr id="21" name="vis:outcard"/>
          <p:cNvSpPr/>
          <p:nvPr/>
        </p:nvSpPr>
        <p:spPr>
          <a:xfrm>
            <a:off x="6278727" y="2706624"/>
            <a:ext cx="5410047" cy="2743200"/>
          </a:xfrm>
          <a:prstGeom prst="roundRect">
            <a:avLst>
              <a:gd name="adj" fmla="val 333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outspine"/>
          <p:cNvSpPr/>
          <p:nvPr/>
        </p:nvSpPr>
        <p:spPr>
          <a:xfrm>
            <a:off x="6278727" y="2706624"/>
            <a:ext cx="68580" cy="274320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
          <p:cNvSpPr/>
          <p:nvPr/>
        </p:nvSpPr>
        <p:spPr>
          <a:xfrm>
            <a:off x="6534759" y="2907792"/>
            <a:ext cx="216809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hiptext"/>
          <p:cNvSpPr txBox="1"/>
          <p:nvPr/>
        </p:nvSpPr>
        <p:spPr>
          <a:xfrm>
            <a:off x="6690207" y="2935224"/>
            <a:ext cx="185719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FLUENT AND USEFUL</a:t>
            </a:r>
          </a:p>
        </p:txBody>
      </p:sp>
      <p:sp>
        <p:nvSpPr>
          <p:cNvPr id="25" name="vis:outbody"/>
          <p:cNvSpPr txBox="1"/>
          <p:nvPr/>
        </p:nvSpPr>
        <p:spPr>
          <a:xfrm>
            <a:off x="6534759" y="3346704"/>
            <a:ext cx="4897983" cy="188366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asked again with your facts and a forced answer.</a:t>
            </a:r>
          </a:p>
          <a:p>
            <a:pPr algn="l">
              <a:lnSpc>
                <a:spcPts val="1690"/>
              </a:lnSpc>
              <a:spcBef>
                <a:spcPts val="0"/>
              </a:spcBef>
              <a:spcAft>
                <a:spcPts val="600"/>
              </a:spcAft>
            </a:pPr>
            <a:r>
              <a:rPr sz="1300" b="0">
                <a:solidFill>
                  <a:srgbClr val="2A3547"/>
                </a:solidFill>
                <a:latin typeface="Segoe UI"/>
              </a:rPr>
              <a:t>"Given the figures below, give one recommendation and two reasons. No balanced overview."</a:t>
            </a:r>
          </a:p>
          <a:p>
            <a:pPr algn="l">
              <a:lnSpc>
                <a:spcPts val="1690"/>
              </a:lnSpc>
              <a:spcBef>
                <a:spcPts val="0"/>
              </a:spcBef>
              <a:spcAft>
                <a:spcPts val="600"/>
              </a:spcAft>
            </a:pPr>
            <a:r>
              <a:rPr sz="1300" b="0">
                <a:solidFill>
                  <a:srgbClr val="2A3547"/>
                </a:solidFill>
                <a:latin typeface="Segoe UI"/>
              </a:rPr>
              <a:t>You got a position you could argue with, which is what you needed.</a:t>
            </a:r>
          </a:p>
        </p:txBody>
      </p:sp>
      <p:sp>
        <p:nvSpPr>
          <p:cNvPr id="26" name="cell:banote"/>
          <p:cNvSpPr txBox="1"/>
          <p:nvPr/>
        </p:nvSpPr>
        <p:spPr>
          <a:xfrm>
            <a:off x="502920" y="5632704"/>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Balance is what it produces when it has nothing specific to say. Ask for a position and it stops.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FLUENT BUT EMPTY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signs of an empty answer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9212" y="2214193"/>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44800" y="2238158"/>
            <a:ext cx="21225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959212" y="2316899"/>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44800" y="2340863"/>
            <a:ext cx="21225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1" name="vis:icon"/>
          <p:cNvSpPr/>
          <p:nvPr/>
        </p:nvSpPr>
        <p:spPr>
          <a:xfrm>
            <a:off x="959212" y="2419604"/>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1044800" y="2443569"/>
            <a:ext cx="21225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3"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It lists considerations</a:t>
            </a:r>
          </a:p>
        </p:txBody>
      </p:sp>
      <p:sp>
        <p:nvSpPr>
          <p:cNvPr id="24"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"There are several factors to weigh." You already knew that. You wanted the weighing.</a:t>
            </a:r>
          </a:p>
        </p:txBody>
      </p:sp>
      <p:sp>
        <p:nvSpPr>
          <p:cNvPr id="25"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789835" y="2222270"/>
            <a:ext cx="273294" cy="255534"/>
          </a:xfrm>
          <a:custGeom>
            <a:avLst/>
            <a:gdLst/>
            <a:ahLst/>
            <a:cxnLst/>
            <a:rect l="l" t="t" r="r" b="b"/>
            <a:pathLst>
              <a:path w="273294" h="255534">
                <a:moveTo>
                  <a:pt x="205117" y="0"/>
                </a:moveTo>
                <a:lnTo>
                  <a:pt x="239604" y="28302"/>
                </a:lnTo>
                <a:lnTo>
                  <a:pt x="263163" y="66189"/>
                </a:lnTo>
                <a:lnTo>
                  <a:pt x="273294" y="109637"/>
                </a:lnTo>
                <a:lnTo>
                  <a:pt x="268921" y="154036"/>
                </a:lnTo>
                <a:lnTo>
                  <a:pt x="250509" y="194674"/>
                </a:lnTo>
                <a:lnTo>
                  <a:pt x="220011" y="227236"/>
                </a:lnTo>
                <a:lnTo>
                  <a:pt x="180665" y="248267"/>
                </a:lnTo>
                <a:lnTo>
                  <a:pt x="136647" y="255534"/>
                </a:lnTo>
                <a:lnTo>
                  <a:pt x="92629" y="248267"/>
                </a:lnTo>
                <a:lnTo>
                  <a:pt x="53283" y="227236"/>
                </a:lnTo>
                <a:lnTo>
                  <a:pt x="22785" y="194674"/>
                </a:lnTo>
                <a:lnTo>
                  <a:pt x="4372" y="154036"/>
                </a:lnTo>
                <a:lnTo>
                  <a:pt x="0" y="109637"/>
                </a:lnTo>
                <a:lnTo>
                  <a:pt x="10130" y="66189"/>
                </a:lnTo>
                <a:lnTo>
                  <a:pt x="33690" y="28302"/>
                </a:lnTo>
                <a:lnTo>
                  <a:pt x="68177"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vis:icon"/>
          <p:cNvSpPr/>
          <p:nvPr/>
        </p:nvSpPr>
        <p:spPr>
          <a:xfrm>
            <a:off x="4842606" y="2195022"/>
            <a:ext cx="62992" cy="54091"/>
          </a:xfrm>
          <a:custGeom>
            <a:avLst/>
            <a:gdLst/>
            <a:ahLst/>
            <a:cxnLst/>
            <a:rect l="l" t="t" r="r" b="b"/>
            <a:pathLst>
              <a:path w="62992" h="54091">
                <a:moveTo>
                  <a:pt x="62992" y="0"/>
                </a:moveTo>
                <a:lnTo>
                  <a:pt x="30811" y="54091"/>
                </a:lnTo>
                <a:lnTo>
                  <a:pt x="0" y="685"/>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It restates your question</a:t>
            </a:r>
          </a:p>
        </p:txBody>
      </p:sp>
      <p:sp>
        <p:nvSpPr>
          <p:cNvPr id="30"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paragraph explaining what you asked is a paragraph with no answer in it.</a:t>
            </a:r>
          </a:p>
        </p:txBody>
      </p:sp>
      <p:sp>
        <p:nvSpPr>
          <p:cNvPr id="31"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8602753" y="2217617"/>
            <a:ext cx="287575" cy="191716"/>
          </a:xfrm>
          <a:prstGeom prst="roundRect">
            <a:avLst>
              <a:gd name="adj" fmla="val 23847"/>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flipH="1">
            <a:off x="8657529" y="2409334"/>
            <a:ext cx="13694" cy="7531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8657529" y="2409334"/>
            <a:ext cx="75317" cy="7531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6"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It hedges both ways</a:t>
            </a:r>
          </a:p>
        </p:txBody>
      </p:sp>
      <p:sp>
        <p:nvSpPr>
          <p:cNvPr id="37"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depends on your circumstances" is true, useless and infinitely repeatable.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score one answer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epnum"/>
          <p:cNvSpPr/>
          <p:nvPr/>
        </p:nvSpPr>
        <p:spPr>
          <a:xfrm>
            <a:off x="502920" y="2027681"/>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the last AI answer you actually used at work.</a:t>
            </a:r>
          </a:p>
        </p:txBody>
      </p:sp>
      <p:sp>
        <p:nvSpPr>
          <p:cNvPr id="19" name="vis:stepnum"/>
          <p:cNvSpPr/>
          <p:nvPr/>
        </p:nvSpPr>
        <p:spPr>
          <a:xfrm>
            <a:off x="502920" y="3138677"/>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Run the four questions on it: traceable, complete, usable, safe.</a:t>
            </a:r>
          </a:p>
        </p:txBody>
      </p:sp>
      <p:sp>
        <p:nvSpPr>
          <p:cNvPr id="23" name="vis:stepnum"/>
          <p:cNvSpPr/>
          <p:nvPr/>
        </p:nvSpPr>
        <p:spPr>
          <a:xfrm>
            <a:off x="502920" y="4249674"/>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Mark any sentence you could not trace to your own input.</a:t>
            </a:r>
          </a:p>
        </p:txBody>
      </p:sp>
      <p:sp>
        <p:nvSpPr>
          <p:cNvPr id="27" name="vis:stepnum"/>
          <p:cNvSpPr/>
          <p:nvPr/>
        </p:nvSpPr>
        <p:spPr>
          <a:xfrm>
            <a:off x="502920" y="5360670"/>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Send yourself the corrected version and notice how long it took.</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Score your own last answer against four questions and reply in four short lines. One: which facts came from my message and which from you. Two: which part of my question you did not answer. Three: what you would need from me to improve it. Four: nothing else.</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A useful second pass, not a substitute for reading it yourself.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Comparing two answers fast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5816644" cy="2377440"/>
          </a:xfrm>
          <a:prstGeom prst="roundRect">
            <a:avLst>
              <a:gd name="adj" fmla="val 3846"/>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191"/>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Below are two versions of the same message. List only the differences in substance — facts, commitments, dates and numbers. Ignore differences in wording and style completely. Use one line per difference.</a:t>
            </a:r>
          </a:p>
        </p:txBody>
      </p:sp>
      <p:sp>
        <p:nvSpPr>
          <p:cNvPr id="28" name="vis:promptcap"/>
          <p:cNvSpPr txBox="1"/>
          <p:nvPr/>
        </p:nvSpPr>
        <p:spPr>
          <a:xfrm>
            <a:off x="777240" y="3624072"/>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Saves re-reading two long drafts line by line.</a:t>
            </a:r>
          </a:p>
        </p:txBody>
      </p:sp>
      <p:sp>
        <p:nvSpPr>
          <p:cNvPr id="29" name="vis:outcard"/>
          <p:cNvSpPr/>
          <p:nvPr/>
        </p:nvSpPr>
        <p:spPr>
          <a:xfrm>
            <a:off x="6685324" y="1719072"/>
            <a:ext cx="5003450" cy="2377440"/>
          </a:xfrm>
          <a:prstGeom prst="roundRect">
            <a:avLst>
              <a:gd name="adj" fmla="val 384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44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79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 short list of the real differences, usually three or four.</a:t>
            </a:r>
          </a:p>
          <a:p>
            <a:pPr algn="l">
              <a:lnSpc>
                <a:spcPts val="1690"/>
              </a:lnSpc>
              <a:spcBef>
                <a:spcPts val="0"/>
              </a:spcBef>
              <a:spcAft>
                <a:spcPts val="600"/>
              </a:spcAft>
            </a:pPr>
            <a:r>
              <a:rPr sz="1300" b="0">
                <a:solidFill>
                  <a:srgbClr val="2A3547"/>
                </a:solidFill>
                <a:latin typeface="Segoe UI"/>
              </a:rPr>
              <a:t>No commentary about which version reads better.</a:t>
            </a:r>
          </a:p>
          <a:p>
            <a:pPr algn="l">
              <a:lnSpc>
                <a:spcPts val="1690"/>
              </a:lnSpc>
              <a:spcBef>
                <a:spcPts val="0"/>
              </a:spcBef>
              <a:spcAft>
                <a:spcPts val="600"/>
              </a:spcAft>
            </a:pPr>
            <a:r>
              <a:rPr sz="1300" b="0">
                <a:solidFill>
                  <a:srgbClr val="2A3547"/>
                </a:solidFill>
                <a:latin typeface="Segoe UI"/>
              </a:rPr>
              <a:t>You choose on substance in under a minute.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before you send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Read the middle first. That is where problems hide.</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Point at each number and name its source out loud.</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Ask "did it answer my question, or a nearby one?"</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If it is round four, throw it away and rewrite the prompt.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round-four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If you are on the fourth correction, the prompt is the problem, not the answer.</a:t>
            </a:r>
          </a:p>
          <a:p>
            <a:pPr algn="l">
              <a:lnSpc>
                <a:spcPts val="1755"/>
              </a:lnSpc>
              <a:spcBef>
                <a:spcPts val="0"/>
              </a:spcBef>
              <a:spcAft>
                <a:spcPts val="0"/>
              </a:spcAft>
            </a:pPr>
            <a:r>
              <a:rPr sz="1350" b="0">
                <a:solidFill>
                  <a:srgbClr val="FFFFFF"/>
                </a:solidFill>
                <a:latin typeface="Segoe UI"/>
              </a:rPr>
              <a:t>Rewriting the prompt takes two minutes. Round five takes longer and usually fails too.</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Round one to two — normal.</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Round three — check your prompt.</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Round four — start again.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Judging an answer by how well it reads</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Fluency is constant. It tells you nothing about whether the content is right.</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Checking the first and last paragraphs</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invented line is almost always in the middle, where attention drops.</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Accepting a balanced overview as an answer</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Balance is the default when it has nothing specific. Ask for a position.</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Correcting the same draft five times</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Three rounds of drift means the prompt was wrong. Fix that instead.</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the tool whether its answer is good</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will say yes, at length, in the same confident voice.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evaluation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Judge it on what it says, never on how well it says it.</a:t>
            </a:r>
          </a:p>
          <a:p>
            <a:pPr algn="l">
              <a:lnSpc>
                <a:spcPts val="1755"/>
              </a:lnSpc>
              <a:spcBef>
                <a:spcPts val="0"/>
              </a:spcBef>
              <a:spcAft>
                <a:spcPts val="0"/>
              </a:spcAft>
            </a:pPr>
            <a:r>
              <a:rPr sz="1350" b="0">
                <a:solidFill>
                  <a:srgbClr val="FFFFFF"/>
                </a:solidFill>
                <a:latin typeface="Segoe UI"/>
              </a:rPr>
              <a:t>Every AI answer is well written. That is the one signal you can safely ignore.</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Traceable and complete — send it.</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Right shape, wrong details — fix it.</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Wrong question answered — bin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Friday, 3:45 pm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 asked for a process note for a new joiner. The draft is clear and confident. It also describes a sign-off step you do not recognise, in paragraph three.</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Send it — the rest is excellent and it is nearly five.</a:t>
            </a:r>
          </a:p>
        </p:txBody>
      </p:sp>
      <p:cxnSp>
        <p:nvCxnSpPr>
          <p:cNvPr id="23" name="vis:choicearrow"/>
          <p:cNvCxnSpPr/>
          <p:nvPr/>
        </p:nvCxnSpPr>
        <p:spPr>
          <a:xfrm>
            <a:off x="758952"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Send one correction naming what to keep and what to remove.</a:t>
            </a:r>
          </a:p>
        </p:txBody>
      </p:sp>
      <p:cxnSp>
        <p:nvCxnSpPr>
          <p:cNvPr id="29" name="vis:choicearrow"/>
          <p:cNvCxnSpPr/>
          <p:nvPr/>
        </p:nvCxnSpPr>
        <p:spPr>
          <a:xfrm>
            <a:off x="4566818"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the tool whether paragraph three is accurate.</a:t>
            </a:r>
          </a:p>
        </p:txBody>
      </p:sp>
      <p:cxnSp>
        <p:nvCxnSpPr>
          <p:cNvPr id="35" name="vis:choicearrow"/>
          <p:cNvCxnSpPr/>
          <p:nvPr/>
        </p:nvCxnSpPr>
        <p:spPr>
          <a:xfrm>
            <a:off x="8374684"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Fourteen people now follow a step we do not have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note goes into the induction pack. New joiners follow the invented sign-off for a fortnight, chasing an approval from someone who does not give it. Unpicking it takes longer than the whole document did.</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process note becomes policy the moment it is distributed.</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Ninety seconds, and the note is right</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"Keep everything except paragraph three. There is no sign-off step — the supervisor checks it at the end of shift instead. Reissue." You get the same clean note with one corrected paragraph, and send it at 3:52.</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Keep, change, supply. One round fixes almost everything.</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will get a confident yes</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confirms the step, possibly adding detail about why it exists. The confirmation was generated exactly like the original claim, so you now have two invented statements and more confidence than you started with.</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cannot check itself. You know the process — you are the source here.</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Seven minutes on judging output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Evaluating GenAI Output</a:t>
            </a:r>
          </a:p>
        </p:txBody>
      </p:sp>
      <p:sp>
        <p:nvSpPr>
          <p:cNvPr id="19" name="vis:chip"/>
          <p:cNvSpPr/>
          <p:nvPr/>
        </p:nvSpPr>
        <p:spPr>
          <a:xfrm>
            <a:off x="868680" y="3858768"/>
            <a:ext cx="140677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09588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UBC LEARN</a:t>
            </a:r>
          </a:p>
        </p:txBody>
      </p:sp>
      <p:sp>
        <p:nvSpPr>
          <p:cNvPr id="21" name="vis:chip"/>
          <p:cNvSpPr/>
          <p:nvPr/>
        </p:nvSpPr>
        <p:spPr>
          <a:xfrm>
            <a:off x="2421763" y="3858768"/>
            <a:ext cx="123024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577211" y="3895344"/>
            <a:ext cx="91935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6:32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Made for a university audience. The tests it teaches are the same ones you need at work.</a:t>
            </a:r>
          </a:p>
        </p:txBody>
      </p:sp>
      <p:sp>
        <p:nvSpPr>
          <p:cNvPr id="25" name="nav:videobtn">
            <a:hlinkClick r:id="rId2"/>
          </p:cNvPr>
          <p:cNvSpPr/>
          <p:nvPr/>
        </p:nvSpPr>
        <p:spPr>
          <a:xfrm>
            <a:off x="868680" y="5230368"/>
            <a:ext cx="3017520" cy="493776"/>
          </a:xfrm>
          <a:prstGeom prst="roundRect">
            <a:avLst>
              <a:gd name="adj" fmla="val 11111"/>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does question two ask?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The four questions are traceable, complete, usable, safe.</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Is it long enough?</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Did it answer what I actually asked?</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Is the grammar correct?</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Does it sound professional?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Is it long enough?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Length is a formatting matter and easy to fix in one line. Completeness is about whether your actual question was addressed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Did it answer my question, or a nearby 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Did it answer what I actually asked?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where most answers fail. You asked whether to accept a payment term; you received a balanced overview of payment terms. Fluent, relevant, and not an answer.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Did it answer my question, or a nearby 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Is the grammar correct?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essentially always is. Grammar is the one thing you never need to check, and checking it distracts from the things you do.</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Did it answer my question, or a nearby 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Does it sound professional?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always sounds professional. That constant tone is precisely why it cannot be used as a signal of anything.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Did it answer my question, or a nearby 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should you throw it away?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one date is wrong</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it answered a different question</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it is too long</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the tone is slightly off</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When one date is wrong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a one-line fix. Naming what to keep and supplying the right date takes ten seconds and preserves everything that already worked.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Wrong shape means a wrong prompt.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When it answered a different question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the shape is wrong, the prompt was wrong. Correcting round by round from a wrong starting point costs far more than writing one better prompt.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Wrong shape means a wrong prompt.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When it is too long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"Cut to 120 words, keep both dates" fixes that immediately. Length is the cheapest thing to correct.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Wrong shape means a wrong prompt.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When the tone is slightly off</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Tone corrects easily, especially if you show two short examples of the register you want instead of describing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Wrong shape means a wrong prompt.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makes a correction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Saying "that is wrong, try again"</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Naming what to keep, what to change, and the right value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Listing every problem you noticed</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Asking it to review its own work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Saying "that is wrong, try again"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has no idea which part. In practice it rewrites the section that was fine and leaves the error where it was.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Keep, change, supply.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Naming what to keep, what to change, and the right value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All three parts matter. Keep protects the good eighty per cent, change is specific enough to act on, and supplying the value means nothing is invented to replace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Keep, change, supply.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Listing every problem you noticed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Two or three changes land reliably. Beyond that the later items drift, and you end up correcting the correction.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Keep, change, supply.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Asking it to review its own work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get a confident second generation praising the first. It has no independent view to offer about anything it produced.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Keep, change, supply.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is a balanced answer a warning?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Balanced answers are usually wrong</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what it produces when it has nothing specific</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means the tool is being cautious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Balance means the answer is incomplete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Balanced answers are usually wrong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are rarely wrong. They are usually true and useless, which is a different and more slippery problem.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Balance is the default when it has nothing specific.</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is what it produces when it has nothing specific</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With no facts of yours to work from, listing considerations is the safest and most likely continuation. Supply the figures and demand one recommendation, and it stops.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Balance is the default when it has nothing specific.</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means the tool is being cautious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There is no caution happening. It is producing the most likely text, and "there are several factors to consider" is extremely likely text.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Balance is the default when it has nothing specific.</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Balance means the answer is incomplete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complete as a piece of writing. What is missing is any engagement with your particular situation, which is what you asked about.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Balance is the default when it has nothing specific.</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do problems usually hide?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the opening line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the middle paragraphs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the closing sentence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the subject line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In the opening line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read the opening carefully, every time. Almost nothing gets past a first line, which is exactly why problems do not live there.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 the middle, where attention drops.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In the middle paragraphs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Attention drops after the opening and returns for the close. Invented steps, dates and clauses survive in the middle because that is where skimming happens.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 the middle, where attention drops.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In the closing sentence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read the close too, because it usually carries the ask or the next step. It gets checked almost as reliably as the opening.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 the middle, where attention drops.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In the subject line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Short, prominent and read by everyone including you. Errors there are caught immediately.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 the middle, where attention drops.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Evaluating answers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Four questions, thirty seconds</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Traceable, complete, usable, safe. Most answers fail on the second.</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Ignore how well it reads</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Fluency is constant, so it carries no information about quality.</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Read the middle first</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That is where the invented step or date survives a skim.</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Keep, change, supply</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Protect the good part, name two changes, give the right value.</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Balance means it has nothing</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Ask for one recommendation and two reasons instead.</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Round four means rewrite</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Three rounds of drift is a prompt problem, not an answer problem.</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17CC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Judge it on what it says, never on how well it says 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82549" y="2504685"/>
            <a:ext cx="69231" cy="69231"/>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951780" y="2424803"/>
            <a:ext cx="127811" cy="149113"/>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0"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four questions</a:t>
            </a:r>
          </a:p>
        </p:txBody>
      </p:sp>
      <p:sp>
        <p:nvSpPr>
          <p:cNvPr id="21"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Traceable, complete, usable, safe. Thirty seconds.</a:t>
            </a:r>
          </a:p>
        </p:txBody>
      </p:sp>
      <p:sp>
        <p:nvSpPr>
          <p:cNvPr id="22"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72126" y="3309328"/>
            <a:ext cx="212563" cy="198749"/>
          </a:xfrm>
          <a:custGeom>
            <a:avLst/>
            <a:gdLst/>
            <a:ahLst/>
            <a:cxnLst/>
            <a:rect l="l" t="t" r="r" b="b"/>
            <a:pathLst>
              <a:path w="212563" h="198749">
                <a:moveTo>
                  <a:pt x="159536" y="0"/>
                </a:moveTo>
                <a:lnTo>
                  <a:pt x="186359" y="22013"/>
                </a:lnTo>
                <a:lnTo>
                  <a:pt x="204683" y="51480"/>
                </a:lnTo>
                <a:lnTo>
                  <a:pt x="212563" y="85273"/>
                </a:lnTo>
                <a:lnTo>
                  <a:pt x="209162" y="119806"/>
                </a:lnTo>
                <a:lnTo>
                  <a:pt x="194841" y="151413"/>
                </a:lnTo>
                <a:lnTo>
                  <a:pt x="171120" y="176739"/>
                </a:lnTo>
                <a:lnTo>
                  <a:pt x="140518" y="193096"/>
                </a:lnTo>
                <a:lnTo>
                  <a:pt x="106282" y="198749"/>
                </a:lnTo>
                <a:lnTo>
                  <a:pt x="72045" y="193096"/>
                </a:lnTo>
                <a:lnTo>
                  <a:pt x="41443" y="176739"/>
                </a:lnTo>
                <a:lnTo>
                  <a:pt x="17722" y="151413"/>
                </a:lnTo>
                <a:lnTo>
                  <a:pt x="3401" y="119806"/>
                </a:lnTo>
                <a:lnTo>
                  <a:pt x="0" y="85273"/>
                </a:lnTo>
                <a:lnTo>
                  <a:pt x="7880" y="51480"/>
                </a:lnTo>
                <a:lnTo>
                  <a:pt x="26204" y="22013"/>
                </a:lnTo>
                <a:lnTo>
                  <a:pt x="53027"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vis:icon"/>
          <p:cNvSpPr/>
          <p:nvPr/>
        </p:nvSpPr>
        <p:spPr>
          <a:xfrm>
            <a:off x="913171" y="3288135"/>
            <a:ext cx="48994" cy="42071"/>
          </a:xfrm>
          <a:custGeom>
            <a:avLst/>
            <a:gdLst/>
            <a:ahLst/>
            <a:cxnLst/>
            <a:rect l="l" t="t" r="r" b="b"/>
            <a:pathLst>
              <a:path w="48994" h="42071">
                <a:moveTo>
                  <a:pt x="48994" y="0"/>
                </a:moveTo>
                <a:lnTo>
                  <a:pt x="23964" y="42071"/>
                </a:lnTo>
                <a:lnTo>
                  <a:pt x="0" y="533"/>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correction pattern</a:t>
            </a:r>
          </a:p>
        </p:txBody>
      </p:sp>
      <p:sp>
        <p:nvSpPr>
          <p:cNvPr id="27"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Keep this, change that, here is the right value.</a:t>
            </a:r>
          </a:p>
        </p:txBody>
      </p:sp>
      <p:sp>
        <p:nvSpPr>
          <p:cNvPr id="28"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63910" y="4205254"/>
            <a:ext cx="37278" cy="3727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930478" y="4223894"/>
            <a:ext cx="16509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2" name="vis:icon"/>
          <p:cNvSpPr/>
          <p:nvPr/>
        </p:nvSpPr>
        <p:spPr>
          <a:xfrm>
            <a:off x="863910" y="4285136"/>
            <a:ext cx="37278" cy="3727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930478" y="4303775"/>
            <a:ext cx="16509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4" name="vis:icon"/>
          <p:cNvSpPr/>
          <p:nvPr/>
        </p:nvSpPr>
        <p:spPr>
          <a:xfrm>
            <a:off x="863910" y="4365018"/>
            <a:ext cx="37278" cy="3727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930478" y="4383657"/>
            <a:ext cx="16509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6"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comparison prompt</a:t>
            </a:r>
          </a:p>
        </p:txBody>
      </p:sp>
      <p:sp>
        <p:nvSpPr>
          <p:cNvPr id="37"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Differences in substance only, one line each.</a:t>
            </a:r>
          </a:p>
        </p:txBody>
      </p:sp>
      <p:sp>
        <p:nvSpPr>
          <p:cNvPr id="38"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LINKS THAT WORK</a:t>
            </a:r>
          </a:p>
        </p:txBody>
      </p:sp>
      <p:sp>
        <p:nvSpPr>
          <p:cNvPr id="39"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icon"/>
          <p:cNvSpPr/>
          <p:nvPr/>
        </p:nvSpPr>
        <p:spPr>
          <a:xfrm>
            <a:off x="8339937" y="2300630"/>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1" name="vis:icon"/>
          <p:cNvCxnSpPr/>
          <p:nvPr/>
        </p:nvCxnSpPr>
        <p:spPr>
          <a:xfrm>
            <a:off x="8482584" y="2443276"/>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2"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3"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chatgpt.com</a:t>
            </a:r>
          </a:p>
        </p:txBody>
      </p:sp>
      <p:sp>
        <p:nvSpPr>
          <p:cNvPr id="44"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icon"/>
          <p:cNvSpPr/>
          <p:nvPr/>
        </p:nvSpPr>
        <p:spPr>
          <a:xfrm>
            <a:off x="8339937" y="2977286"/>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vis:icon"/>
          <p:cNvCxnSpPr/>
          <p:nvPr/>
        </p:nvCxnSpPr>
        <p:spPr>
          <a:xfrm>
            <a:off x="8482584" y="3119932"/>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7"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8"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copilot.microsoft.com</a:t>
            </a:r>
          </a:p>
        </p:txBody>
      </p:sp>
      <p:sp>
        <p:nvSpPr>
          <p:cNvPr id="49"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0" name="vis:icon"/>
          <p:cNvSpPr/>
          <p:nvPr/>
        </p:nvSpPr>
        <p:spPr>
          <a:xfrm>
            <a:off x="8339937" y="3653942"/>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1" name="vis:icon"/>
          <p:cNvCxnSpPr/>
          <p:nvPr/>
        </p:nvCxnSpPr>
        <p:spPr>
          <a:xfrm>
            <a:off x="8482584" y="3796588"/>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52"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3"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gemini.google.com</a:t>
            </a:r>
          </a:p>
        </p:txBody>
      </p:sp>
      <p:sp>
        <p:nvSpPr>
          <p:cNvPr id="54"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5"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DO THIS NEXT</a:t>
            </a:r>
          </a:p>
        </p:txBody>
      </p:sp>
      <p:sp>
        <p:nvSpPr>
          <p:cNvPr id="56"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track: DW-01, Email Writing with AI. The same evaluation habits, applied to the thing most people write twenty times a day.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PE-07  ·  Evaluating AI Responses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Evaluation</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Deciding whether an answer can be sent, needs fixing, or should be thrown away.</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Traceable</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 fact in the answer can be pointed back to something you supplied.</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Correction</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follow-up naming what to keep, what to change, and the correct value.</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Hedging</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Answering both ways at once. Usually a sign it has nothing specific to say.</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context plus instructions plus your facts.</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Your draft, which you are responsible for checking.</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