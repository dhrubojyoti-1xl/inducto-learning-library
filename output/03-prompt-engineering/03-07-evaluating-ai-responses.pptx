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 Id="rId3" Type="http://schemas.openxmlformats.org/officeDocument/2006/relationships/slide" Target="slide7.xml"/><Relationship Id="rId4" Type="http://schemas.openxmlformats.org/officeDocument/2006/relationships/slide" Target="slide9.xml"/><Relationship Id="rId5" Type="http://schemas.openxmlformats.org/officeDocument/2006/relationships/slide" Target="slide11.xml"/><Relationship Id="rId6" Type="http://schemas.openxmlformats.org/officeDocument/2006/relationships/slide" Target="slide13.xml"/><Relationship Id="rId7" Type="http://schemas.openxmlformats.org/officeDocument/2006/relationships/slide" Target="slide19.xml"/><Relationship Id="rId8" Type="http://schemas.openxmlformats.org/officeDocument/2006/relationships/slide" Target="slide23.xml"/><Relationship Id="rId9" Type="http://schemas.openxmlformats.org/officeDocument/2006/relationships/slide" Target="slide24.xml"/><Relationship Id="rId10" Type="http://schemas.openxmlformats.org/officeDocument/2006/relationships/slide" Target="slide49.xml"/><Relationship Id="rId11" Type="http://schemas.openxmlformats.org/officeDocument/2006/relationships/slide" Target="slide5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0.xml"/><Relationship Id="rId4" Type="http://schemas.openxmlformats.org/officeDocument/2006/relationships/slide" Target="slide21.xml"/><Relationship Id="rId5" Type="http://schemas.openxmlformats.org/officeDocument/2006/relationships/slide" Target="slide2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 Id="rId3" Type="http://schemas.openxmlformats.org/officeDocument/2006/relationships/slide" Target="slide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youtube.com/watch?v=gQx973zsOOw" TargetMode="External"/><Relationship Id="rId3" Type="http://schemas.openxmlformats.org/officeDocument/2006/relationships/slide" Target="slide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25.xml"/><Relationship Id="rId4" Type="http://schemas.openxmlformats.org/officeDocument/2006/relationships/slide" Target="slide26.xml"/><Relationship Id="rId5" Type="http://schemas.openxmlformats.org/officeDocument/2006/relationships/slide" Target="slide27.xml"/><Relationship Id="rId6" Type="http://schemas.openxmlformats.org/officeDocument/2006/relationships/slide" Target="slide2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4.xml"/><Relationship Id="rId3" Type="http://schemas.openxmlformats.org/officeDocument/2006/relationships/slide" Target="slide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0.xml"/><Relationship Id="rId4" Type="http://schemas.openxmlformats.org/officeDocument/2006/relationships/slide" Target="slide31.xml"/><Relationship Id="rId5" Type="http://schemas.openxmlformats.org/officeDocument/2006/relationships/slide" Target="slide32.xml"/><Relationship Id="rId6" Type="http://schemas.openxmlformats.org/officeDocument/2006/relationships/slide" Target="slide3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9.xml"/><Relationship Id="rId3" Type="http://schemas.openxmlformats.org/officeDocument/2006/relationships/slide" Target="slide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35.xml"/><Relationship Id="rId4" Type="http://schemas.openxmlformats.org/officeDocument/2006/relationships/slide" Target="slide36.xml"/><Relationship Id="rId5" Type="http://schemas.openxmlformats.org/officeDocument/2006/relationships/slide" Target="slide37.xml"/><Relationship Id="rId6" Type="http://schemas.openxmlformats.org/officeDocument/2006/relationships/slide" Target="slide3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slide" Target="slide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0.xml"/><Relationship Id="rId4" Type="http://schemas.openxmlformats.org/officeDocument/2006/relationships/slide" Target="slide41.xml"/><Relationship Id="rId5" Type="http://schemas.openxmlformats.org/officeDocument/2006/relationships/slide" Target="slide42.xml"/><Relationship Id="rId6" Type="http://schemas.openxmlformats.org/officeDocument/2006/relationships/slide" Target="slide4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 Id="rId3" Type="http://schemas.openxmlformats.org/officeDocument/2006/relationships/slide" Target="slide45.xml"/><Relationship Id="rId4" Type="http://schemas.openxmlformats.org/officeDocument/2006/relationships/slide" Target="slide46.xml"/><Relationship Id="rId5" Type="http://schemas.openxmlformats.org/officeDocument/2006/relationships/slide" Target="slide47.xml"/><Relationship Id="rId6" Type="http://schemas.openxmlformats.org/officeDocument/2006/relationships/slide" Target="slide48.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9.xml"/><Relationship Id="rId3" Type="http://schemas.openxmlformats.org/officeDocument/2006/relationships/slide" Target="slide4.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 Id="rId3" Type="http://schemas.openxmlformats.org/officeDocument/2006/relationships/slide" Target="slide4.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hatgpt.com" TargetMode="External"/><Relationship Id="rId3" Type="http://schemas.openxmlformats.org/officeDocument/2006/relationships/hyperlink" Target="https://copilot.microsoft.com" TargetMode="External"/><Relationship Id="rId4" Type="http://schemas.openxmlformats.org/officeDocument/2006/relationships/hyperlink" Target="https://gemini.google.com" TargetMode="External"/><Relationship Id="rId5" Type="http://schemas.openxmlformats.org/officeDocument/2006/relationships/slide" Target="slide4.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vis:bg"/>
          <p:cNvSpPr/>
          <p:nvPr/>
        </p:nvSpPr>
        <p:spPr>
          <a:xfrm>
            <a:off x="0" y="0"/>
            <a:ext cx="12191695" cy="6858000"/>
          </a:xfrm>
          <a:prstGeom prst="rect">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coverspine"/>
          <p:cNvSpPr/>
          <p:nvPr/>
        </p:nvSpPr>
        <p:spPr>
          <a:xfrm>
            <a:off x="0" y="0"/>
            <a:ext cx="201168" cy="685800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 name="vis:coverblock"/>
          <p:cNvSpPr/>
          <p:nvPr/>
        </p:nvSpPr>
        <p:spPr>
          <a:xfrm>
            <a:off x="7589520" y="2509113"/>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 name="vis:coverline"/>
          <p:cNvCxnSpPr/>
          <p:nvPr/>
        </p:nvCxnSpPr>
        <p:spPr>
          <a:xfrm flipV="1">
            <a:off x="8355787" y="2493696"/>
            <a:ext cx="234086"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vis:coverblock"/>
          <p:cNvSpPr/>
          <p:nvPr/>
        </p:nvSpPr>
        <p:spPr>
          <a:xfrm>
            <a:off x="8626449" y="2838297"/>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7" name="vis:coverline"/>
          <p:cNvCxnSpPr/>
          <p:nvPr/>
        </p:nvCxnSpPr>
        <p:spPr>
          <a:xfrm>
            <a:off x="9392716" y="3152064"/>
            <a:ext cx="234087"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vis:coverblock"/>
          <p:cNvSpPr/>
          <p:nvPr/>
        </p:nvSpPr>
        <p:spPr>
          <a:xfrm>
            <a:off x="9663379" y="2509113"/>
            <a:ext cx="729691" cy="627534"/>
          </a:xfrm>
          <a:prstGeom prst="roundRect">
            <a:avLst>
              <a:gd name="adj" fmla="val 14571"/>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coverline"/>
          <p:cNvCxnSpPr/>
          <p:nvPr/>
        </p:nvCxnSpPr>
        <p:spPr>
          <a:xfrm flipV="1">
            <a:off x="10429646" y="2493696"/>
            <a:ext cx="234086" cy="329184"/>
          </a:xfrm>
          <a:prstGeom prst="line">
            <a:avLst/>
          </a:prstGeom>
          <a:ln w="12700">
            <a:solidFill>
              <a:srgbClr val="5B6779"/>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vis:coverblock"/>
          <p:cNvSpPr/>
          <p:nvPr/>
        </p:nvSpPr>
        <p:spPr>
          <a:xfrm>
            <a:off x="10700308" y="2838297"/>
            <a:ext cx="729691" cy="627534"/>
          </a:xfrm>
          <a:prstGeom prst="roundRect">
            <a:avLst>
              <a:gd name="adj" fmla="val 14571"/>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seclabel"/>
          <p:cNvSpPr txBox="1"/>
          <p:nvPr/>
        </p:nvSpPr>
        <p:spPr>
          <a:xfrm>
            <a:off x="960120" y="1114044"/>
            <a:ext cx="5501487"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PROMPT ENGINEERING</a:t>
            </a:r>
          </a:p>
        </p:txBody>
      </p:sp>
      <p:sp>
        <p:nvSpPr>
          <p:cNvPr id="12" name="title:cover"/>
          <p:cNvSpPr txBox="1"/>
          <p:nvPr/>
        </p:nvSpPr>
        <p:spPr>
          <a:xfrm>
            <a:off x="960120" y="1571244"/>
            <a:ext cx="5501487" cy="1507744"/>
          </a:xfrm>
          <a:prstGeom prst="rect">
            <a:avLst/>
          </a:prstGeom>
          <a:noFill/>
        </p:spPr>
        <p:txBody>
          <a:bodyPr wrap="square" lIns="0" rIns="0" tIns="0" bIns="0" anchor="t">
            <a:spAutoFit/>
          </a:bodyPr>
          <a:lstStyle/>
          <a:p>
            <a:pPr algn="l">
              <a:lnSpc>
                <a:spcPts val="5720"/>
              </a:lnSpc>
              <a:spcBef>
                <a:spcPts val="0"/>
              </a:spcBef>
              <a:spcAft>
                <a:spcPts val="0"/>
              </a:spcAft>
            </a:pPr>
            <a:r>
              <a:rPr sz="4400" b="0">
                <a:solidFill>
                  <a:srgbClr val="FFFFFF"/>
                </a:solidFill>
                <a:latin typeface="Segoe UI Semibold"/>
              </a:rPr>
              <a:t>Evaluating AI Responses</a:t>
            </a:r>
          </a:p>
        </p:txBody>
      </p:sp>
      <p:cxnSp>
        <p:nvCxnSpPr>
          <p:cNvPr id="13" name="vis:rule"/>
          <p:cNvCxnSpPr/>
          <p:nvPr/>
        </p:nvCxnSpPr>
        <p:spPr>
          <a:xfrm>
            <a:off x="960120" y="3353308"/>
            <a:ext cx="3606698"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14" name="body:coversub"/>
          <p:cNvSpPr txBox="1"/>
          <p:nvPr/>
        </p:nvSpPr>
        <p:spPr>
          <a:xfrm>
            <a:off x="960120" y="3627628"/>
            <a:ext cx="5501487" cy="781304"/>
          </a:xfrm>
          <a:prstGeom prst="rect">
            <a:avLst/>
          </a:prstGeom>
          <a:noFill/>
        </p:spPr>
        <p:txBody>
          <a:bodyPr wrap="square" lIns="0" rIns="0" tIns="0" bIns="0" anchor="t">
            <a:spAutoFit/>
          </a:bodyPr>
          <a:lstStyle/>
          <a:p>
            <a:pPr algn="l">
              <a:lnSpc>
                <a:spcPts val="2860"/>
              </a:lnSpc>
              <a:spcBef>
                <a:spcPts val="0"/>
              </a:spcBef>
              <a:spcAft>
                <a:spcPts val="0"/>
              </a:spcAft>
            </a:pPr>
            <a:r>
              <a:rPr sz="2200" b="0">
                <a:solidFill>
                  <a:srgbClr val="C9D1DE"/>
                </a:solidFill>
                <a:latin typeface="Segoe UI"/>
              </a:rPr>
              <a:t>A thirty-second way to decide whether to send it, fix it or throw it away.</a:t>
            </a:r>
          </a:p>
        </p:txBody>
      </p:sp>
      <p:sp>
        <p:nvSpPr>
          <p:cNvPr id="15" name="vis:chip"/>
          <p:cNvSpPr/>
          <p:nvPr/>
        </p:nvSpPr>
        <p:spPr>
          <a:xfrm>
            <a:off x="960120" y="4811268"/>
            <a:ext cx="954659" cy="310896"/>
          </a:xfrm>
          <a:prstGeom prst="roundRect">
            <a:avLst>
              <a:gd name="adj" fmla="val 14705"/>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iptext"/>
          <p:cNvSpPr txBox="1"/>
          <p:nvPr/>
        </p:nvSpPr>
        <p:spPr>
          <a:xfrm>
            <a:off x="1115568" y="4856988"/>
            <a:ext cx="64376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PE-07</a:t>
            </a:r>
          </a:p>
        </p:txBody>
      </p:sp>
      <p:sp>
        <p:nvSpPr>
          <p:cNvPr id="17" name="vis:chip"/>
          <p:cNvSpPr/>
          <p:nvPr/>
        </p:nvSpPr>
        <p:spPr>
          <a:xfrm>
            <a:off x="2061083" y="4811268"/>
            <a:ext cx="1453134"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2216531" y="4856988"/>
            <a:ext cx="114223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17 MINUTES</a:t>
            </a:r>
          </a:p>
        </p:txBody>
      </p:sp>
      <p:sp>
        <p:nvSpPr>
          <p:cNvPr id="19" name="vis:chip"/>
          <p:cNvSpPr/>
          <p:nvPr/>
        </p:nvSpPr>
        <p:spPr>
          <a:xfrm>
            <a:off x="3660521" y="4811268"/>
            <a:ext cx="2302029" cy="310896"/>
          </a:xfrm>
          <a:prstGeom prst="roundRect">
            <a:avLst>
              <a:gd name="adj" fmla="val 14705"/>
            </a:avLst>
          </a:prstGeom>
          <a:no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3815969" y="4856988"/>
            <a:ext cx="199113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C9D1DE"/>
                </a:solidFill>
                <a:latin typeface="Segoe UI Semibold"/>
              </a:rPr>
              <a:t>NEW JOINERS + STAFF</a:t>
            </a:r>
          </a:p>
        </p:txBody>
      </p:sp>
      <p:sp>
        <p:nvSpPr>
          <p:cNvPr id="21" name="cell:coverhint"/>
          <p:cNvSpPr txBox="1"/>
          <p:nvPr/>
        </p:nvSpPr>
        <p:spPr>
          <a:xfrm>
            <a:off x="960120" y="5724144"/>
            <a:ext cx="5501487" cy="43891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Start here  →  the next slide shows what this saves you.</a:t>
            </a:r>
          </a:p>
        </p:txBody>
      </p:sp>
      <p:sp>
        <p:nvSpPr>
          <p:cNvPr id="2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848D9A"/>
                </a:solidFill>
                <a:latin typeface="Segoe UI"/>
              </a:rPr>
              <a:t>PE-07  ·  Evaluating AI Responses</a:t>
            </a:r>
          </a:p>
        </p:txBody>
      </p:sp>
      <p:sp>
        <p:nvSpPr>
          <p:cNvPr id="2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848D9A"/>
                </a:solidFill>
                <a:latin typeface="Segoe UI"/>
              </a:rPr>
              <a:t>Inducto Learning Library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THIS MATTERS TO YOU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Neha sends a draft she half-read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ory"/>
          <p:cNvSpPr/>
          <p:nvPr/>
        </p:nvSpPr>
        <p:spPr>
          <a:xfrm>
            <a:off x="502920" y="1719072"/>
            <a:ext cx="6448882" cy="3273552"/>
          </a:xfrm>
          <a:prstGeom prst="roundRect">
            <a:avLst>
              <a:gd name="adj" fmla="val 279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oryspine"/>
          <p:cNvSpPr/>
          <p:nvPr/>
        </p:nvSpPr>
        <p:spPr>
          <a:xfrm>
            <a:off x="502920" y="1719072"/>
            <a:ext cx="68580" cy="327355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813816" y="2029967"/>
            <a:ext cx="694944" cy="694944"/>
          </a:xfrm>
          <a:prstGeom prst="roundRect">
            <a:avLst>
              <a:gd name="adj" fmla="val 131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icon"/>
          <p:cNvSpPr/>
          <p:nvPr/>
        </p:nvSpPr>
        <p:spPr>
          <a:xfrm>
            <a:off x="995057" y="2247346"/>
            <a:ext cx="332461" cy="260187"/>
          </a:xfrm>
          <a:custGeom>
            <a:avLst/>
            <a:gdLst/>
            <a:ahLst/>
            <a:cxnLst/>
            <a:rect l="l" t="t" r="r" b="b"/>
            <a:pathLst>
              <a:path w="332461" h="260187">
                <a:moveTo>
                  <a:pt x="0" y="130093"/>
                </a:moveTo>
                <a:lnTo>
                  <a:pt x="166231" y="0"/>
                </a:lnTo>
                <a:lnTo>
                  <a:pt x="332461" y="130093"/>
                </a:lnTo>
                <a:lnTo>
                  <a:pt x="166231" y="260187"/>
                </a:lnTo>
                <a:close/>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vis:icon"/>
          <p:cNvSpPr/>
          <p:nvPr/>
        </p:nvSpPr>
        <p:spPr>
          <a:xfrm>
            <a:off x="1110696" y="2326848"/>
            <a:ext cx="101183" cy="101183"/>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body:scenario"/>
          <p:cNvSpPr txBox="1"/>
          <p:nvPr/>
        </p:nvSpPr>
        <p:spPr>
          <a:xfrm>
            <a:off x="813816" y="2944368"/>
            <a:ext cx="5827090" cy="1792224"/>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101826"/>
                </a:solidFill>
                <a:latin typeface="Segoe UI"/>
              </a:rPr>
              <a:t>Neha writes training notes for a Noida team. The AI draft reads well, so she skims it and sends it. Two paragraphs in, it describes a sign-off step the company does not have. Fourteen people follow it for a fortnight.</a:t>
            </a:r>
          </a:p>
        </p:txBody>
      </p:sp>
      <p:sp>
        <p:nvSpPr>
          <p:cNvPr id="21" name="vis:cost"/>
          <p:cNvSpPr/>
          <p:nvPr/>
        </p:nvSpPr>
        <p:spPr>
          <a:xfrm>
            <a:off x="502920" y="5230368"/>
            <a:ext cx="6448882" cy="786384"/>
          </a:xfrm>
          <a:prstGeom prst="roundRect">
            <a:avLst>
              <a:gd name="adj" fmla="val 9302"/>
            </a:avLst>
          </a:prstGeom>
          <a:solidFill>
            <a:srgbClr val="FFFFFF"/>
          </a:solidFill>
          <a:ln w="1270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ostspine"/>
          <p:cNvSpPr/>
          <p:nvPr/>
        </p:nvSpPr>
        <p:spPr>
          <a:xfrm>
            <a:off x="502920" y="5230368"/>
            <a:ext cx="68580" cy="786384"/>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icon"/>
          <p:cNvSpPr/>
          <p:nvPr/>
        </p:nvSpPr>
        <p:spPr>
          <a:xfrm>
            <a:off x="826983" y="5478719"/>
            <a:ext cx="302849" cy="276514"/>
          </a:xfrm>
          <a:custGeom>
            <a:avLst/>
            <a:gdLst/>
            <a:ahLst/>
            <a:cxnLst/>
            <a:rect l="l" t="t" r="r" b="b"/>
            <a:pathLst>
              <a:path w="302849" h="276514">
                <a:moveTo>
                  <a:pt x="151425" y="0"/>
                </a:moveTo>
                <a:lnTo>
                  <a:pt x="302849" y="276514"/>
                </a:lnTo>
                <a:lnTo>
                  <a:pt x="0" y="276514"/>
                </a:lnTo>
                <a:close/>
              </a:path>
            </a:pathLst>
          </a:cu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vis:icon"/>
          <p:cNvCxnSpPr/>
          <p:nvPr/>
        </p:nvCxnSpPr>
        <p:spPr>
          <a:xfrm>
            <a:off x="978408" y="5584057"/>
            <a:ext cx="0" cy="82296"/>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5" name="vis:icon"/>
          <p:cNvSpPr/>
          <p:nvPr/>
        </p:nvSpPr>
        <p:spPr>
          <a:xfrm>
            <a:off x="961948" y="5695980"/>
            <a:ext cx="32918" cy="32918"/>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body:cost"/>
          <p:cNvSpPr txBox="1"/>
          <p:nvPr/>
        </p:nvSpPr>
        <p:spPr>
          <a:xfrm>
            <a:off x="1362456" y="5358383"/>
            <a:ext cx="5315026" cy="530352"/>
          </a:xfrm>
          <a:prstGeom prst="rect">
            <a:avLst/>
          </a:prstGeom>
          <a:noFill/>
        </p:spPr>
        <p:txBody>
          <a:bodyPr wrap="square" lIns="0" rIns="0" tIns="0" bIns="0" anchor="ctr">
            <a:spAutoFit/>
          </a:bodyPr>
          <a:lstStyle/>
          <a:p>
            <a:pPr algn="l">
              <a:lnSpc>
                <a:spcPts val="2080"/>
              </a:lnSpc>
              <a:spcBef>
                <a:spcPts val="0"/>
              </a:spcBef>
              <a:spcAft>
                <a:spcPts val="0"/>
              </a:spcAft>
            </a:pPr>
            <a:r>
              <a:rPr sz="1600" b="0">
                <a:solidFill>
                  <a:srgbClr val="C62828"/>
                </a:solidFill>
                <a:latin typeface="Segoe UI Semibold"/>
              </a:rPr>
              <a:t>A fortnight of a process nobody actually approved.</a:t>
            </a:r>
          </a:p>
        </p:txBody>
      </p:sp>
      <p:sp>
        <p:nvSpPr>
          <p:cNvPr id="27" name="vis:fix"/>
          <p:cNvSpPr/>
          <p:nvPr/>
        </p:nvSpPr>
        <p:spPr>
          <a:xfrm>
            <a:off x="8082076" y="1719072"/>
            <a:ext cx="3606698" cy="4297680"/>
          </a:xfrm>
          <a:prstGeom prst="roundRect">
            <a:avLst>
              <a:gd name="adj" fmla="val 253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seclabel"/>
          <p:cNvSpPr txBox="1"/>
          <p:nvPr/>
        </p:nvSpPr>
        <p:spPr>
          <a:xfrm>
            <a:off x="8411260" y="2066543"/>
            <a:ext cx="2948330"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AFTER THIS MODULE</a:t>
            </a:r>
          </a:p>
        </p:txBody>
      </p:sp>
      <p:cxnSp>
        <p:nvCxnSpPr>
          <p:cNvPr id="29" name="vis:rule"/>
          <p:cNvCxnSpPr/>
          <p:nvPr/>
        </p:nvCxnSpPr>
        <p:spPr>
          <a:xfrm>
            <a:off x="8411260" y="2505456"/>
            <a:ext cx="2948331"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30" name="body:fix"/>
          <p:cNvSpPr txBox="1"/>
          <p:nvPr/>
        </p:nvSpPr>
        <p:spPr>
          <a:xfrm>
            <a:off x="8411260" y="2724912"/>
            <a:ext cx="2948330" cy="292608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Four questions, thirty seconds, before anything is sent.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WHAT YOU'LL BE ABLE TO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By the end, you can do these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outcome"/>
          <p:cNvSpPr/>
          <p:nvPr/>
        </p:nvSpPr>
        <p:spPr>
          <a:xfrm>
            <a:off x="502920" y="1719072"/>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1792224"/>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954575" y="2081584"/>
            <a:ext cx="76648" cy="76648"/>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1031223" y="1993143"/>
            <a:ext cx="141505" cy="165089"/>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9" name="cell:outcome"/>
          <p:cNvSpPr txBox="1"/>
          <p:nvPr/>
        </p:nvSpPr>
        <p:spPr>
          <a:xfrm>
            <a:off x="1545336" y="1828800"/>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Score any answer against four questions in thirty seconds</a:t>
            </a:r>
          </a:p>
        </p:txBody>
      </p:sp>
      <p:sp>
        <p:nvSpPr>
          <p:cNvPr id="20" name="vis:outcome"/>
          <p:cNvSpPr/>
          <p:nvPr/>
        </p:nvSpPr>
        <p:spPr>
          <a:xfrm>
            <a:off x="502920" y="2615184"/>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badge"/>
          <p:cNvSpPr/>
          <p:nvPr/>
        </p:nvSpPr>
        <p:spPr>
          <a:xfrm>
            <a:off x="777240" y="2688336"/>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943035" y="2869677"/>
            <a:ext cx="235337" cy="220044"/>
          </a:xfrm>
          <a:custGeom>
            <a:avLst/>
            <a:gdLst/>
            <a:ahLst/>
            <a:cxnLst/>
            <a:rect l="l" t="t" r="r" b="b"/>
            <a:pathLst>
              <a:path w="235337" h="220044">
                <a:moveTo>
                  <a:pt x="176629" y="0"/>
                </a:moveTo>
                <a:lnTo>
                  <a:pt x="206326" y="24372"/>
                </a:lnTo>
                <a:lnTo>
                  <a:pt x="226613" y="56996"/>
                </a:lnTo>
                <a:lnTo>
                  <a:pt x="235337" y="94410"/>
                </a:lnTo>
                <a:lnTo>
                  <a:pt x="231571" y="132643"/>
                </a:lnTo>
                <a:lnTo>
                  <a:pt x="215716" y="167636"/>
                </a:lnTo>
                <a:lnTo>
                  <a:pt x="189454" y="195676"/>
                </a:lnTo>
                <a:lnTo>
                  <a:pt x="155573" y="213785"/>
                </a:lnTo>
                <a:lnTo>
                  <a:pt x="117669" y="220044"/>
                </a:lnTo>
                <a:lnTo>
                  <a:pt x="79764" y="213785"/>
                </a:lnTo>
                <a:lnTo>
                  <a:pt x="45883" y="195676"/>
                </a:lnTo>
                <a:lnTo>
                  <a:pt x="19621" y="167636"/>
                </a:lnTo>
                <a:lnTo>
                  <a:pt x="3766" y="132643"/>
                </a:lnTo>
                <a:lnTo>
                  <a:pt x="0" y="94410"/>
                </a:lnTo>
                <a:lnTo>
                  <a:pt x="8724" y="56996"/>
                </a:lnTo>
                <a:lnTo>
                  <a:pt x="29011" y="24372"/>
                </a:lnTo>
                <a:lnTo>
                  <a:pt x="58708" y="0"/>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vis:icon"/>
          <p:cNvSpPr/>
          <p:nvPr/>
        </p:nvSpPr>
        <p:spPr>
          <a:xfrm>
            <a:off x="988477" y="2846214"/>
            <a:ext cx="54244" cy="46578"/>
          </a:xfrm>
          <a:custGeom>
            <a:avLst/>
            <a:gdLst/>
            <a:ahLst/>
            <a:cxnLst/>
            <a:rect l="l" t="t" r="r" b="b"/>
            <a:pathLst>
              <a:path w="54244" h="46578">
                <a:moveTo>
                  <a:pt x="54244" y="0"/>
                </a:moveTo>
                <a:lnTo>
                  <a:pt x="26532" y="46578"/>
                </a:lnTo>
                <a:lnTo>
                  <a:pt x="0" y="589"/>
                </a:lnTo>
                <a:close/>
              </a:path>
            </a:pathLst>
          </a:cu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cell:outcome"/>
          <p:cNvSpPr txBox="1"/>
          <p:nvPr/>
        </p:nvSpPr>
        <p:spPr>
          <a:xfrm>
            <a:off x="1545336" y="2724912"/>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Decide correctly between send, fix and throw away</a:t>
            </a:r>
          </a:p>
        </p:txBody>
      </p:sp>
      <p:sp>
        <p:nvSpPr>
          <p:cNvPr id="25" name="vis:outcome"/>
          <p:cNvSpPr/>
          <p:nvPr/>
        </p:nvSpPr>
        <p:spPr>
          <a:xfrm>
            <a:off x="502920" y="3511296"/>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badge"/>
          <p:cNvSpPr/>
          <p:nvPr/>
        </p:nvSpPr>
        <p:spPr>
          <a:xfrm>
            <a:off x="777240" y="3584448"/>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936886" y="3761783"/>
            <a:ext cx="247634" cy="165089"/>
          </a:xfrm>
          <a:prstGeom prst="roundRect">
            <a:avLst>
              <a:gd name="adj" fmla="val 27694"/>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flipH="1">
            <a:off x="984055" y="3926872"/>
            <a:ext cx="11792" cy="6485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flipV="1">
            <a:off x="984055" y="3926872"/>
            <a:ext cx="64856" cy="6485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0" name="cell:outcome"/>
          <p:cNvSpPr txBox="1"/>
          <p:nvPr/>
        </p:nvSpPr>
        <p:spPr>
          <a:xfrm>
            <a:off x="1545336" y="3621024"/>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Write a correction that keeps the good 80 per cent</a:t>
            </a:r>
          </a:p>
        </p:txBody>
      </p:sp>
      <p:sp>
        <p:nvSpPr>
          <p:cNvPr id="31" name="vis:outcome"/>
          <p:cNvSpPr/>
          <p:nvPr/>
        </p:nvSpPr>
        <p:spPr>
          <a:xfrm>
            <a:off x="502920" y="4407408"/>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777240" y="4480560"/>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925094" y="4657895"/>
            <a:ext cx="271219" cy="212257"/>
          </a:xfrm>
          <a:custGeom>
            <a:avLst/>
            <a:gdLst/>
            <a:ahLst/>
            <a:cxnLst/>
            <a:rect l="l" t="t" r="r" b="b"/>
            <a:pathLst>
              <a:path w="271219" h="212257">
                <a:moveTo>
                  <a:pt x="0" y="106129"/>
                </a:moveTo>
                <a:lnTo>
                  <a:pt x="135610" y="0"/>
                </a:lnTo>
                <a:lnTo>
                  <a:pt x="271219" y="106129"/>
                </a:lnTo>
                <a:lnTo>
                  <a:pt x="135610" y="212257"/>
                </a:lnTo>
                <a:close/>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vis:icon"/>
          <p:cNvSpPr/>
          <p:nvPr/>
        </p:nvSpPr>
        <p:spPr>
          <a:xfrm>
            <a:off x="1019431" y="4722751"/>
            <a:ext cx="82544" cy="82544"/>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cell:outcome"/>
          <p:cNvSpPr txBox="1"/>
          <p:nvPr/>
        </p:nvSpPr>
        <p:spPr>
          <a:xfrm>
            <a:off x="1545336" y="4517136"/>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Notice when a fluent answer is quietly avoiding your question</a:t>
            </a:r>
          </a:p>
        </p:txBody>
      </p:sp>
      <p:sp>
        <p:nvSpPr>
          <p:cNvPr id="36" name="vis:outcome"/>
          <p:cNvSpPr/>
          <p:nvPr/>
        </p:nvSpPr>
        <p:spPr>
          <a:xfrm>
            <a:off x="502920" y="5303520"/>
            <a:ext cx="11185855" cy="713232"/>
          </a:xfrm>
          <a:prstGeom prst="roundRect">
            <a:avLst>
              <a:gd name="adj" fmla="val 1282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badge"/>
          <p:cNvSpPr/>
          <p:nvPr/>
        </p:nvSpPr>
        <p:spPr>
          <a:xfrm>
            <a:off x="777240" y="5376672"/>
            <a:ext cx="566928" cy="566928"/>
          </a:xfrm>
          <a:prstGeom prst="roundRect">
            <a:avLst>
              <a:gd name="adj" fmla="val 16129"/>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icon"/>
          <p:cNvSpPr/>
          <p:nvPr/>
        </p:nvSpPr>
        <p:spPr>
          <a:xfrm>
            <a:off x="933938" y="5551059"/>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9" name="vis:icon"/>
          <p:cNvCxnSpPr/>
          <p:nvPr/>
        </p:nvCxnSpPr>
        <p:spPr>
          <a:xfrm>
            <a:off x="1007639" y="5571695"/>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0" name="vis:icon"/>
          <p:cNvSpPr/>
          <p:nvPr/>
        </p:nvSpPr>
        <p:spPr>
          <a:xfrm>
            <a:off x="933938" y="5639499"/>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1" name="vis:icon"/>
          <p:cNvCxnSpPr/>
          <p:nvPr/>
        </p:nvCxnSpPr>
        <p:spPr>
          <a:xfrm>
            <a:off x="1007639" y="5660136"/>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2" name="vis:icon"/>
          <p:cNvSpPr/>
          <p:nvPr/>
        </p:nvSpPr>
        <p:spPr>
          <a:xfrm>
            <a:off x="933938" y="5727940"/>
            <a:ext cx="41272" cy="412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3" name="vis:icon"/>
          <p:cNvCxnSpPr/>
          <p:nvPr/>
        </p:nvCxnSpPr>
        <p:spPr>
          <a:xfrm>
            <a:off x="1007639" y="5748576"/>
            <a:ext cx="18277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4" name="cell:outcome"/>
          <p:cNvSpPr txBox="1"/>
          <p:nvPr/>
        </p:nvSpPr>
        <p:spPr>
          <a:xfrm>
            <a:off x="1545336" y="5413248"/>
            <a:ext cx="9814255" cy="493776"/>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101826"/>
                </a:solidFill>
                <a:latin typeface="Segoe UI"/>
              </a:rPr>
              <a:t>Compare two answers without re-reading both in full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INTERACTIVE MENU</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Tap any line to jump straight there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cell:menuhint"/>
          <p:cNvSpPr txBox="1"/>
          <p:nvPr/>
        </p:nvSpPr>
        <p:spPr>
          <a:xfrm>
            <a:off x="502920" y="1554480"/>
            <a:ext cx="11185855" cy="219456"/>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Every slide has a Menu button in the top-right corner to bring you back here.</a:t>
            </a:r>
          </a:p>
        </p:txBody>
      </p:sp>
      <p:sp>
        <p:nvSpPr>
          <p:cNvPr id="8" name="nav:menurow">
            <a:hlinkClick action="ppaction://hlinksldjump" r:id="rId2"/>
          </p:cNvPr>
          <p:cNvSpPr/>
          <p:nvPr/>
        </p:nvSpPr>
        <p:spPr>
          <a:xfrm>
            <a:off x="502920" y="1828800"/>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vis:menubar"/>
          <p:cNvSpPr/>
          <p:nvPr/>
        </p:nvSpPr>
        <p:spPr>
          <a:xfrm>
            <a:off x="502920" y="1828800"/>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0" name="vis:menunum"/>
          <p:cNvSpPr txBox="1"/>
          <p:nvPr/>
        </p:nvSpPr>
        <p:spPr>
          <a:xfrm>
            <a:off x="813816" y="1883664"/>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01</a:t>
            </a:r>
          </a:p>
        </p:txBody>
      </p:sp>
      <p:sp>
        <p:nvSpPr>
          <p:cNvPr id="11" name="cell:menulabel"/>
          <p:cNvSpPr txBox="1"/>
          <p:nvPr/>
        </p:nvSpPr>
        <p:spPr>
          <a:xfrm>
            <a:off x="1344168" y="1883664"/>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The four questions</a:t>
            </a:r>
          </a:p>
        </p:txBody>
      </p:sp>
      <p:sp>
        <p:nvSpPr>
          <p:cNvPr id="12" name="cell:menusub"/>
          <p:cNvSpPr txBox="1"/>
          <p:nvPr/>
        </p:nvSpPr>
        <p:spPr>
          <a:xfrm>
            <a:off x="7134682" y="1883664"/>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Thirty seconds, every time</a:t>
            </a:r>
          </a:p>
        </p:txBody>
      </p:sp>
      <p:cxnSp>
        <p:nvCxnSpPr>
          <p:cNvPr id="13" name="vis:menuarrow"/>
          <p:cNvCxnSpPr/>
          <p:nvPr/>
        </p:nvCxnSpPr>
        <p:spPr>
          <a:xfrm>
            <a:off x="11213287" y="1997049"/>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nav:menurow">
            <a:hlinkClick action="ppaction://hlinksldjump" r:id="rId3"/>
          </p:cNvPr>
          <p:cNvSpPr/>
          <p:nvPr/>
        </p:nvSpPr>
        <p:spPr>
          <a:xfrm>
            <a:off x="502920" y="2256739"/>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menubar"/>
          <p:cNvSpPr/>
          <p:nvPr/>
        </p:nvSpPr>
        <p:spPr>
          <a:xfrm>
            <a:off x="502920" y="2256739"/>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enunum"/>
          <p:cNvSpPr txBox="1"/>
          <p:nvPr/>
        </p:nvSpPr>
        <p:spPr>
          <a:xfrm>
            <a:off x="813816" y="2311603"/>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02</a:t>
            </a:r>
          </a:p>
        </p:txBody>
      </p:sp>
      <p:sp>
        <p:nvSpPr>
          <p:cNvPr id="17" name="cell:menulabel"/>
          <p:cNvSpPr txBox="1"/>
          <p:nvPr/>
        </p:nvSpPr>
        <p:spPr>
          <a:xfrm>
            <a:off x="1344168" y="2311603"/>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Send, fix or bin</a:t>
            </a:r>
          </a:p>
        </p:txBody>
      </p:sp>
      <p:sp>
        <p:nvSpPr>
          <p:cNvPr id="18" name="cell:menusub"/>
          <p:cNvSpPr txBox="1"/>
          <p:nvPr/>
        </p:nvSpPr>
        <p:spPr>
          <a:xfrm>
            <a:off x="7134682" y="2311603"/>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Choosing correctly</a:t>
            </a:r>
          </a:p>
        </p:txBody>
      </p:sp>
      <p:cxnSp>
        <p:nvCxnSpPr>
          <p:cNvPr id="19" name="vis:menuarrow"/>
          <p:cNvCxnSpPr/>
          <p:nvPr/>
        </p:nvCxnSpPr>
        <p:spPr>
          <a:xfrm>
            <a:off x="11213287" y="2424988"/>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nav:menurow">
            <a:hlinkClick action="ppaction://hlinksldjump" r:id="rId4"/>
          </p:cNvPr>
          <p:cNvSpPr/>
          <p:nvPr/>
        </p:nvSpPr>
        <p:spPr>
          <a:xfrm>
            <a:off x="502920" y="2684678"/>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menubar"/>
          <p:cNvSpPr/>
          <p:nvPr/>
        </p:nvSpPr>
        <p:spPr>
          <a:xfrm>
            <a:off x="502920" y="2684678"/>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menunum"/>
          <p:cNvSpPr txBox="1"/>
          <p:nvPr/>
        </p:nvSpPr>
        <p:spPr>
          <a:xfrm>
            <a:off x="813816" y="2739542"/>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03</a:t>
            </a:r>
          </a:p>
        </p:txBody>
      </p:sp>
      <p:sp>
        <p:nvSpPr>
          <p:cNvPr id="23" name="cell:menulabel"/>
          <p:cNvSpPr txBox="1"/>
          <p:nvPr/>
        </p:nvSpPr>
        <p:spPr>
          <a:xfrm>
            <a:off x="1344168" y="2739542"/>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Writing the correction</a:t>
            </a:r>
          </a:p>
        </p:txBody>
      </p:sp>
      <p:sp>
        <p:nvSpPr>
          <p:cNvPr id="24" name="cell:menusub"/>
          <p:cNvSpPr txBox="1"/>
          <p:nvPr/>
        </p:nvSpPr>
        <p:spPr>
          <a:xfrm>
            <a:off x="7134682" y="2739542"/>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Keep what worked</a:t>
            </a:r>
          </a:p>
        </p:txBody>
      </p:sp>
      <p:cxnSp>
        <p:nvCxnSpPr>
          <p:cNvPr id="25" name="vis:menuarrow"/>
          <p:cNvCxnSpPr/>
          <p:nvPr/>
        </p:nvCxnSpPr>
        <p:spPr>
          <a:xfrm>
            <a:off x="11213287" y="2852928"/>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6" name="nav:menurow">
            <a:hlinkClick action="ppaction://hlinksldjump" r:id="rId5"/>
          </p:cNvPr>
          <p:cNvSpPr/>
          <p:nvPr/>
        </p:nvSpPr>
        <p:spPr>
          <a:xfrm>
            <a:off x="502920" y="3112617"/>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menubar"/>
          <p:cNvSpPr/>
          <p:nvPr/>
        </p:nvSpPr>
        <p:spPr>
          <a:xfrm>
            <a:off x="502920" y="3112617"/>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menunum"/>
          <p:cNvSpPr txBox="1"/>
          <p:nvPr/>
        </p:nvSpPr>
        <p:spPr>
          <a:xfrm>
            <a:off x="813816" y="3167481"/>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04</a:t>
            </a:r>
          </a:p>
        </p:txBody>
      </p:sp>
      <p:sp>
        <p:nvSpPr>
          <p:cNvPr id="29" name="cell:menulabel"/>
          <p:cNvSpPr txBox="1"/>
          <p:nvPr/>
        </p:nvSpPr>
        <p:spPr>
          <a:xfrm>
            <a:off x="1344168" y="3167481"/>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Fluent but empty</a:t>
            </a:r>
          </a:p>
        </p:txBody>
      </p:sp>
      <p:sp>
        <p:nvSpPr>
          <p:cNvPr id="30" name="cell:menusub"/>
          <p:cNvSpPr txBox="1"/>
          <p:nvPr/>
        </p:nvSpPr>
        <p:spPr>
          <a:xfrm>
            <a:off x="7134682" y="3167481"/>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answer that dodges</a:t>
            </a:r>
          </a:p>
        </p:txBody>
      </p:sp>
      <p:cxnSp>
        <p:nvCxnSpPr>
          <p:cNvPr id="31" name="vis:menuarrow"/>
          <p:cNvCxnSpPr/>
          <p:nvPr/>
        </p:nvCxnSpPr>
        <p:spPr>
          <a:xfrm>
            <a:off x="11213287" y="3280867"/>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2" name="nav:menurow">
            <a:hlinkClick action="ppaction://hlinksldjump" r:id="rId6"/>
          </p:cNvPr>
          <p:cNvSpPr/>
          <p:nvPr/>
        </p:nvSpPr>
        <p:spPr>
          <a:xfrm>
            <a:off x="502920" y="354055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menubar"/>
          <p:cNvSpPr/>
          <p:nvPr/>
        </p:nvSpPr>
        <p:spPr>
          <a:xfrm>
            <a:off x="502920" y="3540556"/>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menunum"/>
          <p:cNvSpPr txBox="1"/>
          <p:nvPr/>
        </p:nvSpPr>
        <p:spPr>
          <a:xfrm>
            <a:off x="813816" y="3595420"/>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05</a:t>
            </a:r>
          </a:p>
        </p:txBody>
      </p:sp>
      <p:sp>
        <p:nvSpPr>
          <p:cNvPr id="35" name="cell:menulabel"/>
          <p:cNvSpPr txBox="1"/>
          <p:nvPr/>
        </p:nvSpPr>
        <p:spPr>
          <a:xfrm>
            <a:off x="1344168" y="3595420"/>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Do this now</a:t>
            </a:r>
          </a:p>
        </p:txBody>
      </p:sp>
      <p:sp>
        <p:nvSpPr>
          <p:cNvPr id="36" name="cell:menusub"/>
          <p:cNvSpPr txBox="1"/>
          <p:nvPr/>
        </p:nvSpPr>
        <p:spPr>
          <a:xfrm>
            <a:off x="7134682" y="3595420"/>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Score a real answer</a:t>
            </a:r>
          </a:p>
        </p:txBody>
      </p:sp>
      <p:cxnSp>
        <p:nvCxnSpPr>
          <p:cNvPr id="37" name="vis:menuarrow"/>
          <p:cNvCxnSpPr/>
          <p:nvPr/>
        </p:nvCxnSpPr>
        <p:spPr>
          <a:xfrm>
            <a:off x="11213287" y="3708806"/>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8" name="nav:menurow">
            <a:hlinkClick action="ppaction://hlinksldjump" r:id="rId7"/>
          </p:cNvPr>
          <p:cNvSpPr/>
          <p:nvPr/>
        </p:nvSpPr>
        <p:spPr>
          <a:xfrm>
            <a:off x="502920" y="3968496"/>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enubar"/>
          <p:cNvSpPr/>
          <p:nvPr/>
        </p:nvSpPr>
        <p:spPr>
          <a:xfrm>
            <a:off x="502920" y="3968496"/>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menunum"/>
          <p:cNvSpPr txBox="1"/>
          <p:nvPr/>
        </p:nvSpPr>
        <p:spPr>
          <a:xfrm>
            <a:off x="813816" y="402335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06</a:t>
            </a:r>
          </a:p>
        </p:txBody>
      </p:sp>
      <p:sp>
        <p:nvSpPr>
          <p:cNvPr id="41" name="cell:menulabel"/>
          <p:cNvSpPr txBox="1"/>
          <p:nvPr/>
        </p:nvSpPr>
        <p:spPr>
          <a:xfrm>
            <a:off x="1344168" y="402335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Choose what you'd do</a:t>
            </a:r>
          </a:p>
        </p:txBody>
      </p:sp>
      <p:sp>
        <p:nvSpPr>
          <p:cNvPr id="42" name="cell:menusub"/>
          <p:cNvSpPr txBox="1"/>
          <p:nvPr/>
        </p:nvSpPr>
        <p:spPr>
          <a:xfrm>
            <a:off x="7134682" y="402335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Friday afternoon decision</a:t>
            </a:r>
          </a:p>
        </p:txBody>
      </p:sp>
      <p:cxnSp>
        <p:nvCxnSpPr>
          <p:cNvPr id="43" name="vis:menuarrow"/>
          <p:cNvCxnSpPr/>
          <p:nvPr/>
        </p:nvCxnSpPr>
        <p:spPr>
          <a:xfrm>
            <a:off x="11213287" y="4136745"/>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44" name="nav:menurow">
            <a:hlinkClick action="ppaction://hlinksldjump" r:id="rId8"/>
          </p:cNvPr>
          <p:cNvSpPr/>
          <p:nvPr/>
        </p:nvSpPr>
        <p:spPr>
          <a:xfrm>
            <a:off x="502920" y="4396435"/>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enubar"/>
          <p:cNvSpPr/>
          <p:nvPr/>
        </p:nvSpPr>
        <p:spPr>
          <a:xfrm>
            <a:off x="502920" y="4396435"/>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enunum"/>
          <p:cNvSpPr txBox="1"/>
          <p:nvPr/>
        </p:nvSpPr>
        <p:spPr>
          <a:xfrm>
            <a:off x="813816" y="4451299"/>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07</a:t>
            </a:r>
          </a:p>
        </p:txBody>
      </p:sp>
      <p:sp>
        <p:nvSpPr>
          <p:cNvPr id="47" name="cell:menulabel"/>
          <p:cNvSpPr txBox="1"/>
          <p:nvPr/>
        </p:nvSpPr>
        <p:spPr>
          <a:xfrm>
            <a:off x="1344168" y="4451299"/>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Watch this</a:t>
            </a:r>
          </a:p>
        </p:txBody>
      </p:sp>
      <p:sp>
        <p:nvSpPr>
          <p:cNvPr id="48" name="cell:menusub"/>
          <p:cNvSpPr txBox="1"/>
          <p:nvPr/>
        </p:nvSpPr>
        <p:spPr>
          <a:xfrm>
            <a:off x="7134682" y="4451299"/>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A 7-minute outside explainer</a:t>
            </a:r>
          </a:p>
        </p:txBody>
      </p:sp>
      <p:cxnSp>
        <p:nvCxnSpPr>
          <p:cNvPr id="49" name="vis:menuarrow"/>
          <p:cNvCxnSpPr/>
          <p:nvPr/>
        </p:nvCxnSpPr>
        <p:spPr>
          <a:xfrm>
            <a:off x="11213287" y="456468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0" name="nav:menurow">
            <a:hlinkClick action="ppaction://hlinksldjump" r:id="rId9"/>
          </p:cNvPr>
          <p:cNvSpPr/>
          <p:nvPr/>
        </p:nvSpPr>
        <p:spPr>
          <a:xfrm>
            <a:off x="502920" y="4824374"/>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1" name="vis:menubar"/>
          <p:cNvSpPr/>
          <p:nvPr/>
        </p:nvSpPr>
        <p:spPr>
          <a:xfrm>
            <a:off x="502920" y="4824374"/>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2" name="vis:menunum"/>
          <p:cNvSpPr txBox="1"/>
          <p:nvPr/>
        </p:nvSpPr>
        <p:spPr>
          <a:xfrm>
            <a:off x="813816" y="4879238"/>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08</a:t>
            </a:r>
          </a:p>
        </p:txBody>
      </p:sp>
      <p:sp>
        <p:nvSpPr>
          <p:cNvPr id="53" name="cell:menulabel"/>
          <p:cNvSpPr txBox="1"/>
          <p:nvPr/>
        </p:nvSpPr>
        <p:spPr>
          <a:xfrm>
            <a:off x="1344168" y="4879238"/>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Quiz</a:t>
            </a:r>
          </a:p>
        </p:txBody>
      </p:sp>
      <p:sp>
        <p:nvSpPr>
          <p:cNvPr id="54" name="cell:menusub"/>
          <p:cNvSpPr txBox="1"/>
          <p:nvPr/>
        </p:nvSpPr>
        <p:spPr>
          <a:xfrm>
            <a:off x="7134682" y="4879238"/>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5 questions, instant feedback</a:t>
            </a:r>
          </a:p>
        </p:txBody>
      </p:sp>
      <p:cxnSp>
        <p:nvCxnSpPr>
          <p:cNvPr id="55" name="vis:menuarrow"/>
          <p:cNvCxnSpPr/>
          <p:nvPr/>
        </p:nvCxnSpPr>
        <p:spPr>
          <a:xfrm>
            <a:off x="11213287" y="4992624"/>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56" name="nav:menurow">
            <a:hlinkClick action="ppaction://hlinksldjump" r:id="rId10"/>
          </p:cNvPr>
          <p:cNvSpPr/>
          <p:nvPr/>
        </p:nvSpPr>
        <p:spPr>
          <a:xfrm>
            <a:off x="502920" y="5252313"/>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7" name="vis:menubar"/>
          <p:cNvSpPr/>
          <p:nvPr/>
        </p:nvSpPr>
        <p:spPr>
          <a:xfrm>
            <a:off x="502920" y="5252313"/>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8" name="vis:menunum"/>
          <p:cNvSpPr txBox="1"/>
          <p:nvPr/>
        </p:nvSpPr>
        <p:spPr>
          <a:xfrm>
            <a:off x="813816" y="5307177"/>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09</a:t>
            </a:r>
          </a:p>
        </p:txBody>
      </p:sp>
      <p:sp>
        <p:nvSpPr>
          <p:cNvPr id="59" name="cell:menulabel"/>
          <p:cNvSpPr txBox="1"/>
          <p:nvPr/>
        </p:nvSpPr>
        <p:spPr>
          <a:xfrm>
            <a:off x="1344168" y="5307177"/>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Recap card</a:t>
            </a:r>
          </a:p>
        </p:txBody>
      </p:sp>
      <p:sp>
        <p:nvSpPr>
          <p:cNvPr id="60" name="cell:menusub"/>
          <p:cNvSpPr txBox="1"/>
          <p:nvPr/>
        </p:nvSpPr>
        <p:spPr>
          <a:xfrm>
            <a:off x="7134682" y="5307177"/>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whole topic on one screen</a:t>
            </a:r>
          </a:p>
        </p:txBody>
      </p:sp>
      <p:cxnSp>
        <p:nvCxnSpPr>
          <p:cNvPr id="61" name="vis:menuarrow"/>
          <p:cNvCxnSpPr/>
          <p:nvPr/>
        </p:nvCxnSpPr>
        <p:spPr>
          <a:xfrm>
            <a:off x="11213287" y="5420563"/>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2" name="nav:menurow">
            <a:hlinkClick action="ppaction://hlinksldjump" r:id="rId11"/>
          </p:cNvPr>
          <p:cNvSpPr/>
          <p:nvPr/>
        </p:nvSpPr>
        <p:spPr>
          <a:xfrm>
            <a:off x="502920" y="5680252"/>
            <a:ext cx="11185855" cy="336499"/>
          </a:xfrm>
          <a:prstGeom prst="roundRect">
            <a:avLst>
              <a:gd name="adj" fmla="val 2173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3" name="vis:menubar"/>
          <p:cNvSpPr/>
          <p:nvPr/>
        </p:nvSpPr>
        <p:spPr>
          <a:xfrm>
            <a:off x="502920" y="5680252"/>
            <a:ext cx="68580" cy="336499"/>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4" name="vis:menunum"/>
          <p:cNvSpPr txBox="1"/>
          <p:nvPr/>
        </p:nvSpPr>
        <p:spPr>
          <a:xfrm>
            <a:off x="813816" y="5735116"/>
            <a:ext cx="402336" cy="226771"/>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6A2FA0"/>
                </a:solidFill>
                <a:latin typeface="Segoe UI Semibold"/>
              </a:rPr>
              <a:t>10</a:t>
            </a:r>
          </a:p>
        </p:txBody>
      </p:sp>
      <p:sp>
        <p:nvSpPr>
          <p:cNvPr id="65" name="cell:menulabel"/>
          <p:cNvSpPr txBox="1"/>
          <p:nvPr/>
        </p:nvSpPr>
        <p:spPr>
          <a:xfrm>
            <a:off x="1344168" y="5735116"/>
            <a:ext cx="4554093" cy="226771"/>
          </a:xfrm>
          <a:prstGeom prst="rect">
            <a:avLst/>
          </a:prstGeom>
          <a:noFill/>
        </p:spPr>
        <p:txBody>
          <a:bodyPr wrap="square" lIns="0" rIns="0" tIns="0" bIns="0" anchor="ctr">
            <a:spAutoFit/>
          </a:bodyPr>
          <a:lstStyle/>
          <a:p>
            <a:pPr algn="l">
              <a:lnSpc>
                <a:spcPts val="1755"/>
              </a:lnSpc>
              <a:spcBef>
                <a:spcPts val="0"/>
              </a:spcBef>
              <a:spcAft>
                <a:spcPts val="0"/>
              </a:spcAft>
            </a:pPr>
            <a:r>
              <a:rPr sz="1350" b="0">
                <a:solidFill>
                  <a:srgbClr val="101826"/>
                </a:solidFill>
                <a:latin typeface="Segoe UI Semibold"/>
              </a:rPr>
              <a:t>Your toolkit</a:t>
            </a:r>
          </a:p>
        </p:txBody>
      </p:sp>
      <p:sp>
        <p:nvSpPr>
          <p:cNvPr id="66" name="cell:menusub"/>
          <p:cNvSpPr txBox="1"/>
          <p:nvPr/>
        </p:nvSpPr>
        <p:spPr>
          <a:xfrm>
            <a:off x="7134682" y="5735116"/>
            <a:ext cx="3606698" cy="226771"/>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Templates, links, what to do next</a:t>
            </a:r>
          </a:p>
        </p:txBody>
      </p:sp>
      <p:cxnSp>
        <p:nvCxnSpPr>
          <p:cNvPr id="67" name="vis:menuarrow"/>
          <p:cNvCxnSpPr/>
          <p:nvPr/>
        </p:nvCxnSpPr>
        <p:spPr>
          <a:xfrm>
            <a:off x="11213287" y="5848502"/>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FOUR QUESTIONS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questions, thirty seconds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body:lead"/>
          <p:cNvSpPr txBox="1"/>
          <p:nvPr/>
        </p:nvSpPr>
        <p:spPr>
          <a:xfrm>
            <a:off x="502920" y="1719072"/>
            <a:ext cx="8343671" cy="548640"/>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Ask these in order. Most answers fail on question two, and you stop there.</a:t>
            </a:r>
          </a:p>
        </p:txBody>
      </p:sp>
      <p:sp>
        <p:nvSpPr>
          <p:cNvPr id="16" name="vis:checktile"/>
          <p:cNvSpPr/>
          <p:nvPr/>
        </p:nvSpPr>
        <p:spPr>
          <a:xfrm>
            <a:off x="502920" y="269748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eckdot"/>
          <p:cNvSpPr/>
          <p:nvPr/>
        </p:nvSpPr>
        <p:spPr>
          <a:xfrm>
            <a:off x="722376" y="325069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815279" y="340961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860450" y="335749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cell:checkitem"/>
          <p:cNvSpPr txBox="1"/>
          <p:nvPr/>
        </p:nvSpPr>
        <p:spPr>
          <a:xfrm>
            <a:off x="1161288" y="284378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TRACEABLE — is every fact one I supplied?</a:t>
            </a:r>
          </a:p>
        </p:txBody>
      </p:sp>
      <p:sp>
        <p:nvSpPr>
          <p:cNvPr id="21" name="vis:checktile"/>
          <p:cNvSpPr/>
          <p:nvPr/>
        </p:nvSpPr>
        <p:spPr>
          <a:xfrm>
            <a:off x="6205575" y="2697480"/>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eckdot"/>
          <p:cNvSpPr/>
          <p:nvPr/>
        </p:nvSpPr>
        <p:spPr>
          <a:xfrm>
            <a:off x="6425031" y="325069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6517934" y="340961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6563106" y="335749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cell:checkitem"/>
          <p:cNvSpPr txBox="1"/>
          <p:nvPr/>
        </p:nvSpPr>
        <p:spPr>
          <a:xfrm>
            <a:off x="6863943" y="284378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COMPLETE — did it answer what I actually asked?</a:t>
            </a:r>
          </a:p>
        </p:txBody>
      </p:sp>
      <p:sp>
        <p:nvSpPr>
          <p:cNvPr id="26" name="vis:checktile"/>
          <p:cNvSpPr/>
          <p:nvPr/>
        </p:nvSpPr>
        <p:spPr>
          <a:xfrm>
            <a:off x="502920" y="433425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eckdot"/>
          <p:cNvSpPr/>
          <p:nvPr/>
        </p:nvSpPr>
        <p:spPr>
          <a:xfrm>
            <a:off x="722376" y="4887468"/>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815279" y="5046390"/>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9" name="vis:icon"/>
          <p:cNvCxnSpPr/>
          <p:nvPr/>
        </p:nvCxnSpPr>
        <p:spPr>
          <a:xfrm flipV="1">
            <a:off x="860450" y="499426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0" name="cell:checkitem"/>
          <p:cNvSpPr txBox="1"/>
          <p:nvPr/>
        </p:nvSpPr>
        <p:spPr>
          <a:xfrm>
            <a:off x="1161288" y="448056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USABLE — could I send this without rewriting it?</a:t>
            </a:r>
          </a:p>
        </p:txBody>
      </p:sp>
      <p:sp>
        <p:nvSpPr>
          <p:cNvPr id="31" name="vis:checktile"/>
          <p:cNvSpPr/>
          <p:nvPr/>
        </p:nvSpPr>
        <p:spPr>
          <a:xfrm>
            <a:off x="6205575" y="4334256"/>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eckdot"/>
          <p:cNvSpPr/>
          <p:nvPr/>
        </p:nvSpPr>
        <p:spPr>
          <a:xfrm>
            <a:off x="6425031" y="4887468"/>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6517934" y="5046390"/>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563106" y="4994269"/>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cell:checkitem"/>
          <p:cNvSpPr txBox="1"/>
          <p:nvPr/>
        </p:nvSpPr>
        <p:spPr>
          <a:xfrm>
            <a:off x="6863943" y="4480560"/>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SAFE — would I be happy for anyone to read the prompt?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FOUR QUESTIONS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fluency fools people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flowcard"/>
          <p:cNvSpPr/>
          <p:nvPr/>
        </p:nvSpPr>
        <p:spPr>
          <a:xfrm>
            <a:off x="502920"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flownum"/>
          <p:cNvSpPr/>
          <p:nvPr/>
        </p:nvSpPr>
        <p:spPr>
          <a:xfrm>
            <a:off x="685800" y="2039111"/>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flownumtext"/>
          <p:cNvSpPr txBox="1"/>
          <p:nvPr/>
        </p:nvSpPr>
        <p:spPr>
          <a:xfrm>
            <a:off x="685800"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sp>
        <p:nvSpPr>
          <p:cNvPr id="18" name="vis:flowtitle"/>
          <p:cNvSpPr txBox="1"/>
          <p:nvPr/>
        </p:nvSpPr>
        <p:spPr>
          <a:xfrm>
            <a:off x="704088"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It reads well</a:t>
            </a:r>
          </a:p>
        </p:txBody>
      </p:sp>
      <p:sp>
        <p:nvSpPr>
          <p:cNvPr id="19" name="vis:flowsub"/>
          <p:cNvSpPr txBox="1"/>
          <p:nvPr/>
        </p:nvSpPr>
        <p:spPr>
          <a:xfrm>
            <a:off x="704088"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Clean sentences, confident tone, no hedging.</a:t>
            </a:r>
          </a:p>
        </p:txBody>
      </p:sp>
      <p:cxnSp>
        <p:nvCxnSpPr>
          <p:cNvPr id="20" name="vis:flowarrow"/>
          <p:cNvCxnSpPr/>
          <p:nvPr/>
        </p:nvCxnSpPr>
        <p:spPr>
          <a:xfrm>
            <a:off x="3093643" y="3182111"/>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vis:flowcard"/>
          <p:cNvSpPr/>
          <p:nvPr/>
        </p:nvSpPr>
        <p:spPr>
          <a:xfrm>
            <a:off x="3395395"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flownum"/>
          <p:cNvSpPr/>
          <p:nvPr/>
        </p:nvSpPr>
        <p:spPr>
          <a:xfrm>
            <a:off x="3578275" y="2039111"/>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flownumtext"/>
          <p:cNvSpPr txBox="1"/>
          <p:nvPr/>
        </p:nvSpPr>
        <p:spPr>
          <a:xfrm>
            <a:off x="3578275"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sp>
        <p:nvSpPr>
          <p:cNvPr id="24" name="vis:flowtitle"/>
          <p:cNvSpPr txBox="1"/>
          <p:nvPr/>
        </p:nvSpPr>
        <p:spPr>
          <a:xfrm>
            <a:off x="3596563"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relax</a:t>
            </a:r>
          </a:p>
        </p:txBody>
      </p:sp>
      <p:sp>
        <p:nvSpPr>
          <p:cNvPr id="25" name="vis:flowsub"/>
          <p:cNvSpPr txBox="1"/>
          <p:nvPr/>
        </p:nvSpPr>
        <p:spPr>
          <a:xfrm>
            <a:off x="3596563"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Good writing signals care, in every other context.</a:t>
            </a:r>
          </a:p>
        </p:txBody>
      </p:sp>
      <p:cxnSp>
        <p:nvCxnSpPr>
          <p:cNvPr id="26" name="vis:flowarrow"/>
          <p:cNvCxnSpPr/>
          <p:nvPr/>
        </p:nvCxnSpPr>
        <p:spPr>
          <a:xfrm>
            <a:off x="5986119" y="3182111"/>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7" name="vis:flowcard"/>
          <p:cNvSpPr/>
          <p:nvPr/>
        </p:nvSpPr>
        <p:spPr>
          <a:xfrm>
            <a:off x="6287871"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flownum"/>
          <p:cNvSpPr/>
          <p:nvPr/>
        </p:nvSpPr>
        <p:spPr>
          <a:xfrm>
            <a:off x="6470751" y="2039111"/>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flownumtext"/>
          <p:cNvSpPr txBox="1"/>
          <p:nvPr/>
        </p:nvSpPr>
        <p:spPr>
          <a:xfrm>
            <a:off x="6470751"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sp>
        <p:nvSpPr>
          <p:cNvPr id="30" name="vis:flowtitle"/>
          <p:cNvSpPr txBox="1"/>
          <p:nvPr/>
        </p:nvSpPr>
        <p:spPr>
          <a:xfrm>
            <a:off x="6489039" y="2587751"/>
            <a:ext cx="2106091" cy="512064"/>
          </a:xfrm>
          <a:prstGeom prst="rect">
            <a:avLst/>
          </a:prstGeom>
          <a:noFill/>
        </p:spPr>
        <p:txBody>
          <a:bodyPr wrap="square" lIns="0" rIns="0" tIns="0" bIns="0" anchor="t">
            <a:spAutoFit/>
          </a:bodyPr>
          <a:lstStyle/>
          <a:p>
            <a:pPr algn="l">
              <a:lnSpc>
                <a:spcPts val="2080"/>
              </a:lnSpc>
              <a:spcBef>
                <a:spcPts val="0"/>
              </a:spcBef>
              <a:spcAft>
                <a:spcPts val="0"/>
              </a:spcAft>
            </a:pPr>
            <a:r>
              <a:rPr sz="1600" b="0">
                <a:solidFill>
                  <a:srgbClr val="101826"/>
                </a:solidFill>
                <a:latin typeface="Segoe UI Semibold"/>
              </a:rPr>
              <a:t>You skim</a:t>
            </a:r>
          </a:p>
        </p:txBody>
      </p:sp>
      <p:sp>
        <p:nvSpPr>
          <p:cNvPr id="31" name="vis:flowsub"/>
          <p:cNvSpPr txBox="1"/>
          <p:nvPr/>
        </p:nvSpPr>
        <p:spPr>
          <a:xfrm>
            <a:off x="6489039"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You check the wording rather than the content.</a:t>
            </a:r>
          </a:p>
        </p:txBody>
      </p:sp>
      <p:cxnSp>
        <p:nvCxnSpPr>
          <p:cNvPr id="32" name="vis:flowarrow"/>
          <p:cNvCxnSpPr/>
          <p:nvPr/>
        </p:nvCxnSpPr>
        <p:spPr>
          <a:xfrm>
            <a:off x="8878595" y="3182111"/>
            <a:ext cx="219456"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3" name="vis:flowcard"/>
          <p:cNvSpPr/>
          <p:nvPr/>
        </p:nvSpPr>
        <p:spPr>
          <a:xfrm>
            <a:off x="9180347" y="2221991"/>
            <a:ext cx="2508427" cy="1920240"/>
          </a:xfrm>
          <a:prstGeom prst="roundRect">
            <a:avLst>
              <a:gd name="adj" fmla="val 476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flownum"/>
          <p:cNvSpPr/>
          <p:nvPr/>
        </p:nvSpPr>
        <p:spPr>
          <a:xfrm>
            <a:off x="9363227" y="2039111"/>
            <a:ext cx="384048" cy="38404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flownumtext"/>
          <p:cNvSpPr txBox="1"/>
          <p:nvPr/>
        </p:nvSpPr>
        <p:spPr>
          <a:xfrm>
            <a:off x="9363227" y="2116835"/>
            <a:ext cx="384048" cy="237744"/>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36" name="vis:flowtitle"/>
          <p:cNvSpPr txBox="1"/>
          <p:nvPr/>
        </p:nvSpPr>
        <p:spPr>
          <a:xfrm>
            <a:off x="9381515" y="2587751"/>
            <a:ext cx="2106091" cy="512064"/>
          </a:xfrm>
          <a:prstGeom prst="rect">
            <a:avLst/>
          </a:prstGeom>
          <a:noFill/>
        </p:spPr>
        <p:txBody>
          <a:bodyPr wrap="square" lIns="0" rIns="0" tIns="0" bIns="0" anchor="t">
            <a:spAutoFit/>
          </a:bodyPr>
          <a:lstStyle/>
          <a:p>
            <a:pPr algn="l">
              <a:lnSpc>
                <a:spcPts val="2015"/>
              </a:lnSpc>
              <a:spcBef>
                <a:spcPts val="0"/>
              </a:spcBef>
              <a:spcAft>
                <a:spcPts val="0"/>
              </a:spcAft>
            </a:pPr>
            <a:r>
              <a:rPr sz="1550" b="0">
                <a:solidFill>
                  <a:srgbClr val="101826"/>
                </a:solidFill>
                <a:latin typeface="Segoe UI Semibold"/>
              </a:rPr>
              <a:t>The middle slips through</a:t>
            </a:r>
          </a:p>
        </p:txBody>
      </p:sp>
      <p:sp>
        <p:nvSpPr>
          <p:cNvPr id="37" name="vis:flowsub"/>
          <p:cNvSpPr txBox="1"/>
          <p:nvPr/>
        </p:nvSpPr>
        <p:spPr>
          <a:xfrm>
            <a:off x="9381515" y="3136391"/>
            <a:ext cx="2106091" cy="84124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Where the invented line usually 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SEND, FIX OR BIN</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Send, fix or throw away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treeq"/>
          <p:cNvSpPr/>
          <p:nvPr/>
        </p:nvSpPr>
        <p:spPr>
          <a:xfrm>
            <a:off x="3746818" y="1810512"/>
            <a:ext cx="4698059" cy="841248"/>
          </a:xfrm>
          <a:prstGeom prst="roundRect">
            <a:avLst>
              <a:gd name="adj" fmla="val 1086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treeqtext"/>
          <p:cNvSpPr txBox="1"/>
          <p:nvPr/>
        </p:nvSpPr>
        <p:spPr>
          <a:xfrm>
            <a:off x="3947986" y="1938528"/>
            <a:ext cx="4295723" cy="585216"/>
          </a:xfrm>
          <a:prstGeom prst="rect">
            <a:avLst/>
          </a:prstGeom>
          <a:noFill/>
        </p:spPr>
        <p:txBody>
          <a:bodyPr wrap="square" lIns="0" rIns="0" tIns="0" bIns="0" anchor="ctr">
            <a:spAutoFit/>
          </a:bodyPr>
          <a:lstStyle/>
          <a:p>
            <a:pPr algn="ctr">
              <a:lnSpc>
                <a:spcPts val="1950"/>
              </a:lnSpc>
              <a:spcBef>
                <a:spcPts val="0"/>
              </a:spcBef>
              <a:spcAft>
                <a:spcPts val="0"/>
              </a:spcAft>
            </a:pPr>
            <a:r>
              <a:rPr sz="1500" b="0">
                <a:solidFill>
                  <a:srgbClr val="FFFFFF"/>
                </a:solidFill>
                <a:latin typeface="Segoe UI Semibold"/>
              </a:rPr>
              <a:t>Is the structure right and only the details wrong?</a:t>
            </a:r>
          </a:p>
        </p:txBody>
      </p:sp>
      <p:cxnSp>
        <p:nvCxnSpPr>
          <p:cNvPr id="17" name="vis:line"/>
          <p:cNvCxnSpPr/>
          <p:nvPr/>
        </p:nvCxnSpPr>
        <p:spPr>
          <a:xfrm>
            <a:off x="6095847" y="2651760"/>
            <a:ext cx="0" cy="237743"/>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8" name="vis:line"/>
          <p:cNvCxnSpPr/>
          <p:nvPr/>
        </p:nvCxnSpPr>
        <p:spPr>
          <a:xfrm>
            <a:off x="2516373" y="2889503"/>
            <a:ext cx="7158948" cy="0"/>
          </a:xfrm>
          <a:prstGeom prst="line">
            <a:avLst/>
          </a:prstGeom>
          <a:ln w="19050">
            <a:solidFill>
              <a:srgbClr val="C9D1DE"/>
            </a:solidFill>
          </a:ln>
          <a:effectLst/>
        </p:spPr>
        <p:style>
          <a:lnRef idx="2">
            <a:schemeClr val="accent1"/>
          </a:lnRef>
          <a:fillRef idx="0">
            <a:schemeClr val="accent1"/>
          </a:fillRef>
          <a:effectRef idx="1">
            <a:schemeClr val="accent1"/>
          </a:effectRef>
          <a:fontRef idx="minor">
            <a:schemeClr val="tx1"/>
          </a:fontRef>
        </p:style>
      </p:cxnSp>
      <p:cxnSp>
        <p:nvCxnSpPr>
          <p:cNvPr id="19" name="vis:line"/>
          <p:cNvCxnSpPr/>
          <p:nvPr/>
        </p:nvCxnSpPr>
        <p:spPr>
          <a:xfrm>
            <a:off x="2516373"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vis:chip"/>
          <p:cNvSpPr/>
          <p:nvPr/>
        </p:nvSpPr>
        <p:spPr>
          <a:xfrm>
            <a:off x="2138739" y="3026664"/>
            <a:ext cx="75526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2294187" y="3054096"/>
            <a:ext cx="44437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NO</a:t>
            </a:r>
          </a:p>
        </p:txBody>
      </p:sp>
      <p:sp>
        <p:nvSpPr>
          <p:cNvPr id="22" name="vis:treebox"/>
          <p:cNvSpPr/>
          <p:nvPr/>
        </p:nvSpPr>
        <p:spPr>
          <a:xfrm>
            <a:off x="279202"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treebar"/>
          <p:cNvSpPr/>
          <p:nvPr/>
        </p:nvSpPr>
        <p:spPr>
          <a:xfrm>
            <a:off x="279202" y="3493008"/>
            <a:ext cx="4474342" cy="685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550596" y="3819265"/>
            <a:ext cx="225308" cy="225308"/>
          </a:xfrm>
          <a:prstGeom prst="ellipse">
            <a:avLst/>
          </a:prstGeom>
          <a:noFill/>
          <a:ln w="19050">
            <a:solidFill>
              <a:srgbClr val="C62828"/>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5" name="vis:icon"/>
          <p:cNvCxnSpPr/>
          <p:nvPr/>
        </p:nvCxnSpPr>
        <p:spPr>
          <a:xfrm>
            <a:off x="583880" y="3852550"/>
            <a:ext cx="158740" cy="158739"/>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26" name="vis:treelabel"/>
          <p:cNvSpPr txBox="1"/>
          <p:nvPr/>
        </p:nvSpPr>
        <p:spPr>
          <a:xfrm>
            <a:off x="900994"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Throw it away</a:t>
            </a:r>
          </a:p>
        </p:txBody>
      </p:sp>
      <p:sp>
        <p:nvSpPr>
          <p:cNvPr id="27" name="vis:treedetail"/>
          <p:cNvSpPr txBox="1"/>
          <p:nvPr/>
        </p:nvSpPr>
        <p:spPr>
          <a:xfrm>
            <a:off x="535234"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If the shape is wrong, the prompt was wrong. Correcting it round by round costs more than one better prompt would.</a:t>
            </a:r>
          </a:p>
        </p:txBody>
      </p:sp>
      <p:cxnSp>
        <p:nvCxnSpPr>
          <p:cNvPr id="28" name="vis:line"/>
          <p:cNvCxnSpPr/>
          <p:nvPr/>
        </p:nvCxnSpPr>
        <p:spPr>
          <a:xfrm>
            <a:off x="9675321" y="2889503"/>
            <a:ext cx="0" cy="274321"/>
          </a:xfrm>
          <a:prstGeom prst="line">
            <a:avLst/>
          </a:prstGeom>
          <a:ln w="19050">
            <a:solidFill>
              <a:srgbClr val="C9D1D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9" name="vis:chip"/>
          <p:cNvSpPr/>
          <p:nvPr/>
        </p:nvSpPr>
        <p:spPr>
          <a:xfrm>
            <a:off x="9282446" y="3026664"/>
            <a:ext cx="78574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chiptext"/>
          <p:cNvSpPr txBox="1"/>
          <p:nvPr/>
        </p:nvSpPr>
        <p:spPr>
          <a:xfrm>
            <a:off x="9437894" y="3054096"/>
            <a:ext cx="47485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YES</a:t>
            </a:r>
          </a:p>
        </p:txBody>
      </p:sp>
      <p:sp>
        <p:nvSpPr>
          <p:cNvPr id="31" name="vis:treebox"/>
          <p:cNvSpPr/>
          <p:nvPr/>
        </p:nvSpPr>
        <p:spPr>
          <a:xfrm>
            <a:off x="7438150" y="3493008"/>
            <a:ext cx="4474342" cy="2523744"/>
          </a:xfrm>
          <a:prstGeom prst="roundRect">
            <a:avLst>
              <a:gd name="adj" fmla="val 362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treebar"/>
          <p:cNvSpPr/>
          <p:nvPr/>
        </p:nvSpPr>
        <p:spPr>
          <a:xfrm>
            <a:off x="7438150" y="3493008"/>
            <a:ext cx="4474342" cy="685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7730026" y="3937040"/>
            <a:ext cx="66569" cy="66568"/>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796595" y="3860231"/>
            <a:ext cx="122895" cy="143377"/>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5" name="vis:treelabel"/>
          <p:cNvSpPr txBox="1"/>
          <p:nvPr/>
        </p:nvSpPr>
        <p:spPr>
          <a:xfrm>
            <a:off x="8059942" y="3749039"/>
            <a:ext cx="3614806" cy="365760"/>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Fix it</a:t>
            </a:r>
          </a:p>
        </p:txBody>
      </p:sp>
      <p:sp>
        <p:nvSpPr>
          <p:cNvPr id="36" name="vis:treedetail"/>
          <p:cNvSpPr txBox="1"/>
          <p:nvPr/>
        </p:nvSpPr>
        <p:spPr>
          <a:xfrm>
            <a:off x="7694182" y="4224528"/>
            <a:ext cx="3962278" cy="159105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Name what to keep, name what to change, supply the correct fact. One line of correction beats any amount of rewriting.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SEND, FIX OR BIN</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three-way test in practice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anel"/>
          <p:cNvSpPr/>
          <p:nvPr/>
        </p:nvSpPr>
        <p:spPr>
          <a:xfrm>
            <a:off x="502920"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anelspine"/>
          <p:cNvSpPr/>
          <p:nvPr/>
        </p:nvSpPr>
        <p:spPr>
          <a:xfrm>
            <a:off x="502920" y="1719072"/>
            <a:ext cx="68580" cy="429768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chip"/>
          <p:cNvSpPr/>
          <p:nvPr/>
        </p:nvSpPr>
        <p:spPr>
          <a:xfrm>
            <a:off x="777240" y="1956815"/>
            <a:ext cx="953389"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text"/>
          <p:cNvSpPr txBox="1"/>
          <p:nvPr/>
        </p:nvSpPr>
        <p:spPr>
          <a:xfrm>
            <a:off x="932688" y="1984247"/>
            <a:ext cx="642492"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FIX IT</a:t>
            </a:r>
          </a:p>
        </p:txBody>
      </p:sp>
      <p:sp>
        <p:nvSpPr>
          <p:cNvPr id="19" name="vis:paneltitle"/>
          <p:cNvSpPr txBox="1"/>
          <p:nvPr/>
        </p:nvSpPr>
        <p:spPr>
          <a:xfrm>
            <a:off x="777240"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Structure right, details wrong</a:t>
            </a:r>
          </a:p>
        </p:txBody>
      </p:sp>
      <p:cxnSp>
        <p:nvCxnSpPr>
          <p:cNvPr id="20" name="vis:icon"/>
          <p:cNvCxnSpPr/>
          <p:nvPr/>
        </p:nvCxnSpPr>
        <p:spPr>
          <a:xfrm>
            <a:off x="811987" y="3153765"/>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1" name="vis:icon"/>
          <p:cNvCxnSpPr/>
          <p:nvPr/>
        </p:nvCxnSpPr>
        <p:spPr>
          <a:xfrm flipV="1">
            <a:off x="859536" y="3098901"/>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2" name="vis:panelitem"/>
          <p:cNvSpPr txBox="1"/>
          <p:nvPr/>
        </p:nvSpPr>
        <p:spPr>
          <a:xfrm>
            <a:off x="1078992"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Correct shape, one wrong date</a:t>
            </a:r>
          </a:p>
        </p:txBody>
      </p:sp>
      <p:cxnSp>
        <p:nvCxnSpPr>
          <p:cNvPr id="23" name="vis:icon"/>
          <p:cNvCxnSpPr/>
          <p:nvPr/>
        </p:nvCxnSpPr>
        <p:spPr>
          <a:xfrm>
            <a:off x="811987" y="3848709"/>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flipV="1">
            <a:off x="859536" y="3793845"/>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5" name="vis:panelitem"/>
          <p:cNvSpPr txBox="1"/>
          <p:nvPr/>
        </p:nvSpPr>
        <p:spPr>
          <a:xfrm>
            <a:off x="1078992"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Right tone, forty words too long</a:t>
            </a:r>
          </a:p>
        </p:txBody>
      </p:sp>
      <p:cxnSp>
        <p:nvCxnSpPr>
          <p:cNvPr id="26" name="vis:icon"/>
          <p:cNvCxnSpPr/>
          <p:nvPr/>
        </p:nvCxnSpPr>
        <p:spPr>
          <a:xfrm>
            <a:off x="811987" y="4543653"/>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27" name="vis:icon"/>
          <p:cNvCxnSpPr/>
          <p:nvPr/>
        </p:nvCxnSpPr>
        <p:spPr>
          <a:xfrm flipV="1">
            <a:off x="859536" y="4488789"/>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28" name="vis:panelitem"/>
          <p:cNvSpPr txBox="1"/>
          <p:nvPr/>
        </p:nvSpPr>
        <p:spPr>
          <a:xfrm>
            <a:off x="1078992"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Good order, one invented line</a:t>
            </a:r>
          </a:p>
        </p:txBody>
      </p:sp>
      <p:cxnSp>
        <p:nvCxnSpPr>
          <p:cNvPr id="29" name="vis:icon"/>
          <p:cNvCxnSpPr/>
          <p:nvPr/>
        </p:nvCxnSpPr>
        <p:spPr>
          <a:xfrm>
            <a:off x="811987" y="5238597"/>
            <a:ext cx="47549" cy="47549"/>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cxnSp>
        <p:nvCxnSpPr>
          <p:cNvPr id="30" name="vis:icon"/>
          <p:cNvCxnSpPr/>
          <p:nvPr/>
        </p:nvCxnSpPr>
        <p:spPr>
          <a:xfrm flipV="1">
            <a:off x="859536" y="5183733"/>
            <a:ext cx="87782" cy="102413"/>
          </a:xfrm>
          <a:prstGeom prst="line">
            <a:avLst/>
          </a:prstGeom>
          <a:ln w="19050">
            <a:solidFill>
              <a:srgbClr val="1B7F4B"/>
            </a:solidFill>
          </a:ln>
          <a:effectLst/>
        </p:spPr>
        <p:style>
          <a:lnRef idx="2">
            <a:schemeClr val="accent1"/>
          </a:lnRef>
          <a:fillRef idx="0">
            <a:schemeClr val="accent1"/>
          </a:fillRef>
          <a:effectRef idx="1">
            <a:schemeClr val="accent1"/>
          </a:effectRef>
          <a:fontRef idx="minor">
            <a:schemeClr val="tx1"/>
          </a:fontRef>
        </p:style>
      </p:cxnSp>
      <p:sp>
        <p:nvSpPr>
          <p:cNvPr id="31" name="vis:panelitem"/>
          <p:cNvSpPr txBox="1"/>
          <p:nvPr/>
        </p:nvSpPr>
        <p:spPr>
          <a:xfrm>
            <a:off x="1078992"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Almost there, missing the closing ask</a:t>
            </a:r>
          </a:p>
        </p:txBody>
      </p:sp>
      <p:sp>
        <p:nvSpPr>
          <p:cNvPr id="32" name="vis:panel"/>
          <p:cNvSpPr/>
          <p:nvPr/>
        </p:nvSpPr>
        <p:spPr>
          <a:xfrm>
            <a:off x="6251295" y="1719072"/>
            <a:ext cx="5437479" cy="4297680"/>
          </a:xfrm>
          <a:prstGeom prst="roundRect">
            <a:avLst>
              <a:gd name="adj" fmla="val 212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panelspine"/>
          <p:cNvSpPr/>
          <p:nvPr/>
        </p:nvSpPr>
        <p:spPr>
          <a:xfrm>
            <a:off x="6251295" y="1719072"/>
            <a:ext cx="68580" cy="429768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chip"/>
          <p:cNvSpPr/>
          <p:nvPr/>
        </p:nvSpPr>
        <p:spPr>
          <a:xfrm>
            <a:off x="6525615" y="1956815"/>
            <a:ext cx="1581790"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5" name="vis:chiptext"/>
          <p:cNvSpPr txBox="1"/>
          <p:nvPr/>
        </p:nvSpPr>
        <p:spPr>
          <a:xfrm>
            <a:off x="6681063" y="1984247"/>
            <a:ext cx="1270894"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START AGAIN</a:t>
            </a:r>
          </a:p>
        </p:txBody>
      </p:sp>
      <p:sp>
        <p:nvSpPr>
          <p:cNvPr id="36" name="vis:paneltitle"/>
          <p:cNvSpPr txBox="1"/>
          <p:nvPr/>
        </p:nvSpPr>
        <p:spPr>
          <a:xfrm>
            <a:off x="6525615" y="2377439"/>
            <a:ext cx="4888839"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It answered a different question</a:t>
            </a:r>
          </a:p>
        </p:txBody>
      </p:sp>
      <p:cxnSp>
        <p:nvCxnSpPr>
          <p:cNvPr id="37" name="vis:icon"/>
          <p:cNvCxnSpPr/>
          <p:nvPr/>
        </p:nvCxnSpPr>
        <p:spPr>
          <a:xfrm>
            <a:off x="6567677" y="309158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flipH="1">
            <a:off x="6567677" y="3091586"/>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39" name="vis:panelitem"/>
          <p:cNvSpPr txBox="1"/>
          <p:nvPr/>
        </p:nvSpPr>
        <p:spPr>
          <a:xfrm>
            <a:off x="6827367" y="3017520"/>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Written for the wrong reader entirely</a:t>
            </a:r>
          </a:p>
        </p:txBody>
      </p:sp>
      <p:cxnSp>
        <p:nvCxnSpPr>
          <p:cNvPr id="40" name="vis:icon"/>
          <p:cNvCxnSpPr/>
          <p:nvPr/>
        </p:nvCxnSpPr>
        <p:spPr>
          <a:xfrm>
            <a:off x="6567677" y="378653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1" name="vis:icon"/>
          <p:cNvCxnSpPr/>
          <p:nvPr/>
        </p:nvCxnSpPr>
        <p:spPr>
          <a:xfrm flipH="1">
            <a:off x="6567677" y="3786530"/>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2" name="vis:panelitem"/>
          <p:cNvSpPr txBox="1"/>
          <p:nvPr/>
        </p:nvSpPr>
        <p:spPr>
          <a:xfrm>
            <a:off x="6827367" y="3712463"/>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General advice where you wanted specifics</a:t>
            </a:r>
          </a:p>
        </p:txBody>
      </p:sp>
      <p:cxnSp>
        <p:nvCxnSpPr>
          <p:cNvPr id="43" name="vis:icon"/>
          <p:cNvCxnSpPr/>
          <p:nvPr/>
        </p:nvCxnSpPr>
        <p:spPr>
          <a:xfrm>
            <a:off x="6567677" y="448147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4" name="vis:icon"/>
          <p:cNvCxnSpPr/>
          <p:nvPr/>
        </p:nvCxnSpPr>
        <p:spPr>
          <a:xfrm flipH="1">
            <a:off x="6567677" y="4481474"/>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5" name="vis:panelitem"/>
          <p:cNvSpPr txBox="1"/>
          <p:nvPr/>
        </p:nvSpPr>
        <p:spPr>
          <a:xfrm>
            <a:off x="6827367" y="4407407"/>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Ignored the constraint you cared most about</a:t>
            </a:r>
          </a:p>
        </p:txBody>
      </p:sp>
      <p:cxnSp>
        <p:nvCxnSpPr>
          <p:cNvPr id="46" name="vis:icon"/>
          <p:cNvCxnSpPr/>
          <p:nvPr/>
        </p:nvCxnSpPr>
        <p:spPr>
          <a:xfrm>
            <a:off x="6567677" y="517641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cxnSp>
        <p:nvCxnSpPr>
          <p:cNvPr id="47" name="vis:icon"/>
          <p:cNvCxnSpPr/>
          <p:nvPr/>
        </p:nvCxnSpPr>
        <p:spPr>
          <a:xfrm flipH="1">
            <a:off x="6567677" y="5176418"/>
            <a:ext cx="117044" cy="117043"/>
          </a:xfrm>
          <a:prstGeom prst="line">
            <a:avLst/>
          </a:prstGeom>
          <a:ln w="19050">
            <a:solidFill>
              <a:srgbClr val="C62828"/>
            </a:solidFill>
          </a:ln>
          <a:effectLst/>
        </p:spPr>
        <p:style>
          <a:lnRef idx="2">
            <a:schemeClr val="accent1"/>
          </a:lnRef>
          <a:fillRef idx="0">
            <a:schemeClr val="accent1"/>
          </a:fillRef>
          <a:effectRef idx="1">
            <a:schemeClr val="accent1"/>
          </a:effectRef>
          <a:fontRef idx="minor">
            <a:schemeClr val="tx1"/>
          </a:fontRef>
        </p:style>
      </p:cxnSp>
      <p:sp>
        <p:nvSpPr>
          <p:cNvPr id="48" name="vis:panelitem"/>
          <p:cNvSpPr txBox="1"/>
          <p:nvPr/>
        </p:nvSpPr>
        <p:spPr>
          <a:xfrm>
            <a:off x="6827367" y="5102351"/>
            <a:ext cx="4587087" cy="64008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2A3547"/>
                </a:solidFill>
                <a:latin typeface="Segoe UI"/>
              </a:rPr>
              <a:t>Three rounds in and still drifting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WRITING THE CORRECTION</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Keep, change, supply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romptcard"/>
          <p:cNvSpPr/>
          <p:nvPr/>
        </p:nvSpPr>
        <p:spPr>
          <a:xfrm>
            <a:off x="502920" y="1719072"/>
            <a:ext cx="6935230" cy="2146807"/>
          </a:xfrm>
          <a:prstGeom prst="roundRect">
            <a:avLst>
              <a:gd name="adj" fmla="val 4259"/>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6935230"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5577981"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5761592"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5780246"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5780246"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5780246"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5989461"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4416693"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correction pattern</a:t>
            </a:r>
          </a:p>
        </p:txBody>
      </p:sp>
      <p:sp>
        <p:nvSpPr>
          <p:cNvPr id="27" name="card:prompt"/>
          <p:cNvSpPr txBox="1"/>
          <p:nvPr/>
        </p:nvSpPr>
        <p:spPr>
          <a:xfrm>
            <a:off x="777240" y="2267712"/>
            <a:ext cx="6386590" cy="92455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Keep the structure, the tone and the first two paragraphs exactly as they are. Change two things: the review step in paragraph three does not exist, so remove it; and the deadline is 15 March, not 12 March. Reissue the whole thing.</a:t>
            </a:r>
          </a:p>
        </p:txBody>
      </p:sp>
      <p:sp>
        <p:nvSpPr>
          <p:cNvPr id="28" name="vis:promptcap"/>
          <p:cNvSpPr txBox="1"/>
          <p:nvPr/>
        </p:nvSpPr>
        <p:spPr>
          <a:xfrm>
            <a:off x="777240" y="3393440"/>
            <a:ext cx="6386590"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Keep, change, supply — in that order, every time.</a:t>
            </a:r>
          </a:p>
        </p:txBody>
      </p:sp>
      <p:sp>
        <p:nvSpPr>
          <p:cNvPr id="29" name="seclabel"/>
          <p:cNvSpPr txBox="1"/>
          <p:nvPr/>
        </p:nvSpPr>
        <p:spPr>
          <a:xfrm>
            <a:off x="7803910" y="1773936"/>
            <a:ext cx="3884864"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WHY THIS WORKS</a:t>
            </a:r>
          </a:p>
        </p:txBody>
      </p:sp>
      <p:cxnSp>
        <p:nvCxnSpPr>
          <p:cNvPr id="30" name="vis:icon"/>
          <p:cNvCxnSpPr/>
          <p:nvPr/>
        </p:nvCxnSpPr>
        <p:spPr>
          <a:xfrm>
            <a:off x="7850361" y="2317455"/>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1" name="vis:icon"/>
          <p:cNvCxnSpPr/>
          <p:nvPr/>
        </p:nvCxnSpPr>
        <p:spPr>
          <a:xfrm flipV="1">
            <a:off x="7902665" y="2257104"/>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2" name="cell:why"/>
          <p:cNvSpPr txBox="1"/>
          <p:nvPr/>
        </p:nvSpPr>
        <p:spPr>
          <a:xfrm>
            <a:off x="8187958" y="2157984"/>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Naming what to keep stops it rewriting the good part.</a:t>
            </a:r>
          </a:p>
        </p:txBody>
      </p:sp>
      <p:cxnSp>
        <p:nvCxnSpPr>
          <p:cNvPr id="33" name="vis:icon"/>
          <p:cNvCxnSpPr/>
          <p:nvPr/>
        </p:nvCxnSpPr>
        <p:spPr>
          <a:xfrm>
            <a:off x="7850361" y="3250143"/>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7902665" y="3189792"/>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5" name="cell:why"/>
          <p:cNvSpPr txBox="1"/>
          <p:nvPr/>
        </p:nvSpPr>
        <p:spPr>
          <a:xfrm>
            <a:off x="8187958" y="3090672"/>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Two specific changes work far better than "fix this".</a:t>
            </a:r>
          </a:p>
        </p:txBody>
      </p:sp>
      <p:cxnSp>
        <p:nvCxnSpPr>
          <p:cNvPr id="36" name="vis:icon"/>
          <p:cNvCxnSpPr/>
          <p:nvPr/>
        </p:nvCxnSpPr>
        <p:spPr>
          <a:xfrm>
            <a:off x="7850361" y="4182831"/>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7" name="vis:icon"/>
          <p:cNvCxnSpPr/>
          <p:nvPr/>
        </p:nvCxnSpPr>
        <p:spPr>
          <a:xfrm flipV="1">
            <a:off x="7902665" y="4122480"/>
            <a:ext cx="96561"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8" name="cell:why"/>
          <p:cNvSpPr txBox="1"/>
          <p:nvPr/>
        </p:nvSpPr>
        <p:spPr>
          <a:xfrm>
            <a:off x="8187958" y="4023360"/>
            <a:ext cx="3500816" cy="78638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Supplying the right date means nothing gets invented.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WRITING THE CORRECTION</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Corrections that do not work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mistake"/>
          <p:cNvSpPr/>
          <p:nvPr/>
        </p:nvSpPr>
        <p:spPr>
          <a:xfrm>
            <a:off x="502920" y="1719072"/>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203911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210769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"Make it better"</a:t>
            </a:r>
          </a:p>
        </p:txBody>
      </p:sp>
      <p:cxnSp>
        <p:nvCxnSpPr>
          <p:cNvPr id="20" name="vis:line"/>
          <p:cNvCxnSpPr/>
          <p:nvPr/>
        </p:nvCxnSpPr>
        <p:spPr>
          <a:xfrm>
            <a:off x="6008686" y="1865376"/>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There is no scale for better. You get a different draft with a different set of problems.</a:t>
            </a:r>
          </a:p>
        </p:txBody>
      </p:sp>
      <p:sp>
        <p:nvSpPr>
          <p:cNvPr id="22" name="vis:mistake"/>
          <p:cNvSpPr/>
          <p:nvPr/>
        </p:nvSpPr>
        <p:spPr>
          <a:xfrm>
            <a:off x="502920" y="2834639"/>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834639"/>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315467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3223260"/>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926079"/>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"That is wrong, try again"</a:t>
            </a:r>
          </a:p>
        </p:txBody>
      </p:sp>
      <p:cxnSp>
        <p:nvCxnSpPr>
          <p:cNvPr id="27" name="vis:line"/>
          <p:cNvCxnSpPr/>
          <p:nvPr/>
        </p:nvCxnSpPr>
        <p:spPr>
          <a:xfrm>
            <a:off x="6008686" y="2980944"/>
            <a:ext cx="0" cy="658367"/>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926079"/>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does not know which part. Usually it rewrites the part that was fine.</a:t>
            </a:r>
          </a:p>
        </p:txBody>
      </p:sp>
      <p:sp>
        <p:nvSpPr>
          <p:cNvPr id="29" name="vis:mistake"/>
          <p:cNvSpPr/>
          <p:nvPr/>
        </p:nvSpPr>
        <p:spPr>
          <a:xfrm>
            <a:off x="502920" y="3950208"/>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950208"/>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427024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433882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4041648"/>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"Shorter"</a:t>
            </a:r>
          </a:p>
        </p:txBody>
      </p:sp>
      <p:cxnSp>
        <p:nvCxnSpPr>
          <p:cNvPr id="34" name="vis:line"/>
          <p:cNvCxnSpPr/>
          <p:nvPr/>
        </p:nvCxnSpPr>
        <p:spPr>
          <a:xfrm>
            <a:off x="6008686" y="4096512"/>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4041648"/>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picks an amount. You will be back in a minute asking again. Give a number.</a:t>
            </a:r>
          </a:p>
        </p:txBody>
      </p:sp>
      <p:sp>
        <p:nvSpPr>
          <p:cNvPr id="36" name="vis:mistake"/>
          <p:cNvSpPr/>
          <p:nvPr/>
        </p:nvSpPr>
        <p:spPr>
          <a:xfrm>
            <a:off x="502920" y="5065776"/>
            <a:ext cx="11185855" cy="950976"/>
          </a:xfrm>
          <a:prstGeom prst="roundRect">
            <a:avLst>
              <a:gd name="adj" fmla="val 7692"/>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5065776"/>
            <a:ext cx="68580" cy="950976"/>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5385816"/>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5454396"/>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5157216"/>
            <a:ext cx="4682806" cy="768096"/>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Listing eight changes at once</a:t>
            </a:r>
          </a:p>
        </p:txBody>
      </p:sp>
      <p:cxnSp>
        <p:nvCxnSpPr>
          <p:cNvPr id="41" name="vis:line"/>
          <p:cNvCxnSpPr/>
          <p:nvPr/>
        </p:nvCxnSpPr>
        <p:spPr>
          <a:xfrm>
            <a:off x="6008686" y="5212080"/>
            <a:ext cx="0" cy="658368"/>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5157216"/>
            <a:ext cx="5296040" cy="768096"/>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first three land, the rest drift. Two or three per round is the reliable limit.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FLUENT BUT EMPTY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answer that dodges</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body:lead"/>
          <p:cNvSpPr txBox="1"/>
          <p:nvPr/>
        </p:nvSpPr>
        <p:spPr>
          <a:xfrm>
            <a:off x="502920" y="1719072"/>
            <a:ext cx="8343671" cy="822959"/>
          </a:xfrm>
          <a:prstGeom prst="rect">
            <a:avLst/>
          </a:prstGeom>
          <a:noFill/>
        </p:spPr>
        <p:txBody>
          <a:bodyPr wrap="square" lIns="0" rIns="0" tIns="0" bIns="0" anchor="t">
            <a:spAutoFit/>
          </a:bodyPr>
          <a:lstStyle/>
          <a:p>
            <a:pPr algn="l">
              <a:lnSpc>
                <a:spcPts val="2340"/>
              </a:lnSpc>
              <a:spcBef>
                <a:spcPts val="0"/>
              </a:spcBef>
              <a:spcAft>
                <a:spcPts val="0"/>
              </a:spcAft>
            </a:pPr>
            <a:r>
              <a:rPr sz="1800" b="0">
                <a:solidFill>
                  <a:srgbClr val="2A3547"/>
                </a:solidFill>
                <a:latin typeface="Segoe UI"/>
              </a:rPr>
              <a:t>Some answers are perfectly written and contain nothing. They are the easiest to miss.</a:t>
            </a:r>
          </a:p>
        </p:txBody>
      </p:sp>
      <p:sp>
        <p:nvSpPr>
          <p:cNvPr id="16" name="vis:outcard"/>
          <p:cNvSpPr/>
          <p:nvPr/>
        </p:nvSpPr>
        <p:spPr>
          <a:xfrm>
            <a:off x="502920" y="2706624"/>
            <a:ext cx="5410047" cy="2743200"/>
          </a:xfrm>
          <a:prstGeom prst="roundRect">
            <a:avLst>
              <a:gd name="adj" fmla="val 333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outspine"/>
          <p:cNvSpPr/>
          <p:nvPr/>
        </p:nvSpPr>
        <p:spPr>
          <a:xfrm>
            <a:off x="502920" y="2706624"/>
            <a:ext cx="68580" cy="274320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chip"/>
          <p:cNvSpPr/>
          <p:nvPr/>
        </p:nvSpPr>
        <p:spPr>
          <a:xfrm>
            <a:off x="758952" y="2907792"/>
            <a:ext cx="2109089" cy="274320"/>
          </a:xfrm>
          <a:prstGeom prst="roundRect">
            <a:avLst>
              <a:gd name="adj" fmla="val 16666"/>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vis:chiptext"/>
          <p:cNvSpPr txBox="1"/>
          <p:nvPr/>
        </p:nvSpPr>
        <p:spPr>
          <a:xfrm>
            <a:off x="914400" y="2935224"/>
            <a:ext cx="179819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FLUENT AND EMPTY</a:t>
            </a:r>
          </a:p>
        </p:txBody>
      </p:sp>
      <p:sp>
        <p:nvSpPr>
          <p:cNvPr id="20" name="vis:outbody"/>
          <p:cNvSpPr txBox="1"/>
          <p:nvPr/>
        </p:nvSpPr>
        <p:spPr>
          <a:xfrm>
            <a:off x="758952" y="3346704"/>
            <a:ext cx="4897983" cy="188366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 asked: "Should we accept a 45-day payment term?"</a:t>
            </a:r>
          </a:p>
          <a:p>
            <a:pPr algn="l">
              <a:lnSpc>
                <a:spcPts val="1690"/>
              </a:lnSpc>
              <a:spcBef>
                <a:spcPts val="0"/>
              </a:spcBef>
              <a:spcAft>
                <a:spcPts val="600"/>
              </a:spcAft>
            </a:pPr>
            <a:r>
              <a:rPr sz="1300" b="0">
                <a:solidFill>
                  <a:srgbClr val="2A3547"/>
                </a:solidFill>
                <a:latin typeface="Segoe UI"/>
              </a:rPr>
              <a:t>You got: three balanced paragraphs on the general considerations around payment terms.</a:t>
            </a:r>
          </a:p>
          <a:p>
            <a:pPr algn="l">
              <a:lnSpc>
                <a:spcPts val="1690"/>
              </a:lnSpc>
              <a:spcBef>
                <a:spcPts val="0"/>
              </a:spcBef>
              <a:spcAft>
                <a:spcPts val="600"/>
              </a:spcAft>
            </a:pPr>
            <a:r>
              <a:rPr sz="1300" b="0">
                <a:solidFill>
                  <a:srgbClr val="2A3547"/>
                </a:solidFill>
                <a:latin typeface="Segoe UI"/>
              </a:rPr>
              <a:t>Nothing in it referred to your cash position or your customer.</a:t>
            </a:r>
          </a:p>
        </p:txBody>
      </p:sp>
      <p:sp>
        <p:nvSpPr>
          <p:cNvPr id="21" name="vis:outcard"/>
          <p:cNvSpPr/>
          <p:nvPr/>
        </p:nvSpPr>
        <p:spPr>
          <a:xfrm>
            <a:off x="6278727" y="2706624"/>
            <a:ext cx="5410047" cy="2743200"/>
          </a:xfrm>
          <a:prstGeom prst="roundRect">
            <a:avLst>
              <a:gd name="adj" fmla="val 3333"/>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outspine"/>
          <p:cNvSpPr/>
          <p:nvPr/>
        </p:nvSpPr>
        <p:spPr>
          <a:xfrm>
            <a:off x="6278727" y="2706624"/>
            <a:ext cx="68580" cy="274320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chip"/>
          <p:cNvSpPr/>
          <p:nvPr/>
        </p:nvSpPr>
        <p:spPr>
          <a:xfrm>
            <a:off x="6534759" y="2907792"/>
            <a:ext cx="2168094" cy="274320"/>
          </a:xfrm>
          <a:prstGeom prst="roundRect">
            <a:avLst>
              <a:gd name="adj" fmla="val 16666"/>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chiptext"/>
          <p:cNvSpPr txBox="1"/>
          <p:nvPr/>
        </p:nvSpPr>
        <p:spPr>
          <a:xfrm>
            <a:off x="6690207" y="2935224"/>
            <a:ext cx="185719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FLUENT AND USEFUL</a:t>
            </a:r>
          </a:p>
        </p:txBody>
      </p:sp>
      <p:sp>
        <p:nvSpPr>
          <p:cNvPr id="25" name="vis:outbody"/>
          <p:cNvSpPr txBox="1"/>
          <p:nvPr/>
        </p:nvSpPr>
        <p:spPr>
          <a:xfrm>
            <a:off x="6534759" y="3346704"/>
            <a:ext cx="4897983" cy="188366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You asked again with your facts and a forced answer.</a:t>
            </a:r>
          </a:p>
          <a:p>
            <a:pPr algn="l">
              <a:lnSpc>
                <a:spcPts val="1690"/>
              </a:lnSpc>
              <a:spcBef>
                <a:spcPts val="0"/>
              </a:spcBef>
              <a:spcAft>
                <a:spcPts val="600"/>
              </a:spcAft>
            </a:pPr>
            <a:r>
              <a:rPr sz="1300" b="0">
                <a:solidFill>
                  <a:srgbClr val="2A3547"/>
                </a:solidFill>
                <a:latin typeface="Segoe UI"/>
              </a:rPr>
              <a:t>"Given the figures below, give one recommendation and two reasons. No balanced overview."</a:t>
            </a:r>
          </a:p>
          <a:p>
            <a:pPr algn="l">
              <a:lnSpc>
                <a:spcPts val="1690"/>
              </a:lnSpc>
              <a:spcBef>
                <a:spcPts val="0"/>
              </a:spcBef>
              <a:spcAft>
                <a:spcPts val="600"/>
              </a:spcAft>
            </a:pPr>
            <a:r>
              <a:rPr sz="1300" b="0">
                <a:solidFill>
                  <a:srgbClr val="2A3547"/>
                </a:solidFill>
                <a:latin typeface="Segoe UI"/>
              </a:rPr>
              <a:t>You got a position you could argue with, which is what you needed.</a:t>
            </a:r>
          </a:p>
        </p:txBody>
      </p:sp>
      <p:sp>
        <p:nvSpPr>
          <p:cNvPr id="26" name="cell:banote"/>
          <p:cNvSpPr txBox="1"/>
          <p:nvPr/>
        </p:nvSpPr>
        <p:spPr>
          <a:xfrm>
            <a:off x="502920" y="5632704"/>
            <a:ext cx="11185855" cy="34747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Balance is what it produces when it has nothing specific to say. Ask for a position and it stops.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FLUENT BUT EMPTY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Three signs of an empty answer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tile"/>
          <p:cNvSpPr/>
          <p:nvPr/>
        </p:nvSpPr>
        <p:spPr>
          <a:xfrm>
            <a:off x="502920"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badge"/>
          <p:cNvSpPr/>
          <p:nvPr/>
        </p:nvSpPr>
        <p:spPr>
          <a:xfrm>
            <a:off x="777240"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959212" y="2214193"/>
            <a:ext cx="47929" cy="47929"/>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44800" y="2238158"/>
            <a:ext cx="21225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959212" y="2316899"/>
            <a:ext cx="47929" cy="47929"/>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44800" y="2340863"/>
            <a:ext cx="21225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1" name="vis:icon"/>
          <p:cNvSpPr/>
          <p:nvPr/>
        </p:nvSpPr>
        <p:spPr>
          <a:xfrm>
            <a:off x="959212" y="2419604"/>
            <a:ext cx="47929" cy="47929"/>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1044800" y="2443569"/>
            <a:ext cx="212258"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3" name="cell:tilelabel"/>
          <p:cNvSpPr txBox="1"/>
          <p:nvPr/>
        </p:nvSpPr>
        <p:spPr>
          <a:xfrm>
            <a:off x="777240"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It lists considerations</a:t>
            </a:r>
          </a:p>
        </p:txBody>
      </p:sp>
      <p:sp>
        <p:nvSpPr>
          <p:cNvPr id="24" name="cell:tilesub"/>
          <p:cNvSpPr txBox="1"/>
          <p:nvPr/>
        </p:nvSpPr>
        <p:spPr>
          <a:xfrm>
            <a:off x="777240"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"There are several factors to weigh." You already knew that. You wanted the weighing.</a:t>
            </a:r>
          </a:p>
        </p:txBody>
      </p:sp>
      <p:sp>
        <p:nvSpPr>
          <p:cNvPr id="25" name="vis:tile"/>
          <p:cNvSpPr/>
          <p:nvPr/>
        </p:nvSpPr>
        <p:spPr>
          <a:xfrm>
            <a:off x="4322978"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badge"/>
          <p:cNvSpPr/>
          <p:nvPr/>
        </p:nvSpPr>
        <p:spPr>
          <a:xfrm>
            <a:off x="4597298"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789835" y="2222270"/>
            <a:ext cx="273294" cy="255534"/>
          </a:xfrm>
          <a:custGeom>
            <a:avLst/>
            <a:gdLst/>
            <a:ahLst/>
            <a:cxnLst/>
            <a:rect l="l" t="t" r="r" b="b"/>
            <a:pathLst>
              <a:path w="273294" h="255534">
                <a:moveTo>
                  <a:pt x="205117" y="0"/>
                </a:moveTo>
                <a:lnTo>
                  <a:pt x="239604" y="28302"/>
                </a:lnTo>
                <a:lnTo>
                  <a:pt x="263163" y="66189"/>
                </a:lnTo>
                <a:lnTo>
                  <a:pt x="273294" y="109637"/>
                </a:lnTo>
                <a:lnTo>
                  <a:pt x="268921" y="154036"/>
                </a:lnTo>
                <a:lnTo>
                  <a:pt x="250509" y="194674"/>
                </a:lnTo>
                <a:lnTo>
                  <a:pt x="220011" y="227236"/>
                </a:lnTo>
                <a:lnTo>
                  <a:pt x="180665" y="248267"/>
                </a:lnTo>
                <a:lnTo>
                  <a:pt x="136647" y="255534"/>
                </a:lnTo>
                <a:lnTo>
                  <a:pt x="92629" y="248267"/>
                </a:lnTo>
                <a:lnTo>
                  <a:pt x="53283" y="227236"/>
                </a:lnTo>
                <a:lnTo>
                  <a:pt x="22785" y="194674"/>
                </a:lnTo>
                <a:lnTo>
                  <a:pt x="4372" y="154036"/>
                </a:lnTo>
                <a:lnTo>
                  <a:pt x="0" y="109637"/>
                </a:lnTo>
                <a:lnTo>
                  <a:pt x="10130" y="66189"/>
                </a:lnTo>
                <a:lnTo>
                  <a:pt x="33690" y="28302"/>
                </a:lnTo>
                <a:lnTo>
                  <a:pt x="68177" y="0"/>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vis:icon"/>
          <p:cNvSpPr/>
          <p:nvPr/>
        </p:nvSpPr>
        <p:spPr>
          <a:xfrm>
            <a:off x="4842606" y="2195022"/>
            <a:ext cx="62992" cy="54091"/>
          </a:xfrm>
          <a:custGeom>
            <a:avLst/>
            <a:gdLst/>
            <a:ahLst/>
            <a:cxnLst/>
            <a:rect l="l" t="t" r="r" b="b"/>
            <a:pathLst>
              <a:path w="62992" h="54091">
                <a:moveTo>
                  <a:pt x="62992" y="0"/>
                </a:moveTo>
                <a:lnTo>
                  <a:pt x="30811" y="54091"/>
                </a:lnTo>
                <a:lnTo>
                  <a:pt x="0" y="685"/>
                </a:lnTo>
                <a:close/>
              </a:path>
            </a:pathLst>
          </a:cu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cell:tilelabel"/>
          <p:cNvSpPr txBox="1"/>
          <p:nvPr/>
        </p:nvSpPr>
        <p:spPr>
          <a:xfrm>
            <a:off x="4597298"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It restates your question</a:t>
            </a:r>
          </a:p>
        </p:txBody>
      </p:sp>
      <p:sp>
        <p:nvSpPr>
          <p:cNvPr id="30" name="cell:tilesub"/>
          <p:cNvSpPr txBox="1"/>
          <p:nvPr/>
        </p:nvSpPr>
        <p:spPr>
          <a:xfrm>
            <a:off x="4597298"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paragraph explaining what you asked is a paragraph with no answer in it.</a:t>
            </a:r>
          </a:p>
        </p:txBody>
      </p:sp>
      <p:sp>
        <p:nvSpPr>
          <p:cNvPr id="31" name="vis:tile"/>
          <p:cNvSpPr/>
          <p:nvPr/>
        </p:nvSpPr>
        <p:spPr>
          <a:xfrm>
            <a:off x="8143036" y="1719072"/>
            <a:ext cx="3545738" cy="2926080"/>
          </a:xfrm>
          <a:prstGeom prst="roundRect">
            <a:avLst>
              <a:gd name="adj" fmla="val 312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badge"/>
          <p:cNvSpPr/>
          <p:nvPr/>
        </p:nvSpPr>
        <p:spPr>
          <a:xfrm>
            <a:off x="8417356" y="2011679"/>
            <a:ext cx="658368" cy="658368"/>
          </a:xfrm>
          <a:prstGeom prst="roundRect">
            <a:avLst>
              <a:gd name="adj" fmla="val 13888"/>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icon"/>
          <p:cNvSpPr/>
          <p:nvPr/>
        </p:nvSpPr>
        <p:spPr>
          <a:xfrm>
            <a:off x="8602753" y="2217617"/>
            <a:ext cx="287575" cy="191716"/>
          </a:xfrm>
          <a:prstGeom prst="roundRect">
            <a:avLst>
              <a:gd name="adj" fmla="val 23847"/>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4" name="vis:icon"/>
          <p:cNvCxnSpPr/>
          <p:nvPr/>
        </p:nvCxnSpPr>
        <p:spPr>
          <a:xfrm flipH="1">
            <a:off x="8657529" y="2409334"/>
            <a:ext cx="13694" cy="7531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5" name="vis:icon"/>
          <p:cNvCxnSpPr/>
          <p:nvPr/>
        </p:nvCxnSpPr>
        <p:spPr>
          <a:xfrm flipV="1">
            <a:off x="8657529" y="2409334"/>
            <a:ext cx="75317" cy="7531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6" name="cell:tilelabel"/>
          <p:cNvSpPr txBox="1"/>
          <p:nvPr/>
        </p:nvSpPr>
        <p:spPr>
          <a:xfrm>
            <a:off x="8417356" y="2852928"/>
            <a:ext cx="2997098" cy="566928"/>
          </a:xfrm>
          <a:prstGeom prst="rect">
            <a:avLst/>
          </a:prstGeom>
          <a:noFill/>
        </p:spPr>
        <p:txBody>
          <a:bodyPr wrap="square" lIns="0" rIns="0" tIns="0" bIns="0" anchor="t">
            <a:spAutoFit/>
          </a:bodyPr>
          <a:lstStyle/>
          <a:p>
            <a:pPr algn="l">
              <a:lnSpc>
                <a:spcPts val="2210"/>
              </a:lnSpc>
              <a:spcBef>
                <a:spcPts val="0"/>
              </a:spcBef>
              <a:spcAft>
                <a:spcPts val="0"/>
              </a:spcAft>
            </a:pPr>
            <a:r>
              <a:rPr sz="1700" b="0">
                <a:solidFill>
                  <a:srgbClr val="101826"/>
                </a:solidFill>
                <a:latin typeface="Segoe UI Semibold"/>
              </a:rPr>
              <a:t>It hedges both ways</a:t>
            </a:r>
          </a:p>
        </p:txBody>
      </p:sp>
      <p:sp>
        <p:nvSpPr>
          <p:cNvPr id="37" name="cell:tilesub"/>
          <p:cNvSpPr txBox="1"/>
          <p:nvPr/>
        </p:nvSpPr>
        <p:spPr>
          <a:xfrm>
            <a:off x="8417356" y="3493008"/>
            <a:ext cx="2997098" cy="91440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"It depends on your circumstances" is true, useless and infinitely repeatable.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Do this now: score one answer</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epnum"/>
          <p:cNvSpPr/>
          <p:nvPr/>
        </p:nvSpPr>
        <p:spPr>
          <a:xfrm>
            <a:off x="502920" y="2027681"/>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stepnumtext"/>
          <p:cNvSpPr txBox="1"/>
          <p:nvPr/>
        </p:nvSpPr>
        <p:spPr>
          <a:xfrm>
            <a:off x="502920" y="2105406"/>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1</a:t>
            </a:r>
          </a:p>
        </p:txBody>
      </p:sp>
      <p:cxnSp>
        <p:nvCxnSpPr>
          <p:cNvPr id="17" name="vis:line"/>
          <p:cNvCxnSpPr/>
          <p:nvPr/>
        </p:nvCxnSpPr>
        <p:spPr>
          <a:xfrm>
            <a:off x="676656" y="2375154"/>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18" name="cell:step"/>
          <p:cNvSpPr txBox="1"/>
          <p:nvPr/>
        </p:nvSpPr>
        <p:spPr>
          <a:xfrm>
            <a:off x="1051560" y="1719072"/>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Open the last AI answer you actually used at work.</a:t>
            </a:r>
          </a:p>
        </p:txBody>
      </p:sp>
      <p:sp>
        <p:nvSpPr>
          <p:cNvPr id="19" name="vis:stepnum"/>
          <p:cNvSpPr/>
          <p:nvPr/>
        </p:nvSpPr>
        <p:spPr>
          <a:xfrm>
            <a:off x="502920" y="3138677"/>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stepnumtext"/>
          <p:cNvSpPr txBox="1"/>
          <p:nvPr/>
        </p:nvSpPr>
        <p:spPr>
          <a:xfrm>
            <a:off x="502920" y="3216401"/>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2</a:t>
            </a:r>
          </a:p>
        </p:txBody>
      </p:sp>
      <p:cxnSp>
        <p:nvCxnSpPr>
          <p:cNvPr id="21" name="vis:line"/>
          <p:cNvCxnSpPr/>
          <p:nvPr/>
        </p:nvCxnSpPr>
        <p:spPr>
          <a:xfrm>
            <a:off x="676656" y="3486150"/>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2" name="cell:step"/>
          <p:cNvSpPr txBox="1"/>
          <p:nvPr/>
        </p:nvSpPr>
        <p:spPr>
          <a:xfrm>
            <a:off x="1051560" y="2830068"/>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Run the four questions on it: traceable, complete, usable, safe.</a:t>
            </a:r>
          </a:p>
        </p:txBody>
      </p:sp>
      <p:sp>
        <p:nvSpPr>
          <p:cNvPr id="23" name="vis:stepnum"/>
          <p:cNvSpPr/>
          <p:nvPr/>
        </p:nvSpPr>
        <p:spPr>
          <a:xfrm>
            <a:off x="502920" y="4249674"/>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stepnumtext"/>
          <p:cNvSpPr txBox="1"/>
          <p:nvPr/>
        </p:nvSpPr>
        <p:spPr>
          <a:xfrm>
            <a:off x="502920" y="4327398"/>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3</a:t>
            </a:r>
          </a:p>
        </p:txBody>
      </p:sp>
      <p:cxnSp>
        <p:nvCxnSpPr>
          <p:cNvPr id="25" name="vis:line"/>
          <p:cNvCxnSpPr/>
          <p:nvPr/>
        </p:nvCxnSpPr>
        <p:spPr>
          <a:xfrm>
            <a:off x="676656" y="4597146"/>
            <a:ext cx="0" cy="76352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6" name="cell:step"/>
          <p:cNvSpPr txBox="1"/>
          <p:nvPr/>
        </p:nvSpPr>
        <p:spPr>
          <a:xfrm>
            <a:off x="1051560" y="3941064"/>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Mark any sentence you could not trace to your own input.</a:t>
            </a:r>
          </a:p>
        </p:txBody>
      </p:sp>
      <p:sp>
        <p:nvSpPr>
          <p:cNvPr id="27" name="vis:stepnum"/>
          <p:cNvSpPr/>
          <p:nvPr/>
        </p:nvSpPr>
        <p:spPr>
          <a:xfrm>
            <a:off x="502920" y="5360670"/>
            <a:ext cx="347472" cy="34747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stepnumtext"/>
          <p:cNvSpPr txBox="1"/>
          <p:nvPr/>
        </p:nvSpPr>
        <p:spPr>
          <a:xfrm>
            <a:off x="502920" y="5438394"/>
            <a:ext cx="347472" cy="219456"/>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4</a:t>
            </a:r>
          </a:p>
        </p:txBody>
      </p:sp>
      <p:sp>
        <p:nvSpPr>
          <p:cNvPr id="29" name="cell:step"/>
          <p:cNvSpPr txBox="1"/>
          <p:nvPr/>
        </p:nvSpPr>
        <p:spPr>
          <a:xfrm>
            <a:off x="1051560" y="5052060"/>
            <a:ext cx="5044287" cy="964692"/>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Send yourself the corrected version and notice how long it took.</a:t>
            </a:r>
          </a:p>
        </p:txBody>
      </p:sp>
      <p:sp>
        <p:nvSpPr>
          <p:cNvPr id="30" name="vis:promptcard"/>
          <p:cNvSpPr/>
          <p:nvPr/>
        </p:nvSpPr>
        <p:spPr>
          <a:xfrm>
            <a:off x="6461607" y="1719072"/>
            <a:ext cx="5227167" cy="2609087"/>
          </a:xfrm>
          <a:prstGeom prst="roundRect">
            <a:avLst>
              <a:gd name="adj" fmla="val 3504"/>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promptbar"/>
          <p:cNvSpPr/>
          <p:nvPr/>
        </p:nvSpPr>
        <p:spPr>
          <a:xfrm>
            <a:off x="6461607" y="1719072"/>
            <a:ext cx="5227167"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6698620"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flipH="1">
            <a:off x="6733733"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4" name="vis:icon"/>
          <p:cNvCxnSpPr/>
          <p:nvPr/>
        </p:nvCxnSpPr>
        <p:spPr>
          <a:xfrm flipV="1">
            <a:off x="6733733"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5" name="vis:copybtn"/>
          <p:cNvSpPr/>
          <p:nvPr/>
        </p:nvSpPr>
        <p:spPr>
          <a:xfrm>
            <a:off x="9828606"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icon"/>
          <p:cNvSpPr/>
          <p:nvPr/>
        </p:nvSpPr>
        <p:spPr>
          <a:xfrm>
            <a:off x="1001221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7" name="vis:icon"/>
          <p:cNvCxnSpPr/>
          <p:nvPr/>
        </p:nvCxnSpPr>
        <p:spPr>
          <a:xfrm>
            <a:off x="10030871" y="189536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8" name="vis:icon"/>
          <p:cNvCxnSpPr/>
          <p:nvPr/>
        </p:nvCxnSpPr>
        <p:spPr>
          <a:xfrm>
            <a:off x="10030871" y="1923348"/>
            <a:ext cx="43525"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a:off x="10030871"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40" name="vis:copytext"/>
          <p:cNvSpPr txBox="1"/>
          <p:nvPr/>
        </p:nvSpPr>
        <p:spPr>
          <a:xfrm>
            <a:off x="10240086"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41" name="vis:prompthdr"/>
          <p:cNvSpPr txBox="1"/>
          <p:nvPr/>
        </p:nvSpPr>
        <p:spPr>
          <a:xfrm>
            <a:off x="7010247" y="1828800"/>
            <a:ext cx="2708630"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42" name="card:prompt"/>
          <p:cNvSpPr txBox="1"/>
          <p:nvPr/>
        </p:nvSpPr>
        <p:spPr>
          <a:xfrm>
            <a:off x="6735927" y="2267712"/>
            <a:ext cx="4678527" cy="1386839"/>
          </a:xfrm>
          <a:prstGeom prst="rect">
            <a:avLst/>
          </a:prstGeom>
          <a:noFill/>
        </p:spPr>
        <p:txBody>
          <a:bodyPr wrap="square" lIns="0" rIns="0" tIns="0" bIns="0" anchor="t">
            <a:spAutoFit/>
          </a:bodyPr>
          <a:lstStyle/>
          <a:p>
            <a:pPr algn="l">
              <a:lnSpc>
                <a:spcPts val="1755"/>
              </a:lnSpc>
              <a:spcBef>
                <a:spcPts val="0"/>
              </a:spcBef>
              <a:spcAft>
                <a:spcPts val="0"/>
              </a:spcAft>
            </a:pPr>
            <a:r>
              <a:rPr sz="1350" b="0">
                <a:solidFill>
                  <a:srgbClr val="FFFFFF"/>
                </a:solidFill>
                <a:latin typeface="Consolas"/>
              </a:rPr>
              <a:t>Score your own last answer against four questions and reply in four short lines. One: which facts came from my message and which from you. Two: which part of my question you did not answer. Three: what you would need from me to improve it. Four: nothing else.</a:t>
            </a:r>
          </a:p>
        </p:txBody>
      </p:sp>
      <p:sp>
        <p:nvSpPr>
          <p:cNvPr id="43" name="vis:promptcap"/>
          <p:cNvSpPr txBox="1"/>
          <p:nvPr/>
        </p:nvSpPr>
        <p:spPr>
          <a:xfrm>
            <a:off x="6735927" y="3855719"/>
            <a:ext cx="4678527"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A useful second pass, not a substitute for reading it yourself.</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Comparing two answers fast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promptcard"/>
          <p:cNvSpPr/>
          <p:nvPr/>
        </p:nvSpPr>
        <p:spPr>
          <a:xfrm>
            <a:off x="502920" y="1719072"/>
            <a:ext cx="5816644" cy="2377440"/>
          </a:xfrm>
          <a:prstGeom prst="roundRect">
            <a:avLst>
              <a:gd name="adj" fmla="val 3846"/>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romptbar"/>
          <p:cNvSpPr/>
          <p:nvPr/>
        </p:nvSpPr>
        <p:spPr>
          <a:xfrm>
            <a:off x="502920" y="1719072"/>
            <a:ext cx="5816644" cy="402336"/>
          </a:xfrm>
          <a:prstGeom prst="rect">
            <a:avLst/>
          </a:prstGeom>
          <a:solidFill>
            <a:srgbClr val="2A354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739932" y="1841235"/>
            <a:ext cx="184343" cy="122895"/>
          </a:xfrm>
          <a:prstGeom prst="roundRect">
            <a:avLst>
              <a:gd name="adj" fmla="val 37202"/>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flipH="1">
            <a:off x="775045" y="1964131"/>
            <a:ext cx="8778"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775045" y="1964131"/>
            <a:ext cx="48280" cy="4828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copybtn"/>
          <p:cNvSpPr/>
          <p:nvPr/>
        </p:nvSpPr>
        <p:spPr>
          <a:xfrm>
            <a:off x="4459395" y="1792224"/>
            <a:ext cx="1677289" cy="256032"/>
          </a:xfrm>
          <a:prstGeom prst="roundRect">
            <a:avLst>
              <a:gd name="adj" fmla="val 1785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icon"/>
          <p:cNvSpPr/>
          <p:nvPr/>
        </p:nvSpPr>
        <p:spPr>
          <a:xfrm>
            <a:off x="4643007" y="1858060"/>
            <a:ext cx="80832" cy="130576"/>
          </a:xfrm>
          <a:prstGeom prst="roundRect">
            <a:avLst>
              <a:gd name="adj" fmla="val 50000"/>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4661660" y="189536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a:off x="4661660" y="1923348"/>
            <a:ext cx="43526"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4" name="vis:icon"/>
          <p:cNvCxnSpPr/>
          <p:nvPr/>
        </p:nvCxnSpPr>
        <p:spPr>
          <a:xfrm>
            <a:off x="4661660" y="1951329"/>
            <a:ext cx="31090"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5" name="vis:copytext"/>
          <p:cNvSpPr txBox="1"/>
          <p:nvPr/>
        </p:nvSpPr>
        <p:spPr>
          <a:xfrm>
            <a:off x="4870875" y="1851660"/>
            <a:ext cx="1064641"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Select + copy</a:t>
            </a:r>
          </a:p>
        </p:txBody>
      </p:sp>
      <p:sp>
        <p:nvSpPr>
          <p:cNvPr id="26" name="vis:prompthdr"/>
          <p:cNvSpPr txBox="1"/>
          <p:nvPr/>
        </p:nvSpPr>
        <p:spPr>
          <a:xfrm>
            <a:off x="1051560" y="1828800"/>
            <a:ext cx="3298107" cy="201168"/>
          </a:xfrm>
          <a:prstGeom prst="rect">
            <a:avLst/>
          </a:prstGeom>
          <a:noFill/>
        </p:spPr>
        <p:txBody>
          <a:bodyPr wrap="square" lIns="0" rIns="0" tIns="0" bIns="0" anchor="t">
            <a:spAutoFit/>
          </a:bodyPr>
          <a:lstStyle/>
          <a:p>
            <a:pPr algn="l">
              <a:lnSpc>
                <a:spcPts val="1560"/>
              </a:lnSpc>
              <a:spcBef>
                <a:spcPts val="0"/>
              </a:spcBef>
              <a:spcAft>
                <a:spcPts val="0"/>
              </a:spcAft>
            </a:pPr>
            <a:r>
              <a:rPr sz="1200" b="0" spc="60">
                <a:solidFill>
                  <a:srgbClr val="FFFFFF"/>
                </a:solidFill>
                <a:latin typeface="Segoe UI Semibold"/>
              </a:rPr>
              <a:t>Copy this prompt</a:t>
            </a:r>
          </a:p>
        </p:txBody>
      </p:sp>
      <p:sp>
        <p:nvSpPr>
          <p:cNvPr id="27" name="card:prompt"/>
          <p:cNvSpPr txBox="1"/>
          <p:nvPr/>
        </p:nvSpPr>
        <p:spPr>
          <a:xfrm>
            <a:off x="777240" y="2267712"/>
            <a:ext cx="5268004" cy="1155191"/>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Consolas"/>
              </a:rPr>
              <a:t>Below are two versions of the same message. List only the differences in substance — facts, commitments, dates and numbers. Ignore differences in wording and style completely. Use one line per difference.</a:t>
            </a:r>
          </a:p>
        </p:txBody>
      </p:sp>
      <p:sp>
        <p:nvSpPr>
          <p:cNvPr id="28" name="vis:promptcap"/>
          <p:cNvSpPr txBox="1"/>
          <p:nvPr/>
        </p:nvSpPr>
        <p:spPr>
          <a:xfrm>
            <a:off x="777240" y="3624072"/>
            <a:ext cx="5268004" cy="252984"/>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C9D1DE"/>
                </a:solidFill>
                <a:latin typeface="Segoe UI"/>
              </a:rPr>
              <a:t>Saves re-reading two long drafts line by line.</a:t>
            </a:r>
          </a:p>
        </p:txBody>
      </p:sp>
      <p:sp>
        <p:nvSpPr>
          <p:cNvPr id="29" name="vis:outcard"/>
          <p:cNvSpPr/>
          <p:nvPr/>
        </p:nvSpPr>
        <p:spPr>
          <a:xfrm>
            <a:off x="6685324" y="1719072"/>
            <a:ext cx="5003450" cy="2377440"/>
          </a:xfrm>
          <a:prstGeom prst="roundRect">
            <a:avLst>
              <a:gd name="adj" fmla="val 384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outspine"/>
          <p:cNvSpPr/>
          <p:nvPr/>
        </p:nvSpPr>
        <p:spPr>
          <a:xfrm>
            <a:off x="6685324" y="1719072"/>
            <a:ext cx="68580" cy="237744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ip"/>
          <p:cNvSpPr/>
          <p:nvPr/>
        </p:nvSpPr>
        <p:spPr>
          <a:xfrm>
            <a:off x="6941356" y="1920240"/>
            <a:ext cx="2087885"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text"/>
          <p:cNvSpPr txBox="1"/>
          <p:nvPr/>
        </p:nvSpPr>
        <p:spPr>
          <a:xfrm>
            <a:off x="7096804" y="1947672"/>
            <a:ext cx="1776989"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WHAT COMES BACK</a:t>
            </a:r>
          </a:p>
        </p:txBody>
      </p:sp>
      <p:sp>
        <p:nvSpPr>
          <p:cNvPr id="33" name="vis:outbody"/>
          <p:cNvSpPr txBox="1"/>
          <p:nvPr/>
        </p:nvSpPr>
        <p:spPr>
          <a:xfrm>
            <a:off x="6941356" y="2359152"/>
            <a:ext cx="4491386" cy="1517904"/>
          </a:xfrm>
          <a:prstGeom prst="rect">
            <a:avLst/>
          </a:prstGeom>
          <a:noFill/>
        </p:spPr>
        <p:txBody>
          <a:bodyPr wrap="square" lIns="0" rIns="0" tIns="0" bIns="0" anchor="t">
            <a:spAutoFit/>
          </a:bodyPr>
          <a:lstStyle/>
          <a:p>
            <a:pPr algn="l">
              <a:lnSpc>
                <a:spcPts val="1690"/>
              </a:lnSpc>
              <a:spcBef>
                <a:spcPts val="0"/>
              </a:spcBef>
              <a:spcAft>
                <a:spcPts val="600"/>
              </a:spcAft>
            </a:pPr>
            <a:r>
              <a:rPr sz="1300" b="0">
                <a:solidFill>
                  <a:srgbClr val="2A3547"/>
                </a:solidFill>
                <a:latin typeface="Segoe UI"/>
              </a:rPr>
              <a:t>A short list of the real differences, usually three or four.</a:t>
            </a:r>
          </a:p>
          <a:p>
            <a:pPr algn="l">
              <a:lnSpc>
                <a:spcPts val="1690"/>
              </a:lnSpc>
              <a:spcBef>
                <a:spcPts val="0"/>
              </a:spcBef>
              <a:spcAft>
                <a:spcPts val="600"/>
              </a:spcAft>
            </a:pPr>
            <a:r>
              <a:rPr sz="1300" b="0">
                <a:solidFill>
                  <a:srgbClr val="2A3547"/>
                </a:solidFill>
                <a:latin typeface="Segoe UI"/>
              </a:rPr>
              <a:t>No commentary about which version reads better.</a:t>
            </a:r>
          </a:p>
          <a:p>
            <a:pPr algn="l">
              <a:lnSpc>
                <a:spcPts val="1690"/>
              </a:lnSpc>
              <a:spcBef>
                <a:spcPts val="0"/>
              </a:spcBef>
              <a:spcAft>
                <a:spcPts val="600"/>
              </a:spcAft>
            </a:pPr>
            <a:r>
              <a:rPr sz="1300" b="0">
                <a:solidFill>
                  <a:srgbClr val="2A3547"/>
                </a:solidFill>
                <a:latin typeface="Segoe UI"/>
              </a:rPr>
              <a:t>You choose on substance in under a minute.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Four habits before you send</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checktile"/>
          <p:cNvSpPr/>
          <p:nvPr/>
        </p:nvSpPr>
        <p:spPr>
          <a:xfrm>
            <a:off x="502920"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checkdot"/>
          <p:cNvSpPr/>
          <p:nvPr/>
        </p:nvSpPr>
        <p:spPr>
          <a:xfrm>
            <a:off x="722376" y="2894076"/>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815279" y="3052998"/>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60450"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cell:checkitem"/>
          <p:cNvSpPr txBox="1"/>
          <p:nvPr/>
        </p:nvSpPr>
        <p:spPr>
          <a:xfrm>
            <a:off x="1161288"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Read the middle first. That is where problems hide.</a:t>
            </a:r>
          </a:p>
        </p:txBody>
      </p:sp>
      <p:sp>
        <p:nvSpPr>
          <p:cNvPr id="20" name="vis:checktile"/>
          <p:cNvSpPr/>
          <p:nvPr/>
        </p:nvSpPr>
        <p:spPr>
          <a:xfrm>
            <a:off x="6205575" y="2340864"/>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6425031" y="2894076"/>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6517934" y="3052998"/>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6563106" y="3000877"/>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6863943" y="2487168"/>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Point at each number and name its source out loud.</a:t>
            </a:r>
          </a:p>
        </p:txBody>
      </p:sp>
      <p:sp>
        <p:nvSpPr>
          <p:cNvPr id="25" name="vis:checktile"/>
          <p:cNvSpPr/>
          <p:nvPr/>
        </p:nvSpPr>
        <p:spPr>
          <a:xfrm>
            <a:off x="502920"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722376" y="4530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815279" y="4689774"/>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860450"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1161288"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Ask "did it answer my question, or a nearby one?"</a:t>
            </a:r>
          </a:p>
        </p:txBody>
      </p:sp>
      <p:sp>
        <p:nvSpPr>
          <p:cNvPr id="30" name="vis:checktile"/>
          <p:cNvSpPr/>
          <p:nvPr/>
        </p:nvSpPr>
        <p:spPr>
          <a:xfrm>
            <a:off x="6205575" y="3977639"/>
            <a:ext cx="5483199"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6425031" y="4530852"/>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6517934" y="4689774"/>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6563106" y="4637653"/>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6863943" y="4123944"/>
            <a:ext cx="4605375"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If it is round four, throw it away and rewrite the prompt.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round-four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alertband"/>
          <p:cNvSpPr/>
          <p:nvPr/>
        </p:nvSpPr>
        <p:spPr>
          <a:xfrm>
            <a:off x="0" y="1719072"/>
            <a:ext cx="12191695" cy="9601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If you are on the fourth correction, the prompt is the problem, not the answer.</a:t>
            </a:r>
          </a:p>
          <a:p>
            <a:pPr algn="l">
              <a:lnSpc>
                <a:spcPts val="1755"/>
              </a:lnSpc>
              <a:spcBef>
                <a:spcPts val="0"/>
              </a:spcBef>
              <a:spcAft>
                <a:spcPts val="0"/>
              </a:spcAft>
            </a:pPr>
            <a:r>
              <a:rPr sz="1350" b="0">
                <a:solidFill>
                  <a:srgbClr val="FFFFFF"/>
                </a:solidFill>
                <a:latin typeface="Segoe UI"/>
              </a:rPr>
              <a:t>Rewriting the prompt takes two minutes. Round five takes longer and usually fails too.</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icon"/>
          <p:cNvSpPr/>
          <p:nvPr/>
        </p:nvSpPr>
        <p:spPr>
          <a:xfrm>
            <a:off x="80138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3" name="vis:icon"/>
          <p:cNvCxnSpPr/>
          <p:nvPr/>
        </p:nvCxnSpPr>
        <p:spPr>
          <a:xfrm>
            <a:off x="823965" y="3608313"/>
            <a:ext cx="107717"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Round one to two — normal.</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icon"/>
          <p:cNvSpPr/>
          <p:nvPr/>
        </p:nvSpPr>
        <p:spPr>
          <a:xfrm>
            <a:off x="460315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8" name="vis:icon"/>
          <p:cNvCxnSpPr/>
          <p:nvPr/>
        </p:nvCxnSpPr>
        <p:spPr>
          <a:xfrm>
            <a:off x="462573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Round three — check your prompt.</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icon"/>
          <p:cNvSpPr/>
          <p:nvPr/>
        </p:nvSpPr>
        <p:spPr>
          <a:xfrm>
            <a:off x="8404920" y="3585728"/>
            <a:ext cx="152887" cy="152887"/>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8427506" y="3608313"/>
            <a:ext cx="107716" cy="107717"/>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Round four — start again.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Five mistakes people really make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mistake"/>
          <p:cNvSpPr/>
          <p:nvPr/>
        </p:nvSpPr>
        <p:spPr>
          <a:xfrm>
            <a:off x="502920" y="1719072"/>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mistakebar"/>
          <p:cNvSpPr/>
          <p:nvPr/>
        </p:nvSpPr>
        <p:spPr>
          <a:xfrm>
            <a:off x="502920" y="1719072"/>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mistakenum"/>
          <p:cNvSpPr/>
          <p:nvPr/>
        </p:nvSpPr>
        <p:spPr>
          <a:xfrm>
            <a:off x="740664" y="1927555"/>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vis:mistakenumtext"/>
          <p:cNvSpPr txBox="1"/>
          <p:nvPr/>
        </p:nvSpPr>
        <p:spPr>
          <a:xfrm>
            <a:off x="740664" y="1996135"/>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1</a:t>
            </a:r>
          </a:p>
        </p:txBody>
      </p:sp>
      <p:sp>
        <p:nvSpPr>
          <p:cNvPr id="19" name="cell:mistake"/>
          <p:cNvSpPr txBox="1"/>
          <p:nvPr/>
        </p:nvSpPr>
        <p:spPr>
          <a:xfrm>
            <a:off x="1179576" y="1810512"/>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Judging an answer by how well it reads</a:t>
            </a:r>
          </a:p>
        </p:txBody>
      </p:sp>
      <p:cxnSp>
        <p:nvCxnSpPr>
          <p:cNvPr id="20" name="vis:line"/>
          <p:cNvCxnSpPr/>
          <p:nvPr/>
        </p:nvCxnSpPr>
        <p:spPr>
          <a:xfrm>
            <a:off x="6008686" y="1865376"/>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1" name="cell:mistakewhy"/>
          <p:cNvSpPr txBox="1"/>
          <p:nvPr/>
        </p:nvSpPr>
        <p:spPr>
          <a:xfrm>
            <a:off x="6173278" y="1810512"/>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Fluency is constant. It tells you nothing about whether the content is right.</a:t>
            </a:r>
          </a:p>
        </p:txBody>
      </p:sp>
      <p:sp>
        <p:nvSpPr>
          <p:cNvPr id="22" name="vis:mistake"/>
          <p:cNvSpPr/>
          <p:nvPr/>
        </p:nvSpPr>
        <p:spPr>
          <a:xfrm>
            <a:off x="502920" y="2611526"/>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mistakebar"/>
          <p:cNvSpPr/>
          <p:nvPr/>
        </p:nvSpPr>
        <p:spPr>
          <a:xfrm>
            <a:off x="502920" y="2611526"/>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mistakenum"/>
          <p:cNvSpPr/>
          <p:nvPr/>
        </p:nvSpPr>
        <p:spPr>
          <a:xfrm>
            <a:off x="740664" y="2820009"/>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mistakenumtext"/>
          <p:cNvSpPr txBox="1"/>
          <p:nvPr/>
        </p:nvSpPr>
        <p:spPr>
          <a:xfrm>
            <a:off x="740664" y="2888589"/>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2</a:t>
            </a:r>
          </a:p>
        </p:txBody>
      </p:sp>
      <p:sp>
        <p:nvSpPr>
          <p:cNvPr id="26" name="cell:mistake"/>
          <p:cNvSpPr txBox="1"/>
          <p:nvPr/>
        </p:nvSpPr>
        <p:spPr>
          <a:xfrm>
            <a:off x="1179576" y="2702966"/>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Checking the first and last paragraphs</a:t>
            </a:r>
          </a:p>
        </p:txBody>
      </p:sp>
      <p:cxnSp>
        <p:nvCxnSpPr>
          <p:cNvPr id="27" name="vis:line"/>
          <p:cNvCxnSpPr/>
          <p:nvPr/>
        </p:nvCxnSpPr>
        <p:spPr>
          <a:xfrm>
            <a:off x="6008686" y="2757830"/>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28" name="cell:mistakewhy"/>
          <p:cNvSpPr txBox="1"/>
          <p:nvPr/>
        </p:nvSpPr>
        <p:spPr>
          <a:xfrm>
            <a:off x="6173278" y="2702966"/>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The invented line is almost always in the middle, where attention drops.</a:t>
            </a:r>
          </a:p>
        </p:txBody>
      </p:sp>
      <p:sp>
        <p:nvSpPr>
          <p:cNvPr id="29" name="vis:mistake"/>
          <p:cNvSpPr/>
          <p:nvPr/>
        </p:nvSpPr>
        <p:spPr>
          <a:xfrm>
            <a:off x="502920" y="3503980"/>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mistakebar"/>
          <p:cNvSpPr/>
          <p:nvPr/>
        </p:nvSpPr>
        <p:spPr>
          <a:xfrm>
            <a:off x="502920" y="3503980"/>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mistakenum"/>
          <p:cNvSpPr/>
          <p:nvPr/>
        </p:nvSpPr>
        <p:spPr>
          <a:xfrm>
            <a:off x="740664" y="3712463"/>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mistakenumtext"/>
          <p:cNvSpPr txBox="1"/>
          <p:nvPr/>
        </p:nvSpPr>
        <p:spPr>
          <a:xfrm>
            <a:off x="740664" y="3781044"/>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3</a:t>
            </a:r>
          </a:p>
        </p:txBody>
      </p:sp>
      <p:sp>
        <p:nvSpPr>
          <p:cNvPr id="33" name="cell:mistake"/>
          <p:cNvSpPr txBox="1"/>
          <p:nvPr/>
        </p:nvSpPr>
        <p:spPr>
          <a:xfrm>
            <a:off x="1179576" y="3595420"/>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Accepting a balanced overview as an answer</a:t>
            </a:r>
          </a:p>
        </p:txBody>
      </p:sp>
      <p:cxnSp>
        <p:nvCxnSpPr>
          <p:cNvPr id="34" name="vis:line"/>
          <p:cNvCxnSpPr/>
          <p:nvPr/>
        </p:nvCxnSpPr>
        <p:spPr>
          <a:xfrm>
            <a:off x="6008686" y="3650284"/>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35" name="cell:mistakewhy"/>
          <p:cNvSpPr txBox="1"/>
          <p:nvPr/>
        </p:nvSpPr>
        <p:spPr>
          <a:xfrm>
            <a:off x="6173278" y="3595420"/>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Balance is the default when it has nothing specific. Ask for a position.</a:t>
            </a:r>
          </a:p>
        </p:txBody>
      </p:sp>
      <p:sp>
        <p:nvSpPr>
          <p:cNvPr id="36" name="vis:mistake"/>
          <p:cNvSpPr/>
          <p:nvPr/>
        </p:nvSpPr>
        <p:spPr>
          <a:xfrm>
            <a:off x="502920" y="4396435"/>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mistakebar"/>
          <p:cNvSpPr/>
          <p:nvPr/>
        </p:nvSpPr>
        <p:spPr>
          <a:xfrm>
            <a:off x="502920" y="4396435"/>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vis:mistakenum"/>
          <p:cNvSpPr/>
          <p:nvPr/>
        </p:nvSpPr>
        <p:spPr>
          <a:xfrm>
            <a:off x="740664" y="4604918"/>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9" name="vis:mistakenumtext"/>
          <p:cNvSpPr txBox="1"/>
          <p:nvPr/>
        </p:nvSpPr>
        <p:spPr>
          <a:xfrm>
            <a:off x="740664" y="4673498"/>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4</a:t>
            </a:r>
          </a:p>
        </p:txBody>
      </p:sp>
      <p:sp>
        <p:nvSpPr>
          <p:cNvPr id="40" name="cell:mistake"/>
          <p:cNvSpPr txBox="1"/>
          <p:nvPr/>
        </p:nvSpPr>
        <p:spPr>
          <a:xfrm>
            <a:off x="1179576" y="4487875"/>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Correcting the same draft five times</a:t>
            </a:r>
          </a:p>
        </p:txBody>
      </p:sp>
      <p:cxnSp>
        <p:nvCxnSpPr>
          <p:cNvPr id="41" name="vis:line"/>
          <p:cNvCxnSpPr/>
          <p:nvPr/>
        </p:nvCxnSpPr>
        <p:spPr>
          <a:xfrm>
            <a:off x="6008686" y="4542739"/>
            <a:ext cx="0" cy="435254"/>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2" name="cell:mistakewhy"/>
          <p:cNvSpPr txBox="1"/>
          <p:nvPr/>
        </p:nvSpPr>
        <p:spPr>
          <a:xfrm>
            <a:off x="6173278" y="4487875"/>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Three rounds of drift means the prompt was wrong. Fix that instead.</a:t>
            </a:r>
          </a:p>
        </p:txBody>
      </p:sp>
      <p:sp>
        <p:nvSpPr>
          <p:cNvPr id="43" name="vis:mistake"/>
          <p:cNvSpPr/>
          <p:nvPr/>
        </p:nvSpPr>
        <p:spPr>
          <a:xfrm>
            <a:off x="502920" y="5288889"/>
            <a:ext cx="11185855" cy="727862"/>
          </a:xfrm>
          <a:prstGeom prst="roundRect">
            <a:avLst>
              <a:gd name="adj" fmla="val 10050"/>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4" name="vis:mistakebar"/>
          <p:cNvSpPr/>
          <p:nvPr/>
        </p:nvSpPr>
        <p:spPr>
          <a:xfrm>
            <a:off x="502920" y="5288889"/>
            <a:ext cx="68580" cy="727862"/>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mistakenum"/>
          <p:cNvSpPr/>
          <p:nvPr/>
        </p:nvSpPr>
        <p:spPr>
          <a:xfrm>
            <a:off x="740664" y="5497372"/>
            <a:ext cx="310896" cy="310896"/>
          </a:xfrm>
          <a:prstGeom prst="ellipse">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6" name="vis:mistakenumtext"/>
          <p:cNvSpPr txBox="1"/>
          <p:nvPr/>
        </p:nvSpPr>
        <p:spPr>
          <a:xfrm>
            <a:off x="740664" y="5565952"/>
            <a:ext cx="310896" cy="201168"/>
          </a:xfrm>
          <a:prstGeom prst="rect">
            <a:avLst/>
          </a:prstGeom>
          <a:noFill/>
        </p:spPr>
        <p:txBody>
          <a:bodyPr wrap="square" lIns="0" rIns="0" tIns="0" bIns="0" anchor="t">
            <a:spAutoFit/>
          </a:bodyPr>
          <a:lstStyle/>
          <a:p>
            <a:pPr algn="ctr">
              <a:lnSpc>
                <a:spcPts val="1560"/>
              </a:lnSpc>
              <a:spcBef>
                <a:spcPts val="0"/>
              </a:spcBef>
              <a:spcAft>
                <a:spcPts val="0"/>
              </a:spcAft>
            </a:pPr>
            <a:r>
              <a:rPr sz="1200" b="0">
                <a:solidFill>
                  <a:srgbClr val="FFFFFF"/>
                </a:solidFill>
                <a:latin typeface="Segoe UI Semibold"/>
              </a:rPr>
              <a:t>5</a:t>
            </a:r>
          </a:p>
        </p:txBody>
      </p:sp>
      <p:sp>
        <p:nvSpPr>
          <p:cNvPr id="47" name="cell:mistake"/>
          <p:cNvSpPr txBox="1"/>
          <p:nvPr/>
        </p:nvSpPr>
        <p:spPr>
          <a:xfrm>
            <a:off x="1179576" y="5380329"/>
            <a:ext cx="4682806" cy="54498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101826"/>
                </a:solidFill>
                <a:latin typeface="Segoe UI Semibold"/>
              </a:rPr>
              <a:t>Asking the tool whether its answer is good</a:t>
            </a:r>
          </a:p>
        </p:txBody>
      </p:sp>
      <p:cxnSp>
        <p:nvCxnSpPr>
          <p:cNvPr id="48" name="vis:line"/>
          <p:cNvCxnSpPr/>
          <p:nvPr/>
        </p:nvCxnSpPr>
        <p:spPr>
          <a:xfrm>
            <a:off x="6008686" y="5435193"/>
            <a:ext cx="0" cy="435255"/>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49" name="cell:mistakewhy"/>
          <p:cNvSpPr txBox="1"/>
          <p:nvPr/>
        </p:nvSpPr>
        <p:spPr>
          <a:xfrm>
            <a:off x="6173278" y="5380329"/>
            <a:ext cx="5296040" cy="544982"/>
          </a:xfrm>
          <a:prstGeom prst="rect">
            <a:avLst/>
          </a:prstGeom>
          <a:noFill/>
        </p:spPr>
        <p:txBody>
          <a:bodyPr wrap="square" lIns="0" rIns="0" tIns="0" bIns="0" anchor="ctr">
            <a:spAutoFit/>
          </a:bodyPr>
          <a:lstStyle/>
          <a:p>
            <a:pPr algn="l">
              <a:lnSpc>
                <a:spcPts val="1690"/>
              </a:lnSpc>
              <a:spcBef>
                <a:spcPts val="0"/>
              </a:spcBef>
              <a:spcAft>
                <a:spcPts val="0"/>
              </a:spcAft>
            </a:pPr>
            <a:r>
              <a:rPr sz="1300" b="0">
                <a:solidFill>
                  <a:srgbClr val="5B6779"/>
                </a:solidFill>
                <a:latin typeface="Segoe UI"/>
              </a:rPr>
              <a:t>It will say yes, at length, in the same confident voice.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DO THIS NOW</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The evaluation rule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alertband"/>
          <p:cNvSpPr/>
          <p:nvPr/>
        </p:nvSpPr>
        <p:spPr>
          <a:xfrm>
            <a:off x="0" y="1719072"/>
            <a:ext cx="12191695" cy="96012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519744" y="2014057"/>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vis:icon"/>
          <p:cNvCxnSpPr/>
          <p:nvPr/>
        </p:nvCxnSpPr>
        <p:spPr>
          <a:xfrm>
            <a:off x="713232" y="2148657"/>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692200" y="2291669"/>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9" name="body:alert"/>
          <p:cNvSpPr txBox="1"/>
          <p:nvPr/>
        </p:nvSpPr>
        <p:spPr>
          <a:xfrm>
            <a:off x="1179576" y="1901952"/>
            <a:ext cx="10509199" cy="594360"/>
          </a:xfrm>
          <a:prstGeom prst="rect">
            <a:avLst/>
          </a:prstGeom>
          <a:noFill/>
        </p:spPr>
        <p:txBody>
          <a:bodyPr wrap="square" lIns="0" rIns="0" tIns="0" bIns="0" anchor="ctr">
            <a:spAutoFit/>
          </a:bodyPr>
          <a:lstStyle/>
          <a:p>
            <a:pPr algn="l">
              <a:lnSpc>
                <a:spcPts val="2470"/>
              </a:lnSpc>
              <a:spcBef>
                <a:spcPts val="0"/>
              </a:spcBef>
              <a:spcAft>
                <a:spcPts val="400"/>
              </a:spcAft>
            </a:pPr>
            <a:r>
              <a:rPr sz="1900" b="0">
                <a:solidFill>
                  <a:srgbClr val="FFFFFF"/>
                </a:solidFill>
                <a:latin typeface="Segoe UI Semibold"/>
              </a:rPr>
              <a:t>Judge it on what it says, never on how well it says it.</a:t>
            </a:r>
          </a:p>
          <a:p>
            <a:pPr algn="l">
              <a:lnSpc>
                <a:spcPts val="1755"/>
              </a:lnSpc>
              <a:spcBef>
                <a:spcPts val="0"/>
              </a:spcBef>
              <a:spcAft>
                <a:spcPts val="0"/>
              </a:spcAft>
            </a:pPr>
            <a:r>
              <a:rPr sz="1350" b="0">
                <a:solidFill>
                  <a:srgbClr val="FFFFFF"/>
                </a:solidFill>
                <a:latin typeface="Segoe UI"/>
              </a:rPr>
              <a:t>Every AI answer is well written. That is the one signal you can safely ignore.</a:t>
            </a:r>
          </a:p>
        </p:txBody>
      </p:sp>
      <p:sp>
        <p:nvSpPr>
          <p:cNvPr id="20" name="vis:checktile"/>
          <p:cNvSpPr/>
          <p:nvPr/>
        </p:nvSpPr>
        <p:spPr>
          <a:xfrm>
            <a:off x="50292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eckdot"/>
          <p:cNvSpPr/>
          <p:nvPr/>
        </p:nvSpPr>
        <p:spPr>
          <a:xfrm>
            <a:off x="72237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2" name="vis:icon"/>
          <p:cNvCxnSpPr/>
          <p:nvPr/>
        </p:nvCxnSpPr>
        <p:spPr>
          <a:xfrm>
            <a:off x="81527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3" name="vis:icon"/>
          <p:cNvCxnSpPr/>
          <p:nvPr/>
        </p:nvCxnSpPr>
        <p:spPr>
          <a:xfrm flipV="1">
            <a:off x="860450"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4" name="cell:checkitem"/>
          <p:cNvSpPr txBox="1"/>
          <p:nvPr/>
        </p:nvSpPr>
        <p:spPr>
          <a:xfrm>
            <a:off x="116128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Traceable and complete — send it.</a:t>
            </a:r>
          </a:p>
        </p:txBody>
      </p:sp>
      <p:sp>
        <p:nvSpPr>
          <p:cNvPr id="25" name="vis:checktile"/>
          <p:cNvSpPr/>
          <p:nvPr/>
        </p:nvSpPr>
        <p:spPr>
          <a:xfrm>
            <a:off x="430469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eckdot"/>
          <p:cNvSpPr/>
          <p:nvPr/>
        </p:nvSpPr>
        <p:spPr>
          <a:xfrm>
            <a:off x="452414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4617049" y="3665646"/>
            <a:ext cx="45171"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28" name="vis:icon"/>
          <p:cNvCxnSpPr/>
          <p:nvPr/>
        </p:nvCxnSpPr>
        <p:spPr>
          <a:xfrm flipV="1">
            <a:off x="4662220" y="3613525"/>
            <a:ext cx="83394"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9" name="cell:checkitem"/>
          <p:cNvSpPr txBox="1"/>
          <p:nvPr/>
        </p:nvSpPr>
        <p:spPr>
          <a:xfrm>
            <a:off x="496305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Right shape, wrong details — fix it.</a:t>
            </a:r>
          </a:p>
        </p:txBody>
      </p:sp>
      <p:sp>
        <p:nvSpPr>
          <p:cNvPr id="30" name="vis:checktile"/>
          <p:cNvSpPr/>
          <p:nvPr/>
        </p:nvSpPr>
        <p:spPr>
          <a:xfrm>
            <a:off x="8106460" y="2953512"/>
            <a:ext cx="3582314" cy="1417320"/>
          </a:xfrm>
          <a:prstGeom prst="roundRect">
            <a:avLst>
              <a:gd name="adj" fmla="val 6451"/>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vis:checkdot"/>
          <p:cNvSpPr/>
          <p:nvPr/>
        </p:nvSpPr>
        <p:spPr>
          <a:xfrm>
            <a:off x="8325916" y="3506724"/>
            <a:ext cx="310896" cy="31089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2" name="vis:icon"/>
          <p:cNvCxnSpPr/>
          <p:nvPr/>
        </p:nvCxnSpPr>
        <p:spPr>
          <a:xfrm>
            <a:off x="8418819" y="3665646"/>
            <a:ext cx="45172" cy="4517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63991" y="3613525"/>
            <a:ext cx="83393" cy="97293"/>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34" name="cell:checkitem"/>
          <p:cNvSpPr txBox="1"/>
          <p:nvPr/>
        </p:nvSpPr>
        <p:spPr>
          <a:xfrm>
            <a:off x="8764828" y="3099816"/>
            <a:ext cx="2704490" cy="1124712"/>
          </a:xfrm>
          <a:prstGeom prst="rect">
            <a:avLst/>
          </a:prstGeom>
          <a:noFill/>
        </p:spPr>
        <p:txBody>
          <a:bodyPr wrap="square" lIns="0" rIns="0" tIns="0" bIns="0" anchor="ctr">
            <a:spAutoFit/>
          </a:bodyPr>
          <a:lstStyle/>
          <a:p>
            <a:pPr algn="l">
              <a:lnSpc>
                <a:spcPts val="1820"/>
              </a:lnSpc>
              <a:spcBef>
                <a:spcPts val="0"/>
              </a:spcBef>
              <a:spcAft>
                <a:spcPts val="0"/>
              </a:spcAft>
            </a:pPr>
            <a:r>
              <a:rPr sz="1400" b="0">
                <a:solidFill>
                  <a:srgbClr val="2A3547"/>
                </a:solidFill>
                <a:latin typeface="Segoe UI"/>
              </a:rPr>
              <a:t>Wrong question answered — bin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CHOOSE WHAT YOU'D DO</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Friday, 3:45 pm</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ccard"/>
          <p:cNvSpPr/>
          <p:nvPr/>
        </p:nvSpPr>
        <p:spPr>
          <a:xfrm>
            <a:off x="502920" y="1719072"/>
            <a:ext cx="11185855" cy="1097280"/>
          </a:xfrm>
          <a:prstGeom prst="roundRect">
            <a:avLst>
              <a:gd name="adj" fmla="val 8333"/>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942929" y="2063252"/>
            <a:ext cx="180685" cy="180685"/>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icon"/>
          <p:cNvSpPr/>
          <p:nvPr/>
        </p:nvSpPr>
        <p:spPr>
          <a:xfrm>
            <a:off x="843076" y="2315260"/>
            <a:ext cx="380391" cy="166421"/>
          </a:xfrm>
          <a:custGeom>
            <a:avLst/>
            <a:gdLst/>
            <a:ahLst/>
            <a:cxnLst/>
            <a:rect l="l" t="t" r="r" b="b"/>
            <a:pathLst>
              <a:path w="380391" h="166421">
                <a:moveTo>
                  <a:pt x="0" y="166421"/>
                </a:moveTo>
                <a:lnTo>
                  <a:pt x="28530" y="0"/>
                </a:lnTo>
                <a:lnTo>
                  <a:pt x="351861" y="0"/>
                </a:lnTo>
                <a:lnTo>
                  <a:pt x="380391" y="166421"/>
                </a:lnTo>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situation"/>
          <p:cNvSpPr txBox="1"/>
          <p:nvPr/>
        </p:nvSpPr>
        <p:spPr>
          <a:xfrm>
            <a:off x="1472184" y="1901952"/>
            <a:ext cx="9905695" cy="731520"/>
          </a:xfrm>
          <a:prstGeom prst="rect">
            <a:avLst/>
          </a:prstGeom>
          <a:noFill/>
        </p:spPr>
        <p:txBody>
          <a:bodyPr wrap="square" lIns="0" rIns="0" tIns="0" bIns="0" anchor="ctr">
            <a:spAutoFit/>
          </a:bodyPr>
          <a:lstStyle/>
          <a:p>
            <a:pPr algn="l">
              <a:lnSpc>
                <a:spcPts val="2340"/>
              </a:lnSpc>
              <a:spcBef>
                <a:spcPts val="0"/>
              </a:spcBef>
              <a:spcAft>
                <a:spcPts val="0"/>
              </a:spcAft>
            </a:pPr>
            <a:r>
              <a:rPr sz="1800" b="0">
                <a:solidFill>
                  <a:srgbClr val="FFFFFF"/>
                </a:solidFill>
                <a:latin typeface="Segoe UI"/>
              </a:rPr>
              <a:t>You asked for a process note for a new joiner. The draft is clear and confident. It also describes a sign-off step you do not recognise, in paragraph three.</a:t>
            </a:r>
          </a:p>
        </p:txBody>
      </p:sp>
      <p:sp>
        <p:nvSpPr>
          <p:cNvPr id="19" name="quiz:choice">
            <a:hlinkClick action="ppaction://hlinksldjump" r:id="rId3"/>
          </p:cNvPr>
          <p:cNvSpPr/>
          <p:nvPr/>
        </p:nvSpPr>
        <p:spPr>
          <a:xfrm>
            <a:off x="502920"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
          <p:cNvSpPr/>
          <p:nvPr/>
        </p:nvSpPr>
        <p:spPr>
          <a:xfrm>
            <a:off x="758952" y="3364991"/>
            <a:ext cx="1296924"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chiptext"/>
          <p:cNvSpPr txBox="1"/>
          <p:nvPr/>
        </p:nvSpPr>
        <p:spPr>
          <a:xfrm>
            <a:off x="914400" y="3392423"/>
            <a:ext cx="986028"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A</a:t>
            </a:r>
          </a:p>
        </p:txBody>
      </p:sp>
      <p:sp>
        <p:nvSpPr>
          <p:cNvPr id="22" name="cell:choice"/>
          <p:cNvSpPr txBox="1"/>
          <p:nvPr/>
        </p:nvSpPr>
        <p:spPr>
          <a:xfrm>
            <a:off x="758952"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Send it — the rest is excellent and it is nearly five.</a:t>
            </a:r>
          </a:p>
        </p:txBody>
      </p:sp>
      <p:cxnSp>
        <p:nvCxnSpPr>
          <p:cNvPr id="23" name="vis:choicearrow"/>
          <p:cNvCxnSpPr/>
          <p:nvPr/>
        </p:nvCxnSpPr>
        <p:spPr>
          <a:xfrm>
            <a:off x="758952"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cell:choicego"/>
          <p:cNvSpPr txBox="1"/>
          <p:nvPr/>
        </p:nvSpPr>
        <p:spPr>
          <a:xfrm>
            <a:off x="1161288"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
        <p:nvSpPr>
          <p:cNvPr id="25" name="quiz:choice">
            <a:hlinkClick action="ppaction://hlinksldjump" r:id="rId4"/>
          </p:cNvPr>
          <p:cNvSpPr/>
          <p:nvPr/>
        </p:nvSpPr>
        <p:spPr>
          <a:xfrm>
            <a:off x="4310786"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chip"/>
          <p:cNvSpPr/>
          <p:nvPr/>
        </p:nvSpPr>
        <p:spPr>
          <a:xfrm>
            <a:off x="4566818" y="3364991"/>
            <a:ext cx="1287399"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7" name="vis:chiptext"/>
          <p:cNvSpPr txBox="1"/>
          <p:nvPr/>
        </p:nvSpPr>
        <p:spPr>
          <a:xfrm>
            <a:off x="4722266" y="3392423"/>
            <a:ext cx="97650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B</a:t>
            </a:r>
          </a:p>
        </p:txBody>
      </p:sp>
      <p:sp>
        <p:nvSpPr>
          <p:cNvPr id="28" name="cell:choice"/>
          <p:cNvSpPr txBox="1"/>
          <p:nvPr/>
        </p:nvSpPr>
        <p:spPr>
          <a:xfrm>
            <a:off x="4566818"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Send one correction naming what to keep and what to remove.</a:t>
            </a:r>
          </a:p>
        </p:txBody>
      </p:sp>
      <p:cxnSp>
        <p:nvCxnSpPr>
          <p:cNvPr id="29" name="vis:choicearrow"/>
          <p:cNvCxnSpPr/>
          <p:nvPr/>
        </p:nvCxnSpPr>
        <p:spPr>
          <a:xfrm>
            <a:off x="4566818"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0" name="cell:choicego"/>
          <p:cNvSpPr txBox="1"/>
          <p:nvPr/>
        </p:nvSpPr>
        <p:spPr>
          <a:xfrm>
            <a:off x="4969154"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
        <p:nvSpPr>
          <p:cNvPr id="31" name="quiz:choice">
            <a:hlinkClick action="ppaction://hlinksldjump" r:id="rId5"/>
          </p:cNvPr>
          <p:cNvSpPr/>
          <p:nvPr/>
        </p:nvSpPr>
        <p:spPr>
          <a:xfrm>
            <a:off x="8118652" y="3108960"/>
            <a:ext cx="3570122" cy="2907792"/>
          </a:xfrm>
          <a:prstGeom prst="roundRect">
            <a:avLst>
              <a:gd name="adj" fmla="val 3144"/>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chip"/>
          <p:cNvSpPr/>
          <p:nvPr/>
        </p:nvSpPr>
        <p:spPr>
          <a:xfrm>
            <a:off x="8374684" y="3364991"/>
            <a:ext cx="1290574" cy="274320"/>
          </a:xfrm>
          <a:prstGeom prst="roundRect">
            <a:avLst>
              <a:gd name="adj" fmla="val 16666"/>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chiptext"/>
          <p:cNvSpPr txBox="1"/>
          <p:nvPr/>
        </p:nvSpPr>
        <p:spPr>
          <a:xfrm>
            <a:off x="8530132" y="3392423"/>
            <a:ext cx="979677"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FFFFFF"/>
                </a:solidFill>
                <a:latin typeface="Segoe UI Semibold"/>
              </a:rPr>
              <a:t>OPTION C</a:t>
            </a:r>
          </a:p>
        </p:txBody>
      </p:sp>
      <p:sp>
        <p:nvSpPr>
          <p:cNvPr id="34" name="cell:choice"/>
          <p:cNvSpPr txBox="1"/>
          <p:nvPr/>
        </p:nvSpPr>
        <p:spPr>
          <a:xfrm>
            <a:off x="8374684" y="3913632"/>
            <a:ext cx="3058058" cy="153619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a:rPr>
              <a:t>Ask the tool whether paragraph three is accurate.</a:t>
            </a:r>
          </a:p>
        </p:txBody>
      </p:sp>
      <p:cxnSp>
        <p:nvCxnSpPr>
          <p:cNvPr id="35" name="vis:choicearrow"/>
          <p:cNvCxnSpPr/>
          <p:nvPr/>
        </p:nvCxnSpPr>
        <p:spPr>
          <a:xfrm>
            <a:off x="8374684" y="5632704"/>
            <a:ext cx="292608" cy="0"/>
          </a:xfrm>
          <a:prstGeom prst="line">
            <a:avLst/>
          </a:prstGeom>
          <a:ln w="19050">
            <a:solidFill>
              <a:srgbClr val="6A2FA0"/>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36" name="cell:choicego"/>
          <p:cNvSpPr txBox="1"/>
          <p:nvPr/>
        </p:nvSpPr>
        <p:spPr>
          <a:xfrm>
            <a:off x="8777020" y="5504688"/>
            <a:ext cx="2655722"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See what happens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Fourteen people now follow a step we do not have</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 note goes into the induction pack. New joiners follow the invented sign-off for a fortnight, chasing an approval from someone who does not give it. Unpicking it takes longer than the whole document did.</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A process note becomes policy the moment it is distributed.</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Ninety seconds, and the note is right</a:t>
            </a:r>
          </a:p>
        </p:txBody>
      </p:sp>
      <p:sp>
        <p:nvSpPr>
          <p:cNvPr id="6"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"Keep everything except paragraph three. There is no sign-off step — the supervisor checks it at the end of shift instead. Reissue." You get the same clean note with one corrected paragraph, and send it at 3:52.</a:t>
            </a:r>
          </a:p>
        </p:txBody>
      </p:sp>
      <p:sp>
        <p:nvSpPr>
          <p:cNvPr id="7"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9"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Keep, change, supply. One round fixes almost everything.</a:t>
            </a:r>
          </a:p>
        </p:txBody>
      </p:sp>
      <p:sp>
        <p:nvSpPr>
          <p:cNvPr id="10"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1"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2"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3"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4"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5"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6"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7"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9"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0"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1"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 name="vis:icon"/>
          <p:cNvSpPr/>
          <p:nvPr/>
        </p:nvSpPr>
        <p:spPr>
          <a:xfrm>
            <a:off x="519744" y="409285"/>
            <a:ext cx="386975" cy="353324"/>
          </a:xfrm>
          <a:custGeom>
            <a:avLst/>
            <a:gdLst/>
            <a:ahLst/>
            <a:cxnLst/>
            <a:rect l="l" t="t" r="r" b="b"/>
            <a:pathLst>
              <a:path w="386975" h="353324">
                <a:moveTo>
                  <a:pt x="193488" y="0"/>
                </a:moveTo>
                <a:lnTo>
                  <a:pt x="386975" y="353324"/>
                </a:lnTo>
                <a:lnTo>
                  <a:pt x="0" y="353324"/>
                </a:lnTo>
                <a:close/>
              </a:path>
            </a:pathLst>
          </a:cu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 name="vis:icon"/>
          <p:cNvCxnSpPr/>
          <p:nvPr/>
        </p:nvCxnSpPr>
        <p:spPr>
          <a:xfrm>
            <a:off x="713232" y="543885"/>
            <a:ext cx="0" cy="105156"/>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vis:icon"/>
          <p:cNvSpPr/>
          <p:nvPr/>
        </p:nvSpPr>
        <p:spPr>
          <a:xfrm>
            <a:off x="692200" y="686897"/>
            <a:ext cx="42062" cy="4206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6"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You will get a confident yes</a:t>
            </a:r>
          </a:p>
        </p:txBody>
      </p:sp>
      <p:sp>
        <p:nvSpPr>
          <p:cNvPr id="7" name="body:consequence"/>
          <p:cNvSpPr txBox="1"/>
          <p:nvPr/>
        </p:nvSpPr>
        <p:spPr>
          <a:xfrm>
            <a:off x="502920" y="1517904"/>
            <a:ext cx="6448882" cy="265176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confirms the step, possibly adding detail about why it exists. The confirmation was generated exactly like the original claim, so you now have two invented statements and more confidence than you started with.</a:t>
            </a:r>
          </a:p>
        </p:txBody>
      </p:sp>
      <p:sp>
        <p:nvSpPr>
          <p:cNvPr id="8" name="vis:fbcard"/>
          <p:cNvSpPr/>
          <p:nvPr/>
        </p:nvSpPr>
        <p:spPr>
          <a:xfrm>
            <a:off x="8082076" y="1517904"/>
            <a:ext cx="3606698" cy="2194560"/>
          </a:xfrm>
          <a:prstGeom prst="roundRect">
            <a:avLst>
              <a:gd name="adj" fmla="val 416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1755648"/>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THE RULE</a:t>
            </a:r>
          </a:p>
        </p:txBody>
      </p:sp>
      <p:sp>
        <p:nvSpPr>
          <p:cNvPr id="10" name="cell:rule"/>
          <p:cNvSpPr txBox="1"/>
          <p:nvPr/>
        </p:nvSpPr>
        <p:spPr>
          <a:xfrm>
            <a:off x="8356396" y="2121408"/>
            <a:ext cx="3058058" cy="137160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It cannot check itself. You know the process — you are the source here.</a:t>
            </a:r>
          </a:p>
        </p:txBody>
      </p:sp>
      <p:sp>
        <p:nvSpPr>
          <p:cNvPr id="11" name="nav:scback">
            <a:hlinkClick action="ppaction://hlinksldjump" r:id="rId2"/>
          </p:cNvPr>
          <p:cNvSpPr/>
          <p:nvPr/>
        </p:nvSpPr>
        <p:spPr>
          <a:xfrm>
            <a:off x="502920" y="4718304"/>
            <a:ext cx="301752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scbacktext"/>
          <p:cNvSpPr txBox="1"/>
          <p:nvPr/>
        </p:nvSpPr>
        <p:spPr>
          <a:xfrm>
            <a:off x="777240" y="4882896"/>
            <a:ext cx="246888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situation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WATCH THIS</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Seven minutes on judging output</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3"/>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nav:video">
            <a:hlinkClick r:id="rId2"/>
          </p:cNvPr>
          <p:cNvSpPr/>
          <p:nvPr/>
        </p:nvSpPr>
        <p:spPr>
          <a:xfrm>
            <a:off x="502920" y="1719072"/>
            <a:ext cx="6448882" cy="4297680"/>
          </a:xfrm>
          <a:prstGeom prst="roundRect">
            <a:avLst>
              <a:gd name="adj" fmla="val 2127"/>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play"/>
          <p:cNvSpPr/>
          <p:nvPr/>
        </p:nvSpPr>
        <p:spPr>
          <a:xfrm>
            <a:off x="1161288" y="2432303"/>
            <a:ext cx="950976" cy="950976"/>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playtri"/>
          <p:cNvSpPr/>
          <p:nvPr/>
        </p:nvSpPr>
        <p:spPr>
          <a:xfrm>
            <a:off x="1499616" y="2679191"/>
            <a:ext cx="384048" cy="457200"/>
          </a:xfrm>
          <a:custGeom>
            <a:avLst/>
            <a:gdLst/>
            <a:ahLst/>
            <a:cxnLst/>
            <a:rect l="l" t="t" r="r" b="b"/>
            <a:pathLst>
              <a:path w="384048" h="457200">
                <a:moveTo>
                  <a:pt x="0" y="0"/>
                </a:moveTo>
                <a:lnTo>
                  <a:pt x="384048" y="228600"/>
                </a:lnTo>
                <a:lnTo>
                  <a:pt x="0" y="457200"/>
                </a:lnTo>
                <a:close/>
              </a:path>
            </a:pathLst>
          </a:cu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ody:videotitle"/>
          <p:cNvSpPr txBox="1"/>
          <p:nvPr/>
        </p:nvSpPr>
        <p:spPr>
          <a:xfrm>
            <a:off x="2514600" y="2231136"/>
            <a:ext cx="4126306" cy="1371600"/>
          </a:xfrm>
          <a:prstGeom prst="rect">
            <a:avLst/>
          </a:prstGeom>
          <a:noFill/>
        </p:spPr>
        <p:txBody>
          <a:bodyPr wrap="square" lIns="0" rIns="0" tIns="0" bIns="0" anchor="t">
            <a:spAutoFit/>
          </a:bodyPr>
          <a:lstStyle/>
          <a:p>
            <a:pPr algn="l">
              <a:lnSpc>
                <a:spcPts val="2730"/>
              </a:lnSpc>
              <a:spcBef>
                <a:spcPts val="0"/>
              </a:spcBef>
              <a:spcAft>
                <a:spcPts val="0"/>
              </a:spcAft>
            </a:pPr>
            <a:r>
              <a:rPr sz="2100" b="0">
                <a:solidFill>
                  <a:srgbClr val="FFFFFF"/>
                </a:solidFill>
                <a:latin typeface="Segoe UI Semibold"/>
              </a:rPr>
              <a:t>Evaluating GenAI Output</a:t>
            </a:r>
          </a:p>
        </p:txBody>
      </p:sp>
      <p:sp>
        <p:nvSpPr>
          <p:cNvPr id="19" name="vis:chip"/>
          <p:cNvSpPr/>
          <p:nvPr/>
        </p:nvSpPr>
        <p:spPr>
          <a:xfrm>
            <a:off x="868680" y="3858768"/>
            <a:ext cx="140677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chiptext"/>
          <p:cNvSpPr txBox="1"/>
          <p:nvPr/>
        </p:nvSpPr>
        <p:spPr>
          <a:xfrm>
            <a:off x="1024128" y="3895344"/>
            <a:ext cx="109588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UBC LEARN</a:t>
            </a:r>
          </a:p>
        </p:txBody>
      </p:sp>
      <p:sp>
        <p:nvSpPr>
          <p:cNvPr id="21" name="vis:chip"/>
          <p:cNvSpPr/>
          <p:nvPr/>
        </p:nvSpPr>
        <p:spPr>
          <a:xfrm>
            <a:off x="2421763" y="3858768"/>
            <a:ext cx="1230249" cy="292608"/>
          </a:xfrm>
          <a:prstGeom prst="roundRect">
            <a:avLst>
              <a:gd name="adj" fmla="val 15625"/>
            </a:avLst>
          </a:prstGeom>
          <a:noFill/>
          <a:ln w="12700">
            <a:solidFill>
              <a:srgbClr val="848D9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chiptext"/>
          <p:cNvSpPr txBox="1"/>
          <p:nvPr/>
        </p:nvSpPr>
        <p:spPr>
          <a:xfrm>
            <a:off x="2577211" y="3895344"/>
            <a:ext cx="919353" cy="219456"/>
          </a:xfrm>
          <a:prstGeom prst="rect">
            <a:avLst/>
          </a:prstGeom>
          <a:noFill/>
        </p:spPr>
        <p:txBody>
          <a:bodyPr wrap="square" lIns="0" rIns="0" tIns="0" bIns="0" anchor="t">
            <a:spAutoFit/>
          </a:bodyPr>
          <a:lstStyle/>
          <a:p>
            <a:pPr algn="l">
              <a:lnSpc>
                <a:spcPts val="1560"/>
              </a:lnSpc>
              <a:spcBef>
                <a:spcPts val="0"/>
              </a:spcBef>
              <a:spcAft>
                <a:spcPts val="0"/>
              </a:spcAft>
            </a:pPr>
            <a:r>
              <a:rPr sz="1200" b="0" spc="90">
                <a:solidFill>
                  <a:srgbClr val="848D9A"/>
                </a:solidFill>
                <a:latin typeface="Segoe UI Semibold"/>
              </a:rPr>
              <a:t>6:32 MIN</a:t>
            </a:r>
          </a:p>
        </p:txBody>
      </p:sp>
      <p:cxnSp>
        <p:nvCxnSpPr>
          <p:cNvPr id="23" name="vis:rule"/>
          <p:cNvCxnSpPr/>
          <p:nvPr/>
        </p:nvCxnSpPr>
        <p:spPr>
          <a:xfrm>
            <a:off x="868680" y="4425696"/>
            <a:ext cx="5717362" cy="0"/>
          </a:xfrm>
          <a:prstGeom prst="line">
            <a:avLst/>
          </a:prstGeom>
          <a:ln w="12700">
            <a:solidFill>
              <a:srgbClr val="2A3547"/>
            </a:solidFill>
          </a:ln>
          <a:effectLst/>
        </p:spPr>
        <p:style>
          <a:lnRef idx="2">
            <a:schemeClr val="accent1"/>
          </a:lnRef>
          <a:fillRef idx="0">
            <a:schemeClr val="accent1"/>
          </a:fillRef>
          <a:effectRef idx="1">
            <a:schemeClr val="accent1"/>
          </a:effectRef>
          <a:fontRef idx="minor">
            <a:schemeClr val="tx1"/>
          </a:fontRef>
        </p:style>
      </p:cxnSp>
      <p:sp>
        <p:nvSpPr>
          <p:cNvPr id="24" name="body:videonote"/>
          <p:cNvSpPr txBox="1"/>
          <p:nvPr/>
        </p:nvSpPr>
        <p:spPr>
          <a:xfrm>
            <a:off x="868680" y="4645152"/>
            <a:ext cx="5717362" cy="548640"/>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848D9A"/>
                </a:solidFill>
                <a:latin typeface="Segoe UI"/>
              </a:rPr>
              <a:t>Made for a university audience. The tests it teaches are the same ones you need at work.</a:t>
            </a:r>
          </a:p>
        </p:txBody>
      </p:sp>
      <p:sp>
        <p:nvSpPr>
          <p:cNvPr id="25" name="nav:videobtn">
            <a:hlinkClick r:id="rId2"/>
          </p:cNvPr>
          <p:cNvSpPr/>
          <p:nvPr/>
        </p:nvSpPr>
        <p:spPr>
          <a:xfrm>
            <a:off x="868680" y="5230368"/>
            <a:ext cx="3017520" cy="493776"/>
          </a:xfrm>
          <a:prstGeom prst="roundRect">
            <a:avLst>
              <a:gd name="adj" fmla="val 11111"/>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icon"/>
          <p:cNvSpPr/>
          <p:nvPr/>
        </p:nvSpPr>
        <p:spPr>
          <a:xfrm>
            <a:off x="1069116" y="5370819"/>
            <a:ext cx="153619" cy="153619"/>
          </a:xfrm>
          <a:prstGeom prst="ellipse">
            <a:avLst/>
          </a:prstGeom>
          <a:no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7" name="vis:icon"/>
          <p:cNvCxnSpPr/>
          <p:nvPr/>
        </p:nvCxnSpPr>
        <p:spPr>
          <a:xfrm>
            <a:off x="1202253" y="5503956"/>
            <a:ext cx="61447" cy="61448"/>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8" name="nav:videobtntext"/>
          <p:cNvSpPr txBox="1"/>
          <p:nvPr/>
        </p:nvSpPr>
        <p:spPr>
          <a:xfrm>
            <a:off x="1417320" y="5358384"/>
            <a:ext cx="2286000"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Click to open on YouTube</a:t>
            </a:r>
          </a:p>
        </p:txBody>
      </p:sp>
      <p:sp>
        <p:nvSpPr>
          <p:cNvPr id="29" name="vis:videohow"/>
          <p:cNvSpPr/>
          <p:nvPr/>
        </p:nvSpPr>
        <p:spPr>
          <a:xfrm>
            <a:off x="8082076" y="1719072"/>
            <a:ext cx="3606698" cy="4297680"/>
          </a:xfrm>
          <a:prstGeom prst="roundRect">
            <a:avLst>
              <a:gd name="adj" fmla="val 253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videospine"/>
          <p:cNvSpPr/>
          <p:nvPr/>
        </p:nvSpPr>
        <p:spPr>
          <a:xfrm>
            <a:off x="8082076" y="1719072"/>
            <a:ext cx="68580" cy="4297680"/>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1" name="seclabel"/>
          <p:cNvSpPr txBox="1"/>
          <p:nvPr/>
        </p:nvSpPr>
        <p:spPr>
          <a:xfrm>
            <a:off x="8392972" y="2029967"/>
            <a:ext cx="2984906"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HOW TO USE IT</a:t>
            </a:r>
          </a:p>
        </p:txBody>
      </p:sp>
      <p:cxnSp>
        <p:nvCxnSpPr>
          <p:cNvPr id="32" name="vis:icon"/>
          <p:cNvCxnSpPr/>
          <p:nvPr/>
        </p:nvCxnSpPr>
        <p:spPr>
          <a:xfrm>
            <a:off x="8439424" y="2628351"/>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3" name="vis:icon"/>
          <p:cNvCxnSpPr/>
          <p:nvPr/>
        </p:nvCxnSpPr>
        <p:spPr>
          <a:xfrm flipV="1">
            <a:off x="8491728" y="2568000"/>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4" name="cell:why"/>
          <p:cNvSpPr txBox="1"/>
          <p:nvPr/>
        </p:nvSpPr>
        <p:spPr>
          <a:xfrm>
            <a:off x="8777020" y="2468879"/>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Optional. Everything you need is already in this deck.</a:t>
            </a:r>
          </a:p>
        </p:txBody>
      </p:sp>
      <p:cxnSp>
        <p:nvCxnSpPr>
          <p:cNvPr id="35" name="vis:icon"/>
          <p:cNvCxnSpPr/>
          <p:nvPr/>
        </p:nvCxnSpPr>
        <p:spPr>
          <a:xfrm>
            <a:off x="8439424" y="3743919"/>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6" name="vis:icon"/>
          <p:cNvCxnSpPr/>
          <p:nvPr/>
        </p:nvCxnSpPr>
        <p:spPr>
          <a:xfrm flipV="1">
            <a:off x="8491728" y="3683568"/>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7" name="cell:why"/>
          <p:cNvSpPr txBox="1"/>
          <p:nvPr/>
        </p:nvSpPr>
        <p:spPr>
          <a:xfrm>
            <a:off x="8777020" y="3584448"/>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Useful if you prefer watching to reading.</a:t>
            </a:r>
          </a:p>
        </p:txBody>
      </p:sp>
      <p:cxnSp>
        <p:nvCxnSpPr>
          <p:cNvPr id="38" name="vis:icon"/>
          <p:cNvCxnSpPr/>
          <p:nvPr/>
        </p:nvCxnSpPr>
        <p:spPr>
          <a:xfrm>
            <a:off x="8439424" y="4859487"/>
            <a:ext cx="52304" cy="52304"/>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39" name="vis:icon"/>
          <p:cNvCxnSpPr/>
          <p:nvPr/>
        </p:nvCxnSpPr>
        <p:spPr>
          <a:xfrm flipV="1">
            <a:off x="8491728" y="4799136"/>
            <a:ext cx="96560" cy="112655"/>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0" name="cell:why"/>
          <p:cNvSpPr txBox="1"/>
          <p:nvPr/>
        </p:nvSpPr>
        <p:spPr>
          <a:xfrm>
            <a:off x="8777020" y="4700016"/>
            <a:ext cx="2600858" cy="96926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2A3547"/>
                </a:solidFill>
                <a:latin typeface="Segoe UI"/>
              </a:rPr>
              <a:t>It opens in your browser. Turn the sound 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1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does question two ask?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stem"/>
          <p:cNvSpPr/>
          <p:nvPr/>
        </p:nvSpPr>
        <p:spPr>
          <a:xfrm>
            <a:off x="502920" y="1719072"/>
            <a:ext cx="11185855" cy="713232"/>
          </a:xfrm>
          <a:prstGeom prst="roundRect">
            <a:avLst>
              <a:gd name="adj" fmla="val 10256"/>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780897" y="1976932"/>
            <a:ext cx="230428" cy="153619"/>
          </a:xfrm>
          <a:prstGeom prst="roundRect">
            <a:avLst>
              <a:gd name="adj" fmla="val 29761"/>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flipH="1">
            <a:off x="824788" y="2130552"/>
            <a:ext cx="10973" cy="6035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18" name="vis:icon"/>
          <p:cNvCxnSpPr/>
          <p:nvPr/>
        </p:nvCxnSpPr>
        <p:spPr>
          <a:xfrm flipV="1">
            <a:off x="824788" y="2130552"/>
            <a:ext cx="60351" cy="6035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9" name="cell:stem"/>
          <p:cNvSpPr txBox="1"/>
          <p:nvPr/>
        </p:nvSpPr>
        <p:spPr>
          <a:xfrm>
            <a:off x="1197864" y="1828800"/>
            <a:ext cx="10234879" cy="493776"/>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2A3547"/>
                </a:solidFill>
                <a:latin typeface="Segoe UI"/>
              </a:rPr>
              <a:t>The four questions are traceable, complete, usable, safe.</a:t>
            </a:r>
          </a:p>
        </p:txBody>
      </p:sp>
      <p:sp>
        <p:nvSpPr>
          <p:cNvPr id="20" name="quiz:answer">
            <a:hlinkClick action="ppaction://hlinksldjump" r:id="rId3"/>
          </p:cNvPr>
          <p:cNvSpPr/>
          <p:nvPr/>
        </p:nvSpPr>
        <p:spPr>
          <a:xfrm>
            <a:off x="502920"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
          <p:cNvSpPr/>
          <p:nvPr/>
        </p:nvSpPr>
        <p:spPr>
          <a:xfrm>
            <a:off x="740664" y="32506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vis:answerkeytext"/>
          <p:cNvSpPr txBox="1"/>
          <p:nvPr/>
        </p:nvSpPr>
        <p:spPr>
          <a:xfrm>
            <a:off x="740664"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23" name="cell:answer"/>
          <p:cNvSpPr txBox="1"/>
          <p:nvPr/>
        </p:nvSpPr>
        <p:spPr>
          <a:xfrm>
            <a:off x="1252728"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Is it long enough?</a:t>
            </a:r>
          </a:p>
        </p:txBody>
      </p:sp>
      <p:sp>
        <p:nvSpPr>
          <p:cNvPr id="24" name="quiz:answer">
            <a:hlinkClick action="ppaction://hlinksldjump" r:id="rId4"/>
          </p:cNvPr>
          <p:cNvSpPr/>
          <p:nvPr/>
        </p:nvSpPr>
        <p:spPr>
          <a:xfrm>
            <a:off x="6187287" y="263347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
          <p:cNvSpPr/>
          <p:nvPr/>
        </p:nvSpPr>
        <p:spPr>
          <a:xfrm>
            <a:off x="6425031" y="32506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vis:answerkeytext"/>
          <p:cNvSpPr txBox="1"/>
          <p:nvPr/>
        </p:nvSpPr>
        <p:spPr>
          <a:xfrm>
            <a:off x="6425031" y="33284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7" name="cell:answer"/>
          <p:cNvSpPr txBox="1"/>
          <p:nvPr/>
        </p:nvSpPr>
        <p:spPr>
          <a:xfrm>
            <a:off x="6937095" y="276148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Did it answer what I actually asked?</a:t>
            </a:r>
          </a:p>
        </p:txBody>
      </p:sp>
      <p:sp>
        <p:nvSpPr>
          <p:cNvPr id="28" name="quiz:answer">
            <a:hlinkClick action="ppaction://hlinksldjump" r:id="rId5"/>
          </p:cNvPr>
          <p:cNvSpPr/>
          <p:nvPr/>
        </p:nvSpPr>
        <p:spPr>
          <a:xfrm>
            <a:off x="502920"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
          <p:cNvSpPr/>
          <p:nvPr/>
        </p:nvSpPr>
        <p:spPr>
          <a:xfrm>
            <a:off x="740664" y="50337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answerkeytext"/>
          <p:cNvSpPr txBox="1"/>
          <p:nvPr/>
        </p:nvSpPr>
        <p:spPr>
          <a:xfrm>
            <a:off x="740664"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31" name="cell:answer"/>
          <p:cNvSpPr txBox="1"/>
          <p:nvPr/>
        </p:nvSpPr>
        <p:spPr>
          <a:xfrm>
            <a:off x="1252728"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Is the grammar correct?</a:t>
            </a:r>
          </a:p>
        </p:txBody>
      </p:sp>
      <p:sp>
        <p:nvSpPr>
          <p:cNvPr id="32" name="quiz:answer">
            <a:hlinkClick action="ppaction://hlinksldjump" r:id="rId6"/>
          </p:cNvPr>
          <p:cNvSpPr/>
          <p:nvPr/>
        </p:nvSpPr>
        <p:spPr>
          <a:xfrm>
            <a:off x="6187287" y="4416552"/>
            <a:ext cx="5501487" cy="1600200"/>
          </a:xfrm>
          <a:prstGeom prst="roundRect">
            <a:avLst>
              <a:gd name="adj" fmla="val 4571"/>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answerkey"/>
          <p:cNvSpPr/>
          <p:nvPr/>
        </p:nvSpPr>
        <p:spPr>
          <a:xfrm>
            <a:off x="6425031" y="50337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vis:answerkeytext"/>
          <p:cNvSpPr txBox="1"/>
          <p:nvPr/>
        </p:nvSpPr>
        <p:spPr>
          <a:xfrm>
            <a:off x="6425031" y="51114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5" name="cell:answer"/>
          <p:cNvSpPr txBox="1"/>
          <p:nvPr/>
        </p:nvSpPr>
        <p:spPr>
          <a:xfrm>
            <a:off x="6937095" y="4544568"/>
            <a:ext cx="4495647" cy="13441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Does it sound professional?</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Is it long enough?</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Length is a formatting matter and easy to fix in one line. Completeness is about whether your actual question was addressed at all.</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Did it answer my question, or a nearby 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Did it answer what I actually asked?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This is where most answers fail. You asked whether to accept a payment term; you received a balanced overview of payment terms. Fluent, relevant, and not an answer.</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Did it answer my question, or a nearby 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Is the grammar correct?</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essentially always is. Grammar is the one thing you never need to check, and checking it distracts from the things you do.</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Did it answer my question, or a nearby 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Does it sound professional?</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always sounds professional. That constant tone is precisely why it cannot be used as a signal of anything.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Did it answer my question, or a nearby one?</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2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When should you throw it away?</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one date is wrong</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it answered a different question</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it is too long</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When the tone is slightly off</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When one date is wrong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That is a one-line fix. Naming what to keep and supplying the right date takes ten seconds and preserves everything that already worked.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Wrong shape means a wrong prompt.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When it answered a different question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If the shape is wrong, the prompt was wrong. Correcting round by round from a wrong starting point costs far more than writing one better prompt.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Wrong shape means a wrong prompt.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When it is too long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"Cut to 120 words, keep both dates" fixes that immediately. Length is the cheapest thing to correct.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Wrong shape means a wrong prompt.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When the tone is slightly off</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Tone corrects easily, especially if you show two short examples of the register you want instead of describing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Wrong shape means a wrong prompt.</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3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What makes a correction work?</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Saying "that is wrong, try again"</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Naming what to keep, what to change, and the right value</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Listing every problem you noticed</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Asking it to review its own work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Saying "that is wrong, try again"</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has no idea which part. In practice it rewrites the section that was fine and leaves the error where it was.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Keep, change, supply.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Naming what to keep, what to change, and the right value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All three parts matter. Keep protects the good eighty per cent, change is specific enough to act on, and supplying the value means nothing is invented to replace it.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Keep, change, supply.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Listing every problem you noticed</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Two or three changes land reliably. Beyond that the later items drift, and you end up correcting the correction.</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Keep, change, supply.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Asking it to review its own work</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get a confident second generation praising the first. It has no independent view to offer about anything it produced.</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Keep, change, supply.</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4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Why is a balanced answer a warning?</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Balanced answers are usually wrong</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is what it produces when it has nothing specific</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It means the tool is being cautious</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Balance means the answer is incomplete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Balanced answers are usually wrong</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They are rarely wrong. They are usually true and useless, which is a different and more slippery problem.</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Balance is the default when it has nothing specific.</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It is what it produces when it has nothing specific</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With no facts of yours to work from, listing considerations is the safest and most likely continuation. Supply the figures and demand one recommendation, and it stops.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Balance is the default when it has nothing specific.</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Next question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It means the tool is being cautious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There is no caution happening. It is producing the most likely text, and "there are several factors to consider" is extremely likely text.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Balance is the default when it has nothing specific.</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Balance means the answer is incomplete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It is complete as a piece of writing. What is missing is any engagement with your particular situation, which is what you asked about.</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Balance is the default when it has nothing specific.</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QUIZ  ·  QUESTION 5 OF 5</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Where do problems usually hide?</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quiz:answer">
            <a:hlinkClick action="ppaction://hlinksldjump" r:id="rId3"/>
          </p:cNvPr>
          <p:cNvSpPr/>
          <p:nvPr/>
        </p:nvSpPr>
        <p:spPr>
          <a:xfrm>
            <a:off x="502920"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answerkey"/>
          <p:cNvSpPr/>
          <p:nvPr/>
        </p:nvSpPr>
        <p:spPr>
          <a:xfrm>
            <a:off x="740664"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answerkeytext"/>
          <p:cNvSpPr txBox="1"/>
          <p:nvPr/>
        </p:nvSpPr>
        <p:spPr>
          <a:xfrm>
            <a:off x="740664"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A</a:t>
            </a:r>
          </a:p>
        </p:txBody>
      </p:sp>
      <p:sp>
        <p:nvSpPr>
          <p:cNvPr id="18" name="cell:answer"/>
          <p:cNvSpPr txBox="1"/>
          <p:nvPr/>
        </p:nvSpPr>
        <p:spPr>
          <a:xfrm>
            <a:off x="1252728"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 the opening line</a:t>
            </a:r>
          </a:p>
        </p:txBody>
      </p:sp>
      <p:sp>
        <p:nvSpPr>
          <p:cNvPr id="19" name="quiz:answer">
            <a:hlinkClick action="ppaction://hlinksldjump" r:id="rId4"/>
          </p:cNvPr>
          <p:cNvSpPr/>
          <p:nvPr/>
        </p:nvSpPr>
        <p:spPr>
          <a:xfrm>
            <a:off x="6187287" y="171907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answerkey"/>
          <p:cNvSpPr/>
          <p:nvPr/>
        </p:nvSpPr>
        <p:spPr>
          <a:xfrm>
            <a:off x="6425031" y="2564891"/>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answerkeytext"/>
          <p:cNvSpPr txBox="1"/>
          <p:nvPr/>
        </p:nvSpPr>
        <p:spPr>
          <a:xfrm>
            <a:off x="6425031" y="2642615"/>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B</a:t>
            </a:r>
          </a:p>
        </p:txBody>
      </p:sp>
      <p:sp>
        <p:nvSpPr>
          <p:cNvPr id="22" name="cell:answer"/>
          <p:cNvSpPr txBox="1"/>
          <p:nvPr/>
        </p:nvSpPr>
        <p:spPr>
          <a:xfrm>
            <a:off x="6937095" y="184708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 the middle paragraphs</a:t>
            </a:r>
          </a:p>
        </p:txBody>
      </p:sp>
      <p:sp>
        <p:nvSpPr>
          <p:cNvPr id="23" name="quiz:answer">
            <a:hlinkClick action="ppaction://hlinksldjump" r:id="rId5"/>
          </p:cNvPr>
          <p:cNvSpPr/>
          <p:nvPr/>
        </p:nvSpPr>
        <p:spPr>
          <a:xfrm>
            <a:off x="502920"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answerkey"/>
          <p:cNvSpPr/>
          <p:nvPr/>
        </p:nvSpPr>
        <p:spPr>
          <a:xfrm>
            <a:off x="740664"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answerkeytext"/>
          <p:cNvSpPr txBox="1"/>
          <p:nvPr/>
        </p:nvSpPr>
        <p:spPr>
          <a:xfrm>
            <a:off x="740664"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C</a:t>
            </a:r>
          </a:p>
        </p:txBody>
      </p:sp>
      <p:sp>
        <p:nvSpPr>
          <p:cNvPr id="26" name="cell:answer"/>
          <p:cNvSpPr txBox="1"/>
          <p:nvPr/>
        </p:nvSpPr>
        <p:spPr>
          <a:xfrm>
            <a:off x="1252728"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 the closing sentence</a:t>
            </a:r>
          </a:p>
        </p:txBody>
      </p:sp>
      <p:sp>
        <p:nvSpPr>
          <p:cNvPr id="27" name="quiz:answer">
            <a:hlinkClick action="ppaction://hlinksldjump" r:id="rId6"/>
          </p:cNvPr>
          <p:cNvSpPr/>
          <p:nvPr/>
        </p:nvSpPr>
        <p:spPr>
          <a:xfrm>
            <a:off x="6187287" y="3959352"/>
            <a:ext cx="5501487" cy="2057400"/>
          </a:xfrm>
          <a:prstGeom prst="roundRect">
            <a:avLst>
              <a:gd name="adj" fmla="val 3555"/>
            </a:avLst>
          </a:prstGeom>
          <a:solidFill>
            <a:srgbClr val="F3F6FB"/>
          </a:solidFill>
          <a:ln w="12700">
            <a:solidFill>
              <a:srgbClr val="C9D1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answerkey"/>
          <p:cNvSpPr/>
          <p:nvPr/>
        </p:nvSpPr>
        <p:spPr>
          <a:xfrm>
            <a:off x="6425031" y="4805172"/>
            <a:ext cx="365760" cy="365760"/>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answerkeytext"/>
          <p:cNvSpPr txBox="1"/>
          <p:nvPr/>
        </p:nvSpPr>
        <p:spPr>
          <a:xfrm>
            <a:off x="6425031" y="4882896"/>
            <a:ext cx="365760" cy="228600"/>
          </a:xfrm>
          <a:prstGeom prst="rect">
            <a:avLst/>
          </a:prstGeom>
          <a:noFill/>
        </p:spPr>
        <p:txBody>
          <a:bodyPr wrap="square" lIns="0" rIns="0" tIns="0" bIns="0" anchor="t">
            <a:spAutoFit/>
          </a:bodyPr>
          <a:lstStyle/>
          <a:p>
            <a:pPr algn="ctr">
              <a:lnSpc>
                <a:spcPts val="1820"/>
              </a:lnSpc>
              <a:spcBef>
                <a:spcPts val="0"/>
              </a:spcBef>
              <a:spcAft>
                <a:spcPts val="0"/>
              </a:spcAft>
            </a:pPr>
            <a:r>
              <a:rPr sz="1400" b="0">
                <a:solidFill>
                  <a:srgbClr val="FFFFFF"/>
                </a:solidFill>
                <a:latin typeface="Segoe UI Semibold"/>
              </a:rPr>
              <a:t>D</a:t>
            </a:r>
          </a:p>
        </p:txBody>
      </p:sp>
      <p:sp>
        <p:nvSpPr>
          <p:cNvPr id="30" name="cell:answer"/>
          <p:cNvSpPr txBox="1"/>
          <p:nvPr/>
        </p:nvSpPr>
        <p:spPr>
          <a:xfrm>
            <a:off x="6937095" y="4087368"/>
            <a:ext cx="4495647" cy="1801368"/>
          </a:xfrm>
          <a:prstGeom prst="rect">
            <a:avLst/>
          </a:prstGeom>
          <a:noFill/>
        </p:spPr>
        <p:txBody>
          <a:bodyPr wrap="square" lIns="0" rIns="0" tIns="0" bIns="0" anchor="ctr">
            <a:spAutoFit/>
          </a:bodyPr>
          <a:lstStyle/>
          <a:p>
            <a:pPr algn="l">
              <a:lnSpc>
                <a:spcPts val="1950"/>
              </a:lnSpc>
              <a:spcBef>
                <a:spcPts val="0"/>
              </a:spcBef>
              <a:spcAft>
                <a:spcPts val="0"/>
              </a:spcAft>
            </a:pPr>
            <a:r>
              <a:rPr sz="1500" b="0">
                <a:solidFill>
                  <a:srgbClr val="101826"/>
                </a:solidFill>
                <a:latin typeface="Segoe UI"/>
              </a:rPr>
              <a:t>In the subject line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A.  In the opening line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read the opening carefully, every time. Almost nothing gets past a first line, which is exactly why problems do not live there.</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In the middle, where attention drops.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1B7F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61807" y="602772"/>
            <a:ext cx="109362" cy="109362"/>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V="1">
            <a:off x="671169" y="476585"/>
            <a:ext cx="201900" cy="23554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Correct — here's why</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B.  In the middle paragraphs</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Attention drops after the opening and returns for the close. Invented steps, dates and clauses survive in the middle because that is where skimming happens.</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In the middle, where attention drops.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See the recap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C.  In the closing sentence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You read the close too, because it usually carries the ask or the next step. It gets checked almost as reliably as the opening.</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In the middle, where attention drops.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vis:fbband"/>
          <p:cNvSpPr/>
          <p:nvPr/>
        </p:nvSpPr>
        <p:spPr>
          <a:xfrm>
            <a:off x="0" y="0"/>
            <a:ext cx="12191695" cy="1188720"/>
          </a:xfrm>
          <a:prstGeom prst="rect">
            <a:avLst/>
          </a:prstGeom>
          <a:solidFill>
            <a:srgbClr val="C6282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 name="vis:icon"/>
          <p:cNvCxnSpPr/>
          <p:nvPr/>
        </p:nvCxnSpPr>
        <p:spPr>
          <a:xfrm>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cxnSp>
        <p:nvCxnSpPr>
          <p:cNvPr id="4" name="vis:icon"/>
          <p:cNvCxnSpPr/>
          <p:nvPr/>
        </p:nvCxnSpPr>
        <p:spPr>
          <a:xfrm flipH="1">
            <a:off x="578632" y="459760"/>
            <a:ext cx="269199" cy="269199"/>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5" name="title:banner"/>
          <p:cNvSpPr txBox="1"/>
          <p:nvPr/>
        </p:nvSpPr>
        <p:spPr>
          <a:xfrm>
            <a:off x="1179576" y="365760"/>
            <a:ext cx="8343671" cy="512064"/>
          </a:xfrm>
          <a:prstGeom prst="rect">
            <a:avLst/>
          </a:prstGeom>
          <a:noFill/>
        </p:spPr>
        <p:txBody>
          <a:bodyPr wrap="square" lIns="0" rIns="0" tIns="0" bIns="0" anchor="ctr">
            <a:spAutoFit/>
          </a:bodyPr>
          <a:lstStyle/>
          <a:p>
            <a:pPr algn="l">
              <a:lnSpc>
                <a:spcPts val="3380"/>
              </a:lnSpc>
              <a:spcBef>
                <a:spcPts val="0"/>
              </a:spcBef>
              <a:spcAft>
                <a:spcPts val="0"/>
              </a:spcAft>
            </a:pPr>
            <a:r>
              <a:rPr sz="2600" b="0">
                <a:solidFill>
                  <a:srgbClr val="FFFFFF"/>
                </a:solidFill>
                <a:latin typeface="Segoe UI Semibold"/>
              </a:rPr>
              <a:t>Not quite — here's what actually happens</a:t>
            </a:r>
          </a:p>
        </p:txBody>
      </p:sp>
      <p:sp>
        <p:nvSpPr>
          <p:cNvPr id="6" name="seclabel"/>
          <p:cNvSpPr txBox="1"/>
          <p:nvPr/>
        </p:nvSpPr>
        <p:spPr>
          <a:xfrm>
            <a:off x="502920" y="1481328"/>
            <a:ext cx="7396276"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20">
                <a:solidFill>
                  <a:srgbClr val="5B6779"/>
                </a:solidFill>
                <a:latin typeface="Segoe UI Semibold"/>
              </a:rPr>
              <a:t>YOU CHOSE  D.  In the subject line</a:t>
            </a:r>
          </a:p>
        </p:txBody>
      </p:sp>
      <p:sp>
        <p:nvSpPr>
          <p:cNvPr id="7" name="body:fbwhy"/>
          <p:cNvSpPr txBox="1"/>
          <p:nvPr/>
        </p:nvSpPr>
        <p:spPr>
          <a:xfrm>
            <a:off x="502920" y="1920240"/>
            <a:ext cx="6448882" cy="2377440"/>
          </a:xfrm>
          <a:prstGeom prst="rect">
            <a:avLst/>
          </a:prstGeom>
          <a:noFill/>
        </p:spPr>
        <p:txBody>
          <a:bodyPr wrap="square" lIns="0" rIns="0" tIns="0" bIns="0" anchor="t">
            <a:spAutoFit/>
          </a:bodyPr>
          <a:lstStyle/>
          <a:p>
            <a:pPr algn="l">
              <a:lnSpc>
                <a:spcPts val="2600"/>
              </a:lnSpc>
              <a:spcBef>
                <a:spcPts val="0"/>
              </a:spcBef>
              <a:spcAft>
                <a:spcPts val="0"/>
              </a:spcAft>
            </a:pPr>
            <a:r>
              <a:rPr sz="2000" b="0">
                <a:solidFill>
                  <a:srgbClr val="101826"/>
                </a:solidFill>
                <a:latin typeface="Segoe UI"/>
              </a:rPr>
              <a:t>Short, prominent and read by everyone including you. Errors there are caught immediately.</a:t>
            </a:r>
          </a:p>
        </p:txBody>
      </p:sp>
      <p:sp>
        <p:nvSpPr>
          <p:cNvPr id="8" name="vis:fbcard"/>
          <p:cNvSpPr/>
          <p:nvPr/>
        </p:nvSpPr>
        <p:spPr>
          <a:xfrm>
            <a:off x="8082076" y="1920240"/>
            <a:ext cx="3606698" cy="2011680"/>
          </a:xfrm>
          <a:prstGeom prst="roundRect">
            <a:avLst>
              <a:gd name="adj" fmla="val 4545"/>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9" name="seclabel"/>
          <p:cNvSpPr txBox="1"/>
          <p:nvPr/>
        </p:nvSpPr>
        <p:spPr>
          <a:xfrm>
            <a:off x="8356396" y="2157984"/>
            <a:ext cx="3058058" cy="256032"/>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REMEMBER</a:t>
            </a:r>
          </a:p>
        </p:txBody>
      </p:sp>
      <p:sp>
        <p:nvSpPr>
          <p:cNvPr id="10" name="cell:fbremember"/>
          <p:cNvSpPr txBox="1"/>
          <p:nvPr/>
        </p:nvSpPr>
        <p:spPr>
          <a:xfrm>
            <a:off x="8356396" y="2523744"/>
            <a:ext cx="3058058" cy="1225296"/>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2A3547"/>
                </a:solidFill>
                <a:latin typeface="Segoe UI"/>
              </a:rPr>
              <a:t>In the middle, where attention drops.</a:t>
            </a:r>
          </a:p>
        </p:txBody>
      </p:sp>
      <p:sp>
        <p:nvSpPr>
          <p:cNvPr id="11" name="nav:fbnext">
            <a:hlinkClick action="ppaction://hlinksldjump" r:id="rId2"/>
          </p:cNvPr>
          <p:cNvSpPr/>
          <p:nvPr/>
        </p:nvSpPr>
        <p:spPr>
          <a:xfrm>
            <a:off x="502920" y="4846320"/>
            <a:ext cx="2834640" cy="566928"/>
          </a:xfrm>
          <a:prstGeom prst="roundRect">
            <a:avLst>
              <a:gd name="adj" fmla="val 9677"/>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2" name="nav:fbnexttext"/>
          <p:cNvSpPr txBox="1"/>
          <p:nvPr/>
        </p:nvSpPr>
        <p:spPr>
          <a:xfrm>
            <a:off x="777240" y="5010912"/>
            <a:ext cx="2286000" cy="256032"/>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Try this question again  →</a:t>
            </a:r>
          </a:p>
        </p:txBody>
      </p:sp>
      <p:sp>
        <p:nvSpPr>
          <p:cNvPr id="13"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14"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15" name="nav:menu">
            <a:hlinkClick action="ppaction://hlinksldjump" r:id="rId3"/>
          </p:cNvPr>
          <p:cNvSpPr/>
          <p:nvPr/>
        </p:nvSpPr>
        <p:spPr>
          <a:xfrm>
            <a:off x="10682935" y="347472"/>
            <a:ext cx="1005840" cy="329184"/>
          </a:xfrm>
          <a:prstGeom prst="roundRect">
            <a:avLst>
              <a:gd name="adj" fmla="val 13888"/>
            </a:avLst>
          </a:prstGeom>
          <a:no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icon"/>
          <p:cNvSpPr/>
          <p:nvPr/>
        </p:nvSpPr>
        <p:spPr>
          <a:xfrm>
            <a:off x="10839160" y="461909"/>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7" name="vis:icon"/>
          <p:cNvCxnSpPr/>
          <p:nvPr/>
        </p:nvCxnSpPr>
        <p:spPr>
          <a:xfrm>
            <a:off x="10874593" y="47183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18" name="vis:icon"/>
          <p:cNvSpPr/>
          <p:nvPr/>
        </p:nvSpPr>
        <p:spPr>
          <a:xfrm>
            <a:off x="10839160" y="50442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9" name="vis:icon"/>
          <p:cNvCxnSpPr/>
          <p:nvPr/>
        </p:nvCxnSpPr>
        <p:spPr>
          <a:xfrm>
            <a:off x="10874593" y="514350"/>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0" name="vis:icon"/>
          <p:cNvSpPr/>
          <p:nvPr/>
        </p:nvSpPr>
        <p:spPr>
          <a:xfrm>
            <a:off x="10839160" y="546948"/>
            <a:ext cx="19842" cy="19842"/>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21" name="vis:icon"/>
          <p:cNvCxnSpPr/>
          <p:nvPr/>
        </p:nvCxnSpPr>
        <p:spPr>
          <a:xfrm>
            <a:off x="10874593" y="556869"/>
            <a:ext cx="87874" cy="0"/>
          </a:xfrm>
          <a:prstGeom prst="line">
            <a:avLst/>
          </a:prstGeom>
          <a:ln w="19050">
            <a:solidFill>
              <a:srgbClr val="FFFFFF"/>
            </a:solidFill>
          </a:ln>
          <a:effectLst/>
        </p:spPr>
        <p:style>
          <a:lnRef idx="2">
            <a:schemeClr val="accent1"/>
          </a:lnRef>
          <a:fillRef idx="0">
            <a:schemeClr val="accent1"/>
          </a:fillRef>
          <a:effectRef idx="1">
            <a:schemeClr val="accent1"/>
          </a:effectRef>
          <a:fontRef idx="minor">
            <a:schemeClr val="tx1"/>
          </a:fontRef>
        </p:style>
      </p:cxnSp>
      <p:sp>
        <p:nvSpPr>
          <p:cNvPr id="22"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FFFFFF"/>
                </a:solidFill>
                <a:latin typeface="Segoe UI Semibold"/>
              </a:rPr>
              <a:t>Menu</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RECAP CARD</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Evaluating answers on one screen</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cell:recaphint"/>
          <p:cNvSpPr txBox="1"/>
          <p:nvPr/>
        </p:nvSpPr>
        <p:spPr>
          <a:xfrm>
            <a:off x="502920" y="1591056"/>
            <a:ext cx="11185855" cy="256032"/>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Screenshot this slide. It is the whole module in one screen.</a:t>
            </a:r>
          </a:p>
        </p:txBody>
      </p:sp>
      <p:sp>
        <p:nvSpPr>
          <p:cNvPr id="16" name="vis:recaptile"/>
          <p:cNvSpPr/>
          <p:nvPr/>
        </p:nvSpPr>
        <p:spPr>
          <a:xfrm>
            <a:off x="502920"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recapbar"/>
          <p:cNvSpPr/>
          <p:nvPr/>
        </p:nvSpPr>
        <p:spPr>
          <a:xfrm>
            <a:off x="502920" y="190195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8" name="cell:recaphead"/>
          <p:cNvSpPr txBox="1"/>
          <p:nvPr/>
        </p:nvSpPr>
        <p:spPr>
          <a:xfrm>
            <a:off x="740664"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Four questions, thirty seconds</a:t>
            </a:r>
          </a:p>
        </p:txBody>
      </p:sp>
      <p:sp>
        <p:nvSpPr>
          <p:cNvPr id="19" name="cell:recapsub"/>
          <p:cNvSpPr txBox="1"/>
          <p:nvPr/>
        </p:nvSpPr>
        <p:spPr>
          <a:xfrm>
            <a:off x="740664"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Traceable, complete, usable, safe. Most answers fail on the second.</a:t>
            </a:r>
          </a:p>
        </p:txBody>
      </p:sp>
      <p:sp>
        <p:nvSpPr>
          <p:cNvPr id="20" name="vis:recaptile"/>
          <p:cNvSpPr/>
          <p:nvPr/>
        </p:nvSpPr>
        <p:spPr>
          <a:xfrm>
            <a:off x="6178143" y="190195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vis:recapbar"/>
          <p:cNvSpPr/>
          <p:nvPr/>
        </p:nvSpPr>
        <p:spPr>
          <a:xfrm>
            <a:off x="6178143" y="190195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2" name="cell:recaphead"/>
          <p:cNvSpPr txBox="1"/>
          <p:nvPr/>
        </p:nvSpPr>
        <p:spPr>
          <a:xfrm>
            <a:off x="6415887" y="201168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Ignore how well it reads</a:t>
            </a:r>
          </a:p>
        </p:txBody>
      </p:sp>
      <p:sp>
        <p:nvSpPr>
          <p:cNvPr id="23" name="cell:recapsub"/>
          <p:cNvSpPr txBox="1"/>
          <p:nvPr/>
        </p:nvSpPr>
        <p:spPr>
          <a:xfrm>
            <a:off x="6415887" y="232257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Fluency is constant, so it carries no information about quality.</a:t>
            </a:r>
          </a:p>
        </p:txBody>
      </p:sp>
      <p:sp>
        <p:nvSpPr>
          <p:cNvPr id="24" name="vis:recaptile"/>
          <p:cNvSpPr/>
          <p:nvPr/>
        </p:nvSpPr>
        <p:spPr>
          <a:xfrm>
            <a:off x="502920"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vis:recapbar"/>
          <p:cNvSpPr/>
          <p:nvPr/>
        </p:nvSpPr>
        <p:spPr>
          <a:xfrm>
            <a:off x="502920" y="302971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6" name="cell:recaphead"/>
          <p:cNvSpPr txBox="1"/>
          <p:nvPr/>
        </p:nvSpPr>
        <p:spPr>
          <a:xfrm>
            <a:off x="740664"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Read the middle first</a:t>
            </a:r>
          </a:p>
        </p:txBody>
      </p:sp>
      <p:sp>
        <p:nvSpPr>
          <p:cNvPr id="27" name="cell:recapsub"/>
          <p:cNvSpPr txBox="1"/>
          <p:nvPr/>
        </p:nvSpPr>
        <p:spPr>
          <a:xfrm>
            <a:off x="740664"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That is where the invented step or date survives a skim.</a:t>
            </a:r>
          </a:p>
        </p:txBody>
      </p:sp>
      <p:sp>
        <p:nvSpPr>
          <p:cNvPr id="28" name="vis:recaptile"/>
          <p:cNvSpPr/>
          <p:nvPr/>
        </p:nvSpPr>
        <p:spPr>
          <a:xfrm>
            <a:off x="6178143" y="302971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recapbar"/>
          <p:cNvSpPr/>
          <p:nvPr/>
        </p:nvSpPr>
        <p:spPr>
          <a:xfrm>
            <a:off x="6178143" y="302971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cell:recaphead"/>
          <p:cNvSpPr txBox="1"/>
          <p:nvPr/>
        </p:nvSpPr>
        <p:spPr>
          <a:xfrm>
            <a:off x="6415887" y="313944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Keep, change, supply</a:t>
            </a:r>
          </a:p>
        </p:txBody>
      </p:sp>
      <p:sp>
        <p:nvSpPr>
          <p:cNvPr id="31" name="cell:recapsub"/>
          <p:cNvSpPr txBox="1"/>
          <p:nvPr/>
        </p:nvSpPr>
        <p:spPr>
          <a:xfrm>
            <a:off x="6415887" y="345033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Protect the good part, name two changes, give the right value.</a:t>
            </a:r>
          </a:p>
        </p:txBody>
      </p:sp>
      <p:sp>
        <p:nvSpPr>
          <p:cNvPr id="32" name="vis:recaptile"/>
          <p:cNvSpPr/>
          <p:nvPr/>
        </p:nvSpPr>
        <p:spPr>
          <a:xfrm>
            <a:off x="502920"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vis:recapbar"/>
          <p:cNvSpPr/>
          <p:nvPr/>
        </p:nvSpPr>
        <p:spPr>
          <a:xfrm>
            <a:off x="502920" y="415747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4" name="cell:recaphead"/>
          <p:cNvSpPr txBox="1"/>
          <p:nvPr/>
        </p:nvSpPr>
        <p:spPr>
          <a:xfrm>
            <a:off x="740664"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Balance means it has nothing</a:t>
            </a:r>
          </a:p>
        </p:txBody>
      </p:sp>
      <p:sp>
        <p:nvSpPr>
          <p:cNvPr id="35" name="cell:recapsub"/>
          <p:cNvSpPr txBox="1"/>
          <p:nvPr/>
        </p:nvSpPr>
        <p:spPr>
          <a:xfrm>
            <a:off x="740664"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Ask for one recommendation and two reasons instead.</a:t>
            </a:r>
          </a:p>
        </p:txBody>
      </p:sp>
      <p:sp>
        <p:nvSpPr>
          <p:cNvPr id="36" name="vis:recaptile"/>
          <p:cNvSpPr/>
          <p:nvPr/>
        </p:nvSpPr>
        <p:spPr>
          <a:xfrm>
            <a:off x="6178143" y="4157472"/>
            <a:ext cx="5510631" cy="963168"/>
          </a:xfrm>
          <a:prstGeom prst="roundRect">
            <a:avLst>
              <a:gd name="adj" fmla="val 7594"/>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vis:recapbar"/>
          <p:cNvSpPr/>
          <p:nvPr/>
        </p:nvSpPr>
        <p:spPr>
          <a:xfrm>
            <a:off x="6178143" y="4157472"/>
            <a:ext cx="54864" cy="963168"/>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8" name="cell:recaphead"/>
          <p:cNvSpPr txBox="1"/>
          <p:nvPr/>
        </p:nvSpPr>
        <p:spPr>
          <a:xfrm>
            <a:off x="6415887" y="42672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Round four means rewrite</a:t>
            </a:r>
          </a:p>
        </p:txBody>
      </p:sp>
      <p:sp>
        <p:nvSpPr>
          <p:cNvPr id="39" name="cell:recapsub"/>
          <p:cNvSpPr txBox="1"/>
          <p:nvPr/>
        </p:nvSpPr>
        <p:spPr>
          <a:xfrm>
            <a:off x="6415887" y="4578096"/>
            <a:ext cx="5035143" cy="43281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Three rounds of drift is a prompt problem, not an answer problem.</a:t>
            </a:r>
          </a:p>
        </p:txBody>
      </p:sp>
      <p:sp>
        <p:nvSpPr>
          <p:cNvPr id="40" name="vis:recapline"/>
          <p:cNvSpPr/>
          <p:nvPr/>
        </p:nvSpPr>
        <p:spPr>
          <a:xfrm>
            <a:off x="502920" y="5266944"/>
            <a:ext cx="11185855" cy="749808"/>
          </a:xfrm>
          <a:prstGeom prst="roundRect">
            <a:avLst>
              <a:gd name="adj" fmla="val 1219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1" name="vis:icon"/>
          <p:cNvSpPr/>
          <p:nvPr/>
        </p:nvSpPr>
        <p:spPr>
          <a:xfrm>
            <a:off x="875995" y="5464820"/>
            <a:ext cx="241401" cy="241401"/>
          </a:xfrm>
          <a:prstGeom prst="ellipse">
            <a:avLst/>
          </a:prstGeom>
          <a:noFill/>
          <a:ln w="19050">
            <a:solidFill>
              <a:srgbClr val="A17CC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2" name="vis:icon"/>
          <p:cNvCxnSpPr/>
          <p:nvPr/>
        </p:nvCxnSpPr>
        <p:spPr>
          <a:xfrm>
            <a:off x="932322" y="5738408"/>
            <a:ext cx="128747" cy="0"/>
          </a:xfrm>
          <a:prstGeom prst="line">
            <a:avLst/>
          </a:prstGeom>
          <a:ln w="19050">
            <a:solidFill>
              <a:srgbClr val="A17CC3"/>
            </a:solidFill>
          </a:ln>
          <a:effectLst/>
        </p:spPr>
        <p:style>
          <a:lnRef idx="2">
            <a:schemeClr val="accent1"/>
          </a:lnRef>
          <a:fillRef idx="0">
            <a:schemeClr val="accent1"/>
          </a:fillRef>
          <a:effectRef idx="1">
            <a:schemeClr val="accent1"/>
          </a:effectRef>
          <a:fontRef idx="minor">
            <a:schemeClr val="tx1"/>
          </a:fontRef>
        </p:style>
      </p:cxnSp>
      <p:cxnSp>
        <p:nvCxnSpPr>
          <p:cNvPr id="43" name="vis:icon"/>
          <p:cNvCxnSpPr/>
          <p:nvPr/>
        </p:nvCxnSpPr>
        <p:spPr>
          <a:xfrm>
            <a:off x="948415" y="5802782"/>
            <a:ext cx="96561" cy="0"/>
          </a:xfrm>
          <a:prstGeom prst="line">
            <a:avLst/>
          </a:prstGeom>
          <a:ln w="19050">
            <a:solidFill>
              <a:srgbClr val="A17CC3"/>
            </a:solidFill>
          </a:ln>
          <a:effectLst/>
        </p:spPr>
        <p:style>
          <a:lnRef idx="2">
            <a:schemeClr val="accent1"/>
          </a:lnRef>
          <a:fillRef idx="0">
            <a:schemeClr val="accent1"/>
          </a:fillRef>
          <a:effectRef idx="1">
            <a:schemeClr val="accent1"/>
          </a:effectRef>
          <a:fontRef idx="minor">
            <a:schemeClr val="tx1"/>
          </a:fontRef>
        </p:style>
      </p:cxnSp>
      <p:sp>
        <p:nvSpPr>
          <p:cNvPr id="44" name="cell:recapone"/>
          <p:cNvSpPr txBox="1"/>
          <p:nvPr/>
        </p:nvSpPr>
        <p:spPr>
          <a:xfrm>
            <a:off x="1417320" y="5394959"/>
            <a:ext cx="9960559" cy="493776"/>
          </a:xfrm>
          <a:prstGeom prst="rect">
            <a:avLst/>
          </a:prstGeom>
          <a:noFill/>
        </p:spPr>
        <p:txBody>
          <a:bodyPr wrap="square" lIns="0" rIns="0" tIns="0" bIns="0" anchor="ctr">
            <a:spAutoFit/>
          </a:bodyPr>
          <a:lstStyle/>
          <a:p>
            <a:pPr algn="l">
              <a:lnSpc>
                <a:spcPts val="2600"/>
              </a:lnSpc>
              <a:spcBef>
                <a:spcPts val="0"/>
              </a:spcBef>
              <a:spcAft>
                <a:spcPts val="0"/>
              </a:spcAft>
            </a:pPr>
            <a:r>
              <a:rPr sz="2000" b="0">
                <a:solidFill>
                  <a:srgbClr val="FFFFFF"/>
                </a:solidFill>
                <a:latin typeface="Segoe UI Semibold"/>
              </a:rPr>
              <a:t>Judge it on what it says, never on how well it says it.</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YOUR TOOLKIT</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Take these three things with you</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5"/>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seclabel"/>
          <p:cNvSpPr txBox="1"/>
          <p:nvPr/>
        </p:nvSpPr>
        <p:spPr>
          <a:xfrm>
            <a:off x="502920" y="1719072"/>
            <a:ext cx="6448882"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TEMPLATES YOU CAN REUSE TODAY</a:t>
            </a:r>
          </a:p>
        </p:txBody>
      </p:sp>
      <p:sp>
        <p:nvSpPr>
          <p:cNvPr id="16" name="vis:tk"/>
          <p:cNvSpPr/>
          <p:nvPr/>
        </p:nvSpPr>
        <p:spPr>
          <a:xfrm>
            <a:off x="502920" y="2121408"/>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vis:badge"/>
          <p:cNvSpPr/>
          <p:nvPr/>
        </p:nvSpPr>
        <p:spPr>
          <a:xfrm>
            <a:off x="722376" y="2243328"/>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8" name="vis:icon"/>
          <p:cNvCxnSpPr/>
          <p:nvPr/>
        </p:nvCxnSpPr>
        <p:spPr>
          <a:xfrm>
            <a:off x="882549" y="2504685"/>
            <a:ext cx="69231" cy="69231"/>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cxnSp>
        <p:nvCxnSpPr>
          <p:cNvPr id="19" name="vis:icon"/>
          <p:cNvCxnSpPr/>
          <p:nvPr/>
        </p:nvCxnSpPr>
        <p:spPr>
          <a:xfrm flipV="1">
            <a:off x="951780" y="2424803"/>
            <a:ext cx="127811" cy="149113"/>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20" name="cell:tkname"/>
          <p:cNvSpPr txBox="1"/>
          <p:nvPr/>
        </p:nvSpPr>
        <p:spPr>
          <a:xfrm>
            <a:off x="1417320" y="2212848"/>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four questions</a:t>
            </a:r>
          </a:p>
        </p:txBody>
      </p:sp>
      <p:sp>
        <p:nvSpPr>
          <p:cNvPr id="21" name="cell:tksub"/>
          <p:cNvSpPr txBox="1"/>
          <p:nvPr/>
        </p:nvSpPr>
        <p:spPr>
          <a:xfrm>
            <a:off x="1417320" y="2517648"/>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Traceable, complete, usable, safe. Thirty seconds.</a:t>
            </a:r>
          </a:p>
        </p:txBody>
      </p:sp>
      <p:sp>
        <p:nvSpPr>
          <p:cNvPr id="22" name="vis:tk"/>
          <p:cNvSpPr/>
          <p:nvPr/>
        </p:nvSpPr>
        <p:spPr>
          <a:xfrm>
            <a:off x="502920" y="3023616"/>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3" name="vis:badge"/>
          <p:cNvSpPr/>
          <p:nvPr/>
        </p:nvSpPr>
        <p:spPr>
          <a:xfrm>
            <a:off x="722376" y="3145536"/>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icon"/>
          <p:cNvSpPr/>
          <p:nvPr/>
        </p:nvSpPr>
        <p:spPr>
          <a:xfrm>
            <a:off x="872126" y="3309328"/>
            <a:ext cx="212563" cy="198749"/>
          </a:xfrm>
          <a:custGeom>
            <a:avLst/>
            <a:gdLst/>
            <a:ahLst/>
            <a:cxnLst/>
            <a:rect l="l" t="t" r="r" b="b"/>
            <a:pathLst>
              <a:path w="212563" h="198749">
                <a:moveTo>
                  <a:pt x="159536" y="0"/>
                </a:moveTo>
                <a:lnTo>
                  <a:pt x="186359" y="22013"/>
                </a:lnTo>
                <a:lnTo>
                  <a:pt x="204683" y="51480"/>
                </a:lnTo>
                <a:lnTo>
                  <a:pt x="212563" y="85273"/>
                </a:lnTo>
                <a:lnTo>
                  <a:pt x="209162" y="119806"/>
                </a:lnTo>
                <a:lnTo>
                  <a:pt x="194841" y="151413"/>
                </a:lnTo>
                <a:lnTo>
                  <a:pt x="171120" y="176739"/>
                </a:lnTo>
                <a:lnTo>
                  <a:pt x="140518" y="193096"/>
                </a:lnTo>
                <a:lnTo>
                  <a:pt x="106282" y="198749"/>
                </a:lnTo>
                <a:lnTo>
                  <a:pt x="72045" y="193096"/>
                </a:lnTo>
                <a:lnTo>
                  <a:pt x="41443" y="176739"/>
                </a:lnTo>
                <a:lnTo>
                  <a:pt x="17722" y="151413"/>
                </a:lnTo>
                <a:lnTo>
                  <a:pt x="3401" y="119806"/>
                </a:lnTo>
                <a:lnTo>
                  <a:pt x="0" y="85273"/>
                </a:lnTo>
                <a:lnTo>
                  <a:pt x="7880" y="51480"/>
                </a:lnTo>
                <a:lnTo>
                  <a:pt x="26204" y="22013"/>
                </a:lnTo>
                <a:lnTo>
                  <a:pt x="53027" y="0"/>
                </a:lnTo>
              </a:path>
            </a:pathLst>
          </a:cu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vis:icon"/>
          <p:cNvSpPr/>
          <p:nvPr/>
        </p:nvSpPr>
        <p:spPr>
          <a:xfrm>
            <a:off x="913171" y="3288135"/>
            <a:ext cx="48994" cy="42071"/>
          </a:xfrm>
          <a:custGeom>
            <a:avLst/>
            <a:gdLst/>
            <a:ahLst/>
            <a:cxnLst/>
            <a:rect l="l" t="t" r="r" b="b"/>
            <a:pathLst>
              <a:path w="48994" h="42071">
                <a:moveTo>
                  <a:pt x="48994" y="0"/>
                </a:moveTo>
                <a:lnTo>
                  <a:pt x="23964" y="42071"/>
                </a:lnTo>
                <a:lnTo>
                  <a:pt x="0" y="533"/>
                </a:lnTo>
                <a:close/>
              </a:path>
            </a:pathLst>
          </a:cu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cell:tkname"/>
          <p:cNvSpPr txBox="1"/>
          <p:nvPr/>
        </p:nvSpPr>
        <p:spPr>
          <a:xfrm>
            <a:off x="1417320" y="3115056"/>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correction pattern</a:t>
            </a:r>
          </a:p>
        </p:txBody>
      </p:sp>
      <p:sp>
        <p:nvSpPr>
          <p:cNvPr id="27" name="cell:tksub"/>
          <p:cNvSpPr txBox="1"/>
          <p:nvPr/>
        </p:nvSpPr>
        <p:spPr>
          <a:xfrm>
            <a:off x="1417320" y="3419856"/>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Keep this, change that, here is the right value.</a:t>
            </a:r>
          </a:p>
        </p:txBody>
      </p:sp>
      <p:sp>
        <p:nvSpPr>
          <p:cNvPr id="28" name="vis:tk"/>
          <p:cNvSpPr/>
          <p:nvPr/>
        </p:nvSpPr>
        <p:spPr>
          <a:xfrm>
            <a:off x="502920" y="3925823"/>
            <a:ext cx="6448882" cy="755904"/>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vis:badge"/>
          <p:cNvSpPr/>
          <p:nvPr/>
        </p:nvSpPr>
        <p:spPr>
          <a:xfrm>
            <a:off x="722376" y="4047743"/>
            <a:ext cx="512064" cy="512064"/>
          </a:xfrm>
          <a:prstGeom prst="roundRect">
            <a:avLst>
              <a:gd name="adj" fmla="val 17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0" name="vis:icon"/>
          <p:cNvSpPr/>
          <p:nvPr/>
        </p:nvSpPr>
        <p:spPr>
          <a:xfrm>
            <a:off x="863910" y="4205254"/>
            <a:ext cx="37278" cy="3727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1" name="vis:icon"/>
          <p:cNvCxnSpPr/>
          <p:nvPr/>
        </p:nvCxnSpPr>
        <p:spPr>
          <a:xfrm>
            <a:off x="930478" y="4223894"/>
            <a:ext cx="165090"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2" name="vis:icon"/>
          <p:cNvSpPr/>
          <p:nvPr/>
        </p:nvSpPr>
        <p:spPr>
          <a:xfrm>
            <a:off x="863910" y="4285136"/>
            <a:ext cx="37278" cy="3727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3" name="vis:icon"/>
          <p:cNvCxnSpPr/>
          <p:nvPr/>
        </p:nvCxnSpPr>
        <p:spPr>
          <a:xfrm>
            <a:off x="930478" y="4303775"/>
            <a:ext cx="165090"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4" name="vis:icon"/>
          <p:cNvSpPr/>
          <p:nvPr/>
        </p:nvSpPr>
        <p:spPr>
          <a:xfrm>
            <a:off x="863910" y="4365018"/>
            <a:ext cx="37278" cy="37278"/>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35" name="vis:icon"/>
          <p:cNvCxnSpPr/>
          <p:nvPr/>
        </p:nvCxnSpPr>
        <p:spPr>
          <a:xfrm>
            <a:off x="930478" y="4383657"/>
            <a:ext cx="165090"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36" name="cell:tkname"/>
          <p:cNvSpPr txBox="1"/>
          <p:nvPr/>
        </p:nvSpPr>
        <p:spPr>
          <a:xfrm>
            <a:off x="1417320" y="4017263"/>
            <a:ext cx="5278450" cy="377952"/>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The comparison prompt</a:t>
            </a:r>
          </a:p>
        </p:txBody>
      </p:sp>
      <p:sp>
        <p:nvSpPr>
          <p:cNvPr id="37" name="cell:tksub"/>
          <p:cNvSpPr txBox="1"/>
          <p:nvPr/>
        </p:nvSpPr>
        <p:spPr>
          <a:xfrm>
            <a:off x="1417320" y="4322063"/>
            <a:ext cx="5278450" cy="332597"/>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Differences in substance only, one line each.</a:t>
            </a:r>
          </a:p>
        </p:txBody>
      </p:sp>
      <p:sp>
        <p:nvSpPr>
          <p:cNvPr id="38" name="seclabel"/>
          <p:cNvSpPr txBox="1"/>
          <p:nvPr/>
        </p:nvSpPr>
        <p:spPr>
          <a:xfrm>
            <a:off x="8082076" y="1719072"/>
            <a:ext cx="3606698" cy="274320"/>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LINKS THAT WORK</a:t>
            </a:r>
          </a:p>
        </p:txBody>
      </p:sp>
      <p:sp>
        <p:nvSpPr>
          <p:cNvPr id="39" name="nav:link">
            <a:hlinkClick r:id="rId2"/>
          </p:cNvPr>
          <p:cNvSpPr/>
          <p:nvPr/>
        </p:nvSpPr>
        <p:spPr>
          <a:xfrm>
            <a:off x="8082076" y="2121408"/>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vis:icon"/>
          <p:cNvSpPr/>
          <p:nvPr/>
        </p:nvSpPr>
        <p:spPr>
          <a:xfrm>
            <a:off x="8339937" y="2300630"/>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1" name="vis:icon"/>
          <p:cNvCxnSpPr/>
          <p:nvPr/>
        </p:nvCxnSpPr>
        <p:spPr>
          <a:xfrm>
            <a:off x="8482584" y="2443276"/>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2" name="cell:linklabel"/>
          <p:cNvSpPr txBox="1"/>
          <p:nvPr/>
        </p:nvSpPr>
        <p:spPr>
          <a:xfrm>
            <a:off x="8703868" y="2203703"/>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ChatGPT</a:t>
            </a:r>
          </a:p>
        </p:txBody>
      </p:sp>
      <p:sp>
        <p:nvSpPr>
          <p:cNvPr id="43" name="cell:linkurl"/>
          <p:cNvSpPr txBox="1"/>
          <p:nvPr/>
        </p:nvSpPr>
        <p:spPr>
          <a:xfrm>
            <a:off x="8703868" y="2423160"/>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chatgpt.com</a:t>
            </a:r>
          </a:p>
        </p:txBody>
      </p:sp>
      <p:sp>
        <p:nvSpPr>
          <p:cNvPr id="44" name="nav:link">
            <a:hlinkClick r:id="rId3"/>
          </p:cNvPr>
          <p:cNvSpPr/>
          <p:nvPr/>
        </p:nvSpPr>
        <p:spPr>
          <a:xfrm>
            <a:off x="8082076" y="2798063"/>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5" name="vis:icon"/>
          <p:cNvSpPr/>
          <p:nvPr/>
        </p:nvSpPr>
        <p:spPr>
          <a:xfrm>
            <a:off x="8339937" y="2977286"/>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46" name="vis:icon"/>
          <p:cNvCxnSpPr/>
          <p:nvPr/>
        </p:nvCxnSpPr>
        <p:spPr>
          <a:xfrm>
            <a:off x="8482584" y="3119932"/>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47" name="cell:linklabel"/>
          <p:cNvSpPr txBox="1"/>
          <p:nvPr/>
        </p:nvSpPr>
        <p:spPr>
          <a:xfrm>
            <a:off x="8703868" y="2880359"/>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Microsoft Copilot</a:t>
            </a:r>
          </a:p>
        </p:txBody>
      </p:sp>
      <p:sp>
        <p:nvSpPr>
          <p:cNvPr id="48" name="cell:linkurl"/>
          <p:cNvSpPr txBox="1"/>
          <p:nvPr/>
        </p:nvSpPr>
        <p:spPr>
          <a:xfrm>
            <a:off x="8703868" y="3099815"/>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copilot.microsoft.com</a:t>
            </a:r>
          </a:p>
        </p:txBody>
      </p:sp>
      <p:sp>
        <p:nvSpPr>
          <p:cNvPr id="49" name="nav:link">
            <a:hlinkClick r:id="rId4"/>
          </p:cNvPr>
          <p:cNvSpPr/>
          <p:nvPr/>
        </p:nvSpPr>
        <p:spPr>
          <a:xfrm>
            <a:off x="8082076" y="3474720"/>
            <a:ext cx="3606698" cy="566928"/>
          </a:xfrm>
          <a:prstGeom prst="roundRect">
            <a:avLst>
              <a:gd name="adj" fmla="val 9677"/>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0" name="vis:icon"/>
          <p:cNvSpPr/>
          <p:nvPr/>
        </p:nvSpPr>
        <p:spPr>
          <a:xfrm>
            <a:off x="8339937" y="3653942"/>
            <a:ext cx="164592" cy="164592"/>
          </a:xfrm>
          <a:prstGeom prst="ellipse">
            <a:avLst/>
          </a:prstGeom>
          <a:noFill/>
          <a:ln w="1905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51" name="vis:icon"/>
          <p:cNvCxnSpPr/>
          <p:nvPr/>
        </p:nvCxnSpPr>
        <p:spPr>
          <a:xfrm>
            <a:off x="8482584" y="3796588"/>
            <a:ext cx="65836" cy="65837"/>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52" name="cell:linklabel"/>
          <p:cNvSpPr txBox="1"/>
          <p:nvPr/>
        </p:nvSpPr>
        <p:spPr>
          <a:xfrm>
            <a:off x="8703868" y="3557015"/>
            <a:ext cx="2747162" cy="219456"/>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101826"/>
                </a:solidFill>
                <a:latin typeface="Segoe UI Semibold"/>
              </a:rPr>
              <a:t>Google Gemini</a:t>
            </a:r>
          </a:p>
        </p:txBody>
      </p:sp>
      <p:sp>
        <p:nvSpPr>
          <p:cNvPr id="53" name="cell:linkurl"/>
          <p:cNvSpPr txBox="1"/>
          <p:nvPr/>
        </p:nvSpPr>
        <p:spPr>
          <a:xfrm>
            <a:off x="8703868" y="3776472"/>
            <a:ext cx="2747162" cy="201168"/>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a:rPr>
              <a:t>gemini.google.com</a:t>
            </a:r>
          </a:p>
        </p:txBody>
      </p:sp>
      <p:sp>
        <p:nvSpPr>
          <p:cNvPr id="54" name="vis:next"/>
          <p:cNvSpPr/>
          <p:nvPr/>
        </p:nvSpPr>
        <p:spPr>
          <a:xfrm>
            <a:off x="8082076" y="4297680"/>
            <a:ext cx="3606698" cy="1719072"/>
          </a:xfrm>
          <a:prstGeom prst="roundRect">
            <a:avLst>
              <a:gd name="adj" fmla="val 4255"/>
            </a:avLst>
          </a:prstGeom>
          <a:solidFill>
            <a:srgbClr val="1018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55" name="seclabel"/>
          <p:cNvSpPr txBox="1"/>
          <p:nvPr/>
        </p:nvSpPr>
        <p:spPr>
          <a:xfrm>
            <a:off x="8338108" y="4480560"/>
            <a:ext cx="3094634"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A17CC3"/>
                </a:solidFill>
                <a:latin typeface="Segoe UI Semibold"/>
              </a:rPr>
              <a:t>DO THIS NEXT</a:t>
            </a:r>
          </a:p>
        </p:txBody>
      </p:sp>
      <p:sp>
        <p:nvSpPr>
          <p:cNvPr id="56" name="cell:next"/>
          <p:cNvSpPr txBox="1"/>
          <p:nvPr/>
        </p:nvSpPr>
        <p:spPr>
          <a:xfrm>
            <a:off x="8338108" y="4809744"/>
            <a:ext cx="3094634" cy="987551"/>
          </a:xfrm>
          <a:prstGeom prst="rect">
            <a:avLst/>
          </a:prstGeom>
          <a:noFill/>
        </p:spPr>
        <p:txBody>
          <a:bodyPr wrap="square" lIns="0" rIns="0" tIns="0" bIns="0" anchor="t">
            <a:spAutoFit/>
          </a:bodyPr>
          <a:lstStyle/>
          <a:p>
            <a:pPr algn="l">
              <a:lnSpc>
                <a:spcPts val="1885"/>
              </a:lnSpc>
              <a:spcBef>
                <a:spcPts val="0"/>
              </a:spcBef>
              <a:spcAft>
                <a:spcPts val="0"/>
              </a:spcAft>
            </a:pPr>
            <a:r>
              <a:rPr sz="1450" b="0">
                <a:solidFill>
                  <a:srgbClr val="FFFFFF"/>
                </a:solidFill>
                <a:latin typeface="Segoe UI"/>
              </a:rPr>
              <a:t>Next track: DW-01, Email Writing with AI. The same evaluation habits, applied to the thing most people write twenty times a day.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seclabel"/>
          <p:cNvSpPr txBox="1"/>
          <p:nvPr/>
        </p:nvSpPr>
        <p:spPr>
          <a:xfrm>
            <a:off x="502920" y="365760"/>
            <a:ext cx="7396276" cy="237744"/>
          </a:xfrm>
          <a:prstGeom prst="rect">
            <a:avLst/>
          </a:prstGeom>
          <a:noFill/>
        </p:spPr>
        <p:txBody>
          <a:bodyPr wrap="square" lIns="0" rIns="0" tIns="0" bIns="0" anchor="t">
            <a:spAutoFit/>
          </a:bodyPr>
          <a:lstStyle/>
          <a:p>
            <a:pPr algn="l">
              <a:lnSpc>
                <a:spcPts val="1690"/>
              </a:lnSpc>
              <a:spcBef>
                <a:spcPts val="0"/>
              </a:spcBef>
              <a:spcAft>
                <a:spcPts val="0"/>
              </a:spcAft>
            </a:pPr>
            <a:r>
              <a:rPr sz="1300" b="0" spc="140">
                <a:solidFill>
                  <a:srgbClr val="6A2FA0"/>
                </a:solidFill>
                <a:latin typeface="Segoe UI Semibold"/>
              </a:rPr>
              <a:t>GLOSSARY</a:t>
            </a:r>
          </a:p>
        </p:txBody>
      </p:sp>
      <p:sp>
        <p:nvSpPr>
          <p:cNvPr id="3" name="title"/>
          <p:cNvSpPr txBox="1"/>
          <p:nvPr/>
        </p:nvSpPr>
        <p:spPr>
          <a:xfrm>
            <a:off x="502920" y="658368"/>
            <a:ext cx="9291066" cy="749808"/>
          </a:xfrm>
          <a:prstGeom prst="rect">
            <a:avLst/>
          </a:prstGeom>
          <a:noFill/>
        </p:spPr>
        <p:txBody>
          <a:bodyPr wrap="square" lIns="0" rIns="0" tIns="0" bIns="0" anchor="b">
            <a:spAutoFit/>
          </a:bodyPr>
          <a:lstStyle/>
          <a:p>
            <a:pPr algn="l">
              <a:lnSpc>
                <a:spcPts val="4420"/>
              </a:lnSpc>
              <a:spcBef>
                <a:spcPts val="0"/>
              </a:spcBef>
              <a:spcAft>
                <a:spcPts val="0"/>
              </a:spcAft>
            </a:pPr>
            <a:r>
              <a:rPr sz="3400" b="0">
                <a:solidFill>
                  <a:srgbClr val="101826"/>
                </a:solidFill>
                <a:latin typeface="Segoe UI Semibold"/>
              </a:rPr>
              <a:t>Words people use around AI</a:t>
            </a:r>
          </a:p>
        </p:txBody>
      </p:sp>
      <p:cxnSp>
        <p:nvCxnSpPr>
          <p:cNvPr id="4" name="vis:rule"/>
          <p:cNvCxnSpPr/>
          <p:nvPr/>
        </p:nvCxnSpPr>
        <p:spPr>
          <a:xfrm>
            <a:off x="502920" y="1499616"/>
            <a:ext cx="11185855" cy="0"/>
          </a:xfrm>
          <a:prstGeom prst="line">
            <a:avLst/>
          </a:prstGeom>
          <a:ln w="12700">
            <a:solidFill>
              <a:srgbClr val="C9D1DE"/>
            </a:solidFill>
          </a:ln>
          <a:effectLst/>
        </p:spPr>
        <p:style>
          <a:lnRef idx="2">
            <a:schemeClr val="accent1"/>
          </a:lnRef>
          <a:fillRef idx="0">
            <a:schemeClr val="accent1"/>
          </a:fillRef>
          <a:effectRef idx="1">
            <a:schemeClr val="accent1"/>
          </a:effectRef>
          <a:fontRef idx="minor">
            <a:schemeClr val="tx1"/>
          </a:fontRef>
        </p:style>
      </p:cxnSp>
      <p:sp>
        <p:nvSpPr>
          <p:cNvPr id="5" name="footer"/>
          <p:cNvSpPr txBox="1"/>
          <p:nvPr/>
        </p:nvSpPr>
        <p:spPr>
          <a:xfrm>
            <a:off x="502920" y="6291072"/>
            <a:ext cx="6448882" cy="27432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5B6779"/>
                </a:solidFill>
                <a:latin typeface="Segoe UI"/>
              </a:rPr>
              <a:t>PE-07  ·  Evaluating AI Responses</a:t>
            </a:r>
          </a:p>
        </p:txBody>
      </p:sp>
      <p:sp>
        <p:nvSpPr>
          <p:cNvPr id="6" name="footer"/>
          <p:cNvSpPr txBox="1"/>
          <p:nvPr/>
        </p:nvSpPr>
        <p:spPr>
          <a:xfrm>
            <a:off x="8082076" y="6291072"/>
            <a:ext cx="3606698" cy="274320"/>
          </a:xfrm>
          <a:prstGeom prst="rect">
            <a:avLst/>
          </a:prstGeom>
          <a:noFill/>
        </p:spPr>
        <p:txBody>
          <a:bodyPr wrap="square" lIns="0" rIns="0" tIns="0" bIns="0" anchor="t">
            <a:spAutoFit/>
          </a:bodyPr>
          <a:lstStyle/>
          <a:p>
            <a:pPr algn="r">
              <a:lnSpc>
                <a:spcPts val="1560"/>
              </a:lnSpc>
              <a:spcBef>
                <a:spcPts val="0"/>
              </a:spcBef>
              <a:spcAft>
                <a:spcPts val="0"/>
              </a:spcAft>
            </a:pPr>
            <a:r>
              <a:rPr sz="1200" b="0">
                <a:solidFill>
                  <a:srgbClr val="5B6779"/>
                </a:solidFill>
                <a:latin typeface="Segoe UI"/>
              </a:rPr>
              <a:t>Inducto Learning Library</a:t>
            </a:r>
          </a:p>
        </p:txBody>
      </p:sp>
      <p:sp>
        <p:nvSpPr>
          <p:cNvPr id="7" name="nav:menu">
            <a:hlinkClick action="ppaction://hlinksldjump" r:id="rId2"/>
          </p:cNvPr>
          <p:cNvSpPr/>
          <p:nvPr/>
        </p:nvSpPr>
        <p:spPr>
          <a:xfrm>
            <a:off x="10682935" y="347472"/>
            <a:ext cx="1005840" cy="329184"/>
          </a:xfrm>
          <a:prstGeom prst="roundRect">
            <a:avLst>
              <a:gd name="adj" fmla="val 13888"/>
            </a:avLst>
          </a:prstGeom>
          <a:noFill/>
          <a:ln w="12700">
            <a:solidFill>
              <a:srgbClr val="6A2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8" name="vis:icon"/>
          <p:cNvSpPr/>
          <p:nvPr/>
        </p:nvSpPr>
        <p:spPr>
          <a:xfrm>
            <a:off x="10839160" y="461909"/>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9" name="vis:icon"/>
          <p:cNvCxnSpPr/>
          <p:nvPr/>
        </p:nvCxnSpPr>
        <p:spPr>
          <a:xfrm>
            <a:off x="10874593" y="47183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0" name="vis:icon"/>
          <p:cNvSpPr/>
          <p:nvPr/>
        </p:nvSpPr>
        <p:spPr>
          <a:xfrm>
            <a:off x="10839160" y="50442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1" name="vis:icon"/>
          <p:cNvCxnSpPr/>
          <p:nvPr/>
        </p:nvCxnSpPr>
        <p:spPr>
          <a:xfrm>
            <a:off x="10874593" y="514350"/>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2" name="vis:icon"/>
          <p:cNvSpPr/>
          <p:nvPr/>
        </p:nvSpPr>
        <p:spPr>
          <a:xfrm>
            <a:off x="10839160" y="546948"/>
            <a:ext cx="19842" cy="19842"/>
          </a:xfrm>
          <a:prstGeom prst="ellipse">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cxnSp>
        <p:nvCxnSpPr>
          <p:cNvPr id="13" name="vis:icon"/>
          <p:cNvCxnSpPr/>
          <p:nvPr/>
        </p:nvCxnSpPr>
        <p:spPr>
          <a:xfrm>
            <a:off x="10874593" y="556869"/>
            <a:ext cx="87874" cy="0"/>
          </a:xfrm>
          <a:prstGeom prst="line">
            <a:avLst/>
          </a:prstGeom>
          <a:ln w="19050">
            <a:solidFill>
              <a:srgbClr val="6A2FA0"/>
            </a:solidFill>
          </a:ln>
          <a:effectLst/>
        </p:spPr>
        <p:style>
          <a:lnRef idx="2">
            <a:schemeClr val="accent1"/>
          </a:lnRef>
          <a:fillRef idx="0">
            <a:schemeClr val="accent1"/>
          </a:fillRef>
          <a:effectRef idx="1">
            <a:schemeClr val="accent1"/>
          </a:effectRef>
          <a:fontRef idx="minor">
            <a:schemeClr val="tx1"/>
          </a:fontRef>
        </p:style>
      </p:cxnSp>
      <p:sp>
        <p:nvSpPr>
          <p:cNvPr id="14" name="nav:menutext"/>
          <p:cNvSpPr txBox="1"/>
          <p:nvPr/>
        </p:nvSpPr>
        <p:spPr>
          <a:xfrm>
            <a:off x="11066983" y="425196"/>
            <a:ext cx="493776" cy="182880"/>
          </a:xfrm>
          <a:prstGeom prst="rect">
            <a:avLst/>
          </a:prstGeom>
          <a:noFill/>
        </p:spPr>
        <p:txBody>
          <a:bodyPr wrap="square" lIns="0" rIns="0" tIns="0" bIns="0" anchor="t">
            <a:spAutoFit/>
          </a:bodyPr>
          <a:lstStyle/>
          <a:p>
            <a:pPr algn="l">
              <a:lnSpc>
                <a:spcPts val="1560"/>
              </a:lnSpc>
              <a:spcBef>
                <a:spcPts val="0"/>
              </a:spcBef>
              <a:spcAft>
                <a:spcPts val="0"/>
              </a:spcAft>
            </a:pPr>
            <a:r>
              <a:rPr sz="1200" b="0">
                <a:solidFill>
                  <a:srgbClr val="6A2FA0"/>
                </a:solidFill>
                <a:latin typeface="Segoe UI Semibold"/>
              </a:rPr>
              <a:t>Menu</a:t>
            </a:r>
          </a:p>
        </p:txBody>
      </p:sp>
      <p:sp>
        <p:nvSpPr>
          <p:cNvPr id="15" name="vis:gloss"/>
          <p:cNvSpPr/>
          <p:nvPr/>
        </p:nvSpPr>
        <p:spPr>
          <a:xfrm>
            <a:off x="502920"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6" name="vis:glossbar"/>
          <p:cNvSpPr/>
          <p:nvPr/>
        </p:nvSpPr>
        <p:spPr>
          <a:xfrm>
            <a:off x="502920" y="1719072"/>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17" name="cell:glossterm"/>
          <p:cNvSpPr txBox="1"/>
          <p:nvPr/>
        </p:nvSpPr>
        <p:spPr>
          <a:xfrm>
            <a:off x="740664"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Evaluation</a:t>
            </a:r>
          </a:p>
        </p:txBody>
      </p:sp>
      <p:sp>
        <p:nvSpPr>
          <p:cNvPr id="18" name="cell:glossdef"/>
          <p:cNvSpPr txBox="1"/>
          <p:nvPr/>
        </p:nvSpPr>
        <p:spPr>
          <a:xfrm>
            <a:off x="740664"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Deciding whether an answer can be sent, needs fixing, or should be thrown away.</a:t>
            </a:r>
          </a:p>
        </p:txBody>
      </p:sp>
      <p:sp>
        <p:nvSpPr>
          <p:cNvPr id="19" name="vis:gloss"/>
          <p:cNvSpPr/>
          <p:nvPr/>
        </p:nvSpPr>
        <p:spPr>
          <a:xfrm>
            <a:off x="6178143" y="1719072"/>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0" name="vis:glossbar"/>
          <p:cNvSpPr/>
          <p:nvPr/>
        </p:nvSpPr>
        <p:spPr>
          <a:xfrm>
            <a:off x="6178143" y="1719072"/>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1" name="cell:glossterm"/>
          <p:cNvSpPr txBox="1"/>
          <p:nvPr/>
        </p:nvSpPr>
        <p:spPr>
          <a:xfrm>
            <a:off x="6415887" y="1828800"/>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Traceable</a:t>
            </a:r>
          </a:p>
        </p:txBody>
      </p:sp>
      <p:sp>
        <p:nvSpPr>
          <p:cNvPr id="22" name="cell:glossdef"/>
          <p:cNvSpPr txBox="1"/>
          <p:nvPr/>
        </p:nvSpPr>
        <p:spPr>
          <a:xfrm>
            <a:off x="6415887" y="2139696"/>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 fact in the answer can be pointed back to something you supplied.</a:t>
            </a:r>
          </a:p>
        </p:txBody>
      </p:sp>
      <p:sp>
        <p:nvSpPr>
          <p:cNvPr id="23" name="vis:gloss"/>
          <p:cNvSpPr/>
          <p:nvPr/>
        </p:nvSpPr>
        <p:spPr>
          <a:xfrm>
            <a:off x="502920"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4" name="vis:glossbar"/>
          <p:cNvSpPr/>
          <p:nvPr/>
        </p:nvSpPr>
        <p:spPr>
          <a:xfrm>
            <a:off x="502920" y="2962656"/>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5" name="cell:glossterm"/>
          <p:cNvSpPr txBox="1"/>
          <p:nvPr/>
        </p:nvSpPr>
        <p:spPr>
          <a:xfrm>
            <a:off x="740664"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Correction</a:t>
            </a:r>
          </a:p>
        </p:txBody>
      </p:sp>
      <p:sp>
        <p:nvSpPr>
          <p:cNvPr id="26" name="cell:glossdef"/>
          <p:cNvSpPr txBox="1"/>
          <p:nvPr/>
        </p:nvSpPr>
        <p:spPr>
          <a:xfrm>
            <a:off x="740664"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 follow-up naming what to keep, what to change, and the correct value.</a:t>
            </a:r>
          </a:p>
        </p:txBody>
      </p:sp>
      <p:sp>
        <p:nvSpPr>
          <p:cNvPr id="27" name="vis:gloss"/>
          <p:cNvSpPr/>
          <p:nvPr/>
        </p:nvSpPr>
        <p:spPr>
          <a:xfrm>
            <a:off x="6178143" y="2962656"/>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8" name="vis:glossbar"/>
          <p:cNvSpPr/>
          <p:nvPr/>
        </p:nvSpPr>
        <p:spPr>
          <a:xfrm>
            <a:off x="6178143" y="2962656"/>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29" name="cell:glossterm"/>
          <p:cNvSpPr txBox="1"/>
          <p:nvPr/>
        </p:nvSpPr>
        <p:spPr>
          <a:xfrm>
            <a:off x="6415887" y="3072384"/>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Hedging</a:t>
            </a:r>
          </a:p>
        </p:txBody>
      </p:sp>
      <p:sp>
        <p:nvSpPr>
          <p:cNvPr id="30" name="cell:glossdef"/>
          <p:cNvSpPr txBox="1"/>
          <p:nvPr/>
        </p:nvSpPr>
        <p:spPr>
          <a:xfrm>
            <a:off x="6415887" y="3383280"/>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Answering both ways at once. Usually a sign it has nothing specific to say.</a:t>
            </a:r>
          </a:p>
        </p:txBody>
      </p:sp>
      <p:sp>
        <p:nvSpPr>
          <p:cNvPr id="31" name="vis:gloss"/>
          <p:cNvSpPr/>
          <p:nvPr/>
        </p:nvSpPr>
        <p:spPr>
          <a:xfrm>
            <a:off x="502920"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2" name="vis:glossbar"/>
          <p:cNvSpPr/>
          <p:nvPr/>
        </p:nvSpPr>
        <p:spPr>
          <a:xfrm>
            <a:off x="502920" y="4206240"/>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3" name="cell:glossterm"/>
          <p:cNvSpPr txBox="1"/>
          <p:nvPr/>
        </p:nvSpPr>
        <p:spPr>
          <a:xfrm>
            <a:off x="740664"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Prompt</a:t>
            </a:r>
          </a:p>
        </p:txBody>
      </p:sp>
      <p:sp>
        <p:nvSpPr>
          <p:cNvPr id="34" name="cell:glossdef"/>
          <p:cNvSpPr txBox="1"/>
          <p:nvPr/>
        </p:nvSpPr>
        <p:spPr>
          <a:xfrm>
            <a:off x="740664"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Everything you type in: context plus instructions plus your facts.</a:t>
            </a:r>
          </a:p>
        </p:txBody>
      </p:sp>
      <p:sp>
        <p:nvSpPr>
          <p:cNvPr id="35" name="vis:gloss"/>
          <p:cNvSpPr/>
          <p:nvPr/>
        </p:nvSpPr>
        <p:spPr>
          <a:xfrm>
            <a:off x="6178143" y="4206240"/>
            <a:ext cx="5510631" cy="1078992"/>
          </a:xfrm>
          <a:prstGeom prst="roundRect">
            <a:avLst>
              <a:gd name="adj" fmla="val 6779"/>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6" name="vis:glossbar"/>
          <p:cNvSpPr/>
          <p:nvPr/>
        </p:nvSpPr>
        <p:spPr>
          <a:xfrm>
            <a:off x="6178143" y="4206240"/>
            <a:ext cx="54864" cy="1078992"/>
          </a:xfrm>
          <a:prstGeom prst="rect">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37" name="cell:glossterm"/>
          <p:cNvSpPr txBox="1"/>
          <p:nvPr/>
        </p:nvSpPr>
        <p:spPr>
          <a:xfrm>
            <a:off x="6415887" y="4315968"/>
            <a:ext cx="5035143" cy="274320"/>
          </a:xfrm>
          <a:prstGeom prst="rect">
            <a:avLst/>
          </a:prstGeom>
          <a:noFill/>
        </p:spPr>
        <p:txBody>
          <a:bodyPr wrap="square" lIns="0" rIns="0" tIns="0" bIns="0" anchor="t">
            <a:spAutoFit/>
          </a:bodyPr>
          <a:lstStyle/>
          <a:p>
            <a:pPr algn="l">
              <a:lnSpc>
                <a:spcPts val="1950"/>
              </a:lnSpc>
              <a:spcBef>
                <a:spcPts val="0"/>
              </a:spcBef>
              <a:spcAft>
                <a:spcPts val="0"/>
              </a:spcAft>
            </a:pPr>
            <a:r>
              <a:rPr sz="1500" b="0">
                <a:solidFill>
                  <a:srgbClr val="101826"/>
                </a:solidFill>
                <a:latin typeface="Segoe UI Semibold"/>
              </a:rPr>
              <a:t>Output</a:t>
            </a:r>
          </a:p>
        </p:txBody>
      </p:sp>
      <p:sp>
        <p:nvSpPr>
          <p:cNvPr id="38" name="cell:glossdef"/>
          <p:cNvSpPr txBox="1"/>
          <p:nvPr/>
        </p:nvSpPr>
        <p:spPr>
          <a:xfrm>
            <a:off x="6415887" y="4626864"/>
            <a:ext cx="5035143" cy="548640"/>
          </a:xfrm>
          <a:prstGeom prst="rect">
            <a:avLst/>
          </a:prstGeom>
          <a:noFill/>
        </p:spPr>
        <p:txBody>
          <a:bodyPr wrap="square" lIns="0" rIns="0" tIns="0" bIns="0" anchor="t">
            <a:spAutoFit/>
          </a:bodyPr>
          <a:lstStyle/>
          <a:p>
            <a:pPr algn="l">
              <a:lnSpc>
                <a:spcPts val="1690"/>
              </a:lnSpc>
              <a:spcBef>
                <a:spcPts val="0"/>
              </a:spcBef>
              <a:spcAft>
                <a:spcPts val="0"/>
              </a:spcAft>
            </a:pPr>
            <a:r>
              <a:rPr sz="1300" b="0">
                <a:solidFill>
                  <a:srgbClr val="5B6779"/>
                </a:solidFill>
                <a:latin typeface="Segoe UI"/>
              </a:rPr>
              <a:t>What comes back. Your draft, which you are responsible for checking.</a:t>
            </a:r>
          </a:p>
        </p:txBody>
      </p:sp>
      <p:sp>
        <p:nvSpPr>
          <p:cNvPr id="39" name="nav:glossback">
            <a:hlinkClick action="ppaction://hlinksldjump" r:id="rId2"/>
          </p:cNvPr>
          <p:cNvSpPr/>
          <p:nvPr/>
        </p:nvSpPr>
        <p:spPr>
          <a:xfrm>
            <a:off x="502920" y="5504688"/>
            <a:ext cx="2651760" cy="512064"/>
          </a:xfrm>
          <a:prstGeom prst="roundRect">
            <a:avLst>
              <a:gd name="adj" fmla="val 10714"/>
            </a:avLst>
          </a:prstGeom>
          <a:solidFill>
            <a:srgbClr val="6A2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p:txBody>
      </p:sp>
      <p:sp>
        <p:nvSpPr>
          <p:cNvPr id="40" name="nav:glossbacktext"/>
          <p:cNvSpPr txBox="1"/>
          <p:nvPr/>
        </p:nvSpPr>
        <p:spPr>
          <a:xfrm>
            <a:off x="758952" y="5650992"/>
            <a:ext cx="2139696" cy="237744"/>
          </a:xfrm>
          <a:prstGeom prst="rect">
            <a:avLst/>
          </a:prstGeom>
          <a:noFill/>
        </p:spPr>
        <p:txBody>
          <a:bodyPr wrap="square" lIns="0" rIns="0" tIns="0" bIns="0" anchor="t">
            <a:spAutoFit/>
          </a:bodyPr>
          <a:lstStyle/>
          <a:p>
            <a:pPr algn="l">
              <a:lnSpc>
                <a:spcPts val="1820"/>
              </a:lnSpc>
              <a:spcBef>
                <a:spcPts val="0"/>
              </a:spcBef>
              <a:spcAft>
                <a:spcPts val="0"/>
              </a:spcAft>
            </a:pPr>
            <a:r>
              <a:rPr sz="1400" b="0">
                <a:solidFill>
                  <a:srgbClr val="FFFFFF"/>
                </a:solidFill>
                <a:latin typeface="Segoe UI Semibold"/>
              </a:rPr>
              <a:t>Back to the menu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