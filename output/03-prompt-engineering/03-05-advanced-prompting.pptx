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1c9iyoVIwDs"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layer"/>
          <p:cNvSpPr/>
          <p:nvPr/>
        </p:nvSpPr>
        <p:spPr>
          <a:xfrm>
            <a:off x="7589520" y="3595420"/>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ayer"/>
          <p:cNvSpPr/>
          <p:nvPr/>
        </p:nvSpPr>
        <p:spPr>
          <a:xfrm>
            <a:off x="7900416" y="3028492"/>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ayer"/>
          <p:cNvSpPr/>
          <p:nvPr/>
        </p:nvSpPr>
        <p:spPr>
          <a:xfrm>
            <a:off x="8211312" y="2461564"/>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ayer"/>
          <p:cNvSpPr/>
          <p:nvPr/>
        </p:nvSpPr>
        <p:spPr>
          <a:xfrm>
            <a:off x="8522208" y="1894636"/>
            <a:ext cx="2765145" cy="790041"/>
          </a:xfrm>
          <a:prstGeom prst="roundRect">
            <a:avLst>
              <a:gd name="adj" fmla="val 1157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960120" y="1085341"/>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PROMPT ENGINEERING</a:t>
            </a:r>
          </a:p>
        </p:txBody>
      </p:sp>
      <p:sp>
        <p:nvSpPr>
          <p:cNvPr id="9" name="title:cover"/>
          <p:cNvSpPr txBox="1"/>
          <p:nvPr/>
        </p:nvSpPr>
        <p:spPr>
          <a:xfrm>
            <a:off x="960120" y="1542541"/>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Advanced Prompting</a:t>
            </a:r>
          </a:p>
        </p:txBody>
      </p:sp>
      <p:cxnSp>
        <p:nvCxnSpPr>
          <p:cNvPr id="10" name="vis:rule"/>
          <p:cNvCxnSpPr/>
          <p:nvPr/>
        </p:nvCxnSpPr>
        <p:spPr>
          <a:xfrm>
            <a:off x="960120" y="2598166"/>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1" name="body:coversub"/>
          <p:cNvSpPr txBox="1"/>
          <p:nvPr/>
        </p:nvSpPr>
        <p:spPr>
          <a:xfrm>
            <a:off x="960120" y="2872486"/>
            <a:ext cx="5501487"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Breaking a big job into steps, setting limits the answer must respect, and checking the work as you go.</a:t>
            </a:r>
          </a:p>
        </p:txBody>
      </p:sp>
      <p:sp>
        <p:nvSpPr>
          <p:cNvPr id="12" name="vis:chip"/>
          <p:cNvSpPr/>
          <p:nvPr/>
        </p:nvSpPr>
        <p:spPr>
          <a:xfrm>
            <a:off x="960120" y="4419346"/>
            <a:ext cx="957834" cy="310896"/>
          </a:xfrm>
          <a:prstGeom prst="roundRect">
            <a:avLst>
              <a:gd name="adj" fmla="val 14705"/>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hiptext"/>
          <p:cNvSpPr txBox="1"/>
          <p:nvPr/>
        </p:nvSpPr>
        <p:spPr>
          <a:xfrm>
            <a:off x="1115568" y="4465065"/>
            <a:ext cx="6469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PE-05</a:t>
            </a:r>
          </a:p>
        </p:txBody>
      </p:sp>
      <p:sp>
        <p:nvSpPr>
          <p:cNvPr id="14" name="vis:chip"/>
          <p:cNvSpPr/>
          <p:nvPr/>
        </p:nvSpPr>
        <p:spPr>
          <a:xfrm>
            <a:off x="2064258" y="4419346"/>
            <a:ext cx="14817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hiptext"/>
          <p:cNvSpPr txBox="1"/>
          <p:nvPr/>
        </p:nvSpPr>
        <p:spPr>
          <a:xfrm>
            <a:off x="2219706" y="4465065"/>
            <a:ext cx="11708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20 MINUTES</a:t>
            </a:r>
          </a:p>
        </p:txBody>
      </p:sp>
      <p:sp>
        <p:nvSpPr>
          <p:cNvPr id="16" name="vis:chip"/>
          <p:cNvSpPr/>
          <p:nvPr/>
        </p:nvSpPr>
        <p:spPr>
          <a:xfrm>
            <a:off x="960120" y="4839970"/>
            <a:ext cx="3472086"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text"/>
          <p:cNvSpPr txBox="1"/>
          <p:nvPr/>
        </p:nvSpPr>
        <p:spPr>
          <a:xfrm>
            <a:off x="1115568" y="4885689"/>
            <a:ext cx="3161190"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STAFF WHO ALREADY PROMPT DAILY</a:t>
            </a:r>
          </a:p>
        </p:txBody>
      </p:sp>
      <p:sp>
        <p:nvSpPr>
          <p:cNvPr id="18"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9"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PE-05  ·  Advanced Prompting</a:t>
            </a:r>
          </a:p>
        </p:txBody>
      </p:sp>
      <p:sp>
        <p:nvSpPr>
          <p:cNvPr id="20"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Zainab asks for everything at once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5898" y="2243732"/>
            <a:ext cx="50591" cy="50591"/>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96241" y="2269028"/>
            <a:ext cx="22405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05898" y="2352144"/>
            <a:ext cx="50591" cy="50591"/>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96241" y="2377439"/>
            <a:ext cx="22405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1005898" y="2460555"/>
            <a:ext cx="50591" cy="50591"/>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1096241" y="2485851"/>
            <a:ext cx="22405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4"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Zainab handles compliance for an Abu Dhabi group. She asks one AI tool to read a policy, find the gaps, write the fixes and draft the board note. What comes back is confident, tidy and wrong in the middle, where nobody looks.</a:t>
            </a:r>
          </a:p>
        </p:txBody>
      </p:sp>
      <p:sp>
        <p:nvSpPr>
          <p:cNvPr id="25"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board note built on a gap analysis nobody checked.</a:t>
            </a:r>
          </a:p>
        </p:txBody>
      </p:sp>
      <p:sp>
        <p:nvSpPr>
          <p:cNvPr id="31"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AFTER THIS MODULE</a:t>
            </a:r>
          </a:p>
        </p:txBody>
      </p:sp>
      <p:cxnSp>
        <p:nvCxnSpPr>
          <p:cNvPr id="33"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4"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small asks instead of one big one, checked between each.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Split a large request into steps you can check individually</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30990" y="2842086"/>
            <a:ext cx="259426" cy="259426"/>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969315" y="2880411"/>
            <a:ext cx="182777" cy="18277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8"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Set constraints the answer is not allowed to break</a:t>
            </a:r>
          </a:p>
        </p:txBody>
      </p:sp>
      <p:sp>
        <p:nvSpPr>
          <p:cNvPr id="29"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943035" y="3765789"/>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is:icon"/>
          <p:cNvSpPr/>
          <p:nvPr/>
        </p:nvSpPr>
        <p:spPr>
          <a:xfrm>
            <a:off x="988477" y="3742326"/>
            <a:ext cx="54244" cy="46578"/>
          </a:xfrm>
          <a:custGeom>
            <a:avLst/>
            <a:gdLst/>
            <a:ahLst/>
            <a:cxnLst/>
            <a:rect l="l" t="t" r="r" b="b"/>
            <a:pathLst>
              <a:path w="54244" h="46578">
                <a:moveTo>
                  <a:pt x="54244" y="0"/>
                </a:moveTo>
                <a:lnTo>
                  <a:pt x="26532" y="46578"/>
                </a:lnTo>
                <a:lnTo>
                  <a:pt x="0" y="589"/>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Chain one answer into the next without losing control</a:t>
            </a:r>
          </a:p>
        </p:txBody>
      </p:sp>
      <p:sp>
        <p:nvSpPr>
          <p:cNvPr id="34"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925094" y="4657895"/>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vis:icon"/>
          <p:cNvSpPr/>
          <p:nvPr/>
        </p:nvSpPr>
        <p:spPr>
          <a:xfrm>
            <a:off x="1019431" y="4722751"/>
            <a:ext cx="82544" cy="82544"/>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Ask it to show its reasoning where the reasoning matters</a:t>
            </a:r>
          </a:p>
        </p:txBody>
      </p:sp>
      <p:sp>
        <p:nvSpPr>
          <p:cNvPr id="39"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954575" y="5666032"/>
            <a:ext cx="76648" cy="76648"/>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1031223" y="5577591"/>
            <a:ext cx="141505" cy="16508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3"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Build a self-check step into the prompt itself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Why one big ask fails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middle nobody checks</a:t>
            </a:r>
          </a:p>
        </p:txBody>
      </p:sp>
      <p:cxnSp>
        <p:nvCxnSpPr>
          <p:cNvPr id="13" name="vis:menuarrow"/>
          <p:cNvCxnSpPr/>
          <p:nvPr/>
        </p:nvCxnSpPr>
        <p:spPr>
          <a:xfrm>
            <a:off x="11213287" y="1997049"/>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Chaining</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Four small asks, checked</a:t>
            </a:r>
          </a:p>
        </p:txBody>
      </p:sp>
      <p:cxnSp>
        <p:nvCxnSpPr>
          <p:cNvPr id="19" name="vis:menuarrow"/>
          <p:cNvCxnSpPr/>
          <p:nvPr/>
        </p:nvCxnSpPr>
        <p:spPr>
          <a:xfrm>
            <a:off x="11213287" y="242498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Constraints</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Limits it must respect</a:t>
            </a:r>
          </a:p>
        </p:txBody>
      </p:sp>
      <p:cxnSp>
        <p:nvCxnSpPr>
          <p:cNvPr id="25" name="vis:menuarrow"/>
          <p:cNvCxnSpPr/>
          <p:nvPr/>
        </p:nvCxnSpPr>
        <p:spPr>
          <a:xfrm>
            <a:off x="11213287" y="285292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Show the working</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Where reasoning matters</a:t>
            </a:r>
          </a:p>
        </p:txBody>
      </p:sp>
      <p:cxnSp>
        <p:nvCxnSpPr>
          <p:cNvPr id="31" name="vis:menuarrow"/>
          <p:cNvCxnSpPr/>
          <p:nvPr/>
        </p:nvCxnSpPr>
        <p:spPr>
          <a:xfrm>
            <a:off x="11213287" y="3280867"/>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Chain a real task</a:t>
            </a:r>
          </a:p>
        </p:txBody>
      </p:sp>
      <p:cxnSp>
        <p:nvCxnSpPr>
          <p:cNvPr id="37" name="vis:menuarrow"/>
          <p:cNvCxnSpPr/>
          <p:nvPr/>
        </p:nvCxnSpPr>
        <p:spPr>
          <a:xfrm>
            <a:off x="11213287" y="3708806"/>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quarter-end decision</a:t>
            </a:r>
          </a:p>
        </p:txBody>
      </p:sp>
      <p:cxnSp>
        <p:nvCxnSpPr>
          <p:cNvPr id="43" name="vis:menuarrow"/>
          <p:cNvCxnSpPr/>
          <p:nvPr/>
        </p:nvCxnSpPr>
        <p:spPr>
          <a:xfrm>
            <a:off x="11213287" y="4136745"/>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13-minute outside explainer</a:t>
            </a:r>
          </a:p>
        </p:txBody>
      </p:sp>
      <p:cxnSp>
        <p:nvCxnSpPr>
          <p:cNvPr id="49" name="vis:menuarrow"/>
          <p:cNvCxnSpPr/>
          <p:nvPr/>
        </p:nvCxnSpPr>
        <p:spPr>
          <a:xfrm>
            <a:off x="11213287" y="456468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ONE BIG ASK FAILS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middle nobody checks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 four-stage request produces one polished answer. You can only check the ends of it.</a:t>
            </a:r>
          </a:p>
        </p:txBody>
      </p:sp>
      <p:sp>
        <p:nvSpPr>
          <p:cNvPr id="16" name="vis:flowcard"/>
          <p:cNvSpPr/>
          <p:nvPr/>
        </p:nvSpPr>
        <p:spPr>
          <a:xfrm>
            <a:off x="502920"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Stage one is fine</a:t>
            </a:r>
          </a:p>
        </p:txBody>
      </p:sp>
      <p:sp>
        <p:nvSpPr>
          <p:cNvPr id="20" name="vis:flowsub"/>
          <p:cNvSpPr txBox="1"/>
          <p:nvPr/>
        </p:nvSpPr>
        <p:spPr>
          <a:xfrm>
            <a:off x="704088"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You gave it the document, so this part is grounded.</a:t>
            </a:r>
          </a:p>
        </p:txBody>
      </p:sp>
      <p:cxnSp>
        <p:nvCxnSpPr>
          <p:cNvPr id="21" name="vis:flowarrow"/>
          <p:cNvCxnSpPr/>
          <p:nvPr/>
        </p:nvCxnSpPr>
        <p:spPr>
          <a:xfrm>
            <a:off x="3093643"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Stage two drifts</a:t>
            </a:r>
          </a:p>
        </p:txBody>
      </p:sp>
      <p:sp>
        <p:nvSpPr>
          <p:cNvPr id="26" name="vis:flowsub"/>
          <p:cNvSpPr txBox="1"/>
          <p:nvPr/>
        </p:nvSpPr>
        <p:spPr>
          <a:xfrm>
            <a:off x="3596563"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infers gaps you cannot see it inferring.</a:t>
            </a:r>
          </a:p>
        </p:txBody>
      </p:sp>
      <p:cxnSp>
        <p:nvCxnSpPr>
          <p:cNvPr id="27" name="vis:flowarrow"/>
          <p:cNvCxnSpPr/>
          <p:nvPr/>
        </p:nvCxnSpPr>
        <p:spPr>
          <a:xfrm>
            <a:off x="5986119"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75303"/>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Stage three builds on it</a:t>
            </a:r>
          </a:p>
        </p:txBody>
      </p:sp>
      <p:sp>
        <p:nvSpPr>
          <p:cNvPr id="32" name="vis:flowsub"/>
          <p:cNvSpPr txBox="1"/>
          <p:nvPr/>
        </p:nvSpPr>
        <p:spPr>
          <a:xfrm>
            <a:off x="6489039"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Fixes for problems that may not exist.</a:t>
            </a:r>
          </a:p>
        </p:txBody>
      </p:sp>
      <p:cxnSp>
        <p:nvCxnSpPr>
          <p:cNvPr id="33" name="vis:flowarrow"/>
          <p:cNvCxnSpPr/>
          <p:nvPr/>
        </p:nvCxnSpPr>
        <p:spPr>
          <a:xfrm>
            <a:off x="8878595"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Stage four reads well</a:t>
            </a:r>
          </a:p>
        </p:txBody>
      </p:sp>
      <p:sp>
        <p:nvSpPr>
          <p:cNvPr id="38" name="vis:flowsub"/>
          <p:cNvSpPr txBox="1"/>
          <p:nvPr/>
        </p:nvSpPr>
        <p:spPr>
          <a:xfrm>
            <a:off x="9381515"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 confident note resting on stage two.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ONE BIG ASK FAILS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ask versus four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53758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22669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ONE BIG ASK</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Everything at once</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One answer, four stages hidden inside it</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can only judge the final wording</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 early error is invisible by the end</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Correcting it means starting again</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97700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6661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FOUR SMALL ASKS</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Checked between each</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Four answers you can each judge in a minute</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 error is caught where it happened</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correct one step, not the whole job</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final draft rests on things you approved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CHAINING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asks instead of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65633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281525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STEP 1 — "List what this policy actually requires. Facts only."</a:t>
            </a:r>
          </a:p>
        </p:txBody>
      </p:sp>
      <p:sp>
        <p:nvSpPr>
          <p:cNvPr id="20" name="vis:checktile"/>
          <p:cNvSpPr/>
          <p:nvPr/>
        </p:nvSpPr>
        <p:spPr>
          <a:xfrm>
            <a:off x="6205575"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65633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281525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STEP 2 — "Which of those does the attached process not cover?"</a:t>
            </a:r>
          </a:p>
        </p:txBody>
      </p:sp>
      <p:sp>
        <p:nvSpPr>
          <p:cNvPr id="25" name="vis:checktile"/>
          <p:cNvSpPr/>
          <p:nvPr/>
        </p:nvSpPr>
        <p:spPr>
          <a:xfrm>
            <a:off x="502920"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29310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45203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STEP 3 — "For the three gaps I have ticked, suggest a fix each."</a:t>
            </a:r>
          </a:p>
        </p:txBody>
      </p:sp>
      <p:sp>
        <p:nvSpPr>
          <p:cNvPr id="30" name="vis:checktile"/>
          <p:cNvSpPr/>
          <p:nvPr/>
        </p:nvSpPr>
        <p:spPr>
          <a:xfrm>
            <a:off x="6205575"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29310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45203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STEP 4 — "Write a 200-word note covering only those three fixes."</a:t>
            </a:r>
          </a:p>
        </p:txBody>
      </p:sp>
      <p:sp>
        <p:nvSpPr>
          <p:cNvPr id="35"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6" name="vis:chip"/>
          <p:cNvSpPr/>
          <p:nvPr/>
        </p:nvSpPr>
        <p:spPr>
          <a:xfrm>
            <a:off x="2221991" y="5660136"/>
            <a:ext cx="1512189"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chiptext"/>
          <p:cNvSpPr txBox="1"/>
          <p:nvPr/>
        </p:nvSpPr>
        <p:spPr>
          <a:xfrm>
            <a:off x="2377439" y="5687568"/>
            <a:ext cx="120129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CHAINING  ?</a:t>
            </a:r>
          </a:p>
        </p:txBody>
      </p:sp>
      <p:sp>
        <p:nvSpPr>
          <p:cNvPr id="38" name="nav:gloss">
            <a:hlinkClick action="ppaction://hlinksldjump" r:id="rId3"/>
          </p:cNvPr>
          <p:cNvSpPr/>
          <p:nvPr/>
        </p:nvSpPr>
        <p:spPr>
          <a:xfrm>
            <a:off x="2221991" y="5660136"/>
            <a:ext cx="1512189"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CHAINING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tick between the steps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value is not the four prompts. It is the ten seconds you spend between them.</a:t>
            </a:r>
          </a:p>
        </p:txBody>
      </p:sp>
      <p:sp>
        <p:nvSpPr>
          <p:cNvPr id="16" name="vis:tile"/>
          <p:cNvSpPr/>
          <p:nvPr/>
        </p:nvSpPr>
        <p:spPr>
          <a:xfrm>
            <a:off x="502920" y="243230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77240" y="272491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48942" y="2930849"/>
            <a:ext cx="314963" cy="246493"/>
          </a:xfrm>
          <a:custGeom>
            <a:avLst/>
            <a:gdLst/>
            <a:ahLst/>
            <a:cxnLst/>
            <a:rect l="l" t="t" r="r" b="b"/>
            <a:pathLst>
              <a:path w="314963" h="246493">
                <a:moveTo>
                  <a:pt x="0" y="123247"/>
                </a:moveTo>
                <a:lnTo>
                  <a:pt x="157482" y="0"/>
                </a:lnTo>
                <a:lnTo>
                  <a:pt x="314963" y="123247"/>
                </a:lnTo>
                <a:lnTo>
                  <a:pt x="157482" y="246493"/>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058494" y="3006166"/>
            <a:ext cx="95858" cy="95858"/>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cell:tilelabel"/>
          <p:cNvSpPr txBox="1"/>
          <p:nvPr/>
        </p:nvSpPr>
        <p:spPr>
          <a:xfrm>
            <a:off x="777240" y="356616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Read step one</a:t>
            </a:r>
          </a:p>
        </p:txBody>
      </p:sp>
      <p:sp>
        <p:nvSpPr>
          <p:cNvPr id="21" name="cell:tilesub"/>
          <p:cNvSpPr txBox="1"/>
          <p:nvPr/>
        </p:nvSpPr>
        <p:spPr>
          <a:xfrm>
            <a:off x="777240" y="420624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Does this list match the document I pasted? Delete anything that does not.</a:t>
            </a:r>
          </a:p>
        </p:txBody>
      </p:sp>
      <p:sp>
        <p:nvSpPr>
          <p:cNvPr id="22" name="vis:tile"/>
          <p:cNvSpPr/>
          <p:nvPr/>
        </p:nvSpPr>
        <p:spPr>
          <a:xfrm>
            <a:off x="4322978" y="243230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72491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4803235" y="3060943"/>
            <a:ext cx="89012" cy="8901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4892247" y="2958237"/>
            <a:ext cx="164328" cy="19171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6" name="cell:tilelabel"/>
          <p:cNvSpPr txBox="1"/>
          <p:nvPr/>
        </p:nvSpPr>
        <p:spPr>
          <a:xfrm>
            <a:off x="4597298" y="356616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Approve or cut</a:t>
            </a:r>
          </a:p>
        </p:txBody>
      </p:sp>
      <p:sp>
        <p:nvSpPr>
          <p:cNvPr id="27" name="cell:tilesub"/>
          <p:cNvSpPr txBox="1"/>
          <p:nvPr/>
        </p:nvSpPr>
        <p:spPr>
          <a:xfrm>
            <a:off x="4597298" y="420624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Tick the items you accept. The next step uses only those.</a:t>
            </a:r>
          </a:p>
        </p:txBody>
      </p:sp>
      <p:sp>
        <p:nvSpPr>
          <p:cNvPr id="28" name="vis:tile"/>
          <p:cNvSpPr/>
          <p:nvPr/>
        </p:nvSpPr>
        <p:spPr>
          <a:xfrm>
            <a:off x="8143036" y="243230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72491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609893" y="2935502"/>
            <a:ext cx="273295" cy="255534"/>
          </a:xfrm>
          <a:custGeom>
            <a:avLst/>
            <a:gdLst/>
            <a:ahLst/>
            <a:cxnLst/>
            <a:rect l="l" t="t" r="r" b="b"/>
            <a:pathLst>
              <a:path w="273295" h="255534">
                <a:moveTo>
                  <a:pt x="205118" y="0"/>
                </a:moveTo>
                <a:lnTo>
                  <a:pt x="239605" y="28302"/>
                </a:lnTo>
                <a:lnTo>
                  <a:pt x="263164" y="66189"/>
                </a:lnTo>
                <a:lnTo>
                  <a:pt x="273295" y="109637"/>
                </a:lnTo>
                <a:lnTo>
                  <a:pt x="268922" y="154036"/>
                </a:lnTo>
                <a:lnTo>
                  <a:pt x="250509" y="194674"/>
                </a:lnTo>
                <a:lnTo>
                  <a:pt x="220011" y="227236"/>
                </a:lnTo>
                <a:lnTo>
                  <a:pt x="180665" y="248267"/>
                </a:lnTo>
                <a:lnTo>
                  <a:pt x="136647" y="255534"/>
                </a:lnTo>
                <a:lnTo>
                  <a:pt x="92629" y="248267"/>
                </a:lnTo>
                <a:lnTo>
                  <a:pt x="53283" y="227236"/>
                </a:lnTo>
                <a:lnTo>
                  <a:pt x="22785" y="194674"/>
                </a:lnTo>
                <a:lnTo>
                  <a:pt x="4373" y="154036"/>
                </a:lnTo>
                <a:lnTo>
                  <a:pt x="0" y="109637"/>
                </a:lnTo>
                <a:lnTo>
                  <a:pt x="10131" y="66189"/>
                </a:lnTo>
                <a:lnTo>
                  <a:pt x="33690" y="28302"/>
                </a:lnTo>
                <a:lnTo>
                  <a:pt x="68177"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is:icon"/>
          <p:cNvSpPr/>
          <p:nvPr/>
        </p:nvSpPr>
        <p:spPr>
          <a:xfrm>
            <a:off x="8662664" y="2908254"/>
            <a:ext cx="62993" cy="54091"/>
          </a:xfrm>
          <a:custGeom>
            <a:avLst/>
            <a:gdLst/>
            <a:ahLst/>
            <a:cxnLst/>
            <a:rect l="l" t="t" r="r" b="b"/>
            <a:pathLst>
              <a:path w="62993" h="54091">
                <a:moveTo>
                  <a:pt x="62993" y="0"/>
                </a:moveTo>
                <a:lnTo>
                  <a:pt x="30812" y="54091"/>
                </a:lnTo>
                <a:lnTo>
                  <a:pt x="0" y="685"/>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tilelabel"/>
          <p:cNvSpPr txBox="1"/>
          <p:nvPr/>
        </p:nvSpPr>
        <p:spPr>
          <a:xfrm>
            <a:off x="8417356" y="356616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Feed forward</a:t>
            </a:r>
          </a:p>
        </p:txBody>
      </p:sp>
      <p:sp>
        <p:nvSpPr>
          <p:cNvPr id="33" name="cell:tilesub"/>
          <p:cNvSpPr txBox="1"/>
          <p:nvPr/>
        </p:nvSpPr>
        <p:spPr>
          <a:xfrm>
            <a:off x="8417356" y="420624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"Using only the three I ticked..." Every later step rests on approved ground.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CONSTRAINTS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Limits it must respect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these constraint lines</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Constraints: use only the text I have pasted. Do not add clauses, dates or figures that do not appear in it. If something needed is missing, write [MISSING: what it is] and continue. Maximum 200 words. No introduction and no closing summary.</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Paste this block under any serious prompt.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"Only the text I pasted" is the strongest single line here.</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[MISSING] converts silent invention into a visible flag.</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word limit stops it padding a thin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CONSTRAINTS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constraints worth reusing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SOURCE — "use only what I pasted, nothing else"</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GAPS — "write [MISSING: …] rather than filling it in"</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SIZE — a word count, not "be concise"</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SHAPE — "no introduction, no closing summary"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SHOW THE WORKING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 it to show its working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For anything with reasoning in it, the steps are more checkable than the conclusion.</a:t>
            </a:r>
          </a:p>
        </p:txBody>
      </p:sp>
      <p:sp>
        <p:nvSpPr>
          <p:cNvPr id="16" name="vis:promptcard"/>
          <p:cNvSpPr/>
          <p:nvPr/>
        </p:nvSpPr>
        <p:spPr>
          <a:xfrm>
            <a:off x="502920" y="2706624"/>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4459395" y="2779776"/>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4643007"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4661660" y="288292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291090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661660"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4870875"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8" name="card:prompt"/>
          <p:cNvSpPr txBox="1"/>
          <p:nvPr/>
        </p:nvSpPr>
        <p:spPr>
          <a:xfrm>
            <a:off x="777240" y="3255264"/>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Work through this in visible steps before answering. First list the figures you are using and where each came from in my text. Then show the calculation. Then give the answer. If a figure is not in my text, stop and say so instead of estimating it.</a:t>
            </a:r>
          </a:p>
        </p:txBody>
      </p:sp>
      <p:sp>
        <p:nvSpPr>
          <p:cNvPr id="29" name="vis:promptcap"/>
          <p:cNvSpPr txBox="1"/>
          <p:nvPr/>
        </p:nvSpPr>
        <p:spPr>
          <a:xfrm>
            <a:off x="777240" y="461213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Useful for anything with arithmetic or a judgement chain.</a:t>
            </a:r>
          </a:p>
        </p:txBody>
      </p:sp>
      <p:sp>
        <p:nvSpPr>
          <p:cNvPr id="30" name="vis:outcard"/>
          <p:cNvSpPr/>
          <p:nvPr/>
        </p:nvSpPr>
        <p:spPr>
          <a:xfrm>
            <a:off x="6685324" y="2706624"/>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outspine"/>
          <p:cNvSpPr/>
          <p:nvPr/>
        </p:nvSpPr>
        <p:spPr>
          <a:xfrm>
            <a:off x="6685324" y="2706624"/>
            <a:ext cx="68580" cy="2377947"/>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6941356" y="2907792"/>
            <a:ext cx="2087885"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7096804" y="2935224"/>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4" name="vis:outbody"/>
          <p:cNvSpPr txBox="1"/>
          <p:nvPr/>
        </p:nvSpPr>
        <p:spPr>
          <a:xfrm>
            <a:off x="6941356" y="3346704"/>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short list of figures with their origin marked against each one.</a:t>
            </a:r>
          </a:p>
          <a:p>
            <a:pPr algn="l">
              <a:lnSpc>
                <a:spcPts val="1690"/>
              </a:lnSpc>
              <a:spcBef>
                <a:spcPts val="0"/>
              </a:spcBef>
              <a:spcAft>
                <a:spcPts val="600"/>
              </a:spcAft>
            </a:pPr>
            <a:r>
              <a:rPr sz="1300" b="0">
                <a:solidFill>
                  <a:srgbClr val="2A3547"/>
                </a:solidFill>
                <a:latin typeface="Segoe UI"/>
              </a:rPr>
              <a:t>The working set out in lines you can follow and check.</a:t>
            </a:r>
          </a:p>
          <a:p>
            <a:pPr algn="l">
              <a:lnSpc>
                <a:spcPts val="1690"/>
              </a:lnSpc>
              <a:spcBef>
                <a:spcPts val="0"/>
              </a:spcBef>
              <a:spcAft>
                <a:spcPts val="600"/>
              </a:spcAft>
            </a:pPr>
            <a:r>
              <a:rPr sz="1300" b="0">
                <a:solidFill>
                  <a:srgbClr val="2A3547"/>
                </a:solidFill>
                <a:latin typeface="Segoe UI"/>
              </a:rPr>
              <a:t>An answer you can accept or reject for a specific reason.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SHOW THE WORKING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visible steps do not fix</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Shown working is easier to check. It is not evidence that the working is right.</a:t>
            </a:r>
          </a:p>
          <a:p>
            <a:pPr algn="l">
              <a:lnSpc>
                <a:spcPts val="1755"/>
              </a:lnSpc>
              <a:spcBef>
                <a:spcPts val="0"/>
              </a:spcBef>
              <a:spcAft>
                <a:spcPts val="0"/>
              </a:spcAft>
            </a:pPr>
            <a:r>
              <a:rPr sz="1350" b="0">
                <a:solidFill>
                  <a:srgbClr val="FFFFFF"/>
                </a:solidFill>
                <a:latin typeface="Segoe UI"/>
              </a:rPr>
              <a:t>The steps are generated the same way the answer is.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can show tidy, wrong arithmetic.</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can cite a figure it invented.</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still have to open the source.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chain a task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pnum"/>
          <p:cNvSpPr/>
          <p:nvPr/>
        </p:nvSpPr>
        <p:spPr>
          <a:xfrm>
            <a:off x="502920" y="2027681"/>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Take a job you would normally ask for in one message.</a:t>
            </a:r>
          </a:p>
        </p:txBody>
      </p:sp>
      <p:sp>
        <p:nvSpPr>
          <p:cNvPr id="19" name="vis:stepnum"/>
          <p:cNvSpPr/>
          <p:nvPr/>
        </p:nvSpPr>
        <p:spPr>
          <a:xfrm>
            <a:off x="502920" y="3138677"/>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the stages you would do it in by hand.</a:t>
            </a:r>
          </a:p>
        </p:txBody>
      </p:sp>
      <p:sp>
        <p:nvSpPr>
          <p:cNvPr id="23" name="vis:stepnum"/>
          <p:cNvSpPr/>
          <p:nvPr/>
        </p:nvSpPr>
        <p:spPr>
          <a:xfrm>
            <a:off x="502920" y="4249674"/>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Ask for stage one only, with the constraint block attached.</a:t>
            </a:r>
          </a:p>
        </p:txBody>
      </p:sp>
      <p:sp>
        <p:nvSpPr>
          <p:cNvPr id="27" name="vis:stepnum"/>
          <p:cNvSpPr/>
          <p:nvPr/>
        </p:nvSpPr>
        <p:spPr>
          <a:xfrm>
            <a:off x="502920" y="5360670"/>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Read it, delete what is wrong, then ask for stage two.</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Step 1 of 4. Using only the text I have pasted below, list what it requires us to do. Facts only, one line each, no interpretation and no recommendations. If something is unclear, write [UNCLEAR] beside it rather than guessing.</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Say "step 1 of 4" out loud in the prompt. It keeps the answer narrow.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Chained versus all at once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64866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3377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ONE MESSAGE</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"Read this policy, find the gaps, fix them and write the board note."</a:t>
            </a:r>
          </a:p>
          <a:p>
            <a:pPr algn="l">
              <a:lnSpc>
                <a:spcPts val="1690"/>
              </a:lnSpc>
              <a:spcBef>
                <a:spcPts val="0"/>
              </a:spcBef>
              <a:spcAft>
                <a:spcPts val="600"/>
              </a:spcAft>
            </a:pPr>
            <a:r>
              <a:rPr sz="1300" b="0">
                <a:solidFill>
                  <a:srgbClr val="2A3547"/>
                </a:solidFill>
                <a:latin typeface="Segoe UI"/>
              </a:rPr>
              <a:t>Nine hundred confident words. The gap list inside it was never shown to you.</a:t>
            </a:r>
          </a:p>
          <a:p>
            <a:pPr algn="l">
              <a:lnSpc>
                <a:spcPts val="1690"/>
              </a:lnSpc>
              <a:spcBef>
                <a:spcPts val="0"/>
              </a:spcBef>
              <a:spcAft>
                <a:spcPts val="600"/>
              </a:spcAft>
            </a:pPr>
            <a:r>
              <a:rPr sz="1300" b="0">
                <a:solidFill>
                  <a:srgbClr val="2A3547"/>
                </a:solidFill>
                <a:latin typeface="Segoe UI"/>
              </a:rPr>
              <a:t>You approve a note whose middle you have not seen.</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83662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5257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FOUR MESSAGES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Four short answers, each judged in about a minute.</a:t>
            </a:r>
          </a:p>
          <a:p>
            <a:pPr algn="l">
              <a:lnSpc>
                <a:spcPts val="1690"/>
              </a:lnSpc>
              <a:spcBef>
                <a:spcPts val="0"/>
              </a:spcBef>
              <a:spcAft>
                <a:spcPts val="600"/>
              </a:spcAft>
            </a:pPr>
            <a:r>
              <a:rPr sz="1300" b="0">
                <a:solidFill>
                  <a:srgbClr val="2A3547"/>
                </a:solidFill>
                <a:latin typeface="Segoe UI"/>
              </a:rPr>
              <a:t>You cut two invented requirements at step one.</a:t>
            </a:r>
          </a:p>
          <a:p>
            <a:pPr algn="l">
              <a:lnSpc>
                <a:spcPts val="1690"/>
              </a:lnSpc>
              <a:spcBef>
                <a:spcPts val="0"/>
              </a:spcBef>
              <a:spcAft>
                <a:spcPts val="600"/>
              </a:spcAft>
            </a:pPr>
            <a:r>
              <a:rPr sz="1300" b="0">
                <a:solidFill>
                  <a:srgbClr val="2A3547"/>
                </a:solidFill>
                <a:latin typeface="Segoe UI"/>
              </a:rPr>
              <a:t>The board note covers three gaps you personally confirmed.</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same total time. The difference is where your attention went.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chaining is worth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Would a wrong middle step reach a customer or a board?</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ask is fine</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Internal notes, first drafts, rough summaries you will rewrite anyway. Chaining here is ceremony, not control.</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Chain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Compliance, pricing, proposals, anything signed. Break it up and approve each stage before the next one uses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habits worth keeping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Number your steps out loud: "step 2 of 4".</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Start each step with "using only what I approved".</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Delete a wrong line immediately, before the next step.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for the whole job in one message</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one polished answer and can only check its beginning and its end.</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Chaining without reading between steps</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Four prompts with no checks is just a slower version of one prompt.</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Saying "be concise" instead of a number</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Concise means nothing. Two hundred words means two hundred words.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Trusting shown working as proof</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Tidy steps can lead to a wrong answer, confidently and legibly.</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Letting step three quote step one loosely</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Say "using only the three I ticked" or it will quietly reintroduce the ones you cut.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advanced prompting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Break the job at the points where a mistake would be invisible later.</a:t>
            </a:r>
          </a:p>
          <a:p>
            <a:pPr algn="l">
              <a:lnSpc>
                <a:spcPts val="1755"/>
              </a:lnSpc>
              <a:spcBef>
                <a:spcPts val="0"/>
              </a:spcBef>
              <a:spcAft>
                <a:spcPts val="0"/>
              </a:spcAft>
            </a:pPr>
            <a:r>
              <a:rPr sz="1350" b="0">
                <a:solidFill>
                  <a:srgbClr val="FFFFFF"/>
                </a:solidFill>
                <a:latin typeface="Segoe UI"/>
              </a:rPr>
              <a:t>That is what separates a chain from four prompts in a row.</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Split where errors hide.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Check before you feed forward.</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Constrain what it may invent.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Quarter-end, 4:00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must produce a compliance summary for the board by tomorrow. It needs a requirements list, a gap analysis and a set of recommended fixes.</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for all three in one message and edit what comes back.</a:t>
            </a:r>
          </a:p>
        </p:txBody>
      </p:sp>
      <p:cxnSp>
        <p:nvCxnSpPr>
          <p:cNvPr id="23" name="vis:choicearrow"/>
          <p:cNvCxnSpPr/>
          <p:nvPr/>
        </p:nvCxnSpPr>
        <p:spPr>
          <a:xfrm>
            <a:off x="758952"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for the requirements list first, check it against the policy, then continue.</a:t>
            </a:r>
          </a:p>
        </p:txBody>
      </p:sp>
      <p:cxnSp>
        <p:nvCxnSpPr>
          <p:cNvPr id="29" name="vis:choicearrow"/>
          <p:cNvCxnSpPr/>
          <p:nvPr/>
        </p:nvCxnSpPr>
        <p:spPr>
          <a:xfrm>
            <a:off x="4566818"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the requirements list yourself and use AI only for the note.</a:t>
            </a:r>
          </a:p>
        </p:txBody>
      </p:sp>
      <p:cxnSp>
        <p:nvCxnSpPr>
          <p:cNvPr id="35" name="vis:choicearrow"/>
          <p:cNvCxnSpPr/>
          <p:nvPr/>
        </p:nvCxnSpPr>
        <p:spPr>
          <a:xfrm>
            <a:off x="8374684"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will edit the wording, not the substance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output reads like a finished board paper, so you review it as one. The gap list inside it contains two requirements the policy does not actually make. Those two carry through into recommendations the board then approves.</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polished answer invites a wording review, not a substance review.</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Ten minutes longer, and defensible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Step one gives eleven requirements. You open the policy and strike two that are not there. Steps two, three and four use only the nine you confirmed. The board paper rests entirely on ground you checked yourself.</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Approve each stage before the next one is allowed to use it.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Safe, and you gave away the easy half</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Perfectly sound, and slower than it needed to be. Extracting a requirements list from a document you paste in is well-grounded work the tool does quickly — as long as you read the list afterwards.</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Hand over the extraction. Keep the approval.</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Thirteen minutes, four methods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4 Methods of Prompt Engineering</a:t>
            </a:r>
          </a:p>
        </p:txBody>
      </p:sp>
      <p:sp>
        <p:nvSpPr>
          <p:cNvPr id="19" name="vis:chip"/>
          <p:cNvSpPr/>
          <p:nvPr/>
        </p:nvSpPr>
        <p:spPr>
          <a:xfrm>
            <a:off x="868680" y="3858768"/>
            <a:ext cx="19591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482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IBM TECHNOLOGY</a:t>
            </a:r>
          </a:p>
        </p:txBody>
      </p:sp>
      <p:sp>
        <p:nvSpPr>
          <p:cNvPr id="21" name="vis:chip"/>
          <p:cNvSpPr/>
          <p:nvPr/>
        </p:nvSpPr>
        <p:spPr>
          <a:xfrm>
            <a:off x="2974163" y="3858768"/>
            <a:ext cx="12797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129611" y="3895344"/>
            <a:ext cx="9688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12:41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does one big ask fail?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runs out of memory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middle stages are never shown to you</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Long prompts confuse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takes longer to answer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tool runs out of memory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limits exist but are rarely the issue here. The problem is not that it cannot hold the job — it is that you cannot inspect the middle of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 only check what you can see.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middle stages are never shown to you</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one polished result. The gap analysis inside it was performed invisibly, so you review the wording of the conclusion instead of the reasoning that produced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 only check what you can see.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Long prompts confuse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handles long prompts perfectly well. The risk is not confusion, it is that an early error becomes undetectable by the final paragraph.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 only check what you can see.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takes longer to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Speed is not the concern. A fast wrong answer that reaches a board is far more expensive than a slower checked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 only check what you can see.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chain different?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Using four separate tools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Reading and approving each step before the next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Making each prompt shorter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Asking the same question four ways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Using four separate tools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One tool is fine. What matters is that you break the job at the points where a mistake would otherwise become invisible.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check between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Reading and approving each step before the next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whole technique. Four prompts with no reading between them is just a slower single prompt with more places to go wrong.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check between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Making each prompt shorter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Shorter prompts are a side effect. A short prompt whose output you do not read gives you no more control than a long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check between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Asking the same question four ways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gives four generations of the same thing, which can agree and all be wrong. Chaining moves forward through stages, not sideways.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check between the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constraint does most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"Be accurate and thorough"</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"Use only the text I pasted, nothing else"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"Answer as an expert would"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"Take your time"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"Be accurate and thorough"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Nothing to act on. It cannot assess its own accuracy, so the instruction changes the tone and nothing else.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"Use only what I pasted."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"Use only the text I pasted, nothing else"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closes the main route by which invented clauses, dates and figures enter the answer. Pair it with [MISSING] so gaps surface instead of closing silently.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"Use only what I pasted."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"Answer as an expert would"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role line. It changes vocabulary and confidence, and constrains nothing at all about what may be invented.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"Use only what I pasted."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"Take your time"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no time being taken. It produces text at the same rate regardless, and the instruction has no effect on care.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"Use only what I pasted."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shown working give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Proof the answer is right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Something you can check line by line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faster answer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Fewer hallucinations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Proof the answer is right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steps are generated the same way the answer is. Tidy working can lead to a wrong result, presented very legibly indeed.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Checkability, not correctness.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Something you can check line by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real gain. Instead of accepting or rejecting a conclusion whole, you can point at the line where a figure came from nowhere.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Checkability, not correctness.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faster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usually longer and slower to read. You are trading speed for the ability to inspect what happened.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Checkability, not correctness.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Fewer hallucinations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does not reduce them. It makes them easier to spot, which matters, but the invention rate is unchanged.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Checkability, not correctness.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is chaining not worth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Anything going to a customer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internal first draft you will rewrite anyway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compliance summary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pricing proposal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Anything going to a customer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exactly where it is worth it. A wrong middle step in a customer document becomes a written commitment you have to defend.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Chain where a wrong middle would escape.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An internal first draft you will rewrite anyway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are going to read and rework every line yourself, so the checking is already built in. Chaining here adds ceremony without adding control.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Chain where a wrong middle would escape.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compliance summary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One of the strongest cases for chaining. The gap analysis is the step most likely to drift, and the least visible in a finished paper.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Chain where a wrong middle would escape.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pricing proposal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Also a strong case. Anything with figures that carry forward into later stages needs each stage approved before it is used.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Chain where a wrong middle would escape.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Advanced prompting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Split where errors hide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Break the job at the points a mistake would be invisible in the final answer.</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Check between every step</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Four prompts with no reading between them is one prompt with extra steps.</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Feed forward only what you approved</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"Using only the three I ticked" stops cut items reappearing.</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Constrain the source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"Use only what I pasted" plus [MISSING] for anything absent.</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Numbers, not adjectives</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"200 words" works. "Be concise" does not.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Shown working is checkable, not correct</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makes an error findable. It does not make the answer right.</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17C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Break the job where a mistake would otherwise be invisible, and check it there.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400838"/>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19478"/>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863910" y="2480720"/>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30478" y="2499359"/>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863910" y="2560602"/>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30478" y="2579241"/>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4"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four-step chain</a:t>
            </a:r>
          </a:p>
        </p:txBody>
      </p:sp>
      <p:sp>
        <p:nvSpPr>
          <p:cNvPr id="25"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Requirements, gaps, fixes, note. Approve each one.</a:t>
            </a:r>
          </a:p>
        </p:txBody>
      </p:sp>
      <p:sp>
        <p:nvSpPr>
          <p:cNvPr id="26"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63910" y="3281745"/>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constraint block</a:t>
            </a:r>
          </a:p>
        </p:txBody>
      </p:sp>
      <p:sp>
        <p:nvSpPr>
          <p:cNvPr id="30"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Source, [MISSING], word count, no padding.</a:t>
            </a:r>
          </a:p>
        </p:txBody>
      </p:sp>
      <p:sp>
        <p:nvSpPr>
          <p:cNvPr id="31"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55922" y="4207917"/>
            <a:ext cx="244971" cy="191717"/>
          </a:xfrm>
          <a:custGeom>
            <a:avLst/>
            <a:gdLst/>
            <a:ahLst/>
            <a:cxnLst/>
            <a:rect l="l" t="t" r="r" b="b"/>
            <a:pathLst>
              <a:path w="244971" h="191717">
                <a:moveTo>
                  <a:pt x="0" y="95858"/>
                </a:moveTo>
                <a:lnTo>
                  <a:pt x="122486" y="0"/>
                </a:lnTo>
                <a:lnTo>
                  <a:pt x="244971" y="95858"/>
                </a:lnTo>
                <a:lnTo>
                  <a:pt x="122486" y="191717"/>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s:icon"/>
          <p:cNvSpPr/>
          <p:nvPr/>
        </p:nvSpPr>
        <p:spPr>
          <a:xfrm>
            <a:off x="941129" y="4266497"/>
            <a:ext cx="74556" cy="74556"/>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show-your-working prompt</a:t>
            </a:r>
          </a:p>
        </p:txBody>
      </p:sp>
      <p:sp>
        <p:nvSpPr>
          <p:cNvPr id="36"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Figures and origins first, then the calculation.</a:t>
            </a:r>
          </a:p>
        </p:txBody>
      </p:sp>
      <p:sp>
        <p:nvSpPr>
          <p:cNvPr id="37"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LINKS THAT WORK</a:t>
            </a:r>
          </a:p>
        </p:txBody>
      </p:sp>
      <p:sp>
        <p:nvSpPr>
          <p:cNvPr id="38"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8339937" y="2300630"/>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a:off x="8482584" y="2443276"/>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1"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2"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chatgpt.com</a:t>
            </a:r>
          </a:p>
        </p:txBody>
      </p:sp>
      <p:sp>
        <p:nvSpPr>
          <p:cNvPr id="43"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icon"/>
          <p:cNvSpPr/>
          <p:nvPr/>
        </p:nvSpPr>
        <p:spPr>
          <a:xfrm>
            <a:off x="8339937" y="2977286"/>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8482584" y="3119932"/>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6"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7"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copilot.microsoft.com</a:t>
            </a:r>
          </a:p>
        </p:txBody>
      </p:sp>
      <p:sp>
        <p:nvSpPr>
          <p:cNvPr id="48"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icon"/>
          <p:cNvSpPr/>
          <p:nvPr/>
        </p:nvSpPr>
        <p:spPr>
          <a:xfrm>
            <a:off x="8339937" y="3653942"/>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0" name="vis:icon"/>
          <p:cNvCxnSpPr/>
          <p:nvPr/>
        </p:nvCxnSpPr>
        <p:spPr>
          <a:xfrm>
            <a:off x="8482584" y="3796588"/>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1"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2"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gemini.google.com</a:t>
            </a:r>
          </a:p>
        </p:txBody>
      </p:sp>
      <p:sp>
        <p:nvSpPr>
          <p:cNvPr id="53"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4"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DO THIS NEXT</a:t>
            </a:r>
          </a:p>
        </p:txBody>
      </p:sp>
      <p:sp>
        <p:nvSpPr>
          <p:cNvPr id="55"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PE-06, Reusable Prompts. Turning the ones that worked into a library you and your team stop rewriting.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PE-05  ·  Advanced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Chaining</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Breaking one large request into ordered steps, checking each before the next uses it.</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Constraint</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limit the answer must respect: a source, a word count, a forbidden habit.</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Step-by-step</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Asking the tool to show its intermediate reasoning rather than only the conclusion.</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context plus instructions plus your facts.</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Hallucination</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confident, invented answer. Chaining makes these easier to catch early.</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