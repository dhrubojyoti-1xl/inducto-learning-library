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9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49.xml"/><Relationship Id="rId11" Type="http://schemas.openxmlformats.org/officeDocument/2006/relationships/slide" Target="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hfIUstzHs9A" TargetMode="External"/><Relationship Id="rId3" Type="http://schemas.openxmlformats.org/officeDocument/2006/relationships/slide" Target="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slide" Target="slide27.xml"/><Relationship Id="rId6" Type="http://schemas.openxmlformats.org/officeDocument/2006/relationships/slide" Target="slide2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5.xml"/><Relationship Id="rId4" Type="http://schemas.openxmlformats.org/officeDocument/2006/relationships/slide" Target="slide36.xml"/><Relationship Id="rId5" Type="http://schemas.openxmlformats.org/officeDocument/2006/relationships/slide" Target="slide37.xml"/><Relationship Id="rId6" Type="http://schemas.openxmlformats.org/officeDocument/2006/relationships/slide" Target="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0.xml"/><Relationship Id="rId4" Type="http://schemas.openxmlformats.org/officeDocument/2006/relationships/slide" Target="slide41.xml"/><Relationship Id="rId5" Type="http://schemas.openxmlformats.org/officeDocument/2006/relationships/slide" Target="slide42.xml"/><Relationship Id="rId6" Type="http://schemas.openxmlformats.org/officeDocument/2006/relationships/slide" Target="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slide" Target="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" TargetMode="External"/><Relationship Id="rId3" Type="http://schemas.openxmlformats.org/officeDocument/2006/relationships/hyperlink" Target="https://copilot.microsoft.com" TargetMode="External"/><Relationship Id="rId4" Type="http://schemas.openxmlformats.org/officeDocument/2006/relationships/hyperlink" Target="https://gemini.google.com" TargetMode="External"/><Relationship Id="rId5" Type="http://schemas.openxmlformats.org/officeDocument/2006/relationships/slide" Target="slide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s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vis:coverphoto" descr="hero-generative-ai.jpg"/>
          <p:cNvPicPr>
            <a:picLocks noChangeAspect="1"/>
          </p:cNvPicPr>
          <p:nvPr/>
        </p:nvPicPr>
        <p:blipFill>
          <a:blip r:embed="rId2"/>
          <a:srcRect l="22674" r="22674"/>
          <a:stretch>
            <a:fillRect/>
          </a:stretch>
        </p:blipFill>
        <p:spPr>
          <a:xfrm>
            <a:off x="5532120" y="0"/>
            <a:ext cx="6659575" cy="6858000"/>
          </a:xfrm>
          <a:prstGeom prst="rect">
            <a:avLst/>
          </a:prstGeom>
        </p:spPr>
      </p:pic>
      <p:sp>
        <p:nvSpPr>
          <p:cNvPr id="4" name="vis:coverpanel"/>
          <p:cNvSpPr/>
          <p:nvPr/>
        </p:nvSpPr>
        <p:spPr>
          <a:xfrm>
            <a:off x="0" y="0"/>
            <a:ext cx="5532120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vis:coveredge"/>
          <p:cNvSpPr/>
          <p:nvPr/>
        </p:nvSpPr>
        <p:spPr>
          <a:xfrm>
            <a:off x="5532120" y="0"/>
            <a:ext cx="64008" cy="685800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vis:coverspin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seclabel"/>
          <p:cNvSpPr txBox="1"/>
          <p:nvPr/>
        </p:nvSpPr>
        <p:spPr>
          <a:xfrm>
            <a:off x="841248" y="1085341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AI COURSES</a:t>
            </a:r>
          </a:p>
        </p:txBody>
      </p:sp>
      <p:sp>
        <p:nvSpPr>
          <p:cNvPr id="8" name="title:cover"/>
          <p:cNvSpPr txBox="1"/>
          <p:nvPr/>
        </p:nvSpPr>
        <p:spPr>
          <a:xfrm>
            <a:off x="841248" y="1542541"/>
            <a:ext cx="4187952" cy="781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Segoe UI Semibold"/>
              </a:rPr>
              <a:t>Generative AI</a:t>
            </a:r>
          </a:p>
        </p:txBody>
      </p:sp>
      <p:cxnSp>
        <p:nvCxnSpPr>
          <p:cNvPr id="9" name="vis:rule"/>
          <p:cNvCxnSpPr/>
          <p:nvPr/>
        </p:nvCxnSpPr>
        <p:spPr>
          <a:xfrm>
            <a:off x="841248" y="2598166"/>
            <a:ext cx="3606698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dy:coversub"/>
          <p:cNvSpPr txBox="1"/>
          <p:nvPr/>
        </p:nvSpPr>
        <p:spPr>
          <a:xfrm>
            <a:off x="841248" y="2872486"/>
            <a:ext cx="4187952" cy="1144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What it actually makes, why every answer is different, and where it beats a search box.</a:t>
            </a:r>
          </a:p>
        </p:txBody>
      </p:sp>
      <p:sp>
        <p:nvSpPr>
          <p:cNvPr id="11" name="vis:chip"/>
          <p:cNvSpPr/>
          <p:nvPr/>
        </p:nvSpPr>
        <p:spPr>
          <a:xfrm>
            <a:off x="841248" y="4419346"/>
            <a:ext cx="935609" cy="310896"/>
          </a:xfrm>
          <a:prstGeom prst="roundRect">
            <a:avLst>
              <a:gd name="adj" fmla="val 14705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vis:chiptext"/>
          <p:cNvSpPr txBox="1"/>
          <p:nvPr/>
        </p:nvSpPr>
        <p:spPr>
          <a:xfrm>
            <a:off x="996696" y="4465065"/>
            <a:ext cx="6247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AI-02</a:t>
            </a:r>
          </a:p>
        </p:txBody>
      </p:sp>
      <p:sp>
        <p:nvSpPr>
          <p:cNvPr id="13" name="vis:chip"/>
          <p:cNvSpPr/>
          <p:nvPr/>
        </p:nvSpPr>
        <p:spPr>
          <a:xfrm>
            <a:off x="1923161" y="4419346"/>
            <a:ext cx="1456309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vis:chiptext"/>
          <p:cNvSpPr txBox="1"/>
          <p:nvPr/>
        </p:nvSpPr>
        <p:spPr>
          <a:xfrm>
            <a:off x="2078609" y="4465065"/>
            <a:ext cx="11454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18 MINUTES</a:t>
            </a:r>
          </a:p>
        </p:txBody>
      </p:sp>
      <p:sp>
        <p:nvSpPr>
          <p:cNvPr id="15" name="vis:chip"/>
          <p:cNvSpPr/>
          <p:nvPr/>
        </p:nvSpPr>
        <p:spPr>
          <a:xfrm>
            <a:off x="841248" y="4839970"/>
            <a:ext cx="2302029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iptext"/>
          <p:cNvSpPr txBox="1"/>
          <p:nvPr/>
        </p:nvSpPr>
        <p:spPr>
          <a:xfrm>
            <a:off x="996696" y="4885689"/>
            <a:ext cx="1991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NEW JOINERS + STAFF</a:t>
            </a:r>
          </a:p>
        </p:txBody>
      </p:sp>
      <p:sp>
        <p:nvSpPr>
          <p:cNvPr id="17" name="cell:coverhint"/>
          <p:cNvSpPr txBox="1"/>
          <p:nvPr/>
        </p:nvSpPr>
        <p:spPr>
          <a:xfrm>
            <a:off x="841248" y="5724144"/>
            <a:ext cx="41879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Start here  →  the next slide shows what this saves you.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Inducto Learning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WHY THIS MATTERS TO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Shalini sends a line she never wrote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ory"/>
          <p:cNvSpPr/>
          <p:nvPr/>
        </p:nvSpPr>
        <p:spPr>
          <a:xfrm>
            <a:off x="502920" y="1719072"/>
            <a:ext cx="6448882" cy="3273552"/>
          </a:xfrm>
          <a:prstGeom prst="roundRect">
            <a:avLst>
              <a:gd name="adj" fmla="val 279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oryspine"/>
          <p:cNvSpPr/>
          <p:nvPr/>
        </p:nvSpPr>
        <p:spPr>
          <a:xfrm>
            <a:off x="502920" y="1719072"/>
            <a:ext cx="68580" cy="327355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813816" y="2029967"/>
            <a:ext cx="694944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995057" y="2218436"/>
            <a:ext cx="332461" cy="303552"/>
          </a:xfrm>
          <a:custGeom>
            <a:avLst/>
            <a:gdLst/>
            <a:ahLst/>
            <a:cxnLst/>
            <a:rect l="l" t="t" r="r" b="b"/>
            <a:pathLst>
              <a:path w="332461" h="303552">
                <a:moveTo>
                  <a:pt x="166231" y="0"/>
                </a:moveTo>
                <a:lnTo>
                  <a:pt x="332461" y="303552"/>
                </a:lnTo>
                <a:lnTo>
                  <a:pt x="0" y="303552"/>
                </a:lnTo>
                <a:close/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vis:icon"/>
          <p:cNvCxnSpPr/>
          <p:nvPr/>
        </p:nvCxnSpPr>
        <p:spPr>
          <a:xfrm>
            <a:off x="1161288" y="2334075"/>
            <a:ext cx="0" cy="90343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143219" y="2456941"/>
            <a:ext cx="36137" cy="36137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body:scenario"/>
          <p:cNvSpPr txBox="1"/>
          <p:nvPr/>
        </p:nvSpPr>
        <p:spPr>
          <a:xfrm>
            <a:off x="813816" y="2944368"/>
            <a:ext cx="5827090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Shalini runs marketing for a Pune plant. She asks an AI tool for a team note about a moved meeting. The note is excellent. It also mentions a quarterly bonus review that nobody has scheduled. Two people email HR about it.</a:t>
            </a:r>
          </a:p>
        </p:txBody>
      </p:sp>
      <p:sp>
        <p:nvSpPr>
          <p:cNvPr id="22" name="vis:cost"/>
          <p:cNvSpPr/>
          <p:nvPr/>
        </p:nvSpPr>
        <p:spPr>
          <a:xfrm>
            <a:off x="502920" y="5230368"/>
            <a:ext cx="644888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ostspine"/>
          <p:cNvSpPr/>
          <p:nvPr/>
        </p:nvSpPr>
        <p:spPr>
          <a:xfrm>
            <a:off x="502920" y="5230368"/>
            <a:ext cx="68580" cy="7863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826983" y="5478719"/>
            <a:ext cx="302849" cy="276514"/>
          </a:xfrm>
          <a:custGeom>
            <a:avLst/>
            <a:gdLst/>
            <a:ahLst/>
            <a:cxnLst/>
            <a:rect l="l" t="t" r="r" b="b"/>
            <a:pathLst>
              <a:path w="302849" h="276514">
                <a:moveTo>
                  <a:pt x="151425" y="0"/>
                </a:moveTo>
                <a:lnTo>
                  <a:pt x="302849" y="276514"/>
                </a:lnTo>
                <a:lnTo>
                  <a:pt x="0" y="276514"/>
                </a:lnTo>
                <a:close/>
              </a:path>
            </a:pathLst>
          </a:cu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vis:icon"/>
          <p:cNvCxnSpPr/>
          <p:nvPr/>
        </p:nvCxnSpPr>
        <p:spPr>
          <a:xfrm>
            <a:off x="978408" y="5584057"/>
            <a:ext cx="0" cy="82296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icon"/>
          <p:cNvSpPr/>
          <p:nvPr/>
        </p:nvSpPr>
        <p:spPr>
          <a:xfrm>
            <a:off x="961948" y="5695980"/>
            <a:ext cx="32918" cy="3291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body:cost"/>
          <p:cNvSpPr txBox="1"/>
          <p:nvPr/>
        </p:nvSpPr>
        <p:spPr>
          <a:xfrm>
            <a:off x="1362456" y="5358383"/>
            <a:ext cx="531502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2828"/>
                </a:solidFill>
                <a:latin typeface="Segoe UI Semibold"/>
              </a:rPr>
              <a:t>An afternoon spent explaining a sentence she did not write.</a:t>
            </a:r>
          </a:p>
        </p:txBody>
      </p:sp>
      <p:sp>
        <p:nvSpPr>
          <p:cNvPr id="28" name="vis:fix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seclabel"/>
          <p:cNvSpPr txBox="1"/>
          <p:nvPr/>
        </p:nvSpPr>
        <p:spPr>
          <a:xfrm>
            <a:off x="8411260" y="2066543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AFTER THIS MODULE</a:t>
            </a:r>
          </a:p>
        </p:txBody>
      </p:sp>
      <p:cxnSp>
        <p:nvCxnSpPr>
          <p:cNvPr id="30" name="vis:rule"/>
          <p:cNvCxnSpPr/>
          <p:nvPr/>
        </p:nvCxnSpPr>
        <p:spPr>
          <a:xfrm>
            <a:off x="8411260" y="2505456"/>
            <a:ext cx="2948331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body:fix"/>
          <p:cNvSpPr txBox="1"/>
          <p:nvPr/>
        </p:nvSpPr>
        <p:spPr>
          <a:xfrm>
            <a:off x="8411260" y="2724912"/>
            <a:ext cx="294833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You will know why it does that, and how to catch it in four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YOU'LL BE ABLE TO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By the end, you can do these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ome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17922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72263" y="1945974"/>
            <a:ext cx="176881" cy="176881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13535" y="2146440"/>
            <a:ext cx="94337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>
            <a:off x="1025327" y="2193609"/>
            <a:ext cx="70753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ell:outcome"/>
          <p:cNvSpPr txBox="1"/>
          <p:nvPr/>
        </p:nvSpPr>
        <p:spPr>
          <a:xfrm>
            <a:off x="1545336" y="1828800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Explain what "generative" means without using the word</a:t>
            </a:r>
          </a:p>
        </p:txBody>
      </p:sp>
      <p:sp>
        <p:nvSpPr>
          <p:cNvPr id="21" name="vis:outcome"/>
          <p:cNvSpPr/>
          <p:nvPr/>
        </p:nvSpPr>
        <p:spPr>
          <a:xfrm>
            <a:off x="502920" y="2615184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badge"/>
          <p:cNvSpPr/>
          <p:nvPr/>
        </p:nvSpPr>
        <p:spPr>
          <a:xfrm>
            <a:off x="777240" y="26883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icon"/>
          <p:cNvSpPr/>
          <p:nvPr/>
        </p:nvSpPr>
        <p:spPr>
          <a:xfrm>
            <a:off x="943035" y="2869677"/>
            <a:ext cx="235337" cy="220044"/>
          </a:xfrm>
          <a:custGeom>
            <a:avLst/>
            <a:gdLst/>
            <a:ahLst/>
            <a:cxnLst/>
            <a:rect l="l" t="t" r="r" b="b"/>
            <a:pathLst>
              <a:path w="235337" h="220044">
                <a:moveTo>
                  <a:pt x="176629" y="0"/>
                </a:moveTo>
                <a:lnTo>
                  <a:pt x="206326" y="24372"/>
                </a:lnTo>
                <a:lnTo>
                  <a:pt x="226613" y="56996"/>
                </a:lnTo>
                <a:lnTo>
                  <a:pt x="235337" y="94410"/>
                </a:lnTo>
                <a:lnTo>
                  <a:pt x="231571" y="132643"/>
                </a:lnTo>
                <a:lnTo>
                  <a:pt x="215716" y="167636"/>
                </a:lnTo>
                <a:lnTo>
                  <a:pt x="189454" y="195676"/>
                </a:lnTo>
                <a:lnTo>
                  <a:pt x="155573" y="213785"/>
                </a:lnTo>
                <a:lnTo>
                  <a:pt x="117669" y="220044"/>
                </a:lnTo>
                <a:lnTo>
                  <a:pt x="79764" y="213785"/>
                </a:lnTo>
                <a:lnTo>
                  <a:pt x="45883" y="195676"/>
                </a:lnTo>
                <a:lnTo>
                  <a:pt x="19621" y="167636"/>
                </a:lnTo>
                <a:lnTo>
                  <a:pt x="3766" y="132643"/>
                </a:lnTo>
                <a:lnTo>
                  <a:pt x="0" y="94410"/>
                </a:lnTo>
                <a:lnTo>
                  <a:pt x="8724" y="56996"/>
                </a:lnTo>
                <a:lnTo>
                  <a:pt x="29011" y="24372"/>
                </a:lnTo>
                <a:lnTo>
                  <a:pt x="58708" y="0"/>
                </a:lnTo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s:icon"/>
          <p:cNvSpPr/>
          <p:nvPr/>
        </p:nvSpPr>
        <p:spPr>
          <a:xfrm>
            <a:off x="988477" y="2846214"/>
            <a:ext cx="54244" cy="46578"/>
          </a:xfrm>
          <a:custGeom>
            <a:avLst/>
            <a:gdLst/>
            <a:ahLst/>
            <a:cxnLst/>
            <a:rect l="l" t="t" r="r" b="b"/>
            <a:pathLst>
              <a:path w="54244" h="46578">
                <a:moveTo>
                  <a:pt x="54244" y="0"/>
                </a:moveTo>
                <a:lnTo>
                  <a:pt x="26532" y="46578"/>
                </a:lnTo>
                <a:lnTo>
                  <a:pt x="0" y="589"/>
                </a:lnTo>
                <a:close/>
              </a:path>
            </a:pathLst>
          </a:cu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ell:outcome"/>
          <p:cNvSpPr txBox="1"/>
          <p:nvPr/>
        </p:nvSpPr>
        <p:spPr>
          <a:xfrm>
            <a:off x="1545336" y="2724912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Say why the same question gives two colleagues two answers</a:t>
            </a:r>
          </a:p>
        </p:txBody>
      </p:sp>
      <p:sp>
        <p:nvSpPr>
          <p:cNvPr id="26" name="vis:outcome"/>
          <p:cNvSpPr/>
          <p:nvPr/>
        </p:nvSpPr>
        <p:spPr>
          <a:xfrm>
            <a:off x="502920" y="3511296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badge"/>
          <p:cNvSpPr/>
          <p:nvPr/>
        </p:nvSpPr>
        <p:spPr>
          <a:xfrm>
            <a:off x="777240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icon"/>
          <p:cNvSpPr/>
          <p:nvPr/>
        </p:nvSpPr>
        <p:spPr>
          <a:xfrm>
            <a:off x="954575" y="3755887"/>
            <a:ext cx="176881" cy="176881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9" name="vis:icon"/>
          <p:cNvCxnSpPr/>
          <p:nvPr/>
        </p:nvCxnSpPr>
        <p:spPr>
          <a:xfrm>
            <a:off x="1107872" y="3909184"/>
            <a:ext cx="70753" cy="70752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outcome"/>
          <p:cNvSpPr txBox="1"/>
          <p:nvPr/>
        </p:nvSpPr>
        <p:spPr>
          <a:xfrm>
            <a:off x="1545336" y="3621024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Choose between a search box and a generator, first time</a:t>
            </a:r>
          </a:p>
        </p:txBody>
      </p:sp>
      <p:sp>
        <p:nvSpPr>
          <p:cNvPr id="31" name="vis:outcome"/>
          <p:cNvSpPr/>
          <p:nvPr/>
        </p:nvSpPr>
        <p:spPr>
          <a:xfrm>
            <a:off x="502920" y="4407408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badge"/>
          <p:cNvSpPr/>
          <p:nvPr/>
        </p:nvSpPr>
        <p:spPr>
          <a:xfrm>
            <a:off x="777240" y="44805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icon"/>
          <p:cNvSpPr/>
          <p:nvPr/>
        </p:nvSpPr>
        <p:spPr>
          <a:xfrm>
            <a:off x="966367" y="4634310"/>
            <a:ext cx="188673" cy="259426"/>
          </a:xfrm>
          <a:prstGeom prst="roundRect">
            <a:avLst>
              <a:gd name="adj" fmla="val 24232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4" name="vis:icon"/>
          <p:cNvCxnSpPr/>
          <p:nvPr/>
        </p:nvCxnSpPr>
        <p:spPr>
          <a:xfrm>
            <a:off x="1007639" y="4716855"/>
            <a:ext cx="10612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is:icon"/>
          <p:cNvCxnSpPr/>
          <p:nvPr/>
        </p:nvCxnSpPr>
        <p:spPr>
          <a:xfrm>
            <a:off x="1007639" y="4764024"/>
            <a:ext cx="10612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s:icon"/>
          <p:cNvCxnSpPr/>
          <p:nvPr/>
        </p:nvCxnSpPr>
        <p:spPr>
          <a:xfrm>
            <a:off x="1007639" y="4811192"/>
            <a:ext cx="70753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ell:outcome"/>
          <p:cNvSpPr txBox="1"/>
          <p:nvPr/>
        </p:nvSpPr>
        <p:spPr>
          <a:xfrm>
            <a:off x="1545336" y="4517136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Get three usable versions of a message from one set of facts</a:t>
            </a:r>
          </a:p>
        </p:txBody>
      </p:sp>
      <p:sp>
        <p:nvSpPr>
          <p:cNvPr id="38" name="vis:outcome"/>
          <p:cNvSpPr/>
          <p:nvPr/>
        </p:nvSpPr>
        <p:spPr>
          <a:xfrm>
            <a:off x="502920" y="5303520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badge"/>
          <p:cNvSpPr/>
          <p:nvPr/>
        </p:nvSpPr>
        <p:spPr>
          <a:xfrm>
            <a:off x="777240" y="53766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icon"/>
          <p:cNvSpPr/>
          <p:nvPr/>
        </p:nvSpPr>
        <p:spPr>
          <a:xfrm>
            <a:off x="925094" y="5554007"/>
            <a:ext cx="271219" cy="212257"/>
          </a:xfrm>
          <a:custGeom>
            <a:avLst/>
            <a:gdLst/>
            <a:ahLst/>
            <a:cxnLst/>
            <a:rect l="l" t="t" r="r" b="b"/>
            <a:pathLst>
              <a:path w="271219" h="212257">
                <a:moveTo>
                  <a:pt x="0" y="106129"/>
                </a:moveTo>
                <a:lnTo>
                  <a:pt x="135610" y="0"/>
                </a:lnTo>
                <a:lnTo>
                  <a:pt x="271219" y="106129"/>
                </a:lnTo>
                <a:lnTo>
                  <a:pt x="135610" y="212257"/>
                </a:lnTo>
                <a:close/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s:icon"/>
          <p:cNvSpPr/>
          <p:nvPr/>
        </p:nvSpPr>
        <p:spPr>
          <a:xfrm>
            <a:off x="1019431" y="5618863"/>
            <a:ext cx="82544" cy="82544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cell:outcome"/>
          <p:cNvSpPr txBox="1"/>
          <p:nvPr/>
        </p:nvSpPr>
        <p:spPr>
          <a:xfrm>
            <a:off x="1545336" y="5413248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Spot an invented line in a draft before you send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INTERACTIVE MENU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Tap any line to jump straight there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cell:menuhint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 slide has a Menu button in the top-right corner to bring you back here.</a:t>
            </a:r>
          </a:p>
        </p:txBody>
      </p:sp>
      <p:sp>
        <p:nvSpPr>
          <p:cNvPr id="8" name="nav:menurow">
            <a:hlinkClick action="ppaction://hlinksldjump" r:id="rId2"/>
          </p:cNvPr>
          <p:cNvSpPr/>
          <p:nvPr/>
        </p:nvSpPr>
        <p:spPr>
          <a:xfrm>
            <a:off x="502920" y="1828800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vis:menubar"/>
          <p:cNvSpPr/>
          <p:nvPr/>
        </p:nvSpPr>
        <p:spPr>
          <a:xfrm>
            <a:off x="502920" y="1828800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vis:menunum"/>
          <p:cNvSpPr txBox="1"/>
          <p:nvPr/>
        </p:nvSpPr>
        <p:spPr>
          <a:xfrm>
            <a:off x="813816" y="1883664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01</a:t>
            </a:r>
          </a:p>
        </p:txBody>
      </p:sp>
      <p:sp>
        <p:nvSpPr>
          <p:cNvPr id="11" name="cell:menulabel"/>
          <p:cNvSpPr txBox="1"/>
          <p:nvPr/>
        </p:nvSpPr>
        <p:spPr>
          <a:xfrm>
            <a:off x="1344168" y="1883664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What generative means</a:t>
            </a:r>
          </a:p>
        </p:txBody>
      </p:sp>
      <p:sp>
        <p:nvSpPr>
          <p:cNvPr id="12" name="cell:menusub"/>
          <p:cNvSpPr txBox="1"/>
          <p:nvPr/>
        </p:nvSpPr>
        <p:spPr>
          <a:xfrm>
            <a:off x="7134682" y="1883664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779"/>
                </a:solidFill>
                <a:latin typeface="Segoe UI"/>
              </a:rPr>
              <a:t>It builds — even when it looked something up first</a:t>
            </a:r>
          </a:p>
        </p:txBody>
      </p:sp>
      <p:cxnSp>
        <p:nvCxnSpPr>
          <p:cNvPr id="13" name="vis:menuarrow"/>
          <p:cNvCxnSpPr/>
          <p:nvPr/>
        </p:nvCxnSpPr>
        <p:spPr>
          <a:xfrm>
            <a:off x="11213287" y="1997049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row">
            <a:hlinkClick action="ppaction://hlinksldjump" r:id="rId3"/>
          </p:cNvPr>
          <p:cNvSpPr/>
          <p:nvPr/>
        </p:nvSpPr>
        <p:spPr>
          <a:xfrm>
            <a:off x="502920" y="2256739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menubar"/>
          <p:cNvSpPr/>
          <p:nvPr/>
        </p:nvSpPr>
        <p:spPr>
          <a:xfrm>
            <a:off x="502920" y="2256739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enunum"/>
          <p:cNvSpPr txBox="1"/>
          <p:nvPr/>
        </p:nvSpPr>
        <p:spPr>
          <a:xfrm>
            <a:off x="813816" y="2311603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02</a:t>
            </a:r>
          </a:p>
        </p:txBody>
      </p:sp>
      <p:sp>
        <p:nvSpPr>
          <p:cNvPr id="17" name="cell:menulabel"/>
          <p:cNvSpPr txBox="1"/>
          <p:nvPr/>
        </p:nvSpPr>
        <p:spPr>
          <a:xfrm>
            <a:off x="1344168" y="2311603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What it can make</a:t>
            </a:r>
          </a:p>
        </p:txBody>
      </p:sp>
      <p:sp>
        <p:nvSpPr>
          <p:cNvPr id="18" name="cell:menusub"/>
          <p:cNvSpPr txBox="1"/>
          <p:nvPr/>
        </p:nvSpPr>
        <p:spPr>
          <a:xfrm>
            <a:off x="7134682" y="2311603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Text, structure, shorter versions, options</a:t>
            </a:r>
          </a:p>
        </p:txBody>
      </p:sp>
      <p:cxnSp>
        <p:nvCxnSpPr>
          <p:cNvPr id="19" name="vis:menuarrow"/>
          <p:cNvCxnSpPr/>
          <p:nvPr/>
        </p:nvCxnSpPr>
        <p:spPr>
          <a:xfrm>
            <a:off x="11213287" y="2424988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av:menurow">
            <a:hlinkClick action="ppaction://hlinksldjump" r:id="rId4"/>
          </p:cNvPr>
          <p:cNvSpPr/>
          <p:nvPr/>
        </p:nvSpPr>
        <p:spPr>
          <a:xfrm>
            <a:off x="502920" y="2684678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menubar"/>
          <p:cNvSpPr/>
          <p:nvPr/>
        </p:nvSpPr>
        <p:spPr>
          <a:xfrm>
            <a:off x="502920" y="2684678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menunum"/>
          <p:cNvSpPr txBox="1"/>
          <p:nvPr/>
        </p:nvSpPr>
        <p:spPr>
          <a:xfrm>
            <a:off x="813816" y="2739542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03</a:t>
            </a:r>
          </a:p>
        </p:txBody>
      </p:sp>
      <p:sp>
        <p:nvSpPr>
          <p:cNvPr id="23" name="cell:menulabel"/>
          <p:cNvSpPr txBox="1"/>
          <p:nvPr/>
        </p:nvSpPr>
        <p:spPr>
          <a:xfrm>
            <a:off x="1344168" y="2739542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Why answers change</a:t>
            </a:r>
          </a:p>
        </p:txBody>
      </p:sp>
      <p:sp>
        <p:nvSpPr>
          <p:cNvPr id="24" name="cell:menusub"/>
          <p:cNvSpPr txBox="1"/>
          <p:nvPr/>
        </p:nvSpPr>
        <p:spPr>
          <a:xfrm>
            <a:off x="7134682" y="2739542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same question, two answers</a:t>
            </a:r>
          </a:p>
        </p:txBody>
      </p:sp>
      <p:cxnSp>
        <p:nvCxnSpPr>
          <p:cNvPr id="25" name="vis:menuarrow"/>
          <p:cNvCxnSpPr/>
          <p:nvPr/>
        </p:nvCxnSpPr>
        <p:spPr>
          <a:xfrm>
            <a:off x="11213287" y="2852928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nav:menurow">
            <a:hlinkClick action="ppaction://hlinksldjump" r:id="rId5"/>
          </p:cNvPr>
          <p:cNvSpPr/>
          <p:nvPr/>
        </p:nvSpPr>
        <p:spPr>
          <a:xfrm>
            <a:off x="502920" y="3112617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menubar"/>
          <p:cNvSpPr/>
          <p:nvPr/>
        </p:nvSpPr>
        <p:spPr>
          <a:xfrm>
            <a:off x="502920" y="3112617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menunum"/>
          <p:cNvSpPr txBox="1"/>
          <p:nvPr/>
        </p:nvSpPr>
        <p:spPr>
          <a:xfrm>
            <a:off x="813816" y="3167481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04</a:t>
            </a:r>
          </a:p>
        </p:txBody>
      </p:sp>
      <p:sp>
        <p:nvSpPr>
          <p:cNvPr id="29" name="cell:menulabel"/>
          <p:cNvSpPr txBox="1"/>
          <p:nvPr/>
        </p:nvSpPr>
        <p:spPr>
          <a:xfrm>
            <a:off x="1344168" y="3167481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Search box or generator?</a:t>
            </a:r>
          </a:p>
        </p:txBody>
      </p:sp>
      <p:sp>
        <p:nvSpPr>
          <p:cNvPr id="30" name="cell:menusub"/>
          <p:cNvSpPr txBox="1"/>
          <p:nvPr/>
        </p:nvSpPr>
        <p:spPr>
          <a:xfrm>
            <a:off x="7134682" y="3167481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Pick the right one first time</a:t>
            </a:r>
          </a:p>
        </p:txBody>
      </p:sp>
      <p:cxnSp>
        <p:nvCxnSpPr>
          <p:cNvPr id="31" name="vis:menuarrow"/>
          <p:cNvCxnSpPr/>
          <p:nvPr/>
        </p:nvCxnSpPr>
        <p:spPr>
          <a:xfrm>
            <a:off x="11213287" y="3280867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av:menurow">
            <a:hlinkClick action="ppaction://hlinksldjump" r:id="rId6"/>
          </p:cNvPr>
          <p:cNvSpPr/>
          <p:nvPr/>
        </p:nvSpPr>
        <p:spPr>
          <a:xfrm>
            <a:off x="502920" y="354055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menubar"/>
          <p:cNvSpPr/>
          <p:nvPr/>
        </p:nvSpPr>
        <p:spPr>
          <a:xfrm>
            <a:off x="502920" y="3540556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menunum"/>
          <p:cNvSpPr txBox="1"/>
          <p:nvPr/>
        </p:nvSpPr>
        <p:spPr>
          <a:xfrm>
            <a:off x="813816" y="3595420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05</a:t>
            </a:r>
          </a:p>
        </p:txBody>
      </p:sp>
      <p:sp>
        <p:nvSpPr>
          <p:cNvPr id="35" name="cell:menulabel"/>
          <p:cNvSpPr txBox="1"/>
          <p:nvPr/>
        </p:nvSpPr>
        <p:spPr>
          <a:xfrm>
            <a:off x="1344168" y="3595420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Do this now</a:t>
            </a:r>
          </a:p>
        </p:txBody>
      </p:sp>
      <p:sp>
        <p:nvSpPr>
          <p:cNvPr id="36" name="cell:menusub"/>
          <p:cNvSpPr txBox="1"/>
          <p:nvPr/>
        </p:nvSpPr>
        <p:spPr>
          <a:xfrm>
            <a:off x="7134682" y="3595420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Make something in two minutes</a:t>
            </a:r>
          </a:p>
        </p:txBody>
      </p:sp>
      <p:cxnSp>
        <p:nvCxnSpPr>
          <p:cNvPr id="37" name="vis:menuarrow"/>
          <p:cNvCxnSpPr/>
          <p:nvPr/>
        </p:nvCxnSpPr>
        <p:spPr>
          <a:xfrm>
            <a:off x="11213287" y="3708806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av:menurow">
            <a:hlinkClick action="ppaction://hlinksldjump" r:id="rId7"/>
          </p:cNvPr>
          <p:cNvSpPr/>
          <p:nvPr/>
        </p:nvSpPr>
        <p:spPr>
          <a:xfrm>
            <a:off x="502920" y="396849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enubar"/>
          <p:cNvSpPr/>
          <p:nvPr/>
        </p:nvSpPr>
        <p:spPr>
          <a:xfrm>
            <a:off x="502920" y="3968496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menunum"/>
          <p:cNvSpPr txBox="1"/>
          <p:nvPr/>
        </p:nvSpPr>
        <p:spPr>
          <a:xfrm>
            <a:off x="813816" y="402335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06</a:t>
            </a:r>
          </a:p>
        </p:txBody>
      </p:sp>
      <p:sp>
        <p:nvSpPr>
          <p:cNvPr id="41" name="cell:menulabel"/>
          <p:cNvSpPr txBox="1"/>
          <p:nvPr/>
        </p:nvSpPr>
        <p:spPr>
          <a:xfrm>
            <a:off x="1344168" y="402335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42" name="cell:menusub"/>
          <p:cNvSpPr txBox="1"/>
          <p:nvPr/>
        </p:nvSpPr>
        <p:spPr>
          <a:xfrm>
            <a:off x="7134682" y="402335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Wednesday morning decision</a:t>
            </a:r>
          </a:p>
        </p:txBody>
      </p:sp>
      <p:cxnSp>
        <p:nvCxnSpPr>
          <p:cNvPr id="43" name="vis:menuarrow"/>
          <p:cNvCxnSpPr/>
          <p:nvPr/>
        </p:nvCxnSpPr>
        <p:spPr>
          <a:xfrm>
            <a:off x="11213287" y="4136745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av:menurow">
            <a:hlinkClick action="ppaction://hlinksldjump" r:id="rId8"/>
          </p:cNvPr>
          <p:cNvSpPr/>
          <p:nvPr/>
        </p:nvSpPr>
        <p:spPr>
          <a:xfrm>
            <a:off x="502920" y="4396435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enubar"/>
          <p:cNvSpPr/>
          <p:nvPr/>
        </p:nvSpPr>
        <p:spPr>
          <a:xfrm>
            <a:off x="502920" y="4396435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enunum"/>
          <p:cNvSpPr txBox="1"/>
          <p:nvPr/>
        </p:nvSpPr>
        <p:spPr>
          <a:xfrm>
            <a:off x="813816" y="445129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07</a:t>
            </a:r>
          </a:p>
        </p:txBody>
      </p:sp>
      <p:sp>
        <p:nvSpPr>
          <p:cNvPr id="47" name="cell:menulabel"/>
          <p:cNvSpPr txBox="1"/>
          <p:nvPr/>
        </p:nvSpPr>
        <p:spPr>
          <a:xfrm>
            <a:off x="1344168" y="445129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Watch this</a:t>
            </a:r>
          </a:p>
        </p:txBody>
      </p:sp>
      <p:sp>
        <p:nvSpPr>
          <p:cNvPr id="48" name="cell:menusub"/>
          <p:cNvSpPr txBox="1"/>
          <p:nvPr/>
        </p:nvSpPr>
        <p:spPr>
          <a:xfrm>
            <a:off x="7134682" y="445129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An 8-minute outside explainer</a:t>
            </a:r>
          </a:p>
        </p:txBody>
      </p:sp>
      <p:cxnSp>
        <p:nvCxnSpPr>
          <p:cNvPr id="49" name="vis:menuarrow"/>
          <p:cNvCxnSpPr/>
          <p:nvPr/>
        </p:nvCxnSpPr>
        <p:spPr>
          <a:xfrm>
            <a:off x="11213287" y="4564684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nav:menurow">
            <a:hlinkClick action="ppaction://hlinksldjump" r:id="rId9"/>
          </p:cNvPr>
          <p:cNvSpPr/>
          <p:nvPr/>
        </p:nvSpPr>
        <p:spPr>
          <a:xfrm>
            <a:off x="502920" y="4824374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vis:menubar"/>
          <p:cNvSpPr/>
          <p:nvPr/>
        </p:nvSpPr>
        <p:spPr>
          <a:xfrm>
            <a:off x="502920" y="4824374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menunum"/>
          <p:cNvSpPr txBox="1"/>
          <p:nvPr/>
        </p:nvSpPr>
        <p:spPr>
          <a:xfrm>
            <a:off x="813816" y="4879238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08</a:t>
            </a:r>
          </a:p>
        </p:txBody>
      </p:sp>
      <p:sp>
        <p:nvSpPr>
          <p:cNvPr id="53" name="cell:menulabel"/>
          <p:cNvSpPr txBox="1"/>
          <p:nvPr/>
        </p:nvSpPr>
        <p:spPr>
          <a:xfrm>
            <a:off x="1344168" y="4879238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Quiz</a:t>
            </a:r>
          </a:p>
        </p:txBody>
      </p:sp>
      <p:sp>
        <p:nvSpPr>
          <p:cNvPr id="54" name="cell:menusub"/>
          <p:cNvSpPr txBox="1"/>
          <p:nvPr/>
        </p:nvSpPr>
        <p:spPr>
          <a:xfrm>
            <a:off x="7134682" y="4879238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5 questions, instant feedback</a:t>
            </a:r>
          </a:p>
        </p:txBody>
      </p:sp>
      <p:cxnSp>
        <p:nvCxnSpPr>
          <p:cNvPr id="55" name="vis:menuarrow"/>
          <p:cNvCxnSpPr/>
          <p:nvPr/>
        </p:nvCxnSpPr>
        <p:spPr>
          <a:xfrm>
            <a:off x="11213287" y="4992624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av:menurow">
            <a:hlinkClick action="ppaction://hlinksldjump" r:id="rId10"/>
          </p:cNvPr>
          <p:cNvSpPr/>
          <p:nvPr/>
        </p:nvSpPr>
        <p:spPr>
          <a:xfrm>
            <a:off x="502920" y="5252313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vis:menubar"/>
          <p:cNvSpPr/>
          <p:nvPr/>
        </p:nvSpPr>
        <p:spPr>
          <a:xfrm>
            <a:off x="502920" y="5252313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vis:menunum"/>
          <p:cNvSpPr txBox="1"/>
          <p:nvPr/>
        </p:nvSpPr>
        <p:spPr>
          <a:xfrm>
            <a:off x="813816" y="5307177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09</a:t>
            </a:r>
          </a:p>
        </p:txBody>
      </p:sp>
      <p:sp>
        <p:nvSpPr>
          <p:cNvPr id="59" name="cell:menulabel"/>
          <p:cNvSpPr txBox="1"/>
          <p:nvPr/>
        </p:nvSpPr>
        <p:spPr>
          <a:xfrm>
            <a:off x="1344168" y="5307177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Recap card</a:t>
            </a:r>
          </a:p>
        </p:txBody>
      </p:sp>
      <p:sp>
        <p:nvSpPr>
          <p:cNvPr id="60" name="cell:menusub"/>
          <p:cNvSpPr txBox="1"/>
          <p:nvPr/>
        </p:nvSpPr>
        <p:spPr>
          <a:xfrm>
            <a:off x="7134682" y="5307177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whole topic on one screen</a:t>
            </a:r>
          </a:p>
        </p:txBody>
      </p:sp>
      <p:cxnSp>
        <p:nvCxnSpPr>
          <p:cNvPr id="61" name="vis:menuarrow"/>
          <p:cNvCxnSpPr/>
          <p:nvPr/>
        </p:nvCxnSpPr>
        <p:spPr>
          <a:xfrm>
            <a:off x="11213287" y="5420563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nav:menurow">
            <a:hlinkClick action="ppaction://hlinksldjump" r:id="rId11"/>
          </p:cNvPr>
          <p:cNvSpPr/>
          <p:nvPr/>
        </p:nvSpPr>
        <p:spPr>
          <a:xfrm>
            <a:off x="502920" y="5680252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vis:menubar"/>
          <p:cNvSpPr/>
          <p:nvPr/>
        </p:nvSpPr>
        <p:spPr>
          <a:xfrm>
            <a:off x="502920" y="5680252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vis:menunum"/>
          <p:cNvSpPr txBox="1"/>
          <p:nvPr/>
        </p:nvSpPr>
        <p:spPr>
          <a:xfrm>
            <a:off x="813816" y="5735116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10</a:t>
            </a:r>
          </a:p>
        </p:txBody>
      </p:sp>
      <p:sp>
        <p:nvSpPr>
          <p:cNvPr id="65" name="cell:menulabel"/>
          <p:cNvSpPr txBox="1"/>
          <p:nvPr/>
        </p:nvSpPr>
        <p:spPr>
          <a:xfrm>
            <a:off x="1344168" y="5735116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Your toolkit</a:t>
            </a:r>
          </a:p>
        </p:txBody>
      </p:sp>
      <p:sp>
        <p:nvSpPr>
          <p:cNvPr id="66" name="cell:menusub"/>
          <p:cNvSpPr txBox="1"/>
          <p:nvPr/>
        </p:nvSpPr>
        <p:spPr>
          <a:xfrm>
            <a:off x="7134682" y="5735116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Templates, links, what to do next</a:t>
            </a:r>
          </a:p>
        </p:txBody>
      </p:sp>
      <p:cxnSp>
        <p:nvCxnSpPr>
          <p:cNvPr id="67" name="vis:menuarrow"/>
          <p:cNvCxnSpPr/>
          <p:nvPr/>
        </p:nvCxnSpPr>
        <p:spPr>
          <a:xfrm>
            <a:off x="11213287" y="5848502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GENERATIVE MEANS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377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01826"/>
                </a:solidFill>
                <a:latin typeface="Segoe UI Semibold"/>
              </a:rPr>
              <a:t>It builds — even when a tool looked something up first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By default there is no file it is copying from — the wording is assembled the moment you ask for it. Some tools can search or read a document first and then build the answer from that; assume nothing was looked up unless the tool shows you it was.</a:t>
            </a:r>
          </a:p>
        </p:txBody>
      </p:sp>
      <p:sp>
        <p:nvSpPr>
          <p:cNvPr id="16" name="vis:flowcard"/>
          <p:cNvSpPr/>
          <p:nvPr/>
        </p:nvSpPr>
        <p:spPr>
          <a:xfrm>
            <a:off x="502920" y="3675887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flownum"/>
          <p:cNvSpPr/>
          <p:nvPr/>
        </p:nvSpPr>
        <p:spPr>
          <a:xfrm>
            <a:off x="685800" y="3493007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flownumtext"/>
          <p:cNvSpPr txBox="1"/>
          <p:nvPr/>
        </p:nvSpPr>
        <p:spPr>
          <a:xfrm>
            <a:off x="685800" y="3570731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vis:flowtitle"/>
          <p:cNvSpPr txBox="1"/>
          <p:nvPr/>
        </p:nvSpPr>
        <p:spPr>
          <a:xfrm>
            <a:off x="704088" y="4041648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You describe it</a:t>
            </a:r>
          </a:p>
        </p:txBody>
      </p:sp>
      <p:sp>
        <p:nvSpPr>
          <p:cNvPr id="20" name="vis:flowsub"/>
          <p:cNvSpPr txBox="1"/>
          <p:nvPr/>
        </p:nvSpPr>
        <p:spPr>
          <a:xfrm>
            <a:off x="704088" y="4590288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 plain sentences, with your own facts in them.</a:t>
            </a:r>
          </a:p>
        </p:txBody>
      </p:sp>
      <p:cxnSp>
        <p:nvCxnSpPr>
          <p:cNvPr id="21" name="vis:flowarrow"/>
          <p:cNvCxnSpPr/>
          <p:nvPr/>
        </p:nvCxnSpPr>
        <p:spPr>
          <a:xfrm>
            <a:off x="3093643" y="4636007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s:flowcard"/>
          <p:cNvSpPr/>
          <p:nvPr/>
        </p:nvSpPr>
        <p:spPr>
          <a:xfrm>
            <a:off x="3395395" y="3675887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flownum"/>
          <p:cNvSpPr/>
          <p:nvPr/>
        </p:nvSpPr>
        <p:spPr>
          <a:xfrm>
            <a:off x="3578275" y="3493007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flownumtext"/>
          <p:cNvSpPr txBox="1"/>
          <p:nvPr/>
        </p:nvSpPr>
        <p:spPr>
          <a:xfrm>
            <a:off x="3578275" y="3570731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vis:flowtitle"/>
          <p:cNvSpPr txBox="1"/>
          <p:nvPr/>
        </p:nvSpPr>
        <p:spPr>
          <a:xfrm>
            <a:off x="3596563" y="4041648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It builds</a:t>
            </a:r>
          </a:p>
        </p:txBody>
      </p:sp>
      <p:sp>
        <p:nvSpPr>
          <p:cNvPr id="26" name="vis:flowsub"/>
          <p:cNvSpPr txBox="1"/>
          <p:nvPr/>
        </p:nvSpPr>
        <p:spPr>
          <a:xfrm>
            <a:off x="3596563" y="4590288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Each word chosen to fit the words before it.</a:t>
            </a:r>
          </a:p>
        </p:txBody>
      </p:sp>
      <p:cxnSp>
        <p:nvCxnSpPr>
          <p:cNvPr id="27" name="vis:flowarrow"/>
          <p:cNvCxnSpPr/>
          <p:nvPr/>
        </p:nvCxnSpPr>
        <p:spPr>
          <a:xfrm>
            <a:off x="5986119" y="4636007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flowcard"/>
          <p:cNvSpPr/>
          <p:nvPr/>
        </p:nvSpPr>
        <p:spPr>
          <a:xfrm>
            <a:off x="6287871" y="3675887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flownum"/>
          <p:cNvSpPr/>
          <p:nvPr/>
        </p:nvSpPr>
        <p:spPr>
          <a:xfrm>
            <a:off x="6470751" y="3493007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flownumtext"/>
          <p:cNvSpPr txBox="1"/>
          <p:nvPr/>
        </p:nvSpPr>
        <p:spPr>
          <a:xfrm>
            <a:off x="6470751" y="3570731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vis:flowtitle"/>
          <p:cNvSpPr txBox="1"/>
          <p:nvPr/>
        </p:nvSpPr>
        <p:spPr>
          <a:xfrm>
            <a:off x="6489039" y="4041648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Nothing is copied</a:t>
            </a:r>
          </a:p>
        </p:txBody>
      </p:sp>
      <p:sp>
        <p:nvSpPr>
          <p:cNvPr id="32" name="vis:flowsub"/>
          <p:cNvSpPr txBox="1"/>
          <p:nvPr/>
        </p:nvSpPr>
        <p:spPr>
          <a:xfrm>
            <a:off x="6489039" y="4590288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There is no stored answer being handed back to you.</a:t>
            </a:r>
          </a:p>
        </p:txBody>
      </p:sp>
      <p:cxnSp>
        <p:nvCxnSpPr>
          <p:cNvPr id="33" name="vis:flowarrow"/>
          <p:cNvCxnSpPr/>
          <p:nvPr/>
        </p:nvCxnSpPr>
        <p:spPr>
          <a:xfrm>
            <a:off x="8878595" y="4636007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s:flowcard"/>
          <p:cNvSpPr/>
          <p:nvPr/>
        </p:nvSpPr>
        <p:spPr>
          <a:xfrm>
            <a:off x="9180347" y="3675887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flownum"/>
          <p:cNvSpPr/>
          <p:nvPr/>
        </p:nvSpPr>
        <p:spPr>
          <a:xfrm>
            <a:off x="9363227" y="3493007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flownumtext"/>
          <p:cNvSpPr txBox="1"/>
          <p:nvPr/>
        </p:nvSpPr>
        <p:spPr>
          <a:xfrm>
            <a:off x="9363227" y="3570731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vis:flowtitle"/>
          <p:cNvSpPr txBox="1"/>
          <p:nvPr/>
        </p:nvSpPr>
        <p:spPr>
          <a:xfrm>
            <a:off x="9381515" y="4041648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01826"/>
                </a:solidFill>
                <a:latin typeface="Segoe UI Semibold"/>
              </a:rPr>
              <a:t>You get something new</a:t>
            </a:r>
          </a:p>
        </p:txBody>
      </p:sp>
      <p:sp>
        <p:nvSpPr>
          <p:cNvPr id="38" name="vis:flowsub"/>
          <p:cNvSpPr txBox="1"/>
          <p:nvPr/>
        </p:nvSpPr>
        <p:spPr>
          <a:xfrm>
            <a:off x="9381515" y="4590288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Text that did not exist a second earlier.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GENERATIVE MEANS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 generator is not a database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nest"/>
          <p:cNvSpPr/>
          <p:nvPr/>
        </p:nvSpPr>
        <p:spPr>
          <a:xfrm>
            <a:off x="502920" y="1984248"/>
            <a:ext cx="6264078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nestlabel"/>
          <p:cNvSpPr txBox="1"/>
          <p:nvPr/>
        </p:nvSpPr>
        <p:spPr>
          <a:xfrm>
            <a:off x="722376" y="2130552"/>
            <a:ext cx="58251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 search index</a:t>
            </a:r>
          </a:p>
        </p:txBody>
      </p:sp>
      <p:sp>
        <p:nvSpPr>
          <p:cNvPr id="17" name="vis:nestsub"/>
          <p:cNvSpPr txBox="1"/>
          <p:nvPr/>
        </p:nvSpPr>
        <p:spPr>
          <a:xfrm>
            <a:off x="722376" y="2441448"/>
            <a:ext cx="5825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Stores pages. Returns the ones that match.</a:t>
            </a:r>
          </a:p>
        </p:txBody>
      </p:sp>
      <p:sp>
        <p:nvSpPr>
          <p:cNvPr id="18" name="vis:nest"/>
          <p:cNvSpPr/>
          <p:nvPr/>
        </p:nvSpPr>
        <p:spPr>
          <a:xfrm>
            <a:off x="832104" y="2843784"/>
            <a:ext cx="560571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nestlabel"/>
          <p:cNvSpPr txBox="1"/>
          <p:nvPr/>
        </p:nvSpPr>
        <p:spPr>
          <a:xfrm>
            <a:off x="1051560" y="2990088"/>
            <a:ext cx="5166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 generative model</a:t>
            </a:r>
          </a:p>
        </p:txBody>
      </p:sp>
      <p:sp>
        <p:nvSpPr>
          <p:cNvPr id="20" name="vis:nestsub"/>
          <p:cNvSpPr txBox="1"/>
          <p:nvPr/>
        </p:nvSpPr>
        <p:spPr>
          <a:xfrm>
            <a:off x="1051560" y="3300984"/>
            <a:ext cx="51667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Stores patterns. Builds a fresh answer every time.</a:t>
            </a:r>
          </a:p>
        </p:txBody>
      </p:sp>
      <p:sp>
        <p:nvSpPr>
          <p:cNvPr id="21" name="vis:nest"/>
          <p:cNvSpPr/>
          <p:nvPr/>
        </p:nvSpPr>
        <p:spPr>
          <a:xfrm>
            <a:off x="1161288" y="3703320"/>
            <a:ext cx="4947342" cy="1024128"/>
          </a:xfrm>
          <a:prstGeom prst="roundRect">
            <a:avLst>
              <a:gd name="adj" fmla="val 8928"/>
            </a:avLst>
          </a:prstGeom>
          <a:solidFill>
            <a:srgbClr val="F3F6FB"/>
          </a:solidFill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nestlabel"/>
          <p:cNvSpPr txBox="1"/>
          <p:nvPr/>
        </p:nvSpPr>
        <p:spPr>
          <a:xfrm>
            <a:off x="1380744" y="3849624"/>
            <a:ext cx="45084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F4BC4"/>
                </a:solidFill>
                <a:latin typeface="Segoe UI Semibold"/>
              </a:rPr>
              <a:t>What that means for you</a:t>
            </a:r>
          </a:p>
        </p:txBody>
      </p:sp>
      <p:sp>
        <p:nvSpPr>
          <p:cNvPr id="23" name="vis:nestsub"/>
          <p:cNvSpPr txBox="1"/>
          <p:nvPr/>
        </p:nvSpPr>
        <p:spPr>
          <a:xfrm>
            <a:off x="1380744" y="4160520"/>
            <a:ext cx="45084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Never quote it. Always read it.</a:t>
            </a:r>
          </a:p>
        </p:txBody>
      </p:sp>
      <p:sp>
        <p:nvSpPr>
          <p:cNvPr id="24" name="body:nestnote"/>
          <p:cNvSpPr txBox="1"/>
          <p:nvPr/>
        </p:nvSpPr>
        <p:spPr>
          <a:xfrm>
            <a:off x="7438150" y="2130552"/>
            <a:ext cx="4250624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779"/>
                </a:solidFill>
                <a:latin typeface="Segoe UI"/>
              </a:rPr>
              <a:t>This is why two colleagues asking the same question often get different wording: the wording itself is always built fresh, even on the occasions when a tool looked something up first.</a:t>
            </a:r>
          </a:p>
        </p:txBody>
      </p:sp>
      <p:sp>
        <p:nvSpPr>
          <p:cNvPr id="25" name="cell:glosshint"/>
          <p:cNvSpPr txBox="1"/>
          <p:nvPr/>
        </p:nvSpPr>
        <p:spPr>
          <a:xfrm>
            <a:off x="502920" y="5687568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What does this mean?</a:t>
            </a:r>
          </a:p>
        </p:txBody>
      </p:sp>
      <p:sp>
        <p:nvSpPr>
          <p:cNvPr id="26" name="vis:chip"/>
          <p:cNvSpPr/>
          <p:nvPr/>
        </p:nvSpPr>
        <p:spPr>
          <a:xfrm>
            <a:off x="2221991" y="5660136"/>
            <a:ext cx="1902565" cy="274320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5B6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2377439" y="5687568"/>
            <a:ext cx="15916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5B6779"/>
                </a:solidFill>
                <a:latin typeface="Segoe UI Semibold"/>
              </a:rPr>
              <a:t>GENERATIVE AI  ?</a:t>
            </a:r>
          </a:p>
        </p:txBody>
      </p:sp>
      <p:sp>
        <p:nvSpPr>
          <p:cNvPr id="28" name="nav:gloss">
            <a:hlinkClick action="ppaction://hlinksldjump" r:id="rId3"/>
          </p:cNvPr>
          <p:cNvSpPr/>
          <p:nvPr/>
        </p:nvSpPr>
        <p:spPr>
          <a:xfrm>
            <a:off x="2221991" y="5660136"/>
            <a:ext cx="1902565" cy="27432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IT CAN MAKE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Four things it makes well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Text — emails, SOP drafts, replies to a complaint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Structure — a messy list turned into a clean table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Shorter versions — twelve pages into six bullets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Options — ten subject lines, five ways to say 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IT CAN MAKE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It makes more than text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ile"/>
          <p:cNvSpPr/>
          <p:nvPr/>
        </p:nvSpPr>
        <p:spPr>
          <a:xfrm>
            <a:off x="502920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48942" y="2217617"/>
            <a:ext cx="314963" cy="246493"/>
          </a:xfrm>
          <a:custGeom>
            <a:avLst/>
            <a:gdLst/>
            <a:ahLst/>
            <a:cxnLst/>
            <a:rect l="l" t="t" r="r" b="b"/>
            <a:pathLst>
              <a:path w="314963" h="246493">
                <a:moveTo>
                  <a:pt x="0" y="123246"/>
                </a:moveTo>
                <a:lnTo>
                  <a:pt x="157482" y="0"/>
                </a:lnTo>
                <a:lnTo>
                  <a:pt x="314963" y="123246"/>
                </a:lnTo>
                <a:lnTo>
                  <a:pt x="157482" y="246493"/>
                </a:lnTo>
                <a:close/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s:icon"/>
          <p:cNvSpPr/>
          <p:nvPr/>
        </p:nvSpPr>
        <p:spPr>
          <a:xfrm>
            <a:off x="1058494" y="2292934"/>
            <a:ext cx="95858" cy="95858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cell:tilelabel"/>
          <p:cNvSpPr txBox="1"/>
          <p:nvPr/>
        </p:nvSpPr>
        <p:spPr>
          <a:xfrm>
            <a:off x="777240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Images and slides</a:t>
            </a:r>
          </a:p>
        </p:txBody>
      </p:sp>
      <p:sp>
        <p:nvSpPr>
          <p:cNvPr id="20" name="cell:tilesub"/>
          <p:cNvSpPr txBox="1"/>
          <p:nvPr/>
        </p:nvSpPr>
        <p:spPr>
          <a:xfrm>
            <a:off x="777240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Fine for a rough internal draft. Risky for anything a customer will actually see.</a:t>
            </a:r>
          </a:p>
        </p:txBody>
      </p:sp>
      <p:sp>
        <p:nvSpPr>
          <p:cNvPr id="21" name="vis:tile"/>
          <p:cNvSpPr/>
          <p:nvPr/>
        </p:nvSpPr>
        <p:spPr>
          <a:xfrm>
            <a:off x="4322978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badge"/>
          <p:cNvSpPr/>
          <p:nvPr/>
        </p:nvSpPr>
        <p:spPr>
          <a:xfrm>
            <a:off x="4597298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icon"/>
          <p:cNvSpPr/>
          <p:nvPr/>
        </p:nvSpPr>
        <p:spPr>
          <a:xfrm>
            <a:off x="4775847" y="2210770"/>
            <a:ext cx="301269" cy="260187"/>
          </a:xfrm>
          <a:prstGeom prst="roundRect">
            <a:avLst>
              <a:gd name="adj" fmla="val 17571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4" name="vis:icon"/>
          <p:cNvCxnSpPr/>
          <p:nvPr/>
        </p:nvCxnSpPr>
        <p:spPr>
          <a:xfrm>
            <a:off x="4775847" y="2292934"/>
            <a:ext cx="30126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>
            <a:off x="4892247" y="2210770"/>
            <a:ext cx="0" cy="26018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is:icon"/>
          <p:cNvCxnSpPr/>
          <p:nvPr/>
        </p:nvCxnSpPr>
        <p:spPr>
          <a:xfrm>
            <a:off x="4775847" y="2381946"/>
            <a:ext cx="30126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ell:tilelabel"/>
          <p:cNvSpPr txBox="1"/>
          <p:nvPr/>
        </p:nvSpPr>
        <p:spPr>
          <a:xfrm>
            <a:off x="4597298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Formulas and code</a:t>
            </a:r>
          </a:p>
        </p:txBody>
      </p:sp>
      <p:sp>
        <p:nvSpPr>
          <p:cNvPr id="28" name="cell:tilesub"/>
          <p:cNvSpPr txBox="1"/>
          <p:nvPr/>
        </p:nvSpPr>
        <p:spPr>
          <a:xfrm>
            <a:off x="4597298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Excel formulas, small scripts. Always test one row before you trust the column.</a:t>
            </a:r>
          </a:p>
        </p:txBody>
      </p:sp>
      <p:sp>
        <p:nvSpPr>
          <p:cNvPr id="29" name="vis:tile"/>
          <p:cNvSpPr/>
          <p:nvPr/>
        </p:nvSpPr>
        <p:spPr>
          <a:xfrm>
            <a:off x="8143036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badge"/>
          <p:cNvSpPr/>
          <p:nvPr/>
        </p:nvSpPr>
        <p:spPr>
          <a:xfrm>
            <a:off x="8417356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icon"/>
          <p:cNvSpPr/>
          <p:nvPr/>
        </p:nvSpPr>
        <p:spPr>
          <a:xfrm>
            <a:off x="8602753" y="2217617"/>
            <a:ext cx="287575" cy="191716"/>
          </a:xfrm>
          <a:prstGeom prst="roundRect">
            <a:avLst>
              <a:gd name="adj" fmla="val 23847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 flipH="1">
            <a:off x="8657529" y="2409334"/>
            <a:ext cx="13694" cy="7531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657529" y="2409334"/>
            <a:ext cx="75317" cy="7531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tilelabel"/>
          <p:cNvSpPr txBox="1"/>
          <p:nvPr/>
        </p:nvSpPr>
        <p:spPr>
          <a:xfrm>
            <a:off x="8417356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Translation</a:t>
            </a:r>
          </a:p>
        </p:txBody>
      </p:sp>
      <p:sp>
        <p:nvSpPr>
          <p:cNvPr id="35" name="cell:tilesub"/>
          <p:cNvSpPr txBox="1"/>
          <p:nvPr/>
        </p:nvSpPr>
        <p:spPr>
          <a:xfrm>
            <a:off x="8417356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Hindi to English, English to Arabic. Good for the gist, never for a contract.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WHY ANSWERS CHANGE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Same words, different answer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panel"/>
          <p:cNvSpPr/>
          <p:nvPr/>
        </p:nvSpPr>
        <p:spPr>
          <a:xfrm>
            <a:off x="502920" y="1719072"/>
            <a:ext cx="5437479" cy="4297680"/>
          </a:xfrm>
          <a:prstGeom prst="roundRect">
            <a:avLst>
              <a:gd name="adj" fmla="val 212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anelspine"/>
          <p:cNvSpPr/>
          <p:nvPr/>
        </p:nvSpPr>
        <p:spPr>
          <a:xfrm>
            <a:off x="502920" y="1719072"/>
            <a:ext cx="68580" cy="4297680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"/>
          <p:cNvSpPr/>
          <p:nvPr/>
        </p:nvSpPr>
        <p:spPr>
          <a:xfrm>
            <a:off x="777240" y="1956815"/>
            <a:ext cx="1688619" cy="274320"/>
          </a:xfrm>
          <a:prstGeom prst="roundRect">
            <a:avLst>
              <a:gd name="adj" fmla="val 16666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932688" y="1984247"/>
            <a:ext cx="13777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A SEARCH BOX</a:t>
            </a:r>
          </a:p>
        </p:txBody>
      </p:sp>
      <p:sp>
        <p:nvSpPr>
          <p:cNvPr id="19" name="vis:paneltitle"/>
          <p:cNvSpPr txBox="1"/>
          <p:nvPr/>
        </p:nvSpPr>
        <p:spPr>
          <a:xfrm>
            <a:off x="777240" y="2377439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Same words, same result</a:t>
            </a:r>
          </a:p>
        </p:txBody>
      </p:sp>
      <p:sp>
        <p:nvSpPr>
          <p:cNvPr id="20" name="vis:icon"/>
          <p:cNvSpPr/>
          <p:nvPr/>
        </p:nvSpPr>
        <p:spPr>
          <a:xfrm>
            <a:off x="811987" y="3080613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907084" y="3175711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s:panelitem"/>
          <p:cNvSpPr txBox="1"/>
          <p:nvPr/>
        </p:nvSpPr>
        <p:spPr>
          <a:xfrm>
            <a:off x="1078992" y="30175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Everyone gets the same ten links</a:t>
            </a:r>
          </a:p>
        </p:txBody>
      </p:sp>
      <p:sp>
        <p:nvSpPr>
          <p:cNvPr id="23" name="vis:icon"/>
          <p:cNvSpPr/>
          <p:nvPr/>
        </p:nvSpPr>
        <p:spPr>
          <a:xfrm>
            <a:off x="811987" y="3775557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4" name="vis:icon"/>
          <p:cNvCxnSpPr/>
          <p:nvPr/>
        </p:nvCxnSpPr>
        <p:spPr>
          <a:xfrm>
            <a:off x="907084" y="3870655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s:panelitem"/>
          <p:cNvSpPr txBox="1"/>
          <p:nvPr/>
        </p:nvSpPr>
        <p:spPr>
          <a:xfrm>
            <a:off x="1078992" y="3712463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Run it tomorrow and get the same list</a:t>
            </a:r>
          </a:p>
        </p:txBody>
      </p:sp>
      <p:sp>
        <p:nvSpPr>
          <p:cNvPr id="26" name="vis:icon"/>
          <p:cNvSpPr/>
          <p:nvPr/>
        </p:nvSpPr>
        <p:spPr>
          <a:xfrm>
            <a:off x="811987" y="4470501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907084" y="4565599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panelitem"/>
          <p:cNvSpPr txBox="1"/>
          <p:nvPr/>
        </p:nvSpPr>
        <p:spPr>
          <a:xfrm>
            <a:off x="1078992" y="4407407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You can cite the page you found</a:t>
            </a:r>
          </a:p>
        </p:txBody>
      </p:sp>
      <p:sp>
        <p:nvSpPr>
          <p:cNvPr id="29" name="vis:icon"/>
          <p:cNvSpPr/>
          <p:nvPr/>
        </p:nvSpPr>
        <p:spPr>
          <a:xfrm>
            <a:off x="811987" y="5165445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0" name="vis:icon"/>
          <p:cNvCxnSpPr/>
          <p:nvPr/>
        </p:nvCxnSpPr>
        <p:spPr>
          <a:xfrm>
            <a:off x="907084" y="5260543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vis:panelitem"/>
          <p:cNvSpPr txBox="1"/>
          <p:nvPr/>
        </p:nvSpPr>
        <p:spPr>
          <a:xfrm>
            <a:off x="1078992" y="5102351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result is a place, not a sentence</a:t>
            </a:r>
          </a:p>
        </p:txBody>
      </p:sp>
      <p:sp>
        <p:nvSpPr>
          <p:cNvPr id="32" name="vis:panel"/>
          <p:cNvSpPr/>
          <p:nvPr/>
        </p:nvSpPr>
        <p:spPr>
          <a:xfrm>
            <a:off x="6251295" y="1719072"/>
            <a:ext cx="5437479" cy="4297680"/>
          </a:xfrm>
          <a:prstGeom prst="roundRect">
            <a:avLst>
              <a:gd name="adj" fmla="val 212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panelspine"/>
          <p:cNvSpPr/>
          <p:nvPr/>
        </p:nvSpPr>
        <p:spPr>
          <a:xfrm>
            <a:off x="6251295" y="1719072"/>
            <a:ext cx="68580" cy="429768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chip"/>
          <p:cNvSpPr/>
          <p:nvPr/>
        </p:nvSpPr>
        <p:spPr>
          <a:xfrm>
            <a:off x="6525615" y="1956815"/>
            <a:ext cx="1638940" cy="274320"/>
          </a:xfrm>
          <a:prstGeom prst="roundRect">
            <a:avLst>
              <a:gd name="adj" fmla="val 16666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chiptext"/>
          <p:cNvSpPr txBox="1"/>
          <p:nvPr/>
        </p:nvSpPr>
        <p:spPr>
          <a:xfrm>
            <a:off x="6681063" y="1984247"/>
            <a:ext cx="13280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A GENERATOR</a:t>
            </a:r>
          </a:p>
        </p:txBody>
      </p:sp>
      <p:sp>
        <p:nvSpPr>
          <p:cNvPr id="36" name="vis:paneltitle"/>
          <p:cNvSpPr txBox="1"/>
          <p:nvPr/>
        </p:nvSpPr>
        <p:spPr>
          <a:xfrm>
            <a:off x="6525615" y="2377439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Same words, new answer</a:t>
            </a:r>
          </a:p>
        </p:txBody>
      </p:sp>
      <p:sp>
        <p:nvSpPr>
          <p:cNvPr id="37" name="vis:icon"/>
          <p:cNvSpPr/>
          <p:nvPr/>
        </p:nvSpPr>
        <p:spPr>
          <a:xfrm>
            <a:off x="6549390" y="3084271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8" name="vis:icon"/>
          <p:cNvCxnSpPr/>
          <p:nvPr/>
        </p:nvCxnSpPr>
        <p:spPr>
          <a:xfrm flipH="1">
            <a:off x="6578650" y="3186684"/>
            <a:ext cx="7316" cy="40233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6578650" y="3186684"/>
            <a:ext cx="40234" cy="40233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panelitem"/>
          <p:cNvSpPr txBox="1"/>
          <p:nvPr/>
        </p:nvSpPr>
        <p:spPr>
          <a:xfrm>
            <a:off x="6827367" y="30175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wording differs every single time</a:t>
            </a:r>
          </a:p>
        </p:txBody>
      </p:sp>
      <p:sp>
        <p:nvSpPr>
          <p:cNvPr id="41" name="vis:icon"/>
          <p:cNvSpPr/>
          <p:nvPr/>
        </p:nvSpPr>
        <p:spPr>
          <a:xfrm>
            <a:off x="6549390" y="3779215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2" name="vis:icon"/>
          <p:cNvCxnSpPr/>
          <p:nvPr/>
        </p:nvCxnSpPr>
        <p:spPr>
          <a:xfrm flipH="1">
            <a:off x="6578650" y="3881627"/>
            <a:ext cx="7316" cy="4023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s:icon"/>
          <p:cNvCxnSpPr/>
          <p:nvPr/>
        </p:nvCxnSpPr>
        <p:spPr>
          <a:xfrm flipV="1">
            <a:off x="6578650" y="3881627"/>
            <a:ext cx="40234" cy="4023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is:panelitem"/>
          <p:cNvSpPr txBox="1"/>
          <p:nvPr/>
        </p:nvSpPr>
        <p:spPr>
          <a:xfrm>
            <a:off x="6827367" y="3712463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Two colleagues get two versions</a:t>
            </a:r>
          </a:p>
        </p:txBody>
      </p:sp>
      <p:sp>
        <p:nvSpPr>
          <p:cNvPr id="45" name="vis:icon"/>
          <p:cNvSpPr/>
          <p:nvPr/>
        </p:nvSpPr>
        <p:spPr>
          <a:xfrm>
            <a:off x="6549390" y="4474159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6" name="vis:icon"/>
          <p:cNvCxnSpPr/>
          <p:nvPr/>
        </p:nvCxnSpPr>
        <p:spPr>
          <a:xfrm flipH="1">
            <a:off x="6578650" y="4576571"/>
            <a:ext cx="7316" cy="4023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vis:icon"/>
          <p:cNvCxnSpPr/>
          <p:nvPr/>
        </p:nvCxnSpPr>
        <p:spPr>
          <a:xfrm flipV="1">
            <a:off x="6578650" y="4576571"/>
            <a:ext cx="40234" cy="4023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is:panelitem"/>
          <p:cNvSpPr txBox="1"/>
          <p:nvPr/>
        </p:nvSpPr>
        <p:spPr>
          <a:xfrm>
            <a:off x="6827367" y="4407407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There is no page you could cite</a:t>
            </a:r>
          </a:p>
        </p:txBody>
      </p:sp>
      <p:sp>
        <p:nvSpPr>
          <p:cNvPr id="49" name="vis:icon"/>
          <p:cNvSpPr/>
          <p:nvPr/>
        </p:nvSpPr>
        <p:spPr>
          <a:xfrm>
            <a:off x="6549390" y="5169103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50" name="vis:icon"/>
          <p:cNvCxnSpPr/>
          <p:nvPr/>
        </p:nvCxnSpPr>
        <p:spPr>
          <a:xfrm flipH="1">
            <a:off x="6578650" y="5271515"/>
            <a:ext cx="7316" cy="4023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vis:icon"/>
          <p:cNvCxnSpPr/>
          <p:nvPr/>
        </p:nvCxnSpPr>
        <p:spPr>
          <a:xfrm flipV="1">
            <a:off x="6578650" y="5271515"/>
            <a:ext cx="40234" cy="4023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vis:panelitem"/>
          <p:cNvSpPr txBox="1"/>
          <p:nvPr/>
        </p:nvSpPr>
        <p:spPr>
          <a:xfrm>
            <a:off x="6827367" y="5102351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result is text, made only for you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WHY ANSWERS CHANGE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Turn that into an advantage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Variation is a problem when you did not ask for it, and a gift when you did.</a:t>
            </a:r>
          </a:p>
        </p:txBody>
      </p:sp>
      <p:sp>
        <p:nvSpPr>
          <p:cNvPr id="16" name="vis:promptcard"/>
          <p:cNvSpPr/>
          <p:nvPr/>
        </p:nvSpPr>
        <p:spPr>
          <a:xfrm>
            <a:off x="502920" y="2432304"/>
            <a:ext cx="6935230" cy="2146807"/>
          </a:xfrm>
          <a:prstGeom prst="roundRect">
            <a:avLst>
              <a:gd name="adj" fmla="val 425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romptbar"/>
          <p:cNvSpPr/>
          <p:nvPr/>
        </p:nvSpPr>
        <p:spPr>
          <a:xfrm>
            <a:off x="502920" y="2432304"/>
            <a:ext cx="6935230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739932" y="2554467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 flipH="1">
            <a:off x="775045" y="2677363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 flipV="1">
            <a:off x="775045" y="2677363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vis:copybtn"/>
          <p:cNvSpPr/>
          <p:nvPr/>
        </p:nvSpPr>
        <p:spPr>
          <a:xfrm>
            <a:off x="5577981" y="2505456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5761592" y="2571292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5780246" y="2608600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>
            <a:off x="5780246" y="2636580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>
            <a:off x="5780246" y="2664561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copytext"/>
          <p:cNvSpPr txBox="1"/>
          <p:nvPr/>
        </p:nvSpPr>
        <p:spPr>
          <a:xfrm>
            <a:off x="5989461" y="2564892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27" name="vis:prompthdr"/>
          <p:cNvSpPr txBox="1"/>
          <p:nvPr/>
        </p:nvSpPr>
        <p:spPr>
          <a:xfrm>
            <a:off x="1051560" y="2542032"/>
            <a:ext cx="44166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this prompt</a:t>
            </a:r>
          </a:p>
        </p:txBody>
      </p:sp>
      <p:sp>
        <p:nvSpPr>
          <p:cNvPr id="28" name="card:prompt"/>
          <p:cNvSpPr txBox="1"/>
          <p:nvPr/>
        </p:nvSpPr>
        <p:spPr>
          <a:xfrm>
            <a:off x="777240" y="2980944"/>
            <a:ext cx="6386590" cy="924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Give me three versions of this message: one formal, one friendly, one very short. Message: our delivery to the Sharjah site will now arrive on Thursday instead of Tuesday, because of a customs hold.</a:t>
            </a:r>
          </a:p>
        </p:txBody>
      </p:sp>
      <p:sp>
        <p:nvSpPr>
          <p:cNvPr id="29" name="vis:promptcap"/>
          <p:cNvSpPr txBox="1"/>
          <p:nvPr/>
        </p:nvSpPr>
        <p:spPr>
          <a:xfrm>
            <a:off x="777240" y="4106671"/>
            <a:ext cx="638659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Three versions cost you the same as one.</a:t>
            </a:r>
          </a:p>
        </p:txBody>
      </p:sp>
      <p:sp>
        <p:nvSpPr>
          <p:cNvPr id="30" name="seclabel"/>
          <p:cNvSpPr txBox="1"/>
          <p:nvPr/>
        </p:nvSpPr>
        <p:spPr>
          <a:xfrm>
            <a:off x="7803910" y="2487168"/>
            <a:ext cx="3884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WHY THIS WORKS</a:t>
            </a:r>
          </a:p>
        </p:txBody>
      </p:sp>
      <p:cxnSp>
        <p:nvCxnSpPr>
          <p:cNvPr id="31" name="vis:icon"/>
          <p:cNvCxnSpPr/>
          <p:nvPr/>
        </p:nvCxnSpPr>
        <p:spPr>
          <a:xfrm>
            <a:off x="7850361" y="3030687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is:icon"/>
          <p:cNvCxnSpPr/>
          <p:nvPr/>
        </p:nvCxnSpPr>
        <p:spPr>
          <a:xfrm flipV="1">
            <a:off x="7902665" y="2970336"/>
            <a:ext cx="96561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ell:why"/>
          <p:cNvSpPr txBox="1"/>
          <p:nvPr/>
        </p:nvSpPr>
        <p:spPr>
          <a:xfrm>
            <a:off x="8187958" y="2871216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You pick a tone instead of arguing with the tool.</a:t>
            </a:r>
          </a:p>
        </p:txBody>
      </p:sp>
      <p:cxnSp>
        <p:nvCxnSpPr>
          <p:cNvPr id="34" name="vis:icon"/>
          <p:cNvCxnSpPr/>
          <p:nvPr/>
        </p:nvCxnSpPr>
        <p:spPr>
          <a:xfrm>
            <a:off x="7850361" y="3963375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is:icon"/>
          <p:cNvCxnSpPr/>
          <p:nvPr/>
        </p:nvCxnSpPr>
        <p:spPr>
          <a:xfrm flipV="1">
            <a:off x="7902665" y="3903024"/>
            <a:ext cx="96561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why"/>
          <p:cNvSpPr txBox="1"/>
          <p:nvPr/>
        </p:nvSpPr>
        <p:spPr>
          <a:xfrm>
            <a:off x="8187958" y="3803904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Seeing three side by side makes the choice obvious.</a:t>
            </a:r>
          </a:p>
        </p:txBody>
      </p:sp>
      <p:cxnSp>
        <p:nvCxnSpPr>
          <p:cNvPr id="37" name="vis:icon"/>
          <p:cNvCxnSpPr/>
          <p:nvPr/>
        </p:nvCxnSpPr>
        <p:spPr>
          <a:xfrm>
            <a:off x="7850361" y="4896063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 flipV="1">
            <a:off x="7902665" y="4835712"/>
            <a:ext cx="96561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ell:why"/>
          <p:cNvSpPr txBox="1"/>
          <p:nvPr/>
        </p:nvSpPr>
        <p:spPr>
          <a:xfrm>
            <a:off x="8187958" y="4736592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 facts stay identical across all three.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SEARCH BOX OR GENERATOR?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Which one do I need?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reeq"/>
          <p:cNvSpPr/>
          <p:nvPr/>
        </p:nvSpPr>
        <p:spPr>
          <a:xfrm>
            <a:off x="3746818" y="1810512"/>
            <a:ext cx="4698059" cy="841248"/>
          </a:xfrm>
          <a:prstGeom prst="roundRect">
            <a:avLst>
              <a:gd name="adj" fmla="val 1086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treeqtext"/>
          <p:cNvSpPr txBox="1"/>
          <p:nvPr/>
        </p:nvSpPr>
        <p:spPr>
          <a:xfrm>
            <a:off x="3947986" y="1938528"/>
            <a:ext cx="4295723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Will anyone ask me where this came from?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095847" y="2651760"/>
            <a:ext cx="0" cy="237743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line"/>
          <p:cNvCxnSpPr/>
          <p:nvPr/>
        </p:nvCxnSpPr>
        <p:spPr>
          <a:xfrm>
            <a:off x="2516373" y="2889503"/>
            <a:ext cx="7158948" cy="0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line"/>
          <p:cNvCxnSpPr/>
          <p:nvPr/>
        </p:nvCxnSpPr>
        <p:spPr>
          <a:xfrm>
            <a:off x="2516373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chip"/>
          <p:cNvSpPr/>
          <p:nvPr/>
        </p:nvSpPr>
        <p:spPr>
          <a:xfrm>
            <a:off x="2138739" y="3026664"/>
            <a:ext cx="755269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2294187" y="3054096"/>
            <a:ext cx="444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NO</a:t>
            </a:r>
          </a:p>
        </p:txBody>
      </p:sp>
      <p:sp>
        <p:nvSpPr>
          <p:cNvPr id="22" name="vis:treebox"/>
          <p:cNvSpPr/>
          <p:nvPr/>
        </p:nvSpPr>
        <p:spPr>
          <a:xfrm>
            <a:off x="279202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treebar"/>
          <p:cNvSpPr/>
          <p:nvPr/>
        </p:nvSpPr>
        <p:spPr>
          <a:xfrm>
            <a:off x="279202" y="3493008"/>
            <a:ext cx="4474342" cy="6858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4" name="vis:icon"/>
          <p:cNvCxnSpPr/>
          <p:nvPr/>
        </p:nvCxnSpPr>
        <p:spPr>
          <a:xfrm>
            <a:off x="571079" y="3937040"/>
            <a:ext cx="66568" cy="66568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 flipV="1">
            <a:off x="637647" y="3860231"/>
            <a:ext cx="122896" cy="143377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treelabel"/>
          <p:cNvSpPr txBox="1"/>
          <p:nvPr/>
        </p:nvSpPr>
        <p:spPr>
          <a:xfrm>
            <a:off x="900994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Use the generator</a:t>
            </a:r>
          </a:p>
        </p:txBody>
      </p:sp>
      <p:sp>
        <p:nvSpPr>
          <p:cNvPr id="27" name="vis:treedetail"/>
          <p:cNvSpPr txBox="1"/>
          <p:nvPr/>
        </p:nvSpPr>
        <p:spPr>
          <a:xfrm>
            <a:off x="535234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reply, a summary, a first draft, a set of options. You already hold the facts and you need them turned into sentences.</a:t>
            </a:r>
          </a:p>
        </p:txBody>
      </p:sp>
      <p:cxnSp>
        <p:nvCxnSpPr>
          <p:cNvPr id="28" name="vis:line"/>
          <p:cNvCxnSpPr/>
          <p:nvPr/>
        </p:nvCxnSpPr>
        <p:spPr>
          <a:xfrm>
            <a:off x="9675321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is:chip"/>
          <p:cNvSpPr/>
          <p:nvPr/>
        </p:nvSpPr>
        <p:spPr>
          <a:xfrm>
            <a:off x="9282446" y="3026664"/>
            <a:ext cx="785749" cy="274320"/>
          </a:xfrm>
          <a:prstGeom prst="roundRect">
            <a:avLst>
              <a:gd name="adj" fmla="val 16666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chiptext"/>
          <p:cNvSpPr txBox="1"/>
          <p:nvPr/>
        </p:nvSpPr>
        <p:spPr>
          <a:xfrm>
            <a:off x="9437894" y="3054096"/>
            <a:ext cx="4748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YES</a:t>
            </a:r>
          </a:p>
        </p:txBody>
      </p:sp>
      <p:sp>
        <p:nvSpPr>
          <p:cNvPr id="31" name="vis:treebox"/>
          <p:cNvSpPr/>
          <p:nvPr/>
        </p:nvSpPr>
        <p:spPr>
          <a:xfrm>
            <a:off x="7438150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treebar"/>
          <p:cNvSpPr/>
          <p:nvPr/>
        </p:nvSpPr>
        <p:spPr>
          <a:xfrm>
            <a:off x="7438150" y="3493008"/>
            <a:ext cx="4474342" cy="68580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icon"/>
          <p:cNvSpPr/>
          <p:nvPr/>
        </p:nvSpPr>
        <p:spPr>
          <a:xfrm>
            <a:off x="7730026" y="3834627"/>
            <a:ext cx="153619" cy="153619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4" name="vis:icon"/>
          <p:cNvCxnSpPr/>
          <p:nvPr/>
        </p:nvCxnSpPr>
        <p:spPr>
          <a:xfrm>
            <a:off x="7863163" y="3967764"/>
            <a:ext cx="61448" cy="61448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treelabel"/>
          <p:cNvSpPr txBox="1"/>
          <p:nvPr/>
        </p:nvSpPr>
        <p:spPr>
          <a:xfrm>
            <a:off x="8059942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Use search</a:t>
            </a:r>
          </a:p>
        </p:txBody>
      </p:sp>
      <p:sp>
        <p:nvSpPr>
          <p:cNvPr id="36" name="vis:treedetail"/>
          <p:cNvSpPr txBox="1"/>
          <p:nvPr/>
        </p:nvSpPr>
        <p:spPr>
          <a:xfrm>
            <a:off x="7694182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duty rate, a rule, a specification, a news report. If you will have to show the source, you need the actual 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SEARCH BOX OR GENERATOR?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Gaps get filled, never flagged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A missing detail does not produce a blank. It produces something plausible.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The tool has no way to leave a hole in a sentence, so it closes it.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5483199" cy="1184148"/>
          </a:xfrm>
          <a:prstGeom prst="roundRect">
            <a:avLst>
              <a:gd name="adj" fmla="val 772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390138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815279" y="3549060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860450" y="3496939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4605375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Names of people, products and places you never supplied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6205575" y="2953512"/>
            <a:ext cx="5483199" cy="1184148"/>
          </a:xfrm>
          <a:prstGeom prst="roundRect">
            <a:avLst>
              <a:gd name="adj" fmla="val 772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6425031" y="3390138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6517934" y="3549060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6563106" y="3496939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6863943" y="3099816"/>
            <a:ext cx="4605375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Figures and dates that look exactly right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502920" y="4357116"/>
            <a:ext cx="5483199" cy="1184148"/>
          </a:xfrm>
          <a:prstGeom prst="roundRect">
            <a:avLst>
              <a:gd name="adj" fmla="val 772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722376" y="479374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815279" y="495266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60450" y="490054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1161288" y="4503420"/>
            <a:ext cx="4605375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Quotes and references that exist nowhere</a:t>
            </a:r>
          </a:p>
        </p:txBody>
      </p:sp>
      <p:sp>
        <p:nvSpPr>
          <p:cNvPr id="35" name="vis:checktile"/>
          <p:cNvSpPr/>
          <p:nvPr/>
        </p:nvSpPr>
        <p:spPr>
          <a:xfrm>
            <a:off x="6205575" y="4357116"/>
            <a:ext cx="5483199" cy="1184148"/>
          </a:xfrm>
          <a:prstGeom prst="roundRect">
            <a:avLst>
              <a:gd name="adj" fmla="val 772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checkdot"/>
          <p:cNvSpPr/>
          <p:nvPr/>
        </p:nvSpPr>
        <p:spPr>
          <a:xfrm>
            <a:off x="6425031" y="479374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7" name="vis:icon"/>
          <p:cNvCxnSpPr/>
          <p:nvPr/>
        </p:nvCxnSpPr>
        <p:spPr>
          <a:xfrm>
            <a:off x="6517934" y="495266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 flipV="1">
            <a:off x="6563106" y="490054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ell:checkitem"/>
          <p:cNvSpPr txBox="1"/>
          <p:nvPr/>
        </p:nvSpPr>
        <p:spPr>
          <a:xfrm>
            <a:off x="6863943" y="4503420"/>
            <a:ext cx="4605375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Policies it assumes a company like ours must have</a:t>
            </a:r>
          </a:p>
        </p:txBody>
      </p:sp>
      <p:sp>
        <p:nvSpPr>
          <p:cNvPr id="40" name="cell:glosshint"/>
          <p:cNvSpPr txBox="1"/>
          <p:nvPr/>
        </p:nvSpPr>
        <p:spPr>
          <a:xfrm>
            <a:off x="502920" y="5687568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What does this mean?</a:t>
            </a:r>
          </a:p>
        </p:txBody>
      </p:sp>
      <p:sp>
        <p:nvSpPr>
          <p:cNvPr id="41" name="vis:chip"/>
          <p:cNvSpPr/>
          <p:nvPr/>
        </p:nvSpPr>
        <p:spPr>
          <a:xfrm>
            <a:off x="2221991" y="5660136"/>
            <a:ext cx="2016815" cy="274320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5B6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vis:chiptext"/>
          <p:cNvSpPr txBox="1"/>
          <p:nvPr/>
        </p:nvSpPr>
        <p:spPr>
          <a:xfrm>
            <a:off x="2377439" y="5687568"/>
            <a:ext cx="1705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5B6779"/>
                </a:solidFill>
                <a:latin typeface="Segoe UI Semibold"/>
              </a:rPr>
              <a:t>HALLUCINATION  ?</a:t>
            </a:r>
          </a:p>
        </p:txBody>
      </p:sp>
      <p:sp>
        <p:nvSpPr>
          <p:cNvPr id="43" name="nav:gloss">
            <a:hlinkClick action="ppaction://hlinksldjump" r:id="rId3"/>
          </p:cNvPr>
          <p:cNvSpPr/>
          <p:nvPr/>
        </p:nvSpPr>
        <p:spPr>
          <a:xfrm>
            <a:off x="2221991" y="5660136"/>
            <a:ext cx="2016815" cy="27432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Do this now: make something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pnum"/>
          <p:cNvSpPr/>
          <p:nvPr/>
        </p:nvSpPr>
        <p:spPr>
          <a:xfrm>
            <a:off x="502920" y="2027681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epnumtext"/>
          <p:cNvSpPr txBox="1"/>
          <p:nvPr/>
        </p:nvSpPr>
        <p:spPr>
          <a:xfrm>
            <a:off x="502920" y="2105406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76656" y="2375154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ll:step"/>
          <p:cNvSpPr txBox="1"/>
          <p:nvPr/>
        </p:nvSpPr>
        <p:spPr>
          <a:xfrm>
            <a:off x="1051560" y="1719072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Open your approved assistant.</a:t>
            </a:r>
          </a:p>
        </p:txBody>
      </p:sp>
      <p:sp>
        <p:nvSpPr>
          <p:cNvPr id="19" name="vis:stepnum"/>
          <p:cNvSpPr/>
          <p:nvPr/>
        </p:nvSpPr>
        <p:spPr>
          <a:xfrm>
            <a:off x="502920" y="3138677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stepnumtext"/>
          <p:cNvSpPr txBox="1"/>
          <p:nvPr/>
        </p:nvSpPr>
        <p:spPr>
          <a:xfrm>
            <a:off x="502920" y="3216401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cxnSp>
        <p:nvCxnSpPr>
          <p:cNvPr id="21" name="vis:line"/>
          <p:cNvCxnSpPr/>
          <p:nvPr/>
        </p:nvCxnSpPr>
        <p:spPr>
          <a:xfrm>
            <a:off x="676656" y="3486150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step"/>
          <p:cNvSpPr txBox="1"/>
          <p:nvPr/>
        </p:nvSpPr>
        <p:spPr>
          <a:xfrm>
            <a:off x="1051560" y="2830068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Think of one message you owe somebody today.</a:t>
            </a:r>
          </a:p>
        </p:txBody>
      </p:sp>
      <p:sp>
        <p:nvSpPr>
          <p:cNvPr id="23" name="vis:stepnum"/>
          <p:cNvSpPr/>
          <p:nvPr/>
        </p:nvSpPr>
        <p:spPr>
          <a:xfrm>
            <a:off x="502920" y="4249674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stepnumtext"/>
          <p:cNvSpPr txBox="1"/>
          <p:nvPr/>
        </p:nvSpPr>
        <p:spPr>
          <a:xfrm>
            <a:off x="502920" y="4327398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cxnSp>
        <p:nvCxnSpPr>
          <p:cNvPr id="25" name="vis:line"/>
          <p:cNvCxnSpPr/>
          <p:nvPr/>
        </p:nvCxnSpPr>
        <p:spPr>
          <a:xfrm>
            <a:off x="676656" y="4597146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ell:step"/>
          <p:cNvSpPr txBox="1"/>
          <p:nvPr/>
        </p:nvSpPr>
        <p:spPr>
          <a:xfrm>
            <a:off x="1051560" y="3941064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Paste the prompt on the right and press Enter.</a:t>
            </a:r>
          </a:p>
        </p:txBody>
      </p:sp>
      <p:sp>
        <p:nvSpPr>
          <p:cNvPr id="27" name="vis:stepnum"/>
          <p:cNvSpPr/>
          <p:nvPr/>
        </p:nvSpPr>
        <p:spPr>
          <a:xfrm>
            <a:off x="502920" y="5360670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stepnumtext"/>
          <p:cNvSpPr txBox="1"/>
          <p:nvPr/>
        </p:nvSpPr>
        <p:spPr>
          <a:xfrm>
            <a:off x="502920" y="543839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9" name="cell:step"/>
          <p:cNvSpPr txBox="1"/>
          <p:nvPr/>
        </p:nvSpPr>
        <p:spPr>
          <a:xfrm>
            <a:off x="1051560" y="5052060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Read it once, change one detail, and send it.</a:t>
            </a:r>
          </a:p>
        </p:txBody>
      </p:sp>
      <p:sp>
        <p:nvSpPr>
          <p:cNvPr id="30" name="vis:promptcard"/>
          <p:cNvSpPr/>
          <p:nvPr/>
        </p:nvSpPr>
        <p:spPr>
          <a:xfrm>
            <a:off x="6461607" y="1719072"/>
            <a:ext cx="5227167" cy="2377947"/>
          </a:xfrm>
          <a:prstGeom prst="roundRect">
            <a:avLst>
              <a:gd name="adj" fmla="val 384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promptbar"/>
          <p:cNvSpPr/>
          <p:nvPr/>
        </p:nvSpPr>
        <p:spPr>
          <a:xfrm>
            <a:off x="6461607" y="1719072"/>
            <a:ext cx="5227167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6698620" y="1841235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 flipH="1">
            <a:off x="6733733" y="1964131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6733733" y="1964131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copybtn"/>
          <p:cNvSpPr/>
          <p:nvPr/>
        </p:nvSpPr>
        <p:spPr>
          <a:xfrm>
            <a:off x="9828606" y="1792224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icon"/>
          <p:cNvSpPr/>
          <p:nvPr/>
        </p:nvSpPr>
        <p:spPr>
          <a:xfrm>
            <a:off x="10012217" y="1858060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7" name="vis:icon"/>
          <p:cNvCxnSpPr/>
          <p:nvPr/>
        </p:nvCxnSpPr>
        <p:spPr>
          <a:xfrm>
            <a:off x="10030871" y="189536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>
            <a:off x="10030871" y="192334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>
            <a:off x="10030871" y="1951329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copytext"/>
          <p:cNvSpPr txBox="1"/>
          <p:nvPr/>
        </p:nvSpPr>
        <p:spPr>
          <a:xfrm>
            <a:off x="10240086" y="1851660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41" name="vis:prompthdr"/>
          <p:cNvSpPr txBox="1"/>
          <p:nvPr/>
        </p:nvSpPr>
        <p:spPr>
          <a:xfrm>
            <a:off x="7010247" y="1828800"/>
            <a:ext cx="27086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this prompt</a:t>
            </a:r>
          </a:p>
        </p:txBody>
      </p:sp>
      <p:sp>
        <p:nvSpPr>
          <p:cNvPr id="42" name="card:prompt"/>
          <p:cNvSpPr txBox="1"/>
          <p:nvPr/>
        </p:nvSpPr>
        <p:spPr>
          <a:xfrm>
            <a:off x="6735927" y="2267712"/>
            <a:ext cx="4678527" cy="115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Write a short internal note telling the team that the Friday review has moved from 11 am to 3 pm, and that the monthly numbers are still due on Thursday evening. Under 70 words. Friendly but clear.</a:t>
            </a:r>
          </a:p>
        </p:txBody>
      </p:sp>
      <p:sp>
        <p:nvSpPr>
          <p:cNvPr id="43" name="vis:promptcap"/>
          <p:cNvSpPr txBox="1"/>
          <p:nvPr/>
        </p:nvSpPr>
        <p:spPr>
          <a:xfrm>
            <a:off x="6735927" y="3624579"/>
            <a:ext cx="4678527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Works as written. Swap in your own meeting afterwards.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four seconds that matter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ard"/>
          <p:cNvSpPr/>
          <p:nvPr/>
        </p:nvSpPr>
        <p:spPr>
          <a:xfrm>
            <a:off x="502920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outspine"/>
          <p:cNvSpPr/>
          <p:nvPr/>
        </p:nvSpPr>
        <p:spPr>
          <a:xfrm>
            <a:off x="502920" y="1719072"/>
            <a:ext cx="68580" cy="3291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"/>
          <p:cNvSpPr/>
          <p:nvPr/>
        </p:nvSpPr>
        <p:spPr>
          <a:xfrm>
            <a:off x="758952" y="1920240"/>
            <a:ext cx="1639189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914400" y="1947672"/>
            <a:ext cx="13282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SENT UNREAD</a:t>
            </a:r>
          </a:p>
        </p:txBody>
      </p:sp>
      <p:sp>
        <p:nvSpPr>
          <p:cNvPr id="19" name="vis:outbody"/>
          <p:cNvSpPr txBox="1"/>
          <p:nvPr/>
        </p:nvSpPr>
        <p:spPr>
          <a:xfrm>
            <a:off x="758952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note reads beautifully and mentions a "quarterly bonus review" nobody has scheduled.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Two people email HR about the bonus that afternoon.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You spend an hour explaining a sentence you did not write.</a:t>
            </a:r>
          </a:p>
        </p:txBody>
      </p:sp>
      <p:sp>
        <p:nvSpPr>
          <p:cNvPr id="20" name="vis:outcard"/>
          <p:cNvSpPr/>
          <p:nvPr/>
        </p:nvSpPr>
        <p:spPr>
          <a:xfrm>
            <a:off x="6278727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outspine"/>
          <p:cNvSpPr/>
          <p:nvPr/>
        </p:nvSpPr>
        <p:spPr>
          <a:xfrm>
            <a:off x="6278727" y="1719072"/>
            <a:ext cx="68580" cy="329184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"/>
          <p:cNvSpPr/>
          <p:nvPr/>
        </p:nvSpPr>
        <p:spPr>
          <a:xfrm>
            <a:off x="6534759" y="1920240"/>
            <a:ext cx="2434209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hiptext"/>
          <p:cNvSpPr txBox="1"/>
          <p:nvPr/>
        </p:nvSpPr>
        <p:spPr>
          <a:xfrm>
            <a:off x="6690207" y="1947672"/>
            <a:ext cx="21233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READ ONCE, THEN SENT</a:t>
            </a:r>
          </a:p>
        </p:txBody>
      </p:sp>
      <p:sp>
        <p:nvSpPr>
          <p:cNvPr id="24" name="vis:outbody"/>
          <p:cNvSpPr txBox="1"/>
          <p:nvPr/>
        </p:nvSpPr>
        <p:spPr>
          <a:xfrm>
            <a:off x="6534759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same note, read through once before sending.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You spot the invented line and delete it in four seconds.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Nobody ever knows it was there.</a:t>
            </a:r>
          </a:p>
        </p:txBody>
      </p:sp>
      <p:sp>
        <p:nvSpPr>
          <p:cNvPr id="25" name="cell:banote"/>
          <p:cNvSpPr txBox="1"/>
          <p:nvPr/>
        </p:nvSpPr>
        <p:spPr>
          <a:xfrm>
            <a:off x="502920" y="5193792"/>
            <a:ext cx="11185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Generated text is a first draft with your name at the bottom. Reading it once is the whole job.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Four habits with generated text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Read every line before it leaves you. Every line.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Delete anything you did not supply and cannot check.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Never present it as a quote, a source or a policy.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Save the prompt that produced a genuinely good result.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Five mistakes people really make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1927555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199613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Sending the first version unread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Invented meetings, bonuses and policies reach the team with your name on them.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611526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611526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282000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2888589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702966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Asking it to "find" something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757830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702966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Unless the tool clearly shows it searched, assume it built a plausible-looking answer instead of finding a real one.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503980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503980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3712463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3781044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3595420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Trusting a precise-looking number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3650284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3595420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figure quoted to one decimal place is the most convincing kind of invention.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4396435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4396435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460491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467349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4487875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Putting generated images in front of customers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4542739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4487875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Almost-words and wrong details are obvious, and they read as carelessness.</a:t>
            </a:r>
          </a:p>
        </p:txBody>
      </p:sp>
      <p:sp>
        <p:nvSpPr>
          <p:cNvPr id="43" name="vis:mistake"/>
          <p:cNvSpPr/>
          <p:nvPr/>
        </p:nvSpPr>
        <p:spPr>
          <a:xfrm>
            <a:off x="502920" y="5288889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vis:mistakebar"/>
          <p:cNvSpPr/>
          <p:nvPr/>
        </p:nvSpPr>
        <p:spPr>
          <a:xfrm>
            <a:off x="502920" y="5288889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istakenum"/>
          <p:cNvSpPr/>
          <p:nvPr/>
        </p:nvSpPr>
        <p:spPr>
          <a:xfrm>
            <a:off x="740664" y="549737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istakenumtext"/>
          <p:cNvSpPr txBox="1"/>
          <p:nvPr/>
        </p:nvSpPr>
        <p:spPr>
          <a:xfrm>
            <a:off x="740664" y="556595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7" name="cell:mistake"/>
          <p:cNvSpPr txBox="1"/>
          <p:nvPr/>
        </p:nvSpPr>
        <p:spPr>
          <a:xfrm>
            <a:off x="1179576" y="5380329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Asking again to check the first answer</a:t>
            </a:r>
          </a:p>
        </p:txBody>
      </p:sp>
      <p:cxnSp>
        <p:nvCxnSpPr>
          <p:cNvPr id="48" name="vis:line"/>
          <p:cNvCxnSpPr/>
          <p:nvPr/>
        </p:nvCxnSpPr>
        <p:spPr>
          <a:xfrm>
            <a:off x="6008686" y="5435193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:mistakewhy"/>
          <p:cNvSpPr txBox="1"/>
          <p:nvPr/>
        </p:nvSpPr>
        <p:spPr>
          <a:xfrm>
            <a:off x="6173278" y="5380329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You get a second generated answer, not a check on the first 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Where it genuinely earns its keep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ile"/>
          <p:cNvSpPr/>
          <p:nvPr/>
        </p:nvSpPr>
        <p:spPr>
          <a:xfrm>
            <a:off x="502920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96871" y="2190229"/>
            <a:ext cx="219104" cy="301269"/>
          </a:xfrm>
          <a:prstGeom prst="roundRect">
            <a:avLst>
              <a:gd name="adj" fmla="val 20866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44800" y="2286087"/>
            <a:ext cx="123247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>
            <a:off x="1044800" y="2340863"/>
            <a:ext cx="123247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>
            <a:off x="1044800" y="2395640"/>
            <a:ext cx="82165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tilelabel"/>
          <p:cNvSpPr txBox="1"/>
          <p:nvPr/>
        </p:nvSpPr>
        <p:spPr>
          <a:xfrm>
            <a:off x="777240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First drafts</a:t>
            </a:r>
          </a:p>
        </p:txBody>
      </p:sp>
      <p:sp>
        <p:nvSpPr>
          <p:cNvPr id="22" name="cell:tilesub"/>
          <p:cNvSpPr txBox="1"/>
          <p:nvPr/>
        </p:nvSpPr>
        <p:spPr>
          <a:xfrm>
            <a:off x="777240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blank page becomes 200 words you can edit. This alone saves hours in a week.</a:t>
            </a:r>
          </a:p>
        </p:txBody>
      </p:sp>
      <p:sp>
        <p:nvSpPr>
          <p:cNvPr id="23" name="vis:tile"/>
          <p:cNvSpPr/>
          <p:nvPr/>
        </p:nvSpPr>
        <p:spPr>
          <a:xfrm>
            <a:off x="4322978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badge"/>
          <p:cNvSpPr/>
          <p:nvPr/>
        </p:nvSpPr>
        <p:spPr>
          <a:xfrm>
            <a:off x="4597298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icon"/>
          <p:cNvSpPr/>
          <p:nvPr/>
        </p:nvSpPr>
        <p:spPr>
          <a:xfrm>
            <a:off x="4775847" y="2210770"/>
            <a:ext cx="301269" cy="260187"/>
          </a:xfrm>
          <a:prstGeom prst="roundRect">
            <a:avLst>
              <a:gd name="adj" fmla="val 17571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6" name="vis:icon"/>
          <p:cNvCxnSpPr/>
          <p:nvPr/>
        </p:nvCxnSpPr>
        <p:spPr>
          <a:xfrm>
            <a:off x="4775847" y="2292934"/>
            <a:ext cx="30126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s:icon"/>
          <p:cNvCxnSpPr/>
          <p:nvPr/>
        </p:nvCxnSpPr>
        <p:spPr>
          <a:xfrm>
            <a:off x="4892247" y="2210770"/>
            <a:ext cx="0" cy="26018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>
            <a:off x="4775847" y="2381946"/>
            <a:ext cx="30126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tilelabel"/>
          <p:cNvSpPr txBox="1"/>
          <p:nvPr/>
        </p:nvSpPr>
        <p:spPr>
          <a:xfrm>
            <a:off x="4597298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Changing shape</a:t>
            </a:r>
          </a:p>
        </p:txBody>
      </p:sp>
      <p:sp>
        <p:nvSpPr>
          <p:cNvPr id="30" name="cell:tilesub"/>
          <p:cNvSpPr txBox="1"/>
          <p:nvPr/>
        </p:nvSpPr>
        <p:spPr>
          <a:xfrm>
            <a:off x="4597298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Long into short. A list into a table. Formal into plain. Hindi into English.</a:t>
            </a:r>
          </a:p>
        </p:txBody>
      </p:sp>
      <p:sp>
        <p:nvSpPr>
          <p:cNvPr id="31" name="vis:tile"/>
          <p:cNvSpPr/>
          <p:nvPr/>
        </p:nvSpPr>
        <p:spPr>
          <a:xfrm>
            <a:off x="8143036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badge"/>
          <p:cNvSpPr/>
          <p:nvPr/>
        </p:nvSpPr>
        <p:spPr>
          <a:xfrm>
            <a:off x="8417356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icon"/>
          <p:cNvSpPr/>
          <p:nvPr/>
        </p:nvSpPr>
        <p:spPr>
          <a:xfrm>
            <a:off x="8643835" y="2190229"/>
            <a:ext cx="205410" cy="205410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4" name="vis:icon"/>
          <p:cNvCxnSpPr/>
          <p:nvPr/>
        </p:nvCxnSpPr>
        <p:spPr>
          <a:xfrm>
            <a:off x="8691764" y="2423028"/>
            <a:ext cx="109553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is:icon"/>
          <p:cNvCxnSpPr/>
          <p:nvPr/>
        </p:nvCxnSpPr>
        <p:spPr>
          <a:xfrm>
            <a:off x="8705458" y="2477804"/>
            <a:ext cx="8216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tilelabel"/>
          <p:cNvSpPr txBox="1"/>
          <p:nvPr/>
        </p:nvSpPr>
        <p:spPr>
          <a:xfrm>
            <a:off x="8417356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Options on demand</a:t>
            </a:r>
          </a:p>
        </p:txBody>
      </p:sp>
      <p:sp>
        <p:nvSpPr>
          <p:cNvPr id="37" name="cell:tilesub"/>
          <p:cNvSpPr txBox="1"/>
          <p:nvPr/>
        </p:nvSpPr>
        <p:spPr>
          <a:xfrm>
            <a:off x="8417356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Ten ideas in twenty seconds. You are choosing rather than inventing.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one habit that matters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If you did not supply it and cannot check it, take it out.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That one rule removes almost every problem generated text can cause you.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80138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823965" y="3608313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Names you never typed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430469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452414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icon"/>
          <p:cNvSpPr/>
          <p:nvPr/>
        </p:nvSpPr>
        <p:spPr>
          <a:xfrm>
            <a:off x="460315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4625736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496305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Numbers you cannot trace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810646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832591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840492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8427506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876482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Rules nobody has confirmed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Wednesday, 11:05 am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ccard"/>
          <p:cNvSpPr/>
          <p:nvPr/>
        </p:nvSpPr>
        <p:spPr>
          <a:xfrm>
            <a:off x="502920" y="1719072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942929" y="2063252"/>
            <a:ext cx="180685" cy="180685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43076" y="2315260"/>
            <a:ext cx="380391" cy="166421"/>
          </a:xfrm>
          <a:custGeom>
            <a:avLst/>
            <a:gdLst/>
            <a:ahLst/>
            <a:cxnLst/>
            <a:rect l="l" t="t" r="r" b="b"/>
            <a:pathLst>
              <a:path w="380391" h="166421">
                <a:moveTo>
                  <a:pt x="0" y="166421"/>
                </a:moveTo>
                <a:lnTo>
                  <a:pt x="28530" y="0"/>
                </a:lnTo>
                <a:lnTo>
                  <a:pt x="351861" y="0"/>
                </a:lnTo>
                <a:lnTo>
                  <a:pt x="380391" y="166421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situation"/>
          <p:cNvSpPr txBox="1"/>
          <p:nvPr/>
        </p:nvSpPr>
        <p:spPr>
          <a:xfrm>
            <a:off x="1472184" y="1901952"/>
            <a:ext cx="990569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A customer in Abu Dhabi asks in writing what your standard warranty period is. You are fairly sure it is 12 months, but you have not actually checked.</a:t>
            </a:r>
          </a:p>
        </p:txBody>
      </p:sp>
      <p:sp>
        <p:nvSpPr>
          <p:cNvPr id="19" name="quiz:choice">
            <a:hlinkClick action="ppaction://hlinksldjump" r:id="rId3"/>
          </p:cNvPr>
          <p:cNvSpPr/>
          <p:nvPr/>
        </p:nvSpPr>
        <p:spPr>
          <a:xfrm>
            <a:off x="502920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"/>
          <p:cNvSpPr/>
          <p:nvPr/>
        </p:nvSpPr>
        <p:spPr>
          <a:xfrm>
            <a:off x="758952" y="3364991"/>
            <a:ext cx="1296924" cy="274320"/>
          </a:xfrm>
          <a:prstGeom prst="roundRect">
            <a:avLst>
              <a:gd name="adj" fmla="val 16666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914400" y="3392423"/>
            <a:ext cx="9860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A</a:t>
            </a:r>
          </a:p>
        </p:txBody>
      </p:sp>
      <p:sp>
        <p:nvSpPr>
          <p:cNvPr id="22" name="cell:choice"/>
          <p:cNvSpPr txBox="1"/>
          <p:nvPr/>
        </p:nvSpPr>
        <p:spPr>
          <a:xfrm>
            <a:off x="758952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the assistant what a standard warranty period usually is, and quote that.</a:t>
            </a:r>
          </a:p>
        </p:txBody>
      </p:sp>
      <p:cxnSp>
        <p:nvCxnSpPr>
          <p:cNvPr id="23" name="vis:choicearrow"/>
          <p:cNvCxnSpPr/>
          <p:nvPr/>
        </p:nvCxnSpPr>
        <p:spPr>
          <a:xfrm>
            <a:off x="758952" y="5632704"/>
            <a:ext cx="292608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oicego"/>
          <p:cNvSpPr txBox="1"/>
          <p:nvPr/>
        </p:nvSpPr>
        <p:spPr>
          <a:xfrm>
            <a:off x="1161288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25" name="quiz:choice">
            <a:hlinkClick action="ppaction://hlinksldjump" r:id="rId4"/>
          </p:cNvPr>
          <p:cNvSpPr/>
          <p:nvPr/>
        </p:nvSpPr>
        <p:spPr>
          <a:xfrm>
            <a:off x="4310786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ip"/>
          <p:cNvSpPr/>
          <p:nvPr/>
        </p:nvSpPr>
        <p:spPr>
          <a:xfrm>
            <a:off x="4566818" y="3364991"/>
            <a:ext cx="1287399" cy="274320"/>
          </a:xfrm>
          <a:prstGeom prst="roundRect">
            <a:avLst>
              <a:gd name="adj" fmla="val 16666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4722266" y="3392423"/>
            <a:ext cx="976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B</a:t>
            </a:r>
          </a:p>
        </p:txBody>
      </p:sp>
      <p:sp>
        <p:nvSpPr>
          <p:cNvPr id="28" name="cell:choice"/>
          <p:cNvSpPr txBox="1"/>
          <p:nvPr/>
        </p:nvSpPr>
        <p:spPr>
          <a:xfrm>
            <a:off x="4566818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Open the contract, confirm the period, then ask the tool to word the reply.</a:t>
            </a:r>
          </a:p>
        </p:txBody>
      </p:sp>
      <p:cxnSp>
        <p:nvCxnSpPr>
          <p:cNvPr id="29" name="vis:choicearrow"/>
          <p:cNvCxnSpPr/>
          <p:nvPr/>
        </p:nvCxnSpPr>
        <p:spPr>
          <a:xfrm>
            <a:off x="4566818" y="5632704"/>
            <a:ext cx="292608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choicego"/>
          <p:cNvSpPr txBox="1"/>
          <p:nvPr/>
        </p:nvSpPr>
        <p:spPr>
          <a:xfrm>
            <a:off x="4969154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31" name="quiz:choice">
            <a:hlinkClick action="ppaction://hlinksldjump" r:id="rId5"/>
          </p:cNvPr>
          <p:cNvSpPr/>
          <p:nvPr/>
        </p:nvSpPr>
        <p:spPr>
          <a:xfrm>
            <a:off x="8118652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chip"/>
          <p:cNvSpPr/>
          <p:nvPr/>
        </p:nvSpPr>
        <p:spPr>
          <a:xfrm>
            <a:off x="8374684" y="3364991"/>
            <a:ext cx="1290574" cy="274320"/>
          </a:xfrm>
          <a:prstGeom prst="roundRect">
            <a:avLst>
              <a:gd name="adj" fmla="val 16666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chiptext"/>
          <p:cNvSpPr txBox="1"/>
          <p:nvPr/>
        </p:nvSpPr>
        <p:spPr>
          <a:xfrm>
            <a:off x="8530132" y="3392423"/>
            <a:ext cx="9796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C</a:t>
            </a:r>
          </a:p>
        </p:txBody>
      </p:sp>
      <p:sp>
        <p:nvSpPr>
          <p:cNvPr id="34" name="cell:choice"/>
          <p:cNvSpPr txBox="1"/>
          <p:nvPr/>
        </p:nvSpPr>
        <p:spPr>
          <a:xfrm>
            <a:off x="8374684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Reply that you will confirm and come back tomorrow.</a:t>
            </a:r>
          </a:p>
        </p:txBody>
      </p:sp>
      <p:cxnSp>
        <p:nvCxnSpPr>
          <p:cNvPr id="35" name="vis:choicearrow"/>
          <p:cNvCxnSpPr/>
          <p:nvPr/>
        </p:nvCxnSpPr>
        <p:spPr>
          <a:xfrm>
            <a:off x="8374684" y="5632704"/>
            <a:ext cx="292608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choicego"/>
          <p:cNvSpPr txBox="1"/>
          <p:nvPr/>
        </p:nvSpPr>
        <p:spPr>
          <a:xfrm>
            <a:off x="8777020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See what happens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You just invented company policy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answers "12 months", because that is the common pattern. Three months later a claim arrives quoting your email. The contract says six months for that product line, and the customer has your written confirmation.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Never let a generated pattern stand in for a policy nobody has checked.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Thirty seconds checking, twenty seconds writing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contract says six months for that line. You hand the tool the number and the tone, and it writes a clear two-line reply. The fact came from the contract. The sentences came from the tool. Nothing was guessed.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Facts from the file. Wording from the tool.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icon"/>
          <p:cNvSpPr/>
          <p:nvPr/>
        </p:nvSpPr>
        <p:spPr>
          <a:xfrm>
            <a:off x="519744" y="409285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vis:icon"/>
          <p:cNvCxnSpPr/>
          <p:nvPr/>
        </p:nvCxnSpPr>
        <p:spPr>
          <a:xfrm>
            <a:off x="713232" y="543885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vis:icon"/>
          <p:cNvSpPr/>
          <p:nvPr/>
        </p:nvSpPr>
        <p:spPr>
          <a:xfrm>
            <a:off x="692200" y="686897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Safe, but slower than it needed to be</a:t>
            </a:r>
          </a:p>
        </p:txBody>
      </p:sp>
      <p:sp>
        <p:nvSpPr>
          <p:cNvPr id="7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Nothing goes wrong. The customer waits a day for a number that was two clicks away in the contract, and sends a chaser in the morning. Being careful and being slow are not the same thing.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RULE</a:t>
            </a:r>
          </a:p>
        </p:txBody>
      </p:sp>
      <p:sp>
        <p:nvSpPr>
          <p:cNvPr id="10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Check the fact now. It is usually faster than promising to check it later.</a:t>
            </a:r>
          </a:p>
        </p:txBody>
      </p:sp>
      <p:sp>
        <p:nvSpPr>
          <p:cNvPr id="11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WATCH THIS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Nine minutes on how it builds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nav:video">
            <a:hlinkClick r:id="rId2"/>
          </p:cNvPr>
          <p:cNvSpPr/>
          <p:nvPr/>
        </p:nvSpPr>
        <p:spPr>
          <a:xfrm>
            <a:off x="502920" y="1719072"/>
            <a:ext cx="6448882" cy="4297680"/>
          </a:xfrm>
          <a:prstGeom prst="roundRect">
            <a:avLst>
              <a:gd name="adj" fmla="val 21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lay"/>
          <p:cNvSpPr/>
          <p:nvPr/>
        </p:nvSpPr>
        <p:spPr>
          <a:xfrm>
            <a:off x="1161288" y="2432303"/>
            <a:ext cx="950976" cy="95097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laytri"/>
          <p:cNvSpPr/>
          <p:nvPr/>
        </p:nvSpPr>
        <p:spPr>
          <a:xfrm>
            <a:off x="1499616" y="2679191"/>
            <a:ext cx="384048" cy="457200"/>
          </a:xfrm>
          <a:custGeom>
            <a:avLst/>
            <a:gdLst/>
            <a:ahLst/>
            <a:cxnLst/>
            <a:rect l="l" t="t" r="r" b="b"/>
            <a:pathLst>
              <a:path w="384048" h="457200">
                <a:moveTo>
                  <a:pt x="0" y="0"/>
                </a:moveTo>
                <a:lnTo>
                  <a:pt x="384048" y="2286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videotitle"/>
          <p:cNvSpPr txBox="1"/>
          <p:nvPr/>
        </p:nvSpPr>
        <p:spPr>
          <a:xfrm>
            <a:off x="2514600" y="2231136"/>
            <a:ext cx="41263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What are Generative AI models?</a:t>
            </a:r>
          </a:p>
        </p:txBody>
      </p:sp>
      <p:sp>
        <p:nvSpPr>
          <p:cNvPr id="19" name="vis:chip"/>
          <p:cNvSpPr/>
          <p:nvPr/>
        </p:nvSpPr>
        <p:spPr>
          <a:xfrm>
            <a:off x="868680" y="3858768"/>
            <a:ext cx="1959179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text"/>
          <p:cNvSpPr txBox="1"/>
          <p:nvPr/>
        </p:nvSpPr>
        <p:spPr>
          <a:xfrm>
            <a:off x="1024128" y="3895344"/>
            <a:ext cx="16482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IBM TECHNOLOGY</a:t>
            </a:r>
          </a:p>
        </p:txBody>
      </p:sp>
      <p:sp>
        <p:nvSpPr>
          <p:cNvPr id="21" name="vis:chip"/>
          <p:cNvSpPr/>
          <p:nvPr/>
        </p:nvSpPr>
        <p:spPr>
          <a:xfrm>
            <a:off x="2974163" y="3858768"/>
            <a:ext cx="1230249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text"/>
          <p:cNvSpPr txBox="1"/>
          <p:nvPr/>
        </p:nvSpPr>
        <p:spPr>
          <a:xfrm>
            <a:off x="3129611" y="3895344"/>
            <a:ext cx="9193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8:47 MIN</a:t>
            </a:r>
          </a:p>
        </p:txBody>
      </p:sp>
      <p:cxnSp>
        <p:nvCxnSpPr>
          <p:cNvPr id="23" name="vis:rule"/>
          <p:cNvCxnSpPr/>
          <p:nvPr/>
        </p:nvCxnSpPr>
        <p:spPr>
          <a:xfrm>
            <a:off x="868680" y="4425696"/>
            <a:ext cx="5717362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ody:videonote"/>
          <p:cNvSpPr txBox="1"/>
          <p:nvPr/>
        </p:nvSpPr>
        <p:spPr>
          <a:xfrm>
            <a:off x="868680" y="4645152"/>
            <a:ext cx="57173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48D9A"/>
                </a:solidFill>
                <a:latin typeface="Segoe UI"/>
              </a:rPr>
              <a:t>An outside video, not company material. Where it differs from this module, follow this module.</a:t>
            </a:r>
          </a:p>
        </p:txBody>
      </p:sp>
      <p:sp>
        <p:nvSpPr>
          <p:cNvPr id="25" name="nav:videobtn">
            <a:hlinkClick r:id="rId2"/>
          </p:cNvPr>
          <p:cNvSpPr/>
          <p:nvPr/>
        </p:nvSpPr>
        <p:spPr>
          <a:xfrm>
            <a:off x="868680" y="5230368"/>
            <a:ext cx="3017520" cy="493776"/>
          </a:xfrm>
          <a:prstGeom prst="roundRect">
            <a:avLst>
              <a:gd name="adj" fmla="val 11111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icon"/>
          <p:cNvSpPr/>
          <p:nvPr/>
        </p:nvSpPr>
        <p:spPr>
          <a:xfrm>
            <a:off x="1069116" y="5370819"/>
            <a:ext cx="153619" cy="153619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1202253" y="5503956"/>
            <a:ext cx="61447" cy="614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av:videobtntext"/>
          <p:cNvSpPr txBox="1"/>
          <p:nvPr/>
        </p:nvSpPr>
        <p:spPr>
          <a:xfrm>
            <a:off x="1417320" y="53583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Click to open on YouTube</a:t>
            </a:r>
          </a:p>
        </p:txBody>
      </p:sp>
      <p:sp>
        <p:nvSpPr>
          <p:cNvPr id="29" name="vis:videohow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videospine"/>
          <p:cNvSpPr/>
          <p:nvPr/>
        </p:nvSpPr>
        <p:spPr>
          <a:xfrm>
            <a:off x="8082076" y="1719072"/>
            <a:ext cx="68580" cy="429768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seclabel"/>
          <p:cNvSpPr txBox="1"/>
          <p:nvPr/>
        </p:nvSpPr>
        <p:spPr>
          <a:xfrm>
            <a:off x="8392972" y="2029967"/>
            <a:ext cx="29849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HOW TO USE IT</a:t>
            </a:r>
          </a:p>
        </p:txBody>
      </p:sp>
      <p:cxnSp>
        <p:nvCxnSpPr>
          <p:cNvPr id="32" name="vis:icon"/>
          <p:cNvCxnSpPr/>
          <p:nvPr/>
        </p:nvCxnSpPr>
        <p:spPr>
          <a:xfrm>
            <a:off x="8439424" y="2628351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91728" y="2568000"/>
            <a:ext cx="96560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why"/>
          <p:cNvSpPr txBox="1"/>
          <p:nvPr/>
        </p:nvSpPr>
        <p:spPr>
          <a:xfrm>
            <a:off x="8777020" y="2468879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Optional. Everything you need is already in this deck.</a:t>
            </a:r>
          </a:p>
        </p:txBody>
      </p:sp>
      <p:cxnSp>
        <p:nvCxnSpPr>
          <p:cNvPr id="35" name="vis:icon"/>
          <p:cNvCxnSpPr/>
          <p:nvPr/>
        </p:nvCxnSpPr>
        <p:spPr>
          <a:xfrm>
            <a:off x="8439424" y="3743919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s:icon"/>
          <p:cNvCxnSpPr/>
          <p:nvPr/>
        </p:nvCxnSpPr>
        <p:spPr>
          <a:xfrm flipV="1">
            <a:off x="8491728" y="3683568"/>
            <a:ext cx="96560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ell:why"/>
          <p:cNvSpPr txBox="1"/>
          <p:nvPr/>
        </p:nvSpPr>
        <p:spPr>
          <a:xfrm>
            <a:off x="8777020" y="3584448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Watch it if you want the mechanism, not just the rule.</a:t>
            </a:r>
          </a:p>
        </p:txBody>
      </p:sp>
      <p:cxnSp>
        <p:nvCxnSpPr>
          <p:cNvPr id="38" name="vis:icon"/>
          <p:cNvCxnSpPr/>
          <p:nvPr/>
        </p:nvCxnSpPr>
        <p:spPr>
          <a:xfrm>
            <a:off x="8439424" y="4859487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8491728" y="4799136"/>
            <a:ext cx="96560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why"/>
          <p:cNvSpPr txBox="1"/>
          <p:nvPr/>
        </p:nvSpPr>
        <p:spPr>
          <a:xfrm>
            <a:off x="8777020" y="4700016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It opens in your browser. Turn the sound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1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Why are the answers different?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m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780897" y="1976932"/>
            <a:ext cx="230428" cy="153619"/>
          </a:xfrm>
          <a:prstGeom prst="roundRect">
            <a:avLst>
              <a:gd name="adj" fmla="val 29761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 flipH="1">
            <a:off x="824788" y="2130552"/>
            <a:ext cx="10973" cy="6035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24788" y="2130552"/>
            <a:ext cx="60351" cy="6035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stem"/>
          <p:cNvSpPr txBox="1"/>
          <p:nvPr/>
        </p:nvSpPr>
        <p:spPr>
          <a:xfrm>
            <a:off x="1197864" y="1828800"/>
            <a:ext cx="102348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You and a colleague type the same question into the same tool a minute apart, and get different wording back.</a:t>
            </a:r>
          </a:p>
        </p:txBody>
      </p:sp>
      <p:sp>
        <p:nvSpPr>
          <p:cNvPr id="20" name="quiz:answer">
            <a:hlinkClick action="ppaction://hlinksldjump" r:id="rId3"/>
          </p:cNvPr>
          <p:cNvSpPr/>
          <p:nvPr/>
        </p:nvSpPr>
        <p:spPr>
          <a:xfrm>
            <a:off x="502920" y="263347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"/>
          <p:cNvSpPr/>
          <p:nvPr/>
        </p:nvSpPr>
        <p:spPr>
          <a:xfrm>
            <a:off x="740664" y="32506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answerkeytext"/>
          <p:cNvSpPr txBox="1"/>
          <p:nvPr/>
        </p:nvSpPr>
        <p:spPr>
          <a:xfrm>
            <a:off x="740664" y="33284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23" name="cell:answer"/>
          <p:cNvSpPr txBox="1"/>
          <p:nvPr/>
        </p:nvSpPr>
        <p:spPr>
          <a:xfrm>
            <a:off x="1252728" y="276148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One of you made a typing mistake</a:t>
            </a:r>
          </a:p>
        </p:txBody>
      </p:sp>
      <p:sp>
        <p:nvSpPr>
          <p:cNvPr id="24" name="quiz:answer">
            <a:hlinkClick action="ppaction://hlinksldjump" r:id="rId4"/>
          </p:cNvPr>
          <p:cNvSpPr/>
          <p:nvPr/>
        </p:nvSpPr>
        <p:spPr>
          <a:xfrm>
            <a:off x="6187287" y="263347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"/>
          <p:cNvSpPr/>
          <p:nvPr/>
        </p:nvSpPr>
        <p:spPr>
          <a:xfrm>
            <a:off x="6425031" y="32506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answerkeytext"/>
          <p:cNvSpPr txBox="1"/>
          <p:nvPr/>
        </p:nvSpPr>
        <p:spPr>
          <a:xfrm>
            <a:off x="6425031" y="33284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7" name="cell:answer"/>
          <p:cNvSpPr txBox="1"/>
          <p:nvPr/>
        </p:nvSpPr>
        <p:spPr>
          <a:xfrm>
            <a:off x="6937095" y="276148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builds a new answer every time</a:t>
            </a:r>
          </a:p>
        </p:txBody>
      </p:sp>
      <p:sp>
        <p:nvSpPr>
          <p:cNvPr id="28" name="quiz:answer">
            <a:hlinkClick action="ppaction://hlinksldjump" r:id="rId5"/>
          </p:cNvPr>
          <p:cNvSpPr/>
          <p:nvPr/>
        </p:nvSpPr>
        <p:spPr>
          <a:xfrm>
            <a:off x="502920" y="441655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"/>
          <p:cNvSpPr/>
          <p:nvPr/>
        </p:nvSpPr>
        <p:spPr>
          <a:xfrm>
            <a:off x="740664" y="50337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answerkeytext"/>
          <p:cNvSpPr txBox="1"/>
          <p:nvPr/>
        </p:nvSpPr>
        <p:spPr>
          <a:xfrm>
            <a:off x="740664" y="51114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31" name="cell:answer"/>
          <p:cNvSpPr txBox="1"/>
          <p:nvPr/>
        </p:nvSpPr>
        <p:spPr>
          <a:xfrm>
            <a:off x="1252728" y="454456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The tool learned something in that minute</a:t>
            </a:r>
          </a:p>
        </p:txBody>
      </p:sp>
      <p:sp>
        <p:nvSpPr>
          <p:cNvPr id="32" name="quiz:answer">
            <a:hlinkClick action="ppaction://hlinksldjump" r:id="rId6"/>
          </p:cNvPr>
          <p:cNvSpPr/>
          <p:nvPr/>
        </p:nvSpPr>
        <p:spPr>
          <a:xfrm>
            <a:off x="6187287" y="441655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answerkey"/>
          <p:cNvSpPr/>
          <p:nvPr/>
        </p:nvSpPr>
        <p:spPr>
          <a:xfrm>
            <a:off x="6425031" y="50337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answerkeytext"/>
          <p:cNvSpPr txBox="1"/>
          <p:nvPr/>
        </p:nvSpPr>
        <p:spPr>
          <a:xfrm>
            <a:off x="6425031" y="51114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5" name="cell:answer"/>
          <p:cNvSpPr txBox="1"/>
          <p:nvPr/>
        </p:nvSpPr>
        <p:spPr>
          <a:xfrm>
            <a:off x="6937095" y="454456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One of you is on a paid account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One of you made a typing mistake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Not needed. Even a character-perfect repeat gives different wording, because the answer is built fresh rather than looked up. Identical input does not mean identical output here.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 wording is built fresh every time, even when a tool has looked something up first.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It builds a new answer every time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Exactly. There is no stored answer to hand back. It constructs text word by word, and tiny differences compound. This is why you can never cite it and never assume a colleague saw what you saw.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 wording is built fresh every time, even when a tool has looked something up first.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The tool learned something in that minute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did not. The model does not update between your question and your colleague's. What changed is the generation, not the model's knowledge.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 wording is built fresh every time, even when a tool has looked something up first.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One of you is on a paid account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Account tier changes speed and limits, not this. Two people on identical paid accounts still get different wording a minute apart.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 wording is built fresh every time, even when a tool has looked something up first.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2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Which job suits a generator best?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"Find the current customs duty on this part"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"Turn these five bullets into a 150-word note"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"Tell me what our refund policy says"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"Confirm whether this invoice was paid"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"Find the current customs duty on this part"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cannot look anything up. It will produce a duty figure shaped exactly like a real one, and you will have no way to tell. Use the official schedule.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You bring the facts. It brings the sentences.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"Turn these five bullets into a 150-word note"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facts are already yours. The tool only supplies sentences, and you can check every line against your own bullets in well under a minute.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You bring the facts. It brings the sentences.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"Tell me what our refund policy says"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has never seen your policy. Rather than say so, it will describe a refund policy that sounds entirely reasonable and is not yours.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You bring the facts. It brings the sentences.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"Confirm whether this invoice was paid"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has no connection to your accounts system. This is a question for the ledger, and no amount of good prompting changes that.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You bring the facts. It brings the sentences.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3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There is a line you did not write.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m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780897" y="1976932"/>
            <a:ext cx="230428" cy="153619"/>
          </a:xfrm>
          <a:prstGeom prst="roundRect">
            <a:avLst>
              <a:gd name="adj" fmla="val 29761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 flipH="1">
            <a:off x="824788" y="2130552"/>
            <a:ext cx="10973" cy="6035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24788" y="2130552"/>
            <a:ext cx="60351" cy="6035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stem"/>
          <p:cNvSpPr txBox="1"/>
          <p:nvPr/>
        </p:nvSpPr>
        <p:spPr>
          <a:xfrm>
            <a:off x="1197864" y="1828800"/>
            <a:ext cx="102348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Your generated note refers to a "quarterly bonus review". Nobody has scheduled one.</a:t>
            </a:r>
          </a:p>
        </p:txBody>
      </p:sp>
      <p:sp>
        <p:nvSpPr>
          <p:cNvPr id="20" name="quiz:answer">
            <a:hlinkClick action="ppaction://hlinksldjump" r:id="rId3"/>
          </p:cNvPr>
          <p:cNvSpPr/>
          <p:nvPr/>
        </p:nvSpPr>
        <p:spPr>
          <a:xfrm>
            <a:off x="502920" y="263347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"/>
          <p:cNvSpPr/>
          <p:nvPr/>
        </p:nvSpPr>
        <p:spPr>
          <a:xfrm>
            <a:off x="740664" y="32506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answerkeytext"/>
          <p:cNvSpPr txBox="1"/>
          <p:nvPr/>
        </p:nvSpPr>
        <p:spPr>
          <a:xfrm>
            <a:off x="740664" y="33284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23" name="cell:answer"/>
          <p:cNvSpPr txBox="1"/>
          <p:nvPr/>
        </p:nvSpPr>
        <p:spPr>
          <a:xfrm>
            <a:off x="1252728" y="276148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Leave it — it might be planned</a:t>
            </a:r>
          </a:p>
        </p:txBody>
      </p:sp>
      <p:sp>
        <p:nvSpPr>
          <p:cNvPr id="24" name="quiz:answer">
            <a:hlinkClick action="ppaction://hlinksldjump" r:id="rId4"/>
          </p:cNvPr>
          <p:cNvSpPr/>
          <p:nvPr/>
        </p:nvSpPr>
        <p:spPr>
          <a:xfrm>
            <a:off x="6187287" y="263347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"/>
          <p:cNvSpPr/>
          <p:nvPr/>
        </p:nvSpPr>
        <p:spPr>
          <a:xfrm>
            <a:off x="6425031" y="32506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answerkeytext"/>
          <p:cNvSpPr txBox="1"/>
          <p:nvPr/>
        </p:nvSpPr>
        <p:spPr>
          <a:xfrm>
            <a:off x="6425031" y="33284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7" name="cell:answer"/>
          <p:cNvSpPr txBox="1"/>
          <p:nvPr/>
        </p:nvSpPr>
        <p:spPr>
          <a:xfrm>
            <a:off x="6937095" y="276148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Delete it before sending</a:t>
            </a:r>
          </a:p>
        </p:txBody>
      </p:sp>
      <p:sp>
        <p:nvSpPr>
          <p:cNvPr id="28" name="quiz:answer">
            <a:hlinkClick action="ppaction://hlinksldjump" r:id="rId5"/>
          </p:cNvPr>
          <p:cNvSpPr/>
          <p:nvPr/>
        </p:nvSpPr>
        <p:spPr>
          <a:xfrm>
            <a:off x="502920" y="441655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"/>
          <p:cNvSpPr/>
          <p:nvPr/>
        </p:nvSpPr>
        <p:spPr>
          <a:xfrm>
            <a:off x="740664" y="50337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answerkeytext"/>
          <p:cNvSpPr txBox="1"/>
          <p:nvPr/>
        </p:nvSpPr>
        <p:spPr>
          <a:xfrm>
            <a:off x="740664" y="51114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31" name="cell:answer"/>
          <p:cNvSpPr txBox="1"/>
          <p:nvPr/>
        </p:nvSpPr>
        <p:spPr>
          <a:xfrm>
            <a:off x="1252728" y="454456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the tool whether it is true</a:t>
            </a:r>
          </a:p>
        </p:txBody>
      </p:sp>
      <p:sp>
        <p:nvSpPr>
          <p:cNvPr id="32" name="quiz:answer">
            <a:hlinkClick action="ppaction://hlinksldjump" r:id="rId6"/>
          </p:cNvPr>
          <p:cNvSpPr/>
          <p:nvPr/>
        </p:nvSpPr>
        <p:spPr>
          <a:xfrm>
            <a:off x="6187287" y="441655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answerkey"/>
          <p:cNvSpPr/>
          <p:nvPr/>
        </p:nvSpPr>
        <p:spPr>
          <a:xfrm>
            <a:off x="6425031" y="50337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answerkeytext"/>
          <p:cNvSpPr txBox="1"/>
          <p:nvPr/>
        </p:nvSpPr>
        <p:spPr>
          <a:xfrm>
            <a:off x="6425031" y="51114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5" name="cell:answer"/>
          <p:cNvSpPr txBox="1"/>
          <p:nvPr/>
        </p:nvSpPr>
        <p:spPr>
          <a:xfrm>
            <a:off x="6937095" y="454456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Send it and correct it later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Leave it — it might be planned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is not planned; it was invented to close a gap in a sentence. Leaving it in means your team hears about a bonus review from you. That is a very hard sentence to walk back.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you did not supply it, take it out.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Delete it before sending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Right, and it takes four seconds. Anything in a draft that you did not supply and cannot confirm comes out before the message leaves you.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you did not supply it, take it out.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Ask the tool whether it is true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will generate an answer about its own answer, with the same confidence and no more evidence. A second generation is not a check on the first.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you did not supply it, take it out.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Send it and correct it later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By then it has been read, forwarded and believed. Corrections travel far less widely than the original, and the original had your name on it.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you did not supply it, take it out.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4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Where should generated images not go?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An internal brainstorming deck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 proposal a customer will read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 personal note to yourself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An early draft for your manager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An internal brainstorming deck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That is a reasonable place for them. Rough visuals help people react to an idea, and everyone in the room knows they are drafts.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Drafts internally. Never in front of a customer.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A proposal a customer will read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Generated images carry small errors — text that is almost words, details that are nearly right. In a customer document they read as carelessness about everything else too.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Drafts internally. Never in front of a customer.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A personal note to yourself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Harmless. Nobody else sees it and nothing depends on it being accurate.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Drafts internally. Never in front of a customer.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An early draft for your manager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Fine, as long as you say what it is. A manager reviewing a draft expects rough visuals in it.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Drafts internally. Never in front of a customer.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5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What can you honestly call it?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 source, as long as you name the tool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Your draft, which you checked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 summary of general industry opinion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 starting point you can cite internally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A source, as long as you name the tool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Naming the tool does not make it a source. There is no page, no author and no date behind the sentence — it was built for you and for nobody else.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is your draft. Never a source.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Your draft, which you checked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That is the honest description and the safe one. You wrote the message using a tool, and you stand behind every line because you read every line.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is your draft. Never a source.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See the recap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A summary of general industry opinion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is not a survey of anything. Calling it industry opinion invents a second layer of authority on top of an answer that already had none.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is your draft. Never a source.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A starting point you can cite internally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Even internally, "the AI said" is not something a colleague can act on or defend. Find the real source, or present the point as your own judgement.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is your draft. Never a source.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RECAP CARD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Generative AI on one screen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recaphint"/>
          <p:cNvSpPr txBox="1"/>
          <p:nvPr/>
        </p:nvSpPr>
        <p:spPr>
          <a:xfrm>
            <a:off x="502920" y="159105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Screenshot this slide. It is the whole module in one screen.</a:t>
            </a:r>
          </a:p>
        </p:txBody>
      </p:sp>
      <p:sp>
        <p:nvSpPr>
          <p:cNvPr id="16" name="vis:recaptile"/>
          <p:cNvSpPr/>
          <p:nvPr/>
        </p:nvSpPr>
        <p:spPr>
          <a:xfrm>
            <a:off x="502920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ecapbar"/>
          <p:cNvSpPr/>
          <p:nvPr/>
        </p:nvSpPr>
        <p:spPr>
          <a:xfrm>
            <a:off x="502920" y="190195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ecaphead"/>
          <p:cNvSpPr txBox="1"/>
          <p:nvPr/>
        </p:nvSpPr>
        <p:spPr>
          <a:xfrm>
            <a:off x="740664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It builds, even when it also looked something up</a:t>
            </a:r>
          </a:p>
        </p:txBody>
      </p:sp>
      <p:sp>
        <p:nvSpPr>
          <p:cNvPr id="19" name="cell:recapsub"/>
          <p:cNvSpPr txBox="1"/>
          <p:nvPr/>
        </p:nvSpPr>
        <p:spPr>
          <a:xfrm>
            <a:off x="740664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wording is always constructed fresh — assume nothing was looked up unless the tool shows you it was.</a:t>
            </a:r>
          </a:p>
        </p:txBody>
      </p:sp>
      <p:sp>
        <p:nvSpPr>
          <p:cNvPr id="20" name="vis:recaptile"/>
          <p:cNvSpPr/>
          <p:nvPr/>
        </p:nvSpPr>
        <p:spPr>
          <a:xfrm>
            <a:off x="6178143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recapbar"/>
          <p:cNvSpPr/>
          <p:nvPr/>
        </p:nvSpPr>
        <p:spPr>
          <a:xfrm>
            <a:off x="6178143" y="190195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cell:recaphead"/>
          <p:cNvSpPr txBox="1"/>
          <p:nvPr/>
        </p:nvSpPr>
        <p:spPr>
          <a:xfrm>
            <a:off x="6415887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Different every time</a:t>
            </a:r>
          </a:p>
        </p:txBody>
      </p:sp>
      <p:sp>
        <p:nvSpPr>
          <p:cNvPr id="23" name="cell:recapsub"/>
          <p:cNvSpPr txBox="1"/>
          <p:nvPr/>
        </p:nvSpPr>
        <p:spPr>
          <a:xfrm>
            <a:off x="6415887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Two colleagues asking the same thing get two answers. Neither is the record.</a:t>
            </a:r>
          </a:p>
        </p:txBody>
      </p:sp>
      <p:sp>
        <p:nvSpPr>
          <p:cNvPr id="24" name="vis:recaptile"/>
          <p:cNvSpPr/>
          <p:nvPr/>
        </p:nvSpPr>
        <p:spPr>
          <a:xfrm>
            <a:off x="502920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recapbar"/>
          <p:cNvSpPr/>
          <p:nvPr/>
        </p:nvSpPr>
        <p:spPr>
          <a:xfrm>
            <a:off x="502920" y="302971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cell:recaphead"/>
          <p:cNvSpPr txBox="1"/>
          <p:nvPr/>
        </p:nvSpPr>
        <p:spPr>
          <a:xfrm>
            <a:off x="740664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Gaps get filled, not flagged</a:t>
            </a:r>
          </a:p>
        </p:txBody>
      </p:sp>
      <p:sp>
        <p:nvSpPr>
          <p:cNvPr id="27" name="cell:recapsub"/>
          <p:cNvSpPr txBox="1"/>
          <p:nvPr/>
        </p:nvSpPr>
        <p:spPr>
          <a:xfrm>
            <a:off x="740664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missing fact produces a plausible invention, never a blank space.</a:t>
            </a:r>
          </a:p>
        </p:txBody>
      </p:sp>
      <p:sp>
        <p:nvSpPr>
          <p:cNvPr id="28" name="vis:recaptile"/>
          <p:cNvSpPr/>
          <p:nvPr/>
        </p:nvSpPr>
        <p:spPr>
          <a:xfrm>
            <a:off x="6178143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recapbar"/>
          <p:cNvSpPr/>
          <p:nvPr/>
        </p:nvSpPr>
        <p:spPr>
          <a:xfrm>
            <a:off x="6178143" y="302971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cell:recaphead"/>
          <p:cNvSpPr txBox="1"/>
          <p:nvPr/>
        </p:nvSpPr>
        <p:spPr>
          <a:xfrm>
            <a:off x="6415887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Strong on shape, weak on truth</a:t>
            </a:r>
          </a:p>
        </p:txBody>
      </p:sp>
      <p:sp>
        <p:nvSpPr>
          <p:cNvPr id="31" name="cell:recapsub"/>
          <p:cNvSpPr txBox="1"/>
          <p:nvPr/>
        </p:nvSpPr>
        <p:spPr>
          <a:xfrm>
            <a:off x="6415887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Drafting, shortening, restructuring, options. Not lookups, not policy, not figures.</a:t>
            </a:r>
          </a:p>
        </p:txBody>
      </p:sp>
      <p:sp>
        <p:nvSpPr>
          <p:cNvPr id="32" name="vis:recaptile"/>
          <p:cNvSpPr/>
          <p:nvPr/>
        </p:nvSpPr>
        <p:spPr>
          <a:xfrm>
            <a:off x="502920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recapbar"/>
          <p:cNvSpPr/>
          <p:nvPr/>
        </p:nvSpPr>
        <p:spPr>
          <a:xfrm>
            <a:off x="502920" y="415747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cell:recaphead"/>
          <p:cNvSpPr txBox="1"/>
          <p:nvPr/>
        </p:nvSpPr>
        <p:spPr>
          <a:xfrm>
            <a:off x="740664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Read every line</a:t>
            </a:r>
          </a:p>
        </p:txBody>
      </p:sp>
      <p:sp>
        <p:nvSpPr>
          <p:cNvPr id="35" name="cell:recapsub"/>
          <p:cNvSpPr txBox="1"/>
          <p:nvPr/>
        </p:nvSpPr>
        <p:spPr>
          <a:xfrm>
            <a:off x="740664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Anything you did not supply and cannot verify comes out before you send.</a:t>
            </a:r>
          </a:p>
        </p:txBody>
      </p:sp>
      <p:sp>
        <p:nvSpPr>
          <p:cNvPr id="36" name="vis:recaptile"/>
          <p:cNvSpPr/>
          <p:nvPr/>
        </p:nvSpPr>
        <p:spPr>
          <a:xfrm>
            <a:off x="6178143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ecapbar"/>
          <p:cNvSpPr/>
          <p:nvPr/>
        </p:nvSpPr>
        <p:spPr>
          <a:xfrm>
            <a:off x="6178143" y="415747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ecaphead"/>
          <p:cNvSpPr txBox="1"/>
          <p:nvPr/>
        </p:nvSpPr>
        <p:spPr>
          <a:xfrm>
            <a:off x="6415887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Never a source</a:t>
            </a:r>
          </a:p>
        </p:txBody>
      </p:sp>
      <p:sp>
        <p:nvSpPr>
          <p:cNvPr id="39" name="cell:recapsub"/>
          <p:cNvSpPr txBox="1"/>
          <p:nvPr/>
        </p:nvSpPr>
        <p:spPr>
          <a:xfrm>
            <a:off x="6415887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It is your draft, that you checked. That is the only honest description of it.</a:t>
            </a:r>
          </a:p>
        </p:txBody>
      </p:sp>
      <p:sp>
        <p:nvSpPr>
          <p:cNvPr id="40" name="vis:recapline"/>
          <p:cNvSpPr/>
          <p:nvPr/>
        </p:nvSpPr>
        <p:spPr>
          <a:xfrm>
            <a:off x="502920" y="5266944"/>
            <a:ext cx="11185855" cy="749808"/>
          </a:xfrm>
          <a:prstGeom prst="roundRect">
            <a:avLst>
              <a:gd name="adj" fmla="val 1219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icon"/>
          <p:cNvSpPr/>
          <p:nvPr/>
        </p:nvSpPr>
        <p:spPr>
          <a:xfrm>
            <a:off x="875995" y="5464820"/>
            <a:ext cx="241401" cy="241401"/>
          </a:xfrm>
          <a:prstGeom prst="ellipse">
            <a:avLst/>
          </a:prstGeom>
          <a:noFill/>
          <a:ln w="19050">
            <a:solidFill>
              <a:srgbClr val="768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2" name="vis:icon"/>
          <p:cNvCxnSpPr/>
          <p:nvPr/>
        </p:nvCxnSpPr>
        <p:spPr>
          <a:xfrm>
            <a:off x="932322" y="5738408"/>
            <a:ext cx="128747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s:icon"/>
          <p:cNvCxnSpPr/>
          <p:nvPr/>
        </p:nvCxnSpPr>
        <p:spPr>
          <a:xfrm>
            <a:off x="948415" y="5802782"/>
            <a:ext cx="96561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ell:recapone"/>
          <p:cNvSpPr txBox="1"/>
          <p:nvPr/>
        </p:nvSpPr>
        <p:spPr>
          <a:xfrm>
            <a:off x="1417320" y="5394959"/>
            <a:ext cx="99605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Segoe UI Semibold"/>
              </a:rPr>
              <a:t>Generative means it makes something new every time. That is the power and the whole risk, in one sentence.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YOUR TOOLKIT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Take these three things with you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5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seclabel"/>
          <p:cNvSpPr txBox="1"/>
          <p:nvPr/>
        </p:nvSpPr>
        <p:spPr>
          <a:xfrm>
            <a:off x="502920" y="1719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TEMPLATES YOU CAN REUSE TODAY</a:t>
            </a:r>
          </a:p>
        </p:txBody>
      </p:sp>
      <p:sp>
        <p:nvSpPr>
          <p:cNvPr id="16" name="vis:tk"/>
          <p:cNvSpPr/>
          <p:nvPr/>
        </p:nvSpPr>
        <p:spPr>
          <a:xfrm>
            <a:off x="502920" y="2121408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722376" y="2243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866573" y="2403501"/>
            <a:ext cx="223669" cy="149113"/>
          </a:xfrm>
          <a:prstGeom prst="roundRect">
            <a:avLst>
              <a:gd name="adj" fmla="val 30661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 flipH="1">
            <a:off x="909176" y="2552614"/>
            <a:ext cx="10651" cy="5858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 flipV="1">
            <a:off x="909176" y="2552614"/>
            <a:ext cx="58581" cy="5858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tkname"/>
          <p:cNvSpPr txBox="1"/>
          <p:nvPr/>
        </p:nvSpPr>
        <p:spPr>
          <a:xfrm>
            <a:off x="1417320" y="2212848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three-versions prompt</a:t>
            </a:r>
          </a:p>
        </p:txBody>
      </p:sp>
      <p:sp>
        <p:nvSpPr>
          <p:cNvPr id="22" name="cell:tksub"/>
          <p:cNvSpPr txBox="1"/>
          <p:nvPr/>
        </p:nvSpPr>
        <p:spPr>
          <a:xfrm>
            <a:off x="1417320" y="2517648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Formal, friendly and very short, from one set of facts.</a:t>
            </a:r>
          </a:p>
        </p:txBody>
      </p:sp>
      <p:sp>
        <p:nvSpPr>
          <p:cNvPr id="23" name="vis:tk"/>
          <p:cNvSpPr/>
          <p:nvPr/>
        </p:nvSpPr>
        <p:spPr>
          <a:xfrm>
            <a:off x="502920" y="3023616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badge"/>
          <p:cNvSpPr/>
          <p:nvPr/>
        </p:nvSpPr>
        <p:spPr>
          <a:xfrm>
            <a:off x="722376" y="314553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icon"/>
          <p:cNvSpPr/>
          <p:nvPr/>
        </p:nvSpPr>
        <p:spPr>
          <a:xfrm>
            <a:off x="893200" y="3284407"/>
            <a:ext cx="170414" cy="234320"/>
          </a:xfrm>
          <a:prstGeom prst="roundRect">
            <a:avLst>
              <a:gd name="adj" fmla="val 26828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6" name="vis:icon"/>
          <p:cNvCxnSpPr/>
          <p:nvPr/>
        </p:nvCxnSpPr>
        <p:spPr>
          <a:xfrm>
            <a:off x="930478" y="3358964"/>
            <a:ext cx="9585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s:icon"/>
          <p:cNvCxnSpPr/>
          <p:nvPr/>
        </p:nvCxnSpPr>
        <p:spPr>
          <a:xfrm>
            <a:off x="930478" y="3401568"/>
            <a:ext cx="9585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>
            <a:off x="930478" y="3444171"/>
            <a:ext cx="63906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tkname"/>
          <p:cNvSpPr txBox="1"/>
          <p:nvPr/>
        </p:nvSpPr>
        <p:spPr>
          <a:xfrm>
            <a:off x="1417320" y="3115056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internal-note prompt</a:t>
            </a:r>
          </a:p>
        </p:txBody>
      </p:sp>
      <p:sp>
        <p:nvSpPr>
          <p:cNvPr id="30" name="cell:tksub"/>
          <p:cNvSpPr txBox="1"/>
          <p:nvPr/>
        </p:nvSpPr>
        <p:spPr>
          <a:xfrm>
            <a:off x="1417320" y="3419856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Two changes, seventy words, friendly but clear.</a:t>
            </a:r>
          </a:p>
        </p:txBody>
      </p:sp>
      <p:sp>
        <p:nvSpPr>
          <p:cNvPr id="31" name="vis:tk"/>
          <p:cNvSpPr/>
          <p:nvPr/>
        </p:nvSpPr>
        <p:spPr>
          <a:xfrm>
            <a:off x="502920" y="3925823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badge"/>
          <p:cNvSpPr/>
          <p:nvPr/>
        </p:nvSpPr>
        <p:spPr>
          <a:xfrm>
            <a:off x="722376" y="4047743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icon"/>
          <p:cNvSpPr/>
          <p:nvPr/>
        </p:nvSpPr>
        <p:spPr>
          <a:xfrm>
            <a:off x="855922" y="4207917"/>
            <a:ext cx="244971" cy="191717"/>
          </a:xfrm>
          <a:custGeom>
            <a:avLst/>
            <a:gdLst/>
            <a:ahLst/>
            <a:cxnLst/>
            <a:rect l="l" t="t" r="r" b="b"/>
            <a:pathLst>
              <a:path w="244971" h="191717">
                <a:moveTo>
                  <a:pt x="0" y="95858"/>
                </a:moveTo>
                <a:lnTo>
                  <a:pt x="122486" y="0"/>
                </a:lnTo>
                <a:lnTo>
                  <a:pt x="244971" y="95858"/>
                </a:lnTo>
                <a:lnTo>
                  <a:pt x="122486" y="191717"/>
                </a:lnTo>
                <a:close/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s:icon"/>
          <p:cNvSpPr/>
          <p:nvPr/>
        </p:nvSpPr>
        <p:spPr>
          <a:xfrm>
            <a:off x="941129" y="4266497"/>
            <a:ext cx="74556" cy="74556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cell:tkname"/>
          <p:cNvSpPr txBox="1"/>
          <p:nvPr/>
        </p:nvSpPr>
        <p:spPr>
          <a:xfrm>
            <a:off x="1417320" y="4017263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read-before-send check</a:t>
            </a:r>
          </a:p>
        </p:txBody>
      </p:sp>
      <p:sp>
        <p:nvSpPr>
          <p:cNvPr id="36" name="cell:tksub"/>
          <p:cNvSpPr txBox="1"/>
          <p:nvPr/>
        </p:nvSpPr>
        <p:spPr>
          <a:xfrm>
            <a:off x="1417320" y="4322063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Delete anything you did not supply and cannot verify.</a:t>
            </a:r>
          </a:p>
        </p:txBody>
      </p:sp>
      <p:sp>
        <p:nvSpPr>
          <p:cNvPr id="37" name="seclabel"/>
          <p:cNvSpPr txBox="1"/>
          <p:nvPr/>
        </p:nvSpPr>
        <p:spPr>
          <a:xfrm>
            <a:off x="8082076" y="1719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LINKS THAT WORK</a:t>
            </a:r>
          </a:p>
        </p:txBody>
      </p:sp>
      <p:sp>
        <p:nvSpPr>
          <p:cNvPr id="38" name="nav:link">
            <a:hlinkClick r:id="rId2"/>
          </p:cNvPr>
          <p:cNvSpPr/>
          <p:nvPr/>
        </p:nvSpPr>
        <p:spPr>
          <a:xfrm>
            <a:off x="8082076" y="2121408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icon"/>
          <p:cNvSpPr/>
          <p:nvPr/>
        </p:nvSpPr>
        <p:spPr>
          <a:xfrm>
            <a:off x="8339937" y="2300630"/>
            <a:ext cx="164592" cy="164592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0" name="vis:icon"/>
          <p:cNvCxnSpPr/>
          <p:nvPr/>
        </p:nvCxnSpPr>
        <p:spPr>
          <a:xfrm>
            <a:off x="8482584" y="2443276"/>
            <a:ext cx="65836" cy="6583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ell:linklabel"/>
          <p:cNvSpPr txBox="1"/>
          <p:nvPr/>
        </p:nvSpPr>
        <p:spPr>
          <a:xfrm>
            <a:off x="8703868" y="2203703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ChatGPT</a:t>
            </a:r>
          </a:p>
        </p:txBody>
      </p:sp>
      <p:sp>
        <p:nvSpPr>
          <p:cNvPr id="42" name="cell:linkurl"/>
          <p:cNvSpPr txBox="1"/>
          <p:nvPr/>
        </p:nvSpPr>
        <p:spPr>
          <a:xfrm>
            <a:off x="8703868" y="2423160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"/>
              </a:rPr>
              <a:t>chatgpt.com</a:t>
            </a:r>
          </a:p>
        </p:txBody>
      </p:sp>
      <p:sp>
        <p:nvSpPr>
          <p:cNvPr id="43" name="nav:link">
            <a:hlinkClick r:id="rId3"/>
          </p:cNvPr>
          <p:cNvSpPr/>
          <p:nvPr/>
        </p:nvSpPr>
        <p:spPr>
          <a:xfrm>
            <a:off x="8082076" y="2798063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vis:icon"/>
          <p:cNvSpPr/>
          <p:nvPr/>
        </p:nvSpPr>
        <p:spPr>
          <a:xfrm>
            <a:off x="8339937" y="2977286"/>
            <a:ext cx="164592" cy="164592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5" name="vis:icon"/>
          <p:cNvCxnSpPr/>
          <p:nvPr/>
        </p:nvCxnSpPr>
        <p:spPr>
          <a:xfrm>
            <a:off x="8482584" y="3119932"/>
            <a:ext cx="65836" cy="6583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ell:linklabel"/>
          <p:cNvSpPr txBox="1"/>
          <p:nvPr/>
        </p:nvSpPr>
        <p:spPr>
          <a:xfrm>
            <a:off x="8703868" y="2880359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Microsoft Copilot</a:t>
            </a:r>
          </a:p>
        </p:txBody>
      </p:sp>
      <p:sp>
        <p:nvSpPr>
          <p:cNvPr id="47" name="cell:linkurl"/>
          <p:cNvSpPr txBox="1"/>
          <p:nvPr/>
        </p:nvSpPr>
        <p:spPr>
          <a:xfrm>
            <a:off x="8703868" y="3099815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"/>
              </a:rPr>
              <a:t>copilot.microsoft.com</a:t>
            </a:r>
          </a:p>
        </p:txBody>
      </p:sp>
      <p:sp>
        <p:nvSpPr>
          <p:cNvPr id="48" name="nav:link">
            <a:hlinkClick r:id="rId4"/>
          </p:cNvPr>
          <p:cNvSpPr/>
          <p:nvPr/>
        </p:nvSpPr>
        <p:spPr>
          <a:xfrm>
            <a:off x="8082076" y="3474720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vis:icon"/>
          <p:cNvSpPr/>
          <p:nvPr/>
        </p:nvSpPr>
        <p:spPr>
          <a:xfrm>
            <a:off x="8339937" y="3653942"/>
            <a:ext cx="164592" cy="164592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50" name="vis:icon"/>
          <p:cNvCxnSpPr/>
          <p:nvPr/>
        </p:nvCxnSpPr>
        <p:spPr>
          <a:xfrm>
            <a:off x="8482584" y="3796588"/>
            <a:ext cx="65836" cy="6583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ell:linklabel"/>
          <p:cNvSpPr txBox="1"/>
          <p:nvPr/>
        </p:nvSpPr>
        <p:spPr>
          <a:xfrm>
            <a:off x="8703868" y="3557015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Google Gemini</a:t>
            </a:r>
          </a:p>
        </p:txBody>
      </p:sp>
      <p:sp>
        <p:nvSpPr>
          <p:cNvPr id="52" name="cell:linkurl"/>
          <p:cNvSpPr txBox="1"/>
          <p:nvPr/>
        </p:nvSpPr>
        <p:spPr>
          <a:xfrm>
            <a:off x="8703868" y="3776472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"/>
              </a:rPr>
              <a:t>gemini.google.com</a:t>
            </a:r>
          </a:p>
        </p:txBody>
      </p:sp>
      <p:sp>
        <p:nvSpPr>
          <p:cNvPr id="53" name="vis:next"/>
          <p:cNvSpPr/>
          <p:nvPr/>
        </p:nvSpPr>
        <p:spPr>
          <a:xfrm>
            <a:off x="8082076" y="4297680"/>
            <a:ext cx="3606698" cy="1719072"/>
          </a:xfrm>
          <a:prstGeom prst="roundRect">
            <a:avLst>
              <a:gd name="adj" fmla="val 425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seclabel"/>
          <p:cNvSpPr txBox="1"/>
          <p:nvPr/>
        </p:nvSpPr>
        <p:spPr>
          <a:xfrm>
            <a:off x="8338108" y="4480560"/>
            <a:ext cx="30946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DO THIS NEXT</a:t>
            </a:r>
          </a:p>
        </p:txBody>
      </p:sp>
      <p:sp>
        <p:nvSpPr>
          <p:cNvPr id="55" name="cell:next"/>
          <p:cNvSpPr txBox="1"/>
          <p:nvPr/>
        </p:nvSpPr>
        <p:spPr>
          <a:xfrm>
            <a:off x="8338108" y="4809744"/>
            <a:ext cx="3094634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"/>
              </a:rPr>
              <a:t>Next module: AI-03, AI Capabilities. It maps the tasks where these tools genuinely save you an hour, and the ones where they quietly cost you one.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GLOSSARY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Words people use around AI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AI-02  ·  Generative AI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gloss"/>
          <p:cNvSpPr/>
          <p:nvPr/>
        </p:nvSpPr>
        <p:spPr>
          <a:xfrm>
            <a:off x="502920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glossbar"/>
          <p:cNvSpPr/>
          <p:nvPr/>
        </p:nvSpPr>
        <p:spPr>
          <a:xfrm>
            <a:off x="502920" y="1719072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cell:glossterm"/>
          <p:cNvSpPr txBox="1"/>
          <p:nvPr/>
        </p:nvSpPr>
        <p:spPr>
          <a:xfrm>
            <a:off x="740664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Generative AI</a:t>
            </a:r>
          </a:p>
        </p:txBody>
      </p:sp>
      <p:sp>
        <p:nvSpPr>
          <p:cNvPr id="18" name="cell:glossdef"/>
          <p:cNvSpPr txBox="1"/>
          <p:nvPr/>
        </p:nvSpPr>
        <p:spPr>
          <a:xfrm>
            <a:off x="740664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system that builds new text, images or code rather than retrieving something that already exists.</a:t>
            </a:r>
          </a:p>
        </p:txBody>
      </p:sp>
      <p:sp>
        <p:nvSpPr>
          <p:cNvPr id="19" name="vis:gloss"/>
          <p:cNvSpPr/>
          <p:nvPr/>
        </p:nvSpPr>
        <p:spPr>
          <a:xfrm>
            <a:off x="6178143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glossbar"/>
          <p:cNvSpPr/>
          <p:nvPr/>
        </p:nvSpPr>
        <p:spPr>
          <a:xfrm>
            <a:off x="6178143" y="1719072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cell:glossterm"/>
          <p:cNvSpPr txBox="1"/>
          <p:nvPr/>
        </p:nvSpPr>
        <p:spPr>
          <a:xfrm>
            <a:off x="6415887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Model</a:t>
            </a:r>
          </a:p>
        </p:txBody>
      </p:sp>
      <p:sp>
        <p:nvSpPr>
          <p:cNvPr id="22" name="cell:glossdef"/>
          <p:cNvSpPr txBox="1"/>
          <p:nvPr/>
        </p:nvSpPr>
        <p:spPr>
          <a:xfrm>
            <a:off x="6415887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trained system behind the app. ChatGPT, Copilot and Gemini are apps built around models.</a:t>
            </a:r>
          </a:p>
        </p:txBody>
      </p:sp>
      <p:sp>
        <p:nvSpPr>
          <p:cNvPr id="23" name="vis:gloss"/>
          <p:cNvSpPr/>
          <p:nvPr/>
        </p:nvSpPr>
        <p:spPr>
          <a:xfrm>
            <a:off x="502920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glossbar"/>
          <p:cNvSpPr/>
          <p:nvPr/>
        </p:nvSpPr>
        <p:spPr>
          <a:xfrm>
            <a:off x="502920" y="2962656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cell:glossterm"/>
          <p:cNvSpPr txBox="1"/>
          <p:nvPr/>
        </p:nvSpPr>
        <p:spPr>
          <a:xfrm>
            <a:off x="740664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Prompt</a:t>
            </a:r>
          </a:p>
        </p:txBody>
      </p:sp>
      <p:sp>
        <p:nvSpPr>
          <p:cNvPr id="26" name="cell:glossdef"/>
          <p:cNvSpPr txBox="1"/>
          <p:nvPr/>
        </p:nvSpPr>
        <p:spPr>
          <a:xfrm>
            <a:off x="740664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Everything you type in: the request plus the facts you choose to supply.</a:t>
            </a:r>
          </a:p>
        </p:txBody>
      </p:sp>
      <p:sp>
        <p:nvSpPr>
          <p:cNvPr id="27" name="vis:gloss"/>
          <p:cNvSpPr/>
          <p:nvPr/>
        </p:nvSpPr>
        <p:spPr>
          <a:xfrm>
            <a:off x="6178143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glossbar"/>
          <p:cNvSpPr/>
          <p:nvPr/>
        </p:nvSpPr>
        <p:spPr>
          <a:xfrm>
            <a:off x="6178143" y="2962656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cell:glossterm"/>
          <p:cNvSpPr txBox="1"/>
          <p:nvPr/>
        </p:nvSpPr>
        <p:spPr>
          <a:xfrm>
            <a:off x="6415887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Hallucination</a:t>
            </a:r>
          </a:p>
        </p:txBody>
      </p:sp>
      <p:sp>
        <p:nvSpPr>
          <p:cNvPr id="30" name="cell:glossdef"/>
          <p:cNvSpPr txBox="1"/>
          <p:nvPr/>
        </p:nvSpPr>
        <p:spPr>
          <a:xfrm>
            <a:off x="6415887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confident, invented answer. Usually a name, a number, a date or a policy.</a:t>
            </a:r>
          </a:p>
        </p:txBody>
      </p:sp>
      <p:sp>
        <p:nvSpPr>
          <p:cNvPr id="31" name="vis:gloss"/>
          <p:cNvSpPr/>
          <p:nvPr/>
        </p:nvSpPr>
        <p:spPr>
          <a:xfrm>
            <a:off x="502920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glossbar"/>
          <p:cNvSpPr/>
          <p:nvPr/>
        </p:nvSpPr>
        <p:spPr>
          <a:xfrm>
            <a:off x="502920" y="4206240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glossterm"/>
          <p:cNvSpPr txBox="1"/>
          <p:nvPr/>
        </p:nvSpPr>
        <p:spPr>
          <a:xfrm>
            <a:off x="740664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Training data</a:t>
            </a:r>
          </a:p>
        </p:txBody>
      </p:sp>
      <p:sp>
        <p:nvSpPr>
          <p:cNvPr id="34" name="cell:glossdef"/>
          <p:cNvSpPr txBox="1"/>
          <p:nvPr/>
        </p:nvSpPr>
        <p:spPr>
          <a:xfrm>
            <a:off x="740664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public text a model learned from, up to a fixed cut-off date.</a:t>
            </a:r>
          </a:p>
        </p:txBody>
      </p:sp>
      <p:sp>
        <p:nvSpPr>
          <p:cNvPr id="35" name="vis:gloss"/>
          <p:cNvSpPr/>
          <p:nvPr/>
        </p:nvSpPr>
        <p:spPr>
          <a:xfrm>
            <a:off x="6178143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glossbar"/>
          <p:cNvSpPr/>
          <p:nvPr/>
        </p:nvSpPr>
        <p:spPr>
          <a:xfrm>
            <a:off x="6178143" y="4206240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cell:glossterm"/>
          <p:cNvSpPr txBox="1"/>
          <p:nvPr/>
        </p:nvSpPr>
        <p:spPr>
          <a:xfrm>
            <a:off x="6415887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Output</a:t>
            </a:r>
          </a:p>
        </p:txBody>
      </p:sp>
      <p:sp>
        <p:nvSpPr>
          <p:cNvPr id="38" name="cell:glossdef"/>
          <p:cNvSpPr txBox="1"/>
          <p:nvPr/>
        </p:nvSpPr>
        <p:spPr>
          <a:xfrm>
            <a:off x="6415887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What comes back. Your draft, which you are responsible for checking.</a:t>
            </a:r>
          </a:p>
        </p:txBody>
      </p:sp>
      <p:sp>
        <p:nvSpPr>
          <p:cNvPr id="39" name="nav:glossback">
            <a:hlinkClick action="ppaction://hlinksldjump" r:id="rId2"/>
          </p:cNvPr>
          <p:cNvSpPr/>
          <p:nvPr/>
        </p:nvSpPr>
        <p:spPr>
          <a:xfrm>
            <a:off x="502920" y="550468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nav:glossbacktext"/>
          <p:cNvSpPr txBox="1"/>
          <p:nvPr/>
        </p:nvSpPr>
        <p:spPr>
          <a:xfrm>
            <a:off x="758952" y="5650992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menu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