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mWRe8w6YjO0"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lock"/>
          <p:cNvSpPr/>
          <p:nvPr/>
        </p:nvSpPr>
        <p:spPr>
          <a:xfrm>
            <a:off x="7589520"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 name="vis:coverline"/>
          <p:cNvCxnSpPr/>
          <p:nvPr/>
        </p:nvCxnSpPr>
        <p:spPr>
          <a:xfrm flipV="1">
            <a:off x="8355787"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vis:coverblock"/>
          <p:cNvSpPr/>
          <p:nvPr/>
        </p:nvSpPr>
        <p:spPr>
          <a:xfrm>
            <a:off x="8626449" y="2838297"/>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coverline"/>
          <p:cNvCxnSpPr/>
          <p:nvPr/>
        </p:nvCxnSpPr>
        <p:spPr>
          <a:xfrm>
            <a:off x="9392716" y="3152064"/>
            <a:ext cx="234087"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vis:coverblock"/>
          <p:cNvSpPr/>
          <p:nvPr/>
        </p:nvSpPr>
        <p:spPr>
          <a:xfrm>
            <a:off x="9663379" y="2509113"/>
            <a:ext cx="729691" cy="627534"/>
          </a:xfrm>
          <a:prstGeom prst="roundRect">
            <a:avLst>
              <a:gd name="adj" fmla="val 14571"/>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coverline"/>
          <p:cNvCxnSpPr/>
          <p:nvPr/>
        </p:nvCxnSpPr>
        <p:spPr>
          <a:xfrm flipV="1">
            <a:off x="10429646" y="2493696"/>
            <a:ext cx="234086" cy="329184"/>
          </a:xfrm>
          <a:prstGeom prst="line">
            <a:avLst/>
          </a:prstGeom>
          <a:ln w="12700">
            <a:solidFill>
              <a:srgbClr val="5B677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vis:coverblock"/>
          <p:cNvSpPr/>
          <p:nvPr/>
        </p:nvSpPr>
        <p:spPr>
          <a:xfrm>
            <a:off x="10700308" y="2838297"/>
            <a:ext cx="729691" cy="627534"/>
          </a:xfrm>
          <a:prstGeom prst="roundRect">
            <a:avLst>
              <a:gd name="adj" fmla="val 14571"/>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29565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AI COURSES</a:t>
            </a:r>
          </a:p>
        </p:txBody>
      </p:sp>
      <p:sp>
        <p:nvSpPr>
          <p:cNvPr id="12" name="title:cover"/>
          <p:cNvSpPr txBox="1"/>
          <p:nvPr/>
        </p:nvSpPr>
        <p:spPr>
          <a:xfrm>
            <a:off x="960120" y="1752854"/>
            <a:ext cx="5501487" cy="78130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AI Capabilities</a:t>
            </a:r>
          </a:p>
        </p:txBody>
      </p:sp>
      <p:cxnSp>
        <p:nvCxnSpPr>
          <p:cNvPr id="13" name="vis:rule"/>
          <p:cNvCxnSpPr/>
          <p:nvPr/>
        </p:nvCxnSpPr>
        <p:spPr>
          <a:xfrm>
            <a:off x="960120" y="280847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082798"/>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The tasks where these tools genuinely save you an hour — and how to spot one on your own desk.</a:t>
            </a:r>
          </a:p>
        </p:txBody>
      </p:sp>
      <p:sp>
        <p:nvSpPr>
          <p:cNvPr id="15" name="vis:chip"/>
          <p:cNvSpPr/>
          <p:nvPr/>
        </p:nvSpPr>
        <p:spPr>
          <a:xfrm>
            <a:off x="960120" y="4629658"/>
            <a:ext cx="935609" cy="310896"/>
          </a:xfrm>
          <a:prstGeom prst="roundRect">
            <a:avLst>
              <a:gd name="adj" fmla="val 14705"/>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675378"/>
            <a:ext cx="6247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AI-03</a:t>
            </a:r>
          </a:p>
        </p:txBody>
      </p:sp>
      <p:sp>
        <p:nvSpPr>
          <p:cNvPr id="17" name="vis:chip"/>
          <p:cNvSpPr/>
          <p:nvPr/>
        </p:nvSpPr>
        <p:spPr>
          <a:xfrm>
            <a:off x="2042033" y="4629658"/>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197481" y="4675378"/>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9" name="vis:chip"/>
          <p:cNvSpPr/>
          <p:nvPr/>
        </p:nvSpPr>
        <p:spPr>
          <a:xfrm>
            <a:off x="3641471" y="462965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796919" y="467537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AI-03  ·  AI Capabilities</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Deepa loses every Monday to formatting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18436"/>
            <a:ext cx="318006" cy="318006"/>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V="1">
            <a:off x="1161288" y="2283483"/>
            <a:ext cx="0" cy="93956"/>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61288" y="2377439"/>
            <a:ext cx="79501" cy="2891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Deepa prepares the MIS pack for a Chennai office. Every Monday she pastes the same 40 rows into a document, rewrites the headings, and turns the numbers into sentences for the management summary. The analysis takes twenty minutes. The formatting takes three hours.</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Three hours a week on shape, not on the numbers themselves.</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The shape work is exactly what these tools do best.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63663"/>
            <a:ext cx="259426" cy="224049"/>
          </a:xfrm>
          <a:prstGeom prst="roundRect">
            <a:avLst>
              <a:gd name="adj" fmla="val 20406"/>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30990" y="2034415"/>
            <a:ext cx="25942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31223" y="1963663"/>
            <a:ext cx="0" cy="224049"/>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990" y="2111064"/>
            <a:ext cx="25942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the four job shapes AI handles well, from memory</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25094" y="2865671"/>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vis:icon"/>
          <p:cNvSpPr/>
          <p:nvPr/>
        </p:nvSpPr>
        <p:spPr>
          <a:xfrm>
            <a:off x="1019431" y="2930527"/>
            <a:ext cx="82544" cy="82544"/>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Look at a task on your desk and tell in ten seconds if it fits</a:t>
            </a:r>
          </a:p>
        </p:txBody>
      </p:sp>
      <p:sp>
        <p:nvSpPr>
          <p:cNvPr id="27"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943035" y="3765789"/>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is:icon"/>
          <p:cNvSpPr/>
          <p:nvPr/>
        </p:nvSpPr>
        <p:spPr>
          <a:xfrm>
            <a:off x="988477" y="3742326"/>
            <a:ext cx="54244" cy="46578"/>
          </a:xfrm>
          <a:custGeom>
            <a:avLst/>
            <a:gdLst/>
            <a:ahLst/>
            <a:cxnLst/>
            <a:rect l="l" t="t" r="r" b="b"/>
            <a:pathLst>
              <a:path w="54244" h="46578">
                <a:moveTo>
                  <a:pt x="54244" y="0"/>
                </a:moveTo>
                <a:lnTo>
                  <a:pt x="26532" y="46578"/>
                </a:lnTo>
                <a:lnTo>
                  <a:pt x="0" y="589"/>
                </a:lnTo>
                <a:close/>
              </a:path>
            </a:pathLst>
          </a:cu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Convert a repeated weekly job into a prompt you reuse</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72263" y="4634310"/>
            <a:ext cx="176881" cy="176881"/>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1013535" y="4834776"/>
            <a:ext cx="9433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1025327" y="4881945"/>
            <a:ext cx="70753"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it to get unstuck instead of staring at a blank page</a:t>
            </a:r>
          </a:p>
        </p:txBody>
      </p:sp>
      <p:sp>
        <p:nvSpPr>
          <p:cNvPr id="38"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925094" y="5530422"/>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vis:icon"/>
          <p:cNvCxnSpPr/>
          <p:nvPr/>
        </p:nvCxnSpPr>
        <p:spPr>
          <a:xfrm>
            <a:off x="1060704" y="5624759"/>
            <a:ext cx="0" cy="73701"/>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2" name="vis:icon"/>
          <p:cNvSpPr/>
          <p:nvPr/>
        </p:nvSpPr>
        <p:spPr>
          <a:xfrm>
            <a:off x="1045963" y="5724992"/>
            <a:ext cx="29480" cy="2948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the tasks that look like a fit and are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job shapes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it is actually good at</a:t>
            </a:r>
          </a:p>
        </p:txBody>
      </p:sp>
      <p:cxnSp>
        <p:nvCxnSpPr>
          <p:cNvPr id="13" name="vis:menuarrow"/>
          <p:cNvCxnSpPr/>
          <p:nvPr/>
        </p:nvCxnSpPr>
        <p:spPr>
          <a:xfrm>
            <a:off x="11213287" y="1997049"/>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Turning shape into time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weekly jobs it removes</a:t>
            </a:r>
          </a:p>
        </p:txBody>
      </p:sp>
      <p:cxnSp>
        <p:nvCxnSpPr>
          <p:cNvPr id="19" name="vis:menuarrow"/>
          <p:cNvCxnSpPr/>
          <p:nvPr/>
        </p:nvCxnSpPr>
        <p:spPr>
          <a:xfrm>
            <a:off x="11213287" y="242498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Getting unstuck</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When you cannot start</a:t>
            </a:r>
          </a:p>
        </p:txBody>
      </p:sp>
      <p:cxnSp>
        <p:nvCxnSpPr>
          <p:cNvPr id="25" name="vis:menuarrow"/>
          <p:cNvCxnSpPr/>
          <p:nvPr/>
        </p:nvCxnSpPr>
        <p:spPr>
          <a:xfrm>
            <a:off x="11213287" y="285292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Spot one on your desk</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ten-second test</a:t>
            </a:r>
          </a:p>
        </p:txBody>
      </p:sp>
      <p:cxnSp>
        <p:nvCxnSpPr>
          <p:cNvPr id="31" name="vis:menuarrow"/>
          <p:cNvCxnSpPr/>
          <p:nvPr/>
        </p:nvCxnSpPr>
        <p:spPr>
          <a:xfrm>
            <a:off x="11213287" y="3280867"/>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the value stops</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Fits that are not fits</a:t>
            </a:r>
          </a:p>
        </p:txBody>
      </p:sp>
      <p:cxnSp>
        <p:nvCxnSpPr>
          <p:cNvPr id="37" name="vis:menuarrow"/>
          <p:cNvCxnSpPr/>
          <p:nvPr/>
        </p:nvCxnSpPr>
        <p:spPr>
          <a:xfrm>
            <a:off x="11213287" y="3708806"/>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14-minute tour of real uses</a:t>
            </a:r>
          </a:p>
        </p:txBody>
      </p:sp>
      <p:cxnSp>
        <p:nvCxnSpPr>
          <p:cNvPr id="49" name="vis:menuarrow"/>
          <p:cNvCxnSpPr/>
          <p:nvPr/>
        </p:nvCxnSpPr>
        <p:spPr>
          <a:xfrm>
            <a:off x="11213287" y="456468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FOUR JOB SHAPES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shapes it handles well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Almost every useful AI task at work is one of these four. None of them require it to know anything.</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TURN INTO — facts into sentences, notes into a report</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SHORTEN — twelve pages into the six lines that matter</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RESHAPE — a paragraph into a table, formal into plain</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GENERATE OPTIONS — ten subject lines, five ways to say 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FOUR JOB SHAPES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they have in common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You already hold the facts</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Nothing has to be looked up by the tool.</a:t>
            </a:r>
          </a:p>
        </p:txBody>
      </p:sp>
      <p:cxnSp>
        <p:nvCxnSpPr>
          <p:cNvPr id="20" name="vis:flowarrow"/>
          <p:cNvCxnSpPr/>
          <p:nvPr/>
        </p:nvCxnSpPr>
        <p:spPr>
          <a:xfrm>
            <a:off x="3093643" y="3182111"/>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work is language</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Wording, ordering, length, tone, layout.</a:t>
            </a:r>
          </a:p>
        </p:txBody>
      </p:sp>
      <p:cxnSp>
        <p:nvCxnSpPr>
          <p:cNvPr id="26" name="vis:flowarrow"/>
          <p:cNvCxnSpPr/>
          <p:nvPr/>
        </p:nvCxnSpPr>
        <p:spPr>
          <a:xfrm>
            <a:off x="5986119" y="3182111"/>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can check it fast</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line traces back to something you supplied.</a:t>
            </a:r>
          </a:p>
        </p:txBody>
      </p:sp>
      <p:cxnSp>
        <p:nvCxnSpPr>
          <p:cNvPr id="32" name="vis:flowarrow"/>
          <p:cNvCxnSpPr/>
          <p:nvPr/>
        </p:nvCxnSpPr>
        <p:spPr>
          <a:xfrm>
            <a:off x="8878595" y="3182111"/>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risk is low</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worst case is a clumsy draft, not a wrong fact.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TURNING SHAPE INTO TIME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weekly jobs it removes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96871" y="2190229"/>
            <a:ext cx="219104" cy="301269"/>
          </a:xfrm>
          <a:prstGeom prst="roundRect">
            <a:avLst>
              <a:gd name="adj" fmla="val 20866"/>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86087"/>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44800" y="2340863"/>
            <a:ext cx="123247"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44800" y="2395640"/>
            <a:ext cx="82165"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recurring write-up</a:t>
            </a:r>
          </a:p>
        </p:txBody>
      </p:sp>
      <p:sp>
        <p:nvSpPr>
          <p:cNvPr id="22"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weekly delay note, a monthly summary, a site visit report. Same shape, new facts each time.</a:t>
            </a:r>
          </a:p>
        </p:txBody>
      </p:sp>
      <p:sp>
        <p:nvSpPr>
          <p:cNvPr id="23"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75847" y="2210770"/>
            <a:ext cx="301269" cy="260187"/>
          </a:xfrm>
          <a:prstGeom prst="roundRect">
            <a:avLst>
              <a:gd name="adj" fmla="val 1757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775847" y="2292934"/>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892247" y="2210770"/>
            <a:ext cx="0" cy="26018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a:off x="4775847" y="2381946"/>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9"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reformat</a:t>
            </a:r>
          </a:p>
        </p:txBody>
      </p:sp>
      <p:sp>
        <p:nvSpPr>
          <p:cNvPr id="30"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Rows into prose. Prose into a table. A long thread into a decision list.</a:t>
            </a:r>
          </a:p>
        </p:txBody>
      </p:sp>
      <p:sp>
        <p:nvSpPr>
          <p:cNvPr id="31"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595906" y="2238158"/>
            <a:ext cx="301269" cy="205410"/>
          </a:xfrm>
          <a:prstGeom prst="roundRect">
            <a:avLst>
              <a:gd name="adj" fmla="val 2225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595906" y="2251852"/>
            <a:ext cx="150634" cy="10955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8746540" y="2251852"/>
            <a:ext cx="150635" cy="10955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6"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awkward reply</a:t>
            </a:r>
          </a:p>
        </p:txBody>
      </p:sp>
      <p:sp>
        <p:nvSpPr>
          <p:cNvPr id="37"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Chasing a payment, refusing a request, apologising without accepting blame.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TURNING SHAPE INTO TIME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Deepa's three hours, in one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romptcard"/>
          <p:cNvSpPr/>
          <p:nvPr/>
        </p:nvSpPr>
        <p:spPr>
          <a:xfrm>
            <a:off x="502920" y="1719072"/>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these figures into a 150-word management summary. State the three biggest movements and nothing else. Do not add causes I have not given you. Figures: dispatches 412 against a plan of 460; rejections 2.1 per cent against 1.4 last month; overtime hours 380 against 250.</a:t>
            </a:r>
          </a:p>
        </p:txBody>
      </p:sp>
      <p:sp>
        <p:nvSpPr>
          <p:cNvPr id="28" name="vis:promptcap"/>
          <p:cNvSpPr txBox="1"/>
          <p:nvPr/>
        </p:nvSpPr>
        <p:spPr>
          <a:xfrm>
            <a:off x="777240" y="385571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Paste it as written, then swap in your own figures.</a:t>
            </a:r>
          </a:p>
        </p:txBody>
      </p:sp>
      <p:sp>
        <p:nvSpPr>
          <p:cNvPr id="29" name="vis:outcard"/>
          <p:cNvSpPr/>
          <p:nvPr/>
        </p:nvSpPr>
        <p:spPr>
          <a:xfrm>
            <a:off x="6685324" y="1719072"/>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609087"/>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150-word summary naming the three movements, in the order you listed them.</a:t>
            </a:r>
          </a:p>
          <a:p>
            <a:pPr algn="l">
              <a:lnSpc>
                <a:spcPts val="1690"/>
              </a:lnSpc>
              <a:spcBef>
                <a:spcPts val="0"/>
              </a:spcBef>
              <a:spcAft>
                <a:spcPts val="600"/>
              </a:spcAft>
            </a:pPr>
            <a:r>
              <a:rPr sz="1300" b="0">
                <a:solidFill>
                  <a:srgbClr val="2A3547"/>
                </a:solidFill>
                <a:latin typeface="Segoe UI"/>
              </a:rPr>
              <a:t>No invented causes, because you told it not to add any.</a:t>
            </a:r>
          </a:p>
          <a:p>
            <a:pPr algn="l">
              <a:lnSpc>
                <a:spcPts val="1690"/>
              </a:lnSpc>
              <a:spcBef>
                <a:spcPts val="0"/>
              </a:spcBef>
              <a:spcAft>
                <a:spcPts val="600"/>
              </a:spcAft>
            </a:pPr>
            <a:r>
              <a:rPr sz="1300" b="0">
                <a:solidFill>
                  <a:srgbClr val="2A3547"/>
                </a:solidFill>
                <a:latin typeface="Segoe UI"/>
              </a:rPr>
              <a:t>Three hours of formatting becomes ten minutes of checking.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GETTING UNSTUCK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you cannot start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blank page costs more time than a bad draft ever will. This is the cheapest use of all.</a:t>
            </a:r>
          </a:p>
        </p:txBody>
      </p:sp>
      <p:sp>
        <p:nvSpPr>
          <p:cNvPr id="16" name="vis:promptcard"/>
          <p:cNvSpPr/>
          <p:nvPr/>
        </p:nvSpPr>
        <p:spPr>
          <a:xfrm>
            <a:off x="502920" y="270662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unblocking prompt</a:t>
            </a:r>
          </a:p>
        </p:txBody>
      </p:sp>
      <p:sp>
        <p:nvSpPr>
          <p:cNvPr id="28" name="card:prompt"/>
          <p:cNvSpPr txBox="1"/>
          <p:nvPr/>
        </p:nvSpPr>
        <p:spPr>
          <a:xfrm>
            <a:off x="777240" y="325526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have to write a proposal for a client who wants faster delivery at the same price. I do not know how to structure it. Give me a five-part outline with one line describing what goes in each part. Do not write the proposal itself.</a:t>
            </a:r>
          </a:p>
        </p:txBody>
      </p:sp>
      <p:sp>
        <p:nvSpPr>
          <p:cNvPr id="29" name="vis:promptcap"/>
          <p:cNvSpPr txBox="1"/>
          <p:nvPr/>
        </p:nvSpPr>
        <p:spPr>
          <a:xfrm>
            <a:off x="777240" y="438099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Ask for the structure first. Write the content yourself.</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An outline is judgement you can check in seconds.</a:t>
            </a:r>
          </a:p>
        </p:txBody>
      </p:sp>
      <p:cxnSp>
        <p:nvCxnSpPr>
          <p:cNvPr id="34" name="vis:icon"/>
          <p:cNvCxnSpPr/>
          <p:nvPr/>
        </p:nvCxnSpPr>
        <p:spPr>
          <a:xfrm>
            <a:off x="7850361" y="4237695"/>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cannot invent facts if you asked only for headings.</a:t>
            </a:r>
          </a:p>
        </p:txBody>
      </p:sp>
      <p:cxnSp>
        <p:nvCxnSpPr>
          <p:cNvPr id="37" name="vis:icon"/>
          <p:cNvCxnSpPr/>
          <p:nvPr/>
        </p:nvCxnSpPr>
        <p:spPr>
          <a:xfrm>
            <a:off x="7850361" y="5170383"/>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start writing from part two, not from nothing.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GETTING UNSTUCK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unblocking moves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9212" y="2214193"/>
            <a:ext cx="47929" cy="47929"/>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44800" y="2238158"/>
            <a:ext cx="212258"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959212" y="2316899"/>
            <a:ext cx="47929" cy="47929"/>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44800" y="2340863"/>
            <a:ext cx="212258"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1" name="vis:icon"/>
          <p:cNvSpPr/>
          <p:nvPr/>
        </p:nvSpPr>
        <p:spPr>
          <a:xfrm>
            <a:off x="959212" y="2419604"/>
            <a:ext cx="47929" cy="47929"/>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1044800" y="2443569"/>
            <a:ext cx="212258"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3"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a structure</a:t>
            </a:r>
          </a:p>
        </p:txBody>
      </p:sp>
      <p:sp>
        <p:nvSpPr>
          <p:cNvPr id="24"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"Give me a five-part outline." You keep every decision that matters.</a:t>
            </a:r>
          </a:p>
        </p:txBody>
      </p:sp>
      <p:sp>
        <p:nvSpPr>
          <p:cNvPr id="25"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782694" y="2217617"/>
            <a:ext cx="287575" cy="191716"/>
          </a:xfrm>
          <a:prstGeom prst="roundRect">
            <a:avLst>
              <a:gd name="adj" fmla="val 2384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flipH="1">
            <a:off x="4837471" y="2409334"/>
            <a:ext cx="13694" cy="7531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4837471" y="2409334"/>
            <a:ext cx="75317" cy="7531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0"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the questions</a:t>
            </a:r>
          </a:p>
        </p:txBody>
      </p:sp>
      <p:sp>
        <p:nvSpPr>
          <p:cNvPr id="31"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should I ask this supplier before I agree?" A checklist beats a blank page.</a:t>
            </a:r>
          </a:p>
        </p:txBody>
      </p:sp>
      <p:sp>
        <p:nvSpPr>
          <p:cNvPr id="32"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8643835" y="2190229"/>
            <a:ext cx="205410" cy="205410"/>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691764" y="2423028"/>
            <a:ext cx="109553"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8705458" y="2477804"/>
            <a:ext cx="8216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Ask for ten, keep one</a:t>
            </a:r>
          </a:p>
        </p:txBody>
      </p:sp>
      <p:sp>
        <p:nvSpPr>
          <p:cNvPr id="38"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"Ten subject lines for this email." Choosing is far faster than inventing.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SPOT ONE ON YOUR DESK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ten-second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I already know everything the answer needs?</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Poor fit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are asking it to supply a fact it has no access to. It will produce one anyway. Go to the system, the file or the person instead.</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Good fit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are asking for language, not for knowledge. Give it your facts, set the length and tone, and check the draft against what you typed.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SPOT ONE ON YOUR DESK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find one job</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pnum"/>
          <p:cNvSpPr/>
          <p:nvPr/>
        </p:nvSpPr>
        <p:spPr>
          <a:xfrm>
            <a:off x="502920" y="2027681"/>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Look at your calendar for last week.</a:t>
            </a:r>
          </a:p>
        </p:txBody>
      </p:sp>
      <p:sp>
        <p:nvSpPr>
          <p:cNvPr id="19" name="vis:stepnum"/>
          <p:cNvSpPr/>
          <p:nvPr/>
        </p:nvSpPr>
        <p:spPr>
          <a:xfrm>
            <a:off x="502920" y="3138677"/>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one task you did that was mostly typing, not deciding.</a:t>
            </a:r>
          </a:p>
        </p:txBody>
      </p:sp>
      <p:sp>
        <p:nvSpPr>
          <p:cNvPr id="23" name="vis:stepnum"/>
          <p:cNvSpPr/>
          <p:nvPr/>
        </p:nvSpPr>
        <p:spPr>
          <a:xfrm>
            <a:off x="502920" y="4249674"/>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the facts you had before you started it.</a:t>
            </a:r>
          </a:p>
        </p:txBody>
      </p:sp>
      <p:sp>
        <p:nvSpPr>
          <p:cNvPr id="27" name="vis:stepnum"/>
          <p:cNvSpPr/>
          <p:nvPr/>
        </p:nvSpPr>
        <p:spPr>
          <a:xfrm>
            <a:off x="502920" y="5360670"/>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the prompt on the right, with those facts in it.</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am going to give you facts and I want you to write the document. Do not add anything I have not told you. If something important is missing, list the questions at the end instead of guessing. Here are the facts:</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last sentence is what stops it inventing. Keep it in every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Fits that are not fits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87726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5663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LOOKS LIKE A FIT</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But it is not</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"Summarise our contract with this supplier"</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is the current rate for this material?"</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"Is this clause enforceable in the UAE?"</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"How many units did we ship last month?"</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77165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46075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ACTUALLY A FIT</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Same job, reframed</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"Draft questions to ask before I sign this"</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"Word this rate request to the supplier"</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"List what I should ask our lawyer"</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"Turn these shipment figures into a summary"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reframe that rescues a task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Most poor-fit tasks become good-fit tasks if you move the knowledge back to your side.</a:t>
            </a:r>
          </a:p>
        </p:txBody>
      </p:sp>
      <p:sp>
        <p:nvSpPr>
          <p:cNvPr id="16" name="vis:outcard"/>
          <p:cNvSpPr/>
          <p:nvPr/>
        </p:nvSpPr>
        <p:spPr>
          <a:xfrm>
            <a:off x="502920"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outspine"/>
          <p:cNvSpPr/>
          <p:nvPr/>
        </p:nvSpPr>
        <p:spPr>
          <a:xfrm>
            <a:off x="502920" y="2706624"/>
            <a:ext cx="68580" cy="2743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58952" y="2907792"/>
            <a:ext cx="215534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14400" y="2935224"/>
            <a:ext cx="184444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IT TO KNOW</a:t>
            </a:r>
          </a:p>
        </p:txBody>
      </p:sp>
      <p:sp>
        <p:nvSpPr>
          <p:cNvPr id="20" name="vis:outbody"/>
          <p:cNvSpPr txBox="1"/>
          <p:nvPr/>
        </p:nvSpPr>
        <p:spPr>
          <a:xfrm>
            <a:off x="758952"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"What does our late-delivery penalty clause say?"</a:t>
            </a:r>
          </a:p>
          <a:p>
            <a:pPr algn="l">
              <a:lnSpc>
                <a:spcPts val="1690"/>
              </a:lnSpc>
              <a:spcBef>
                <a:spcPts val="0"/>
              </a:spcBef>
              <a:spcAft>
                <a:spcPts val="600"/>
              </a:spcAft>
            </a:pPr>
            <a:r>
              <a:rPr sz="1300" b="0">
                <a:solidFill>
                  <a:srgbClr val="2A3547"/>
                </a:solidFill>
                <a:latin typeface="Segoe UI"/>
              </a:rPr>
              <a:t>It produces a clause. The clause sounds standard and reasonable.</a:t>
            </a:r>
          </a:p>
          <a:p>
            <a:pPr algn="l">
              <a:lnSpc>
                <a:spcPts val="1690"/>
              </a:lnSpc>
              <a:spcBef>
                <a:spcPts val="0"/>
              </a:spcBef>
              <a:spcAft>
                <a:spcPts val="600"/>
              </a:spcAft>
            </a:pPr>
            <a:r>
              <a:rPr sz="1300" b="0">
                <a:solidFill>
                  <a:srgbClr val="2A3547"/>
                </a:solidFill>
                <a:latin typeface="Segoe UI"/>
              </a:rPr>
              <a:t>It is not your clause, and nothing on screen tells you that.</a:t>
            </a:r>
          </a:p>
        </p:txBody>
      </p:sp>
      <p:sp>
        <p:nvSpPr>
          <p:cNvPr id="21" name="vis:outcard"/>
          <p:cNvSpPr/>
          <p:nvPr/>
        </p:nvSpPr>
        <p:spPr>
          <a:xfrm>
            <a:off x="6278727" y="2706624"/>
            <a:ext cx="5410047" cy="2743200"/>
          </a:xfrm>
          <a:prstGeom prst="roundRect">
            <a:avLst>
              <a:gd name="adj" fmla="val 333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outspine"/>
          <p:cNvSpPr/>
          <p:nvPr/>
        </p:nvSpPr>
        <p:spPr>
          <a:xfrm>
            <a:off x="6278727" y="2706624"/>
            <a:ext cx="68580" cy="274320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
          <p:cNvSpPr/>
          <p:nvPr/>
        </p:nvSpPr>
        <p:spPr>
          <a:xfrm>
            <a:off x="6534759" y="2907792"/>
            <a:ext cx="21445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6690207" y="2935224"/>
            <a:ext cx="18336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ASKING IT TO WRITE</a:t>
            </a:r>
          </a:p>
        </p:txBody>
      </p:sp>
      <p:sp>
        <p:nvSpPr>
          <p:cNvPr id="25" name="vis:outbody"/>
          <p:cNvSpPr txBox="1"/>
          <p:nvPr/>
        </p:nvSpPr>
        <p:spPr>
          <a:xfrm>
            <a:off x="6534759" y="3346704"/>
            <a:ext cx="4897983" cy="188366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open the contract and read the clause yourself.</a:t>
            </a:r>
          </a:p>
          <a:p>
            <a:pPr algn="l">
              <a:lnSpc>
                <a:spcPts val="1690"/>
              </a:lnSpc>
              <a:spcBef>
                <a:spcPts val="0"/>
              </a:spcBef>
              <a:spcAft>
                <a:spcPts val="600"/>
              </a:spcAft>
            </a:pPr>
            <a:r>
              <a:rPr sz="1300" b="0">
                <a:solidFill>
                  <a:srgbClr val="2A3547"/>
                </a:solidFill>
                <a:latin typeface="Segoe UI"/>
              </a:rPr>
              <a:t>"Explain this clause in plain English for a customer."</a:t>
            </a:r>
          </a:p>
          <a:p>
            <a:pPr algn="l">
              <a:lnSpc>
                <a:spcPts val="1690"/>
              </a:lnSpc>
              <a:spcBef>
                <a:spcPts val="0"/>
              </a:spcBef>
              <a:spcAft>
                <a:spcPts val="600"/>
              </a:spcAft>
            </a:pPr>
            <a:r>
              <a:rPr sz="1300" b="0">
                <a:solidFill>
                  <a:srgbClr val="2A3547"/>
                </a:solidFill>
                <a:latin typeface="Segoe UI"/>
              </a:rPr>
              <a:t>You get a clear explanation of the words you actually pasted.</a:t>
            </a:r>
          </a:p>
        </p:txBody>
      </p:sp>
      <p:sp>
        <p:nvSpPr>
          <p:cNvPr id="26" name="cell:banote"/>
          <p:cNvSpPr txBox="1"/>
          <p:nvPr/>
        </p:nvSpPr>
        <p:spPr>
          <a:xfrm>
            <a:off x="502920" y="5632704"/>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Move the knowing to your side of the desk. Leave the wording on its side.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checks before you rely on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Every fact in the output appeared somewhere in my input.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Nothing has been added that I would have to defend.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numbers match the source I copied them from.</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 could explain where each line came from, if asked.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it as a search engine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answers rather than admitting it cannot look things up. The answer looks identical either way.</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Giving it three words and expecting judgement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matches the effort you put in. Four words in gives you a form letter back.</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it to decide, not to draft</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carries none of the consequences, so it will agree with whatever you seem to want.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Redoing the same prompt every week</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weekly job is the one worth saving. Store it once and refill the facts.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Not saying "do not add anything"</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that line it will fill every gap it finds, and the gaps are invisible to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use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Same job, less time</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three-hour formatting job becomes ten minutes of checking. The judgement stays with you.</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4803235" y="2347711"/>
            <a:ext cx="89012" cy="89011"/>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4892247" y="2245005"/>
            <a:ext cx="164328" cy="19171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Same quality, less strain</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English you are not fully confident in stops being the reason a good point lands badly.</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09893" y="2222270"/>
            <a:ext cx="273295" cy="255534"/>
          </a:xfrm>
          <a:custGeom>
            <a:avLst/>
            <a:gdLst/>
            <a:ahLst/>
            <a:cxnLst/>
            <a:rect l="l" t="t" r="r" b="b"/>
            <a:pathLst>
              <a:path w="273295" h="255534">
                <a:moveTo>
                  <a:pt x="205118" y="0"/>
                </a:moveTo>
                <a:lnTo>
                  <a:pt x="239605" y="28302"/>
                </a:lnTo>
                <a:lnTo>
                  <a:pt x="263164" y="66189"/>
                </a:lnTo>
                <a:lnTo>
                  <a:pt x="273295" y="109637"/>
                </a:lnTo>
                <a:lnTo>
                  <a:pt x="268922" y="154036"/>
                </a:lnTo>
                <a:lnTo>
                  <a:pt x="250509" y="194674"/>
                </a:lnTo>
                <a:lnTo>
                  <a:pt x="220011" y="227236"/>
                </a:lnTo>
                <a:lnTo>
                  <a:pt x="180665" y="248267"/>
                </a:lnTo>
                <a:lnTo>
                  <a:pt x="136647" y="255534"/>
                </a:lnTo>
                <a:lnTo>
                  <a:pt x="92629" y="248267"/>
                </a:lnTo>
                <a:lnTo>
                  <a:pt x="53283" y="227236"/>
                </a:lnTo>
                <a:lnTo>
                  <a:pt x="22785" y="194674"/>
                </a:lnTo>
                <a:lnTo>
                  <a:pt x="4373" y="154036"/>
                </a:lnTo>
                <a:lnTo>
                  <a:pt x="0" y="109637"/>
                </a:lnTo>
                <a:lnTo>
                  <a:pt x="10131" y="66189"/>
                </a:lnTo>
                <a:lnTo>
                  <a:pt x="33690" y="28302"/>
                </a:lnTo>
                <a:lnTo>
                  <a:pt x="68177" y="0"/>
                </a:lnTo>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s:icon"/>
          <p:cNvSpPr/>
          <p:nvPr/>
        </p:nvSpPr>
        <p:spPr>
          <a:xfrm>
            <a:off x="8662664" y="2195022"/>
            <a:ext cx="62993" cy="54091"/>
          </a:xfrm>
          <a:custGeom>
            <a:avLst/>
            <a:gdLst/>
            <a:ahLst/>
            <a:cxnLst/>
            <a:rect l="l" t="t" r="r" b="b"/>
            <a:pathLst>
              <a:path w="62993" h="54091">
                <a:moveTo>
                  <a:pt x="62993" y="0"/>
                </a:moveTo>
                <a:lnTo>
                  <a:pt x="30812" y="54091"/>
                </a:lnTo>
                <a:lnTo>
                  <a:pt x="0" y="685"/>
                </a:lnTo>
                <a:close/>
              </a:path>
            </a:pathLst>
          </a:cu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Better on the second try</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You keep the prompt that worked, so next week starts where this week finished.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 VALUE STOPS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capability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alertband"/>
          <p:cNvSpPr/>
          <p:nvPr/>
        </p:nvSpPr>
        <p:spPr>
          <a:xfrm>
            <a:off x="0" y="1719072"/>
            <a:ext cx="12191695" cy="96012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It is excellent at language and useless at knowing. Match your task to that.</a:t>
            </a:r>
          </a:p>
          <a:p>
            <a:pPr algn="l">
              <a:lnSpc>
                <a:spcPts val="1755"/>
              </a:lnSpc>
              <a:spcBef>
                <a:spcPts val="0"/>
              </a:spcBef>
              <a:spcAft>
                <a:spcPts val="0"/>
              </a:spcAft>
            </a:pPr>
            <a:r>
              <a:rPr sz="1350" b="0">
                <a:solidFill>
                  <a:srgbClr val="FFFFFF"/>
                </a:solidFill>
                <a:latin typeface="Segoe UI"/>
              </a:rPr>
              <a:t>Every good use and every bad use of these tools comes back to this one line.</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Language work — give it to the tool.</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Knowledge work — keep it on your side.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Judgement work — that is your job, always.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8:50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MIS pack is due at noon. You have the figures in a spreadsheet and a blank management summary to write. Your manager wants to know why rejections rose.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figures and ask it to explain why rejections rose.</a:t>
            </a:r>
          </a:p>
        </p:txBody>
      </p:sp>
      <p:cxnSp>
        <p:nvCxnSpPr>
          <p:cNvPr id="23" name="vis:choicearrow"/>
          <p:cNvCxnSpPr/>
          <p:nvPr/>
        </p:nvCxnSpPr>
        <p:spPr>
          <a:xfrm>
            <a:off x="758952"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it to state the three biggest movements, with no causes added.</a:t>
            </a:r>
          </a:p>
        </p:txBody>
      </p:sp>
      <p:cxnSp>
        <p:nvCxnSpPr>
          <p:cNvPr id="29" name="vis:choicearrow"/>
          <p:cNvCxnSpPr/>
          <p:nvPr/>
        </p:nvCxnSpPr>
        <p:spPr>
          <a:xfrm>
            <a:off x="4566818"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the whole summary by hand, as always.</a:t>
            </a:r>
          </a:p>
        </p:txBody>
      </p:sp>
      <p:cxnSp>
        <p:nvCxnSpPr>
          <p:cNvPr id="35" name="vis:choicearrow"/>
          <p:cNvCxnSpPr/>
          <p:nvPr/>
        </p:nvCxnSpPr>
        <p:spPr>
          <a:xfrm>
            <a:off x="8374684"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will give you a reason. It has none.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produces three plausible causes — a supplier change, an operator training gap, a seasonal effect. None came from your data, because your data contains no causes. Your manager acts on the first one.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can describe what the numbers do. It cannot know why they did it.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Exactly the right division of labour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a clean 150-word summary of what changed, in the order you gave it. You then spend fifteen minutes on the part only you can do — calling the line supervisor to find out why. The pack goes out at 11:20.</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Let it describe. Do the explaining yourself.</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will be fine. It will also be noon.</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summary is good, because you know the numbers. It also takes three hours, and the three hours went on sentence construction rather than on the rejection question your manager actually asked about.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Spend your hours on the part that needs you.</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Fourteen minutes of real uses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7 Life-Changing Uses of AI I Wish I Knew Earlier</a:t>
            </a:r>
          </a:p>
        </p:txBody>
      </p:sp>
      <p:sp>
        <p:nvSpPr>
          <p:cNvPr id="19" name="vis:chip"/>
          <p:cNvSpPr/>
          <p:nvPr/>
        </p:nvSpPr>
        <p:spPr>
          <a:xfrm>
            <a:off x="868680" y="3858768"/>
            <a:ext cx="1945110"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342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KEVIN STRATVERT</a:t>
            </a:r>
          </a:p>
        </p:txBody>
      </p:sp>
      <p:sp>
        <p:nvSpPr>
          <p:cNvPr id="21" name="vis:chip"/>
          <p:cNvSpPr/>
          <p:nvPr/>
        </p:nvSpPr>
        <p:spPr>
          <a:xfrm>
            <a:off x="2960094" y="3858768"/>
            <a:ext cx="1305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15542" y="3895344"/>
            <a:ext cx="994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14:29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It shows tools rather than the method — the method is in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four job shapes above are the method.</a:t>
            </a:r>
          </a:p>
        </p:txBody>
      </p:sp>
      <p:cxnSp>
        <p:nvCxnSpPr>
          <p:cNvPr id="35" name="vis:icon"/>
          <p:cNvCxnSpPr/>
          <p:nvPr/>
        </p:nvCxnSpPr>
        <p:spPr>
          <a:xfrm>
            <a:off x="8439424" y="3743919"/>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for seeing what other people actually do with it.</a:t>
            </a:r>
          </a:p>
        </p:txBody>
      </p:sp>
      <p:cxnSp>
        <p:nvCxnSpPr>
          <p:cNvPr id="38" name="vis:icon"/>
          <p:cNvCxnSpPr/>
          <p:nvPr/>
        </p:nvCxnSpPr>
        <p:spPr>
          <a:xfrm>
            <a:off x="8439424" y="4859487"/>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of these is a good fit?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"Summarise our supplier contract"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"Turn these six figures into a short summary"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did we quote this customer last year?"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"Should we drop this product 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"Summarise our supplier contract"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never seen the contract. It will produce a summary of a typical supplier contract, which reads convincingly and describes an agreement you do not have.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Language work fits. Knowledge work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"Turn these six figures into a short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supplied every number. The only work left is language, and you can check each sentence against your own figures in under a minute.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Language work fits. Knowledge work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"What did we quote this customer last year?"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lives in your system, not in the model. Asking here produces a number with no source, which is worse than no number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Language work fits. Knowledge work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"Should we drop this product 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judgement with money attached, and it holds none of the history and none of the consequences. Ask it for the questions to consider, never for the decision.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Language work fits. Knowledge work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task a poor fit?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task is long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needs a fact you did not supply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task is boring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 have done it before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task is long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not the problem. A twelve-page document you paste in is a perfectly good fit, because you have supplied everything it needs.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has to know something you did not tell it,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needs a fact you did not supply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whole test. Anything it must know rather than write is a gap, and gaps get filled with plausible inventions rather than left blank.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has to know something you did not tell it,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task is boring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Boring and repetitive is the ideal case, not the problem. The weekly reformat is exactly the job worth handing over.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has to know something you did not tell it,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You have done it before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Having done it before is an advantage — you already know what good looks like, so you can check the draft in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it has to know something you did not tell it, stop.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line stops it inventing?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You are writing a prompt that hands over a set of facts and asks for a document back.</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"Please be accurate"</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"Do not add anything I have not given you"</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"Use only reliable sources"</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"Check your answer before replying"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"Please be accurate"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way to act on that. It cannot tell which of its own sentences are accurate, so asking for accuracy changes nothing about the output.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 not add anything I have not told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"Do not add anything I have not given you"</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the single most useful line in any work prompt. It converts silent gap-filling into visible gaps, which you can then fill correctly yourself.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 not add anything I have not told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"Use only reliable sources"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are no sources involved. It is not consulting anything, so instructing it about source quality is instructing it about something that does not happen.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 not add anything I have not told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"Check your answer before replying"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generate text that says it has checked. That is not the same as checking, and there is nothing for it to check against.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"Do not add anything I have not told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blank page problem. Best move?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it to write the whole proposal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a five-part outline and write it yourself</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Wait until you feel clearer about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Copy last year's proposal and edit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it to write the whole proposal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600 confident words about a client you have not described. Almost all of it will need replacing, and spotting what to replace takes longer than writing.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the structure. Write the content.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Ask for a five-part outline and write it yourself</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outline is pure structure — no facts to invent. You can judge it in ten seconds, and then you are starting from part two instead of from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the structure. Write the content.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Wait until you feel clearer about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blank page rarely improves with time. This is the cheapest and lowest-risk use of the tool there is, and it costs you thirty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the structure. Write the content.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Copy last year's proposal and edit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Often reasonable, but it drags last year's assumptions in with it. Those are much harder to spot than a fresh outline you actively agreed with.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the structure. Write the content.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stay entirely yours?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wording of a difficult email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decision and the reason behind 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layout of a table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length of a summary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wording of a difficult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Wording is exactly what to hand over. You decide what the email must achieve; the tool finds a clean way to say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with the tool. Decide without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decision and the reason behind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carries no consequences, holds none of the history, and will agree with whatever you seem to want. The decision, and your reason for it, stay on your side of the desk.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with the tool. Decide without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layout of a table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Pure shape work. Name your columns, say "no extra commentary", and you get something you can paste straight into a document.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with the tool. Decide without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length of a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Say the number and it obeys. Length is one of the easiest and most valuable things to hand over.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with the tool. Decide without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AI Capabilities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shapes it does well</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Turn into, shorten, reshape, generate options. All language, no knowledge.</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ten-second test</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Do I already know everything the answer needs? If no, it is a poor fit.</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Reframe a poor fit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Move the knowing to your side. Ask it to write, never to know.</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line that stops invention</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"Do not add anything I have not given you." Put it in every prompt.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Save the weekly job</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task you repeat is the one worth turning into a stored prompt.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Judgement stays with you</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can describe what happened. It cannot know why, and it carries no consequences.</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7688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210"/>
              </a:lnSpc>
              <a:spcBef>
                <a:spcPts val="0"/>
              </a:spcBef>
              <a:spcAft>
                <a:spcPts val="0"/>
              </a:spcAft>
            </a:pPr>
            <a:r>
              <a:rPr sz="1700" b="0">
                <a:solidFill>
                  <a:srgbClr val="FFFFFF"/>
                </a:solidFill>
                <a:latin typeface="Segoe UI Semibold"/>
              </a:rPr>
              <a:t>It is excellent at language and useless at knowing. Every good use of it starts from that one sentence.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398176"/>
            <a:ext cx="234320" cy="202367"/>
          </a:xfrm>
          <a:prstGeom prst="roundRect">
            <a:avLst>
              <a:gd name="adj" fmla="val 22592"/>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62081"/>
            <a:ext cx="234321"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51780" y="2398176"/>
            <a:ext cx="0" cy="20236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861247" y="2531312"/>
            <a:ext cx="234321"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figures-into-summary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movements, no invented causes, 150 words.</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63910" y="3303046"/>
            <a:ext cx="37278" cy="3727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930478" y="3321686"/>
            <a:ext cx="165090"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8" name="vis:icon"/>
          <p:cNvSpPr/>
          <p:nvPr/>
        </p:nvSpPr>
        <p:spPr>
          <a:xfrm>
            <a:off x="863910" y="3382928"/>
            <a:ext cx="37278" cy="3727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930478" y="3401568"/>
            <a:ext cx="165090"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863910" y="3462810"/>
            <a:ext cx="37278" cy="3727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30478" y="3481449"/>
            <a:ext cx="165090"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2"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outline prompt</a:t>
            </a:r>
          </a:p>
        </p:txBody>
      </p:sp>
      <p:sp>
        <p:nvSpPr>
          <p:cNvPr id="33"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parts, one line each, and nothing written for you.</a:t>
            </a:r>
          </a:p>
        </p:txBody>
      </p:sp>
      <p:sp>
        <p:nvSpPr>
          <p:cNvPr id="34"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863910" y="4183953"/>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no-invention line</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"Do not add anything I have not given you."</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copilot.microsoft.com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chatgpt.com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AI-04, AI Limitations. It covers the places these tools break, why they break there, and what to reach for instead.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AI-03  ·  AI Capabilities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Capability</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Something the tool can reliably do. Here it means language work, not knowledge work.</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the request plus the facts you supply.</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invented answer. Usually a name, a number, a date or a policy.</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background you give so the tool knows who the text is for and why.</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Model</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trained system behind the app you are typing into.</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