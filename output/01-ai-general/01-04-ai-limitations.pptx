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9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49.xml"/><Relationship Id="rId11" Type="http://schemas.openxmlformats.org/officeDocument/2006/relationships/slide" Target="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CB7NNsI27ks" TargetMode="External"/><Relationship Id="rId3" Type="http://schemas.openxmlformats.org/officeDocument/2006/relationships/slide" Target="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" Target="slide27.xml"/><Relationship Id="rId6" Type="http://schemas.openxmlformats.org/officeDocument/2006/relationships/slide" Target="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0.xml"/><Relationship Id="rId4" Type="http://schemas.openxmlformats.org/officeDocument/2006/relationships/slide" Target="slide41.xml"/><Relationship Id="rId5" Type="http://schemas.openxmlformats.org/officeDocument/2006/relationships/slide" Target="slide42.xml"/><Relationship Id="rId6" Type="http://schemas.openxmlformats.org/officeDocument/2006/relationships/slide" Target="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slide" Target="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pilot.microsoft.com" TargetMode="External"/><Relationship Id="rId3" Type="http://schemas.openxmlformats.org/officeDocument/2006/relationships/hyperlink" Target="https://chatgpt.com" TargetMode="External"/><Relationship Id="rId4" Type="http://schemas.openxmlformats.org/officeDocument/2006/relationships/hyperlink" Target="https://gemini.google.com" TargetMode="External"/><Relationship Id="rId5" Type="http://schemas.openxmlformats.org/officeDocument/2006/relationships/slide" Target="slide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vis:coverlayer"/>
          <p:cNvSpPr/>
          <p:nvPr/>
        </p:nvSpPr>
        <p:spPr>
          <a:xfrm>
            <a:off x="7589520" y="3595420"/>
            <a:ext cx="2765145" cy="790041"/>
          </a:xfrm>
          <a:prstGeom prst="roundRect">
            <a:avLst>
              <a:gd name="adj" fmla="val 11574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vis:coverlayer"/>
          <p:cNvSpPr/>
          <p:nvPr/>
        </p:nvSpPr>
        <p:spPr>
          <a:xfrm>
            <a:off x="7900416" y="3028492"/>
            <a:ext cx="2765145" cy="790041"/>
          </a:xfrm>
          <a:prstGeom prst="roundRect">
            <a:avLst>
              <a:gd name="adj" fmla="val 11574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vis:coverlayer"/>
          <p:cNvSpPr/>
          <p:nvPr/>
        </p:nvSpPr>
        <p:spPr>
          <a:xfrm>
            <a:off x="8211312" y="2461564"/>
            <a:ext cx="2765145" cy="790041"/>
          </a:xfrm>
          <a:prstGeom prst="roundRect">
            <a:avLst>
              <a:gd name="adj" fmla="val 11574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vis:coverlayer"/>
          <p:cNvSpPr/>
          <p:nvPr/>
        </p:nvSpPr>
        <p:spPr>
          <a:xfrm>
            <a:off x="8522208" y="1894636"/>
            <a:ext cx="2765145" cy="790041"/>
          </a:xfrm>
          <a:prstGeom prst="roundRect">
            <a:avLst>
              <a:gd name="adj" fmla="val 11574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960120" y="1477263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AI COURSES</a:t>
            </a:r>
          </a:p>
        </p:txBody>
      </p:sp>
      <p:sp>
        <p:nvSpPr>
          <p:cNvPr id="9" name="title:cover"/>
          <p:cNvSpPr txBox="1"/>
          <p:nvPr/>
        </p:nvSpPr>
        <p:spPr>
          <a:xfrm>
            <a:off x="960120" y="1934463"/>
            <a:ext cx="5501487" cy="781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AI Limitations</a:t>
            </a:r>
          </a:p>
        </p:txBody>
      </p:sp>
      <p:cxnSp>
        <p:nvCxnSpPr>
          <p:cNvPr id="10" name="vis:rule"/>
          <p:cNvCxnSpPr/>
          <p:nvPr/>
        </p:nvCxnSpPr>
        <p:spPr>
          <a:xfrm>
            <a:off x="960120" y="2990088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dy:coversub"/>
          <p:cNvSpPr txBox="1"/>
          <p:nvPr/>
        </p:nvSpPr>
        <p:spPr>
          <a:xfrm>
            <a:off x="960120" y="3264408"/>
            <a:ext cx="5501487" cy="781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Where these tools break, why they break exactly there, and what to reach for instead.</a:t>
            </a:r>
          </a:p>
        </p:txBody>
      </p:sp>
      <p:sp>
        <p:nvSpPr>
          <p:cNvPr id="12" name="vis:chip"/>
          <p:cNvSpPr/>
          <p:nvPr/>
        </p:nvSpPr>
        <p:spPr>
          <a:xfrm>
            <a:off x="960120" y="4448048"/>
            <a:ext cx="938784" cy="310896"/>
          </a:xfrm>
          <a:prstGeom prst="roundRect">
            <a:avLst>
              <a:gd name="adj" fmla="val 14705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vis:chiptext"/>
          <p:cNvSpPr txBox="1"/>
          <p:nvPr/>
        </p:nvSpPr>
        <p:spPr>
          <a:xfrm>
            <a:off x="1115568" y="4493768"/>
            <a:ext cx="627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AI-04</a:t>
            </a:r>
          </a:p>
        </p:txBody>
      </p:sp>
      <p:sp>
        <p:nvSpPr>
          <p:cNvPr id="14" name="vis:chip"/>
          <p:cNvSpPr/>
          <p:nvPr/>
        </p:nvSpPr>
        <p:spPr>
          <a:xfrm>
            <a:off x="2045208" y="4448048"/>
            <a:ext cx="1453134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chiptext"/>
          <p:cNvSpPr txBox="1"/>
          <p:nvPr/>
        </p:nvSpPr>
        <p:spPr>
          <a:xfrm>
            <a:off x="2200656" y="4493768"/>
            <a:ext cx="11422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17 MINUTES</a:t>
            </a:r>
          </a:p>
        </p:txBody>
      </p:sp>
      <p:sp>
        <p:nvSpPr>
          <p:cNvPr id="16" name="vis:chip"/>
          <p:cNvSpPr/>
          <p:nvPr/>
        </p:nvSpPr>
        <p:spPr>
          <a:xfrm>
            <a:off x="3644646" y="4448048"/>
            <a:ext cx="2302029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text"/>
          <p:cNvSpPr txBox="1"/>
          <p:nvPr/>
        </p:nvSpPr>
        <p:spPr>
          <a:xfrm>
            <a:off x="3800094" y="4493768"/>
            <a:ext cx="19911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NEW JOINERS + STAFF</a:t>
            </a:r>
          </a:p>
        </p:txBody>
      </p:sp>
      <p:sp>
        <p:nvSpPr>
          <p:cNvPr id="18" name="cell:coverhint"/>
          <p:cNvSpPr txBox="1"/>
          <p:nvPr/>
        </p:nvSpPr>
        <p:spPr>
          <a:xfrm>
            <a:off x="960120" y="5724144"/>
            <a:ext cx="55014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THIS MATTERS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Rajesh quotes a price that never existed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ory"/>
          <p:cNvSpPr/>
          <p:nvPr/>
        </p:nvSpPr>
        <p:spPr>
          <a:xfrm>
            <a:off x="502920" y="1719072"/>
            <a:ext cx="6448882" cy="3273552"/>
          </a:xfrm>
          <a:prstGeom prst="roundRect">
            <a:avLst>
              <a:gd name="adj" fmla="val 279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oryspine"/>
          <p:cNvSpPr/>
          <p:nvPr/>
        </p:nvSpPr>
        <p:spPr>
          <a:xfrm>
            <a:off x="502920" y="1719072"/>
            <a:ext cx="68580" cy="327355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813816" y="2029967"/>
            <a:ext cx="69494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995057" y="2218436"/>
            <a:ext cx="332461" cy="303552"/>
          </a:xfrm>
          <a:custGeom>
            <a:avLst/>
            <a:gdLst/>
            <a:ahLst/>
            <a:cxnLst/>
            <a:rect l="l" t="t" r="r" b="b"/>
            <a:pathLst>
              <a:path w="332461" h="303552">
                <a:moveTo>
                  <a:pt x="166231" y="0"/>
                </a:moveTo>
                <a:lnTo>
                  <a:pt x="332461" y="303552"/>
                </a:lnTo>
                <a:lnTo>
                  <a:pt x="0" y="303552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vis:icon"/>
          <p:cNvCxnSpPr/>
          <p:nvPr/>
        </p:nvCxnSpPr>
        <p:spPr>
          <a:xfrm>
            <a:off x="1161288" y="2334075"/>
            <a:ext cx="0" cy="90343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143219" y="2456941"/>
            <a:ext cx="36137" cy="36137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body:scenario"/>
          <p:cNvSpPr txBox="1"/>
          <p:nvPr/>
        </p:nvSpPr>
        <p:spPr>
          <a:xfrm>
            <a:off x="813816" y="2944368"/>
            <a:ext cx="5827090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Rajesh handles purchase for an Ahmedabad unit. He asks an AI tool for the current price of a steel grade. It answers with a figure per tonne. He builds a quotation around it. The real rate is 19 per cent higher.</a:t>
            </a:r>
          </a:p>
        </p:txBody>
      </p:sp>
      <p:sp>
        <p:nvSpPr>
          <p:cNvPr id="22" name="vis:cost"/>
          <p:cNvSpPr/>
          <p:nvPr/>
        </p:nvSpPr>
        <p:spPr>
          <a:xfrm>
            <a:off x="502920" y="5230368"/>
            <a:ext cx="644888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ostspine"/>
          <p:cNvSpPr/>
          <p:nvPr/>
        </p:nvSpPr>
        <p:spPr>
          <a:xfrm>
            <a:off x="502920" y="5230368"/>
            <a:ext cx="68580" cy="7863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826983" y="5478719"/>
            <a:ext cx="302849" cy="276514"/>
          </a:xfrm>
          <a:custGeom>
            <a:avLst/>
            <a:gdLst/>
            <a:ahLst/>
            <a:cxnLst/>
            <a:rect l="l" t="t" r="r" b="b"/>
            <a:pathLst>
              <a:path w="302849" h="276514">
                <a:moveTo>
                  <a:pt x="151425" y="0"/>
                </a:moveTo>
                <a:lnTo>
                  <a:pt x="302849" y="276514"/>
                </a:lnTo>
                <a:lnTo>
                  <a:pt x="0" y="276514"/>
                </a:lnTo>
                <a:close/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vis:icon"/>
          <p:cNvCxnSpPr/>
          <p:nvPr/>
        </p:nvCxnSpPr>
        <p:spPr>
          <a:xfrm>
            <a:off x="978408" y="5584057"/>
            <a:ext cx="0" cy="82296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icon"/>
          <p:cNvSpPr/>
          <p:nvPr/>
        </p:nvSpPr>
        <p:spPr>
          <a:xfrm>
            <a:off x="961948" y="5695980"/>
            <a:ext cx="32918" cy="3291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body:cost"/>
          <p:cNvSpPr txBox="1"/>
          <p:nvPr/>
        </p:nvSpPr>
        <p:spPr>
          <a:xfrm>
            <a:off x="1362456" y="5358383"/>
            <a:ext cx="531502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2828"/>
                </a:solidFill>
                <a:latin typeface="Segoe UI Semibold"/>
              </a:rPr>
              <a:t>A quotation the company has to honour, or withdraw and explain.</a:t>
            </a:r>
          </a:p>
        </p:txBody>
      </p:sp>
      <p:sp>
        <p:nvSpPr>
          <p:cNvPr id="28" name="vis:fix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seclabel"/>
          <p:cNvSpPr txBox="1"/>
          <p:nvPr/>
        </p:nvSpPr>
        <p:spPr>
          <a:xfrm>
            <a:off x="8411260" y="2066543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AFTER THIS MODULE</a:t>
            </a:r>
          </a:p>
        </p:txBody>
      </p:sp>
      <p:cxnSp>
        <p:nvCxnSpPr>
          <p:cNvPr id="30" name="vis:rule"/>
          <p:cNvCxnSpPr/>
          <p:nvPr/>
        </p:nvCxnSpPr>
        <p:spPr>
          <a:xfrm>
            <a:off x="8411260" y="2505456"/>
            <a:ext cx="2948331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body:fix"/>
          <p:cNvSpPr txBox="1"/>
          <p:nvPr/>
        </p:nvSpPr>
        <p:spPr>
          <a:xfrm>
            <a:off x="8411260" y="2724912"/>
            <a:ext cx="294833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You will know which questions it cannot answer, before you ask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YOU'LL BE ABLE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By the end, you can do these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ome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1792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30990" y="1945974"/>
            <a:ext cx="259426" cy="259426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969315" y="1984299"/>
            <a:ext cx="182777" cy="18277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outcome"/>
          <p:cNvSpPr txBox="1"/>
          <p:nvPr/>
        </p:nvSpPr>
        <p:spPr>
          <a:xfrm>
            <a:off x="1545336" y="1828800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List the five things it structurally cannot do</a:t>
            </a:r>
          </a:p>
        </p:txBody>
      </p:sp>
      <p:sp>
        <p:nvSpPr>
          <p:cNvPr id="20" name="vis:outcome"/>
          <p:cNvSpPr/>
          <p:nvPr/>
        </p:nvSpPr>
        <p:spPr>
          <a:xfrm>
            <a:off x="502920" y="2615184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badge"/>
          <p:cNvSpPr/>
          <p:nvPr/>
        </p:nvSpPr>
        <p:spPr>
          <a:xfrm>
            <a:off x="777240" y="26883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930990" y="2842086"/>
            <a:ext cx="259426" cy="259426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 flipV="1">
            <a:off x="1060704" y="2895151"/>
            <a:ext cx="0" cy="76649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>
            <a:off x="1060704" y="2971800"/>
            <a:ext cx="64856" cy="2358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ell:outcome"/>
          <p:cNvSpPr txBox="1"/>
          <p:nvPr/>
        </p:nvSpPr>
        <p:spPr>
          <a:xfrm>
            <a:off x="1545336" y="2724912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Explain what a training cut-off means for today's question</a:t>
            </a:r>
          </a:p>
        </p:txBody>
      </p:sp>
      <p:sp>
        <p:nvSpPr>
          <p:cNvPr id="26" name="vis:outcome"/>
          <p:cNvSpPr/>
          <p:nvPr/>
        </p:nvSpPr>
        <p:spPr>
          <a:xfrm>
            <a:off x="502920" y="3511296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badge"/>
          <p:cNvSpPr/>
          <p:nvPr/>
        </p:nvSpPr>
        <p:spPr>
          <a:xfrm>
            <a:off x="77724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icon"/>
          <p:cNvSpPr/>
          <p:nvPr/>
        </p:nvSpPr>
        <p:spPr>
          <a:xfrm>
            <a:off x="925094" y="3738198"/>
            <a:ext cx="271219" cy="247635"/>
          </a:xfrm>
          <a:custGeom>
            <a:avLst/>
            <a:gdLst/>
            <a:ahLst/>
            <a:cxnLst/>
            <a:rect l="l" t="t" r="r" b="b"/>
            <a:pathLst>
              <a:path w="271219" h="247635">
                <a:moveTo>
                  <a:pt x="135610" y="0"/>
                </a:moveTo>
                <a:lnTo>
                  <a:pt x="271219" y="247635"/>
                </a:lnTo>
                <a:lnTo>
                  <a:pt x="0" y="247635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vis:icon"/>
          <p:cNvCxnSpPr/>
          <p:nvPr/>
        </p:nvCxnSpPr>
        <p:spPr>
          <a:xfrm>
            <a:off x="1060704" y="3832535"/>
            <a:ext cx="0" cy="73701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s:icon"/>
          <p:cNvSpPr/>
          <p:nvPr/>
        </p:nvSpPr>
        <p:spPr>
          <a:xfrm>
            <a:off x="1045963" y="3932768"/>
            <a:ext cx="29480" cy="2948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cell:outcome"/>
          <p:cNvSpPr txBox="1"/>
          <p:nvPr/>
        </p:nvSpPr>
        <p:spPr>
          <a:xfrm>
            <a:off x="1545336" y="3621024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Predict where an answer is most likely to be invented</a:t>
            </a:r>
          </a:p>
        </p:txBody>
      </p:sp>
      <p:sp>
        <p:nvSpPr>
          <p:cNvPr id="32" name="vis:outcome"/>
          <p:cNvSpPr/>
          <p:nvPr/>
        </p:nvSpPr>
        <p:spPr>
          <a:xfrm>
            <a:off x="502920" y="4407408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badge"/>
          <p:cNvSpPr/>
          <p:nvPr/>
        </p:nvSpPr>
        <p:spPr>
          <a:xfrm>
            <a:off x="777240" y="4480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icon"/>
          <p:cNvSpPr/>
          <p:nvPr/>
        </p:nvSpPr>
        <p:spPr>
          <a:xfrm>
            <a:off x="954575" y="4651999"/>
            <a:ext cx="176881" cy="176881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5" name="vis:icon"/>
          <p:cNvCxnSpPr/>
          <p:nvPr/>
        </p:nvCxnSpPr>
        <p:spPr>
          <a:xfrm>
            <a:off x="1107872" y="4805296"/>
            <a:ext cx="70753" cy="70752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outcome"/>
          <p:cNvSpPr txBox="1"/>
          <p:nvPr/>
        </p:nvSpPr>
        <p:spPr>
          <a:xfrm>
            <a:off x="1545336" y="4517136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Name the right tool for each thing AI cannot do</a:t>
            </a:r>
          </a:p>
        </p:txBody>
      </p:sp>
      <p:sp>
        <p:nvSpPr>
          <p:cNvPr id="37" name="vis:outcome"/>
          <p:cNvSpPr/>
          <p:nvPr/>
        </p:nvSpPr>
        <p:spPr>
          <a:xfrm>
            <a:off x="502920" y="5303520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badge"/>
          <p:cNvSpPr/>
          <p:nvPr/>
        </p:nvSpPr>
        <p:spPr>
          <a:xfrm>
            <a:off x="777240" y="5376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9" name="vis:icon"/>
          <p:cNvCxnSpPr/>
          <p:nvPr/>
        </p:nvCxnSpPr>
        <p:spPr>
          <a:xfrm>
            <a:off x="954575" y="5666032"/>
            <a:ext cx="76648" cy="76648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vis:icon"/>
          <p:cNvCxnSpPr/>
          <p:nvPr/>
        </p:nvCxnSpPr>
        <p:spPr>
          <a:xfrm flipV="1">
            <a:off x="1031223" y="5577591"/>
            <a:ext cx="141505" cy="165089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ell:outcome"/>
          <p:cNvSpPr txBox="1"/>
          <p:nvPr/>
        </p:nvSpPr>
        <p:spPr>
          <a:xfrm>
            <a:off x="1545336" y="5413248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Design a question so its weak points cannot hurt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any line to jump straight there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The five hard limits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What it structurally cannot do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1997049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256739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256739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311603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311603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The cut-off date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311603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Why last month is missing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424988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684678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684678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739542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739542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Numbers and arithmetic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739542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Where confidence is highest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2852928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112617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112617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167481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167481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What to use instead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167481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right tool per limit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280867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54055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540556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3595420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3595420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3595420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Ask so it cannot hurt you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3708806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396849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3968496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02335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02335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02335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Friday afternoon decision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136745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4396435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4396435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445129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445129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Watch this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445129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9-minute outside explainer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4564684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4824374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4824374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4879238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4879238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Quiz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4879238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questions, instant feedback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4992624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av:menurow">
            <a:hlinkClick action="ppaction://hlinksldjump" r:id="rId10"/>
          </p:cNvPr>
          <p:cNvSpPr/>
          <p:nvPr/>
        </p:nvSpPr>
        <p:spPr>
          <a:xfrm>
            <a:off x="502920" y="5252313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menubar"/>
          <p:cNvSpPr/>
          <p:nvPr/>
        </p:nvSpPr>
        <p:spPr>
          <a:xfrm>
            <a:off x="502920" y="5252313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vis:menunum"/>
          <p:cNvSpPr txBox="1"/>
          <p:nvPr/>
        </p:nvSpPr>
        <p:spPr>
          <a:xfrm>
            <a:off x="813816" y="5307177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09</a:t>
            </a:r>
          </a:p>
        </p:txBody>
      </p:sp>
      <p:sp>
        <p:nvSpPr>
          <p:cNvPr id="59" name="cell:menulabel"/>
          <p:cNvSpPr txBox="1"/>
          <p:nvPr/>
        </p:nvSpPr>
        <p:spPr>
          <a:xfrm>
            <a:off x="1344168" y="5307177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Recap card</a:t>
            </a:r>
          </a:p>
        </p:txBody>
      </p:sp>
      <p:sp>
        <p:nvSpPr>
          <p:cNvPr id="60" name="cell:menusub"/>
          <p:cNvSpPr txBox="1"/>
          <p:nvPr/>
        </p:nvSpPr>
        <p:spPr>
          <a:xfrm>
            <a:off x="7134682" y="5307177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whole topic on one screen</a:t>
            </a:r>
          </a:p>
        </p:txBody>
      </p:sp>
      <p:cxnSp>
        <p:nvCxnSpPr>
          <p:cNvPr id="61" name="vis:menuarrow"/>
          <p:cNvCxnSpPr/>
          <p:nvPr/>
        </p:nvCxnSpPr>
        <p:spPr>
          <a:xfrm>
            <a:off x="11213287" y="5420563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nav:menurow">
            <a:hlinkClick action="ppaction://hlinksldjump" r:id="rId11"/>
          </p:cNvPr>
          <p:cNvSpPr/>
          <p:nvPr/>
        </p:nvSpPr>
        <p:spPr>
          <a:xfrm>
            <a:off x="502920" y="5680252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vis:menubar"/>
          <p:cNvSpPr/>
          <p:nvPr/>
        </p:nvSpPr>
        <p:spPr>
          <a:xfrm>
            <a:off x="502920" y="5680252"/>
            <a:ext cx="68580" cy="336499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vis:menunum"/>
          <p:cNvSpPr txBox="1"/>
          <p:nvPr/>
        </p:nvSpPr>
        <p:spPr>
          <a:xfrm>
            <a:off x="813816" y="5735116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F4BC4"/>
                </a:solidFill>
                <a:latin typeface="Segoe UI Semibold"/>
              </a:rPr>
              <a:t>10</a:t>
            </a:r>
          </a:p>
        </p:txBody>
      </p:sp>
      <p:sp>
        <p:nvSpPr>
          <p:cNvPr id="65" name="cell:menulabel"/>
          <p:cNvSpPr txBox="1"/>
          <p:nvPr/>
        </p:nvSpPr>
        <p:spPr>
          <a:xfrm>
            <a:off x="1344168" y="5735116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Your toolkit</a:t>
            </a:r>
          </a:p>
        </p:txBody>
      </p:sp>
      <p:sp>
        <p:nvSpPr>
          <p:cNvPr id="66" name="cell:menusub"/>
          <p:cNvSpPr txBox="1"/>
          <p:nvPr/>
        </p:nvSpPr>
        <p:spPr>
          <a:xfrm>
            <a:off x="7134682" y="5735116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Templates, links, what to do next</a:t>
            </a:r>
          </a:p>
        </p:txBody>
      </p:sp>
      <p:cxnSp>
        <p:nvCxnSpPr>
          <p:cNvPr id="67" name="vis:menuarrow"/>
          <p:cNvCxnSpPr/>
          <p:nvPr/>
        </p:nvCxnSpPr>
        <p:spPr>
          <a:xfrm>
            <a:off x="11213287" y="5848502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FIVE HARD LIMITS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Five things it cannot do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It cannot look anything up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Unless the tool visibly shows a link it visited, no page was opened and no system was queried.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It cannot know today's anything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Rates, stock, prices, news. Its knowledge stops at a fixed date it will not always tell you.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It cannot see our systems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No ERP, no CRM, no shared drive. Our order numbers and clients simply do not exist for it.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It cannot tell you it is unsure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Every answer arrives in the same confident tone, whether solid or entirely invented.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It cannot carry consequences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will not be in the meeting when the number is wrong. You will.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FIVE HARD LIMITS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the gap gets filled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It is built to produce the most likely next words. A gap is just a place where something likely goes.</a:t>
            </a:r>
          </a:p>
        </p:txBody>
      </p:sp>
      <p:sp>
        <p:nvSpPr>
          <p:cNvPr id="16" name="vis:flowcard"/>
          <p:cNvSpPr/>
          <p:nvPr/>
        </p:nvSpPr>
        <p:spPr>
          <a:xfrm>
            <a:off x="502920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flownum"/>
          <p:cNvSpPr/>
          <p:nvPr/>
        </p:nvSpPr>
        <p:spPr>
          <a:xfrm>
            <a:off x="685800" y="3026663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flownumtext"/>
          <p:cNvSpPr txBox="1"/>
          <p:nvPr/>
        </p:nvSpPr>
        <p:spPr>
          <a:xfrm>
            <a:off x="685800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vis:flowtitle"/>
          <p:cNvSpPr txBox="1"/>
          <p:nvPr/>
        </p:nvSpPr>
        <p:spPr>
          <a:xfrm>
            <a:off x="704088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You ask something</a:t>
            </a:r>
          </a:p>
        </p:txBody>
      </p:sp>
      <p:sp>
        <p:nvSpPr>
          <p:cNvPr id="20" name="vis:flowsub"/>
          <p:cNvSpPr txBox="1"/>
          <p:nvPr/>
        </p:nvSpPr>
        <p:spPr>
          <a:xfrm>
            <a:off x="704088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The question implies a fact should exist.</a:t>
            </a:r>
          </a:p>
        </p:txBody>
      </p:sp>
      <p:cxnSp>
        <p:nvCxnSpPr>
          <p:cNvPr id="21" name="vis:flowarrow"/>
          <p:cNvCxnSpPr/>
          <p:nvPr/>
        </p:nvCxnSpPr>
        <p:spPr>
          <a:xfrm>
            <a:off x="3093643" y="4169663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flowcard"/>
          <p:cNvSpPr/>
          <p:nvPr/>
        </p:nvSpPr>
        <p:spPr>
          <a:xfrm>
            <a:off x="3395395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flownum"/>
          <p:cNvSpPr/>
          <p:nvPr/>
        </p:nvSpPr>
        <p:spPr>
          <a:xfrm>
            <a:off x="3578275" y="3026663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flownumtext"/>
          <p:cNvSpPr txBox="1"/>
          <p:nvPr/>
        </p:nvSpPr>
        <p:spPr>
          <a:xfrm>
            <a:off x="3578275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vis:flowtitle"/>
          <p:cNvSpPr txBox="1"/>
          <p:nvPr/>
        </p:nvSpPr>
        <p:spPr>
          <a:xfrm>
            <a:off x="3596563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It has no fact</a:t>
            </a:r>
          </a:p>
        </p:txBody>
      </p:sp>
      <p:sp>
        <p:nvSpPr>
          <p:cNvPr id="26" name="vis:flowsub"/>
          <p:cNvSpPr txBox="1"/>
          <p:nvPr/>
        </p:nvSpPr>
        <p:spPr>
          <a:xfrm>
            <a:off x="3596563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Nothing in its patterns matches your specific case.</a:t>
            </a:r>
          </a:p>
        </p:txBody>
      </p:sp>
      <p:cxnSp>
        <p:nvCxnSpPr>
          <p:cNvPr id="27" name="vis:flowarrow"/>
          <p:cNvCxnSpPr/>
          <p:nvPr/>
        </p:nvCxnSpPr>
        <p:spPr>
          <a:xfrm>
            <a:off x="5986119" y="4169663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flowcard"/>
          <p:cNvSpPr/>
          <p:nvPr/>
        </p:nvSpPr>
        <p:spPr>
          <a:xfrm>
            <a:off x="6287871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flownum"/>
          <p:cNvSpPr/>
          <p:nvPr/>
        </p:nvSpPr>
        <p:spPr>
          <a:xfrm>
            <a:off x="6470751" y="3026663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flownumtext"/>
          <p:cNvSpPr txBox="1"/>
          <p:nvPr/>
        </p:nvSpPr>
        <p:spPr>
          <a:xfrm>
            <a:off x="6470751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vis:flowtitle"/>
          <p:cNvSpPr txBox="1"/>
          <p:nvPr/>
        </p:nvSpPr>
        <p:spPr>
          <a:xfrm>
            <a:off x="6489039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It builds a likely one</a:t>
            </a:r>
          </a:p>
        </p:txBody>
      </p:sp>
      <p:sp>
        <p:nvSpPr>
          <p:cNvPr id="32" name="vis:flowsub"/>
          <p:cNvSpPr txBox="1"/>
          <p:nvPr/>
        </p:nvSpPr>
        <p:spPr>
          <a:xfrm>
            <a:off x="6489039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 number, a name or a date shaped like a real one.</a:t>
            </a:r>
          </a:p>
        </p:txBody>
      </p:sp>
      <p:cxnSp>
        <p:nvCxnSpPr>
          <p:cNvPr id="33" name="vis:flowarrow"/>
          <p:cNvCxnSpPr/>
          <p:nvPr/>
        </p:nvCxnSpPr>
        <p:spPr>
          <a:xfrm>
            <a:off x="8878595" y="4169663"/>
            <a:ext cx="219456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s:flowcard"/>
          <p:cNvSpPr/>
          <p:nvPr/>
        </p:nvSpPr>
        <p:spPr>
          <a:xfrm>
            <a:off x="9180347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flownum"/>
          <p:cNvSpPr/>
          <p:nvPr/>
        </p:nvSpPr>
        <p:spPr>
          <a:xfrm>
            <a:off x="9363227" y="3026663"/>
            <a:ext cx="384048" cy="384048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flownumtext"/>
          <p:cNvSpPr txBox="1"/>
          <p:nvPr/>
        </p:nvSpPr>
        <p:spPr>
          <a:xfrm>
            <a:off x="9363227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vis:flowtitle"/>
          <p:cNvSpPr txBox="1"/>
          <p:nvPr/>
        </p:nvSpPr>
        <p:spPr>
          <a:xfrm>
            <a:off x="9381515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It reads as certain</a:t>
            </a:r>
          </a:p>
        </p:txBody>
      </p:sp>
      <p:sp>
        <p:nvSpPr>
          <p:cNvPr id="38" name="vis:flowsub"/>
          <p:cNvSpPr txBox="1"/>
          <p:nvPr/>
        </p:nvSpPr>
        <p:spPr>
          <a:xfrm>
            <a:off x="9381515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Nothing in the wording marks it as a guess.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CUT-OFF DATE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Everything recent is missing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nest"/>
          <p:cNvSpPr/>
          <p:nvPr/>
        </p:nvSpPr>
        <p:spPr>
          <a:xfrm>
            <a:off x="502920" y="1984248"/>
            <a:ext cx="6264078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nestlabel"/>
          <p:cNvSpPr txBox="1"/>
          <p:nvPr/>
        </p:nvSpPr>
        <p:spPr>
          <a:xfrm>
            <a:off x="722376" y="2130552"/>
            <a:ext cx="5825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Public text, up to a fixed date</a:t>
            </a:r>
          </a:p>
        </p:txBody>
      </p:sp>
      <p:sp>
        <p:nvSpPr>
          <p:cNvPr id="17" name="vis:nestsub"/>
          <p:cNvSpPr txBox="1"/>
          <p:nvPr/>
        </p:nvSpPr>
        <p:spPr>
          <a:xfrm>
            <a:off x="722376" y="2441448"/>
            <a:ext cx="5825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Everything the model learned from. It stops there.</a:t>
            </a:r>
          </a:p>
        </p:txBody>
      </p:sp>
      <p:sp>
        <p:nvSpPr>
          <p:cNvPr id="18" name="vis:nest"/>
          <p:cNvSpPr/>
          <p:nvPr/>
        </p:nvSpPr>
        <p:spPr>
          <a:xfrm>
            <a:off x="832104" y="2843784"/>
            <a:ext cx="560571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nestlabel"/>
          <p:cNvSpPr txBox="1"/>
          <p:nvPr/>
        </p:nvSpPr>
        <p:spPr>
          <a:xfrm>
            <a:off x="1051560" y="2990088"/>
            <a:ext cx="5166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After that date</a:t>
            </a:r>
          </a:p>
        </p:txBody>
      </p:sp>
      <p:sp>
        <p:nvSpPr>
          <p:cNvPr id="20" name="vis:nestsub"/>
          <p:cNvSpPr txBox="1"/>
          <p:nvPr/>
        </p:nvSpPr>
        <p:spPr>
          <a:xfrm>
            <a:off x="1051560" y="3300984"/>
            <a:ext cx="51667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Circulars, rate changes, news, new products.</a:t>
            </a:r>
          </a:p>
        </p:txBody>
      </p:sp>
      <p:sp>
        <p:nvSpPr>
          <p:cNvPr id="21" name="vis:nest"/>
          <p:cNvSpPr/>
          <p:nvPr/>
        </p:nvSpPr>
        <p:spPr>
          <a:xfrm>
            <a:off x="1161288" y="3703320"/>
            <a:ext cx="4947342" cy="1024128"/>
          </a:xfrm>
          <a:prstGeom prst="roundRect">
            <a:avLst>
              <a:gd name="adj" fmla="val 8928"/>
            </a:avLst>
          </a:prstGeom>
          <a:solidFill>
            <a:srgbClr val="F3F6FB"/>
          </a:solidFill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nestlabel"/>
          <p:cNvSpPr txBox="1"/>
          <p:nvPr/>
        </p:nvSpPr>
        <p:spPr>
          <a:xfrm>
            <a:off x="1380744" y="3849624"/>
            <a:ext cx="45084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F4BC4"/>
                </a:solidFill>
                <a:latin typeface="Segoe UI Semibold"/>
              </a:rPr>
              <a:t>Your company, at any date</a:t>
            </a:r>
          </a:p>
        </p:txBody>
      </p:sp>
      <p:sp>
        <p:nvSpPr>
          <p:cNvPr id="23" name="vis:nestsub"/>
          <p:cNvSpPr txBox="1"/>
          <p:nvPr/>
        </p:nvSpPr>
        <p:spPr>
          <a:xfrm>
            <a:off x="1380744" y="4160520"/>
            <a:ext cx="45084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Never included, at all, ever.</a:t>
            </a:r>
          </a:p>
        </p:txBody>
      </p:sp>
      <p:sp>
        <p:nvSpPr>
          <p:cNvPr id="24" name="body:nestnote"/>
          <p:cNvSpPr txBox="1"/>
          <p:nvPr/>
        </p:nvSpPr>
        <p:spPr>
          <a:xfrm>
            <a:off x="7438150" y="2130552"/>
            <a:ext cx="4250624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779"/>
                </a:solidFill>
                <a:latin typeface="Segoe UI"/>
              </a:rPr>
              <a:t>Ask about a change from last month and it will not say "I do not know". It will describe a change that sounds about right.</a:t>
            </a:r>
          </a:p>
        </p:txBody>
      </p:sp>
      <p:sp>
        <p:nvSpPr>
          <p:cNvPr id="25" name="cell:glosshint"/>
          <p:cNvSpPr txBox="1"/>
          <p:nvPr/>
        </p:nvSpPr>
        <p:spPr>
          <a:xfrm>
            <a:off x="502920" y="5687568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does this mean?</a:t>
            </a:r>
          </a:p>
        </p:txBody>
      </p:sp>
      <p:sp>
        <p:nvSpPr>
          <p:cNvPr id="26" name="vis:chip"/>
          <p:cNvSpPr/>
          <p:nvPr/>
        </p:nvSpPr>
        <p:spPr>
          <a:xfrm>
            <a:off x="2221991" y="5660136"/>
            <a:ext cx="1975391" cy="274320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5B6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2377439" y="5687568"/>
            <a:ext cx="16644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5B6779"/>
                </a:solidFill>
                <a:latin typeface="Segoe UI Semibold"/>
              </a:rPr>
              <a:t>TRAINING DATA  ?</a:t>
            </a:r>
          </a:p>
        </p:txBody>
      </p:sp>
      <p:sp>
        <p:nvSpPr>
          <p:cNvPr id="28" name="nav:gloss">
            <a:hlinkClick action="ppaction://hlinksldjump" r:id="rId3"/>
          </p:cNvPr>
          <p:cNvSpPr/>
          <p:nvPr/>
        </p:nvSpPr>
        <p:spPr>
          <a:xfrm>
            <a:off x="2221991" y="5660136"/>
            <a:ext cx="1975391" cy="27432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CUT-OFF DATE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question to ask yourself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reeq"/>
          <p:cNvSpPr/>
          <p:nvPr/>
        </p:nvSpPr>
        <p:spPr>
          <a:xfrm>
            <a:off x="3746818" y="1810512"/>
            <a:ext cx="4698059" cy="841248"/>
          </a:xfrm>
          <a:prstGeom prst="roundRect">
            <a:avLst>
              <a:gd name="adj" fmla="val 1086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treeqtext"/>
          <p:cNvSpPr txBox="1"/>
          <p:nvPr/>
        </p:nvSpPr>
        <p:spPr>
          <a:xfrm>
            <a:off x="3947986" y="1938528"/>
            <a:ext cx="4295723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Could this have changed in the last year?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095847" y="2651760"/>
            <a:ext cx="0" cy="237743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line"/>
          <p:cNvCxnSpPr/>
          <p:nvPr/>
        </p:nvCxnSpPr>
        <p:spPr>
          <a:xfrm>
            <a:off x="2516373" y="2889503"/>
            <a:ext cx="7158948" cy="0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line"/>
          <p:cNvCxnSpPr/>
          <p:nvPr/>
        </p:nvCxnSpPr>
        <p:spPr>
          <a:xfrm>
            <a:off x="2516373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hip"/>
          <p:cNvSpPr/>
          <p:nvPr/>
        </p:nvSpPr>
        <p:spPr>
          <a:xfrm>
            <a:off x="2138739" y="3026664"/>
            <a:ext cx="75526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2294187" y="3054096"/>
            <a:ext cx="4443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NO</a:t>
            </a:r>
          </a:p>
        </p:txBody>
      </p:sp>
      <p:sp>
        <p:nvSpPr>
          <p:cNvPr id="22" name="vis:treebox"/>
          <p:cNvSpPr/>
          <p:nvPr/>
        </p:nvSpPr>
        <p:spPr>
          <a:xfrm>
            <a:off x="279202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treebar"/>
          <p:cNvSpPr/>
          <p:nvPr/>
        </p:nvSpPr>
        <p:spPr>
          <a:xfrm>
            <a:off x="279202" y="3493008"/>
            <a:ext cx="4474342" cy="6858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>
            <a:off x="571079" y="3937040"/>
            <a:ext cx="66568" cy="66568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 flipV="1">
            <a:off x="637647" y="3860231"/>
            <a:ext cx="122896" cy="143377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treelabel"/>
          <p:cNvSpPr txBox="1"/>
          <p:nvPr/>
        </p:nvSpPr>
        <p:spPr>
          <a:xfrm>
            <a:off x="900994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Reasonably safe</a:t>
            </a:r>
          </a:p>
        </p:txBody>
      </p:sp>
      <p:sp>
        <p:nvSpPr>
          <p:cNvPr id="27" name="vis:treedetail"/>
          <p:cNvSpPr txBox="1"/>
          <p:nvPr/>
        </p:nvSpPr>
        <p:spPr>
          <a:xfrm>
            <a:off x="535234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How a process generally works, what a term means, how to phrase something. Stable knowledge, and easy for you to sanity-check.</a:t>
            </a:r>
          </a:p>
        </p:txBody>
      </p:sp>
      <p:cxnSp>
        <p:nvCxnSpPr>
          <p:cNvPr id="28" name="vis:line"/>
          <p:cNvCxnSpPr/>
          <p:nvPr/>
        </p:nvCxnSpPr>
        <p:spPr>
          <a:xfrm>
            <a:off x="9675321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chip"/>
          <p:cNvSpPr/>
          <p:nvPr/>
        </p:nvSpPr>
        <p:spPr>
          <a:xfrm>
            <a:off x="9282446" y="3026664"/>
            <a:ext cx="78574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chiptext"/>
          <p:cNvSpPr txBox="1"/>
          <p:nvPr/>
        </p:nvSpPr>
        <p:spPr>
          <a:xfrm>
            <a:off x="9437894" y="3054096"/>
            <a:ext cx="4748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YES</a:t>
            </a:r>
          </a:p>
        </p:txBody>
      </p:sp>
      <p:sp>
        <p:nvSpPr>
          <p:cNvPr id="31" name="vis:treebox"/>
          <p:cNvSpPr/>
          <p:nvPr/>
        </p:nvSpPr>
        <p:spPr>
          <a:xfrm>
            <a:off x="7438150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treebar"/>
          <p:cNvSpPr/>
          <p:nvPr/>
        </p:nvSpPr>
        <p:spPr>
          <a:xfrm>
            <a:off x="7438150" y="3493008"/>
            <a:ext cx="4474342" cy="685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7709544" y="3819265"/>
            <a:ext cx="225308" cy="225308"/>
          </a:xfrm>
          <a:prstGeom prst="ellipse">
            <a:avLst/>
          </a:pr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4" name="vis:icon"/>
          <p:cNvCxnSpPr/>
          <p:nvPr/>
        </p:nvCxnSpPr>
        <p:spPr>
          <a:xfrm>
            <a:off x="7742828" y="3852550"/>
            <a:ext cx="158740" cy="158739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treelabel"/>
          <p:cNvSpPr txBox="1"/>
          <p:nvPr/>
        </p:nvSpPr>
        <p:spPr>
          <a:xfrm>
            <a:off x="8059942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Do not ask AI</a:t>
            </a:r>
          </a:p>
        </p:txBody>
      </p:sp>
      <p:sp>
        <p:nvSpPr>
          <p:cNvPr id="36" name="vis:treedetail"/>
          <p:cNvSpPr txBox="1"/>
          <p:nvPr/>
        </p:nvSpPr>
        <p:spPr>
          <a:xfrm>
            <a:off x="7694182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Duty rates, GST, prices, regulations, company policy, who holds which role. These move, and the tool will answer with the version it learned.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NUMBERS AND ARITHMETIC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Numbers are the weakest point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A figure looks like evidence. That is exactly why an invented one does the most damage.</a:t>
            </a:r>
          </a:p>
        </p:txBody>
      </p:sp>
      <p:sp>
        <p:nvSpPr>
          <p:cNvPr id="16" name="vis:panel"/>
          <p:cNvSpPr/>
          <p:nvPr/>
        </p:nvSpPr>
        <p:spPr>
          <a:xfrm>
            <a:off x="502920" y="2706624"/>
            <a:ext cx="5437479" cy="3310128"/>
          </a:xfrm>
          <a:prstGeom prst="roundRect">
            <a:avLst>
              <a:gd name="adj" fmla="val 276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anelspine"/>
          <p:cNvSpPr/>
          <p:nvPr/>
        </p:nvSpPr>
        <p:spPr>
          <a:xfrm>
            <a:off x="502920" y="2706624"/>
            <a:ext cx="68580" cy="33101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"/>
          <p:cNvSpPr/>
          <p:nvPr/>
        </p:nvSpPr>
        <p:spPr>
          <a:xfrm>
            <a:off x="777240" y="2944368"/>
            <a:ext cx="158838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chiptext"/>
          <p:cNvSpPr txBox="1"/>
          <p:nvPr/>
        </p:nvSpPr>
        <p:spPr>
          <a:xfrm>
            <a:off x="932688" y="2971799"/>
            <a:ext cx="12774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NEVER TRUST</a:t>
            </a:r>
          </a:p>
        </p:txBody>
      </p:sp>
      <p:sp>
        <p:nvSpPr>
          <p:cNvPr id="20" name="vis:paneltitle"/>
          <p:cNvSpPr txBox="1"/>
          <p:nvPr/>
        </p:nvSpPr>
        <p:spPr>
          <a:xfrm>
            <a:off x="777240" y="3364991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Numbers it produced</a:t>
            </a:r>
          </a:p>
        </p:txBody>
      </p:sp>
      <p:cxnSp>
        <p:nvCxnSpPr>
          <p:cNvPr id="21" name="vis:icon"/>
          <p:cNvCxnSpPr/>
          <p:nvPr/>
        </p:nvCxnSpPr>
        <p:spPr>
          <a:xfrm>
            <a:off x="819302" y="407913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s:icon"/>
          <p:cNvCxnSpPr/>
          <p:nvPr/>
        </p:nvCxnSpPr>
        <p:spPr>
          <a:xfrm flipH="1">
            <a:off x="819302" y="4079138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s:panelitem"/>
          <p:cNvSpPr txBox="1"/>
          <p:nvPr/>
        </p:nvSpPr>
        <p:spPr>
          <a:xfrm>
            <a:off x="1078992" y="4005072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Prices, rates, duties, penalties</a:t>
            </a:r>
          </a:p>
        </p:txBody>
      </p:sp>
      <p:cxnSp>
        <p:nvCxnSpPr>
          <p:cNvPr id="24" name="vis:icon"/>
          <p:cNvCxnSpPr/>
          <p:nvPr/>
        </p:nvCxnSpPr>
        <p:spPr>
          <a:xfrm>
            <a:off x="819302" y="4527194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s:icon"/>
          <p:cNvCxnSpPr/>
          <p:nvPr/>
        </p:nvCxnSpPr>
        <p:spPr>
          <a:xfrm flipH="1">
            <a:off x="819302" y="4527194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panelitem"/>
          <p:cNvSpPr txBox="1"/>
          <p:nvPr/>
        </p:nvSpPr>
        <p:spPr>
          <a:xfrm>
            <a:off x="1078992" y="4453128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Percentages quoted to a decimal place</a:t>
            </a:r>
          </a:p>
        </p:txBody>
      </p:sp>
      <p:cxnSp>
        <p:nvCxnSpPr>
          <p:cNvPr id="27" name="vis:icon"/>
          <p:cNvCxnSpPr/>
          <p:nvPr/>
        </p:nvCxnSpPr>
        <p:spPr>
          <a:xfrm>
            <a:off x="819302" y="497525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H="1">
            <a:off x="819302" y="4975250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panelitem"/>
          <p:cNvSpPr txBox="1"/>
          <p:nvPr/>
        </p:nvSpPr>
        <p:spPr>
          <a:xfrm>
            <a:off x="1078992" y="4901184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Dates of rules, launches or changes</a:t>
            </a:r>
          </a:p>
        </p:txBody>
      </p:sp>
      <p:cxnSp>
        <p:nvCxnSpPr>
          <p:cNvPr id="30" name="vis:icon"/>
          <p:cNvCxnSpPr/>
          <p:nvPr/>
        </p:nvCxnSpPr>
        <p:spPr>
          <a:xfrm>
            <a:off x="819302" y="542330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H="1">
            <a:off x="819302" y="5423306"/>
            <a:ext cx="117043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s:panelitem"/>
          <p:cNvSpPr txBox="1"/>
          <p:nvPr/>
        </p:nvSpPr>
        <p:spPr>
          <a:xfrm>
            <a:off x="1078992" y="5349240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Any total it calculated from a long list</a:t>
            </a:r>
          </a:p>
        </p:txBody>
      </p:sp>
      <p:sp>
        <p:nvSpPr>
          <p:cNvPr id="33" name="vis:panel"/>
          <p:cNvSpPr/>
          <p:nvPr/>
        </p:nvSpPr>
        <p:spPr>
          <a:xfrm>
            <a:off x="6251295" y="2706624"/>
            <a:ext cx="5437479" cy="3310128"/>
          </a:xfrm>
          <a:prstGeom prst="roundRect">
            <a:avLst>
              <a:gd name="adj" fmla="val 276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panelspine"/>
          <p:cNvSpPr/>
          <p:nvPr/>
        </p:nvSpPr>
        <p:spPr>
          <a:xfrm>
            <a:off x="6251295" y="2706624"/>
            <a:ext cx="68580" cy="3310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chip"/>
          <p:cNvSpPr/>
          <p:nvPr/>
        </p:nvSpPr>
        <p:spPr>
          <a:xfrm>
            <a:off x="6525615" y="2944368"/>
            <a:ext cx="1515264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chiptext"/>
          <p:cNvSpPr txBox="1"/>
          <p:nvPr/>
        </p:nvSpPr>
        <p:spPr>
          <a:xfrm>
            <a:off x="6681063" y="2971799"/>
            <a:ext cx="1204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SAFE TO USE</a:t>
            </a:r>
          </a:p>
        </p:txBody>
      </p:sp>
      <p:sp>
        <p:nvSpPr>
          <p:cNvPr id="37" name="vis:paneltitle"/>
          <p:cNvSpPr txBox="1"/>
          <p:nvPr/>
        </p:nvSpPr>
        <p:spPr>
          <a:xfrm>
            <a:off x="6525615" y="3364991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Numbers you supplied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6560362" y="4141317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6607911" y="4086453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panelitem"/>
          <p:cNvSpPr txBox="1"/>
          <p:nvPr/>
        </p:nvSpPr>
        <p:spPr>
          <a:xfrm>
            <a:off x="6827367" y="4005072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Figures you pasted in from a system</a:t>
            </a:r>
          </a:p>
        </p:txBody>
      </p:sp>
      <p:cxnSp>
        <p:nvCxnSpPr>
          <p:cNvPr id="41" name="vis:icon"/>
          <p:cNvCxnSpPr/>
          <p:nvPr/>
        </p:nvCxnSpPr>
        <p:spPr>
          <a:xfrm>
            <a:off x="6560362" y="4589373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s:icon"/>
          <p:cNvCxnSpPr/>
          <p:nvPr/>
        </p:nvCxnSpPr>
        <p:spPr>
          <a:xfrm flipV="1">
            <a:off x="6607911" y="4534509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vis:panelitem"/>
          <p:cNvSpPr txBox="1"/>
          <p:nvPr/>
        </p:nvSpPr>
        <p:spPr>
          <a:xfrm>
            <a:off x="6827367" y="4453128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Dates you typed yourself</a:t>
            </a:r>
          </a:p>
        </p:txBody>
      </p:sp>
      <p:cxnSp>
        <p:nvCxnSpPr>
          <p:cNvPr id="44" name="vis:icon"/>
          <p:cNvCxnSpPr/>
          <p:nvPr/>
        </p:nvCxnSpPr>
        <p:spPr>
          <a:xfrm>
            <a:off x="6560362" y="5037429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s:icon"/>
          <p:cNvCxnSpPr/>
          <p:nvPr/>
        </p:nvCxnSpPr>
        <p:spPr>
          <a:xfrm flipV="1">
            <a:off x="6607911" y="4982565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s:panelitem"/>
          <p:cNvSpPr txBox="1"/>
          <p:nvPr/>
        </p:nvSpPr>
        <p:spPr>
          <a:xfrm>
            <a:off x="6827367" y="4901184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Totals you worked out in Excel</a:t>
            </a:r>
          </a:p>
        </p:txBody>
      </p:sp>
      <p:cxnSp>
        <p:nvCxnSpPr>
          <p:cNvPr id="47" name="vis:icon"/>
          <p:cNvCxnSpPr/>
          <p:nvPr/>
        </p:nvCxnSpPr>
        <p:spPr>
          <a:xfrm>
            <a:off x="6560362" y="5485485"/>
            <a:ext cx="47549" cy="47549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is:icon"/>
          <p:cNvCxnSpPr/>
          <p:nvPr/>
        </p:nvCxnSpPr>
        <p:spPr>
          <a:xfrm flipV="1">
            <a:off x="6607911" y="5430621"/>
            <a:ext cx="87783" cy="102413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vis:panelitem"/>
          <p:cNvSpPr txBox="1"/>
          <p:nvPr/>
        </p:nvSpPr>
        <p:spPr>
          <a:xfrm>
            <a:off x="6827367" y="5349240"/>
            <a:ext cx="4587087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Anything you can point at a source for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NUMBERS AND ARITHMETIC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Make it show its working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romptcard"/>
          <p:cNvSpPr/>
          <p:nvPr/>
        </p:nvSpPr>
        <p:spPr>
          <a:xfrm>
            <a:off x="502920" y="1719072"/>
            <a:ext cx="6935230" cy="2146807"/>
          </a:xfrm>
          <a:prstGeom prst="roundRect">
            <a:avLst>
              <a:gd name="adj" fmla="val 425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romptbar"/>
          <p:cNvSpPr/>
          <p:nvPr/>
        </p:nvSpPr>
        <p:spPr>
          <a:xfrm>
            <a:off x="502920" y="1719072"/>
            <a:ext cx="6935230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739932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 flipH="1">
            <a:off x="775045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775045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opybtn"/>
          <p:cNvSpPr/>
          <p:nvPr/>
        </p:nvSpPr>
        <p:spPr>
          <a:xfrm>
            <a:off x="5577981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icon"/>
          <p:cNvSpPr/>
          <p:nvPr/>
        </p:nvSpPr>
        <p:spPr>
          <a:xfrm>
            <a:off x="5761592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5780246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>
            <a:off x="5780246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>
            <a:off x="5780246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copytext"/>
          <p:cNvSpPr txBox="1"/>
          <p:nvPr/>
        </p:nvSpPr>
        <p:spPr>
          <a:xfrm>
            <a:off x="5989461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26" name="vis:prompthdr"/>
          <p:cNvSpPr txBox="1"/>
          <p:nvPr/>
        </p:nvSpPr>
        <p:spPr>
          <a:xfrm>
            <a:off x="1051560" y="1828800"/>
            <a:ext cx="441669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checking prompt</a:t>
            </a:r>
          </a:p>
        </p:txBody>
      </p:sp>
      <p:sp>
        <p:nvSpPr>
          <p:cNvPr id="27" name="card:prompt"/>
          <p:cNvSpPr txBox="1"/>
          <p:nvPr/>
        </p:nvSpPr>
        <p:spPr>
          <a:xfrm>
            <a:off x="777240" y="2267712"/>
            <a:ext cx="6386590" cy="924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For every number in your answer, tell me in brackets whether it came from the text I gave you or from your own general knowledge. If it came from your own knowledge, say so plainly rather than presenting it as a fact.</a:t>
            </a:r>
          </a:p>
        </p:txBody>
      </p:sp>
      <p:sp>
        <p:nvSpPr>
          <p:cNvPr id="28" name="vis:promptcap"/>
          <p:cNvSpPr txBox="1"/>
          <p:nvPr/>
        </p:nvSpPr>
        <p:spPr>
          <a:xfrm>
            <a:off x="777240" y="3393440"/>
            <a:ext cx="6386590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This does not make it accurate. It makes the guess visible.</a:t>
            </a:r>
          </a:p>
        </p:txBody>
      </p:sp>
      <p:sp>
        <p:nvSpPr>
          <p:cNvPr id="29" name="seclabel"/>
          <p:cNvSpPr txBox="1"/>
          <p:nvPr/>
        </p:nvSpPr>
        <p:spPr>
          <a:xfrm>
            <a:off x="7803910" y="1773936"/>
            <a:ext cx="3884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WHY THIS WORKS</a:t>
            </a:r>
          </a:p>
        </p:txBody>
      </p:sp>
      <p:cxnSp>
        <p:nvCxnSpPr>
          <p:cNvPr id="30" name="vis:icon"/>
          <p:cNvCxnSpPr/>
          <p:nvPr/>
        </p:nvCxnSpPr>
        <p:spPr>
          <a:xfrm>
            <a:off x="7850361" y="2317455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s:icon"/>
          <p:cNvCxnSpPr/>
          <p:nvPr/>
        </p:nvCxnSpPr>
        <p:spPr>
          <a:xfrm flipV="1">
            <a:off x="7902665" y="2257104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ell:why"/>
          <p:cNvSpPr txBox="1"/>
          <p:nvPr/>
        </p:nvSpPr>
        <p:spPr>
          <a:xfrm>
            <a:off x="8187958" y="2157984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Invented figures get labelled instead of blending in.</a:t>
            </a:r>
          </a:p>
        </p:txBody>
      </p:sp>
      <p:cxnSp>
        <p:nvCxnSpPr>
          <p:cNvPr id="33" name="vis:icon"/>
          <p:cNvCxnSpPr/>
          <p:nvPr/>
        </p:nvCxnSpPr>
        <p:spPr>
          <a:xfrm>
            <a:off x="7850361" y="3250143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7902665" y="3189792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why"/>
          <p:cNvSpPr txBox="1"/>
          <p:nvPr/>
        </p:nvSpPr>
        <p:spPr>
          <a:xfrm>
            <a:off x="8187958" y="3090672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You see immediately which lines need a real source.</a:t>
            </a:r>
          </a:p>
        </p:txBody>
      </p:sp>
      <p:cxnSp>
        <p:nvCxnSpPr>
          <p:cNvPr id="36" name="vis:icon"/>
          <p:cNvCxnSpPr/>
          <p:nvPr/>
        </p:nvCxnSpPr>
        <p:spPr>
          <a:xfrm>
            <a:off x="7850361" y="4182831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s:icon"/>
          <p:cNvCxnSpPr/>
          <p:nvPr/>
        </p:nvCxnSpPr>
        <p:spPr>
          <a:xfrm flipV="1">
            <a:off x="7902665" y="4122480"/>
            <a:ext cx="96561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ell:why"/>
          <p:cNvSpPr txBox="1"/>
          <p:nvPr/>
        </p:nvSpPr>
        <p:spPr>
          <a:xfrm>
            <a:off x="8187958" y="4023360"/>
            <a:ext cx="350081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costs one sentence and saves a wrong quotation.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TO USE INSTEAD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right tool per limit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live rate or price — the official site or your supplier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company figure — the ERP, the MIS, or the person who owns it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rule or a law — the published circular, or your compliance contact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judgement call — your manager, with the options laid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WHAT TO USE INSTEAD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Two minutes that save a quotation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pnum"/>
          <p:cNvSpPr/>
          <p:nvPr/>
        </p:nvSpPr>
        <p:spPr>
          <a:xfrm>
            <a:off x="502920" y="2027681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epnumtext"/>
          <p:cNvSpPr txBox="1"/>
          <p:nvPr/>
        </p:nvSpPr>
        <p:spPr>
          <a:xfrm>
            <a:off x="502920" y="2105406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76656" y="2375154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:step"/>
          <p:cNvSpPr txBox="1"/>
          <p:nvPr/>
        </p:nvSpPr>
        <p:spPr>
          <a:xfrm>
            <a:off x="1051560" y="1719072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Write down the one number the whole document depends on.</a:t>
            </a:r>
          </a:p>
        </p:txBody>
      </p:sp>
      <p:sp>
        <p:nvSpPr>
          <p:cNvPr id="19" name="vis:stepnum"/>
          <p:cNvSpPr/>
          <p:nvPr/>
        </p:nvSpPr>
        <p:spPr>
          <a:xfrm>
            <a:off x="502920" y="3138677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stepnumtext"/>
          <p:cNvSpPr txBox="1"/>
          <p:nvPr/>
        </p:nvSpPr>
        <p:spPr>
          <a:xfrm>
            <a:off x="502920" y="3216401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cxnSp>
        <p:nvCxnSpPr>
          <p:cNvPr id="21" name="vis:line"/>
          <p:cNvCxnSpPr/>
          <p:nvPr/>
        </p:nvCxnSpPr>
        <p:spPr>
          <a:xfrm>
            <a:off x="676656" y="3486150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step"/>
          <p:cNvSpPr txBox="1"/>
          <p:nvPr/>
        </p:nvSpPr>
        <p:spPr>
          <a:xfrm>
            <a:off x="1051560" y="2830068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Ask yourself where that number actually lives.</a:t>
            </a:r>
          </a:p>
        </p:txBody>
      </p:sp>
      <p:sp>
        <p:nvSpPr>
          <p:cNvPr id="23" name="vis:stepnum"/>
          <p:cNvSpPr/>
          <p:nvPr/>
        </p:nvSpPr>
        <p:spPr>
          <a:xfrm>
            <a:off x="502920" y="4249674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stepnumtext"/>
          <p:cNvSpPr txBox="1"/>
          <p:nvPr/>
        </p:nvSpPr>
        <p:spPr>
          <a:xfrm>
            <a:off x="502920" y="4327398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cxnSp>
        <p:nvCxnSpPr>
          <p:cNvPr id="25" name="vis:line"/>
          <p:cNvCxnSpPr/>
          <p:nvPr/>
        </p:nvCxnSpPr>
        <p:spPr>
          <a:xfrm>
            <a:off x="676656" y="4597146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step"/>
          <p:cNvSpPr txBox="1"/>
          <p:nvPr/>
        </p:nvSpPr>
        <p:spPr>
          <a:xfrm>
            <a:off x="1051560" y="3941064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Go and get it from there. It is usually two clicks.</a:t>
            </a:r>
          </a:p>
        </p:txBody>
      </p:sp>
      <p:sp>
        <p:nvSpPr>
          <p:cNvPr id="27" name="vis:stepnum"/>
          <p:cNvSpPr/>
          <p:nvPr/>
        </p:nvSpPr>
        <p:spPr>
          <a:xfrm>
            <a:off x="502920" y="5360670"/>
            <a:ext cx="347472" cy="34747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stepnumtext"/>
          <p:cNvSpPr txBox="1"/>
          <p:nvPr/>
        </p:nvSpPr>
        <p:spPr>
          <a:xfrm>
            <a:off x="502920" y="543839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cell:step"/>
          <p:cNvSpPr txBox="1"/>
          <p:nvPr/>
        </p:nvSpPr>
        <p:spPr>
          <a:xfrm>
            <a:off x="1051560" y="5052060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Then hand the tool the number and ask for the wording.</a:t>
            </a:r>
          </a:p>
        </p:txBody>
      </p:sp>
      <p:sp>
        <p:nvSpPr>
          <p:cNvPr id="30" name="vis:promptcard"/>
          <p:cNvSpPr/>
          <p:nvPr/>
        </p:nvSpPr>
        <p:spPr>
          <a:xfrm>
            <a:off x="6461607" y="1719072"/>
            <a:ext cx="5227167" cy="2377947"/>
          </a:xfrm>
          <a:prstGeom prst="roundRect">
            <a:avLst>
              <a:gd name="adj" fmla="val 384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promptbar"/>
          <p:cNvSpPr/>
          <p:nvPr/>
        </p:nvSpPr>
        <p:spPr>
          <a:xfrm>
            <a:off x="6461607" y="1719072"/>
            <a:ext cx="5227167" cy="402336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6698620" y="1841235"/>
            <a:ext cx="184343" cy="122895"/>
          </a:xfrm>
          <a:prstGeom prst="roundRect">
            <a:avLst>
              <a:gd name="adj" fmla="val 37202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 flipH="1">
            <a:off x="6733733" y="1964131"/>
            <a:ext cx="8778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733733" y="1964131"/>
            <a:ext cx="48280" cy="4828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copybtn"/>
          <p:cNvSpPr/>
          <p:nvPr/>
        </p:nvSpPr>
        <p:spPr>
          <a:xfrm>
            <a:off x="9828606" y="1792224"/>
            <a:ext cx="1677289" cy="256032"/>
          </a:xfrm>
          <a:prstGeom prst="roundRect">
            <a:avLst>
              <a:gd name="adj" fmla="val 1785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icon"/>
          <p:cNvSpPr/>
          <p:nvPr/>
        </p:nvSpPr>
        <p:spPr>
          <a:xfrm>
            <a:off x="10012217" y="1858060"/>
            <a:ext cx="80832" cy="13057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10030871" y="189536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>
            <a:off x="10030871" y="1923348"/>
            <a:ext cx="43525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>
            <a:off x="10030871" y="1951329"/>
            <a:ext cx="3109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copytext"/>
          <p:cNvSpPr txBox="1"/>
          <p:nvPr/>
        </p:nvSpPr>
        <p:spPr>
          <a:xfrm>
            <a:off x="10240086" y="1851660"/>
            <a:ext cx="106464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Select + copy</a:t>
            </a:r>
          </a:p>
        </p:txBody>
      </p:sp>
      <p:sp>
        <p:nvSpPr>
          <p:cNvPr id="41" name="vis:prompthdr"/>
          <p:cNvSpPr txBox="1"/>
          <p:nvPr/>
        </p:nvSpPr>
        <p:spPr>
          <a:xfrm>
            <a:off x="7010247" y="1828800"/>
            <a:ext cx="27086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60">
                <a:solidFill>
                  <a:srgbClr val="FFFFFF"/>
                </a:solidFill>
                <a:latin typeface="Segoe UI Semibold"/>
              </a:rPr>
              <a:t>Copy this prompt</a:t>
            </a:r>
          </a:p>
        </p:txBody>
      </p:sp>
      <p:sp>
        <p:nvSpPr>
          <p:cNvPr id="42" name="card:prompt"/>
          <p:cNvSpPr txBox="1"/>
          <p:nvPr/>
        </p:nvSpPr>
        <p:spPr>
          <a:xfrm>
            <a:off x="6735927" y="2267712"/>
            <a:ext cx="4678527" cy="115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Write a one-page quotation covering letter. The rate is 62,400 per tonne, valid for 15 days, ex works. Payment terms 30 days. Tone: confident and brief. Under 180 words. Do not add any figures I have not given you.</a:t>
            </a:r>
          </a:p>
        </p:txBody>
      </p:sp>
      <p:sp>
        <p:nvSpPr>
          <p:cNvPr id="43" name="vis:promptcap"/>
          <p:cNvSpPr txBox="1"/>
          <p:nvPr/>
        </p:nvSpPr>
        <p:spPr>
          <a:xfrm>
            <a:off x="6735927" y="3624579"/>
            <a:ext cx="4678527" cy="252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D1DE"/>
                </a:solidFill>
                <a:latin typeface="Segoe UI"/>
              </a:rPr>
              <a:t>Every number in it came from you. That is the whole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Ask so it cannot hurt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ard"/>
          <p:cNvSpPr/>
          <p:nvPr/>
        </p:nvSpPr>
        <p:spPr>
          <a:xfrm>
            <a:off x="502920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outspine"/>
          <p:cNvSpPr/>
          <p:nvPr/>
        </p:nvSpPr>
        <p:spPr>
          <a:xfrm>
            <a:off x="502920" y="1719072"/>
            <a:ext cx="68580" cy="3291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58952" y="1920240"/>
            <a:ext cx="3464665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14400" y="1947672"/>
            <a:ext cx="31537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QUESTION THAT INVITES INVENTION</a:t>
            </a:r>
          </a:p>
        </p:txBody>
      </p:sp>
      <p:sp>
        <p:nvSpPr>
          <p:cNvPr id="19" name="vis:outbody"/>
          <p:cNvSpPr txBox="1"/>
          <p:nvPr/>
        </p:nvSpPr>
        <p:spPr>
          <a:xfrm>
            <a:off x="758952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"What is the notice period under UAE labour law?"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It answers with a specific period, stated plainly and without qualification.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You have no way to tell whether it is current, or ever was.</a:t>
            </a:r>
          </a:p>
        </p:txBody>
      </p:sp>
      <p:sp>
        <p:nvSpPr>
          <p:cNvPr id="20" name="vis:outcard"/>
          <p:cNvSpPr/>
          <p:nvPr/>
        </p:nvSpPr>
        <p:spPr>
          <a:xfrm>
            <a:off x="6278727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outspine"/>
          <p:cNvSpPr/>
          <p:nvPr/>
        </p:nvSpPr>
        <p:spPr>
          <a:xfrm>
            <a:off x="6278727" y="1719072"/>
            <a:ext cx="68580" cy="32918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"/>
          <p:cNvSpPr/>
          <p:nvPr/>
        </p:nvSpPr>
        <p:spPr>
          <a:xfrm>
            <a:off x="6534759" y="1920240"/>
            <a:ext cx="3221995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hiptext"/>
          <p:cNvSpPr txBox="1"/>
          <p:nvPr/>
        </p:nvSpPr>
        <p:spPr>
          <a:xfrm>
            <a:off x="6690207" y="1947672"/>
            <a:ext cx="2911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QUESTION THAT CANNOT INVENT</a:t>
            </a:r>
          </a:p>
        </p:txBody>
      </p:sp>
      <p:sp>
        <p:nvSpPr>
          <p:cNvPr id="24" name="vis:outbody"/>
          <p:cNvSpPr txBox="1"/>
          <p:nvPr/>
        </p:nvSpPr>
        <p:spPr>
          <a:xfrm>
            <a:off x="6534759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"Here is the clause from our contract. Explain it in plain English."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It explains the words you actually pasted in.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Every sentence traces back to something on your screen.</a:t>
            </a:r>
          </a:p>
        </p:txBody>
      </p:sp>
      <p:sp>
        <p:nvSpPr>
          <p:cNvPr id="25" name="cell:banote"/>
          <p:cNvSpPr txBox="1"/>
          <p:nvPr/>
        </p:nvSpPr>
        <p:spPr>
          <a:xfrm>
            <a:off x="502920" y="5193792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Bring the fact to the tool. Never ask the tool to bring the fact.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Four ways to blunt the risk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Paste the source text in, instead of asking about it.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Add "do not add anything I have not given you".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Ask for questions to check, not for answers to trust.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Say "if you are unsure, list it as a gap" and mean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people get caught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Every one of these produced a confident, wrong answer for somebody last year.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None of them looked risky at the moment of asking.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0138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823965" y="3608313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"What is the current GST rate on this category?"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6205575" y="2953512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6425031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6504035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6526621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6863943" y="3099816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"Summarise the new labour circular for me"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502920" y="4590288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722376" y="514349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01380" y="5222504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823965" y="5245089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1161288" y="4736592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"What is the standard warranty in our industry?"</a:t>
            </a:r>
          </a:p>
        </p:txBody>
      </p:sp>
      <p:sp>
        <p:nvSpPr>
          <p:cNvPr id="35" name="vis:checktile"/>
          <p:cNvSpPr/>
          <p:nvPr/>
        </p:nvSpPr>
        <p:spPr>
          <a:xfrm>
            <a:off x="6205575" y="4590288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checkdot"/>
          <p:cNvSpPr/>
          <p:nvPr/>
        </p:nvSpPr>
        <p:spPr>
          <a:xfrm>
            <a:off x="6425031" y="514349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icon"/>
          <p:cNvSpPr/>
          <p:nvPr/>
        </p:nvSpPr>
        <p:spPr>
          <a:xfrm>
            <a:off x="6504035" y="5222504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8" name="vis:icon"/>
          <p:cNvCxnSpPr/>
          <p:nvPr/>
        </p:nvCxnSpPr>
        <p:spPr>
          <a:xfrm>
            <a:off x="6526621" y="5245089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ell:checkitem"/>
          <p:cNvSpPr txBox="1"/>
          <p:nvPr/>
        </p:nvSpPr>
        <p:spPr>
          <a:xfrm>
            <a:off x="6863943" y="4736592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"Add up these forty line items and give me the total"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it is still excellent at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Limits are not a reason to avoid it. They are a map of where to point it.</a:t>
            </a:r>
          </a:p>
        </p:txBody>
      </p:sp>
      <p:sp>
        <p:nvSpPr>
          <p:cNvPr id="16" name="vis:tile"/>
          <p:cNvSpPr/>
          <p:nvPr/>
        </p:nvSpPr>
        <p:spPr>
          <a:xfrm>
            <a:off x="502920" y="2432304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77240" y="2724912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996871" y="2903461"/>
            <a:ext cx="219104" cy="301269"/>
          </a:xfrm>
          <a:prstGeom prst="roundRect">
            <a:avLst>
              <a:gd name="adj" fmla="val 20866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44800" y="2999319"/>
            <a:ext cx="123247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>
            <a:off x="1044800" y="3054096"/>
            <a:ext cx="123247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>
            <a:off x="1044800" y="3108872"/>
            <a:ext cx="82165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tilelabel"/>
          <p:cNvSpPr txBox="1"/>
          <p:nvPr/>
        </p:nvSpPr>
        <p:spPr>
          <a:xfrm>
            <a:off x="777240" y="3566160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Wording anything</a:t>
            </a:r>
          </a:p>
        </p:txBody>
      </p:sp>
      <p:sp>
        <p:nvSpPr>
          <p:cNvPr id="23" name="cell:tilesub"/>
          <p:cNvSpPr txBox="1"/>
          <p:nvPr/>
        </p:nvSpPr>
        <p:spPr>
          <a:xfrm>
            <a:off x="777240" y="4206240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Emails, summaries, explanations, refusals. The facts come from you, the sentences from it.</a:t>
            </a:r>
          </a:p>
        </p:txBody>
      </p:sp>
      <p:sp>
        <p:nvSpPr>
          <p:cNvPr id="24" name="vis:tile"/>
          <p:cNvSpPr/>
          <p:nvPr/>
        </p:nvSpPr>
        <p:spPr>
          <a:xfrm>
            <a:off x="4322978" y="2432304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badge"/>
          <p:cNvSpPr/>
          <p:nvPr/>
        </p:nvSpPr>
        <p:spPr>
          <a:xfrm>
            <a:off x="4597298" y="2724912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4775847" y="2924002"/>
            <a:ext cx="301269" cy="260187"/>
          </a:xfrm>
          <a:prstGeom prst="roundRect">
            <a:avLst>
              <a:gd name="adj" fmla="val 1757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4775847" y="3006166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>
            <a:off x="4892247" y="2924002"/>
            <a:ext cx="0" cy="26018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s:icon"/>
          <p:cNvCxnSpPr/>
          <p:nvPr/>
        </p:nvCxnSpPr>
        <p:spPr>
          <a:xfrm>
            <a:off x="4775847" y="3095178"/>
            <a:ext cx="30126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tilelabel"/>
          <p:cNvSpPr txBox="1"/>
          <p:nvPr/>
        </p:nvSpPr>
        <p:spPr>
          <a:xfrm>
            <a:off x="4597298" y="3566160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Restructuring</a:t>
            </a:r>
          </a:p>
        </p:txBody>
      </p:sp>
      <p:sp>
        <p:nvSpPr>
          <p:cNvPr id="31" name="cell:tilesub"/>
          <p:cNvSpPr txBox="1"/>
          <p:nvPr/>
        </p:nvSpPr>
        <p:spPr>
          <a:xfrm>
            <a:off x="4597298" y="4206240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Long into short, list into table, dense into plain. Nothing to invent, so nothing invented.</a:t>
            </a:r>
          </a:p>
        </p:txBody>
      </p:sp>
      <p:sp>
        <p:nvSpPr>
          <p:cNvPr id="32" name="vis:tile"/>
          <p:cNvSpPr/>
          <p:nvPr/>
        </p:nvSpPr>
        <p:spPr>
          <a:xfrm>
            <a:off x="8143036" y="2432304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badge"/>
          <p:cNvSpPr/>
          <p:nvPr/>
        </p:nvSpPr>
        <p:spPr>
          <a:xfrm>
            <a:off x="8417356" y="2724912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icon"/>
          <p:cNvSpPr/>
          <p:nvPr/>
        </p:nvSpPr>
        <p:spPr>
          <a:xfrm>
            <a:off x="8599329" y="2927425"/>
            <a:ext cx="47929" cy="47929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5" name="vis:icon"/>
          <p:cNvCxnSpPr/>
          <p:nvPr/>
        </p:nvCxnSpPr>
        <p:spPr>
          <a:xfrm>
            <a:off x="8684917" y="2951390"/>
            <a:ext cx="212258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is:icon"/>
          <p:cNvSpPr/>
          <p:nvPr/>
        </p:nvSpPr>
        <p:spPr>
          <a:xfrm>
            <a:off x="8599329" y="3030131"/>
            <a:ext cx="47929" cy="47929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7" name="vis:icon"/>
          <p:cNvCxnSpPr/>
          <p:nvPr/>
        </p:nvCxnSpPr>
        <p:spPr>
          <a:xfrm>
            <a:off x="8684917" y="3054096"/>
            <a:ext cx="212258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vis:icon"/>
          <p:cNvSpPr/>
          <p:nvPr/>
        </p:nvSpPr>
        <p:spPr>
          <a:xfrm>
            <a:off x="8599329" y="3132836"/>
            <a:ext cx="47929" cy="47929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9" name="vis:icon"/>
          <p:cNvCxnSpPr/>
          <p:nvPr/>
        </p:nvCxnSpPr>
        <p:spPr>
          <a:xfrm>
            <a:off x="8684917" y="3156801"/>
            <a:ext cx="212258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tilelabel"/>
          <p:cNvSpPr txBox="1"/>
          <p:nvPr/>
        </p:nvSpPr>
        <p:spPr>
          <a:xfrm>
            <a:off x="8417356" y="3566160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Listing what to check</a:t>
            </a:r>
          </a:p>
        </p:txBody>
      </p:sp>
      <p:sp>
        <p:nvSpPr>
          <p:cNvPr id="41" name="cell:tilesub"/>
          <p:cNvSpPr txBox="1"/>
          <p:nvPr/>
        </p:nvSpPr>
        <p:spPr>
          <a:xfrm>
            <a:off x="8417356" y="4206240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"What should I verify before signing this?" is a question it answers genuinely well.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Five mistakes people really make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Believing a number because it is precise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62,417 reads as researched. It was generated the same way as the sentence around it.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Asking about "the new" anything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New means after the cut-off. It will still answer, and the answer will be plausible fiction.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Taking a legal answer at face value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has no jurisdiction, no date and no liability. You have all three.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Letting it total a long list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is producing likely text, not calculating. Long arithmetic drifts and looks fine.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Assuming a confident tone means a solid answer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Tone is constant by design. It is not a signal of anything at 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DESIGNING AROUND 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limitation rule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If the answer matters and you cannot check it, you cannot use it.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Not a rule about AI. A rule about anything you sign your name to.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81527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60450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Check it — then use it.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461704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4662220" y="3613525"/>
            <a:ext cx="83394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Cannot check it — go to the source.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418819" y="3665646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63991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No time to check — no time to send.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Friday, 4:40 pm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ccard"/>
          <p:cNvSpPr/>
          <p:nvPr/>
        </p:nvSpPr>
        <p:spPr>
          <a:xfrm>
            <a:off x="502920" y="1719072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942929" y="2063252"/>
            <a:ext cx="180685" cy="180685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43076" y="2315260"/>
            <a:ext cx="380391" cy="166421"/>
          </a:xfrm>
          <a:custGeom>
            <a:avLst/>
            <a:gdLst/>
            <a:ahLst/>
            <a:cxnLst/>
            <a:rect l="l" t="t" r="r" b="b"/>
            <a:pathLst>
              <a:path w="380391" h="166421">
                <a:moveTo>
                  <a:pt x="0" y="166421"/>
                </a:moveTo>
                <a:lnTo>
                  <a:pt x="28530" y="0"/>
                </a:lnTo>
                <a:lnTo>
                  <a:pt x="351861" y="0"/>
                </a:lnTo>
                <a:lnTo>
                  <a:pt x="380391" y="166421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situation"/>
          <p:cNvSpPr txBox="1"/>
          <p:nvPr/>
        </p:nvSpPr>
        <p:spPr>
          <a:xfrm>
            <a:off x="1472184" y="1901952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A quotation must go out before close. You need one figure: the current import duty on a component. The person who knows has already left for the day.</a:t>
            </a:r>
          </a:p>
        </p:txBody>
      </p:sp>
      <p:sp>
        <p:nvSpPr>
          <p:cNvPr id="19" name="quiz:choice">
            <a:hlinkClick action="ppaction://hlinksldjump" r:id="rId3"/>
          </p:cNvPr>
          <p:cNvSpPr/>
          <p:nvPr/>
        </p:nvSpPr>
        <p:spPr>
          <a:xfrm>
            <a:off x="502920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"/>
          <p:cNvSpPr/>
          <p:nvPr/>
        </p:nvSpPr>
        <p:spPr>
          <a:xfrm>
            <a:off x="758952" y="3364991"/>
            <a:ext cx="1296924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914400" y="3392423"/>
            <a:ext cx="9860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A</a:t>
            </a:r>
          </a:p>
        </p:txBody>
      </p:sp>
      <p:sp>
        <p:nvSpPr>
          <p:cNvPr id="22" name="cell:choice"/>
          <p:cNvSpPr txBox="1"/>
          <p:nvPr/>
        </p:nvSpPr>
        <p:spPr>
          <a:xfrm>
            <a:off x="758952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the assistant for the current duty rate and use it.</a:t>
            </a:r>
          </a:p>
        </p:txBody>
      </p:sp>
      <p:cxnSp>
        <p:nvCxnSpPr>
          <p:cNvPr id="23" name="vis:choicearrow"/>
          <p:cNvCxnSpPr/>
          <p:nvPr/>
        </p:nvCxnSpPr>
        <p:spPr>
          <a:xfrm>
            <a:off x="758952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oicego"/>
          <p:cNvSpPr txBox="1"/>
          <p:nvPr/>
        </p:nvSpPr>
        <p:spPr>
          <a:xfrm>
            <a:off x="1161288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25" name="quiz:choice">
            <a:hlinkClick action="ppaction://hlinksldjump" r:id="rId4"/>
          </p:cNvPr>
          <p:cNvSpPr/>
          <p:nvPr/>
        </p:nvSpPr>
        <p:spPr>
          <a:xfrm>
            <a:off x="4310786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"/>
          <p:cNvSpPr/>
          <p:nvPr/>
        </p:nvSpPr>
        <p:spPr>
          <a:xfrm>
            <a:off x="4566818" y="3364991"/>
            <a:ext cx="1287399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4722266" y="3392423"/>
            <a:ext cx="976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B</a:t>
            </a:r>
          </a:p>
        </p:txBody>
      </p:sp>
      <p:sp>
        <p:nvSpPr>
          <p:cNvPr id="28" name="cell:choice"/>
          <p:cNvSpPr txBox="1"/>
          <p:nvPr/>
        </p:nvSpPr>
        <p:spPr>
          <a:xfrm>
            <a:off x="4566818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Send the quotation with the duty line marked as "to be confirmed Monday".</a:t>
            </a:r>
          </a:p>
        </p:txBody>
      </p:sp>
      <p:cxnSp>
        <p:nvCxnSpPr>
          <p:cNvPr id="29" name="vis:choicearrow"/>
          <p:cNvCxnSpPr/>
          <p:nvPr/>
        </p:nvCxnSpPr>
        <p:spPr>
          <a:xfrm>
            <a:off x="4566818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oicego"/>
          <p:cNvSpPr txBox="1"/>
          <p:nvPr/>
        </p:nvSpPr>
        <p:spPr>
          <a:xfrm>
            <a:off x="4969154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31" name="quiz:choice">
            <a:hlinkClick action="ppaction://hlinksldjump" r:id="rId5"/>
          </p:cNvPr>
          <p:cNvSpPr/>
          <p:nvPr/>
        </p:nvSpPr>
        <p:spPr>
          <a:xfrm>
            <a:off x="8118652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ip"/>
          <p:cNvSpPr/>
          <p:nvPr/>
        </p:nvSpPr>
        <p:spPr>
          <a:xfrm>
            <a:off x="8374684" y="3364991"/>
            <a:ext cx="1290574" cy="274320"/>
          </a:xfrm>
          <a:prstGeom prst="roundRect">
            <a:avLst>
              <a:gd name="adj" fmla="val 16666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chiptext"/>
          <p:cNvSpPr txBox="1"/>
          <p:nvPr/>
        </p:nvSpPr>
        <p:spPr>
          <a:xfrm>
            <a:off x="8530132" y="3392423"/>
            <a:ext cx="9796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C</a:t>
            </a:r>
          </a:p>
        </p:txBody>
      </p:sp>
      <p:sp>
        <p:nvSpPr>
          <p:cNvPr id="34" name="cell:choice"/>
          <p:cNvSpPr txBox="1"/>
          <p:nvPr/>
        </p:nvSpPr>
        <p:spPr>
          <a:xfrm>
            <a:off x="8374684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Use last quarter's duty rate from the old quotation.</a:t>
            </a:r>
          </a:p>
        </p:txBody>
      </p:sp>
      <p:cxnSp>
        <p:nvCxnSpPr>
          <p:cNvPr id="35" name="vis:choicearrow"/>
          <p:cNvCxnSpPr/>
          <p:nvPr/>
        </p:nvCxnSpPr>
        <p:spPr>
          <a:xfrm>
            <a:off x="8374684" y="5632704"/>
            <a:ext cx="292608" cy="0"/>
          </a:xfrm>
          <a:prstGeom prst="line">
            <a:avLst/>
          </a:prstGeom>
          <a:ln w="19050">
            <a:solidFill>
              <a:srgbClr val="2F4B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choicego"/>
          <p:cNvSpPr txBox="1"/>
          <p:nvPr/>
        </p:nvSpPr>
        <p:spPr>
          <a:xfrm>
            <a:off x="8777020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See what happens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It will answer. That is the problem.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 get a rate stated to one decimal place. It reflects whatever was common in text before the cut-off, not today's schedule. The quotation goes out, is accepted, and the difference comes out of your margin.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rate that can change is never a question for a model.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Honest, fast, and completely defensible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customer gets everything else on Friday and one clearly flagged line. Nobody is misled and nothing has to be withdrawn. You confirm the rate at 9 am Monday and send a one-line update.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flagged gap costs nothing. A confident wrong number costs the margin.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icon"/>
          <p:cNvSpPr/>
          <p:nvPr/>
        </p:nvSpPr>
        <p:spPr>
          <a:xfrm>
            <a:off x="519744" y="409285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vis:icon"/>
          <p:cNvCxnSpPr/>
          <p:nvPr/>
        </p:nvCxnSpPr>
        <p:spPr>
          <a:xfrm>
            <a:off x="713232" y="543885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vis:icon"/>
          <p:cNvSpPr/>
          <p:nvPr/>
        </p:nvSpPr>
        <p:spPr>
          <a:xfrm>
            <a:off x="692200" y="686897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Better, but still a guess with a date on it</a:t>
            </a:r>
          </a:p>
        </p:txBody>
      </p:sp>
      <p:sp>
        <p:nvSpPr>
          <p:cNvPr id="7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At least it came from a real document, so you can show where it came from. But duty schedules change, and "it was right in March" is a weak position in June. Flag it as indicative if you use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THE RULE</a:t>
            </a:r>
          </a:p>
        </p:txBody>
      </p:sp>
      <p:sp>
        <p:nvSpPr>
          <p:cNvPr id="10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 old real number still needs a date next to it.</a:t>
            </a:r>
          </a:p>
        </p:txBody>
      </p:sp>
      <p:sp>
        <p:nvSpPr>
          <p:cNvPr id="11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WATCH THIS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Nine minutes on what it cannot do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nav:video">
            <a:hlinkClick r:id="rId2"/>
          </p:cNvPr>
          <p:cNvSpPr/>
          <p:nvPr/>
        </p:nvSpPr>
        <p:spPr>
          <a:xfrm>
            <a:off x="502920" y="1719072"/>
            <a:ext cx="6448882" cy="4297680"/>
          </a:xfrm>
          <a:prstGeom prst="roundRect">
            <a:avLst>
              <a:gd name="adj" fmla="val 21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lay"/>
          <p:cNvSpPr/>
          <p:nvPr/>
        </p:nvSpPr>
        <p:spPr>
          <a:xfrm>
            <a:off x="1161288" y="2432303"/>
            <a:ext cx="950976" cy="950976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laytri"/>
          <p:cNvSpPr/>
          <p:nvPr/>
        </p:nvSpPr>
        <p:spPr>
          <a:xfrm>
            <a:off x="1499616" y="2679191"/>
            <a:ext cx="384048" cy="457200"/>
          </a:xfrm>
          <a:custGeom>
            <a:avLst/>
            <a:gdLst/>
            <a:ahLst/>
            <a:cxnLst/>
            <a:rect l="l" t="t" r="r" b="b"/>
            <a:pathLst>
              <a:path w="384048" h="457200">
                <a:moveTo>
                  <a:pt x="0" y="0"/>
                </a:moveTo>
                <a:lnTo>
                  <a:pt x="384048" y="2286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videotitle"/>
          <p:cNvSpPr txBox="1"/>
          <p:nvPr/>
        </p:nvSpPr>
        <p:spPr>
          <a:xfrm>
            <a:off x="2514600" y="2231136"/>
            <a:ext cx="41263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Can AI Think? Debunking AI Limitations</a:t>
            </a:r>
          </a:p>
        </p:txBody>
      </p:sp>
      <p:sp>
        <p:nvSpPr>
          <p:cNvPr id="19" name="vis:chip"/>
          <p:cNvSpPr/>
          <p:nvPr/>
        </p:nvSpPr>
        <p:spPr>
          <a:xfrm>
            <a:off x="868680" y="3858768"/>
            <a:ext cx="195917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1024128" y="3895344"/>
            <a:ext cx="16482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IBM TECHNOLOGY</a:t>
            </a:r>
          </a:p>
        </p:txBody>
      </p:sp>
      <p:sp>
        <p:nvSpPr>
          <p:cNvPr id="21" name="vis:chip"/>
          <p:cNvSpPr/>
          <p:nvPr/>
        </p:nvSpPr>
        <p:spPr>
          <a:xfrm>
            <a:off x="2974163" y="3858768"/>
            <a:ext cx="120484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text"/>
          <p:cNvSpPr txBox="1"/>
          <p:nvPr/>
        </p:nvSpPr>
        <p:spPr>
          <a:xfrm>
            <a:off x="3129611" y="3895344"/>
            <a:ext cx="893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9:01 MIN</a:t>
            </a:r>
          </a:p>
        </p:txBody>
      </p:sp>
      <p:cxnSp>
        <p:nvCxnSpPr>
          <p:cNvPr id="23" name="vis:rule"/>
          <p:cNvCxnSpPr/>
          <p:nvPr/>
        </p:nvCxnSpPr>
        <p:spPr>
          <a:xfrm>
            <a:off x="868680" y="4425696"/>
            <a:ext cx="5717362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:videonote"/>
          <p:cNvSpPr txBox="1"/>
          <p:nvPr/>
        </p:nvSpPr>
        <p:spPr>
          <a:xfrm>
            <a:off x="868680" y="4645152"/>
            <a:ext cx="57173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48D9A"/>
                </a:solidFill>
                <a:latin typeface="Segoe UI"/>
              </a:rPr>
              <a:t>An outside video, not company material. Where it differs from this module, follow this module.</a:t>
            </a:r>
          </a:p>
        </p:txBody>
      </p:sp>
      <p:sp>
        <p:nvSpPr>
          <p:cNvPr id="25" name="nav:videobtn">
            <a:hlinkClick r:id="rId2"/>
          </p:cNvPr>
          <p:cNvSpPr/>
          <p:nvPr/>
        </p:nvSpPr>
        <p:spPr>
          <a:xfrm>
            <a:off x="868680" y="5230368"/>
            <a:ext cx="3017520" cy="493776"/>
          </a:xfrm>
          <a:prstGeom prst="roundRect">
            <a:avLst>
              <a:gd name="adj" fmla="val 11111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1069116" y="5370819"/>
            <a:ext cx="153619" cy="153619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1202253" y="5503956"/>
            <a:ext cx="61447" cy="614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av:videobtntext"/>
          <p:cNvSpPr txBox="1"/>
          <p:nvPr/>
        </p:nvSpPr>
        <p:spPr>
          <a:xfrm>
            <a:off x="1417320" y="53583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Click to open on YouTube</a:t>
            </a:r>
          </a:p>
        </p:txBody>
      </p:sp>
      <p:sp>
        <p:nvSpPr>
          <p:cNvPr id="29" name="vis:videohow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videospine"/>
          <p:cNvSpPr/>
          <p:nvPr/>
        </p:nvSpPr>
        <p:spPr>
          <a:xfrm>
            <a:off x="8082076" y="1719072"/>
            <a:ext cx="68580" cy="4297680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seclabel"/>
          <p:cNvSpPr txBox="1"/>
          <p:nvPr/>
        </p:nvSpPr>
        <p:spPr>
          <a:xfrm>
            <a:off x="8392972" y="2029967"/>
            <a:ext cx="298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HOW TO USE IT</a:t>
            </a:r>
          </a:p>
        </p:txBody>
      </p:sp>
      <p:cxnSp>
        <p:nvCxnSpPr>
          <p:cNvPr id="32" name="vis:icon"/>
          <p:cNvCxnSpPr/>
          <p:nvPr/>
        </p:nvCxnSpPr>
        <p:spPr>
          <a:xfrm>
            <a:off x="8439424" y="2628351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91728" y="2568000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why"/>
          <p:cNvSpPr txBox="1"/>
          <p:nvPr/>
        </p:nvSpPr>
        <p:spPr>
          <a:xfrm>
            <a:off x="8777020" y="2468879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Optional. Everything you need is already in this deck.</a:t>
            </a:r>
          </a:p>
        </p:txBody>
      </p:sp>
      <p:cxnSp>
        <p:nvCxnSpPr>
          <p:cNvPr id="35" name="vis:icon"/>
          <p:cNvCxnSpPr/>
          <p:nvPr/>
        </p:nvCxnSpPr>
        <p:spPr>
          <a:xfrm>
            <a:off x="8439424" y="3743919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 flipV="1">
            <a:off x="8491728" y="3683568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why"/>
          <p:cNvSpPr txBox="1"/>
          <p:nvPr/>
        </p:nvSpPr>
        <p:spPr>
          <a:xfrm>
            <a:off x="8777020" y="3584448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Useful if you prefer watching to reading.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8439424" y="4859487"/>
            <a:ext cx="52304" cy="52304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8491728" y="4799136"/>
            <a:ext cx="96560" cy="112655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why"/>
          <p:cNvSpPr txBox="1"/>
          <p:nvPr/>
        </p:nvSpPr>
        <p:spPr>
          <a:xfrm>
            <a:off x="8777020" y="4700016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opens in your browser. Turn the sound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Which question is it safe to ask?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"What is today's exchange rate?"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"Explain what ex-works means for a buyer"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"What did the circular last month change?"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"How much stock do we hold of this part?"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"What is today's exchange rate?"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has no live data. It will produce a rate that looks entirely normal and is simply whatever was common in its training text. Use your bank's page.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Stable and checkable. Not live and unverifiable.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"Explain what ex-works means for a buyer"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 stable definition that has not changed in decades, and one you can sanity-check in seconds. This is solid ground for these tools.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Stable and checkable. Not live and unverifiable.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"What did the circular last month change?"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Last month is after its cut-off. It will not say so — it will describe a change that sounds like the sort of change such circulars make.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Stable and checkable. Not live and unverifiable.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"How much stock do we hold of this part?"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has no connection to your systems and never will unless someone builds one. Any figure it gives is invented in full.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Stable and checkable. Not live and unverifiable.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is a precise number dangerous?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Because precise numbers are usually rounded wrong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Because precision makes an invention look researched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Because the tool rounds to look confident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Because precise numbers are harder to check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Because precise numbers are usually rounded wrong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Rounding is not the issue. The issue is that the number may have no relationship to reality at all, however many decimal places it carries.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Precision is a style, not evidence.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Because precision makes an invention look researched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Exactly. "About 60,000" invites a check. "62,417" reads as though somebody looked it up. Both were produced the same way, by predicting likely text.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Precision is a style, not evidence.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Because the tool rounds to look confident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is not choosing a presentation style to persuade you. It produces the digits that fit the pattern, and detailed figures are common in that kind of sentence.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Precision is a style, not evidence.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Because precise numbers are harder to check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They are no harder to check than any other. The danger is that they do not feel like they need checking, so nobody checks them.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Precision is a style, not evidence.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does the cut-off date mean?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The tool stops working after that date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Anything newer will be answered from patterns, not knowledge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will refuse questions about recent events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only affects news, not business facts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The tool stops working after that date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works perfectly well. What stops is what it learned from. Everything after that date is outside what it has ever seen.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Recent means invented, not missing.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Anything newer will be answered from patterns, not knowledge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Right, and it will not warn you. You get a fluent description of a circular, rate or product it has never encountered, in the same tone as everything else.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Recent means invented, not missing.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It will refuse questions about recent events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Sometimes it will, and that is the good case. Very often it answers anyway, which is the case that reaches a customer.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Recent means invented, not missing.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It only affects news, not business facts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affects everything that moves: duty rates, tax rules, product ranges, regulations, and who holds which role at a supplier.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Recent means invented, not missing.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How do you make a guess visible?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it to be accurate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it to mark which numbers came from your text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the same question twice and compare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it how confident it is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Ask it to be accurate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There is nothing for it to act on. It cannot inspect its own output for truth, so the instruction changes nothing except the tone.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Ask it to label what it did not get from you.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Ask it to mark which numbers came from your text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This turns silent invention into a labelled line. It does not make anything accurate, but you can see instantly which figures need a real source.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Ask it to label what it did not get from you.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Ask the same question twice and compare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Two generations can agree and both be wrong, because they came from the same patterns. Agreement here is not corroboration.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Ask it to label what it did not get from you.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Ask it how confident it is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will produce a confidence statement the same way it produces everything else. A generated "90 per cent sure" is not a measurement.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Ask it to label what it did not get from you.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QUIZ  ·  QUESTION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deadline is in ten minutes.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m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025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780897" y="1976932"/>
            <a:ext cx="230428" cy="153619"/>
          </a:xfrm>
          <a:prstGeom prst="roundRect">
            <a:avLst>
              <a:gd name="adj" fmla="val 29761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 flipH="1">
            <a:off x="824788" y="2130552"/>
            <a:ext cx="10973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24788" y="2130552"/>
            <a:ext cx="60351" cy="6035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stem"/>
          <p:cNvSpPr txBox="1"/>
          <p:nvPr/>
        </p:nvSpPr>
        <p:spPr>
          <a:xfrm>
            <a:off x="1197864" y="1828800"/>
            <a:ext cx="1023487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You are missing one figure and the person who knows it has gone home for the weekend.</a:t>
            </a:r>
          </a:p>
        </p:txBody>
      </p:sp>
      <p:sp>
        <p:nvSpPr>
          <p:cNvPr id="20" name="quiz:answer">
            <a:hlinkClick action="ppaction://hlinksldjump" r:id="rId3"/>
          </p:cNvPr>
          <p:cNvSpPr/>
          <p:nvPr/>
        </p:nvSpPr>
        <p:spPr>
          <a:xfrm>
            <a:off x="502920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"/>
          <p:cNvSpPr/>
          <p:nvPr/>
        </p:nvSpPr>
        <p:spPr>
          <a:xfrm>
            <a:off x="740664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answerkeytext"/>
          <p:cNvSpPr txBox="1"/>
          <p:nvPr/>
        </p:nvSpPr>
        <p:spPr>
          <a:xfrm>
            <a:off x="740664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3" name="cell:answer"/>
          <p:cNvSpPr txBox="1"/>
          <p:nvPr/>
        </p:nvSpPr>
        <p:spPr>
          <a:xfrm>
            <a:off x="1252728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Ask the AI and use whatever it gives you</a:t>
            </a:r>
          </a:p>
        </p:txBody>
      </p:sp>
      <p:sp>
        <p:nvSpPr>
          <p:cNvPr id="24" name="quiz:answer">
            <a:hlinkClick action="ppaction://hlinksldjump" r:id="rId4"/>
          </p:cNvPr>
          <p:cNvSpPr/>
          <p:nvPr/>
        </p:nvSpPr>
        <p:spPr>
          <a:xfrm>
            <a:off x="6187287" y="263347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"/>
          <p:cNvSpPr/>
          <p:nvPr/>
        </p:nvSpPr>
        <p:spPr>
          <a:xfrm>
            <a:off x="6425031" y="3250691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answerkeytext"/>
          <p:cNvSpPr txBox="1"/>
          <p:nvPr/>
        </p:nvSpPr>
        <p:spPr>
          <a:xfrm>
            <a:off x="6425031" y="33284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7" name="cell:answer"/>
          <p:cNvSpPr txBox="1"/>
          <p:nvPr/>
        </p:nvSpPr>
        <p:spPr>
          <a:xfrm>
            <a:off x="6937095" y="276148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Send it with that line clearly marked as to be confirmed</a:t>
            </a:r>
          </a:p>
        </p:txBody>
      </p:sp>
      <p:sp>
        <p:nvSpPr>
          <p:cNvPr id="28" name="quiz:answer">
            <a:hlinkClick action="ppaction://hlinksldjump" r:id="rId5"/>
          </p:cNvPr>
          <p:cNvSpPr/>
          <p:nvPr/>
        </p:nvSpPr>
        <p:spPr>
          <a:xfrm>
            <a:off x="502920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"/>
          <p:cNvSpPr/>
          <p:nvPr/>
        </p:nvSpPr>
        <p:spPr>
          <a:xfrm>
            <a:off x="740664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answerkeytext"/>
          <p:cNvSpPr txBox="1"/>
          <p:nvPr/>
        </p:nvSpPr>
        <p:spPr>
          <a:xfrm>
            <a:off x="740664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31" name="cell:answer"/>
          <p:cNvSpPr txBox="1"/>
          <p:nvPr/>
        </p:nvSpPr>
        <p:spPr>
          <a:xfrm>
            <a:off x="1252728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Hold the whole document until Monday</a:t>
            </a:r>
          </a:p>
        </p:txBody>
      </p:sp>
      <p:sp>
        <p:nvSpPr>
          <p:cNvPr id="32" name="quiz:answer">
            <a:hlinkClick action="ppaction://hlinksldjump" r:id="rId6"/>
          </p:cNvPr>
          <p:cNvSpPr/>
          <p:nvPr/>
        </p:nvSpPr>
        <p:spPr>
          <a:xfrm>
            <a:off x="6187287" y="4416552"/>
            <a:ext cx="5501487" cy="1600200"/>
          </a:xfrm>
          <a:prstGeom prst="roundRect">
            <a:avLst>
              <a:gd name="adj" fmla="val 4571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answerkey"/>
          <p:cNvSpPr/>
          <p:nvPr/>
        </p:nvSpPr>
        <p:spPr>
          <a:xfrm>
            <a:off x="6425031" y="5033772"/>
            <a:ext cx="365760" cy="365760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answerkeytext"/>
          <p:cNvSpPr txBox="1"/>
          <p:nvPr/>
        </p:nvSpPr>
        <p:spPr>
          <a:xfrm>
            <a:off x="6425031" y="51114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5" name="cell:answer"/>
          <p:cNvSpPr txBox="1"/>
          <p:nvPr/>
        </p:nvSpPr>
        <p:spPr>
          <a:xfrm>
            <a:off x="6937095" y="4544568"/>
            <a:ext cx="4495647" cy="1344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Estimate it yourself and note it as approximate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Ask the AI and use whatever it gives you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deadline does not change what the tool can know. You would be putting an unverifiable number into a document that binds the company, to save ten minutes.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flagged gap beats a confident invention.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Send it with that line clearly marked as to be confirmed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Everything else lands on time, nobody is misled, and nothing has to be withdrawn on Monday. A visible gap is a normal part of business; a wrong number is not.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flagged gap beats a confident invention.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See the recap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Hold the whole document until Monday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Safe but unnecessary. The other nine-tenths of the document is ready and useful, and delaying all of it for one line helps nobody.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flagged gap beats a confident invention.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Estimate it yourself and note it as approximate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Better than an AI guess because you can explain your reasoning, but in a binding document an estimate still needs to be labelled and agreed, not slipped in.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flagged gap beats a confident invention.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RECAP CARD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AI Limitations on one screen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recaphint"/>
          <p:cNvSpPr txBox="1"/>
          <p:nvPr/>
        </p:nvSpPr>
        <p:spPr>
          <a:xfrm>
            <a:off x="502920" y="159105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Screenshot this slide. It is the whole module in one screen.</a:t>
            </a:r>
          </a:p>
        </p:txBody>
      </p:sp>
      <p:sp>
        <p:nvSpPr>
          <p:cNvPr id="16" name="vis:recaptile"/>
          <p:cNvSpPr/>
          <p:nvPr/>
        </p:nvSpPr>
        <p:spPr>
          <a:xfrm>
            <a:off x="502920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ecapbar"/>
          <p:cNvSpPr/>
          <p:nvPr/>
        </p:nvSpPr>
        <p:spPr>
          <a:xfrm>
            <a:off x="502920" y="190195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ecaphead"/>
          <p:cNvSpPr txBox="1"/>
          <p:nvPr/>
        </p:nvSpPr>
        <p:spPr>
          <a:xfrm>
            <a:off x="740664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It cannot look anything up</a:t>
            </a:r>
          </a:p>
        </p:txBody>
      </p:sp>
      <p:sp>
        <p:nvSpPr>
          <p:cNvPr id="19" name="cell:recapsub"/>
          <p:cNvSpPr txBox="1"/>
          <p:nvPr/>
        </p:nvSpPr>
        <p:spPr>
          <a:xfrm>
            <a:off x="740664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No pages, no systems, no live data, unless the tool visibly shows you otherwise.</a:t>
            </a:r>
          </a:p>
        </p:txBody>
      </p:sp>
      <p:sp>
        <p:nvSpPr>
          <p:cNvPr id="20" name="vis:recaptile"/>
          <p:cNvSpPr/>
          <p:nvPr/>
        </p:nvSpPr>
        <p:spPr>
          <a:xfrm>
            <a:off x="6178143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recapbar"/>
          <p:cNvSpPr/>
          <p:nvPr/>
        </p:nvSpPr>
        <p:spPr>
          <a:xfrm>
            <a:off x="6178143" y="190195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cell:recaphead"/>
          <p:cNvSpPr txBox="1"/>
          <p:nvPr/>
        </p:nvSpPr>
        <p:spPr>
          <a:xfrm>
            <a:off x="6415887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Recent means invented</a:t>
            </a:r>
          </a:p>
        </p:txBody>
      </p:sp>
      <p:sp>
        <p:nvSpPr>
          <p:cNvPr id="23" name="cell:recapsub"/>
          <p:cNvSpPr txBox="1"/>
          <p:nvPr/>
        </p:nvSpPr>
        <p:spPr>
          <a:xfrm>
            <a:off x="6415887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Anything after the cut-off gets a plausible answer rather than an honest blank.</a:t>
            </a:r>
          </a:p>
        </p:txBody>
      </p:sp>
      <p:sp>
        <p:nvSpPr>
          <p:cNvPr id="24" name="vis:recaptile"/>
          <p:cNvSpPr/>
          <p:nvPr/>
        </p:nvSpPr>
        <p:spPr>
          <a:xfrm>
            <a:off x="502920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recapbar"/>
          <p:cNvSpPr/>
          <p:nvPr/>
        </p:nvSpPr>
        <p:spPr>
          <a:xfrm>
            <a:off x="502920" y="302971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recaphead"/>
          <p:cNvSpPr txBox="1"/>
          <p:nvPr/>
        </p:nvSpPr>
        <p:spPr>
          <a:xfrm>
            <a:off x="740664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Numbers are the weak point</a:t>
            </a:r>
          </a:p>
        </p:txBody>
      </p:sp>
      <p:sp>
        <p:nvSpPr>
          <p:cNvPr id="27" name="cell:recapsub"/>
          <p:cNvSpPr txBox="1"/>
          <p:nvPr/>
        </p:nvSpPr>
        <p:spPr>
          <a:xfrm>
            <a:off x="740664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precise figure reads as researched. It was produced like every other word.</a:t>
            </a:r>
          </a:p>
        </p:txBody>
      </p:sp>
      <p:sp>
        <p:nvSpPr>
          <p:cNvPr id="28" name="vis:recaptile"/>
          <p:cNvSpPr/>
          <p:nvPr/>
        </p:nvSpPr>
        <p:spPr>
          <a:xfrm>
            <a:off x="6178143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recapbar"/>
          <p:cNvSpPr/>
          <p:nvPr/>
        </p:nvSpPr>
        <p:spPr>
          <a:xfrm>
            <a:off x="6178143" y="302971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cell:recaphead"/>
          <p:cNvSpPr txBox="1"/>
          <p:nvPr/>
        </p:nvSpPr>
        <p:spPr>
          <a:xfrm>
            <a:off x="6415887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Confidence is not a signal</a:t>
            </a:r>
          </a:p>
        </p:txBody>
      </p:sp>
      <p:sp>
        <p:nvSpPr>
          <p:cNvPr id="31" name="cell:recapsub"/>
          <p:cNvSpPr txBox="1"/>
          <p:nvPr/>
        </p:nvSpPr>
        <p:spPr>
          <a:xfrm>
            <a:off x="6415887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tone never changes, whether the answer is solid or entirely made up.</a:t>
            </a:r>
          </a:p>
        </p:txBody>
      </p:sp>
      <p:sp>
        <p:nvSpPr>
          <p:cNvPr id="32" name="vis:recaptile"/>
          <p:cNvSpPr/>
          <p:nvPr/>
        </p:nvSpPr>
        <p:spPr>
          <a:xfrm>
            <a:off x="502920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recapbar"/>
          <p:cNvSpPr/>
          <p:nvPr/>
        </p:nvSpPr>
        <p:spPr>
          <a:xfrm>
            <a:off x="502920" y="415747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recaphead"/>
          <p:cNvSpPr txBox="1"/>
          <p:nvPr/>
        </p:nvSpPr>
        <p:spPr>
          <a:xfrm>
            <a:off x="740664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Bring the fact to the tool</a:t>
            </a:r>
          </a:p>
        </p:txBody>
      </p:sp>
      <p:sp>
        <p:nvSpPr>
          <p:cNvPr id="35" name="cell:recapsub"/>
          <p:cNvSpPr txBox="1"/>
          <p:nvPr/>
        </p:nvSpPr>
        <p:spPr>
          <a:xfrm>
            <a:off x="740664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Paste the clause, the figure, the circular. Then ask for wording.</a:t>
            </a:r>
          </a:p>
        </p:txBody>
      </p:sp>
      <p:sp>
        <p:nvSpPr>
          <p:cNvPr id="36" name="vis:recaptile"/>
          <p:cNvSpPr/>
          <p:nvPr/>
        </p:nvSpPr>
        <p:spPr>
          <a:xfrm>
            <a:off x="6178143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ecapbar"/>
          <p:cNvSpPr/>
          <p:nvPr/>
        </p:nvSpPr>
        <p:spPr>
          <a:xfrm>
            <a:off x="6178143" y="4157472"/>
            <a:ext cx="54864" cy="963168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ecaphead"/>
          <p:cNvSpPr txBox="1"/>
          <p:nvPr/>
        </p:nvSpPr>
        <p:spPr>
          <a:xfrm>
            <a:off x="6415887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If you cannot check it, do not use it</a:t>
            </a:r>
          </a:p>
        </p:txBody>
      </p:sp>
      <p:sp>
        <p:nvSpPr>
          <p:cNvPr id="39" name="cell:recapsub"/>
          <p:cNvSpPr txBox="1"/>
          <p:nvPr/>
        </p:nvSpPr>
        <p:spPr>
          <a:xfrm>
            <a:off x="6415887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That is a rule about anything you sign, not a rule about AI.</a:t>
            </a:r>
          </a:p>
        </p:txBody>
      </p:sp>
      <p:sp>
        <p:nvSpPr>
          <p:cNvPr id="40" name="vis:recapline"/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1219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75995" y="5464820"/>
            <a:ext cx="241401" cy="241401"/>
          </a:xfrm>
          <a:prstGeom prst="ellipse">
            <a:avLst/>
          </a:prstGeom>
          <a:noFill/>
          <a:ln w="19050">
            <a:solidFill>
              <a:srgbClr val="768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932322" y="5738408"/>
            <a:ext cx="128747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>
            <a:off x="948415" y="5802782"/>
            <a:ext cx="96561" cy="0"/>
          </a:xfrm>
          <a:prstGeom prst="line">
            <a:avLst/>
          </a:prstGeom>
          <a:ln w="19050">
            <a:solidFill>
              <a:srgbClr val="7688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recapone"/>
          <p:cNvSpPr txBox="1"/>
          <p:nvPr/>
        </p:nvSpPr>
        <p:spPr>
          <a:xfrm>
            <a:off x="1417320" y="5394959"/>
            <a:ext cx="99605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Segoe UI Semibold"/>
              </a:rPr>
              <a:t>It never says "I do not know". That single missing behaviour is the source of almost every AI problem at work.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YOUR TOOLKIT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Take these three things with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5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seclabel"/>
          <p:cNvSpPr txBox="1"/>
          <p:nvPr/>
        </p:nvSpPr>
        <p:spPr>
          <a:xfrm>
            <a:off x="502920" y="1719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TEMPLATES YOU CAN REUSE TODAY</a:t>
            </a:r>
          </a:p>
        </p:txBody>
      </p:sp>
      <p:sp>
        <p:nvSpPr>
          <p:cNvPr id="16" name="vis:tk"/>
          <p:cNvSpPr/>
          <p:nvPr/>
        </p:nvSpPr>
        <p:spPr>
          <a:xfrm>
            <a:off x="502920" y="2121408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22376" y="2243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855922" y="2403501"/>
            <a:ext cx="244971" cy="191717"/>
          </a:xfrm>
          <a:custGeom>
            <a:avLst/>
            <a:gdLst/>
            <a:ahLst/>
            <a:cxnLst/>
            <a:rect l="l" t="t" r="r" b="b"/>
            <a:pathLst>
              <a:path w="244971" h="191717">
                <a:moveTo>
                  <a:pt x="0" y="95858"/>
                </a:moveTo>
                <a:lnTo>
                  <a:pt x="122486" y="0"/>
                </a:lnTo>
                <a:lnTo>
                  <a:pt x="244971" y="95858"/>
                </a:lnTo>
                <a:lnTo>
                  <a:pt x="122486" y="191717"/>
                </a:lnTo>
                <a:close/>
              </a:path>
            </a:pathLst>
          </a:cu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:icon"/>
          <p:cNvSpPr/>
          <p:nvPr/>
        </p:nvSpPr>
        <p:spPr>
          <a:xfrm>
            <a:off x="941129" y="2462081"/>
            <a:ext cx="74556" cy="74556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cell:tkname"/>
          <p:cNvSpPr txBox="1"/>
          <p:nvPr/>
        </p:nvSpPr>
        <p:spPr>
          <a:xfrm>
            <a:off x="1417320" y="2212848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source-labelling prompt</a:t>
            </a:r>
          </a:p>
        </p:txBody>
      </p:sp>
      <p:sp>
        <p:nvSpPr>
          <p:cNvPr id="21" name="cell:tksub"/>
          <p:cNvSpPr txBox="1"/>
          <p:nvPr/>
        </p:nvSpPr>
        <p:spPr>
          <a:xfrm>
            <a:off x="1417320" y="2517648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Mark every number as mine or yours, plainly.</a:t>
            </a:r>
          </a:p>
        </p:txBody>
      </p:sp>
      <p:sp>
        <p:nvSpPr>
          <p:cNvPr id="22" name="vis:tk"/>
          <p:cNvSpPr/>
          <p:nvPr/>
        </p:nvSpPr>
        <p:spPr>
          <a:xfrm>
            <a:off x="502920" y="3023616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badge"/>
          <p:cNvSpPr/>
          <p:nvPr/>
        </p:nvSpPr>
        <p:spPr>
          <a:xfrm>
            <a:off x="722376" y="31455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893200" y="3284407"/>
            <a:ext cx="170414" cy="234320"/>
          </a:xfrm>
          <a:prstGeom prst="roundRect">
            <a:avLst>
              <a:gd name="adj" fmla="val 26828"/>
            </a:avLst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5" name="vis:icon"/>
          <p:cNvCxnSpPr/>
          <p:nvPr/>
        </p:nvCxnSpPr>
        <p:spPr>
          <a:xfrm>
            <a:off x="930478" y="3358964"/>
            <a:ext cx="9585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is:icon"/>
          <p:cNvCxnSpPr/>
          <p:nvPr/>
        </p:nvCxnSpPr>
        <p:spPr>
          <a:xfrm>
            <a:off x="930478" y="3401568"/>
            <a:ext cx="95859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vis:icon"/>
          <p:cNvCxnSpPr/>
          <p:nvPr/>
        </p:nvCxnSpPr>
        <p:spPr>
          <a:xfrm>
            <a:off x="930478" y="3444171"/>
            <a:ext cx="63906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tkname"/>
          <p:cNvSpPr txBox="1"/>
          <p:nvPr/>
        </p:nvSpPr>
        <p:spPr>
          <a:xfrm>
            <a:off x="1417320" y="3115056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quotation-letter prompt</a:t>
            </a:r>
          </a:p>
        </p:txBody>
      </p:sp>
      <p:sp>
        <p:nvSpPr>
          <p:cNvPr id="29" name="cell:tksub"/>
          <p:cNvSpPr txBox="1"/>
          <p:nvPr/>
        </p:nvSpPr>
        <p:spPr>
          <a:xfrm>
            <a:off x="1417320" y="3419856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Your figures, your terms, and no invented numbers.</a:t>
            </a:r>
          </a:p>
        </p:txBody>
      </p:sp>
      <p:sp>
        <p:nvSpPr>
          <p:cNvPr id="30" name="vis:tk"/>
          <p:cNvSpPr/>
          <p:nvPr/>
        </p:nvSpPr>
        <p:spPr>
          <a:xfrm>
            <a:off x="502920" y="3925823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badge"/>
          <p:cNvSpPr/>
          <p:nvPr/>
        </p:nvSpPr>
        <p:spPr>
          <a:xfrm>
            <a:off x="722376" y="4047743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82549" y="4309101"/>
            <a:ext cx="69231" cy="69231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951780" y="4229219"/>
            <a:ext cx="127811" cy="149113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tkname"/>
          <p:cNvSpPr txBox="1"/>
          <p:nvPr/>
        </p:nvSpPr>
        <p:spPr>
          <a:xfrm>
            <a:off x="1417320" y="4017263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could-it-have-changed test</a:t>
            </a:r>
          </a:p>
        </p:txBody>
      </p:sp>
      <p:sp>
        <p:nvSpPr>
          <p:cNvPr id="35" name="cell:tksub"/>
          <p:cNvSpPr txBox="1"/>
          <p:nvPr/>
        </p:nvSpPr>
        <p:spPr>
          <a:xfrm>
            <a:off x="1417320" y="4322063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If yes, it is not a question for a model.</a:t>
            </a:r>
          </a:p>
        </p:txBody>
      </p:sp>
      <p:sp>
        <p:nvSpPr>
          <p:cNvPr id="36" name="seclabel"/>
          <p:cNvSpPr txBox="1"/>
          <p:nvPr/>
        </p:nvSpPr>
        <p:spPr>
          <a:xfrm>
            <a:off x="8082076" y="1719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LINKS THAT WORK</a:t>
            </a:r>
          </a:p>
        </p:txBody>
      </p:sp>
      <p:sp>
        <p:nvSpPr>
          <p:cNvPr id="37" name="nav:link">
            <a:hlinkClick r:id="rId2"/>
          </p:cNvPr>
          <p:cNvSpPr/>
          <p:nvPr/>
        </p:nvSpPr>
        <p:spPr>
          <a:xfrm>
            <a:off x="8082076" y="2121408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icon"/>
          <p:cNvSpPr/>
          <p:nvPr/>
        </p:nvSpPr>
        <p:spPr>
          <a:xfrm>
            <a:off x="8339937" y="2300630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9" name="vis:icon"/>
          <p:cNvCxnSpPr/>
          <p:nvPr/>
        </p:nvCxnSpPr>
        <p:spPr>
          <a:xfrm>
            <a:off x="8482584" y="2443276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linklabel"/>
          <p:cNvSpPr txBox="1"/>
          <p:nvPr/>
        </p:nvSpPr>
        <p:spPr>
          <a:xfrm>
            <a:off x="8703868" y="2203703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Microsoft Copilot</a:t>
            </a:r>
          </a:p>
        </p:txBody>
      </p:sp>
      <p:sp>
        <p:nvSpPr>
          <p:cNvPr id="41" name="cell:linkurl"/>
          <p:cNvSpPr txBox="1"/>
          <p:nvPr/>
        </p:nvSpPr>
        <p:spPr>
          <a:xfrm>
            <a:off x="8703868" y="2423160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copilot.microsoft.com</a:t>
            </a:r>
          </a:p>
        </p:txBody>
      </p:sp>
      <p:sp>
        <p:nvSpPr>
          <p:cNvPr id="42" name="nav:link">
            <a:hlinkClick r:id="rId3"/>
          </p:cNvPr>
          <p:cNvSpPr/>
          <p:nvPr/>
        </p:nvSpPr>
        <p:spPr>
          <a:xfrm>
            <a:off x="8082076" y="2798063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vis:icon"/>
          <p:cNvSpPr/>
          <p:nvPr/>
        </p:nvSpPr>
        <p:spPr>
          <a:xfrm>
            <a:off x="8339937" y="2977286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4" name="vis:icon"/>
          <p:cNvCxnSpPr/>
          <p:nvPr/>
        </p:nvCxnSpPr>
        <p:spPr>
          <a:xfrm>
            <a:off x="8482584" y="3119932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ell:linklabel"/>
          <p:cNvSpPr txBox="1"/>
          <p:nvPr/>
        </p:nvSpPr>
        <p:spPr>
          <a:xfrm>
            <a:off x="8703868" y="2880359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ChatGPT</a:t>
            </a:r>
          </a:p>
        </p:txBody>
      </p:sp>
      <p:sp>
        <p:nvSpPr>
          <p:cNvPr id="46" name="cell:linkurl"/>
          <p:cNvSpPr txBox="1"/>
          <p:nvPr/>
        </p:nvSpPr>
        <p:spPr>
          <a:xfrm>
            <a:off x="8703868" y="3099815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chatgpt.com</a:t>
            </a:r>
          </a:p>
        </p:txBody>
      </p:sp>
      <p:sp>
        <p:nvSpPr>
          <p:cNvPr id="47" name="nav:link">
            <a:hlinkClick r:id="rId4"/>
          </p:cNvPr>
          <p:cNvSpPr/>
          <p:nvPr/>
        </p:nvSpPr>
        <p:spPr>
          <a:xfrm>
            <a:off x="8082076" y="3474720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vis:icon"/>
          <p:cNvSpPr/>
          <p:nvPr/>
        </p:nvSpPr>
        <p:spPr>
          <a:xfrm>
            <a:off x="8339937" y="3653942"/>
            <a:ext cx="164592" cy="164592"/>
          </a:xfrm>
          <a:prstGeom prst="ellipse">
            <a:avLst/>
          </a:prstGeom>
          <a:noFill/>
          <a:ln w="1905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9" name="vis:icon"/>
          <p:cNvCxnSpPr/>
          <p:nvPr/>
        </p:nvCxnSpPr>
        <p:spPr>
          <a:xfrm>
            <a:off x="8482584" y="3796588"/>
            <a:ext cx="65836" cy="65837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ell:linklabel"/>
          <p:cNvSpPr txBox="1"/>
          <p:nvPr/>
        </p:nvSpPr>
        <p:spPr>
          <a:xfrm>
            <a:off x="8703868" y="3557015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Google Gemini</a:t>
            </a:r>
          </a:p>
        </p:txBody>
      </p:sp>
      <p:sp>
        <p:nvSpPr>
          <p:cNvPr id="51" name="cell:linkurl"/>
          <p:cNvSpPr txBox="1"/>
          <p:nvPr/>
        </p:nvSpPr>
        <p:spPr>
          <a:xfrm>
            <a:off x="8703868" y="3776472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"/>
              </a:rPr>
              <a:t>gemini.google.com</a:t>
            </a:r>
          </a:p>
        </p:txBody>
      </p:sp>
      <p:sp>
        <p:nvSpPr>
          <p:cNvPr id="52" name="vis:next"/>
          <p:cNvSpPr/>
          <p:nvPr/>
        </p:nvSpPr>
        <p:spPr>
          <a:xfrm>
            <a:off x="8082076" y="4297680"/>
            <a:ext cx="3606698" cy="1719072"/>
          </a:xfrm>
          <a:prstGeom prst="roundRect">
            <a:avLst>
              <a:gd name="adj" fmla="val 425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seclabel"/>
          <p:cNvSpPr txBox="1"/>
          <p:nvPr/>
        </p:nvSpPr>
        <p:spPr>
          <a:xfrm>
            <a:off x="8338108" y="4480560"/>
            <a:ext cx="30946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688D8"/>
                </a:solidFill>
                <a:latin typeface="Segoe UI Semibold"/>
              </a:rPr>
              <a:t>DO THIS NEXT</a:t>
            </a:r>
          </a:p>
        </p:txBody>
      </p:sp>
      <p:sp>
        <p:nvSpPr>
          <p:cNvPr id="54" name="cell:next"/>
          <p:cNvSpPr txBox="1"/>
          <p:nvPr/>
        </p:nvSpPr>
        <p:spPr>
          <a:xfrm>
            <a:off x="8338108" y="4809744"/>
            <a:ext cx="3094634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Next module: AI-05, Hallucinations &amp; Fact-Checking. It gives you a four-step routine for catching a confident wrong answer before it reaches a customer.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2F4BC4"/>
                </a:solidFill>
                <a:latin typeface="Segoe UI Semibold"/>
              </a:rPr>
              <a:t>GLOSSARY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Words people use around AI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AI-04  ·  AI Limitations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2F4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2F4B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F4BC4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gloss"/>
          <p:cNvSpPr/>
          <p:nvPr/>
        </p:nvSpPr>
        <p:spPr>
          <a:xfrm>
            <a:off x="502920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glossbar"/>
          <p:cNvSpPr/>
          <p:nvPr/>
        </p:nvSpPr>
        <p:spPr>
          <a:xfrm>
            <a:off x="502920" y="1719072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cell:glossterm"/>
          <p:cNvSpPr txBox="1"/>
          <p:nvPr/>
        </p:nvSpPr>
        <p:spPr>
          <a:xfrm>
            <a:off x="740664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Cut-off date</a:t>
            </a:r>
          </a:p>
        </p:txBody>
      </p:sp>
      <p:sp>
        <p:nvSpPr>
          <p:cNvPr id="18" name="cell:glossdef"/>
          <p:cNvSpPr txBox="1"/>
          <p:nvPr/>
        </p:nvSpPr>
        <p:spPr>
          <a:xfrm>
            <a:off x="740664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point where a model's training text stops. Nothing after it was ever seen.</a:t>
            </a:r>
          </a:p>
        </p:txBody>
      </p:sp>
      <p:sp>
        <p:nvSpPr>
          <p:cNvPr id="19" name="vis:gloss"/>
          <p:cNvSpPr/>
          <p:nvPr/>
        </p:nvSpPr>
        <p:spPr>
          <a:xfrm>
            <a:off x="6178143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glossbar"/>
          <p:cNvSpPr/>
          <p:nvPr/>
        </p:nvSpPr>
        <p:spPr>
          <a:xfrm>
            <a:off x="6178143" y="1719072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cell:glossterm"/>
          <p:cNvSpPr txBox="1"/>
          <p:nvPr/>
        </p:nvSpPr>
        <p:spPr>
          <a:xfrm>
            <a:off x="6415887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Training data</a:t>
            </a:r>
          </a:p>
        </p:txBody>
      </p:sp>
      <p:sp>
        <p:nvSpPr>
          <p:cNvPr id="22" name="cell:glossdef"/>
          <p:cNvSpPr txBox="1"/>
          <p:nvPr/>
        </p:nvSpPr>
        <p:spPr>
          <a:xfrm>
            <a:off x="6415887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public text a model learned from, up to that cut-off date.</a:t>
            </a:r>
          </a:p>
        </p:txBody>
      </p:sp>
      <p:sp>
        <p:nvSpPr>
          <p:cNvPr id="23" name="vis:gloss"/>
          <p:cNvSpPr/>
          <p:nvPr/>
        </p:nvSpPr>
        <p:spPr>
          <a:xfrm>
            <a:off x="502920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glossbar"/>
          <p:cNvSpPr/>
          <p:nvPr/>
        </p:nvSpPr>
        <p:spPr>
          <a:xfrm>
            <a:off x="502920" y="2962656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cell:glossterm"/>
          <p:cNvSpPr txBox="1"/>
          <p:nvPr/>
        </p:nvSpPr>
        <p:spPr>
          <a:xfrm>
            <a:off x="740664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Hallucination</a:t>
            </a:r>
          </a:p>
        </p:txBody>
      </p:sp>
      <p:sp>
        <p:nvSpPr>
          <p:cNvPr id="26" name="cell:glossdef"/>
          <p:cNvSpPr txBox="1"/>
          <p:nvPr/>
        </p:nvSpPr>
        <p:spPr>
          <a:xfrm>
            <a:off x="740664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confident, invented answer. Usually a name, a number, a date or a policy.</a:t>
            </a:r>
          </a:p>
        </p:txBody>
      </p:sp>
      <p:sp>
        <p:nvSpPr>
          <p:cNvPr id="27" name="vis:gloss"/>
          <p:cNvSpPr/>
          <p:nvPr/>
        </p:nvSpPr>
        <p:spPr>
          <a:xfrm>
            <a:off x="6178143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glossbar"/>
          <p:cNvSpPr/>
          <p:nvPr/>
        </p:nvSpPr>
        <p:spPr>
          <a:xfrm>
            <a:off x="6178143" y="2962656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cell:glossterm"/>
          <p:cNvSpPr txBox="1"/>
          <p:nvPr/>
        </p:nvSpPr>
        <p:spPr>
          <a:xfrm>
            <a:off x="6415887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Grounding</a:t>
            </a:r>
          </a:p>
        </p:txBody>
      </p:sp>
      <p:sp>
        <p:nvSpPr>
          <p:cNvPr id="30" name="cell:glossdef"/>
          <p:cNvSpPr txBox="1"/>
          <p:nvPr/>
        </p:nvSpPr>
        <p:spPr>
          <a:xfrm>
            <a:off x="6415887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Giving the tool the actual source text so its answer has something real to stand on.</a:t>
            </a:r>
          </a:p>
        </p:txBody>
      </p:sp>
      <p:sp>
        <p:nvSpPr>
          <p:cNvPr id="31" name="vis:gloss"/>
          <p:cNvSpPr/>
          <p:nvPr/>
        </p:nvSpPr>
        <p:spPr>
          <a:xfrm>
            <a:off x="502920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glossbar"/>
          <p:cNvSpPr/>
          <p:nvPr/>
        </p:nvSpPr>
        <p:spPr>
          <a:xfrm>
            <a:off x="502920" y="4206240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glossterm"/>
          <p:cNvSpPr txBox="1"/>
          <p:nvPr/>
        </p:nvSpPr>
        <p:spPr>
          <a:xfrm>
            <a:off x="740664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Prompt</a:t>
            </a:r>
          </a:p>
        </p:txBody>
      </p:sp>
      <p:sp>
        <p:nvSpPr>
          <p:cNvPr id="34" name="cell:glossdef"/>
          <p:cNvSpPr txBox="1"/>
          <p:nvPr/>
        </p:nvSpPr>
        <p:spPr>
          <a:xfrm>
            <a:off x="740664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Everything you type in: the request plus the facts you supply.</a:t>
            </a:r>
          </a:p>
        </p:txBody>
      </p:sp>
      <p:sp>
        <p:nvSpPr>
          <p:cNvPr id="35" name="vis:gloss"/>
          <p:cNvSpPr/>
          <p:nvPr/>
        </p:nvSpPr>
        <p:spPr>
          <a:xfrm>
            <a:off x="6178143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glossbar"/>
          <p:cNvSpPr/>
          <p:nvPr/>
        </p:nvSpPr>
        <p:spPr>
          <a:xfrm>
            <a:off x="6178143" y="4206240"/>
            <a:ext cx="54864" cy="1078992"/>
          </a:xfrm>
          <a:prstGeom prst="rect">
            <a:avLst/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cell:glossterm"/>
          <p:cNvSpPr txBox="1"/>
          <p:nvPr/>
        </p:nvSpPr>
        <p:spPr>
          <a:xfrm>
            <a:off x="6415887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Output</a:t>
            </a:r>
          </a:p>
        </p:txBody>
      </p:sp>
      <p:sp>
        <p:nvSpPr>
          <p:cNvPr id="38" name="cell:glossdef"/>
          <p:cNvSpPr txBox="1"/>
          <p:nvPr/>
        </p:nvSpPr>
        <p:spPr>
          <a:xfrm>
            <a:off x="6415887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What comes back. Your draft, which you are responsible for checking.</a:t>
            </a:r>
          </a:p>
        </p:txBody>
      </p:sp>
      <p:sp>
        <p:nvSpPr>
          <p:cNvPr id="39" name="nav:glossback">
            <a:hlinkClick action="ppaction://hlinksldjump" r:id="rId2"/>
          </p:cNvPr>
          <p:cNvSpPr/>
          <p:nvPr/>
        </p:nvSpPr>
        <p:spPr>
          <a:xfrm>
            <a:off x="502920" y="55046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2F4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nav:glossbacktext"/>
          <p:cNvSpPr txBox="1"/>
          <p:nvPr/>
        </p:nvSpPr>
        <p:spPr>
          <a:xfrm>
            <a:off x="758952" y="56509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menu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