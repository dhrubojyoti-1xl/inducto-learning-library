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ZFKvTIADp0k"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hallucination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AI COURSES</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Hallucinations &amp; Fact-Checking</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How to catch a confident wrong answer in under a minute, before it reaches a customer.</a:t>
            </a:r>
          </a:p>
        </p:txBody>
      </p:sp>
      <p:sp>
        <p:nvSpPr>
          <p:cNvPr id="11" name="vis:chip"/>
          <p:cNvSpPr/>
          <p:nvPr/>
        </p:nvSpPr>
        <p:spPr>
          <a:xfrm>
            <a:off x="841248" y="4626864"/>
            <a:ext cx="935609" cy="310896"/>
          </a:xfrm>
          <a:prstGeom prst="roundRect">
            <a:avLst>
              <a:gd name="adj" fmla="val 14705"/>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6247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AI-05</a:t>
            </a:r>
          </a:p>
        </p:txBody>
      </p:sp>
      <p:sp>
        <p:nvSpPr>
          <p:cNvPr id="13" name="vis:chip"/>
          <p:cNvSpPr/>
          <p:nvPr/>
        </p:nvSpPr>
        <p:spPr>
          <a:xfrm>
            <a:off x="1923161"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078609"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AI-05  ·  Hallucinations &amp; Fact-Checking</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Kavita cites a clause that does not exist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5057" y="2218436"/>
            <a:ext cx="332461" cy="303552"/>
          </a:xfrm>
          <a:custGeom>
            <a:avLst/>
            <a:gdLst/>
            <a:ahLst/>
            <a:cxnLst/>
            <a:rect l="l" t="t" r="r" b="b"/>
            <a:pathLst>
              <a:path w="332461" h="303552">
                <a:moveTo>
                  <a:pt x="166231" y="0"/>
                </a:moveTo>
                <a:lnTo>
                  <a:pt x="332461" y="303552"/>
                </a:lnTo>
                <a:lnTo>
                  <a:pt x="0" y="303552"/>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vis:icon"/>
          <p:cNvCxnSpPr/>
          <p:nvPr/>
        </p:nvCxnSpPr>
        <p:spPr>
          <a:xfrm>
            <a:off x="1161288" y="2334075"/>
            <a:ext cx="0" cy="9034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143219" y="2456941"/>
            <a:ext cx="36137" cy="36137"/>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Kavita answers support tickets for a Bengaluru team. A customer disputes a charge. She asks an AI tool what the policy says, and it quotes clause 7.3. She pastes the clause into her reply. There is no clause 7.3.</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customer holding a written quotation of a clause we never wrote.</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checks, under a minute, and this never leaves your desk.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25094" y="1945974"/>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vis:icon"/>
          <p:cNvCxnSpPr/>
          <p:nvPr/>
        </p:nvCxnSpPr>
        <p:spPr>
          <a:xfrm>
            <a:off x="1060704" y="2040311"/>
            <a:ext cx="0" cy="73701"/>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45963" y="2140544"/>
            <a:ext cx="29480" cy="2948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Explain in one sentence why a hallucination happens</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25094" y="2865671"/>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is:icon"/>
          <p:cNvSpPr/>
          <p:nvPr/>
        </p:nvSpPr>
        <p:spPr>
          <a:xfrm>
            <a:off x="1019431" y="2930527"/>
            <a:ext cx="82544" cy="82544"/>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Name the four answer types most likely to be invented</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954575" y="3873808"/>
            <a:ext cx="76648" cy="76648"/>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1031223" y="3785367"/>
            <a:ext cx="141505" cy="165089"/>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Run a four-step verification on any answer in under a minute</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36886" y="4657895"/>
            <a:ext cx="247634" cy="165089"/>
          </a:xfrm>
          <a:prstGeom prst="roundRect">
            <a:avLst>
              <a:gd name="adj" fmla="val 27694"/>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flipH="1">
            <a:off x="984055" y="4822984"/>
            <a:ext cx="11792" cy="6485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984055" y="4822984"/>
            <a:ext cx="64856" cy="6485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6"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prompt that makes gaps visible instead of filled</a:t>
            </a:r>
          </a:p>
        </p:txBody>
      </p:sp>
      <p:sp>
        <p:nvSpPr>
          <p:cNvPr id="37"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943035" y="5558013"/>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vis:icon"/>
          <p:cNvSpPr/>
          <p:nvPr/>
        </p:nvSpPr>
        <p:spPr>
          <a:xfrm>
            <a:off x="988477" y="5534550"/>
            <a:ext cx="54244" cy="46578"/>
          </a:xfrm>
          <a:custGeom>
            <a:avLst/>
            <a:gdLst/>
            <a:ahLst/>
            <a:cxnLst/>
            <a:rect l="l" t="t" r="r" b="b"/>
            <a:pathLst>
              <a:path w="54244" h="46578">
                <a:moveTo>
                  <a:pt x="54244" y="0"/>
                </a:moveTo>
                <a:lnTo>
                  <a:pt x="26532" y="46578"/>
                </a:lnTo>
                <a:lnTo>
                  <a:pt x="0" y="589"/>
                </a:lnTo>
                <a:close/>
              </a:path>
            </a:pathLst>
          </a:cu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Correct a wrong answer without losing the good parts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a hallucination is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the gap gets filled</a:t>
            </a:r>
          </a:p>
        </p:txBody>
      </p:sp>
      <p:cxnSp>
        <p:nvCxnSpPr>
          <p:cNvPr id="13" name="vis:menuarrow"/>
          <p:cNvCxnSpPr/>
          <p:nvPr/>
        </p:nvCxnSpPr>
        <p:spPr>
          <a:xfrm>
            <a:off x="11213287" y="1997049"/>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Where they cluster</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four risky answer types</a:t>
            </a:r>
          </a:p>
        </p:txBody>
      </p:sp>
      <p:cxnSp>
        <p:nvCxnSpPr>
          <p:cNvPr id="19" name="vis:menuarrow"/>
          <p:cNvCxnSpPr/>
          <p:nvPr/>
        </p:nvCxnSpPr>
        <p:spPr>
          <a:xfrm>
            <a:off x="11213287" y="2424988"/>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four-step check</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Under a minute, every time</a:t>
            </a:r>
          </a:p>
        </p:txBody>
      </p:sp>
      <p:cxnSp>
        <p:nvCxnSpPr>
          <p:cNvPr id="25" name="vis:menuarrow"/>
          <p:cNvCxnSpPr/>
          <p:nvPr/>
        </p:nvCxnSpPr>
        <p:spPr>
          <a:xfrm>
            <a:off x="11213287" y="2852928"/>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Prompting for honesty</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Make gaps visible</a:t>
            </a:r>
          </a:p>
        </p:txBody>
      </p:sp>
      <p:cxnSp>
        <p:nvCxnSpPr>
          <p:cNvPr id="31" name="vis:menuarrow"/>
          <p:cNvCxnSpPr/>
          <p:nvPr/>
        </p:nvCxnSpPr>
        <p:spPr>
          <a:xfrm>
            <a:off x="11213287" y="3280867"/>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When you find one</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Correct, do not restart</a:t>
            </a:r>
          </a:p>
        </p:txBody>
      </p:sp>
      <p:cxnSp>
        <p:nvCxnSpPr>
          <p:cNvPr id="37" name="vis:menuarrow"/>
          <p:cNvCxnSpPr/>
          <p:nvPr/>
        </p:nvCxnSpPr>
        <p:spPr>
          <a:xfrm>
            <a:off x="11213287" y="3708806"/>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Tuesday morning decision</a:t>
            </a:r>
          </a:p>
        </p:txBody>
      </p:sp>
      <p:cxnSp>
        <p:nvCxnSpPr>
          <p:cNvPr id="43" name="vis:menuarrow"/>
          <p:cNvCxnSpPr/>
          <p:nvPr/>
        </p:nvCxnSpPr>
        <p:spPr>
          <a:xfrm>
            <a:off x="11213287" y="4136745"/>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9-minute outside explainer</a:t>
            </a:r>
          </a:p>
        </p:txBody>
      </p:sp>
      <p:cxnSp>
        <p:nvCxnSpPr>
          <p:cNvPr id="49" name="vis:menuarrow"/>
          <p:cNvCxnSpPr/>
          <p:nvPr/>
        </p:nvCxnSpPr>
        <p:spPr>
          <a:xfrm>
            <a:off x="11213287" y="456468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F4BC4"/>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A HALLUCINATION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gap does not stay a gap</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It is not lying. It has no concept of true. It is completing a sentence in the most likely way.</a:t>
            </a:r>
          </a:p>
        </p:txBody>
      </p:sp>
      <p:sp>
        <p:nvSpPr>
          <p:cNvPr id="16" name="vis:flowcard"/>
          <p:cNvSpPr/>
          <p:nvPr/>
        </p:nvSpPr>
        <p:spPr>
          <a:xfrm>
            <a:off x="502920" y="31638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980944"/>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0586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29584"/>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Your question implies a fact</a:t>
            </a:r>
          </a:p>
        </p:txBody>
      </p:sp>
      <p:sp>
        <p:nvSpPr>
          <p:cNvPr id="20" name="vis:flowsub"/>
          <p:cNvSpPr txBox="1"/>
          <p:nvPr/>
        </p:nvSpPr>
        <p:spPr>
          <a:xfrm>
            <a:off x="704088" y="40782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clause 7.3 say?" assumes one exists.</a:t>
            </a:r>
          </a:p>
        </p:txBody>
      </p:sp>
      <p:cxnSp>
        <p:nvCxnSpPr>
          <p:cNvPr id="21" name="vis:flowarrow"/>
          <p:cNvCxnSpPr/>
          <p:nvPr/>
        </p:nvCxnSpPr>
        <p:spPr>
          <a:xfrm>
            <a:off x="3093643" y="412394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1638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980944"/>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0586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295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has no such fact</a:t>
            </a:r>
          </a:p>
        </p:txBody>
      </p:sp>
      <p:sp>
        <p:nvSpPr>
          <p:cNvPr id="26" name="vis:flowsub"/>
          <p:cNvSpPr txBox="1"/>
          <p:nvPr/>
        </p:nvSpPr>
        <p:spPr>
          <a:xfrm>
            <a:off x="3596563" y="40782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Nothing in its patterns matches your document.</a:t>
            </a:r>
          </a:p>
        </p:txBody>
      </p:sp>
      <p:cxnSp>
        <p:nvCxnSpPr>
          <p:cNvPr id="27" name="vis:flowarrow"/>
          <p:cNvCxnSpPr/>
          <p:nvPr/>
        </p:nvCxnSpPr>
        <p:spPr>
          <a:xfrm>
            <a:off x="5986119" y="412394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1638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980944"/>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0586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295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builds a likely one</a:t>
            </a:r>
          </a:p>
        </p:txBody>
      </p:sp>
      <p:sp>
        <p:nvSpPr>
          <p:cNvPr id="32" name="vis:flowsub"/>
          <p:cNvSpPr txBox="1"/>
          <p:nvPr/>
        </p:nvSpPr>
        <p:spPr>
          <a:xfrm>
            <a:off x="6489039" y="40782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clause worded exactly like a real clause.</a:t>
            </a:r>
          </a:p>
        </p:txBody>
      </p:sp>
      <p:cxnSp>
        <p:nvCxnSpPr>
          <p:cNvPr id="33" name="vis:flowarrow"/>
          <p:cNvCxnSpPr/>
          <p:nvPr/>
        </p:nvCxnSpPr>
        <p:spPr>
          <a:xfrm>
            <a:off x="8878595" y="4123944"/>
            <a:ext cx="219456"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1638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980944"/>
            <a:ext cx="384048" cy="384048"/>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0586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295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reads as a quotation</a:t>
            </a:r>
          </a:p>
        </p:txBody>
      </p:sp>
      <p:sp>
        <p:nvSpPr>
          <p:cNvPr id="38" name="vis:flowsub"/>
          <p:cNvSpPr txBox="1"/>
          <p:nvPr/>
        </p:nvSpPr>
        <p:spPr>
          <a:xfrm>
            <a:off x="9381515" y="40782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Nothing marks it as constructed.</a:t>
            </a:r>
          </a:p>
        </p:txBody>
      </p:sp>
      <p:sp>
        <p:nvSpPr>
          <p:cNvPr id="3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0" name="vis:chip"/>
          <p:cNvSpPr/>
          <p:nvPr/>
        </p:nvSpPr>
        <p:spPr>
          <a:xfrm>
            <a:off x="2221991" y="5660136"/>
            <a:ext cx="2016815"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chiptext"/>
          <p:cNvSpPr txBox="1"/>
          <p:nvPr/>
        </p:nvSpPr>
        <p:spPr>
          <a:xfrm>
            <a:off x="2377439" y="5687568"/>
            <a:ext cx="170591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HALLUCINATION  ?</a:t>
            </a:r>
          </a:p>
        </p:txBody>
      </p:sp>
      <p:sp>
        <p:nvSpPr>
          <p:cNvPr id="42" name="nav:gloss">
            <a:hlinkClick action="ppaction://hlinksldjump" r:id="rId3"/>
          </p:cNvPr>
          <p:cNvSpPr/>
          <p:nvPr/>
        </p:nvSpPr>
        <p:spPr>
          <a:xfrm>
            <a:off x="2221991" y="5660136"/>
            <a:ext cx="2016815"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WHAT A HALLUCINATION 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it never says "I don't know"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What it is doing</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Choosing the most likely next piece of text.</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What it is not doing</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Checking anything against anything.</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F4BC4"/>
                </a:solidFill>
                <a:latin typeface="Segoe UI Semibold"/>
              </a:rPr>
              <a:t>So a gap looks like</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Just another place a likely word goes.</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"I do not know" is a rare pattern in the text it learned from. A confident answer is a very common one. It produces the common pattern.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THEY CLUSTER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four risky answer types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01380" y="2973080"/>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23965" y="2995665"/>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QUOTES — clause numbers, policy wording, what someone said</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6504035" y="2973080"/>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26621" y="2995665"/>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FIGURES — rates, prices, percentages, penalties, totals</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801380" y="4609856"/>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23965" y="4632441"/>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NAMES — people, products, suppliers, systems, standards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504035" y="4609856"/>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26621" y="4632441"/>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REFERENCES — circulars, sections, studies, page numbers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WHERE THEY CLUSTER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tell-tale shape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52806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2171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HIGHER RISK</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Specific and unverifiable</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clause number you cannot see on screen</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rate quoted to one decimal place</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named standard nobody in the room recognises</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date for a change you had not heard about</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47848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1675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LOWER RISK</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General and checkable</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 explanation of text you pasted in</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rewrite of your own sentences</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list of questions to go and ask</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structure or outline with no facts in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FOUR-STEP CHECK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checks, under a minute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Run these in order. Most answers fail or pass on step two.</a:t>
            </a:r>
          </a:p>
        </p:txBody>
      </p:sp>
      <p:sp>
        <p:nvSpPr>
          <p:cNvPr id="16" name="vis:stepnum"/>
          <p:cNvSpPr/>
          <p:nvPr/>
        </p:nvSpPr>
        <p:spPr>
          <a:xfrm>
            <a:off x="502920" y="2651760"/>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stepnumtext"/>
          <p:cNvSpPr txBox="1"/>
          <p:nvPr/>
        </p:nvSpPr>
        <p:spPr>
          <a:xfrm>
            <a:off x="502920" y="272948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8" name="vis:line"/>
          <p:cNvCxnSpPr/>
          <p:nvPr/>
        </p:nvCxnSpPr>
        <p:spPr>
          <a:xfrm>
            <a:off x="676656" y="2999232"/>
            <a:ext cx="0" cy="585216"/>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9" name="cell:step"/>
          <p:cNvSpPr txBox="1"/>
          <p:nvPr/>
        </p:nvSpPr>
        <p:spPr>
          <a:xfrm>
            <a:off x="1051560" y="2432304"/>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UNDERLINE — mark every number, name, date and quote in the answer.</a:t>
            </a:r>
          </a:p>
        </p:txBody>
      </p:sp>
      <p:sp>
        <p:nvSpPr>
          <p:cNvPr id="20" name="vis:stepnum"/>
          <p:cNvSpPr/>
          <p:nvPr/>
        </p:nvSpPr>
        <p:spPr>
          <a:xfrm>
            <a:off x="502920" y="3584448"/>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stepnumtext"/>
          <p:cNvSpPr txBox="1"/>
          <p:nvPr/>
        </p:nvSpPr>
        <p:spPr>
          <a:xfrm>
            <a:off x="502920" y="3662172"/>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2" name="vis:line"/>
          <p:cNvCxnSpPr/>
          <p:nvPr/>
        </p:nvCxnSpPr>
        <p:spPr>
          <a:xfrm>
            <a:off x="676656" y="3931920"/>
            <a:ext cx="0" cy="585216"/>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3" name="cell:step"/>
          <p:cNvSpPr txBox="1"/>
          <p:nvPr/>
        </p:nvSpPr>
        <p:spPr>
          <a:xfrm>
            <a:off x="1051560" y="3364992"/>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TRACE — for each one, ask: did I type this, or did it?</a:t>
            </a:r>
          </a:p>
        </p:txBody>
      </p:sp>
      <p:sp>
        <p:nvSpPr>
          <p:cNvPr id="24" name="vis:stepnum"/>
          <p:cNvSpPr/>
          <p:nvPr/>
        </p:nvSpPr>
        <p:spPr>
          <a:xfrm>
            <a:off x="502920" y="4517136"/>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stepnumtext"/>
          <p:cNvSpPr txBox="1"/>
          <p:nvPr/>
        </p:nvSpPr>
        <p:spPr>
          <a:xfrm>
            <a:off x="502920" y="4594860"/>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6" name="vis:line"/>
          <p:cNvCxnSpPr/>
          <p:nvPr/>
        </p:nvCxnSpPr>
        <p:spPr>
          <a:xfrm>
            <a:off x="676656" y="4864608"/>
            <a:ext cx="0" cy="585216"/>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7" name="cell:step"/>
          <p:cNvSpPr txBox="1"/>
          <p:nvPr/>
        </p:nvSpPr>
        <p:spPr>
          <a:xfrm>
            <a:off x="1051560" y="4297680"/>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 for anything it produced, open the real source and look.</a:t>
            </a:r>
          </a:p>
        </p:txBody>
      </p:sp>
      <p:sp>
        <p:nvSpPr>
          <p:cNvPr id="28" name="vis:stepnum"/>
          <p:cNvSpPr/>
          <p:nvPr/>
        </p:nvSpPr>
        <p:spPr>
          <a:xfrm>
            <a:off x="502920" y="5449824"/>
            <a:ext cx="347472" cy="34747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stepnumtext"/>
          <p:cNvSpPr txBox="1"/>
          <p:nvPr/>
        </p:nvSpPr>
        <p:spPr>
          <a:xfrm>
            <a:off x="502920" y="552754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0" name="cell:step"/>
          <p:cNvSpPr txBox="1"/>
          <p:nvPr/>
        </p:nvSpPr>
        <p:spPr>
          <a:xfrm>
            <a:off x="1051560" y="5230368"/>
            <a:ext cx="5044287" cy="786384"/>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CUT — delete anything you could not trace. Do not soften it, cut it.</a:t>
            </a:r>
          </a:p>
        </p:txBody>
      </p:sp>
      <p:sp>
        <p:nvSpPr>
          <p:cNvPr id="31" name="vis:promptcard"/>
          <p:cNvSpPr/>
          <p:nvPr/>
        </p:nvSpPr>
        <p:spPr>
          <a:xfrm>
            <a:off x="6461607" y="2432304"/>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promptbar"/>
          <p:cNvSpPr/>
          <p:nvPr/>
        </p:nvSpPr>
        <p:spPr>
          <a:xfrm>
            <a:off x="6461607" y="2432304"/>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6698620"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flipH="1">
            <a:off x="6733733"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6733733"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6" name="vis:copybtn"/>
          <p:cNvSpPr/>
          <p:nvPr/>
        </p:nvSpPr>
        <p:spPr>
          <a:xfrm>
            <a:off x="9828606" y="2505456"/>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10012217"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10030871" y="26086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263658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0" name="vis:icon"/>
          <p:cNvCxnSpPr/>
          <p:nvPr/>
        </p:nvCxnSpPr>
        <p:spPr>
          <a:xfrm>
            <a:off x="10030871"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1" name="vis:copytext"/>
          <p:cNvSpPr txBox="1"/>
          <p:nvPr/>
        </p:nvSpPr>
        <p:spPr>
          <a:xfrm>
            <a:off x="10240086"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2" name="vis:prompthdr"/>
          <p:cNvSpPr txBox="1"/>
          <p:nvPr/>
        </p:nvSpPr>
        <p:spPr>
          <a:xfrm>
            <a:off x="7010247" y="2542032"/>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3" name="card:prompt"/>
          <p:cNvSpPr txBox="1"/>
          <p:nvPr/>
        </p:nvSpPr>
        <p:spPr>
          <a:xfrm>
            <a:off x="6735927" y="2980944"/>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Rewrite this answer using only the facts I gave you. Remove every number, name, date and quotation that did not appear in my message. Where something is missing, write [CHECK] instead of filling it in.</a:t>
            </a:r>
          </a:p>
        </p:txBody>
      </p:sp>
      <p:sp>
        <p:nvSpPr>
          <p:cNvPr id="44" name="vis:promptcap"/>
          <p:cNvSpPr txBox="1"/>
          <p:nvPr/>
        </p:nvSpPr>
        <p:spPr>
          <a:xfrm>
            <a:off x="6735927" y="4337812"/>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Run this on any answer you are unsure about.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FOUR-STEP CHECK</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tracing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12300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8121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UNTRACED ANSWER</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"As per clause 7.3, refunds are processed within 14 working days."</a:t>
            </a:r>
          </a:p>
          <a:p>
            <a:pPr algn="l">
              <a:lnSpc>
                <a:spcPts val="1690"/>
              </a:lnSpc>
              <a:spcBef>
                <a:spcPts val="0"/>
              </a:spcBef>
              <a:spcAft>
                <a:spcPts val="600"/>
              </a:spcAft>
            </a:pPr>
            <a:r>
              <a:rPr sz="1300" b="0">
                <a:solidFill>
                  <a:srgbClr val="2A3547"/>
                </a:solidFill>
                <a:latin typeface="Segoe UI"/>
              </a:rPr>
              <a:t>You typed neither the clause number nor the 14 days.</a:t>
            </a:r>
          </a:p>
          <a:p>
            <a:pPr algn="l">
              <a:lnSpc>
                <a:spcPts val="1690"/>
              </a:lnSpc>
              <a:spcBef>
                <a:spcPts val="0"/>
              </a:spcBef>
              <a:spcAft>
                <a:spcPts val="600"/>
              </a:spcAft>
            </a:pPr>
            <a:r>
              <a:rPr sz="1300" b="0">
                <a:solidFill>
                  <a:srgbClr val="2A3547"/>
                </a:solidFill>
                <a:latin typeface="Segoe UI"/>
              </a:rPr>
              <a:t>Both were produced. Both read exactly like policy.</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87472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5638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TRACED ANSWER</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open the policy. There are six clauses and no 7.3.</a:t>
            </a:r>
          </a:p>
          <a:p>
            <a:pPr algn="l">
              <a:lnSpc>
                <a:spcPts val="1690"/>
              </a:lnSpc>
              <a:spcBef>
                <a:spcPts val="0"/>
              </a:spcBef>
              <a:spcAft>
                <a:spcPts val="600"/>
              </a:spcAft>
            </a:pPr>
            <a:r>
              <a:rPr sz="1300" b="0">
                <a:solidFill>
                  <a:srgbClr val="2A3547"/>
                </a:solidFill>
                <a:latin typeface="Segoe UI"/>
              </a:rPr>
              <a:t>The real processing time is 21 days, in clause 5.</a:t>
            </a:r>
          </a:p>
          <a:p>
            <a:pPr algn="l">
              <a:lnSpc>
                <a:spcPts val="1690"/>
              </a:lnSpc>
              <a:spcBef>
                <a:spcPts val="0"/>
              </a:spcBef>
              <a:spcAft>
                <a:spcPts val="600"/>
              </a:spcAft>
            </a:pPr>
            <a:r>
              <a:rPr sz="1300" b="0">
                <a:solidFill>
                  <a:srgbClr val="2A3547"/>
                </a:solidFill>
                <a:latin typeface="Segoe UI"/>
              </a:rPr>
              <a:t>Sixty seconds saved a written commitment you could not keep.</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check is not clever. It is just refusing to send anything you did not type or 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PROMPTING FOR HONESTY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Make the gaps visible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honesty prompt</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Answer using only the text I have given you. If the answer is not in that text, write "not in the supplied text" rather than answering from general knowledge. Do not add clause numbers, dates or figures unless they appear in what I pasted.</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Put this above any question about a document.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converts silent invention into a visible gap.</a:t>
            </a:r>
          </a:p>
        </p:txBody>
      </p:sp>
      <p:cxnSp>
        <p:nvCxnSpPr>
          <p:cNvPr id="33" name="vis:icon"/>
          <p:cNvCxnSpPr/>
          <p:nvPr/>
        </p:nvCxnSpPr>
        <p:spPr>
          <a:xfrm>
            <a:off x="7850361" y="3250143"/>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then fill the gap correctly, from the real source.</a:t>
            </a:r>
          </a:p>
        </p:txBody>
      </p:sp>
      <p:cxnSp>
        <p:nvCxnSpPr>
          <p:cNvPr id="36" name="vis:icon"/>
          <p:cNvCxnSpPr/>
          <p:nvPr/>
        </p:nvCxnSpPr>
        <p:spPr>
          <a:xfrm>
            <a:off x="7850361" y="4182831"/>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costs one sentence and catches the worst failures.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PROMPTING FOR HONESTY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Grounding beats asking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the source text on my screen right now?</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048256"/>
          </a:xfrm>
          <a:prstGeom prst="roundRect">
            <a:avLst>
              <a:gd name="adj" fmla="val 446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Go and get it first</a:t>
            </a:r>
          </a:p>
        </p:txBody>
      </p:sp>
      <p:sp>
        <p:nvSpPr>
          <p:cNvPr id="27" name="vis:treedetail"/>
          <p:cNvSpPr txBox="1"/>
          <p:nvPr/>
        </p:nvSpPr>
        <p:spPr>
          <a:xfrm>
            <a:off x="535234" y="4224528"/>
            <a:ext cx="3962278" cy="1115568"/>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Asking about a document it has never seen is the single most reliable way to produce an invented quotation. Find the file first.</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048256"/>
          </a:xfrm>
          <a:prstGeom prst="roundRect">
            <a:avLst>
              <a:gd name="adj" fmla="val 446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Paste and ask</a:t>
            </a:r>
          </a:p>
        </p:txBody>
      </p:sp>
      <p:sp>
        <p:nvSpPr>
          <p:cNvPr id="36" name="vis:treedetail"/>
          <p:cNvSpPr txBox="1"/>
          <p:nvPr/>
        </p:nvSpPr>
        <p:spPr>
          <a:xfrm>
            <a:off x="7694182" y="4224528"/>
            <a:ext cx="3962278" cy="1115568"/>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Give it the actual text and ask about that. Every sentence it produces can then be checked against words you can see.</a:t>
            </a:r>
          </a:p>
        </p:txBody>
      </p:sp>
      <p:sp>
        <p:nvSpPr>
          <p:cNvPr id="37"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38" name="vis:chip"/>
          <p:cNvSpPr/>
          <p:nvPr/>
        </p:nvSpPr>
        <p:spPr>
          <a:xfrm>
            <a:off x="2221991" y="5660136"/>
            <a:ext cx="1701419"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chiptext"/>
          <p:cNvSpPr txBox="1"/>
          <p:nvPr/>
        </p:nvSpPr>
        <p:spPr>
          <a:xfrm>
            <a:off x="2377439" y="5687568"/>
            <a:ext cx="139052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GROUNDING  ?</a:t>
            </a:r>
          </a:p>
        </p:txBody>
      </p:sp>
      <p:sp>
        <p:nvSpPr>
          <p:cNvPr id="40" name="nav:gloss">
            <a:hlinkClick action="ppaction://hlinksldjump" r:id="rId3"/>
          </p:cNvPr>
          <p:cNvSpPr/>
          <p:nvPr/>
        </p:nvSpPr>
        <p:spPr>
          <a:xfrm>
            <a:off x="2221991" y="5660136"/>
            <a:ext cx="1701419"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WHEN YOU FIND 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Correct, do not restart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promptcard"/>
          <p:cNvSpPr/>
          <p:nvPr/>
        </p:nvSpPr>
        <p:spPr>
          <a:xfrm>
            <a:off x="502920" y="1719072"/>
            <a:ext cx="5816644" cy="2377440"/>
          </a:xfrm>
          <a:prstGeom prst="roundRect">
            <a:avLst>
              <a:gd name="adj" fmla="val 3846"/>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19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Two corrections. There is no clause 7.3 — the relevant clause is 5. The processing time is 21 working days, not 14. Keep the rest of the wording exactly as it is and reissue the reply.</a:t>
            </a:r>
          </a:p>
        </p:txBody>
      </p:sp>
      <p:sp>
        <p:nvSpPr>
          <p:cNvPr id="28" name="vis:promptcap"/>
          <p:cNvSpPr txBox="1"/>
          <p:nvPr/>
        </p:nvSpPr>
        <p:spPr>
          <a:xfrm>
            <a:off x="777240" y="362407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Name the error, give the truth, protect the rest.</a:t>
            </a:r>
          </a:p>
        </p:txBody>
      </p:sp>
      <p:sp>
        <p:nvSpPr>
          <p:cNvPr id="29" name="vis:outcard"/>
          <p:cNvSpPr/>
          <p:nvPr/>
        </p:nvSpPr>
        <p:spPr>
          <a:xfrm>
            <a:off x="6685324" y="1719072"/>
            <a:ext cx="5003450" cy="2377440"/>
          </a:xfrm>
          <a:prstGeom prst="roundRect">
            <a:avLst>
              <a:gd name="adj" fmla="val 384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44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79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The same reply, with clause 5 and 21 days in place of the invented pair.</a:t>
            </a:r>
          </a:p>
          <a:p>
            <a:pPr algn="l">
              <a:lnSpc>
                <a:spcPts val="1690"/>
              </a:lnSpc>
              <a:spcBef>
                <a:spcPts val="0"/>
              </a:spcBef>
              <a:spcAft>
                <a:spcPts val="600"/>
              </a:spcAft>
            </a:pPr>
            <a:r>
              <a:rPr sz="1300" b="0">
                <a:solidFill>
                  <a:srgbClr val="2A3547"/>
                </a:solidFill>
                <a:latin typeface="Segoe UI"/>
              </a:rPr>
              <a:t>The tone and structure you already approved are untouched.</a:t>
            </a:r>
          </a:p>
          <a:p>
            <a:pPr algn="l">
              <a:lnSpc>
                <a:spcPts val="1690"/>
              </a:lnSpc>
              <a:spcBef>
                <a:spcPts val="0"/>
              </a:spcBef>
              <a:spcAft>
                <a:spcPts val="600"/>
              </a:spcAft>
            </a:pPr>
            <a:r>
              <a:rPr sz="1300" b="0">
                <a:solidFill>
                  <a:srgbClr val="2A3547"/>
                </a:solidFill>
                <a:latin typeface="Segoe UI"/>
              </a:rPr>
              <a:t>One line of correction instead of ten minutes of rewriting.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WHEN YOU FIND 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that catch them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send a clause number you have not seen with your own eyes.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Treat every figure as unverified until you open the source.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Paste the document in rather than asking about it.</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Ask for "not in the supplied text" instead of an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WHEN YOU FIND 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Asking twice is not checking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second answer from the same tool is not confirmation of the first.</a:t>
            </a:r>
          </a:p>
          <a:p>
            <a:pPr algn="l">
              <a:lnSpc>
                <a:spcPts val="1755"/>
              </a:lnSpc>
              <a:spcBef>
                <a:spcPts val="0"/>
              </a:spcBef>
              <a:spcAft>
                <a:spcPts val="0"/>
              </a:spcAft>
            </a:pPr>
            <a:r>
              <a:rPr sz="1350" b="0">
                <a:solidFill>
                  <a:srgbClr val="FFFFFF"/>
                </a:solidFill>
                <a:latin typeface="Segoe UI"/>
              </a:rPr>
              <a:t>Both came from the same patterns, so they can agree and both be wrong.</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Two agreeing answers prove nothing.</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"Are you sure?" produces reassurance, not evidence.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Only the real source settles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WHEN YOU FIND 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Quoting a clause number from an answer</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is the single most convincing invention there is, and the easiest to disprove later.</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Checking only the parts that look odd</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Hallucinations are designed by construction to look exactly like everything around them.</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the tool to verify itself</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a confident second generation, which is not evidence of anything.</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Softening a wrong figure instead of cutting it</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"Approximately 14 days" is still a commitment built on an invented number.</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Skipping the check because the answer reads well</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Reading well is the failure mode, not a reassurance.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WHEN YOU FIND 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checking matters most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238158"/>
            <a:ext cx="301269" cy="205410"/>
          </a:xfrm>
          <a:prstGeom prst="roundRect">
            <a:avLst>
              <a:gd name="adj" fmla="val 22257"/>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55789" y="2251852"/>
            <a:ext cx="150635" cy="10955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1106424" y="2251852"/>
            <a:ext cx="150634" cy="109553"/>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Anything to a customer</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becomes a written commitment the moment you press send. Check every figure and clause.</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75847" y="2210770"/>
            <a:ext cx="301269" cy="260187"/>
          </a:xfrm>
          <a:prstGeom prst="roundRect">
            <a:avLst>
              <a:gd name="adj" fmla="val 1757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4775847" y="2292934"/>
            <a:ext cx="30126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a:off x="4892247" y="2210770"/>
            <a:ext cx="0" cy="26018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4775847" y="2381946"/>
            <a:ext cx="301269"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28"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Anything that enters a report</a:t>
            </a:r>
          </a:p>
        </p:txBody>
      </p:sp>
      <p:sp>
        <p:nvSpPr>
          <p:cNvPr id="29"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Numbers get reused for months. A wrong one propagates quietly through every later pack.</a:t>
            </a:r>
          </a:p>
        </p:txBody>
      </p:sp>
      <p:sp>
        <p:nvSpPr>
          <p:cNvPr id="30"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599329" y="2186805"/>
            <a:ext cx="294422" cy="308117"/>
          </a:xfrm>
          <a:custGeom>
            <a:avLst/>
            <a:gdLst/>
            <a:ahLst/>
            <a:cxnLst/>
            <a:rect l="l" t="t" r="r" b="b"/>
            <a:pathLst>
              <a:path w="294422" h="308117">
                <a:moveTo>
                  <a:pt x="147211" y="0"/>
                </a:moveTo>
                <a:lnTo>
                  <a:pt x="294422" y="65047"/>
                </a:lnTo>
                <a:lnTo>
                  <a:pt x="270458" y="222529"/>
                </a:lnTo>
                <a:lnTo>
                  <a:pt x="147211" y="308117"/>
                </a:lnTo>
                <a:lnTo>
                  <a:pt x="23965" y="222529"/>
                </a:lnTo>
                <a:lnTo>
                  <a:pt x="0" y="65047"/>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Anything with a rule in it</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Policy, tax, labour, safety. Wrong here is not an embarrassment, it is exposure.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WHEN YOU FIND 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fact-checking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alertband"/>
          <p:cNvSpPr/>
          <p:nvPr/>
        </p:nvSpPr>
        <p:spPr>
          <a:xfrm>
            <a:off x="0" y="1719072"/>
            <a:ext cx="12191695" cy="96012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If you did not type it and you have not opened it, it does not go out.</a:t>
            </a:r>
          </a:p>
          <a:p>
            <a:pPr algn="l">
              <a:lnSpc>
                <a:spcPts val="1755"/>
              </a:lnSpc>
              <a:spcBef>
                <a:spcPts val="0"/>
              </a:spcBef>
              <a:spcAft>
                <a:spcPts val="0"/>
              </a:spcAft>
            </a:pPr>
            <a:r>
              <a:rPr sz="1350" b="0">
                <a:solidFill>
                  <a:srgbClr val="FFFFFF"/>
                </a:solidFill>
                <a:latin typeface="Segoe UI"/>
              </a:rPr>
              <a:t>One sentence that removes almost every hallucination risk in ordinary office work.</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typed it — fine.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You opened the source — fine.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Neither — cut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Tuesday, 10:15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customer disputes a delivery charge and asks which term allows it. The AI answer quotes "clause 7.3" and reads like the contract. You have not opened the contract.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the quoted clause into your reply — it reads exactly right.</a:t>
            </a:r>
          </a:p>
        </p:txBody>
      </p:sp>
      <p:cxnSp>
        <p:nvCxnSpPr>
          <p:cNvPr id="23" name="vis:choicearrow"/>
          <p:cNvCxnSpPr/>
          <p:nvPr/>
        </p:nvCxnSpPr>
        <p:spPr>
          <a:xfrm>
            <a:off x="758952"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Open the contract, find the real clause, then reply.</a:t>
            </a:r>
          </a:p>
        </p:txBody>
      </p:sp>
      <p:cxnSp>
        <p:nvCxnSpPr>
          <p:cNvPr id="29" name="vis:choicearrow"/>
          <p:cNvCxnSpPr/>
          <p:nvPr/>
        </p:nvCxnSpPr>
        <p:spPr>
          <a:xfrm>
            <a:off x="4566818"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Ask the AI whether it is sure about clause 7.3.</a:t>
            </a:r>
          </a:p>
        </p:txBody>
      </p:sp>
      <p:cxnSp>
        <p:nvCxnSpPr>
          <p:cNvPr id="35" name="vis:choicearrow"/>
          <p:cNvCxnSpPr/>
          <p:nvPr/>
        </p:nvCxnSpPr>
        <p:spPr>
          <a:xfrm>
            <a:off x="8374684" y="5632704"/>
            <a:ext cx="292608" cy="0"/>
          </a:xfrm>
          <a:prstGeom prst="line">
            <a:avLst/>
          </a:prstGeom>
          <a:ln w="19050">
            <a:solidFill>
              <a:srgbClr val="2F4BC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have now put it in writing</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customer forwards your email to their legal team, who cannot find clause 7.3 either. The dispute is no longer about a delivery charge. It is about whether our written statements can be relied on.</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quote a clause number you have not seen with your own eyes.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Ninety seconds, and the dispute stays small</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charge is covered by clause 5, worded slightly differently. You paste the real clause into the tool and ask for a plain English explanation. The customer accepts it the same morning.</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Bring the document to the tool. Never ask the tool for the document.</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will get reassurance, not evidence</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confirms clause 7.3, possibly with extra detail. The confirmation was generated exactly the same way as the original claim, so you now have two invented statements and more confidence than before.</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tool cannot check itself. Only the source settles it.</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Nine minutes on why it invents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Tuning Your AI Model to Reduce Hallucinations</a:t>
            </a:r>
          </a:p>
        </p:txBody>
      </p:sp>
      <p:sp>
        <p:nvSpPr>
          <p:cNvPr id="19" name="vis:chip"/>
          <p:cNvSpPr/>
          <p:nvPr/>
        </p:nvSpPr>
        <p:spPr>
          <a:xfrm>
            <a:off x="868680" y="3858768"/>
            <a:ext cx="195917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64828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IBM TECHNOLOGY</a:t>
            </a:r>
          </a:p>
        </p:txBody>
      </p:sp>
      <p:sp>
        <p:nvSpPr>
          <p:cNvPr id="21" name="vis:chip"/>
          <p:cNvSpPr/>
          <p:nvPr/>
        </p:nvSpPr>
        <p:spPr>
          <a:xfrm>
            <a:off x="2974163" y="3858768"/>
            <a:ext cx="12334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129611" y="3895344"/>
            <a:ext cx="9225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8:54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Aimed at people who build AI systems. Watch it for the mechanism, not for the daily rules — those are in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four-step check above is what you need.</a:t>
            </a:r>
          </a:p>
        </p:txBody>
      </p:sp>
      <p:cxnSp>
        <p:nvCxnSpPr>
          <p:cNvPr id="35" name="vis:icon"/>
          <p:cNvCxnSpPr/>
          <p:nvPr/>
        </p:nvCxnSpPr>
        <p:spPr>
          <a:xfrm>
            <a:off x="8439424" y="3743919"/>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want to know why the gap gets filled.</a:t>
            </a:r>
          </a:p>
        </p:txBody>
      </p:sp>
      <p:cxnSp>
        <p:nvCxnSpPr>
          <p:cNvPr id="38" name="vis:icon"/>
          <p:cNvCxnSpPr/>
          <p:nvPr/>
        </p:nvCxnSpPr>
        <p:spPr>
          <a:xfrm>
            <a:off x="8439424" y="4859487"/>
            <a:ext cx="52304" cy="52304"/>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does it invent a clause?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programmed to sound helpful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question implied one exists, so it produced one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found a similar contract online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contract was in its training data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programmed to sound helpful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no instruction to be helpful at the expense of truth. It simply has no mechanism for truth at all — it is choosing likely words, and a clause number is a likely word 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completes sentences. It does not check them.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Your question implied one exists, so it produced one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mechanism. "What does clause 7.3 say?" makes a clause-shaped answer the most likely continuation. It has nothing to compare that against.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completes sentences. It does not check them.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found a similar contract online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did not go online. Nothing was retrieved. The clause was constructed word by word, the same way as the sentence around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completes sentences. It does not check them.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contract was in its training data</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Your contract was never in its training data, and even if a similar one had been, it does not store and retrieve documents. It stores patterns.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completes sentences. It does not check them.</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answer needs checking hardest?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rewrite of an email you pasted in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"Refunds take 14 days under clause 7.3"</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five-part outline for a proposal</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list of questions to ask a supplier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rewrite of an email you pasted in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Low risk. Every fact came from you, so you can check the whole thing against your own text in seconds.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unverifiable details carry the most risk.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"Refunds take 14 days under clause 7.3"</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number and a clause reference, neither of which you supplied. It is specific enough to be believed and quoted, and completely unverifiable without opening the real document.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unverifiable details carry the most risk.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five-part outline for a proposal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Pure structure with no facts in it. There is nothing to invent, so nothing gets invented.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unverifiable details carry the most risk.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list of questions to ask a supplier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Questions cannot be false in the way a figure can. You read them, keep the useful ones, and discard the rest.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Specific, unverifiable details carry the most risk.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step two actually ask?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stem"/>
          <p:cNvSpPr/>
          <p:nvPr/>
        </p:nvSpPr>
        <p:spPr>
          <a:xfrm>
            <a:off x="502920" y="1719072"/>
            <a:ext cx="11185855" cy="713232"/>
          </a:xfrm>
          <a:prstGeom prst="roundRect">
            <a:avLst>
              <a:gd name="adj" fmla="val 1025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780897" y="1976932"/>
            <a:ext cx="230428" cy="153619"/>
          </a:xfrm>
          <a:prstGeom prst="roundRect">
            <a:avLst>
              <a:gd name="adj" fmla="val 29761"/>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flipH="1">
            <a:off x="824788" y="2130552"/>
            <a:ext cx="10973"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24788" y="2130552"/>
            <a:ext cx="60351" cy="6035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9" name="cell:stem"/>
          <p:cNvSpPr txBox="1"/>
          <p:nvPr/>
        </p:nvSpPr>
        <p:spPr>
          <a:xfrm>
            <a:off x="1197864" y="1828800"/>
            <a:ext cx="10234879" cy="493776"/>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The four-step check is underline, trace, open, cut.</a:t>
            </a:r>
          </a:p>
        </p:txBody>
      </p:sp>
      <p:sp>
        <p:nvSpPr>
          <p:cNvPr id="20" name="quiz:answer">
            <a:hlinkClick action="ppaction://hlinksldjump" r:id="rId3"/>
          </p:cNvPr>
          <p:cNvSpPr/>
          <p:nvPr/>
        </p:nvSpPr>
        <p:spPr>
          <a:xfrm>
            <a:off x="502920"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
          <p:cNvSpPr/>
          <p:nvPr/>
        </p:nvSpPr>
        <p:spPr>
          <a:xfrm>
            <a:off x="740664"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answerkeytext"/>
          <p:cNvSpPr txBox="1"/>
          <p:nvPr/>
        </p:nvSpPr>
        <p:spPr>
          <a:xfrm>
            <a:off x="740664"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23" name="cell:answer"/>
          <p:cNvSpPr txBox="1"/>
          <p:nvPr/>
        </p:nvSpPr>
        <p:spPr>
          <a:xfrm>
            <a:off x="1252728"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Does this sound plausible?</a:t>
            </a:r>
          </a:p>
        </p:txBody>
      </p:sp>
      <p:sp>
        <p:nvSpPr>
          <p:cNvPr id="24" name="quiz:answer">
            <a:hlinkClick action="ppaction://hlinksldjump" r:id="rId4"/>
          </p:cNvPr>
          <p:cNvSpPr/>
          <p:nvPr/>
        </p:nvSpPr>
        <p:spPr>
          <a:xfrm>
            <a:off x="6187287" y="263347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
          <p:cNvSpPr/>
          <p:nvPr/>
        </p:nvSpPr>
        <p:spPr>
          <a:xfrm>
            <a:off x="6425031" y="32506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answerkeytext"/>
          <p:cNvSpPr txBox="1"/>
          <p:nvPr/>
        </p:nvSpPr>
        <p:spPr>
          <a:xfrm>
            <a:off x="6425031" y="33284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7" name="cell:answer"/>
          <p:cNvSpPr txBox="1"/>
          <p:nvPr/>
        </p:nvSpPr>
        <p:spPr>
          <a:xfrm>
            <a:off x="6937095" y="276148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Did I supply this, or did the tool?</a:t>
            </a:r>
          </a:p>
        </p:txBody>
      </p:sp>
      <p:sp>
        <p:nvSpPr>
          <p:cNvPr id="28" name="quiz:answer">
            <a:hlinkClick action="ppaction://hlinksldjump" r:id="rId5"/>
          </p:cNvPr>
          <p:cNvSpPr/>
          <p:nvPr/>
        </p:nvSpPr>
        <p:spPr>
          <a:xfrm>
            <a:off x="502920"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
          <p:cNvSpPr/>
          <p:nvPr/>
        </p:nvSpPr>
        <p:spPr>
          <a:xfrm>
            <a:off x="740664"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answerkeytext"/>
          <p:cNvSpPr txBox="1"/>
          <p:nvPr/>
        </p:nvSpPr>
        <p:spPr>
          <a:xfrm>
            <a:off x="740664"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31" name="cell:answer"/>
          <p:cNvSpPr txBox="1"/>
          <p:nvPr/>
        </p:nvSpPr>
        <p:spPr>
          <a:xfrm>
            <a:off x="1252728"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Is this the kind of thing AI gets wrong?</a:t>
            </a:r>
          </a:p>
        </p:txBody>
      </p:sp>
      <p:sp>
        <p:nvSpPr>
          <p:cNvPr id="32" name="quiz:answer">
            <a:hlinkClick action="ppaction://hlinksldjump" r:id="rId6"/>
          </p:cNvPr>
          <p:cNvSpPr/>
          <p:nvPr/>
        </p:nvSpPr>
        <p:spPr>
          <a:xfrm>
            <a:off x="6187287" y="4416552"/>
            <a:ext cx="5501487" cy="1600200"/>
          </a:xfrm>
          <a:prstGeom prst="roundRect">
            <a:avLst>
              <a:gd name="adj" fmla="val 4571"/>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answerkey"/>
          <p:cNvSpPr/>
          <p:nvPr/>
        </p:nvSpPr>
        <p:spPr>
          <a:xfrm>
            <a:off x="6425031" y="50337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answerkeytext"/>
          <p:cNvSpPr txBox="1"/>
          <p:nvPr/>
        </p:nvSpPr>
        <p:spPr>
          <a:xfrm>
            <a:off x="6425031" y="51114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5" name="cell:answer"/>
          <p:cNvSpPr txBox="1"/>
          <p:nvPr/>
        </p:nvSpPr>
        <p:spPr>
          <a:xfrm>
            <a:off x="6937095" y="4544568"/>
            <a:ext cx="4495647" cy="13441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Would my manager agree with this?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Does this sound plausible?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Plausibility is the problem, not the test. Every hallucination is plausible by construction — that is precisely why it survives a quick read.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 type this, or did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Did I supply this, or did the tool?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only question that separates safe from unsafe. Anything you typed can be trusted as far as you trust yourself. Anything it produced needs a real source.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 type this, or did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Is this the kind of thing AI gets wrong?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Useful background, but too vague to act on line by line. Tracing origin is a mechanical check anyone can run in under a minute.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 type this, or did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Would my manager agree with this?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Your manager cannot tell either, without the source. Passing an unverified figure up the chain spreads the problem rather than solving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Did I type this, or did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spot one wrong figure. Now what?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Start the whole draft again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Tell it the correct figure and ask it to reissue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Change the figure yourself and send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Add "approximately" in front of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Start the whole draft again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would throw away wording that was fine and invite a fresh set of inventions. One correction line fixes the figure and protects everything else.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error, give the truth, keep the rest.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Tell it the correct figure and ask it to reissue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Name what is wrong, supply the right value, and say keep the rest. The tone and structure you already approved survive intact.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error, give the truth, keep the rest.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Change the figure yourself and send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Reasonable for one number, but if the tool invented one figure it may have invented others. Fix it, then re-run the trace over the whole answer.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error, give the truth, keep the rest.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Add "approximately" in front of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number is not imprecise, it is invented. Softening the wording keeps a fabricated commitment in the document and makes it harder to spot.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error, give the truth, keep the rest.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do you confirm an answer?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 same tool again and compare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Open the document or system it refers to</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a different AI tool the same question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it to rate its own confidence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the same tool again and compare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Both answers come from the same patterns, so they can agree perfectly and both be wrong. Agreement between two generations is not corroboration.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the real source settles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Open the document or system it refers to</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is the only real confirmation. It usually takes under a minute, and it is the difference between a reply you can defend and one you cannot.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the real source settles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Ask a different AI tool the same question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Better than asking the same one, but still two generations rather than a source. Common patterns produce common inventions across tools.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the real source settles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it to rate its own confidence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generated confidence score is produced the same way as everything else. It is a sentence about certainty, not a measurement of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Only the real source settles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Fact-checking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gap never stays a gap</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completes the sentence with something likely, rather than leaving a blank.</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risky types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Quotes, figures, names and references. These are where inventions cluster.</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Underline, trace, open, cut</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Mark the details, ask who supplied them, check the source, delete the rest.</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Paste the document in</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Grounding it in real text is far safer than asking about text it cannot see.</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Asking twice proves nothing</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Two generations can agree and both be wrong. Only the source settles it.</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Correct, do not restart</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Name the error, give the right value, and protect the wording that worked.</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7688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7688D8"/>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7688D8"/>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FFFFFF"/>
                </a:solidFill>
                <a:latin typeface="Segoe UI Semibold"/>
              </a:rPr>
              <a:t>If you did not type it and you have not opened it, it does not go out. That one line prevents nearly all of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3910" y="2379537"/>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honesty prompt</a:t>
            </a:r>
          </a:p>
        </p:txBody>
      </p:sp>
      <p:sp>
        <p:nvSpPr>
          <p:cNvPr id="20"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"If it is not in the supplied text, say so."</a:t>
            </a:r>
          </a:p>
        </p:txBody>
      </p:sp>
      <p:sp>
        <p:nvSpPr>
          <p:cNvPr id="21"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55922" y="3305709"/>
            <a:ext cx="244971" cy="191717"/>
          </a:xfrm>
          <a:custGeom>
            <a:avLst/>
            <a:gdLst/>
            <a:ahLst/>
            <a:cxnLst/>
            <a:rect l="l" t="t" r="r" b="b"/>
            <a:pathLst>
              <a:path w="244971" h="191717">
                <a:moveTo>
                  <a:pt x="0" y="95859"/>
                </a:moveTo>
                <a:lnTo>
                  <a:pt x="122486" y="0"/>
                </a:lnTo>
                <a:lnTo>
                  <a:pt x="244971" y="95859"/>
                </a:lnTo>
                <a:lnTo>
                  <a:pt x="122486" y="191717"/>
                </a:lnTo>
                <a:close/>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is:icon"/>
          <p:cNvSpPr/>
          <p:nvPr/>
        </p:nvSpPr>
        <p:spPr>
          <a:xfrm>
            <a:off x="941129" y="3364289"/>
            <a:ext cx="74556" cy="74556"/>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four-step check</a:t>
            </a:r>
          </a:p>
        </p:txBody>
      </p:sp>
      <p:sp>
        <p:nvSpPr>
          <p:cNvPr id="26"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Underline, trace, open, cut. Under a minute.</a:t>
            </a:r>
          </a:p>
        </p:txBody>
      </p:sp>
      <p:sp>
        <p:nvSpPr>
          <p:cNvPr id="27"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correction line</a:t>
            </a:r>
          </a:p>
        </p:txBody>
      </p:sp>
      <p:sp>
        <p:nvSpPr>
          <p:cNvPr id="32"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Name the error, give the truth, keep the rest.</a:t>
            </a:r>
          </a:p>
        </p:txBody>
      </p:sp>
      <p:sp>
        <p:nvSpPr>
          <p:cNvPr id="33"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LINKS THAT WORK</a:t>
            </a:r>
          </a:p>
        </p:txBody>
      </p:sp>
      <p:sp>
        <p:nvSpPr>
          <p:cNvPr id="34"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339937" y="2300630"/>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8482584" y="2443276"/>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37"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38"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copilot.microsoft.com</a:t>
            </a:r>
          </a:p>
        </p:txBody>
      </p:sp>
      <p:sp>
        <p:nvSpPr>
          <p:cNvPr id="39"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339937" y="2977286"/>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82584" y="3119932"/>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2"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3"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chatgpt.com</a:t>
            </a:r>
          </a:p>
        </p:txBody>
      </p:sp>
      <p:sp>
        <p:nvSpPr>
          <p:cNvPr id="44"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8339937" y="3653942"/>
            <a:ext cx="164592" cy="164592"/>
          </a:xfrm>
          <a:prstGeom prst="ellipse">
            <a:avLst/>
          </a:prstGeom>
          <a:noFill/>
          <a:ln w="1905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82584" y="3796588"/>
            <a:ext cx="65836" cy="65837"/>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47"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48"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a:rPr>
              <a:t>gemini.google.com</a:t>
            </a:r>
          </a:p>
        </p:txBody>
      </p:sp>
      <p:sp>
        <p:nvSpPr>
          <p:cNvPr id="49"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688D8"/>
                </a:solidFill>
                <a:latin typeface="Segoe UI Semibold"/>
              </a:rPr>
              <a:t>DO THIS NEXT</a:t>
            </a:r>
          </a:p>
        </p:txBody>
      </p:sp>
      <p:sp>
        <p:nvSpPr>
          <p:cNvPr id="51"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track: PE-01, Basic Prompting. Better questions produce fewer gaps to fill, which is the cheapest hallucination control there 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2F4BC4"/>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AI-05  ·  Hallucinations &amp; Fact-Checking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2F4BC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2F4BC4"/>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2F4BC4"/>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Hallucination</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confident, invented answer. Usually a quote, a figure, a name or a reference.</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Grounding</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Giving the tool the actual source text, so its answer has something real to stand on.</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Training data</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public text a model learned from, up to a fixed cut-off date.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the request plus the facts you supply.</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Source</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document, system or person you can point at. A model is never one.</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2F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