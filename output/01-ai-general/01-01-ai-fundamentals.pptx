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8.xml"/><Relationship Id="rId4" Type="http://schemas.openxmlformats.org/officeDocument/2006/relationships/slide" Target="slide10.xml"/><Relationship Id="rId5" Type="http://schemas.openxmlformats.org/officeDocument/2006/relationships/slide" Target="slide14.xml"/><Relationship Id="rId6" Type="http://schemas.openxmlformats.org/officeDocument/2006/relationships/slide" Target="slide17.xml"/><Relationship Id="rId7" Type="http://schemas.openxmlformats.org/officeDocument/2006/relationships/slide" Target="slide20.xml"/><Relationship Id="rId8" Type="http://schemas.openxmlformats.org/officeDocument/2006/relationships/slide" Target="slide24.xml"/><Relationship Id="rId9" Type="http://schemas.openxmlformats.org/officeDocument/2006/relationships/slide" Target="slide25.xml"/><Relationship Id="rId10" Type="http://schemas.openxmlformats.org/officeDocument/2006/relationships/slide" Target="slide50.xml"/><Relationship Id="rId11" Type="http://schemas.openxmlformats.org/officeDocument/2006/relationships/slide" Target="slide5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5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5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5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1.xml"/><Relationship Id="rId4" Type="http://schemas.openxmlformats.org/officeDocument/2006/relationships/slide" Target="slide22.xml"/><Relationship Id="rId5" Type="http://schemas.openxmlformats.org/officeDocument/2006/relationships/slide" Target="slide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0.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0.xm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0.xml"/><Relationship Id="rId3" Type="http://schemas.openxmlformats.org/officeDocument/2006/relationships/slide" Target="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SAaDOUhrdXc" TargetMode="External"/><Relationship Id="rId3" Type="http://schemas.openxmlformats.org/officeDocument/2006/relationships/slide" Target="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6.xml"/><Relationship Id="rId4" Type="http://schemas.openxmlformats.org/officeDocument/2006/relationships/slide" Target="slide27.xml"/><Relationship Id="rId5" Type="http://schemas.openxmlformats.org/officeDocument/2006/relationships/slide" Target="slide28.xml"/><Relationship Id="rId6" Type="http://schemas.openxmlformats.org/officeDocument/2006/relationships/slide" Target="slide2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0.xml"/><Relationship Id="rId3" Type="http://schemas.openxmlformats.org/officeDocument/2006/relationships/slide" Target="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xml"/><Relationship Id="rId3" Type="http://schemas.openxmlformats.org/officeDocument/2006/relationships/slide" Target="slide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1.xml"/><Relationship Id="rId4" Type="http://schemas.openxmlformats.org/officeDocument/2006/relationships/slide" Target="slide32.xml"/><Relationship Id="rId5" Type="http://schemas.openxmlformats.org/officeDocument/2006/relationships/slide" Target="slide33.xml"/><Relationship Id="rId6" Type="http://schemas.openxmlformats.org/officeDocument/2006/relationships/slide" Target="slide3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0.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5.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0.xml"/><Relationship Id="rId3" Type="http://schemas.openxmlformats.org/officeDocument/2006/relationships/slide" Target="slid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0.xml"/><Relationship Id="rId3" Type="http://schemas.openxmlformats.org/officeDocument/2006/relationships/slide" Target="slide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6.xml"/><Relationship Id="rId4" Type="http://schemas.openxmlformats.org/officeDocument/2006/relationships/slide" Target="slide37.xml"/><Relationship Id="rId5" Type="http://schemas.openxmlformats.org/officeDocument/2006/relationships/slide" Target="slide38.xml"/><Relationship Id="rId6" Type="http://schemas.openxmlformats.org/officeDocument/2006/relationships/slide" Target="slide3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5.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5.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0.xml"/><Relationship Id="rId3" Type="http://schemas.openxmlformats.org/officeDocument/2006/relationships/slide" Target="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5.xml"/><Relationship Id="rId3" Type="http://schemas.openxmlformats.org/officeDocument/2006/relationships/slide" Target="slide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1.xml"/><Relationship Id="rId4" Type="http://schemas.openxmlformats.org/officeDocument/2006/relationships/slide" Target="slide42.xml"/><Relationship Id="rId5" Type="http://schemas.openxmlformats.org/officeDocument/2006/relationships/slide" Target="slide43.xml"/><Relationship Id="rId6" Type="http://schemas.openxmlformats.org/officeDocument/2006/relationships/slide" Target="slide4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0.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0.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5.xml"/><Relationship Id="rId3" Type="http://schemas.openxmlformats.org/officeDocument/2006/relationships/slide" Target="slide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0.xml"/><Relationship Id="rId3" Type="http://schemas.openxmlformats.org/officeDocument/2006/relationships/slide" Target="slide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6.xml"/><Relationship Id="rId4" Type="http://schemas.openxmlformats.org/officeDocument/2006/relationships/slide" Target="slide47.xml"/><Relationship Id="rId5" Type="http://schemas.openxmlformats.org/officeDocument/2006/relationships/slide" Target="slide48.xml"/><Relationship Id="rId6" Type="http://schemas.openxmlformats.org/officeDocument/2006/relationships/slide" Target="slide4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5.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0.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5.xml"/><Relationship Id="rId3"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5.xml"/><Relationship Id="rId3"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pilot.microsoft.com" TargetMode="External"/><Relationship Id="rId3" Type="http://schemas.openxmlformats.org/officeDocument/2006/relationships/hyperlink" Target="https://chatgpt.com" TargetMode="External"/><Relationship Id="rId4" Type="http://schemas.openxmlformats.org/officeDocument/2006/relationships/hyperlink" Target="https://gemini.google.com" TargetMode="External"/><Relationship Id="rId5" Type="http://schemas.openxmlformats.org/officeDocument/2006/relationships/slide" Target="slide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vis:coverphoto" descr="hero-ai-fundamentals.jpg"/>
          <p:cNvPicPr>
            <a:picLocks noChangeAspect="1"/>
          </p:cNvPicPr>
          <p:nvPr/>
        </p:nvPicPr>
        <p:blipFill>
          <a:blip r:embed="rId2"/>
          <a:srcRect l="22674" r="22674"/>
          <a:stretch>
            <a:fillRect/>
          </a:stretch>
        </p:blipFill>
        <p:spPr>
          <a:xfrm>
            <a:off x="5532120" y="0"/>
            <a:ext cx="6659575" cy="6858000"/>
          </a:xfrm>
          <a:prstGeom prst="rect">
            <a:avLst/>
          </a:prstGeom>
        </p:spPr>
      </p:pic>
      <p:sp>
        <p:nvSpPr>
          <p:cNvPr id="4" name="vis:coverpanel"/>
          <p:cNvSpPr/>
          <p:nvPr/>
        </p:nvSpPr>
        <p:spPr>
          <a:xfrm>
            <a:off x="0" y="0"/>
            <a:ext cx="5532120"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vis:coveredge"/>
          <p:cNvSpPr/>
          <p:nvPr/>
        </p:nvSpPr>
        <p:spPr>
          <a:xfrm>
            <a:off x="5532120" y="0"/>
            <a:ext cx="64008" cy="6858000"/>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vis:coverspine"/>
          <p:cNvSpPr/>
          <p:nvPr/>
        </p:nvSpPr>
        <p:spPr>
          <a:xfrm>
            <a:off x="0" y="0"/>
            <a:ext cx="201168" cy="6858000"/>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seclabel"/>
          <p:cNvSpPr txBox="1"/>
          <p:nvPr/>
        </p:nvSpPr>
        <p:spPr>
          <a:xfrm>
            <a:off x="841248" y="203200"/>
            <a:ext cx="418795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688D8"/>
                </a:solidFill>
                <a:latin typeface="Segoe UI Semibold"/>
              </a:rPr>
              <a:t>AI COURSES</a:t>
            </a:r>
          </a:p>
        </p:txBody>
      </p:sp>
      <p:sp>
        <p:nvSpPr>
          <p:cNvPr id="8" name="title:cover"/>
          <p:cNvSpPr txBox="1"/>
          <p:nvPr/>
        </p:nvSpPr>
        <p:spPr>
          <a:xfrm>
            <a:off x="841248" y="660400"/>
            <a:ext cx="4187952" cy="150774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AI Fundamentals</a:t>
            </a:r>
          </a:p>
        </p:txBody>
      </p:sp>
      <p:cxnSp>
        <p:nvCxnSpPr>
          <p:cNvPr id="9" name="vis:rule"/>
          <p:cNvCxnSpPr/>
          <p:nvPr/>
        </p:nvCxnSpPr>
        <p:spPr>
          <a:xfrm>
            <a:off x="841248" y="2442464"/>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0" name="body:coversub"/>
          <p:cNvSpPr txBox="1"/>
          <p:nvPr/>
        </p:nvSpPr>
        <p:spPr>
          <a:xfrm>
            <a:off x="841248" y="2716784"/>
            <a:ext cx="4187952" cy="150774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What AI actually is, in plain language — and what it changes on your desk on Monday morning.</a:t>
            </a:r>
          </a:p>
        </p:txBody>
      </p:sp>
      <p:sp>
        <p:nvSpPr>
          <p:cNvPr id="11" name="vis:chip"/>
          <p:cNvSpPr/>
          <p:nvPr/>
        </p:nvSpPr>
        <p:spPr>
          <a:xfrm>
            <a:off x="841248" y="4626864"/>
            <a:ext cx="910209" cy="310896"/>
          </a:xfrm>
          <a:prstGeom prst="roundRect">
            <a:avLst>
              <a:gd name="adj" fmla="val 14705"/>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vis:chiptext"/>
          <p:cNvSpPr txBox="1"/>
          <p:nvPr/>
        </p:nvSpPr>
        <p:spPr>
          <a:xfrm>
            <a:off x="996696" y="4672584"/>
            <a:ext cx="5993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AI-01</a:t>
            </a:r>
          </a:p>
        </p:txBody>
      </p:sp>
      <p:sp>
        <p:nvSpPr>
          <p:cNvPr id="13" name="vis:chip"/>
          <p:cNvSpPr/>
          <p:nvPr/>
        </p:nvSpPr>
        <p:spPr>
          <a:xfrm>
            <a:off x="1897761" y="4626864"/>
            <a:ext cx="145630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vis:chiptext"/>
          <p:cNvSpPr txBox="1"/>
          <p:nvPr/>
        </p:nvSpPr>
        <p:spPr>
          <a:xfrm>
            <a:off x="2053209" y="4672584"/>
            <a:ext cx="11454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18 MINUTES</a:t>
            </a:r>
          </a:p>
        </p:txBody>
      </p:sp>
      <p:sp>
        <p:nvSpPr>
          <p:cNvPr id="15" name="vis:chip"/>
          <p:cNvSpPr/>
          <p:nvPr/>
        </p:nvSpPr>
        <p:spPr>
          <a:xfrm>
            <a:off x="841248" y="5047488"/>
            <a:ext cx="230202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iptext"/>
          <p:cNvSpPr txBox="1"/>
          <p:nvPr/>
        </p:nvSpPr>
        <p:spPr>
          <a:xfrm>
            <a:off x="996696" y="5093208"/>
            <a:ext cx="19911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NEW JOINERS + STAFF</a:t>
            </a:r>
          </a:p>
        </p:txBody>
      </p:sp>
      <p:sp>
        <p:nvSpPr>
          <p:cNvPr id="17" name="cell:coverhint"/>
          <p:cNvSpPr txBox="1"/>
          <p:nvPr/>
        </p:nvSpPr>
        <p:spPr>
          <a:xfrm>
            <a:off x="841248" y="5724144"/>
            <a:ext cx="4187952"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18"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AI-01  ·  AI Fundamentals</a:t>
            </a:r>
          </a:p>
        </p:txBody>
      </p:sp>
      <p:sp>
        <p:nvSpPr>
          <p:cNvPr id="19"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Ramesh loses two hours every Friday</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1002284" y="2218436"/>
            <a:ext cx="318006" cy="318006"/>
          </a:xfrm>
          <a:prstGeom prst="ellipse">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flipV="1">
            <a:off x="1161288" y="2283483"/>
            <a:ext cx="0" cy="93956"/>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1161288" y="2377439"/>
            <a:ext cx="79501" cy="2891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21"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Ramesh runs dispatch at the Bhiwandi warehouse. Every Friday he writes delay notes for the shipments that missed their date. He already knows every order number, every reason, every new date. What takes him two hours is finding the words.</a:t>
            </a:r>
          </a:p>
        </p:txBody>
      </p:sp>
      <p:sp>
        <p:nvSpPr>
          <p:cNvPr id="22"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6"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Two hours a week. Around 100 hours a year. Spent on typing, not on dispatch.</a:t>
            </a:r>
          </a:p>
        </p:txBody>
      </p:sp>
      <p:sp>
        <p:nvSpPr>
          <p:cNvPr id="28"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688D8"/>
                </a:solidFill>
                <a:latin typeface="Segoe UI Semibold"/>
              </a:rPr>
              <a:t>AFTER THIS MODULE</a:t>
            </a:r>
          </a:p>
        </p:txBody>
      </p:sp>
      <p:cxnSp>
        <p:nvCxnSpPr>
          <p:cNvPr id="30"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1"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You hand over the facts. A clean draft comes back in a minute. Your time goes into checking it, not typing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36886" y="1969559"/>
            <a:ext cx="247634" cy="165089"/>
          </a:xfrm>
          <a:prstGeom prst="roundRect">
            <a:avLst>
              <a:gd name="adj" fmla="val 27694"/>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984055" y="2134648"/>
            <a:ext cx="11792" cy="64857"/>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984055" y="2134648"/>
            <a:ext cx="64856" cy="64857"/>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20"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Explain in one sentence what an AI assistant is doing when it answers you</a:t>
            </a:r>
          </a:p>
        </p:txBody>
      </p:sp>
      <p:sp>
        <p:nvSpPr>
          <p:cNvPr id="21"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954575" y="2859775"/>
            <a:ext cx="176881" cy="176881"/>
          </a:xfrm>
          <a:prstGeom prst="ellipse">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vis:icon"/>
          <p:cNvCxnSpPr/>
          <p:nvPr/>
        </p:nvCxnSpPr>
        <p:spPr>
          <a:xfrm>
            <a:off x="1107872" y="3013072"/>
            <a:ext cx="70753" cy="70752"/>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25"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Choose correctly between a search engine and an AI assistant for the task in front of you</a:t>
            </a:r>
          </a:p>
        </p:txBody>
      </p:sp>
      <p:sp>
        <p:nvSpPr>
          <p:cNvPr id="26"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icon"/>
          <p:cNvSpPr/>
          <p:nvPr/>
        </p:nvSpPr>
        <p:spPr>
          <a:xfrm>
            <a:off x="925094" y="3738198"/>
            <a:ext cx="271219" cy="247635"/>
          </a:xfrm>
          <a:custGeom>
            <a:avLst/>
            <a:gdLst/>
            <a:ahLst/>
            <a:cxnLst/>
            <a:rect l="l" t="t" r="r" b="b"/>
            <a:pathLst>
              <a:path w="271219" h="247635">
                <a:moveTo>
                  <a:pt x="135610" y="0"/>
                </a:moveTo>
                <a:lnTo>
                  <a:pt x="271219" y="247635"/>
                </a:lnTo>
                <a:lnTo>
                  <a:pt x="0" y="247635"/>
                </a:lnTo>
                <a:close/>
              </a:path>
            </a:pathLst>
          </a:cu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vis:icon"/>
          <p:cNvCxnSpPr/>
          <p:nvPr/>
        </p:nvCxnSpPr>
        <p:spPr>
          <a:xfrm>
            <a:off x="1060704" y="3832535"/>
            <a:ext cx="0" cy="73701"/>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30" name="vis:icon"/>
          <p:cNvSpPr/>
          <p:nvPr/>
        </p:nvSpPr>
        <p:spPr>
          <a:xfrm>
            <a:off x="1045963" y="3932768"/>
            <a:ext cx="29480" cy="2948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Spot an answer that sounds completely sure and is completely wrong</a:t>
            </a:r>
          </a:p>
        </p:txBody>
      </p:sp>
      <p:sp>
        <p:nvSpPr>
          <p:cNvPr id="32"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icon"/>
          <p:cNvSpPr/>
          <p:nvPr/>
        </p:nvSpPr>
        <p:spPr>
          <a:xfrm>
            <a:off x="966367" y="4634310"/>
            <a:ext cx="188673" cy="259426"/>
          </a:xfrm>
          <a:prstGeom prst="roundRect">
            <a:avLst>
              <a:gd name="adj" fmla="val 24232"/>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5" name="vis:icon"/>
          <p:cNvCxnSpPr/>
          <p:nvPr/>
        </p:nvCxnSpPr>
        <p:spPr>
          <a:xfrm>
            <a:off x="1007639" y="4716855"/>
            <a:ext cx="106129"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a:off x="1007639" y="4764024"/>
            <a:ext cx="106129"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a:off x="1007639" y="4811192"/>
            <a:ext cx="70753"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38"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Write a prompt that gives you a usable draft on the first try</a:t>
            </a:r>
          </a:p>
        </p:txBody>
      </p:sp>
      <p:sp>
        <p:nvSpPr>
          <p:cNvPr id="39"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954575" y="5642447"/>
            <a:ext cx="212257" cy="147401"/>
          </a:xfrm>
          <a:prstGeom prst="roundRect">
            <a:avLst>
              <a:gd name="adj" fmla="val 31017"/>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vis:icon"/>
          <p:cNvSpPr/>
          <p:nvPr/>
        </p:nvSpPr>
        <p:spPr>
          <a:xfrm>
            <a:off x="992899" y="5542214"/>
            <a:ext cx="135609" cy="182777"/>
          </a:xfrm>
          <a:prstGeom prst="arc">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3"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Name what you must never type into an AI tool at work, and why it matters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What AI actually is</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one idea behind every AI tool</a:t>
            </a:r>
          </a:p>
        </p:txBody>
      </p:sp>
      <p:cxnSp>
        <p:nvCxnSpPr>
          <p:cNvPr id="13" name="vis:menuarrow"/>
          <p:cNvCxnSpPr/>
          <p:nvPr/>
        </p:nvCxnSpPr>
        <p:spPr>
          <a:xfrm>
            <a:off x="11213287" y="1997049"/>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Search or assistant?</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Two different tools, two different jobs</a:t>
            </a:r>
          </a:p>
        </p:txBody>
      </p:sp>
      <p:cxnSp>
        <p:nvCxnSpPr>
          <p:cNvPr id="19" name="vis:menuarrow"/>
          <p:cNvCxnSpPr/>
          <p:nvPr/>
        </p:nvCxnSpPr>
        <p:spPr>
          <a:xfrm>
            <a:off x="11213287" y="2424988"/>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first two minutes</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Do it now, with the exact words</a:t>
            </a:r>
          </a:p>
        </p:txBody>
      </p:sp>
      <p:cxnSp>
        <p:nvCxnSpPr>
          <p:cNvPr id="25" name="vis:menuarrow"/>
          <p:cNvCxnSpPr/>
          <p:nvPr/>
        </p:nvCxnSpPr>
        <p:spPr>
          <a:xfrm>
            <a:off x="11213287" y="2852928"/>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Where it helps, where it breaks</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Pick the right task</a:t>
            </a:r>
          </a:p>
        </p:txBody>
      </p:sp>
      <p:cxnSp>
        <p:nvCxnSpPr>
          <p:cNvPr id="31" name="vis:menuarrow"/>
          <p:cNvCxnSpPr/>
          <p:nvPr/>
        </p:nvCxnSpPr>
        <p:spPr>
          <a:xfrm>
            <a:off x="11213287" y="3280867"/>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Using it safely</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habits that keep you out of trouble</a:t>
            </a:r>
          </a:p>
        </p:txBody>
      </p:sp>
      <p:cxnSp>
        <p:nvCxnSpPr>
          <p:cNvPr id="37" name="vis:menuarrow"/>
          <p:cNvCxnSpPr/>
          <p:nvPr/>
        </p:nvCxnSpPr>
        <p:spPr>
          <a:xfrm>
            <a:off x="11213287" y="3708806"/>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real Monday morning decision</a:t>
            </a:r>
          </a:p>
        </p:txBody>
      </p:sp>
      <p:cxnSp>
        <p:nvCxnSpPr>
          <p:cNvPr id="43" name="vis:menuarrow"/>
          <p:cNvCxnSpPr/>
          <p:nvPr/>
        </p:nvCxnSpPr>
        <p:spPr>
          <a:xfrm>
            <a:off x="11213287" y="4136745"/>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7-minute outside explainer</a:t>
            </a:r>
          </a:p>
        </p:txBody>
      </p:sp>
      <p:cxnSp>
        <p:nvCxnSpPr>
          <p:cNvPr id="49" name="vis:menuarrow"/>
          <p:cNvCxnSpPr/>
          <p:nvPr/>
        </p:nvCxnSpPr>
        <p:spPr>
          <a:xfrm>
            <a:off x="11213287" y="4564684"/>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WHAT AI ACTUALLY 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It predicts the next word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body:lead"/>
          <p:cNvSpPr txBox="1"/>
          <p:nvPr/>
        </p:nvSpPr>
        <p:spPr>
          <a:xfrm>
            <a:off x="502920" y="1719072"/>
            <a:ext cx="8343671" cy="1371600"/>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By default, an AI assistant does not look up an answer. It reads your words and predicts what should come next, one small piece at a time, thousands of times a second. Some tools can search the web when enabled — but unless it shows a page it opened, treat the answer as generated, not looked up.</a:t>
            </a:r>
          </a:p>
        </p:txBody>
      </p:sp>
      <p:sp>
        <p:nvSpPr>
          <p:cNvPr id="16" name="vis:flowcard"/>
          <p:cNvSpPr/>
          <p:nvPr/>
        </p:nvSpPr>
        <p:spPr>
          <a:xfrm>
            <a:off x="502920" y="34381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
          <p:cNvSpPr/>
          <p:nvPr/>
        </p:nvSpPr>
        <p:spPr>
          <a:xfrm>
            <a:off x="685800" y="3255263"/>
            <a:ext cx="384048" cy="384048"/>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flownumtext"/>
          <p:cNvSpPr txBox="1"/>
          <p:nvPr/>
        </p:nvSpPr>
        <p:spPr>
          <a:xfrm>
            <a:off x="685800" y="33329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9" name="vis:flowtitle"/>
          <p:cNvSpPr txBox="1"/>
          <p:nvPr/>
        </p:nvSpPr>
        <p:spPr>
          <a:xfrm>
            <a:off x="704088" y="3803904"/>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You type</a:t>
            </a:r>
          </a:p>
        </p:txBody>
      </p:sp>
      <p:sp>
        <p:nvSpPr>
          <p:cNvPr id="20" name="vis:flowsub"/>
          <p:cNvSpPr txBox="1"/>
          <p:nvPr/>
        </p:nvSpPr>
        <p:spPr>
          <a:xfrm>
            <a:off x="704088" y="43525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Your request goes in as plain text.</a:t>
            </a:r>
          </a:p>
        </p:txBody>
      </p:sp>
      <p:cxnSp>
        <p:nvCxnSpPr>
          <p:cNvPr id="21" name="vis:flowarrow"/>
          <p:cNvCxnSpPr/>
          <p:nvPr/>
        </p:nvCxnSpPr>
        <p:spPr>
          <a:xfrm>
            <a:off x="3093643" y="4398264"/>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vis:flowcard"/>
          <p:cNvSpPr/>
          <p:nvPr/>
        </p:nvSpPr>
        <p:spPr>
          <a:xfrm>
            <a:off x="3395395" y="34381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
          <p:cNvSpPr/>
          <p:nvPr/>
        </p:nvSpPr>
        <p:spPr>
          <a:xfrm>
            <a:off x="3578275" y="3255263"/>
            <a:ext cx="384048" cy="384048"/>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flownumtext"/>
          <p:cNvSpPr txBox="1"/>
          <p:nvPr/>
        </p:nvSpPr>
        <p:spPr>
          <a:xfrm>
            <a:off x="3578275" y="33329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5" name="vis:flowtitle"/>
          <p:cNvSpPr txBox="1"/>
          <p:nvPr/>
        </p:nvSpPr>
        <p:spPr>
          <a:xfrm>
            <a:off x="3596563" y="3803904"/>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It splits your text</a:t>
            </a:r>
          </a:p>
        </p:txBody>
      </p:sp>
      <p:sp>
        <p:nvSpPr>
          <p:cNvPr id="26" name="vis:flowsub"/>
          <p:cNvSpPr txBox="1"/>
          <p:nvPr/>
        </p:nvSpPr>
        <p:spPr>
          <a:xfrm>
            <a:off x="3596563" y="43525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Words become small pieces called tokens.</a:t>
            </a:r>
          </a:p>
        </p:txBody>
      </p:sp>
      <p:cxnSp>
        <p:nvCxnSpPr>
          <p:cNvPr id="27" name="vis:flowarrow"/>
          <p:cNvCxnSpPr/>
          <p:nvPr/>
        </p:nvCxnSpPr>
        <p:spPr>
          <a:xfrm>
            <a:off x="5986119" y="4398264"/>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vis:flowcard"/>
          <p:cNvSpPr/>
          <p:nvPr/>
        </p:nvSpPr>
        <p:spPr>
          <a:xfrm>
            <a:off x="6287871" y="34381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
          <p:cNvSpPr/>
          <p:nvPr/>
        </p:nvSpPr>
        <p:spPr>
          <a:xfrm>
            <a:off x="6470751" y="3255263"/>
            <a:ext cx="384048" cy="384048"/>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flownumtext"/>
          <p:cNvSpPr txBox="1"/>
          <p:nvPr/>
        </p:nvSpPr>
        <p:spPr>
          <a:xfrm>
            <a:off x="6470751" y="33329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1" name="vis:flowtitle"/>
          <p:cNvSpPr txBox="1"/>
          <p:nvPr/>
        </p:nvSpPr>
        <p:spPr>
          <a:xfrm>
            <a:off x="6489039" y="3803904"/>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It predicts</a:t>
            </a:r>
          </a:p>
        </p:txBody>
      </p:sp>
      <p:sp>
        <p:nvSpPr>
          <p:cNvPr id="32" name="vis:flowsub"/>
          <p:cNvSpPr txBox="1"/>
          <p:nvPr/>
        </p:nvSpPr>
        <p:spPr>
          <a:xfrm>
            <a:off x="6489039" y="43525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It picks the most likely next piece, then the next, then the next.</a:t>
            </a:r>
          </a:p>
        </p:txBody>
      </p:sp>
      <p:cxnSp>
        <p:nvCxnSpPr>
          <p:cNvPr id="33" name="vis:flowarrow"/>
          <p:cNvCxnSpPr/>
          <p:nvPr/>
        </p:nvCxnSpPr>
        <p:spPr>
          <a:xfrm>
            <a:off x="8878595" y="4398264"/>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vis:flowcard"/>
          <p:cNvSpPr/>
          <p:nvPr/>
        </p:nvSpPr>
        <p:spPr>
          <a:xfrm>
            <a:off x="9180347" y="34381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
          <p:cNvSpPr/>
          <p:nvPr/>
        </p:nvSpPr>
        <p:spPr>
          <a:xfrm>
            <a:off x="9363227" y="3255263"/>
            <a:ext cx="384048" cy="384048"/>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flownumtext"/>
          <p:cNvSpPr txBox="1"/>
          <p:nvPr/>
        </p:nvSpPr>
        <p:spPr>
          <a:xfrm>
            <a:off x="9363227" y="33329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7" name="vis:flowtitle"/>
          <p:cNvSpPr txBox="1"/>
          <p:nvPr/>
        </p:nvSpPr>
        <p:spPr>
          <a:xfrm>
            <a:off x="9381515" y="3803904"/>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You get an answer</a:t>
            </a:r>
          </a:p>
        </p:txBody>
      </p:sp>
      <p:sp>
        <p:nvSpPr>
          <p:cNvPr id="38" name="vis:flowsub"/>
          <p:cNvSpPr txBox="1"/>
          <p:nvPr/>
        </p:nvSpPr>
        <p:spPr>
          <a:xfrm>
            <a:off x="9381515" y="43525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Sentences appear that fit the shape of what you asked for.</a:t>
            </a:r>
          </a:p>
        </p:txBody>
      </p:sp>
      <p:sp>
        <p:nvSpPr>
          <p:cNvPr id="39" name="cell:glosshint"/>
          <p:cNvSpPr txBox="1"/>
          <p:nvPr/>
        </p:nvSpPr>
        <p:spPr>
          <a:xfrm>
            <a:off x="502920" y="5687568"/>
            <a:ext cx="1609344" cy="23774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does this mean?</a:t>
            </a:r>
          </a:p>
        </p:txBody>
      </p:sp>
      <p:sp>
        <p:nvSpPr>
          <p:cNvPr id="40" name="vis:chip"/>
          <p:cNvSpPr/>
          <p:nvPr/>
        </p:nvSpPr>
        <p:spPr>
          <a:xfrm>
            <a:off x="2221991" y="5660136"/>
            <a:ext cx="1226974" cy="274320"/>
          </a:xfrm>
          <a:prstGeom prst="roundRect">
            <a:avLst>
              <a:gd name="adj" fmla="val 16666"/>
            </a:avLst>
          </a:prstGeom>
          <a:noFill/>
          <a:ln w="12700">
            <a:solidFill>
              <a:srgbClr val="5B677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chiptext"/>
          <p:cNvSpPr txBox="1"/>
          <p:nvPr/>
        </p:nvSpPr>
        <p:spPr>
          <a:xfrm>
            <a:off x="2377439" y="5687568"/>
            <a:ext cx="91607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5B6779"/>
                </a:solidFill>
                <a:latin typeface="Segoe UI Semibold"/>
              </a:rPr>
              <a:t>TOKEN  ?</a:t>
            </a:r>
          </a:p>
        </p:txBody>
      </p:sp>
      <p:sp>
        <p:nvSpPr>
          <p:cNvPr id="42" name="nav:gloss">
            <a:hlinkClick action="ppaction://hlinksldjump" r:id="rId3"/>
          </p:cNvPr>
          <p:cNvSpPr/>
          <p:nvPr/>
        </p:nvSpPr>
        <p:spPr>
          <a:xfrm>
            <a:off x="2221991" y="5660136"/>
            <a:ext cx="1226974" cy="274320"/>
          </a:xfrm>
          <a:prstGeom prst="roundRect">
            <a:avLst>
              <a:gd name="adj" fmla="val 2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3" name="vis:chip"/>
          <p:cNvSpPr/>
          <p:nvPr/>
        </p:nvSpPr>
        <p:spPr>
          <a:xfrm>
            <a:off x="3576982" y="5660136"/>
            <a:ext cx="1255649" cy="274320"/>
          </a:xfrm>
          <a:prstGeom prst="roundRect">
            <a:avLst>
              <a:gd name="adj" fmla="val 16666"/>
            </a:avLst>
          </a:prstGeom>
          <a:noFill/>
          <a:ln w="12700">
            <a:solidFill>
              <a:srgbClr val="5B677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chiptext"/>
          <p:cNvSpPr txBox="1"/>
          <p:nvPr/>
        </p:nvSpPr>
        <p:spPr>
          <a:xfrm>
            <a:off x="3732430" y="5687568"/>
            <a:ext cx="94475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5B6779"/>
                </a:solidFill>
                <a:latin typeface="Segoe UI Semibold"/>
              </a:rPr>
              <a:t>MODEL  ?</a:t>
            </a:r>
          </a:p>
        </p:txBody>
      </p:sp>
      <p:sp>
        <p:nvSpPr>
          <p:cNvPr id="45" name="nav:gloss">
            <a:hlinkClick action="ppaction://hlinksldjump" r:id="rId3"/>
          </p:cNvPr>
          <p:cNvSpPr/>
          <p:nvPr/>
        </p:nvSpPr>
        <p:spPr>
          <a:xfrm>
            <a:off x="3576982" y="5660136"/>
            <a:ext cx="1255649" cy="274320"/>
          </a:xfrm>
          <a:prstGeom prst="roundRect">
            <a:avLst>
              <a:gd name="adj" fmla="val 2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WHAT AI ACTUALLY 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It knows nothing about our company</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Everything it can say came from text it read before a fixed cut-off date. None of your company's files were in that text.</a:t>
            </a:r>
          </a:p>
        </p:txBody>
      </p:sp>
      <p:sp>
        <p:nvSpPr>
          <p:cNvPr id="16" name="vis:nest"/>
          <p:cNvSpPr/>
          <p:nvPr/>
        </p:nvSpPr>
        <p:spPr>
          <a:xfrm>
            <a:off x="502920" y="2715768"/>
            <a:ext cx="6264078" cy="3291840"/>
          </a:xfrm>
          <a:prstGeom prst="roundRect">
            <a:avLst>
              <a:gd name="adj" fmla="val 2777"/>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nestlabel"/>
          <p:cNvSpPr txBox="1"/>
          <p:nvPr/>
        </p:nvSpPr>
        <p:spPr>
          <a:xfrm>
            <a:off x="722376" y="2862072"/>
            <a:ext cx="5825166"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Public text it was trained on</a:t>
            </a:r>
          </a:p>
        </p:txBody>
      </p:sp>
      <p:sp>
        <p:nvSpPr>
          <p:cNvPr id="18" name="vis:nestsub"/>
          <p:cNvSpPr txBox="1"/>
          <p:nvPr/>
        </p:nvSpPr>
        <p:spPr>
          <a:xfrm>
            <a:off x="722376" y="3172968"/>
            <a:ext cx="5825166"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Books, websites, manuals, forums — up to a fixed date.</a:t>
            </a:r>
          </a:p>
        </p:txBody>
      </p:sp>
      <p:sp>
        <p:nvSpPr>
          <p:cNvPr id="19" name="vis:nest"/>
          <p:cNvSpPr/>
          <p:nvPr/>
        </p:nvSpPr>
        <p:spPr>
          <a:xfrm>
            <a:off x="832104" y="3575303"/>
            <a:ext cx="5605710" cy="2157984"/>
          </a:xfrm>
          <a:prstGeom prst="roundRect">
            <a:avLst>
              <a:gd name="adj" fmla="val 4237"/>
            </a:avLst>
          </a:prstGeom>
          <a:solidFill>
            <a:srgbClr val="FFFFFF"/>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nestlabel"/>
          <p:cNvSpPr txBox="1"/>
          <p:nvPr/>
        </p:nvSpPr>
        <p:spPr>
          <a:xfrm>
            <a:off x="1051560" y="3721607"/>
            <a:ext cx="5166798"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What it can discuss confidently</a:t>
            </a:r>
          </a:p>
        </p:txBody>
      </p:sp>
      <p:sp>
        <p:nvSpPr>
          <p:cNvPr id="21" name="vis:nestsub"/>
          <p:cNvSpPr txBox="1"/>
          <p:nvPr/>
        </p:nvSpPr>
        <p:spPr>
          <a:xfrm>
            <a:off x="1051560" y="4032504"/>
            <a:ext cx="5166798"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General knowledge, language, structure, formatting.</a:t>
            </a:r>
          </a:p>
        </p:txBody>
      </p:sp>
      <p:sp>
        <p:nvSpPr>
          <p:cNvPr id="22" name="vis:nest"/>
          <p:cNvSpPr/>
          <p:nvPr/>
        </p:nvSpPr>
        <p:spPr>
          <a:xfrm>
            <a:off x="1161288" y="4434840"/>
            <a:ext cx="4947342" cy="1024128"/>
          </a:xfrm>
          <a:prstGeom prst="roundRect">
            <a:avLst>
              <a:gd name="adj" fmla="val 8928"/>
            </a:avLst>
          </a:prstGeom>
          <a:solidFill>
            <a:srgbClr val="F3F6FB"/>
          </a:solid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nestlabel"/>
          <p:cNvSpPr txBox="1"/>
          <p:nvPr/>
        </p:nvSpPr>
        <p:spPr>
          <a:xfrm>
            <a:off x="1380744" y="4581144"/>
            <a:ext cx="4508430"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F4BC4"/>
                </a:solidFill>
                <a:latin typeface="Segoe UI Semibold"/>
              </a:rPr>
              <a:t>What it knows about our company</a:t>
            </a:r>
          </a:p>
        </p:txBody>
      </p:sp>
      <p:sp>
        <p:nvSpPr>
          <p:cNvPr id="24" name="vis:nestsub"/>
          <p:cNvSpPr txBox="1"/>
          <p:nvPr/>
        </p:nvSpPr>
        <p:spPr>
          <a:xfrm>
            <a:off x="1380744" y="4892040"/>
            <a:ext cx="4508430"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Nothing at all, unless you type it in yourself.</a:t>
            </a:r>
          </a:p>
        </p:txBody>
      </p:sp>
      <p:sp>
        <p:nvSpPr>
          <p:cNvPr id="25" name="body:nestnote"/>
          <p:cNvSpPr txBox="1"/>
          <p:nvPr/>
        </p:nvSpPr>
        <p:spPr>
          <a:xfrm>
            <a:off x="7438150" y="2862072"/>
            <a:ext cx="4250624" cy="299923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5B6779"/>
                </a:solidFill>
                <a:latin typeface="Segoe UI"/>
              </a:rPr>
              <a:t>This is why it can write a perfectly worded dispatch note and still invent the client's name. It is filling a gap in a sentence, not remembering a fact.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WHAT AI ACTUALLY 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Three words you will hear daily</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76330" y="2231311"/>
            <a:ext cx="68470" cy="68470"/>
          </a:xfrm>
          <a:prstGeom prst="ellipse">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976330" y="2388793"/>
            <a:ext cx="68470" cy="68470"/>
          </a:xfrm>
          <a:prstGeom prst="ellipse">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icon"/>
          <p:cNvSpPr/>
          <p:nvPr/>
        </p:nvSpPr>
        <p:spPr>
          <a:xfrm>
            <a:off x="1164623" y="2306628"/>
            <a:ext cx="75317" cy="75317"/>
          </a:xfrm>
          <a:prstGeom prst="ellipse">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44800" y="2275817"/>
            <a:ext cx="119823" cy="58199"/>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flipV="1">
            <a:off x="1044800" y="2357981"/>
            <a:ext cx="119823" cy="54776"/>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22"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Model</a:t>
            </a:r>
          </a:p>
        </p:txBody>
      </p:sp>
      <p:sp>
        <p:nvSpPr>
          <p:cNvPr id="23"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trained system that produces the answer. ChatGPT, Copilot and Gemini are apps built around a model.</a:t>
            </a:r>
          </a:p>
        </p:txBody>
      </p:sp>
      <p:sp>
        <p:nvSpPr>
          <p:cNvPr id="24"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4782694" y="2217617"/>
            <a:ext cx="287575" cy="191716"/>
          </a:xfrm>
          <a:prstGeom prst="roundRect">
            <a:avLst>
              <a:gd name="adj" fmla="val 23847"/>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flipH="1">
            <a:off x="4837471" y="2409334"/>
            <a:ext cx="13694" cy="75317"/>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837471" y="2409334"/>
            <a:ext cx="75317" cy="75317"/>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29"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Prompt</a:t>
            </a:r>
          </a:p>
        </p:txBody>
      </p:sp>
      <p:sp>
        <p:nvSpPr>
          <p:cNvPr id="30"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Everything you type in. Your request, plus any facts you decide to give it.</a:t>
            </a:r>
          </a:p>
        </p:txBody>
      </p:sp>
      <p:sp>
        <p:nvSpPr>
          <p:cNvPr id="31"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8636988" y="2190229"/>
            <a:ext cx="219104" cy="301269"/>
          </a:xfrm>
          <a:prstGeom prst="roundRect">
            <a:avLst>
              <a:gd name="adj" fmla="val 20866"/>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4" name="vis:icon"/>
          <p:cNvCxnSpPr/>
          <p:nvPr/>
        </p:nvCxnSpPr>
        <p:spPr>
          <a:xfrm>
            <a:off x="8684917" y="2286087"/>
            <a:ext cx="123247"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35" name="vis:icon"/>
          <p:cNvCxnSpPr/>
          <p:nvPr/>
        </p:nvCxnSpPr>
        <p:spPr>
          <a:xfrm>
            <a:off x="8684917" y="2340863"/>
            <a:ext cx="123247"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a:off x="8684917" y="2395640"/>
            <a:ext cx="8216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37"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Output</a:t>
            </a:r>
          </a:p>
        </p:txBody>
      </p:sp>
      <p:sp>
        <p:nvSpPr>
          <p:cNvPr id="38"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comes back. Always a draft you are responsible for. Never a source you can quote.</a:t>
            </a:r>
          </a:p>
        </p:txBody>
      </p:sp>
      <p:sp>
        <p:nvSpPr>
          <p:cNvPr id="39" name="cell:glosshint"/>
          <p:cNvSpPr txBox="1"/>
          <p:nvPr/>
        </p:nvSpPr>
        <p:spPr>
          <a:xfrm>
            <a:off x="502920" y="5687568"/>
            <a:ext cx="1609344" cy="23774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does this mean?</a:t>
            </a:r>
          </a:p>
        </p:txBody>
      </p:sp>
      <p:sp>
        <p:nvSpPr>
          <p:cNvPr id="40" name="vis:chip"/>
          <p:cNvSpPr/>
          <p:nvPr/>
        </p:nvSpPr>
        <p:spPr>
          <a:xfrm>
            <a:off x="2221991" y="5660136"/>
            <a:ext cx="1362329" cy="274320"/>
          </a:xfrm>
          <a:prstGeom prst="roundRect">
            <a:avLst>
              <a:gd name="adj" fmla="val 16666"/>
            </a:avLst>
          </a:prstGeom>
          <a:noFill/>
          <a:ln w="12700">
            <a:solidFill>
              <a:srgbClr val="5B677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chiptext"/>
          <p:cNvSpPr txBox="1"/>
          <p:nvPr/>
        </p:nvSpPr>
        <p:spPr>
          <a:xfrm>
            <a:off x="2377439" y="5687568"/>
            <a:ext cx="10514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5B6779"/>
                </a:solidFill>
                <a:latin typeface="Segoe UI Semibold"/>
              </a:rPr>
              <a:t>PROMPT  ?</a:t>
            </a:r>
          </a:p>
        </p:txBody>
      </p:sp>
      <p:sp>
        <p:nvSpPr>
          <p:cNvPr id="42" name="nav:gloss">
            <a:hlinkClick action="ppaction://hlinksldjump" r:id="rId3"/>
          </p:cNvPr>
          <p:cNvSpPr/>
          <p:nvPr/>
        </p:nvSpPr>
        <p:spPr>
          <a:xfrm>
            <a:off x="2221991" y="5660136"/>
            <a:ext cx="1362329" cy="274320"/>
          </a:xfrm>
          <a:prstGeom prst="roundRect">
            <a:avLst>
              <a:gd name="adj" fmla="val 2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3" name="vis:chip"/>
          <p:cNvSpPr/>
          <p:nvPr/>
        </p:nvSpPr>
        <p:spPr>
          <a:xfrm>
            <a:off x="3712337" y="5660136"/>
            <a:ext cx="1336929" cy="274320"/>
          </a:xfrm>
          <a:prstGeom prst="roundRect">
            <a:avLst>
              <a:gd name="adj" fmla="val 16666"/>
            </a:avLst>
          </a:prstGeom>
          <a:noFill/>
          <a:ln w="12700">
            <a:solidFill>
              <a:srgbClr val="5B677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chiptext"/>
          <p:cNvSpPr txBox="1"/>
          <p:nvPr/>
        </p:nvSpPr>
        <p:spPr>
          <a:xfrm>
            <a:off x="3867785" y="5687568"/>
            <a:ext cx="10260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5B6779"/>
                </a:solidFill>
                <a:latin typeface="Segoe UI Semibold"/>
              </a:rPr>
              <a:t>OUTPUT  ?</a:t>
            </a:r>
          </a:p>
        </p:txBody>
      </p:sp>
      <p:sp>
        <p:nvSpPr>
          <p:cNvPr id="45" name="nav:gloss">
            <a:hlinkClick action="ppaction://hlinksldjump" r:id="rId3"/>
          </p:cNvPr>
          <p:cNvSpPr/>
          <p:nvPr/>
        </p:nvSpPr>
        <p:spPr>
          <a:xfrm>
            <a:off x="3712337" y="5660136"/>
            <a:ext cx="1336929" cy="274320"/>
          </a:xfrm>
          <a:prstGeom prst="roundRect">
            <a:avLst>
              <a:gd name="adj" fmla="val 2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SEARCH OR ASSISTANT?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Search finds pages. AI writes text.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panel"/>
          <p:cNvSpPr/>
          <p:nvPr/>
        </p:nvSpPr>
        <p:spPr>
          <a:xfrm>
            <a:off x="502920"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anelspine"/>
          <p:cNvSpPr/>
          <p:nvPr/>
        </p:nvSpPr>
        <p:spPr>
          <a:xfrm>
            <a:off x="502920" y="1719072"/>
            <a:ext cx="68580" cy="4297680"/>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77240" y="1956815"/>
            <a:ext cx="1798524"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32688" y="1984247"/>
            <a:ext cx="14876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SEARCH ENGINE</a:t>
            </a:r>
          </a:p>
        </p:txBody>
      </p:sp>
      <p:sp>
        <p:nvSpPr>
          <p:cNvPr id="19" name="vis:paneltitle"/>
          <p:cNvSpPr txBox="1"/>
          <p:nvPr/>
        </p:nvSpPr>
        <p:spPr>
          <a:xfrm>
            <a:off x="777240"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Google, Bing, the company intranet</a:t>
            </a:r>
          </a:p>
        </p:txBody>
      </p:sp>
      <p:sp>
        <p:nvSpPr>
          <p:cNvPr id="20" name="vis:icon"/>
          <p:cNvSpPr/>
          <p:nvPr/>
        </p:nvSpPr>
        <p:spPr>
          <a:xfrm>
            <a:off x="811987" y="3080613"/>
            <a:ext cx="109728" cy="109728"/>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907084" y="3175711"/>
            <a:ext cx="43892" cy="43891"/>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2" name="vis:panelitem"/>
          <p:cNvSpPr txBox="1"/>
          <p:nvPr/>
        </p:nvSpPr>
        <p:spPr>
          <a:xfrm>
            <a:off x="1078992"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Returns links to pages that other people wrote</a:t>
            </a:r>
          </a:p>
        </p:txBody>
      </p:sp>
      <p:sp>
        <p:nvSpPr>
          <p:cNvPr id="23" name="vis:icon"/>
          <p:cNvSpPr/>
          <p:nvPr/>
        </p:nvSpPr>
        <p:spPr>
          <a:xfrm>
            <a:off x="811987" y="3775557"/>
            <a:ext cx="109728" cy="109728"/>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vis:icon"/>
          <p:cNvCxnSpPr/>
          <p:nvPr/>
        </p:nvCxnSpPr>
        <p:spPr>
          <a:xfrm>
            <a:off x="907084" y="3870655"/>
            <a:ext cx="43892" cy="43891"/>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5" name="vis:panelitem"/>
          <p:cNvSpPr txBox="1"/>
          <p:nvPr/>
        </p:nvSpPr>
        <p:spPr>
          <a:xfrm>
            <a:off x="1078992"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Right choice when you need a source you can quote</a:t>
            </a:r>
          </a:p>
        </p:txBody>
      </p:sp>
      <p:sp>
        <p:nvSpPr>
          <p:cNvPr id="26" name="vis:icon"/>
          <p:cNvSpPr/>
          <p:nvPr/>
        </p:nvSpPr>
        <p:spPr>
          <a:xfrm>
            <a:off x="811987" y="4470501"/>
            <a:ext cx="109728" cy="109728"/>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907084" y="4565599"/>
            <a:ext cx="43892" cy="43891"/>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8" name="vis:panelitem"/>
          <p:cNvSpPr txBox="1"/>
          <p:nvPr/>
        </p:nvSpPr>
        <p:spPr>
          <a:xfrm>
            <a:off x="1078992"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Everyone who searches the same words sees the same list</a:t>
            </a:r>
          </a:p>
        </p:txBody>
      </p:sp>
      <p:sp>
        <p:nvSpPr>
          <p:cNvPr id="29" name="vis:icon"/>
          <p:cNvSpPr/>
          <p:nvPr/>
        </p:nvSpPr>
        <p:spPr>
          <a:xfrm>
            <a:off x="811987" y="5165445"/>
            <a:ext cx="109728" cy="109728"/>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0" name="vis:icon"/>
          <p:cNvCxnSpPr/>
          <p:nvPr/>
        </p:nvCxnSpPr>
        <p:spPr>
          <a:xfrm>
            <a:off x="907084" y="5260543"/>
            <a:ext cx="43892" cy="43891"/>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1" name="vis:panelitem"/>
          <p:cNvSpPr txBox="1"/>
          <p:nvPr/>
        </p:nvSpPr>
        <p:spPr>
          <a:xfrm>
            <a:off x="1078992"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Will not rewrite your email or shorten your report</a:t>
            </a:r>
          </a:p>
        </p:txBody>
      </p:sp>
      <p:sp>
        <p:nvSpPr>
          <p:cNvPr id="32" name="vis:panel"/>
          <p:cNvSpPr/>
          <p:nvPr/>
        </p:nvSpPr>
        <p:spPr>
          <a:xfrm>
            <a:off x="6251295"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panelspine"/>
          <p:cNvSpPr/>
          <p:nvPr/>
        </p:nvSpPr>
        <p:spPr>
          <a:xfrm>
            <a:off x="6251295" y="1719072"/>
            <a:ext cx="68580" cy="4297680"/>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chip"/>
          <p:cNvSpPr/>
          <p:nvPr/>
        </p:nvSpPr>
        <p:spPr>
          <a:xfrm>
            <a:off x="6525615" y="1956815"/>
            <a:ext cx="1602845" cy="274320"/>
          </a:xfrm>
          <a:prstGeom prst="roundRect">
            <a:avLst>
              <a:gd name="adj" fmla="val 16666"/>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chiptext"/>
          <p:cNvSpPr txBox="1"/>
          <p:nvPr/>
        </p:nvSpPr>
        <p:spPr>
          <a:xfrm>
            <a:off x="6681063" y="1984247"/>
            <a:ext cx="129194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AI ASSISTANT</a:t>
            </a:r>
          </a:p>
        </p:txBody>
      </p:sp>
      <p:sp>
        <p:nvSpPr>
          <p:cNvPr id="36" name="vis:paneltitle"/>
          <p:cNvSpPr txBox="1"/>
          <p:nvPr/>
        </p:nvSpPr>
        <p:spPr>
          <a:xfrm>
            <a:off x="6525615"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Copilot, ChatGPT, Gemini, Claude</a:t>
            </a:r>
          </a:p>
        </p:txBody>
      </p:sp>
      <p:sp>
        <p:nvSpPr>
          <p:cNvPr id="37" name="vis:icon"/>
          <p:cNvSpPr/>
          <p:nvPr/>
        </p:nvSpPr>
        <p:spPr>
          <a:xfrm>
            <a:off x="6549390" y="3084271"/>
            <a:ext cx="153619" cy="102412"/>
          </a:xfrm>
          <a:prstGeom prst="roundRect">
            <a:avLst>
              <a:gd name="adj" fmla="val 44642"/>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8" name="vis:icon"/>
          <p:cNvCxnSpPr/>
          <p:nvPr/>
        </p:nvCxnSpPr>
        <p:spPr>
          <a:xfrm flipH="1">
            <a:off x="6578650" y="3186684"/>
            <a:ext cx="7316" cy="40233"/>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6578650" y="3186684"/>
            <a:ext cx="40234" cy="40233"/>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40" name="vis:panelitem"/>
          <p:cNvSpPr txBox="1"/>
          <p:nvPr/>
        </p:nvSpPr>
        <p:spPr>
          <a:xfrm>
            <a:off x="6827367"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Returns new text written for your exact request</a:t>
            </a:r>
          </a:p>
        </p:txBody>
      </p:sp>
      <p:sp>
        <p:nvSpPr>
          <p:cNvPr id="41" name="vis:icon"/>
          <p:cNvSpPr/>
          <p:nvPr/>
        </p:nvSpPr>
        <p:spPr>
          <a:xfrm>
            <a:off x="6549390" y="3779215"/>
            <a:ext cx="153619" cy="102412"/>
          </a:xfrm>
          <a:prstGeom prst="roundRect">
            <a:avLst>
              <a:gd name="adj" fmla="val 44642"/>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flipH="1">
            <a:off x="6578650" y="3881627"/>
            <a:ext cx="7316" cy="40234"/>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flipV="1">
            <a:off x="6578650" y="3881627"/>
            <a:ext cx="40234" cy="40234"/>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44" name="vis:panelitem"/>
          <p:cNvSpPr txBox="1"/>
          <p:nvPr/>
        </p:nvSpPr>
        <p:spPr>
          <a:xfrm>
            <a:off x="6827367"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Right choice when you need a draft, summary or rewrite</a:t>
            </a:r>
          </a:p>
        </p:txBody>
      </p:sp>
      <p:sp>
        <p:nvSpPr>
          <p:cNvPr id="45" name="vis:icon"/>
          <p:cNvSpPr/>
          <p:nvPr/>
        </p:nvSpPr>
        <p:spPr>
          <a:xfrm>
            <a:off x="6549390" y="4474159"/>
            <a:ext cx="153619" cy="102412"/>
          </a:xfrm>
          <a:prstGeom prst="roundRect">
            <a:avLst>
              <a:gd name="adj" fmla="val 44642"/>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6" name="vis:icon"/>
          <p:cNvCxnSpPr/>
          <p:nvPr/>
        </p:nvCxnSpPr>
        <p:spPr>
          <a:xfrm flipH="1">
            <a:off x="6578650" y="4576571"/>
            <a:ext cx="7316" cy="40234"/>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47" name="vis:icon"/>
          <p:cNvCxnSpPr/>
          <p:nvPr/>
        </p:nvCxnSpPr>
        <p:spPr>
          <a:xfrm flipV="1">
            <a:off x="6578650" y="4576571"/>
            <a:ext cx="40234" cy="40234"/>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48" name="vis:panelitem"/>
          <p:cNvSpPr txBox="1"/>
          <p:nvPr/>
        </p:nvSpPr>
        <p:spPr>
          <a:xfrm>
            <a:off x="6827367"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Gives a slightly different answer every time you ask</a:t>
            </a:r>
          </a:p>
        </p:txBody>
      </p:sp>
      <p:sp>
        <p:nvSpPr>
          <p:cNvPr id="49" name="vis:icon"/>
          <p:cNvSpPr/>
          <p:nvPr/>
        </p:nvSpPr>
        <p:spPr>
          <a:xfrm>
            <a:off x="6549390" y="5169103"/>
            <a:ext cx="153619" cy="102412"/>
          </a:xfrm>
          <a:prstGeom prst="roundRect">
            <a:avLst>
              <a:gd name="adj" fmla="val 44642"/>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0" name="vis:icon"/>
          <p:cNvCxnSpPr/>
          <p:nvPr/>
        </p:nvCxnSpPr>
        <p:spPr>
          <a:xfrm flipH="1">
            <a:off x="6578650" y="5271515"/>
            <a:ext cx="7316" cy="40234"/>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51" name="vis:icon"/>
          <p:cNvCxnSpPr/>
          <p:nvPr/>
        </p:nvCxnSpPr>
        <p:spPr>
          <a:xfrm flipV="1">
            <a:off x="6578650" y="5271515"/>
            <a:ext cx="40234" cy="40234"/>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52" name="vis:panelitem"/>
          <p:cNvSpPr txBox="1"/>
          <p:nvPr/>
        </p:nvSpPr>
        <p:spPr>
          <a:xfrm>
            <a:off x="6827367"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Cannot promise that any fact inside it is correct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SEARCH OR ASSISTANT?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one do I open?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Do I need a page someone else wrote, or new text of my own?</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1973103" y="3026664"/>
            <a:ext cx="1086540"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2128551" y="3054096"/>
            <a:ext cx="775644"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A PAGE</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vis:icon"/>
          <p:cNvCxnSpPr/>
          <p:nvPr/>
        </p:nvCxnSpPr>
        <p:spPr>
          <a:xfrm>
            <a:off x="571079" y="3937040"/>
            <a:ext cx="66568"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flipV="1">
            <a:off x="637647" y="3860231"/>
            <a:ext cx="122896"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Open search</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GST circular, a supplier's spec sheet, a government notification, a news report. You need the actual page, because you will have to show it to someone.</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017259" y="3026664"/>
            <a:ext cx="1316122"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172707" y="3054096"/>
            <a:ext cx="1005226"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NEW TEXT</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7730026" y="3937040"/>
            <a:ext cx="66569"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796595" y="3860231"/>
            <a:ext cx="122895"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Open the AI assistant</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reply to an unhappy client, a summary of a 12-page site report, a first draft of an SOP. You already have the facts and only need the wording.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YOUR FIRST TWO MINUTES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your first 90 seconds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stepnum"/>
          <p:cNvSpPr/>
          <p:nvPr/>
        </p:nvSpPr>
        <p:spPr>
          <a:xfrm>
            <a:off x="502920" y="2027681"/>
            <a:ext cx="347472" cy="34747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Open your approved AI assistant. On most company laptops this is Microsoft Copilot, in Edge or inside Teams.</a:t>
            </a:r>
          </a:p>
        </p:txBody>
      </p:sp>
      <p:sp>
        <p:nvSpPr>
          <p:cNvPr id="19" name="vis:stepnum"/>
          <p:cNvSpPr/>
          <p:nvPr/>
        </p:nvSpPr>
        <p:spPr>
          <a:xfrm>
            <a:off x="502920" y="3138677"/>
            <a:ext cx="347472" cy="34747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Click into the message box at the bottom of the screen.</a:t>
            </a:r>
          </a:p>
        </p:txBody>
      </p:sp>
      <p:sp>
        <p:nvSpPr>
          <p:cNvPr id="23" name="vis:stepnum"/>
          <p:cNvSpPr/>
          <p:nvPr/>
        </p:nvSpPr>
        <p:spPr>
          <a:xfrm>
            <a:off x="502920" y="4249674"/>
            <a:ext cx="347472" cy="34747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Select the whole prompt on the right, copy it, paste it in, and press Enter.</a:t>
            </a:r>
          </a:p>
        </p:txBody>
      </p:sp>
      <p:sp>
        <p:nvSpPr>
          <p:cNvPr id="27" name="vis:stepnum"/>
          <p:cNvSpPr/>
          <p:nvPr/>
        </p:nvSpPr>
        <p:spPr>
          <a:xfrm>
            <a:off x="502920" y="5360670"/>
            <a:ext cx="347472" cy="34747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Read what comes back. Notice that it used every fact you gave it, and invented nothing.</a:t>
            </a:r>
          </a:p>
        </p:txBody>
      </p:sp>
      <p:sp>
        <p:nvSpPr>
          <p:cNvPr id="30" name="vis:promptcard"/>
          <p:cNvSpPr/>
          <p:nvPr/>
        </p:nvSpPr>
        <p:spPr>
          <a:xfrm>
            <a:off x="6461607" y="1719072"/>
            <a:ext cx="5227167" cy="2807208"/>
          </a:xfrm>
          <a:prstGeom prst="roundRect">
            <a:avLst>
              <a:gd name="adj" fmla="val 325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3868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Consolas"/>
              </a:rPr>
              <a:t>Write a short, polite email to a customer whose delivery is late. Facts: order 4471, promised 12 March, now expected 15 March, delayed by a transport strike. Tone: apologetic but calm. Under 120 words. End with "Regards, Dispatch Team".</a:t>
            </a:r>
          </a:p>
        </p:txBody>
      </p:sp>
      <p:sp>
        <p:nvSpPr>
          <p:cNvPr id="43" name="vis:promptcap"/>
          <p:cNvSpPr txBox="1"/>
          <p:nvPr/>
        </p:nvSpPr>
        <p:spPr>
          <a:xfrm>
            <a:off x="6735927" y="3855719"/>
            <a:ext cx="4678527" cy="45110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This works exactly as written. Swap in your own order number and dates afterwards.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YOUR FIRST TWO MINUTES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same job, asked two ways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outcard"/>
          <p:cNvSpPr/>
          <p:nvPr/>
        </p:nvSpPr>
        <p:spPr>
          <a:xfrm>
            <a:off x="502920"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outspine"/>
          <p:cNvSpPr/>
          <p:nvPr/>
        </p:nvSpPr>
        <p:spPr>
          <a:xfrm>
            <a:off x="502920" y="1719072"/>
            <a:ext cx="68580" cy="3291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58952" y="1920240"/>
            <a:ext cx="1823775"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14400" y="1947672"/>
            <a:ext cx="151287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VAGUE REQUEST</a:t>
            </a:r>
          </a:p>
        </p:txBody>
      </p:sp>
      <p:sp>
        <p:nvSpPr>
          <p:cNvPr id="19" name="vis:outbody"/>
          <p:cNvSpPr txBox="1"/>
          <p:nvPr/>
        </p:nvSpPr>
        <p:spPr>
          <a:xfrm>
            <a:off x="758952"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You type:  write email about late delivery</a:t>
            </a:r>
          </a:p>
          <a:p>
            <a:pPr algn="l">
              <a:lnSpc>
                <a:spcPts val="1690"/>
              </a:lnSpc>
              <a:spcBef>
                <a:spcPts val="0"/>
              </a:spcBef>
              <a:spcAft>
                <a:spcPts val="600"/>
              </a:spcAft>
            </a:pPr>
            <a:r>
              <a:rPr sz="1300" b="0">
                <a:solidFill>
                  <a:srgbClr val="2A3547"/>
                </a:solidFill>
                <a:latin typeface="Segoe UI"/>
              </a:rPr>
              <a:t>You get back a six-paragraph letter with no order number, no dates, and an apology for "any inconvenience caused".</a:t>
            </a:r>
          </a:p>
          <a:p>
            <a:pPr algn="l">
              <a:lnSpc>
                <a:spcPts val="1690"/>
              </a:lnSpc>
              <a:spcBef>
                <a:spcPts val="0"/>
              </a:spcBef>
              <a:spcAft>
                <a:spcPts val="600"/>
              </a:spcAft>
            </a:pPr>
            <a:r>
              <a:rPr sz="1300" b="0">
                <a:solidFill>
                  <a:srgbClr val="2A3547"/>
                </a:solidFill>
                <a:latin typeface="Segoe UI"/>
              </a:rPr>
              <a:t>You now spend ten minutes repairing it. You could have written it yourself in eight.</a:t>
            </a:r>
          </a:p>
        </p:txBody>
      </p:sp>
      <p:sp>
        <p:nvSpPr>
          <p:cNvPr id="20" name="vis:outcard"/>
          <p:cNvSpPr/>
          <p:nvPr/>
        </p:nvSpPr>
        <p:spPr>
          <a:xfrm>
            <a:off x="6278727"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outspine"/>
          <p:cNvSpPr/>
          <p:nvPr/>
        </p:nvSpPr>
        <p:spPr>
          <a:xfrm>
            <a:off x="6278727" y="1719072"/>
            <a:ext cx="68580" cy="32918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
          <p:cNvSpPr/>
          <p:nvPr/>
        </p:nvSpPr>
        <p:spPr>
          <a:xfrm>
            <a:off x="6534759" y="1920240"/>
            <a:ext cx="1972564"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text"/>
          <p:cNvSpPr txBox="1"/>
          <p:nvPr/>
        </p:nvSpPr>
        <p:spPr>
          <a:xfrm>
            <a:off x="6690207" y="1947672"/>
            <a:ext cx="166166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SPECIFIC REQUEST</a:t>
            </a:r>
          </a:p>
        </p:txBody>
      </p:sp>
      <p:sp>
        <p:nvSpPr>
          <p:cNvPr id="24" name="vis:outbody"/>
          <p:cNvSpPr txBox="1"/>
          <p:nvPr/>
        </p:nvSpPr>
        <p:spPr>
          <a:xfrm>
            <a:off x="6534759"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You type the prompt from the last slide: order number, both dates, the reason, the tone, the word limit.</a:t>
            </a:r>
          </a:p>
          <a:p>
            <a:pPr algn="l">
              <a:lnSpc>
                <a:spcPts val="1690"/>
              </a:lnSpc>
              <a:spcBef>
                <a:spcPts val="0"/>
              </a:spcBef>
              <a:spcAft>
                <a:spcPts val="600"/>
              </a:spcAft>
            </a:pPr>
            <a:r>
              <a:rPr sz="1300" b="0">
                <a:solidFill>
                  <a:srgbClr val="2A3547"/>
                </a:solidFill>
                <a:latin typeface="Segoe UI"/>
              </a:rPr>
              <a:t>You get back a 110-word email with the correct dates, one clear apology and a firm new delivery date.</a:t>
            </a:r>
          </a:p>
          <a:p>
            <a:pPr algn="l">
              <a:lnSpc>
                <a:spcPts val="1690"/>
              </a:lnSpc>
              <a:spcBef>
                <a:spcPts val="0"/>
              </a:spcBef>
              <a:spcAft>
                <a:spcPts val="600"/>
              </a:spcAft>
            </a:pPr>
            <a:r>
              <a:rPr sz="1300" b="0">
                <a:solidFill>
                  <a:srgbClr val="2A3547"/>
                </a:solidFill>
                <a:latin typeface="Segoe UI"/>
              </a:rPr>
              <a:t>You spend 60 seconds checking the dates against the tracking sheet, then send it.</a:t>
            </a:r>
          </a:p>
        </p:txBody>
      </p:sp>
      <p:sp>
        <p:nvSpPr>
          <p:cNvPr id="25" name="cell:banote"/>
          <p:cNvSpPr txBox="1"/>
          <p:nvPr/>
        </p:nvSpPr>
        <p:spPr>
          <a:xfrm>
            <a:off x="502920" y="5193792"/>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difference was not the AI tool. It was the four facts you took ten seconds to type.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YOUR FIRST TWO MINUTES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Turn rough notes into a report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This is the most useful thing most people do with AI all week. You already made the notes. You just need them in sentences.</a:t>
            </a:r>
          </a:p>
        </p:txBody>
      </p:sp>
      <p:sp>
        <p:nvSpPr>
          <p:cNvPr id="16" name="vis:promptcard"/>
          <p:cNvSpPr/>
          <p:nvPr/>
        </p:nvSpPr>
        <p:spPr>
          <a:xfrm>
            <a:off x="502920" y="2706624"/>
            <a:ext cx="5816644" cy="2840227"/>
          </a:xfrm>
          <a:prstGeom prst="roundRect">
            <a:avLst>
              <a:gd name="adj" fmla="val 321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romptbar"/>
          <p:cNvSpPr/>
          <p:nvPr/>
        </p:nvSpPr>
        <p:spPr>
          <a:xfrm>
            <a:off x="502920" y="2706624"/>
            <a:ext cx="5816644"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739932" y="2828787"/>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flipH="1">
            <a:off x="775045" y="2951683"/>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775045" y="2951683"/>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vis:copybtn"/>
          <p:cNvSpPr/>
          <p:nvPr/>
        </p:nvSpPr>
        <p:spPr>
          <a:xfrm>
            <a:off x="4459395" y="2779776"/>
            <a:ext cx="1677289" cy="256032"/>
          </a:xfrm>
          <a:prstGeom prst="roundRect">
            <a:avLst>
              <a:gd name="adj" fmla="val 1785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4643007" y="2845612"/>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4661660" y="2882920"/>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4661660" y="2910900"/>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a:off x="4661660" y="2938881"/>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6" name="vis:copytext"/>
          <p:cNvSpPr txBox="1"/>
          <p:nvPr/>
        </p:nvSpPr>
        <p:spPr>
          <a:xfrm>
            <a:off x="4870875" y="2839212"/>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7" name="vis:prompthdr"/>
          <p:cNvSpPr txBox="1"/>
          <p:nvPr/>
        </p:nvSpPr>
        <p:spPr>
          <a:xfrm>
            <a:off x="1051560" y="2816352"/>
            <a:ext cx="3298107"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8" name="card:prompt"/>
          <p:cNvSpPr txBox="1"/>
          <p:nvPr/>
        </p:nvSpPr>
        <p:spPr>
          <a:xfrm>
            <a:off x="777240" y="3255264"/>
            <a:ext cx="5268004" cy="161797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Turn these site-visit notes into a 180-word report for my manager. Keep every fact. Do not add anything I have not written. Notes: visited Chakan plant 4 March; two of six machines idle; operator says spare part on order since 20 Feb; production down about 30 percent; supervisor asking for a follow-up visit next week.</a:t>
            </a:r>
          </a:p>
        </p:txBody>
      </p:sp>
      <p:sp>
        <p:nvSpPr>
          <p:cNvPr id="29" name="vis:promptcap"/>
          <p:cNvSpPr txBox="1"/>
          <p:nvPr/>
        </p:nvSpPr>
        <p:spPr>
          <a:xfrm>
            <a:off x="777240" y="5074412"/>
            <a:ext cx="5268004"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Paste it as-is to see the shape, then replace the notes with your own.</a:t>
            </a:r>
          </a:p>
        </p:txBody>
      </p:sp>
      <p:sp>
        <p:nvSpPr>
          <p:cNvPr id="30" name="vis:outcard"/>
          <p:cNvSpPr/>
          <p:nvPr/>
        </p:nvSpPr>
        <p:spPr>
          <a:xfrm>
            <a:off x="6685324" y="2706624"/>
            <a:ext cx="5003450" cy="2840227"/>
          </a:xfrm>
          <a:prstGeom prst="roundRect">
            <a:avLst>
              <a:gd name="adj" fmla="val 321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outspine"/>
          <p:cNvSpPr/>
          <p:nvPr/>
        </p:nvSpPr>
        <p:spPr>
          <a:xfrm>
            <a:off x="6685324" y="2706624"/>
            <a:ext cx="68580" cy="2840227"/>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6941356" y="2907792"/>
            <a:ext cx="2087885" cy="274320"/>
          </a:xfrm>
          <a:prstGeom prst="roundRect">
            <a:avLst>
              <a:gd name="adj" fmla="val 16666"/>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7096804" y="2935224"/>
            <a:ext cx="177698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COMES BACK</a:t>
            </a:r>
          </a:p>
        </p:txBody>
      </p:sp>
      <p:sp>
        <p:nvSpPr>
          <p:cNvPr id="34" name="vis:outbody"/>
          <p:cNvSpPr txBox="1"/>
          <p:nvPr/>
        </p:nvSpPr>
        <p:spPr>
          <a:xfrm>
            <a:off x="6941356" y="3346704"/>
            <a:ext cx="4491386" cy="1980691"/>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A 180-word report with a one-line summary at the top, the five facts in order, and a closing line about the follow-up visit.</a:t>
            </a:r>
          </a:p>
          <a:p>
            <a:pPr algn="l">
              <a:lnSpc>
                <a:spcPts val="1690"/>
              </a:lnSpc>
              <a:spcBef>
                <a:spcPts val="0"/>
              </a:spcBef>
              <a:spcAft>
                <a:spcPts val="600"/>
              </a:spcAft>
            </a:pPr>
            <a:r>
              <a:rPr sz="1300" b="0">
                <a:solidFill>
                  <a:srgbClr val="2A3547"/>
                </a:solidFill>
                <a:latin typeface="Segoe UI"/>
              </a:rPr>
              <a:t>Every number in it — six machines, 20 February, 30 per cent — came from your notes, because you told it to add nothing.</a:t>
            </a:r>
          </a:p>
          <a:p>
            <a:pPr algn="l">
              <a:lnSpc>
                <a:spcPts val="1690"/>
              </a:lnSpc>
              <a:spcBef>
                <a:spcPts val="0"/>
              </a:spcBef>
              <a:spcAft>
                <a:spcPts val="600"/>
              </a:spcAft>
            </a:pPr>
            <a:r>
              <a:rPr sz="1300" b="0">
                <a:solidFill>
                  <a:srgbClr val="2A3547"/>
                </a:solidFill>
                <a:latin typeface="Segoe UI"/>
              </a:rPr>
              <a:t>Your job now is 60 seconds of checking, not 30 minutes of writing.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YOUR FIRST TWO MINUTES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When it is 80% right, correct it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promptcard"/>
          <p:cNvSpPr/>
          <p:nvPr/>
        </p:nvSpPr>
        <p:spPr>
          <a:xfrm>
            <a:off x="502920" y="1719072"/>
            <a:ext cx="6935230" cy="2146807"/>
          </a:xfrm>
          <a:prstGeom prst="roundRect">
            <a:avLst>
              <a:gd name="adj" fmla="val 425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correction prompt</a:t>
            </a:r>
          </a:p>
        </p:txBody>
      </p:sp>
      <p:sp>
        <p:nvSpPr>
          <p:cNvPr id="27" name="card:prompt"/>
          <p:cNvSpPr txBox="1"/>
          <p:nvPr/>
        </p:nvSpPr>
        <p:spPr>
          <a:xfrm>
            <a:off x="777240" y="2267712"/>
            <a:ext cx="6386590" cy="92455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Keep the structure and the tone exactly as they are. Change three things: the delivery date is 15 March, not 12 March; delete the final paragraph; make the apology one sentence instead of two.</a:t>
            </a:r>
          </a:p>
        </p:txBody>
      </p:sp>
      <p:sp>
        <p:nvSpPr>
          <p:cNvPr id="28" name="vis:promptcap"/>
          <p:cNvSpPr txBox="1"/>
          <p:nvPr/>
        </p:nvSpPr>
        <p:spPr>
          <a:xfrm>
            <a:off x="777240" y="3393440"/>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Say what to keep, then say what to change. In that order.</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Starting again gives you a different answer with the same gaps, because the gaps came from your first prompt.</a:t>
            </a:r>
          </a:p>
        </p:txBody>
      </p:sp>
      <p:cxnSp>
        <p:nvCxnSpPr>
          <p:cNvPr id="33" name="vis:icon"/>
          <p:cNvCxnSpPr/>
          <p:nvPr/>
        </p:nvCxnSpPr>
        <p:spPr>
          <a:xfrm>
            <a:off x="7850361" y="3250143"/>
            <a:ext cx="52304" cy="52304"/>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Naming what to keep stops it rewriting the good 80%.</a:t>
            </a:r>
          </a:p>
        </p:txBody>
      </p:sp>
      <p:cxnSp>
        <p:nvCxnSpPr>
          <p:cNvPr id="36" name="vis:icon"/>
          <p:cNvCxnSpPr/>
          <p:nvPr/>
        </p:nvCxnSpPr>
        <p:spPr>
          <a:xfrm>
            <a:off x="7850361" y="4182831"/>
            <a:ext cx="52304" cy="52304"/>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Three specific changes work far better than "make it better", which it cannot act 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WHERE IT HELPS, WHERE IT BREAKS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Three things it is good at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96871" y="2190229"/>
            <a:ext cx="219104" cy="301269"/>
          </a:xfrm>
          <a:prstGeom prst="roundRect">
            <a:avLst>
              <a:gd name="adj" fmla="val 20866"/>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44800" y="2286087"/>
            <a:ext cx="123247"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a:off x="1044800" y="2340863"/>
            <a:ext cx="123247"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1044800" y="2395640"/>
            <a:ext cx="82165"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21"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Turning facts into text</a:t>
            </a:r>
          </a:p>
        </p:txBody>
      </p:sp>
      <p:sp>
        <p:nvSpPr>
          <p:cNvPr id="22"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Emails, summaries, SOP drafts, meeting notes. You supply the facts, it supplies the sentences.</a:t>
            </a:r>
          </a:p>
        </p:txBody>
      </p:sp>
      <p:sp>
        <p:nvSpPr>
          <p:cNvPr id="23"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4775847" y="2210770"/>
            <a:ext cx="301269" cy="260187"/>
          </a:xfrm>
          <a:prstGeom prst="roundRect">
            <a:avLst>
              <a:gd name="adj" fmla="val 17571"/>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6" name="vis:icon"/>
          <p:cNvCxnSpPr/>
          <p:nvPr/>
        </p:nvCxnSpPr>
        <p:spPr>
          <a:xfrm>
            <a:off x="4775847" y="2292934"/>
            <a:ext cx="301269"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27" name="vis:icon"/>
          <p:cNvCxnSpPr/>
          <p:nvPr/>
        </p:nvCxnSpPr>
        <p:spPr>
          <a:xfrm>
            <a:off x="4892247" y="2210770"/>
            <a:ext cx="0" cy="260187"/>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a:off x="4775847" y="2381946"/>
            <a:ext cx="301269"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29"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Reshaping what you give it</a:t>
            </a:r>
          </a:p>
        </p:txBody>
      </p:sp>
      <p:sp>
        <p:nvSpPr>
          <p:cNvPr id="30"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long report into five bullets. A Hindi note into English. A messy list into a clean table.</a:t>
            </a:r>
          </a:p>
        </p:txBody>
      </p:sp>
      <p:sp>
        <p:nvSpPr>
          <p:cNvPr id="31"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8643835" y="2190229"/>
            <a:ext cx="205410" cy="205410"/>
          </a:xfrm>
          <a:prstGeom prst="ellipse">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4" name="vis:icon"/>
          <p:cNvCxnSpPr/>
          <p:nvPr/>
        </p:nvCxnSpPr>
        <p:spPr>
          <a:xfrm>
            <a:off x="8691764" y="2423028"/>
            <a:ext cx="109553"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35" name="vis:icon"/>
          <p:cNvCxnSpPr/>
          <p:nvPr/>
        </p:nvCxnSpPr>
        <p:spPr>
          <a:xfrm>
            <a:off x="8705458" y="2477804"/>
            <a:ext cx="8216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36"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Getting you unstuck</a:t>
            </a:r>
          </a:p>
        </p:txBody>
      </p:sp>
      <p:sp>
        <p:nvSpPr>
          <p:cNvPr id="37"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Ten subject lines to choose from. Questions to ask a supplier. A structure for a proposal you are staring at blankly.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WHERE IT HELPS, WHERE IT BREAKS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Where it breaks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alertband"/>
          <p:cNvSpPr/>
          <p:nvPr/>
        </p:nvSpPr>
        <p:spPr>
          <a:xfrm>
            <a:off x="0" y="1719072"/>
            <a:ext cx="12191695" cy="9601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It can be completely wrong and still sound completely sure.</a:t>
            </a:r>
          </a:p>
          <a:p>
            <a:pPr algn="l">
              <a:lnSpc>
                <a:spcPts val="1755"/>
              </a:lnSpc>
              <a:spcBef>
                <a:spcPts val="0"/>
              </a:spcBef>
              <a:spcAft>
                <a:spcPts val="0"/>
              </a:spcAft>
            </a:pPr>
            <a:r>
              <a:rPr sz="1350" b="0">
                <a:solidFill>
                  <a:srgbClr val="FFFFFF"/>
                </a:solidFill>
                <a:latin typeface="Segoe UI"/>
              </a:rPr>
              <a:t>There is no warning sign, no change of tone, no "I think". Every answer arrives with the same confidence.</a:t>
            </a:r>
          </a:p>
        </p:txBody>
      </p:sp>
      <p:sp>
        <p:nvSpPr>
          <p:cNvPr id="20" name="vis:checktile"/>
          <p:cNvSpPr/>
          <p:nvPr/>
        </p:nvSpPr>
        <p:spPr>
          <a:xfrm>
            <a:off x="502920" y="2953512"/>
            <a:ext cx="5483199" cy="1184148"/>
          </a:xfrm>
          <a:prstGeom prst="roundRect">
            <a:avLst>
              <a:gd name="adj" fmla="val 772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390138"/>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549060"/>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49693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4605375" cy="891540"/>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Numbers you did not give it — prices, GST rates, stock levels, distances, penalties</a:t>
            </a:r>
          </a:p>
        </p:txBody>
      </p:sp>
      <p:sp>
        <p:nvSpPr>
          <p:cNvPr id="25" name="vis:checktile"/>
          <p:cNvSpPr/>
          <p:nvPr/>
        </p:nvSpPr>
        <p:spPr>
          <a:xfrm>
            <a:off x="6205575" y="2953512"/>
            <a:ext cx="5483199" cy="1184148"/>
          </a:xfrm>
          <a:prstGeom prst="roundRect">
            <a:avLst>
              <a:gd name="adj" fmla="val 772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6425031" y="3390138"/>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6517934" y="3549060"/>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6563106" y="349693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6863943" y="3099816"/>
            <a:ext cx="4605375" cy="891540"/>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Anything after its cut-off date — this month's circular, yesterday's rate change</a:t>
            </a:r>
          </a:p>
        </p:txBody>
      </p:sp>
      <p:sp>
        <p:nvSpPr>
          <p:cNvPr id="30" name="vis:checktile"/>
          <p:cNvSpPr/>
          <p:nvPr/>
        </p:nvSpPr>
        <p:spPr>
          <a:xfrm>
            <a:off x="502920" y="4357116"/>
            <a:ext cx="5483199" cy="1184148"/>
          </a:xfrm>
          <a:prstGeom prst="roundRect">
            <a:avLst>
              <a:gd name="adj" fmla="val 772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722376" y="4793742"/>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15279" y="495266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60450" y="490054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1161288" y="4503420"/>
            <a:ext cx="4605375" cy="891540"/>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Our own facts — client names, internal policies, system names, who approves what</a:t>
            </a:r>
          </a:p>
        </p:txBody>
      </p:sp>
      <p:sp>
        <p:nvSpPr>
          <p:cNvPr id="35" name="vis:checktile"/>
          <p:cNvSpPr/>
          <p:nvPr/>
        </p:nvSpPr>
        <p:spPr>
          <a:xfrm>
            <a:off x="6205575" y="4357116"/>
            <a:ext cx="5483199" cy="1184148"/>
          </a:xfrm>
          <a:prstGeom prst="roundRect">
            <a:avLst>
              <a:gd name="adj" fmla="val 772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checkdot"/>
          <p:cNvSpPr/>
          <p:nvPr/>
        </p:nvSpPr>
        <p:spPr>
          <a:xfrm>
            <a:off x="6425031" y="4793742"/>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6517934" y="495266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flipV="1">
            <a:off x="6563106" y="490054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9" name="cell:checkitem"/>
          <p:cNvSpPr txBox="1"/>
          <p:nvPr/>
        </p:nvSpPr>
        <p:spPr>
          <a:xfrm>
            <a:off x="6863943" y="4503420"/>
            <a:ext cx="4605375" cy="891540"/>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Legal, tax or medical points you would act on without a human checking them</a:t>
            </a:r>
          </a:p>
        </p:txBody>
      </p:sp>
      <p:sp>
        <p:nvSpPr>
          <p:cNvPr id="40" name="cell:glosshint"/>
          <p:cNvSpPr txBox="1"/>
          <p:nvPr/>
        </p:nvSpPr>
        <p:spPr>
          <a:xfrm>
            <a:off x="502920" y="5687568"/>
            <a:ext cx="1609344" cy="23774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does this mean?</a:t>
            </a:r>
          </a:p>
        </p:txBody>
      </p:sp>
      <p:sp>
        <p:nvSpPr>
          <p:cNvPr id="41" name="vis:chip"/>
          <p:cNvSpPr/>
          <p:nvPr/>
        </p:nvSpPr>
        <p:spPr>
          <a:xfrm>
            <a:off x="2221991" y="5660136"/>
            <a:ext cx="2016815" cy="274320"/>
          </a:xfrm>
          <a:prstGeom prst="roundRect">
            <a:avLst>
              <a:gd name="adj" fmla="val 16666"/>
            </a:avLst>
          </a:prstGeom>
          <a:noFill/>
          <a:ln w="12700">
            <a:solidFill>
              <a:srgbClr val="5B677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vis:chiptext"/>
          <p:cNvSpPr txBox="1"/>
          <p:nvPr/>
        </p:nvSpPr>
        <p:spPr>
          <a:xfrm>
            <a:off x="2377439" y="5687568"/>
            <a:ext cx="170591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5B6779"/>
                </a:solidFill>
                <a:latin typeface="Segoe UI Semibold"/>
              </a:rPr>
              <a:t>HALLUCINATION  ?</a:t>
            </a:r>
          </a:p>
        </p:txBody>
      </p:sp>
      <p:sp>
        <p:nvSpPr>
          <p:cNvPr id="43" name="nav:gloss">
            <a:hlinkClick action="ppaction://hlinksldjump" r:id="rId3"/>
          </p:cNvPr>
          <p:cNvSpPr/>
          <p:nvPr/>
        </p:nvSpPr>
        <p:spPr>
          <a:xfrm>
            <a:off x="2221991" y="5660136"/>
            <a:ext cx="2016815" cy="274320"/>
          </a:xfrm>
          <a:prstGeom prst="roundRect">
            <a:avLst>
              <a:gd name="adj" fmla="val 2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WHERE IT HELPS, WHERE IT BREAKS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Should I use AI for this task?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Do I already know the facts, and can I check the answer?</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2138739" y="3026664"/>
            <a:ext cx="755269"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2294187" y="3054096"/>
            <a:ext cx="4443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NO</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550596" y="3819265"/>
            <a:ext cx="225308" cy="225308"/>
          </a:xfrm>
          <a:prstGeom prst="ellipse">
            <a:avLst/>
          </a:pr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583880" y="3852550"/>
            <a:ext cx="158740" cy="158739"/>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Get the facts first</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If you cannot check the answer, you cannot use it. Take the real number from the system, the circular or your manager, and then come back to the assistant.</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282446" y="3026664"/>
            <a:ext cx="78574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437894" y="3054096"/>
            <a:ext cx="4748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YES</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7730026" y="3937040"/>
            <a:ext cx="66569"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796595" y="3860231"/>
            <a:ext cx="122895"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Go ahead</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You give the facts, it gives the wording, you check it before it leaves your desk. This covers most of the writing in an ordinary office week.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USING IT SAFELY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habits that keep you safe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Give it facts, never files. Type the order number and the dates. Do not paste the contract.</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Check every number, name and date yourself before the text goes anywhere.</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Treat the output as your draft that you edited. Never present it as a source.</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Use the tool the company has approved: [COMPANY INPUT NEEDED: name of the approved AI assistant]. A personal login puts our text on someone else's account.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USING IT SAFELY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checks before you press send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Every date and number matches a system or document you actually opened.</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Every name is spelled the way the customer spells it, not the way it sounds.</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Nothing has been added that you did not supply — read once looking only for that.</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You would be comfortable if the customer could see the prompt you typed.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USING IT SAFELY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mistakes people really make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Pasting a full customer contract in "just to summarise it"</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Client data leaves the company. Reportable under India's DPDP Act and UAE data protection law.</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Asking for a live figure — today's GST rate, current stock</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answers from memory. A confidently wrong number lands in the monthly MIS.</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Sending the first draft without reading it</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Invented dates and order numbers reach the client with your name at the bottom.</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Typing four words, getting a vague answer, giving up</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You decide "AI is useless". The prompt was the problem, not the tool.</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Using a personal ChatGPT login for company work</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No record, no control, and no way to delete the data if we are ever asked to.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Monday, 9:40 am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A client in Sharjah emails: "Your team promised delivery on the 12th. Nothing has arrived. Explain." You have the tracking sheet open. Your manager is in a meeting until 11.</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Paste the client's email and the full tracking sheet into ChatGPT and ask it to write the reply for you.</a:t>
            </a:r>
          </a:p>
        </p:txBody>
      </p:sp>
      <p:cxnSp>
        <p:nvCxnSpPr>
          <p:cNvPr id="23" name="vis:choicearrow"/>
          <p:cNvCxnSpPr/>
          <p:nvPr/>
        </p:nvCxnSpPr>
        <p:spPr>
          <a:xfrm>
            <a:off x="758952" y="5632704"/>
            <a:ext cx="292608"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Type only the three facts you already know into the approved assistant and ask for a 100-word reply.</a:t>
            </a:r>
          </a:p>
        </p:txBody>
      </p:sp>
      <p:cxnSp>
        <p:nvCxnSpPr>
          <p:cNvPr id="29" name="vis:choicearrow"/>
          <p:cNvCxnSpPr/>
          <p:nvPr/>
        </p:nvCxnSpPr>
        <p:spPr>
          <a:xfrm>
            <a:off x="4566818" y="5632704"/>
            <a:ext cx="292608"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Wait for your manager to come out of the meeting before replying to the client.</a:t>
            </a:r>
          </a:p>
        </p:txBody>
      </p:sp>
      <p:cxnSp>
        <p:nvCxnSpPr>
          <p:cNvPr id="35" name="vis:choicearrow"/>
          <p:cNvCxnSpPr/>
          <p:nvPr/>
        </p:nvCxnSpPr>
        <p:spPr>
          <a:xfrm>
            <a:off x="8374684" y="5632704"/>
            <a:ext cx="292608"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See what happens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You just sent client data outside the company</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tracking sheet carries the client's name, address and order values — plus every other customer on the page. Once it sits in a personal AI account, the company cannot retrieve it, delete it, or tell an auditor where it went.</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Facts, not files. Type the two dates and the reason. The document stays where it is.</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this is exactly the right use</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gave it the order number, the promised date and the reason. A calm 100-word reply came back in 20 seconds. You checked both dates against the tracking sheet, added the new delivery date, and sent it at 9:44.</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You supply the facts and the final check. The assistant supplies the sentences in between.</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icon"/>
          <p:cNvSpPr/>
          <p:nvPr/>
        </p:nvSpPr>
        <p:spPr>
          <a:xfrm>
            <a:off x="519744" y="409285"/>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vis:icon"/>
          <p:cNvCxnSpPr/>
          <p:nvPr/>
        </p:nvCxnSpPr>
        <p:spPr>
          <a:xfrm>
            <a:off x="713232" y="543885"/>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vis:icon"/>
          <p:cNvSpPr/>
          <p:nvPr/>
        </p:nvSpPr>
        <p:spPr>
          <a:xfrm>
            <a:off x="692200" y="686897"/>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Safe — but the client waits two hours</a:t>
            </a:r>
          </a:p>
        </p:txBody>
      </p:sp>
      <p:sp>
        <p:nvSpPr>
          <p:cNvPr id="7"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Nothing goes wrong, and nothing goes right. The client sends a sharper email at 11:15. Your manager now has an escalation to handle instead of a delay — and you had every fact you needed at 9:40.</a:t>
            </a:r>
          </a:p>
        </p:txBody>
      </p:sp>
      <p:sp>
        <p:nvSpPr>
          <p:cNvPr id="8"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THE RULE</a:t>
            </a:r>
          </a:p>
        </p:txBody>
      </p:sp>
      <p:sp>
        <p:nvSpPr>
          <p:cNvPr id="10"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Use AI for the drafting. Use your manager for the decisions — not for the typing.</a:t>
            </a:r>
          </a:p>
        </p:txBody>
      </p:sp>
      <p:sp>
        <p:nvSpPr>
          <p:cNvPr id="11" name="nav:scback">
            <a:hlinkClick action="ppaction://hlinksldjump" r:id="rId2"/>
          </p:cNvPr>
          <p:cNvSpPr/>
          <p:nvPr/>
        </p:nvSpPr>
        <p:spPr>
          <a:xfrm>
            <a:off x="502920" y="4718304"/>
            <a:ext cx="301752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Seven minutes, the same ideas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The 7-Minute Guide to Understanding Artificial Intelligence</a:t>
            </a:r>
          </a:p>
        </p:txBody>
      </p:sp>
      <p:sp>
        <p:nvSpPr>
          <p:cNvPr id="19" name="vis:chip"/>
          <p:cNvSpPr/>
          <p:nvPr/>
        </p:nvSpPr>
        <p:spPr>
          <a:xfrm>
            <a:off x="868680" y="3858768"/>
            <a:ext cx="231096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20000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WINDOWS DEVELOPER</a:t>
            </a:r>
          </a:p>
        </p:txBody>
      </p:sp>
      <p:sp>
        <p:nvSpPr>
          <p:cNvPr id="21" name="vis:chip"/>
          <p:cNvSpPr/>
          <p:nvPr/>
        </p:nvSpPr>
        <p:spPr>
          <a:xfrm>
            <a:off x="3325953" y="3858768"/>
            <a:ext cx="1201674"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3481401" y="3895344"/>
            <a:ext cx="89077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7:13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This is an outside video, not company material. If anything in it differs from this module, follow this module.</a:t>
            </a:r>
          </a:p>
        </p:txBody>
      </p:sp>
      <p:sp>
        <p:nvSpPr>
          <p:cNvPr id="25" name="nav:videobtn">
            <a:hlinkClick r:id="rId2"/>
          </p:cNvPr>
          <p:cNvSpPr/>
          <p:nvPr/>
        </p:nvSpPr>
        <p:spPr>
          <a:xfrm>
            <a:off x="868680" y="5230368"/>
            <a:ext cx="3017520" cy="493776"/>
          </a:xfrm>
          <a:prstGeom prst="roundRect">
            <a:avLst>
              <a:gd name="adj" fmla="val 11111"/>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Everything you need is already in this deck.</a:t>
            </a:r>
          </a:p>
        </p:txBody>
      </p:sp>
      <p:cxnSp>
        <p:nvCxnSpPr>
          <p:cNvPr id="35" name="vis:icon"/>
          <p:cNvCxnSpPr/>
          <p:nvPr/>
        </p:nvCxnSpPr>
        <p:spPr>
          <a:xfrm>
            <a:off x="8439424" y="3743919"/>
            <a:ext cx="52304" cy="52304"/>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Best watched after you have tried the prompt yourself.</a:t>
            </a:r>
          </a:p>
        </p:txBody>
      </p:sp>
      <p:cxnSp>
        <p:nvCxnSpPr>
          <p:cNvPr id="38" name="vis:icon"/>
          <p:cNvCxnSpPr/>
          <p:nvPr/>
        </p:nvCxnSpPr>
        <p:spPr>
          <a:xfrm>
            <a:off x="8439424" y="4859487"/>
            <a:ext cx="52304" cy="52304"/>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should you assume?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stem"/>
          <p:cNvSpPr/>
          <p:nvPr/>
        </p:nvSpPr>
        <p:spPr>
          <a:xfrm>
            <a:off x="502920" y="1719072"/>
            <a:ext cx="11185855" cy="713232"/>
          </a:xfrm>
          <a:prstGeom prst="roundRect">
            <a:avLst>
              <a:gd name="adj" fmla="val 1025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780897" y="1976932"/>
            <a:ext cx="230428" cy="153619"/>
          </a:xfrm>
          <a:prstGeom prst="roundRect">
            <a:avLst>
              <a:gd name="adj" fmla="val 29761"/>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flipH="1">
            <a:off x="824788" y="2130552"/>
            <a:ext cx="10973" cy="6035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24788" y="2130552"/>
            <a:ext cx="60351" cy="6035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9" name="cell:stem"/>
          <p:cNvSpPr txBox="1"/>
          <p:nvPr/>
        </p:nvSpPr>
        <p:spPr>
          <a:xfrm>
            <a:off x="1197864" y="1828800"/>
            <a:ext cx="10234879" cy="493776"/>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You asked an AI assistant for a courier's customer care number. It replied with a ten-digit number, straight away.</a:t>
            </a:r>
          </a:p>
        </p:txBody>
      </p:sp>
      <p:sp>
        <p:nvSpPr>
          <p:cNvPr id="20" name="quiz:answer">
            <a:hlinkClick action="ppaction://hlinksldjump" r:id="rId3"/>
          </p:cNvPr>
          <p:cNvSpPr/>
          <p:nvPr/>
        </p:nvSpPr>
        <p:spPr>
          <a:xfrm>
            <a:off x="502920"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
          <p:cNvSpPr/>
          <p:nvPr/>
        </p:nvSpPr>
        <p:spPr>
          <a:xfrm>
            <a:off x="740664" y="32506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answerkeytext"/>
          <p:cNvSpPr txBox="1"/>
          <p:nvPr/>
        </p:nvSpPr>
        <p:spPr>
          <a:xfrm>
            <a:off x="740664"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23" name="cell:answer"/>
          <p:cNvSpPr txBox="1"/>
          <p:nvPr/>
        </p:nvSpPr>
        <p:spPr>
          <a:xfrm>
            <a:off x="1252728"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looked it up on the website just now</a:t>
            </a:r>
          </a:p>
        </p:txBody>
      </p:sp>
      <p:sp>
        <p:nvSpPr>
          <p:cNvPr id="24" name="quiz:answer">
            <a:hlinkClick action="ppaction://hlinksldjump" r:id="rId4"/>
          </p:cNvPr>
          <p:cNvSpPr/>
          <p:nvPr/>
        </p:nvSpPr>
        <p:spPr>
          <a:xfrm>
            <a:off x="6187287"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
          <p:cNvSpPr/>
          <p:nvPr/>
        </p:nvSpPr>
        <p:spPr>
          <a:xfrm>
            <a:off x="6425031" y="32506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answerkeytext"/>
          <p:cNvSpPr txBox="1"/>
          <p:nvPr/>
        </p:nvSpPr>
        <p:spPr>
          <a:xfrm>
            <a:off x="6425031"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7" name="cell:answer"/>
          <p:cNvSpPr txBox="1"/>
          <p:nvPr/>
        </p:nvSpPr>
        <p:spPr>
          <a:xfrm>
            <a:off x="6937095"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is probably right, because it sounded certain</a:t>
            </a:r>
          </a:p>
        </p:txBody>
      </p:sp>
      <p:sp>
        <p:nvSpPr>
          <p:cNvPr id="28" name="quiz:answer">
            <a:hlinkClick action="ppaction://hlinksldjump" r:id="rId5"/>
          </p:cNvPr>
          <p:cNvSpPr/>
          <p:nvPr/>
        </p:nvSpPr>
        <p:spPr>
          <a:xfrm>
            <a:off x="502920"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
          <p:cNvSpPr/>
          <p:nvPr/>
        </p:nvSpPr>
        <p:spPr>
          <a:xfrm>
            <a:off x="740664" y="50337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answerkeytext"/>
          <p:cNvSpPr txBox="1"/>
          <p:nvPr/>
        </p:nvSpPr>
        <p:spPr>
          <a:xfrm>
            <a:off x="740664"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31" name="cell:answer"/>
          <p:cNvSpPr txBox="1"/>
          <p:nvPr/>
        </p:nvSpPr>
        <p:spPr>
          <a:xfrm>
            <a:off x="1252728"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may be invented — check it on the official site before using it</a:t>
            </a:r>
          </a:p>
        </p:txBody>
      </p:sp>
      <p:sp>
        <p:nvSpPr>
          <p:cNvPr id="32" name="quiz:answer">
            <a:hlinkClick action="ppaction://hlinksldjump" r:id="rId6"/>
          </p:cNvPr>
          <p:cNvSpPr/>
          <p:nvPr/>
        </p:nvSpPr>
        <p:spPr>
          <a:xfrm>
            <a:off x="6187287"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answerkey"/>
          <p:cNvSpPr/>
          <p:nvPr/>
        </p:nvSpPr>
        <p:spPr>
          <a:xfrm>
            <a:off x="6425031" y="50337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answerkeytext"/>
          <p:cNvSpPr txBox="1"/>
          <p:nvPr/>
        </p:nvSpPr>
        <p:spPr>
          <a:xfrm>
            <a:off x="6425031"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5" name="cell:answer"/>
          <p:cNvSpPr txBox="1"/>
          <p:nvPr/>
        </p:nvSpPr>
        <p:spPr>
          <a:xfrm>
            <a:off x="6937095"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AI tools are not able to produce phone numbers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It looked it up on the website just now</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did not open any website. Unless the tool visibly shows you a link it visited, it produced that number the same way it produces a sentence — by predicting what a courier helpline number usually looks like. Digits are exactly the kind of detail this goes wrong 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Sounding sure and being right are two different things.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It is probably right, because it sounded certain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Certainty is not evidence. The tool writes every answer in the same confident tone, whether it is repeating something it saw a million times or filling a gap. There is no built-in "I am unsure" signal for you to look for.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Sounding sure and being right are two different things.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It may be invented — check it on the official site before using 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Correct. Treat any number, name or date in an AI answer as unverified until you have seen it at the source. Ten seconds on the official website stops a wrong number going into a client email under your name.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Sounding sure and being right are two different things.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AI tools are not able to produce phone numbers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They will produce one happily, and that is the problem. It will have the right number of digits, the right format and the right area code, and still be wrong. Nothing about it will look suspicious.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Sounding sure and being right are two different things.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task fits AI best?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stem"/>
          <p:cNvSpPr/>
          <p:nvPr/>
        </p:nvSpPr>
        <p:spPr>
          <a:xfrm>
            <a:off x="502920" y="1719072"/>
            <a:ext cx="11185855" cy="713232"/>
          </a:xfrm>
          <a:prstGeom prst="roundRect">
            <a:avLst>
              <a:gd name="adj" fmla="val 1025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780897" y="1976932"/>
            <a:ext cx="230428" cy="153619"/>
          </a:xfrm>
          <a:prstGeom prst="roundRect">
            <a:avLst>
              <a:gd name="adj" fmla="val 29761"/>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flipH="1">
            <a:off x="824788" y="2130552"/>
            <a:ext cx="10973" cy="6035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24788" y="2130552"/>
            <a:ext cx="60351" cy="6035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9" name="cell:stem"/>
          <p:cNvSpPr txBox="1"/>
          <p:nvPr/>
        </p:nvSpPr>
        <p:spPr>
          <a:xfrm>
            <a:off x="1197864" y="1828800"/>
            <a:ext cx="10234879" cy="493776"/>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You have four jobs on your desk this morning. Only one of them plays to what an AI assistant is actually good at.</a:t>
            </a:r>
          </a:p>
        </p:txBody>
      </p:sp>
      <p:sp>
        <p:nvSpPr>
          <p:cNvPr id="20" name="quiz:answer">
            <a:hlinkClick action="ppaction://hlinksldjump" r:id="rId3"/>
          </p:cNvPr>
          <p:cNvSpPr/>
          <p:nvPr/>
        </p:nvSpPr>
        <p:spPr>
          <a:xfrm>
            <a:off x="502920"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
          <p:cNvSpPr/>
          <p:nvPr/>
        </p:nvSpPr>
        <p:spPr>
          <a:xfrm>
            <a:off x="740664" y="32506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answerkeytext"/>
          <p:cNvSpPr txBox="1"/>
          <p:nvPr/>
        </p:nvSpPr>
        <p:spPr>
          <a:xfrm>
            <a:off x="740664"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23" name="cell:answer"/>
          <p:cNvSpPr txBox="1"/>
          <p:nvPr/>
        </p:nvSpPr>
        <p:spPr>
          <a:xfrm>
            <a:off x="1252728"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"Tell me our current stock of 40mm bearings"</a:t>
            </a:r>
          </a:p>
        </p:txBody>
      </p:sp>
      <p:sp>
        <p:nvSpPr>
          <p:cNvPr id="24" name="quiz:answer">
            <a:hlinkClick action="ppaction://hlinksldjump" r:id="rId4"/>
          </p:cNvPr>
          <p:cNvSpPr/>
          <p:nvPr/>
        </p:nvSpPr>
        <p:spPr>
          <a:xfrm>
            <a:off x="6187287"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
          <p:cNvSpPr/>
          <p:nvPr/>
        </p:nvSpPr>
        <p:spPr>
          <a:xfrm>
            <a:off x="6425031" y="32506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answerkeytext"/>
          <p:cNvSpPr txBox="1"/>
          <p:nvPr/>
        </p:nvSpPr>
        <p:spPr>
          <a:xfrm>
            <a:off x="6425031"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7" name="cell:answer"/>
          <p:cNvSpPr txBox="1"/>
          <p:nvPr/>
        </p:nvSpPr>
        <p:spPr>
          <a:xfrm>
            <a:off x="6937095"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"Turn these six bullet points from my site visit into a 200-word report"</a:t>
            </a:r>
          </a:p>
        </p:txBody>
      </p:sp>
      <p:sp>
        <p:nvSpPr>
          <p:cNvPr id="28" name="quiz:answer">
            <a:hlinkClick action="ppaction://hlinksldjump" r:id="rId5"/>
          </p:cNvPr>
          <p:cNvSpPr/>
          <p:nvPr/>
        </p:nvSpPr>
        <p:spPr>
          <a:xfrm>
            <a:off x="502920"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
          <p:cNvSpPr/>
          <p:nvPr/>
        </p:nvSpPr>
        <p:spPr>
          <a:xfrm>
            <a:off x="740664" y="50337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answerkeytext"/>
          <p:cNvSpPr txBox="1"/>
          <p:nvPr/>
        </p:nvSpPr>
        <p:spPr>
          <a:xfrm>
            <a:off x="740664"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31" name="cell:answer"/>
          <p:cNvSpPr txBox="1"/>
          <p:nvPr/>
        </p:nvSpPr>
        <p:spPr>
          <a:xfrm>
            <a:off x="1252728"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"Decide whether we should terminate this supplier"</a:t>
            </a:r>
          </a:p>
        </p:txBody>
      </p:sp>
      <p:sp>
        <p:nvSpPr>
          <p:cNvPr id="32" name="quiz:answer">
            <a:hlinkClick action="ppaction://hlinksldjump" r:id="rId6"/>
          </p:cNvPr>
          <p:cNvSpPr/>
          <p:nvPr/>
        </p:nvSpPr>
        <p:spPr>
          <a:xfrm>
            <a:off x="6187287"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answerkey"/>
          <p:cNvSpPr/>
          <p:nvPr/>
        </p:nvSpPr>
        <p:spPr>
          <a:xfrm>
            <a:off x="6425031" y="50337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answerkeytext"/>
          <p:cNvSpPr txBox="1"/>
          <p:nvPr/>
        </p:nvSpPr>
        <p:spPr>
          <a:xfrm>
            <a:off x="6425031"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5" name="cell:answer"/>
          <p:cNvSpPr txBox="1"/>
          <p:nvPr/>
        </p:nvSpPr>
        <p:spPr>
          <a:xfrm>
            <a:off x="6937095"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"Tell me what the new circular from Head Office says"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"Tell me our current stock of 40mm bearings"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has no connection to your stock system and never will unless someone builds one. It will either refuse, or produce a number that looks completely plausible and is completely made up. Get this from the system.</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You bring the facts. It brings the sentences.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"Turn these six bullet points from my site visit into a 200-word repor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This is the sweet spot. You already hold every fact. The tool only has to do the wording, and you can check each line against your own bullets in under a minute.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You bring the facts. It brings the sentences.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"Decide whether we should terminate this supplier"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This is a judgement with money, contracts and relationships attached. The tool has none of the history, none of the contract, and carries none of the consequences. Ask it to list the questions worth considering — never to make the call.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You bring the facts. It brings the sentences.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"Tell me what the new circular from Head Office says"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has never seen that circular, so anything it says about it is invented. If the circular is not confidential you can paste the text in and ask for a summary — that turns it into a task it can actually do.</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You bring the facts. It brings the sentences.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of these is safe to type in?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stem"/>
          <p:cNvSpPr/>
          <p:nvPr/>
        </p:nvSpPr>
        <p:spPr>
          <a:xfrm>
            <a:off x="502920" y="1719072"/>
            <a:ext cx="11185855" cy="713232"/>
          </a:xfrm>
          <a:prstGeom prst="roundRect">
            <a:avLst>
              <a:gd name="adj" fmla="val 1025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780897" y="1976932"/>
            <a:ext cx="230428" cy="153619"/>
          </a:xfrm>
          <a:prstGeom prst="roundRect">
            <a:avLst>
              <a:gd name="adj" fmla="val 29761"/>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flipH="1">
            <a:off x="824788" y="2130552"/>
            <a:ext cx="10973" cy="6035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24788" y="2130552"/>
            <a:ext cx="60351" cy="6035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9" name="cell:stem"/>
          <p:cNvSpPr txBox="1"/>
          <p:nvPr/>
        </p:nvSpPr>
        <p:spPr>
          <a:xfrm>
            <a:off x="1197864" y="1828800"/>
            <a:ext cx="10234879" cy="493776"/>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You are about to paste something into an approved AI assistant to help you draft a reply.</a:t>
            </a:r>
          </a:p>
        </p:txBody>
      </p:sp>
      <p:sp>
        <p:nvSpPr>
          <p:cNvPr id="20" name="quiz:answer">
            <a:hlinkClick action="ppaction://hlinksldjump" r:id="rId3"/>
          </p:cNvPr>
          <p:cNvSpPr/>
          <p:nvPr/>
        </p:nvSpPr>
        <p:spPr>
          <a:xfrm>
            <a:off x="502920"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
          <p:cNvSpPr/>
          <p:nvPr/>
        </p:nvSpPr>
        <p:spPr>
          <a:xfrm>
            <a:off x="740664" y="32506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answerkeytext"/>
          <p:cNvSpPr txBox="1"/>
          <p:nvPr/>
        </p:nvSpPr>
        <p:spPr>
          <a:xfrm>
            <a:off x="740664"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23" name="cell:answer"/>
          <p:cNvSpPr txBox="1"/>
          <p:nvPr/>
        </p:nvSpPr>
        <p:spPr>
          <a:xfrm>
            <a:off x="1252728"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customer's signed contract, so it can summarise it</a:t>
            </a:r>
          </a:p>
        </p:txBody>
      </p:sp>
      <p:sp>
        <p:nvSpPr>
          <p:cNvPr id="24" name="quiz:answer">
            <a:hlinkClick action="ppaction://hlinksldjump" r:id="rId4"/>
          </p:cNvPr>
          <p:cNvSpPr/>
          <p:nvPr/>
        </p:nvSpPr>
        <p:spPr>
          <a:xfrm>
            <a:off x="6187287"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
          <p:cNvSpPr/>
          <p:nvPr/>
        </p:nvSpPr>
        <p:spPr>
          <a:xfrm>
            <a:off x="6425031" y="32506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answerkeytext"/>
          <p:cNvSpPr txBox="1"/>
          <p:nvPr/>
        </p:nvSpPr>
        <p:spPr>
          <a:xfrm>
            <a:off x="6425031"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7" name="cell:answer"/>
          <p:cNvSpPr txBox="1"/>
          <p:nvPr/>
        </p:nvSpPr>
        <p:spPr>
          <a:xfrm>
            <a:off x="6937095"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colleague's salary, to check whether a raise is fair</a:t>
            </a:r>
          </a:p>
        </p:txBody>
      </p:sp>
      <p:sp>
        <p:nvSpPr>
          <p:cNvPr id="28" name="quiz:answer">
            <a:hlinkClick action="ppaction://hlinksldjump" r:id="rId5"/>
          </p:cNvPr>
          <p:cNvSpPr/>
          <p:nvPr/>
        </p:nvSpPr>
        <p:spPr>
          <a:xfrm>
            <a:off x="502920"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
          <p:cNvSpPr/>
          <p:nvPr/>
        </p:nvSpPr>
        <p:spPr>
          <a:xfrm>
            <a:off x="740664" y="50337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answerkeytext"/>
          <p:cNvSpPr txBox="1"/>
          <p:nvPr/>
        </p:nvSpPr>
        <p:spPr>
          <a:xfrm>
            <a:off x="740664"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31" name="cell:answer"/>
          <p:cNvSpPr txBox="1"/>
          <p:nvPr/>
        </p:nvSpPr>
        <p:spPr>
          <a:xfrm>
            <a:off x="1252728"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two dates and the reason for a delay, with no names</a:t>
            </a:r>
          </a:p>
        </p:txBody>
      </p:sp>
      <p:sp>
        <p:nvSpPr>
          <p:cNvPr id="32" name="quiz:answer">
            <a:hlinkClick action="ppaction://hlinksldjump" r:id="rId6"/>
          </p:cNvPr>
          <p:cNvSpPr/>
          <p:nvPr/>
        </p:nvSpPr>
        <p:spPr>
          <a:xfrm>
            <a:off x="6187287"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answerkey"/>
          <p:cNvSpPr/>
          <p:nvPr/>
        </p:nvSpPr>
        <p:spPr>
          <a:xfrm>
            <a:off x="6425031" y="50337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answerkeytext"/>
          <p:cNvSpPr txBox="1"/>
          <p:nvPr/>
        </p:nvSpPr>
        <p:spPr>
          <a:xfrm>
            <a:off x="6425031"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5" name="cell:answer"/>
          <p:cNvSpPr txBox="1"/>
          <p:nvPr/>
        </p:nvSpPr>
        <p:spPr>
          <a:xfrm>
            <a:off x="6937095"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Nothing at all — AI is too risky to use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The customer's signed contract, so it can summarise 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contract holds names, prices and terms the customer trusted us with. Pasting it copies all of that onto a system the company does not control and cannot audit. This is the most common serious mistake people make.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Give it enough to write with. Never enough to identify anyone.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A colleague's salary, to check whether a raise is fair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Salary is personal data about a named person. Moving it outside the systems approved for HR data is a privacy breach by itself, whatever the AI answers. The answer is not the problem — the paste is.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Give it enough to write with. Never enough to identify anyone.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The two dates and the reason for a delay, with no names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Facts without identifiers. The tool has everything it needs to write the email and nothing that could harm anyone if it leaked. Make this your default habit and you will rarely have to think about it again.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Give it enough to write with. Never enough to identify anyone.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Nothing at all — AI is too risky to use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This is a mistake in the other direction. Refusing to use an approved tool costs you hours every week and leaves you behind colleagues who use it well. The skill is knowing what to leave out, not avoiding the tool.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Give it enough to write with. Never enough to identify anyone.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answer is 80% right. Now what?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stem"/>
          <p:cNvSpPr/>
          <p:nvPr/>
        </p:nvSpPr>
        <p:spPr>
          <a:xfrm>
            <a:off x="502920" y="1719072"/>
            <a:ext cx="11185855" cy="713232"/>
          </a:xfrm>
          <a:prstGeom prst="roundRect">
            <a:avLst>
              <a:gd name="adj" fmla="val 1025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780897" y="1976932"/>
            <a:ext cx="230428" cy="153619"/>
          </a:xfrm>
          <a:prstGeom prst="roundRect">
            <a:avLst>
              <a:gd name="adj" fmla="val 29761"/>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flipH="1">
            <a:off x="824788" y="2130552"/>
            <a:ext cx="10973" cy="6035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24788" y="2130552"/>
            <a:ext cx="60351" cy="6035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9" name="cell:stem"/>
          <p:cNvSpPr txBox="1"/>
          <p:nvPr/>
        </p:nvSpPr>
        <p:spPr>
          <a:xfrm>
            <a:off x="1197864" y="1828800"/>
            <a:ext cx="10234879" cy="493776"/>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The structure and tone are exactly what you wanted, but one date is wrong and the last paragraph is not needed.</a:t>
            </a:r>
          </a:p>
        </p:txBody>
      </p:sp>
      <p:sp>
        <p:nvSpPr>
          <p:cNvPr id="20" name="quiz:answer">
            <a:hlinkClick action="ppaction://hlinksldjump" r:id="rId3"/>
          </p:cNvPr>
          <p:cNvSpPr/>
          <p:nvPr/>
        </p:nvSpPr>
        <p:spPr>
          <a:xfrm>
            <a:off x="502920"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
          <p:cNvSpPr/>
          <p:nvPr/>
        </p:nvSpPr>
        <p:spPr>
          <a:xfrm>
            <a:off x="740664" y="32506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answerkeytext"/>
          <p:cNvSpPr txBox="1"/>
          <p:nvPr/>
        </p:nvSpPr>
        <p:spPr>
          <a:xfrm>
            <a:off x="740664"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23" name="cell:answer"/>
          <p:cNvSpPr txBox="1"/>
          <p:nvPr/>
        </p:nvSpPr>
        <p:spPr>
          <a:xfrm>
            <a:off x="1252728"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Rewrite the whole thing yourself</a:t>
            </a:r>
          </a:p>
        </p:txBody>
      </p:sp>
      <p:sp>
        <p:nvSpPr>
          <p:cNvPr id="24" name="quiz:answer">
            <a:hlinkClick action="ppaction://hlinksldjump" r:id="rId4"/>
          </p:cNvPr>
          <p:cNvSpPr/>
          <p:nvPr/>
        </p:nvSpPr>
        <p:spPr>
          <a:xfrm>
            <a:off x="6187287"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
          <p:cNvSpPr/>
          <p:nvPr/>
        </p:nvSpPr>
        <p:spPr>
          <a:xfrm>
            <a:off x="6425031" y="32506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answerkeytext"/>
          <p:cNvSpPr txBox="1"/>
          <p:nvPr/>
        </p:nvSpPr>
        <p:spPr>
          <a:xfrm>
            <a:off x="6425031"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7" name="cell:answer"/>
          <p:cNvSpPr txBox="1"/>
          <p:nvPr/>
        </p:nvSpPr>
        <p:spPr>
          <a:xfrm>
            <a:off x="6937095"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Send it — 80% is good enough for an internal note</a:t>
            </a:r>
          </a:p>
        </p:txBody>
      </p:sp>
      <p:sp>
        <p:nvSpPr>
          <p:cNvPr id="28" name="quiz:answer">
            <a:hlinkClick action="ppaction://hlinksldjump" r:id="rId5"/>
          </p:cNvPr>
          <p:cNvSpPr/>
          <p:nvPr/>
        </p:nvSpPr>
        <p:spPr>
          <a:xfrm>
            <a:off x="502920"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
          <p:cNvSpPr/>
          <p:nvPr/>
        </p:nvSpPr>
        <p:spPr>
          <a:xfrm>
            <a:off x="740664" y="50337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answerkeytext"/>
          <p:cNvSpPr txBox="1"/>
          <p:nvPr/>
        </p:nvSpPr>
        <p:spPr>
          <a:xfrm>
            <a:off x="740664"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31" name="cell:answer"/>
          <p:cNvSpPr txBox="1"/>
          <p:nvPr/>
        </p:nvSpPr>
        <p:spPr>
          <a:xfrm>
            <a:off x="1252728"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Tell it what is wrong and ask for a corrected version</a:t>
            </a:r>
          </a:p>
        </p:txBody>
      </p:sp>
      <p:sp>
        <p:nvSpPr>
          <p:cNvPr id="32" name="quiz:answer">
            <a:hlinkClick action="ppaction://hlinksldjump" r:id="rId6"/>
          </p:cNvPr>
          <p:cNvSpPr/>
          <p:nvPr/>
        </p:nvSpPr>
        <p:spPr>
          <a:xfrm>
            <a:off x="6187287"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answerkey"/>
          <p:cNvSpPr/>
          <p:nvPr/>
        </p:nvSpPr>
        <p:spPr>
          <a:xfrm>
            <a:off x="6425031" y="50337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answerkeytext"/>
          <p:cNvSpPr txBox="1"/>
          <p:nvPr/>
        </p:nvSpPr>
        <p:spPr>
          <a:xfrm>
            <a:off x="6425031"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5" name="cell:answer"/>
          <p:cNvSpPr txBox="1"/>
          <p:nvPr/>
        </p:nvSpPr>
        <p:spPr>
          <a:xfrm>
            <a:off x="6937095"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Send the same prompt again and hope for a better answer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Rewrite the whole thing yourself</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just threw away 80% of finished work. Tell it what is wrong instead: "Keep the structure, but the date is 15 March not 12 March, and remove the last paragraph." That takes ten seconds.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Correct it. Do not restart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Send it — 80% is good enough for an internal note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missing 20% is exactly where the wrong dates live. Internal notes get forwarded. Wrong facts travel further than you expect, and your name stays attached to them the whole way.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Correct it. Do not restart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Tell it what is wrong and ask for a corrected version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This is the whole skill. The second attempt is almost always the good one. Be specific about what to keep as well as what to change, or it will rewrite the parts that were already fine.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Correct it. Do not restart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Send the same prompt again and hope for a better answer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will get a different answer with the same gaps, because the gaps came from the prompt. Repeating an unchanged prompt is the most common way people waste time with these tools.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Correct it. Do not restart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Where did that figure come from?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stem"/>
          <p:cNvSpPr/>
          <p:nvPr/>
        </p:nvSpPr>
        <p:spPr>
          <a:xfrm>
            <a:off x="502920" y="1719072"/>
            <a:ext cx="11185855" cy="713232"/>
          </a:xfrm>
          <a:prstGeom prst="roundRect">
            <a:avLst>
              <a:gd name="adj" fmla="val 1025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780897" y="1976932"/>
            <a:ext cx="230428" cy="153619"/>
          </a:xfrm>
          <a:prstGeom prst="roundRect">
            <a:avLst>
              <a:gd name="adj" fmla="val 29761"/>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flipH="1">
            <a:off x="824788" y="2130552"/>
            <a:ext cx="10973" cy="6035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24788" y="2130552"/>
            <a:ext cx="60351" cy="6035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9" name="cell:stem"/>
          <p:cNvSpPr txBox="1"/>
          <p:nvPr/>
        </p:nvSpPr>
        <p:spPr>
          <a:xfrm>
            <a:off x="1197864" y="1828800"/>
            <a:ext cx="10234879" cy="493776"/>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Your manager points at a number in your monthly report and asks where it came from. It came from an AI answer.</a:t>
            </a:r>
          </a:p>
        </p:txBody>
      </p:sp>
      <p:sp>
        <p:nvSpPr>
          <p:cNvPr id="20" name="quiz:answer">
            <a:hlinkClick action="ppaction://hlinksldjump" r:id="rId3"/>
          </p:cNvPr>
          <p:cNvSpPr/>
          <p:nvPr/>
        </p:nvSpPr>
        <p:spPr>
          <a:xfrm>
            <a:off x="502920"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
          <p:cNvSpPr/>
          <p:nvPr/>
        </p:nvSpPr>
        <p:spPr>
          <a:xfrm>
            <a:off x="740664" y="32506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answerkeytext"/>
          <p:cNvSpPr txBox="1"/>
          <p:nvPr/>
        </p:nvSpPr>
        <p:spPr>
          <a:xfrm>
            <a:off x="740664"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23" name="cell:answer"/>
          <p:cNvSpPr txBox="1"/>
          <p:nvPr/>
        </p:nvSpPr>
        <p:spPr>
          <a:xfrm>
            <a:off x="1252728"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Tell her the AI assistant provided it</a:t>
            </a:r>
          </a:p>
        </p:txBody>
      </p:sp>
      <p:sp>
        <p:nvSpPr>
          <p:cNvPr id="24" name="quiz:answer">
            <a:hlinkClick action="ppaction://hlinksldjump" r:id="rId4"/>
          </p:cNvPr>
          <p:cNvSpPr/>
          <p:nvPr/>
        </p:nvSpPr>
        <p:spPr>
          <a:xfrm>
            <a:off x="6187287"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
          <p:cNvSpPr/>
          <p:nvPr/>
        </p:nvSpPr>
        <p:spPr>
          <a:xfrm>
            <a:off x="6425031" y="32506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answerkeytext"/>
          <p:cNvSpPr txBox="1"/>
          <p:nvPr/>
        </p:nvSpPr>
        <p:spPr>
          <a:xfrm>
            <a:off x="6425031"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7" name="cell:answer"/>
          <p:cNvSpPr txBox="1"/>
          <p:nvPr/>
        </p:nvSpPr>
        <p:spPr>
          <a:xfrm>
            <a:off x="6937095"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Find the figure in the real system or document and quote that</a:t>
            </a:r>
          </a:p>
        </p:txBody>
      </p:sp>
      <p:sp>
        <p:nvSpPr>
          <p:cNvPr id="28" name="quiz:answer">
            <a:hlinkClick action="ppaction://hlinksldjump" r:id="rId5"/>
          </p:cNvPr>
          <p:cNvSpPr/>
          <p:nvPr/>
        </p:nvSpPr>
        <p:spPr>
          <a:xfrm>
            <a:off x="502920"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
          <p:cNvSpPr/>
          <p:nvPr/>
        </p:nvSpPr>
        <p:spPr>
          <a:xfrm>
            <a:off x="740664" y="50337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answerkeytext"/>
          <p:cNvSpPr txBox="1"/>
          <p:nvPr/>
        </p:nvSpPr>
        <p:spPr>
          <a:xfrm>
            <a:off x="740664"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31" name="cell:answer"/>
          <p:cNvSpPr txBox="1"/>
          <p:nvPr/>
        </p:nvSpPr>
        <p:spPr>
          <a:xfrm>
            <a:off x="1252728"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Say you calculated it yourself</a:t>
            </a:r>
          </a:p>
        </p:txBody>
      </p:sp>
      <p:sp>
        <p:nvSpPr>
          <p:cNvPr id="32" name="quiz:answer">
            <a:hlinkClick action="ppaction://hlinksldjump" r:id="rId6"/>
          </p:cNvPr>
          <p:cNvSpPr/>
          <p:nvPr/>
        </p:nvSpPr>
        <p:spPr>
          <a:xfrm>
            <a:off x="6187287"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answerkey"/>
          <p:cNvSpPr/>
          <p:nvPr/>
        </p:nvSpPr>
        <p:spPr>
          <a:xfrm>
            <a:off x="6425031" y="50337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answerkeytext"/>
          <p:cNvSpPr txBox="1"/>
          <p:nvPr/>
        </p:nvSpPr>
        <p:spPr>
          <a:xfrm>
            <a:off x="6425031"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5" name="cell:answer"/>
          <p:cNvSpPr txBox="1"/>
          <p:nvPr/>
        </p:nvSpPr>
        <p:spPr>
          <a:xfrm>
            <a:off x="6937095"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Remove the figure from the report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Tell her the AI assistant provided 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AI said so" is not a source. Your manager cannot act on it, cannot defend it to a client, and if the figure is wrong the report is still yours. Find the real source before the report goes out.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AI output is a draft. It is never a source.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Find the figure in the real system or document and quote that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Right. Every number in anything you sign should be traceable to a system, a document or a named person. AI can help you write the sentence around the number. It cannot be the reason the number is there.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AI output is a draft. It is never a source.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Say you calculated it yourself</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This turns a checkable mistake into a false statement. If the figure is later found to be wrong, the problem is no longer the figure — it is that you said something untrue about where it came from.</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AI output is a draft. It is never a source.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Remove the figure from the report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Better than inventing a source, but you have thrown away information the report needed. The real figure almost certainly exists somewhere — spend two minutes finding it rather than deleting the line.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AI output is a draft. It is never a source.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AI Fundamentals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It predicts, it does not look up</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Every answer is built piece by piece from patterns in text, not fetched from a database of facts.</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Search finds pages, AI writes text</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Need something you can quote? Search. Need a draft, summary or rewrite? Assistant.</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You bring the facts</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It has none of our order numbers, clients, policies or systems until you type them in.</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Check every number and name</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confident tone is not evidence. Verify before anything leaves your desk.</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Facts, never files</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Type the order number. Never paste the contract, the salary sheet or the client list.</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Correct it, don't restart it</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Say what to keep and what to change. The second answer is usually the one you send.</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7688D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7688D8"/>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7688D8"/>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470"/>
              </a:lnSpc>
              <a:spcBef>
                <a:spcPts val="0"/>
              </a:spcBef>
              <a:spcAft>
                <a:spcPts val="0"/>
              </a:spcAft>
            </a:pPr>
            <a:r>
              <a:rPr sz="1900" b="0">
                <a:solidFill>
                  <a:srgbClr val="FFFFFF"/>
                </a:solidFill>
                <a:latin typeface="Segoe UI Semibold"/>
              </a:rPr>
              <a:t>You supply the facts and the final check. The assistant supplies the sentences in between.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61247" y="2419478"/>
            <a:ext cx="234320" cy="159763"/>
          </a:xfrm>
          <a:prstGeom prst="roundRect">
            <a:avLst>
              <a:gd name="adj" fmla="val 28617"/>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861247" y="2430128"/>
            <a:ext cx="117161" cy="85208"/>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978408" y="2430128"/>
            <a:ext cx="117160" cy="85208"/>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21"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late-delivery email prompt</a:t>
            </a:r>
          </a:p>
        </p:txBody>
      </p:sp>
      <p:sp>
        <p:nvSpPr>
          <p:cNvPr id="22"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Order number, both dates, reason, tone, word limit. Works as written.</a:t>
            </a:r>
          </a:p>
        </p:txBody>
      </p:sp>
      <p:sp>
        <p:nvSpPr>
          <p:cNvPr id="23"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893200" y="3284407"/>
            <a:ext cx="170414" cy="234320"/>
          </a:xfrm>
          <a:prstGeom prst="roundRect">
            <a:avLst>
              <a:gd name="adj" fmla="val 26828"/>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6" name="vis:icon"/>
          <p:cNvCxnSpPr/>
          <p:nvPr/>
        </p:nvCxnSpPr>
        <p:spPr>
          <a:xfrm>
            <a:off x="930478" y="3358964"/>
            <a:ext cx="95859"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27" name="vis:icon"/>
          <p:cNvCxnSpPr/>
          <p:nvPr/>
        </p:nvCxnSpPr>
        <p:spPr>
          <a:xfrm>
            <a:off x="930478" y="3401568"/>
            <a:ext cx="95859"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a:off x="930478" y="3444171"/>
            <a:ext cx="63906"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29"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notes-into-report prompt</a:t>
            </a:r>
          </a:p>
        </p:txBody>
      </p:sp>
      <p:sp>
        <p:nvSpPr>
          <p:cNvPr id="30"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Six rough bullets in, a 180-word report out, with nothing added.</a:t>
            </a:r>
          </a:p>
        </p:txBody>
      </p:sp>
      <p:sp>
        <p:nvSpPr>
          <p:cNvPr id="31"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872126" y="4211536"/>
            <a:ext cx="212563" cy="198749"/>
          </a:xfrm>
          <a:custGeom>
            <a:avLst/>
            <a:gdLst/>
            <a:ahLst/>
            <a:cxnLst/>
            <a:rect l="l" t="t" r="r" b="b"/>
            <a:pathLst>
              <a:path w="212563" h="198749">
                <a:moveTo>
                  <a:pt x="159536" y="0"/>
                </a:moveTo>
                <a:lnTo>
                  <a:pt x="186359" y="22013"/>
                </a:lnTo>
                <a:lnTo>
                  <a:pt x="204683" y="51480"/>
                </a:lnTo>
                <a:lnTo>
                  <a:pt x="212563" y="85273"/>
                </a:lnTo>
                <a:lnTo>
                  <a:pt x="209162" y="119806"/>
                </a:lnTo>
                <a:lnTo>
                  <a:pt x="194841" y="151413"/>
                </a:lnTo>
                <a:lnTo>
                  <a:pt x="171120" y="176739"/>
                </a:lnTo>
                <a:lnTo>
                  <a:pt x="140518" y="193096"/>
                </a:lnTo>
                <a:lnTo>
                  <a:pt x="106282" y="198749"/>
                </a:lnTo>
                <a:lnTo>
                  <a:pt x="72045" y="193096"/>
                </a:lnTo>
                <a:lnTo>
                  <a:pt x="41443" y="176739"/>
                </a:lnTo>
                <a:lnTo>
                  <a:pt x="17722" y="151413"/>
                </a:lnTo>
                <a:lnTo>
                  <a:pt x="3401" y="119806"/>
                </a:lnTo>
                <a:lnTo>
                  <a:pt x="0" y="85273"/>
                </a:lnTo>
                <a:lnTo>
                  <a:pt x="7880" y="51480"/>
                </a:lnTo>
                <a:lnTo>
                  <a:pt x="26204" y="22013"/>
                </a:lnTo>
                <a:lnTo>
                  <a:pt x="53027" y="0"/>
                </a:lnTo>
              </a:path>
            </a:pathLst>
          </a:cu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vis:icon"/>
          <p:cNvSpPr/>
          <p:nvPr/>
        </p:nvSpPr>
        <p:spPr>
          <a:xfrm>
            <a:off x="913171" y="4190343"/>
            <a:ext cx="48994" cy="42071"/>
          </a:xfrm>
          <a:custGeom>
            <a:avLst/>
            <a:gdLst/>
            <a:ahLst/>
            <a:cxnLst/>
            <a:rect l="l" t="t" r="r" b="b"/>
            <a:pathLst>
              <a:path w="48994" h="42071">
                <a:moveTo>
                  <a:pt x="48994" y="0"/>
                </a:moveTo>
                <a:lnTo>
                  <a:pt x="23964" y="42071"/>
                </a:lnTo>
                <a:lnTo>
                  <a:pt x="0" y="533"/>
                </a:lnTo>
                <a:close/>
              </a:path>
            </a:pathLst>
          </a:cu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correction prompt</a:t>
            </a:r>
          </a:p>
        </p:txBody>
      </p:sp>
      <p:sp>
        <p:nvSpPr>
          <p:cNvPr id="36"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Say what to keep, then name three specific changes.</a:t>
            </a:r>
          </a:p>
        </p:txBody>
      </p:sp>
      <p:sp>
        <p:nvSpPr>
          <p:cNvPr id="37"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LINKS THAT WORK</a:t>
            </a:r>
          </a:p>
        </p:txBody>
      </p:sp>
      <p:sp>
        <p:nvSpPr>
          <p:cNvPr id="38"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icon"/>
          <p:cNvSpPr/>
          <p:nvPr/>
        </p:nvSpPr>
        <p:spPr>
          <a:xfrm>
            <a:off x="8339937" y="2300630"/>
            <a:ext cx="164592" cy="164592"/>
          </a:xfrm>
          <a:prstGeom prst="ellipse">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0" name="vis:icon"/>
          <p:cNvCxnSpPr/>
          <p:nvPr/>
        </p:nvCxnSpPr>
        <p:spPr>
          <a:xfrm>
            <a:off x="8482584" y="2443276"/>
            <a:ext cx="65836" cy="65837"/>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41"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Microsoft Copilot</a:t>
            </a:r>
          </a:p>
        </p:txBody>
      </p:sp>
      <p:sp>
        <p:nvSpPr>
          <p:cNvPr id="42"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a:rPr>
              <a:t>copilot.microsoft.com</a:t>
            </a:r>
          </a:p>
        </p:txBody>
      </p:sp>
      <p:sp>
        <p:nvSpPr>
          <p:cNvPr id="43"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icon"/>
          <p:cNvSpPr/>
          <p:nvPr/>
        </p:nvSpPr>
        <p:spPr>
          <a:xfrm>
            <a:off x="8339937" y="2977286"/>
            <a:ext cx="164592" cy="164592"/>
          </a:xfrm>
          <a:prstGeom prst="ellipse">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5" name="vis:icon"/>
          <p:cNvCxnSpPr/>
          <p:nvPr/>
        </p:nvCxnSpPr>
        <p:spPr>
          <a:xfrm>
            <a:off x="8482584" y="3119932"/>
            <a:ext cx="65836" cy="65837"/>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46"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ChatGPT</a:t>
            </a:r>
          </a:p>
        </p:txBody>
      </p:sp>
      <p:sp>
        <p:nvSpPr>
          <p:cNvPr id="47"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a:rPr>
              <a:t>chatgpt.com</a:t>
            </a:r>
          </a:p>
        </p:txBody>
      </p:sp>
      <p:sp>
        <p:nvSpPr>
          <p:cNvPr id="48"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9" name="vis:icon"/>
          <p:cNvSpPr/>
          <p:nvPr/>
        </p:nvSpPr>
        <p:spPr>
          <a:xfrm>
            <a:off x="8339937" y="3653942"/>
            <a:ext cx="164592" cy="164592"/>
          </a:xfrm>
          <a:prstGeom prst="ellipse">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0" name="vis:icon"/>
          <p:cNvCxnSpPr/>
          <p:nvPr/>
        </p:nvCxnSpPr>
        <p:spPr>
          <a:xfrm>
            <a:off x="8482584" y="3796588"/>
            <a:ext cx="65836" cy="65837"/>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51"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Google Gemini</a:t>
            </a:r>
          </a:p>
        </p:txBody>
      </p:sp>
      <p:sp>
        <p:nvSpPr>
          <p:cNvPr id="52"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a:rPr>
              <a:t>gemini.google.com</a:t>
            </a:r>
          </a:p>
        </p:txBody>
      </p:sp>
      <p:sp>
        <p:nvSpPr>
          <p:cNvPr id="53"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4"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688D8"/>
                </a:solidFill>
                <a:latin typeface="Segoe UI Semibold"/>
              </a:rPr>
              <a:t>DO THIS NEXT</a:t>
            </a:r>
          </a:p>
        </p:txBody>
      </p:sp>
      <p:sp>
        <p:nvSpPr>
          <p:cNvPr id="55"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Segoe UI"/>
              </a:rPr>
              <a:t>Next module: PE-01, Basic Prompting. It gives you the six-part shape that turns a vague request into a usable draft every time — not just when you get lucky.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AI-01  ·  AI Fundamentals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Token</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small piece of text, roughly three quarters of a word. AI tools read and write in tokens, not in letters.</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Model</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trained system that produces the answer. ChatGPT, Copilot and Gemini are apps built around a model.</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Prompt</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Everything you type in: your request plus any facts you choose to supply.</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Output</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comes back. Always a draft you are responsible for, never a source you can quote.</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Hallucination</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confident answer that is simply made up. Usually a name, a number or a date.</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Training data</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public text the model learned from, up to a fixed cut-off date. Our files were never in it.</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