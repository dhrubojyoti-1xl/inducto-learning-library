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5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1-ai-general/01-01-ai-fundamentals.pptx" TargetMode="External"/><Relationship Id="rId3" Type="http://schemas.openxmlformats.org/officeDocument/2006/relationships/hyperlink" Target="01-ai-general/01-02-generative-ai.pptx" TargetMode="External"/><Relationship Id="rId4" Type="http://schemas.openxmlformats.org/officeDocument/2006/relationships/hyperlink" Target="01-ai-general/01-03-ai-capabilities.pptx" TargetMode="External"/><Relationship Id="rId5" Type="http://schemas.openxmlformats.org/officeDocument/2006/relationships/hyperlink" Target="01-ai-general/01-04-ai-limitations.pptx" TargetMode="External"/><Relationship Id="rId6" Type="http://schemas.openxmlformats.org/officeDocument/2006/relationships/hyperlink" Target="01-ai-general/01-05-hallucinations-fact-checking.pptx" TargetMode="External"/><Relationship Id="rId7" Type="http://schemas.openxmlformats.org/officeDocument/2006/relationships/slide" Target="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2-ai-daily-work/02-01-email-writing-with-ai.pptx" TargetMode="External"/><Relationship Id="rId3" Type="http://schemas.openxmlformats.org/officeDocument/2006/relationships/hyperlink" Target="02-ai-daily-work/02-02-research-with-ai.pptx" TargetMode="External"/><Relationship Id="rId4" Type="http://schemas.openxmlformats.org/officeDocument/2006/relationships/hyperlink" Target="02-ai-daily-work/02-03-report-preparation-with-ai.pptx" TargetMode="External"/><Relationship Id="rId5" Type="http://schemas.openxmlformats.org/officeDocument/2006/relationships/hyperlink" Target="02-ai-daily-work/02-04-data-analysis-with-ai.pptx" TargetMode="External"/><Relationship Id="rId6" Type="http://schemas.openxmlformats.org/officeDocument/2006/relationships/hyperlink" Target="02-ai-daily-work/02-05-excel-with-ai.pptx" TargetMode="External"/><Relationship Id="rId7" Type="http://schemas.openxmlformats.org/officeDocument/2006/relationships/hyperlink" Target="02-ai-daily-work/02-06-presentations-with-ai.pptx" TargetMode="External"/><Relationship Id="rId8" Type="http://schemas.openxmlformats.org/officeDocument/2006/relationships/hyperlink" Target="02-ai-daily-work/02-07-documentation-with-ai.pptx" TargetMode="External"/><Relationship Id="rId9" Type="http://schemas.openxmlformats.org/officeDocument/2006/relationships/hyperlink" Target="02-ai-daily-work/02-08-meeting-notes-and-followups.pptx" TargetMode="External"/><Relationship Id="rId10" Type="http://schemas.openxmlformats.org/officeDocument/2006/relationships/hyperlink" Target="02-ai-daily-work/02-09-brainstorming-with-ai.pptx" TargetMode="External"/><Relationship Id="rId11" Type="http://schemas.openxmlformats.org/officeDocument/2006/relationships/hyperlink" Target="02-ai-daily-work/02-10-planning-and-productivity-with-ai.pptx" TargetMode="External"/><Relationship Id="rId12" Type="http://schemas.openxmlformats.org/officeDocument/2006/relationships/hyperlink" Target="02-ai-daily-work/02-11-automation-basics.pptx" TargetMode="External"/><Relationship Id="rId13" Type="http://schemas.openxmlformats.org/officeDocument/2006/relationships/slide" Target="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3-prompt-engineering/03-01-basic-prompting.pptx" TargetMode="External"/><Relationship Id="rId3" Type="http://schemas.openxmlformats.org/officeDocument/2006/relationships/hyperlink" Target="03-prompt-engineering/03-02-instructions-and-context.pptx" TargetMode="External"/><Relationship Id="rId4" Type="http://schemas.openxmlformats.org/officeDocument/2006/relationships/hyperlink" Target="03-prompt-engineering/03-03-role-based-prompts.pptx" TargetMode="External"/><Relationship Id="rId5" Type="http://schemas.openxmlformats.org/officeDocument/2006/relationships/hyperlink" Target="03-prompt-engineering/03-04-examples-and-structured-prompts.pptx" TargetMode="External"/><Relationship Id="rId6" Type="http://schemas.openxmlformats.org/officeDocument/2006/relationships/hyperlink" Target="03-prompt-engineering/03-05-advanced-prompting.pptx" TargetMode="External"/><Relationship Id="rId7" Type="http://schemas.openxmlformats.org/officeDocument/2006/relationships/hyperlink" Target="03-prompt-engineering/03-06-reusable-prompts.pptx" TargetMode="External"/><Relationship Id="rId8" Type="http://schemas.openxmlformats.org/officeDocument/2006/relationships/hyperlink" Target="03-prompt-engineering/03-07-evaluating-ai-responses.pptx" TargetMode="External"/><Relationship Id="rId9" Type="http://schemas.openxmlformats.org/officeDocument/2006/relationships/slide" Target="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4-professional-skills/04-01-business-communication.pptx" TargetMode="External"/><Relationship Id="rId3" Type="http://schemas.openxmlformats.org/officeDocument/2006/relationships/hyperlink" Target="04-professional-skills/04-02-professional-email-writing.pptx" TargetMode="External"/><Relationship Id="rId4" Type="http://schemas.openxmlformats.org/officeDocument/2006/relationships/hyperlink" Target="04-professional-skills/04-03-english-and-grammar.pptx" TargetMode="External"/><Relationship Id="rId5" Type="http://schemas.openxmlformats.org/officeDocument/2006/relationships/hyperlink" Target="04-professional-skills/04-04-time-management.pptx" TargetMode="External"/><Relationship Id="rId6" Type="http://schemas.openxmlformats.org/officeDocument/2006/relationships/hyperlink" Target="04-professional-skills/04-05-personal-productivity-systems.pptx" TargetMode="External"/><Relationship Id="rId7" Type="http://schemas.openxmlformats.org/officeDocument/2006/relationships/hyperlink" Target="04-professional-skills/04-06-problem-solving.pptx" TargetMode="External"/><Relationship Id="rId8" Type="http://schemas.openxmlformats.org/officeDocument/2006/relationships/hyperlink" Target="04-professional-skills/04-07-critical-thinking.pptx" TargetMode="External"/><Relationship Id="rId9" Type="http://schemas.openxmlformats.org/officeDocument/2006/relationships/hyperlink" Target="04-professional-skills/04-08-presentation-skills.pptx" TargetMode="External"/><Relationship Id="rId10" Type="http://schemas.openxmlformats.org/officeDocument/2006/relationships/hyperlink" Target="04-professional-skills/04-09-teamwork-and-collaboration.pptx" TargetMode="External"/><Relationship Id="rId11" Type="http://schemas.openxmlformats.org/officeDocument/2006/relationships/slide" Target="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5-security-privacy/05-01-password-security.pptx" TargetMode="External"/><Relationship Id="rId3" Type="http://schemas.openxmlformats.org/officeDocument/2006/relationships/hyperlink" Target="05-security-privacy/05-02-phishing-and-social-engineering.pptx" TargetMode="External"/><Relationship Id="rId4" Type="http://schemas.openxmlformats.org/officeDocument/2006/relationships/hyperlink" Target="05-security-privacy/05-03-multi-factor-authentication.pptx" TargetMode="External"/><Relationship Id="rId5" Type="http://schemas.openxmlformats.org/officeDocument/2006/relationships/hyperlink" Target="05-security-privacy/05-04-data-protection-basics.pptx" TargetMode="External"/><Relationship Id="rId6" Type="http://schemas.openxmlformats.org/officeDocument/2006/relationships/hyperlink" Target="05-security-privacy/05-05-handling-confidential-information.pptx" TargetMode="External"/><Relationship Id="rId7" Type="http://schemas.openxmlformats.org/officeDocument/2006/relationships/hyperlink" Target="05-security-privacy/05-06-safe-use-of-ai-at-work.pptx" TargetMode="External"/><Relationship Id="rId8" Type="http://schemas.openxmlformats.org/officeDocument/2006/relationships/hyperlink" Target="05-security-privacy/05-07-never-paste-into-ai.pptx" TargetMode="External"/><Relationship Id="rId9" Type="http://schemas.openxmlformats.org/officeDocument/2006/relationships/slide" Target="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1-ai-general/01-01-ai-fundamentals.pptx" TargetMode="External"/><Relationship Id="rId3" Type="http://schemas.openxmlformats.org/officeDocument/2006/relationships/hyperlink" Target="05-security-privacy/05-01-password-security.pptx" TargetMode="External"/><Relationship Id="rId4" Type="http://schemas.openxmlformats.org/officeDocument/2006/relationships/hyperlink" Target="05-security-privacy/05-02-phishing-and-social-engineering.pptx" TargetMode="External"/><Relationship Id="rId5" Type="http://schemas.openxmlformats.org/officeDocument/2006/relationships/hyperlink" Target="05-security-privacy/05-07-never-paste-into-ai.pptx" TargetMode="External"/><Relationship Id="rId6" Type="http://schemas.openxmlformats.org/officeDocument/2006/relationships/hyperlink" Target="04-professional-skills/04-01-business-communication.pptx" TargetMode="External"/><Relationship Id="rId7" Type="http://schemas.openxmlformats.org/officeDocument/2006/relationships/hyperlink" Target="04-professional-skills/04-02-professional-email-writing.pptx" TargetMode="External"/><Relationship Id="rId8" Type="http://schemas.openxmlformats.org/officeDocument/2006/relationships/slide" Target="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1-ai-general/01-01-ai-fundamentals.pptx" TargetMode="External"/><Relationship Id="rId3" Type="http://schemas.openxmlformats.org/officeDocument/2006/relationships/hyperlink" Target="01-ai-general/01-02-generative-ai.pptx" TargetMode="External"/><Relationship Id="rId4" Type="http://schemas.openxmlformats.org/officeDocument/2006/relationships/hyperlink" Target="01-ai-general/01-03-ai-capabilities.pptx" TargetMode="External"/><Relationship Id="rId5" Type="http://schemas.openxmlformats.org/officeDocument/2006/relationships/hyperlink" Target="01-ai-general/01-04-ai-limitations.pptx" TargetMode="External"/><Relationship Id="rId6" Type="http://schemas.openxmlformats.org/officeDocument/2006/relationships/hyperlink" Target="01-ai-general/01-05-hallucinations-fact-checking.pptx" TargetMode="External"/><Relationship Id="rId7" Type="http://schemas.openxmlformats.org/officeDocument/2006/relationships/hyperlink" Target="03-prompt-engineering/03-01-basic-prompting.pptx" TargetMode="External"/><Relationship Id="rId8" Type="http://schemas.openxmlformats.org/officeDocument/2006/relationships/slide" Target="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4-professional-skills/04-01-business-communication.pptx" TargetMode="External"/><Relationship Id="rId3" Type="http://schemas.openxmlformats.org/officeDocument/2006/relationships/hyperlink" Target="04-professional-skills/04-04-time-management.pptx" TargetMode="External"/><Relationship Id="rId4" Type="http://schemas.openxmlformats.org/officeDocument/2006/relationships/hyperlink" Target="04-professional-skills/04-06-problem-solving.pptx" TargetMode="External"/><Relationship Id="rId5" Type="http://schemas.openxmlformats.org/officeDocument/2006/relationships/hyperlink" Target="04-professional-skills/04-07-critical-thinking.pptx" TargetMode="External"/><Relationship Id="rId6" Type="http://schemas.openxmlformats.org/officeDocument/2006/relationships/hyperlink" Target="04-professional-skills/04-08-presentation-skills.pptx" TargetMode="External"/><Relationship Id="rId7" Type="http://schemas.openxmlformats.org/officeDocument/2006/relationships/hyperlink" Target="04-professional-skills/04-09-teamwork-and-collaboration.pptx" TargetMode="External"/><Relationship Id="rId8" Type="http://schemas.openxmlformats.org/officeDocument/2006/relationships/slide" Target="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s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vis:coverspine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4" name="vis:coverline"/>
          <p:cNvCxnSpPr/>
          <p:nvPr/>
        </p:nvCxnSpPr>
        <p:spPr>
          <a:xfrm>
            <a:off x="8203996" y="2278684"/>
            <a:ext cx="998525" cy="658368"/>
          </a:xfrm>
          <a:prstGeom prst="line">
            <a:avLst/>
          </a:prstGeom>
          <a:ln w="1270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vis:coverline"/>
          <p:cNvCxnSpPr/>
          <p:nvPr/>
        </p:nvCxnSpPr>
        <p:spPr>
          <a:xfrm flipV="1">
            <a:off x="7973568" y="2937052"/>
            <a:ext cx="1228953" cy="658368"/>
          </a:xfrm>
          <a:prstGeom prst="line">
            <a:avLst/>
          </a:prstGeom>
          <a:ln w="1270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vis:coverline"/>
          <p:cNvCxnSpPr/>
          <p:nvPr/>
        </p:nvCxnSpPr>
        <p:spPr>
          <a:xfrm>
            <a:off x="9202521" y="2937052"/>
            <a:ext cx="76810" cy="1316736"/>
          </a:xfrm>
          <a:prstGeom prst="line">
            <a:avLst/>
          </a:prstGeom>
          <a:ln w="1270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vis:coverline"/>
          <p:cNvCxnSpPr/>
          <p:nvPr/>
        </p:nvCxnSpPr>
        <p:spPr>
          <a:xfrm flipV="1">
            <a:off x="9202521" y="2212848"/>
            <a:ext cx="1152144" cy="724204"/>
          </a:xfrm>
          <a:prstGeom prst="line">
            <a:avLst/>
          </a:prstGeom>
          <a:ln w="1270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vis:coverline"/>
          <p:cNvCxnSpPr/>
          <p:nvPr/>
        </p:nvCxnSpPr>
        <p:spPr>
          <a:xfrm>
            <a:off x="9202521" y="2937052"/>
            <a:ext cx="1305763" cy="658368"/>
          </a:xfrm>
          <a:prstGeom prst="line">
            <a:avLst/>
          </a:prstGeom>
          <a:ln w="1270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is:coverline"/>
          <p:cNvCxnSpPr/>
          <p:nvPr/>
        </p:nvCxnSpPr>
        <p:spPr>
          <a:xfrm>
            <a:off x="10354665" y="2212848"/>
            <a:ext cx="921715" cy="658368"/>
          </a:xfrm>
          <a:prstGeom prst="line">
            <a:avLst/>
          </a:prstGeom>
          <a:ln w="1270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vis:coverline"/>
          <p:cNvCxnSpPr/>
          <p:nvPr/>
        </p:nvCxnSpPr>
        <p:spPr>
          <a:xfrm flipV="1">
            <a:off x="10508284" y="2871216"/>
            <a:ext cx="768096" cy="724204"/>
          </a:xfrm>
          <a:prstGeom prst="line">
            <a:avLst/>
          </a:prstGeom>
          <a:ln w="1270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vis:coverline"/>
          <p:cNvCxnSpPr/>
          <p:nvPr/>
        </p:nvCxnSpPr>
        <p:spPr>
          <a:xfrm flipV="1">
            <a:off x="9279331" y="3595420"/>
            <a:ext cx="1228953" cy="658368"/>
          </a:xfrm>
          <a:prstGeom prst="line">
            <a:avLst/>
          </a:prstGeom>
          <a:ln w="1270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covernode"/>
          <p:cNvSpPr/>
          <p:nvPr/>
        </p:nvSpPr>
        <p:spPr>
          <a:xfrm>
            <a:off x="8139988" y="2214676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vis:covernode"/>
          <p:cNvSpPr/>
          <p:nvPr/>
        </p:nvSpPr>
        <p:spPr>
          <a:xfrm>
            <a:off x="7909560" y="3531412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vis:covernode"/>
          <p:cNvSpPr/>
          <p:nvPr/>
        </p:nvSpPr>
        <p:spPr>
          <a:xfrm>
            <a:off x="9065361" y="2799892"/>
            <a:ext cx="274320" cy="27432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vis:covernode"/>
          <p:cNvSpPr/>
          <p:nvPr/>
        </p:nvSpPr>
        <p:spPr>
          <a:xfrm>
            <a:off x="9215323" y="4189780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covernode"/>
          <p:cNvSpPr/>
          <p:nvPr/>
        </p:nvSpPr>
        <p:spPr>
          <a:xfrm>
            <a:off x="10263225" y="2121408"/>
            <a:ext cx="182880" cy="18288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covernode"/>
          <p:cNvSpPr/>
          <p:nvPr/>
        </p:nvSpPr>
        <p:spPr>
          <a:xfrm>
            <a:off x="10416844" y="3503980"/>
            <a:ext cx="182880" cy="18288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covernode"/>
          <p:cNvSpPr/>
          <p:nvPr/>
        </p:nvSpPr>
        <p:spPr>
          <a:xfrm>
            <a:off x="11212372" y="2807208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seclabel"/>
          <p:cNvSpPr txBox="1"/>
          <p:nvPr/>
        </p:nvSpPr>
        <p:spPr>
          <a:xfrm>
            <a:off x="960120" y="932434"/>
            <a:ext cx="5501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688D8"/>
                </a:solidFill>
                <a:latin typeface="Segoe UI Semibold"/>
              </a:rPr>
              <a:t>AI COURSES</a:t>
            </a:r>
          </a:p>
        </p:txBody>
      </p:sp>
      <p:sp>
        <p:nvSpPr>
          <p:cNvPr id="20" name="title:cover"/>
          <p:cNvSpPr txBox="1"/>
          <p:nvPr/>
        </p:nvSpPr>
        <p:spPr>
          <a:xfrm>
            <a:off x="960120" y="1389634"/>
            <a:ext cx="5501487" cy="150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720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FFFFFF"/>
                </a:solidFill>
                <a:latin typeface="Segoe UI Semibold"/>
              </a:rPr>
              <a:t>Inducto Learning Library</a:t>
            </a:r>
          </a:p>
        </p:txBody>
      </p:sp>
      <p:cxnSp>
        <p:nvCxnSpPr>
          <p:cNvPr id="21" name="vis:rule"/>
          <p:cNvCxnSpPr/>
          <p:nvPr/>
        </p:nvCxnSpPr>
        <p:spPr>
          <a:xfrm>
            <a:off x="960120" y="3171698"/>
            <a:ext cx="3606698" cy="0"/>
          </a:xfrm>
          <a:prstGeom prst="line">
            <a:avLst/>
          </a:prstGeom>
          <a:ln w="1270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body:coversub"/>
          <p:cNvSpPr txBox="1"/>
          <p:nvPr/>
        </p:nvSpPr>
        <p:spPr>
          <a:xfrm>
            <a:off x="960120" y="3446018"/>
            <a:ext cx="5501487" cy="11445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9D1DE"/>
                </a:solidFill>
                <a:latin typeface="Segoe UI"/>
              </a:rPr>
              <a:t>Thirty-nine modules across five tracks. Start anywhere — every module works on its own.</a:t>
            </a:r>
          </a:p>
        </p:txBody>
      </p:sp>
      <p:sp>
        <p:nvSpPr>
          <p:cNvPr id="23" name="vis:chip"/>
          <p:cNvSpPr/>
          <p:nvPr/>
        </p:nvSpPr>
        <p:spPr>
          <a:xfrm>
            <a:off x="960120" y="4992878"/>
            <a:ext cx="1002333" cy="310896"/>
          </a:xfrm>
          <a:prstGeom prst="roundRect">
            <a:avLst>
              <a:gd name="adj" fmla="val 14705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chiptext"/>
          <p:cNvSpPr txBox="1"/>
          <p:nvPr/>
        </p:nvSpPr>
        <p:spPr>
          <a:xfrm>
            <a:off x="1115568" y="5038598"/>
            <a:ext cx="69143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INDEX</a:t>
            </a:r>
          </a:p>
        </p:txBody>
      </p:sp>
      <p:sp>
        <p:nvSpPr>
          <p:cNvPr id="25" name="vis:chip"/>
          <p:cNvSpPr/>
          <p:nvPr/>
        </p:nvSpPr>
        <p:spPr>
          <a:xfrm>
            <a:off x="2108757" y="4992878"/>
            <a:ext cx="1384554" cy="310896"/>
          </a:xfrm>
          <a:prstGeom prst="roundRect">
            <a:avLst>
              <a:gd name="adj" fmla="val 14705"/>
            </a:avLst>
          </a:prstGeom>
          <a:noFill/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chiptext"/>
          <p:cNvSpPr txBox="1"/>
          <p:nvPr/>
        </p:nvSpPr>
        <p:spPr>
          <a:xfrm>
            <a:off x="2264205" y="5038598"/>
            <a:ext cx="107365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C9D1DE"/>
                </a:solidFill>
                <a:latin typeface="Segoe UI Semibold"/>
              </a:rPr>
              <a:t>5 MINUTES</a:t>
            </a:r>
          </a:p>
        </p:txBody>
      </p:sp>
      <p:sp>
        <p:nvSpPr>
          <p:cNvPr id="27" name="vis:chip"/>
          <p:cNvSpPr/>
          <p:nvPr/>
        </p:nvSpPr>
        <p:spPr>
          <a:xfrm>
            <a:off x="3639615" y="4992878"/>
            <a:ext cx="1448004" cy="310896"/>
          </a:xfrm>
          <a:prstGeom prst="roundRect">
            <a:avLst>
              <a:gd name="adj" fmla="val 14705"/>
            </a:avLst>
          </a:prstGeom>
          <a:noFill/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chiptext"/>
          <p:cNvSpPr txBox="1"/>
          <p:nvPr/>
        </p:nvSpPr>
        <p:spPr>
          <a:xfrm>
            <a:off x="3795063" y="5038598"/>
            <a:ext cx="11371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C9D1DE"/>
                </a:solidFill>
                <a:latin typeface="Segoe UI Semibold"/>
              </a:rPr>
              <a:t>EVERYBODY</a:t>
            </a:r>
          </a:p>
        </p:txBody>
      </p:sp>
      <p:sp>
        <p:nvSpPr>
          <p:cNvPr id="29" name="cell:coverhint"/>
          <p:cNvSpPr txBox="1"/>
          <p:nvPr/>
        </p:nvSpPr>
        <p:spPr>
          <a:xfrm>
            <a:off x="960120" y="5724144"/>
            <a:ext cx="5501487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48D9A"/>
                </a:solidFill>
                <a:latin typeface="Segoe UI"/>
              </a:rPr>
              <a:t>Start here  →  the next slide shows what this saves you.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48D9A"/>
                </a:solidFill>
                <a:latin typeface="Segoe UI"/>
              </a:rPr>
              <a:t>INDEX  ·  Master index</a:t>
            </a:r>
          </a:p>
        </p:txBody>
      </p:sp>
      <p:sp>
        <p:nvSpPr>
          <p:cNvPr id="31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48D9A"/>
                </a:solidFill>
                <a:latin typeface="Segoe UI"/>
              </a:rPr>
              <a:t>Inducto Learning Library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HOW TO USE THIS LIBRARY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Start anywhere. Nothing is locked.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INDEX  ·  Master index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checktile"/>
          <p:cNvSpPr/>
          <p:nvPr/>
        </p:nvSpPr>
        <p:spPr>
          <a:xfrm>
            <a:off x="502920" y="2340864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checkdot"/>
          <p:cNvSpPr/>
          <p:nvPr/>
        </p:nvSpPr>
        <p:spPr>
          <a:xfrm>
            <a:off x="722376" y="2894076"/>
            <a:ext cx="310896" cy="310896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815279" y="3052998"/>
            <a:ext cx="45171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vis:icon"/>
          <p:cNvCxnSpPr/>
          <p:nvPr/>
        </p:nvCxnSpPr>
        <p:spPr>
          <a:xfrm flipV="1">
            <a:off x="860450" y="3000877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ell:checkitem"/>
          <p:cNvSpPr txBox="1"/>
          <p:nvPr/>
        </p:nvSpPr>
        <p:spPr>
          <a:xfrm>
            <a:off x="1161288" y="2487168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Every module stands alone. You never need to have done another one first.</a:t>
            </a:r>
          </a:p>
        </p:txBody>
      </p:sp>
      <p:sp>
        <p:nvSpPr>
          <p:cNvPr id="20" name="vis:checktile"/>
          <p:cNvSpPr/>
          <p:nvPr/>
        </p:nvSpPr>
        <p:spPr>
          <a:xfrm>
            <a:off x="6205575" y="2340864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checkdot"/>
          <p:cNvSpPr/>
          <p:nvPr/>
        </p:nvSpPr>
        <p:spPr>
          <a:xfrm>
            <a:off x="6425031" y="2894076"/>
            <a:ext cx="310896" cy="310896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2" name="vis:icon"/>
          <p:cNvCxnSpPr/>
          <p:nvPr/>
        </p:nvCxnSpPr>
        <p:spPr>
          <a:xfrm>
            <a:off x="6517934" y="3052998"/>
            <a:ext cx="45172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s:icon"/>
          <p:cNvCxnSpPr/>
          <p:nvPr/>
        </p:nvCxnSpPr>
        <p:spPr>
          <a:xfrm flipV="1">
            <a:off x="6563106" y="3000877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ell:checkitem"/>
          <p:cNvSpPr txBox="1"/>
          <p:nvPr/>
        </p:nvSpPr>
        <p:spPr>
          <a:xfrm>
            <a:off x="6863943" y="2487168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Open a deck and press F5 or Slide Show. The menu and quiz only work in that mode.</a:t>
            </a:r>
          </a:p>
        </p:txBody>
      </p:sp>
      <p:sp>
        <p:nvSpPr>
          <p:cNvPr id="25" name="vis:checktile"/>
          <p:cNvSpPr/>
          <p:nvPr/>
        </p:nvSpPr>
        <p:spPr>
          <a:xfrm>
            <a:off x="502920" y="3977639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checkdot"/>
          <p:cNvSpPr/>
          <p:nvPr/>
        </p:nvSpPr>
        <p:spPr>
          <a:xfrm>
            <a:off x="722376" y="4530852"/>
            <a:ext cx="310896" cy="310896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7" name="vis:icon"/>
          <p:cNvCxnSpPr/>
          <p:nvPr/>
        </p:nvCxnSpPr>
        <p:spPr>
          <a:xfrm>
            <a:off x="815279" y="4689774"/>
            <a:ext cx="45171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vis:icon"/>
          <p:cNvCxnSpPr/>
          <p:nvPr/>
        </p:nvCxnSpPr>
        <p:spPr>
          <a:xfrm flipV="1">
            <a:off x="860450" y="4637653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ell:checkitem"/>
          <p:cNvSpPr txBox="1"/>
          <p:nvPr/>
        </p:nvSpPr>
        <p:spPr>
          <a:xfrm>
            <a:off x="1161288" y="4123944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Each module takes 15 to 20 minutes and ends with a recap card you can screenshot.</a:t>
            </a:r>
          </a:p>
        </p:txBody>
      </p:sp>
      <p:sp>
        <p:nvSpPr>
          <p:cNvPr id="30" name="vis:checktile"/>
          <p:cNvSpPr/>
          <p:nvPr/>
        </p:nvSpPr>
        <p:spPr>
          <a:xfrm>
            <a:off x="6205575" y="3977639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vis:checkdot"/>
          <p:cNvSpPr/>
          <p:nvPr/>
        </p:nvSpPr>
        <p:spPr>
          <a:xfrm>
            <a:off x="6425031" y="4530852"/>
            <a:ext cx="310896" cy="310896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2" name="vis:icon"/>
          <p:cNvCxnSpPr/>
          <p:nvPr/>
        </p:nvCxnSpPr>
        <p:spPr>
          <a:xfrm>
            <a:off x="6517934" y="4689774"/>
            <a:ext cx="45172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vis:icon"/>
          <p:cNvCxnSpPr/>
          <p:nvPr/>
        </p:nvCxnSpPr>
        <p:spPr>
          <a:xfrm flipV="1">
            <a:off x="6563106" y="4637653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ell:checkitem"/>
          <p:cNvSpPr txBox="1"/>
          <p:nvPr/>
        </p:nvSpPr>
        <p:spPr>
          <a:xfrm>
            <a:off x="6863943" y="4123944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The quizzes are for you. Nothing is recorded and nobody sees your answers.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INTERACTIVE MENU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Tap a track or a learning path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INDEX  ·  Master index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cell:menuhint"/>
          <p:cNvSpPr txBox="1"/>
          <p:nvPr/>
        </p:nvSpPr>
        <p:spPr>
          <a:xfrm>
            <a:off x="502920" y="1554480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Every slide has a Menu button in the top-right corner to bring you back here.</a:t>
            </a:r>
          </a:p>
        </p:txBody>
      </p:sp>
      <p:sp>
        <p:nvSpPr>
          <p:cNvPr id="8" name="nav:menurow">
            <a:hlinkClick action="ppaction://hlinksldjump" r:id="rId2"/>
          </p:cNvPr>
          <p:cNvSpPr/>
          <p:nvPr/>
        </p:nvSpPr>
        <p:spPr>
          <a:xfrm>
            <a:off x="502920" y="1828800"/>
            <a:ext cx="11185855" cy="443484"/>
          </a:xfrm>
          <a:prstGeom prst="roundRect">
            <a:avLst>
              <a:gd name="adj" fmla="val 164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vis:menubar"/>
          <p:cNvSpPr/>
          <p:nvPr/>
        </p:nvSpPr>
        <p:spPr>
          <a:xfrm>
            <a:off x="502920" y="1828800"/>
            <a:ext cx="68580" cy="443484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vis:menunum"/>
          <p:cNvSpPr txBox="1"/>
          <p:nvPr/>
        </p:nvSpPr>
        <p:spPr>
          <a:xfrm>
            <a:off x="813816" y="1883664"/>
            <a:ext cx="402336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F4BC4"/>
                </a:solidFill>
                <a:latin typeface="Segoe UI Semibold"/>
              </a:rPr>
              <a:t>01</a:t>
            </a:r>
          </a:p>
        </p:txBody>
      </p:sp>
      <p:sp>
        <p:nvSpPr>
          <p:cNvPr id="11" name="cell:menulabel"/>
          <p:cNvSpPr txBox="1"/>
          <p:nvPr/>
        </p:nvSpPr>
        <p:spPr>
          <a:xfrm>
            <a:off x="1344168" y="1883664"/>
            <a:ext cx="4554093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1826"/>
                </a:solidFill>
                <a:latin typeface="Segoe UI Semibold"/>
              </a:rPr>
              <a:t>AI Courses</a:t>
            </a:r>
          </a:p>
        </p:txBody>
      </p:sp>
      <p:sp>
        <p:nvSpPr>
          <p:cNvPr id="12" name="cell:menusub"/>
          <p:cNvSpPr txBox="1"/>
          <p:nvPr/>
        </p:nvSpPr>
        <p:spPr>
          <a:xfrm>
            <a:off x="7134682" y="1883664"/>
            <a:ext cx="3606698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5 modules</a:t>
            </a:r>
          </a:p>
        </p:txBody>
      </p:sp>
      <p:cxnSp>
        <p:nvCxnSpPr>
          <p:cNvPr id="13" name="vis:menuarrow"/>
          <p:cNvCxnSpPr/>
          <p:nvPr/>
        </p:nvCxnSpPr>
        <p:spPr>
          <a:xfrm>
            <a:off x="11213287" y="2050542"/>
            <a:ext cx="219456" cy="0"/>
          </a:xfrm>
          <a:prstGeom prst="line">
            <a:avLst/>
          </a:prstGeom>
          <a:ln w="19050">
            <a:solidFill>
              <a:srgbClr val="2F4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row">
            <a:hlinkClick action="ppaction://hlinksldjump" r:id="rId3"/>
          </p:cNvPr>
          <p:cNvSpPr/>
          <p:nvPr/>
        </p:nvSpPr>
        <p:spPr>
          <a:xfrm>
            <a:off x="502920" y="2363724"/>
            <a:ext cx="11185855" cy="443484"/>
          </a:xfrm>
          <a:prstGeom prst="roundRect">
            <a:avLst>
              <a:gd name="adj" fmla="val 164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vis:menubar"/>
          <p:cNvSpPr/>
          <p:nvPr/>
        </p:nvSpPr>
        <p:spPr>
          <a:xfrm>
            <a:off x="502920" y="2363724"/>
            <a:ext cx="68580" cy="443484"/>
          </a:xfrm>
          <a:prstGeom prst="rect">
            <a:avLst/>
          </a:prstGeom>
          <a:solidFill>
            <a:srgbClr val="0E6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menunum"/>
          <p:cNvSpPr txBox="1"/>
          <p:nvPr/>
        </p:nvSpPr>
        <p:spPr>
          <a:xfrm>
            <a:off x="813816" y="2418588"/>
            <a:ext cx="402336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6E75"/>
                </a:solidFill>
                <a:latin typeface="Segoe UI Semibold"/>
              </a:rPr>
              <a:t>02</a:t>
            </a:r>
          </a:p>
        </p:txBody>
      </p:sp>
      <p:sp>
        <p:nvSpPr>
          <p:cNvPr id="17" name="cell:menulabel"/>
          <p:cNvSpPr txBox="1"/>
          <p:nvPr/>
        </p:nvSpPr>
        <p:spPr>
          <a:xfrm>
            <a:off x="1344168" y="2418588"/>
            <a:ext cx="4554093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1826"/>
                </a:solidFill>
                <a:latin typeface="Segoe UI Semibold"/>
              </a:rPr>
              <a:t>AI for Day-to-Day Work</a:t>
            </a:r>
          </a:p>
        </p:txBody>
      </p:sp>
      <p:sp>
        <p:nvSpPr>
          <p:cNvPr id="18" name="cell:menusub"/>
          <p:cNvSpPr txBox="1"/>
          <p:nvPr/>
        </p:nvSpPr>
        <p:spPr>
          <a:xfrm>
            <a:off x="7134682" y="2418588"/>
            <a:ext cx="3606698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11 modules</a:t>
            </a:r>
          </a:p>
        </p:txBody>
      </p:sp>
      <p:cxnSp>
        <p:nvCxnSpPr>
          <p:cNvPr id="19" name="vis:menuarrow"/>
          <p:cNvCxnSpPr/>
          <p:nvPr/>
        </p:nvCxnSpPr>
        <p:spPr>
          <a:xfrm>
            <a:off x="11213287" y="2585466"/>
            <a:ext cx="219456" cy="0"/>
          </a:xfrm>
          <a:prstGeom prst="line">
            <a:avLst/>
          </a:prstGeom>
          <a:ln w="19050">
            <a:solidFill>
              <a:srgbClr val="0E6E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nav:menurow">
            <a:hlinkClick action="ppaction://hlinksldjump" r:id="rId4"/>
          </p:cNvPr>
          <p:cNvSpPr/>
          <p:nvPr/>
        </p:nvSpPr>
        <p:spPr>
          <a:xfrm>
            <a:off x="502920" y="2898648"/>
            <a:ext cx="11185855" cy="443484"/>
          </a:xfrm>
          <a:prstGeom prst="roundRect">
            <a:avLst>
              <a:gd name="adj" fmla="val 164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menubar"/>
          <p:cNvSpPr/>
          <p:nvPr/>
        </p:nvSpPr>
        <p:spPr>
          <a:xfrm>
            <a:off x="502920" y="2898648"/>
            <a:ext cx="68580" cy="443484"/>
          </a:xfrm>
          <a:prstGeom prst="rect">
            <a:avLst/>
          </a:prstGeom>
          <a:solidFill>
            <a:srgbClr val="6A2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menunum"/>
          <p:cNvSpPr txBox="1"/>
          <p:nvPr/>
        </p:nvSpPr>
        <p:spPr>
          <a:xfrm>
            <a:off x="813816" y="2953512"/>
            <a:ext cx="402336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A2FA0"/>
                </a:solidFill>
                <a:latin typeface="Segoe UI Semibold"/>
              </a:rPr>
              <a:t>03</a:t>
            </a:r>
          </a:p>
        </p:txBody>
      </p:sp>
      <p:sp>
        <p:nvSpPr>
          <p:cNvPr id="23" name="cell:menulabel"/>
          <p:cNvSpPr txBox="1"/>
          <p:nvPr/>
        </p:nvSpPr>
        <p:spPr>
          <a:xfrm>
            <a:off x="1344168" y="2953512"/>
            <a:ext cx="4554093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1826"/>
                </a:solidFill>
                <a:latin typeface="Segoe UI Semibold"/>
              </a:rPr>
              <a:t>Prompt Engineering</a:t>
            </a:r>
          </a:p>
        </p:txBody>
      </p:sp>
      <p:sp>
        <p:nvSpPr>
          <p:cNvPr id="24" name="cell:menusub"/>
          <p:cNvSpPr txBox="1"/>
          <p:nvPr/>
        </p:nvSpPr>
        <p:spPr>
          <a:xfrm>
            <a:off x="7134682" y="2953512"/>
            <a:ext cx="3606698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7 modules</a:t>
            </a:r>
          </a:p>
        </p:txBody>
      </p:sp>
      <p:cxnSp>
        <p:nvCxnSpPr>
          <p:cNvPr id="25" name="vis:menuarrow"/>
          <p:cNvCxnSpPr/>
          <p:nvPr/>
        </p:nvCxnSpPr>
        <p:spPr>
          <a:xfrm>
            <a:off x="11213287" y="3120390"/>
            <a:ext cx="219456" cy="0"/>
          </a:xfrm>
          <a:prstGeom prst="line">
            <a:avLst/>
          </a:prstGeom>
          <a:ln w="19050">
            <a:solidFill>
              <a:srgbClr val="6A2F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nav:menurow">
            <a:hlinkClick action="ppaction://hlinksldjump" r:id="rId5"/>
          </p:cNvPr>
          <p:cNvSpPr/>
          <p:nvPr/>
        </p:nvSpPr>
        <p:spPr>
          <a:xfrm>
            <a:off x="502920" y="3433572"/>
            <a:ext cx="11185855" cy="443484"/>
          </a:xfrm>
          <a:prstGeom prst="roundRect">
            <a:avLst>
              <a:gd name="adj" fmla="val 164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vis:menubar"/>
          <p:cNvSpPr/>
          <p:nvPr/>
        </p:nvSpPr>
        <p:spPr>
          <a:xfrm>
            <a:off x="502920" y="3433572"/>
            <a:ext cx="68580" cy="443484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menunum"/>
          <p:cNvSpPr txBox="1"/>
          <p:nvPr/>
        </p:nvSpPr>
        <p:spPr>
          <a:xfrm>
            <a:off x="813816" y="3488436"/>
            <a:ext cx="402336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5A00"/>
                </a:solidFill>
                <a:latin typeface="Segoe UI Semibold"/>
              </a:rPr>
              <a:t>04</a:t>
            </a:r>
          </a:p>
        </p:txBody>
      </p:sp>
      <p:sp>
        <p:nvSpPr>
          <p:cNvPr id="29" name="cell:menulabel"/>
          <p:cNvSpPr txBox="1"/>
          <p:nvPr/>
        </p:nvSpPr>
        <p:spPr>
          <a:xfrm>
            <a:off x="1344168" y="3488436"/>
            <a:ext cx="4554093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1826"/>
                </a:solidFill>
                <a:latin typeface="Segoe UI Semibold"/>
              </a:rPr>
              <a:t>Professional Skills</a:t>
            </a:r>
          </a:p>
        </p:txBody>
      </p:sp>
      <p:sp>
        <p:nvSpPr>
          <p:cNvPr id="30" name="cell:menusub"/>
          <p:cNvSpPr txBox="1"/>
          <p:nvPr/>
        </p:nvSpPr>
        <p:spPr>
          <a:xfrm>
            <a:off x="7134682" y="3488436"/>
            <a:ext cx="3606698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9 modules</a:t>
            </a:r>
          </a:p>
        </p:txBody>
      </p:sp>
      <p:cxnSp>
        <p:nvCxnSpPr>
          <p:cNvPr id="31" name="vis:menuarrow"/>
          <p:cNvCxnSpPr/>
          <p:nvPr/>
        </p:nvCxnSpPr>
        <p:spPr>
          <a:xfrm>
            <a:off x="11213287" y="3655314"/>
            <a:ext cx="219456" cy="0"/>
          </a:xfrm>
          <a:prstGeom prst="line">
            <a:avLst/>
          </a:prstGeom>
          <a:ln w="19050">
            <a:solidFill>
              <a:srgbClr val="8A5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nav:menurow">
            <a:hlinkClick action="ppaction://hlinksldjump" r:id="rId6"/>
          </p:cNvPr>
          <p:cNvSpPr/>
          <p:nvPr/>
        </p:nvSpPr>
        <p:spPr>
          <a:xfrm>
            <a:off x="502920" y="3968496"/>
            <a:ext cx="11185855" cy="443484"/>
          </a:xfrm>
          <a:prstGeom prst="roundRect">
            <a:avLst>
              <a:gd name="adj" fmla="val 164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vis:menubar"/>
          <p:cNvSpPr/>
          <p:nvPr/>
        </p:nvSpPr>
        <p:spPr>
          <a:xfrm>
            <a:off x="502920" y="3968496"/>
            <a:ext cx="68580" cy="443484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vis:menunum"/>
          <p:cNvSpPr txBox="1"/>
          <p:nvPr/>
        </p:nvSpPr>
        <p:spPr>
          <a:xfrm>
            <a:off x="813816" y="4023359"/>
            <a:ext cx="402336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1220"/>
                </a:solidFill>
                <a:latin typeface="Segoe UI Semibold"/>
              </a:rPr>
              <a:t>05</a:t>
            </a:r>
          </a:p>
        </p:txBody>
      </p:sp>
      <p:sp>
        <p:nvSpPr>
          <p:cNvPr id="35" name="cell:menulabel"/>
          <p:cNvSpPr txBox="1"/>
          <p:nvPr/>
        </p:nvSpPr>
        <p:spPr>
          <a:xfrm>
            <a:off x="1344168" y="4023359"/>
            <a:ext cx="4554093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1826"/>
                </a:solidFill>
                <a:latin typeface="Segoe UI Semibold"/>
              </a:rPr>
              <a:t>Security &amp; Data Privacy</a:t>
            </a:r>
          </a:p>
        </p:txBody>
      </p:sp>
      <p:sp>
        <p:nvSpPr>
          <p:cNvPr id="36" name="cell:menusub"/>
          <p:cNvSpPr txBox="1"/>
          <p:nvPr/>
        </p:nvSpPr>
        <p:spPr>
          <a:xfrm>
            <a:off x="7134682" y="4023359"/>
            <a:ext cx="3606698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7 modules</a:t>
            </a:r>
          </a:p>
        </p:txBody>
      </p:sp>
      <p:cxnSp>
        <p:nvCxnSpPr>
          <p:cNvPr id="37" name="vis:menuarrow"/>
          <p:cNvCxnSpPr/>
          <p:nvPr/>
        </p:nvCxnSpPr>
        <p:spPr>
          <a:xfrm>
            <a:off x="11213287" y="4190237"/>
            <a:ext cx="219456" cy="0"/>
          </a:xfrm>
          <a:prstGeom prst="line">
            <a:avLst/>
          </a:prstGeom>
          <a:ln w="19050">
            <a:solidFill>
              <a:srgbClr val="7A12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nav:menurow">
            <a:hlinkClick action="ppaction://hlinksldjump" r:id="rId7"/>
          </p:cNvPr>
          <p:cNvSpPr/>
          <p:nvPr/>
        </p:nvSpPr>
        <p:spPr>
          <a:xfrm>
            <a:off x="502920" y="4503420"/>
            <a:ext cx="11185855" cy="443484"/>
          </a:xfrm>
          <a:prstGeom prst="roundRect">
            <a:avLst>
              <a:gd name="adj" fmla="val 164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vis:menubar"/>
          <p:cNvSpPr/>
          <p:nvPr/>
        </p:nvSpPr>
        <p:spPr>
          <a:xfrm>
            <a:off x="502920" y="4503420"/>
            <a:ext cx="68580" cy="443484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0" name="vis:menunum"/>
          <p:cNvSpPr txBox="1"/>
          <p:nvPr/>
        </p:nvSpPr>
        <p:spPr>
          <a:xfrm>
            <a:off x="813816" y="4558283"/>
            <a:ext cx="402336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F4BC4"/>
                </a:solidFill>
                <a:latin typeface="Segoe UI Semibold"/>
              </a:rPr>
              <a:t>06</a:t>
            </a:r>
          </a:p>
        </p:txBody>
      </p:sp>
      <p:sp>
        <p:nvSpPr>
          <p:cNvPr id="41" name="cell:menulabel"/>
          <p:cNvSpPr txBox="1"/>
          <p:nvPr/>
        </p:nvSpPr>
        <p:spPr>
          <a:xfrm>
            <a:off x="1344168" y="4558283"/>
            <a:ext cx="4554093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1826"/>
                </a:solidFill>
                <a:latin typeface="Segoe UI Semibold"/>
              </a:rPr>
              <a:t>New Joiner — Week 1</a:t>
            </a:r>
          </a:p>
        </p:txBody>
      </p:sp>
      <p:sp>
        <p:nvSpPr>
          <p:cNvPr id="42" name="cell:menusub"/>
          <p:cNvSpPr txBox="1"/>
          <p:nvPr/>
        </p:nvSpPr>
        <p:spPr>
          <a:xfrm>
            <a:off x="7134682" y="4558283"/>
            <a:ext cx="3606698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Six modules, about 100 minutes</a:t>
            </a:r>
          </a:p>
        </p:txBody>
      </p:sp>
      <p:cxnSp>
        <p:nvCxnSpPr>
          <p:cNvPr id="43" name="vis:menuarrow"/>
          <p:cNvCxnSpPr/>
          <p:nvPr/>
        </p:nvCxnSpPr>
        <p:spPr>
          <a:xfrm>
            <a:off x="11213287" y="4725162"/>
            <a:ext cx="219456" cy="0"/>
          </a:xfrm>
          <a:prstGeom prst="line">
            <a:avLst/>
          </a:prstGeom>
          <a:ln w="19050">
            <a:solidFill>
              <a:srgbClr val="2F4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nav:menurow">
            <a:hlinkClick action="ppaction://hlinksldjump" r:id="rId8"/>
          </p:cNvPr>
          <p:cNvSpPr/>
          <p:nvPr/>
        </p:nvSpPr>
        <p:spPr>
          <a:xfrm>
            <a:off x="502920" y="5038344"/>
            <a:ext cx="11185855" cy="443484"/>
          </a:xfrm>
          <a:prstGeom prst="roundRect">
            <a:avLst>
              <a:gd name="adj" fmla="val 164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5" name="vis:menubar"/>
          <p:cNvSpPr/>
          <p:nvPr/>
        </p:nvSpPr>
        <p:spPr>
          <a:xfrm>
            <a:off x="502920" y="5038344"/>
            <a:ext cx="68580" cy="443484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6" name="vis:menunum"/>
          <p:cNvSpPr txBox="1"/>
          <p:nvPr/>
        </p:nvSpPr>
        <p:spPr>
          <a:xfrm>
            <a:off x="813816" y="5093207"/>
            <a:ext cx="402336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F4BC4"/>
                </a:solidFill>
                <a:latin typeface="Segoe UI Semibold"/>
              </a:rPr>
              <a:t>07</a:t>
            </a:r>
          </a:p>
        </p:txBody>
      </p:sp>
      <p:sp>
        <p:nvSpPr>
          <p:cNvPr id="47" name="cell:menulabel"/>
          <p:cNvSpPr txBox="1"/>
          <p:nvPr/>
        </p:nvSpPr>
        <p:spPr>
          <a:xfrm>
            <a:off x="1344168" y="5093207"/>
            <a:ext cx="4554093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1826"/>
                </a:solidFill>
                <a:latin typeface="Segoe UI Semibold"/>
              </a:rPr>
              <a:t>AI Basics</a:t>
            </a:r>
          </a:p>
        </p:txBody>
      </p:sp>
      <p:sp>
        <p:nvSpPr>
          <p:cNvPr id="48" name="cell:menusub"/>
          <p:cNvSpPr txBox="1"/>
          <p:nvPr/>
        </p:nvSpPr>
        <p:spPr>
          <a:xfrm>
            <a:off x="7134682" y="5093207"/>
            <a:ext cx="3606698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Six modules, about 110 minutes</a:t>
            </a:r>
          </a:p>
        </p:txBody>
      </p:sp>
      <p:cxnSp>
        <p:nvCxnSpPr>
          <p:cNvPr id="49" name="vis:menuarrow"/>
          <p:cNvCxnSpPr/>
          <p:nvPr/>
        </p:nvCxnSpPr>
        <p:spPr>
          <a:xfrm>
            <a:off x="11213287" y="5260086"/>
            <a:ext cx="219456" cy="0"/>
          </a:xfrm>
          <a:prstGeom prst="line">
            <a:avLst/>
          </a:prstGeom>
          <a:ln w="19050">
            <a:solidFill>
              <a:srgbClr val="2F4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nav:menurow">
            <a:hlinkClick action="ppaction://hlinksldjump" r:id="rId9"/>
          </p:cNvPr>
          <p:cNvSpPr/>
          <p:nvPr/>
        </p:nvSpPr>
        <p:spPr>
          <a:xfrm>
            <a:off x="502920" y="5573268"/>
            <a:ext cx="11185855" cy="443484"/>
          </a:xfrm>
          <a:prstGeom prst="roundRect">
            <a:avLst>
              <a:gd name="adj" fmla="val 164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1" name="vis:menubar"/>
          <p:cNvSpPr/>
          <p:nvPr/>
        </p:nvSpPr>
        <p:spPr>
          <a:xfrm>
            <a:off x="502920" y="5573268"/>
            <a:ext cx="68580" cy="443484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2" name="vis:menunum"/>
          <p:cNvSpPr txBox="1"/>
          <p:nvPr/>
        </p:nvSpPr>
        <p:spPr>
          <a:xfrm>
            <a:off x="813816" y="5628131"/>
            <a:ext cx="402336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F4BC4"/>
                </a:solidFill>
                <a:latin typeface="Segoe UI Semibold"/>
              </a:rPr>
              <a:t>08</a:t>
            </a:r>
          </a:p>
        </p:txBody>
      </p:sp>
      <p:sp>
        <p:nvSpPr>
          <p:cNvPr id="53" name="cell:menulabel"/>
          <p:cNvSpPr txBox="1"/>
          <p:nvPr/>
        </p:nvSpPr>
        <p:spPr>
          <a:xfrm>
            <a:off x="1344168" y="5628131"/>
            <a:ext cx="4554093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1826"/>
                </a:solidFill>
                <a:latin typeface="Segoe UI Semibold"/>
              </a:rPr>
              <a:t>Manager track</a:t>
            </a:r>
          </a:p>
        </p:txBody>
      </p:sp>
      <p:sp>
        <p:nvSpPr>
          <p:cNvPr id="54" name="cell:menusub"/>
          <p:cNvSpPr txBox="1"/>
          <p:nvPr/>
        </p:nvSpPr>
        <p:spPr>
          <a:xfrm>
            <a:off x="7134682" y="5628131"/>
            <a:ext cx="3606698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Six modules, about 100 minutes</a:t>
            </a:r>
          </a:p>
        </p:txBody>
      </p:sp>
      <p:cxnSp>
        <p:nvCxnSpPr>
          <p:cNvPr id="55" name="vis:menuarrow"/>
          <p:cNvCxnSpPr/>
          <p:nvPr/>
        </p:nvCxnSpPr>
        <p:spPr>
          <a:xfrm>
            <a:off x="11213287" y="5795009"/>
            <a:ext cx="219456" cy="0"/>
          </a:xfrm>
          <a:prstGeom prst="line">
            <a:avLst/>
          </a:prstGeom>
          <a:ln w="19050">
            <a:solidFill>
              <a:srgbClr val="2F4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AI COURSES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5 modules in this track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INDEX  ·  Master index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7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cell:areablurb"/>
          <p:cNvSpPr txBox="1"/>
          <p:nvPr/>
        </p:nvSpPr>
        <p:spPr>
          <a:xfrm>
            <a:off x="502920" y="1554480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What AI is, what it can do, and where it breaks.  Click any row to open that module.</a:t>
            </a:r>
          </a:p>
        </p:txBody>
      </p:sp>
      <p:sp>
        <p:nvSpPr>
          <p:cNvPr id="16" name="nav:modulerow">
            <a:hlinkClick r:id="rId2"/>
          </p:cNvPr>
          <p:cNvSpPr/>
          <p:nvPr/>
        </p:nvSpPr>
        <p:spPr>
          <a:xfrm>
            <a:off x="502920" y="1828800"/>
            <a:ext cx="11185855" cy="749808"/>
          </a:xfrm>
          <a:prstGeom prst="roundRect">
            <a:avLst>
              <a:gd name="adj" fmla="val 975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rowbar"/>
          <p:cNvSpPr/>
          <p:nvPr/>
        </p:nvSpPr>
        <p:spPr>
          <a:xfrm>
            <a:off x="502920" y="1828800"/>
            <a:ext cx="54864" cy="749808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cell:rowcode"/>
          <p:cNvSpPr txBox="1"/>
          <p:nvPr/>
        </p:nvSpPr>
        <p:spPr>
          <a:xfrm>
            <a:off x="722376" y="1883664"/>
            <a:ext cx="78638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AI-01</a:t>
            </a:r>
          </a:p>
        </p:txBody>
      </p:sp>
      <p:sp>
        <p:nvSpPr>
          <p:cNvPr id="19" name="cell:rowtitle"/>
          <p:cNvSpPr txBox="1"/>
          <p:nvPr/>
        </p:nvSpPr>
        <p:spPr>
          <a:xfrm>
            <a:off x="1563624" y="1883664"/>
            <a:ext cx="93570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AI Fundamentals</a:t>
            </a:r>
          </a:p>
        </p:txBody>
      </p:sp>
      <p:sp>
        <p:nvSpPr>
          <p:cNvPr id="20" name="cell:rowmins"/>
          <p:cNvSpPr txBox="1"/>
          <p:nvPr/>
        </p:nvSpPr>
        <p:spPr>
          <a:xfrm>
            <a:off x="10902391" y="1883664"/>
            <a:ext cx="60350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18 min</a:t>
            </a:r>
          </a:p>
        </p:txBody>
      </p:sp>
      <p:sp>
        <p:nvSpPr>
          <p:cNvPr id="21" name="nav:modulerow">
            <a:hlinkClick r:id="rId3"/>
          </p:cNvPr>
          <p:cNvSpPr/>
          <p:nvPr/>
        </p:nvSpPr>
        <p:spPr>
          <a:xfrm>
            <a:off x="502920" y="2688336"/>
            <a:ext cx="11185855" cy="749808"/>
          </a:xfrm>
          <a:prstGeom prst="roundRect">
            <a:avLst>
              <a:gd name="adj" fmla="val 975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rowbar"/>
          <p:cNvSpPr/>
          <p:nvPr/>
        </p:nvSpPr>
        <p:spPr>
          <a:xfrm>
            <a:off x="502920" y="2688336"/>
            <a:ext cx="54864" cy="749808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cell:rowcode"/>
          <p:cNvSpPr txBox="1"/>
          <p:nvPr/>
        </p:nvSpPr>
        <p:spPr>
          <a:xfrm>
            <a:off x="722376" y="2743200"/>
            <a:ext cx="78638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AI-02</a:t>
            </a:r>
          </a:p>
        </p:txBody>
      </p:sp>
      <p:sp>
        <p:nvSpPr>
          <p:cNvPr id="24" name="cell:rowtitle"/>
          <p:cNvSpPr txBox="1"/>
          <p:nvPr/>
        </p:nvSpPr>
        <p:spPr>
          <a:xfrm>
            <a:off x="1563624" y="2743200"/>
            <a:ext cx="93570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Generative AI</a:t>
            </a:r>
          </a:p>
        </p:txBody>
      </p:sp>
      <p:sp>
        <p:nvSpPr>
          <p:cNvPr id="25" name="cell:rowmins"/>
          <p:cNvSpPr txBox="1"/>
          <p:nvPr/>
        </p:nvSpPr>
        <p:spPr>
          <a:xfrm>
            <a:off x="10902391" y="2743200"/>
            <a:ext cx="60350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18 min</a:t>
            </a:r>
          </a:p>
        </p:txBody>
      </p:sp>
      <p:sp>
        <p:nvSpPr>
          <p:cNvPr id="26" name="nav:modulerow">
            <a:hlinkClick r:id="rId4"/>
          </p:cNvPr>
          <p:cNvSpPr/>
          <p:nvPr/>
        </p:nvSpPr>
        <p:spPr>
          <a:xfrm>
            <a:off x="502920" y="3547872"/>
            <a:ext cx="11185855" cy="749808"/>
          </a:xfrm>
          <a:prstGeom prst="roundRect">
            <a:avLst>
              <a:gd name="adj" fmla="val 975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vis:rowbar"/>
          <p:cNvSpPr/>
          <p:nvPr/>
        </p:nvSpPr>
        <p:spPr>
          <a:xfrm>
            <a:off x="502920" y="3547872"/>
            <a:ext cx="54864" cy="749808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cell:rowcode"/>
          <p:cNvSpPr txBox="1"/>
          <p:nvPr/>
        </p:nvSpPr>
        <p:spPr>
          <a:xfrm>
            <a:off x="722376" y="3602736"/>
            <a:ext cx="78638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AI-03</a:t>
            </a:r>
          </a:p>
        </p:txBody>
      </p:sp>
      <p:sp>
        <p:nvSpPr>
          <p:cNvPr id="29" name="cell:rowtitle"/>
          <p:cNvSpPr txBox="1"/>
          <p:nvPr/>
        </p:nvSpPr>
        <p:spPr>
          <a:xfrm>
            <a:off x="1563624" y="3602736"/>
            <a:ext cx="93570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AI Capabilities</a:t>
            </a:r>
          </a:p>
        </p:txBody>
      </p:sp>
      <p:sp>
        <p:nvSpPr>
          <p:cNvPr id="30" name="cell:rowmins"/>
          <p:cNvSpPr txBox="1"/>
          <p:nvPr/>
        </p:nvSpPr>
        <p:spPr>
          <a:xfrm>
            <a:off x="10902391" y="3602736"/>
            <a:ext cx="60350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17 min</a:t>
            </a:r>
          </a:p>
        </p:txBody>
      </p:sp>
      <p:sp>
        <p:nvSpPr>
          <p:cNvPr id="31" name="nav:modulerow">
            <a:hlinkClick r:id="rId5"/>
          </p:cNvPr>
          <p:cNvSpPr/>
          <p:nvPr/>
        </p:nvSpPr>
        <p:spPr>
          <a:xfrm>
            <a:off x="502920" y="4407408"/>
            <a:ext cx="11185855" cy="749808"/>
          </a:xfrm>
          <a:prstGeom prst="roundRect">
            <a:avLst>
              <a:gd name="adj" fmla="val 975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rowbar"/>
          <p:cNvSpPr/>
          <p:nvPr/>
        </p:nvSpPr>
        <p:spPr>
          <a:xfrm>
            <a:off x="502920" y="4407408"/>
            <a:ext cx="54864" cy="749808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cell:rowcode"/>
          <p:cNvSpPr txBox="1"/>
          <p:nvPr/>
        </p:nvSpPr>
        <p:spPr>
          <a:xfrm>
            <a:off x="722376" y="4462272"/>
            <a:ext cx="78638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AI-04</a:t>
            </a:r>
          </a:p>
        </p:txBody>
      </p:sp>
      <p:sp>
        <p:nvSpPr>
          <p:cNvPr id="34" name="cell:rowtitle"/>
          <p:cNvSpPr txBox="1"/>
          <p:nvPr/>
        </p:nvSpPr>
        <p:spPr>
          <a:xfrm>
            <a:off x="1563624" y="4462272"/>
            <a:ext cx="93570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AI Limitations</a:t>
            </a:r>
          </a:p>
        </p:txBody>
      </p:sp>
      <p:sp>
        <p:nvSpPr>
          <p:cNvPr id="35" name="cell:rowmins"/>
          <p:cNvSpPr txBox="1"/>
          <p:nvPr/>
        </p:nvSpPr>
        <p:spPr>
          <a:xfrm>
            <a:off x="10902391" y="4462272"/>
            <a:ext cx="60350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17 min</a:t>
            </a:r>
          </a:p>
        </p:txBody>
      </p:sp>
      <p:sp>
        <p:nvSpPr>
          <p:cNvPr id="36" name="nav:modulerow">
            <a:hlinkClick r:id="rId6"/>
          </p:cNvPr>
          <p:cNvSpPr/>
          <p:nvPr/>
        </p:nvSpPr>
        <p:spPr>
          <a:xfrm>
            <a:off x="502920" y="5266944"/>
            <a:ext cx="11185855" cy="749808"/>
          </a:xfrm>
          <a:prstGeom prst="roundRect">
            <a:avLst>
              <a:gd name="adj" fmla="val 975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vis:rowbar"/>
          <p:cNvSpPr/>
          <p:nvPr/>
        </p:nvSpPr>
        <p:spPr>
          <a:xfrm>
            <a:off x="502920" y="5266944"/>
            <a:ext cx="54864" cy="749808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cell:rowcode"/>
          <p:cNvSpPr txBox="1"/>
          <p:nvPr/>
        </p:nvSpPr>
        <p:spPr>
          <a:xfrm>
            <a:off x="722376" y="5321807"/>
            <a:ext cx="78638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AI-05</a:t>
            </a:r>
          </a:p>
        </p:txBody>
      </p:sp>
      <p:sp>
        <p:nvSpPr>
          <p:cNvPr id="39" name="cell:rowtitle"/>
          <p:cNvSpPr txBox="1"/>
          <p:nvPr/>
        </p:nvSpPr>
        <p:spPr>
          <a:xfrm>
            <a:off x="1563624" y="5321807"/>
            <a:ext cx="93570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Hallucinations &amp; Fact-Checking</a:t>
            </a:r>
          </a:p>
        </p:txBody>
      </p:sp>
      <p:sp>
        <p:nvSpPr>
          <p:cNvPr id="40" name="cell:rowmins"/>
          <p:cNvSpPr txBox="1"/>
          <p:nvPr/>
        </p:nvSpPr>
        <p:spPr>
          <a:xfrm>
            <a:off x="10902391" y="5321807"/>
            <a:ext cx="60350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18 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AI FOR DAY-TO-DAY WORK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11 modules in this track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INDEX  ·  Master index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1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cell:areablurb"/>
          <p:cNvSpPr txBox="1"/>
          <p:nvPr/>
        </p:nvSpPr>
        <p:spPr>
          <a:xfrm>
            <a:off x="502920" y="1554480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The jobs you already do, done in less time.  Click any row to open that module.</a:t>
            </a:r>
          </a:p>
        </p:txBody>
      </p:sp>
      <p:sp>
        <p:nvSpPr>
          <p:cNvPr id="16" name="nav:modulerow">
            <a:hlinkClick r:id="rId2"/>
          </p:cNvPr>
          <p:cNvSpPr/>
          <p:nvPr/>
        </p:nvSpPr>
        <p:spPr>
          <a:xfrm>
            <a:off x="502920" y="1828800"/>
            <a:ext cx="5483199" cy="606552"/>
          </a:xfrm>
          <a:prstGeom prst="roundRect">
            <a:avLst>
              <a:gd name="adj" fmla="val 1206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rowbar"/>
          <p:cNvSpPr/>
          <p:nvPr/>
        </p:nvSpPr>
        <p:spPr>
          <a:xfrm>
            <a:off x="502920" y="1828800"/>
            <a:ext cx="54864" cy="606552"/>
          </a:xfrm>
          <a:prstGeom prst="rect">
            <a:avLst/>
          </a:prstGeom>
          <a:solidFill>
            <a:srgbClr val="0E6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cell:rowcode"/>
          <p:cNvSpPr txBox="1"/>
          <p:nvPr/>
        </p:nvSpPr>
        <p:spPr>
          <a:xfrm>
            <a:off x="722376" y="1883664"/>
            <a:ext cx="786384" cy="496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6E75"/>
                </a:solidFill>
                <a:latin typeface="Segoe UI Semibold"/>
              </a:rPr>
              <a:t>DW-01</a:t>
            </a:r>
          </a:p>
        </p:txBody>
      </p:sp>
      <p:sp>
        <p:nvSpPr>
          <p:cNvPr id="19" name="cell:rowtitle"/>
          <p:cNvSpPr txBox="1"/>
          <p:nvPr/>
        </p:nvSpPr>
        <p:spPr>
          <a:xfrm>
            <a:off x="1563624" y="1883664"/>
            <a:ext cx="3654399" cy="496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Email Writing with AI</a:t>
            </a:r>
          </a:p>
        </p:txBody>
      </p:sp>
      <p:sp>
        <p:nvSpPr>
          <p:cNvPr id="20" name="cell:rowmins"/>
          <p:cNvSpPr txBox="1"/>
          <p:nvPr/>
        </p:nvSpPr>
        <p:spPr>
          <a:xfrm>
            <a:off x="5199735" y="1883664"/>
            <a:ext cx="603504" cy="496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18 min</a:t>
            </a:r>
          </a:p>
        </p:txBody>
      </p:sp>
      <p:sp>
        <p:nvSpPr>
          <p:cNvPr id="21" name="nav:modulerow">
            <a:hlinkClick r:id="rId3"/>
          </p:cNvPr>
          <p:cNvSpPr/>
          <p:nvPr/>
        </p:nvSpPr>
        <p:spPr>
          <a:xfrm>
            <a:off x="502920" y="2545080"/>
            <a:ext cx="5483199" cy="606552"/>
          </a:xfrm>
          <a:prstGeom prst="roundRect">
            <a:avLst>
              <a:gd name="adj" fmla="val 1206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rowbar"/>
          <p:cNvSpPr/>
          <p:nvPr/>
        </p:nvSpPr>
        <p:spPr>
          <a:xfrm>
            <a:off x="502920" y="2545080"/>
            <a:ext cx="54864" cy="606552"/>
          </a:xfrm>
          <a:prstGeom prst="rect">
            <a:avLst/>
          </a:prstGeom>
          <a:solidFill>
            <a:srgbClr val="0E6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cell:rowcode"/>
          <p:cNvSpPr txBox="1"/>
          <p:nvPr/>
        </p:nvSpPr>
        <p:spPr>
          <a:xfrm>
            <a:off x="722376" y="2599944"/>
            <a:ext cx="786384" cy="496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6E75"/>
                </a:solidFill>
                <a:latin typeface="Segoe UI Semibold"/>
              </a:rPr>
              <a:t>DW-02</a:t>
            </a:r>
          </a:p>
        </p:txBody>
      </p:sp>
      <p:sp>
        <p:nvSpPr>
          <p:cNvPr id="24" name="cell:rowtitle"/>
          <p:cNvSpPr txBox="1"/>
          <p:nvPr/>
        </p:nvSpPr>
        <p:spPr>
          <a:xfrm>
            <a:off x="1563624" y="2599944"/>
            <a:ext cx="3654399" cy="496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Research with AI</a:t>
            </a:r>
          </a:p>
        </p:txBody>
      </p:sp>
      <p:sp>
        <p:nvSpPr>
          <p:cNvPr id="25" name="cell:rowmins"/>
          <p:cNvSpPr txBox="1"/>
          <p:nvPr/>
        </p:nvSpPr>
        <p:spPr>
          <a:xfrm>
            <a:off x="5199735" y="2599944"/>
            <a:ext cx="603504" cy="496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18 min</a:t>
            </a:r>
          </a:p>
        </p:txBody>
      </p:sp>
      <p:sp>
        <p:nvSpPr>
          <p:cNvPr id="26" name="nav:modulerow">
            <a:hlinkClick r:id="rId4"/>
          </p:cNvPr>
          <p:cNvSpPr/>
          <p:nvPr/>
        </p:nvSpPr>
        <p:spPr>
          <a:xfrm>
            <a:off x="502920" y="3261360"/>
            <a:ext cx="5483199" cy="606552"/>
          </a:xfrm>
          <a:prstGeom prst="roundRect">
            <a:avLst>
              <a:gd name="adj" fmla="val 1206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vis:rowbar"/>
          <p:cNvSpPr/>
          <p:nvPr/>
        </p:nvSpPr>
        <p:spPr>
          <a:xfrm>
            <a:off x="502920" y="3261360"/>
            <a:ext cx="54864" cy="606552"/>
          </a:xfrm>
          <a:prstGeom prst="rect">
            <a:avLst/>
          </a:prstGeom>
          <a:solidFill>
            <a:srgbClr val="0E6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cell:rowcode"/>
          <p:cNvSpPr txBox="1"/>
          <p:nvPr/>
        </p:nvSpPr>
        <p:spPr>
          <a:xfrm>
            <a:off x="722376" y="3316224"/>
            <a:ext cx="786384" cy="496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6E75"/>
                </a:solidFill>
                <a:latin typeface="Segoe UI Semibold"/>
              </a:rPr>
              <a:t>DW-03</a:t>
            </a:r>
          </a:p>
        </p:txBody>
      </p:sp>
      <p:sp>
        <p:nvSpPr>
          <p:cNvPr id="29" name="cell:rowtitle"/>
          <p:cNvSpPr txBox="1"/>
          <p:nvPr/>
        </p:nvSpPr>
        <p:spPr>
          <a:xfrm>
            <a:off x="1563624" y="3316224"/>
            <a:ext cx="3654399" cy="496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Report Preparation with AI</a:t>
            </a:r>
          </a:p>
        </p:txBody>
      </p:sp>
      <p:sp>
        <p:nvSpPr>
          <p:cNvPr id="30" name="cell:rowmins"/>
          <p:cNvSpPr txBox="1"/>
          <p:nvPr/>
        </p:nvSpPr>
        <p:spPr>
          <a:xfrm>
            <a:off x="5199735" y="3316224"/>
            <a:ext cx="603504" cy="496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18 min</a:t>
            </a:r>
          </a:p>
        </p:txBody>
      </p:sp>
      <p:sp>
        <p:nvSpPr>
          <p:cNvPr id="31" name="nav:modulerow">
            <a:hlinkClick r:id="rId5"/>
          </p:cNvPr>
          <p:cNvSpPr/>
          <p:nvPr/>
        </p:nvSpPr>
        <p:spPr>
          <a:xfrm>
            <a:off x="502920" y="3977639"/>
            <a:ext cx="5483199" cy="606552"/>
          </a:xfrm>
          <a:prstGeom prst="roundRect">
            <a:avLst>
              <a:gd name="adj" fmla="val 1206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rowbar"/>
          <p:cNvSpPr/>
          <p:nvPr/>
        </p:nvSpPr>
        <p:spPr>
          <a:xfrm>
            <a:off x="502920" y="3977639"/>
            <a:ext cx="54864" cy="606552"/>
          </a:xfrm>
          <a:prstGeom prst="rect">
            <a:avLst/>
          </a:prstGeom>
          <a:solidFill>
            <a:srgbClr val="0E6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cell:rowcode"/>
          <p:cNvSpPr txBox="1"/>
          <p:nvPr/>
        </p:nvSpPr>
        <p:spPr>
          <a:xfrm>
            <a:off x="722376" y="4032503"/>
            <a:ext cx="786384" cy="496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6E75"/>
                </a:solidFill>
                <a:latin typeface="Segoe UI Semibold"/>
              </a:rPr>
              <a:t>DW-04</a:t>
            </a:r>
          </a:p>
        </p:txBody>
      </p:sp>
      <p:sp>
        <p:nvSpPr>
          <p:cNvPr id="34" name="cell:rowtitle"/>
          <p:cNvSpPr txBox="1"/>
          <p:nvPr/>
        </p:nvSpPr>
        <p:spPr>
          <a:xfrm>
            <a:off x="1563624" y="4032503"/>
            <a:ext cx="3654399" cy="496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Data Analysis with AI</a:t>
            </a:r>
          </a:p>
        </p:txBody>
      </p:sp>
      <p:sp>
        <p:nvSpPr>
          <p:cNvPr id="35" name="cell:rowmins"/>
          <p:cNvSpPr txBox="1"/>
          <p:nvPr/>
        </p:nvSpPr>
        <p:spPr>
          <a:xfrm>
            <a:off x="5199735" y="4032503"/>
            <a:ext cx="603504" cy="496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18 min</a:t>
            </a:r>
          </a:p>
        </p:txBody>
      </p:sp>
      <p:sp>
        <p:nvSpPr>
          <p:cNvPr id="36" name="nav:modulerow">
            <a:hlinkClick r:id="rId6"/>
          </p:cNvPr>
          <p:cNvSpPr/>
          <p:nvPr/>
        </p:nvSpPr>
        <p:spPr>
          <a:xfrm>
            <a:off x="502920" y="4693920"/>
            <a:ext cx="5483199" cy="606552"/>
          </a:xfrm>
          <a:prstGeom prst="roundRect">
            <a:avLst>
              <a:gd name="adj" fmla="val 1206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vis:rowbar"/>
          <p:cNvSpPr/>
          <p:nvPr/>
        </p:nvSpPr>
        <p:spPr>
          <a:xfrm>
            <a:off x="502920" y="4693920"/>
            <a:ext cx="54864" cy="606552"/>
          </a:xfrm>
          <a:prstGeom prst="rect">
            <a:avLst/>
          </a:prstGeom>
          <a:solidFill>
            <a:srgbClr val="0E6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cell:rowcode"/>
          <p:cNvSpPr txBox="1"/>
          <p:nvPr/>
        </p:nvSpPr>
        <p:spPr>
          <a:xfrm>
            <a:off x="722376" y="4748783"/>
            <a:ext cx="786384" cy="496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6E75"/>
                </a:solidFill>
                <a:latin typeface="Segoe UI Semibold"/>
              </a:rPr>
              <a:t>DW-05</a:t>
            </a:r>
          </a:p>
        </p:txBody>
      </p:sp>
      <p:sp>
        <p:nvSpPr>
          <p:cNvPr id="39" name="cell:rowtitle"/>
          <p:cNvSpPr txBox="1"/>
          <p:nvPr/>
        </p:nvSpPr>
        <p:spPr>
          <a:xfrm>
            <a:off x="1563624" y="4748783"/>
            <a:ext cx="3654399" cy="496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Excel with AI</a:t>
            </a:r>
          </a:p>
        </p:txBody>
      </p:sp>
      <p:sp>
        <p:nvSpPr>
          <p:cNvPr id="40" name="cell:rowmins"/>
          <p:cNvSpPr txBox="1"/>
          <p:nvPr/>
        </p:nvSpPr>
        <p:spPr>
          <a:xfrm>
            <a:off x="5199735" y="4748783"/>
            <a:ext cx="603504" cy="496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19 min</a:t>
            </a:r>
          </a:p>
        </p:txBody>
      </p:sp>
      <p:sp>
        <p:nvSpPr>
          <p:cNvPr id="41" name="nav:modulerow">
            <a:hlinkClick r:id="rId7"/>
          </p:cNvPr>
          <p:cNvSpPr/>
          <p:nvPr/>
        </p:nvSpPr>
        <p:spPr>
          <a:xfrm>
            <a:off x="502920" y="5410199"/>
            <a:ext cx="5483199" cy="606552"/>
          </a:xfrm>
          <a:prstGeom prst="roundRect">
            <a:avLst>
              <a:gd name="adj" fmla="val 1206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2" name="vis:rowbar"/>
          <p:cNvSpPr/>
          <p:nvPr/>
        </p:nvSpPr>
        <p:spPr>
          <a:xfrm>
            <a:off x="502920" y="5410199"/>
            <a:ext cx="54864" cy="606552"/>
          </a:xfrm>
          <a:prstGeom prst="rect">
            <a:avLst/>
          </a:prstGeom>
          <a:solidFill>
            <a:srgbClr val="0E6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3" name="cell:rowcode"/>
          <p:cNvSpPr txBox="1"/>
          <p:nvPr/>
        </p:nvSpPr>
        <p:spPr>
          <a:xfrm>
            <a:off x="722376" y="5465063"/>
            <a:ext cx="786384" cy="496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6E75"/>
                </a:solidFill>
                <a:latin typeface="Segoe UI Semibold"/>
              </a:rPr>
              <a:t>DW-06</a:t>
            </a:r>
          </a:p>
        </p:txBody>
      </p:sp>
      <p:sp>
        <p:nvSpPr>
          <p:cNvPr id="44" name="cell:rowtitle"/>
          <p:cNvSpPr txBox="1"/>
          <p:nvPr/>
        </p:nvSpPr>
        <p:spPr>
          <a:xfrm>
            <a:off x="1563624" y="5465063"/>
            <a:ext cx="3654399" cy="496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Presentations with AI</a:t>
            </a:r>
          </a:p>
        </p:txBody>
      </p:sp>
      <p:sp>
        <p:nvSpPr>
          <p:cNvPr id="45" name="cell:rowmins"/>
          <p:cNvSpPr txBox="1"/>
          <p:nvPr/>
        </p:nvSpPr>
        <p:spPr>
          <a:xfrm>
            <a:off x="5199735" y="5465063"/>
            <a:ext cx="603504" cy="496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17 min</a:t>
            </a:r>
          </a:p>
        </p:txBody>
      </p:sp>
      <p:sp>
        <p:nvSpPr>
          <p:cNvPr id="46" name="nav:modulerow">
            <a:hlinkClick r:id="rId8"/>
          </p:cNvPr>
          <p:cNvSpPr/>
          <p:nvPr/>
        </p:nvSpPr>
        <p:spPr>
          <a:xfrm>
            <a:off x="6205575" y="1828800"/>
            <a:ext cx="5483199" cy="606552"/>
          </a:xfrm>
          <a:prstGeom prst="roundRect">
            <a:avLst>
              <a:gd name="adj" fmla="val 1206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7" name="vis:rowbar"/>
          <p:cNvSpPr/>
          <p:nvPr/>
        </p:nvSpPr>
        <p:spPr>
          <a:xfrm>
            <a:off x="6205575" y="1828800"/>
            <a:ext cx="54864" cy="606552"/>
          </a:xfrm>
          <a:prstGeom prst="rect">
            <a:avLst/>
          </a:prstGeom>
          <a:solidFill>
            <a:srgbClr val="0E6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8" name="cell:rowcode"/>
          <p:cNvSpPr txBox="1"/>
          <p:nvPr/>
        </p:nvSpPr>
        <p:spPr>
          <a:xfrm>
            <a:off x="6425031" y="1883664"/>
            <a:ext cx="786384" cy="496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6E75"/>
                </a:solidFill>
                <a:latin typeface="Segoe UI Semibold"/>
              </a:rPr>
              <a:t>DW-07</a:t>
            </a:r>
          </a:p>
        </p:txBody>
      </p:sp>
      <p:sp>
        <p:nvSpPr>
          <p:cNvPr id="49" name="cell:rowtitle"/>
          <p:cNvSpPr txBox="1"/>
          <p:nvPr/>
        </p:nvSpPr>
        <p:spPr>
          <a:xfrm>
            <a:off x="7266279" y="1883664"/>
            <a:ext cx="3654399" cy="496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Documentation with AI</a:t>
            </a:r>
          </a:p>
        </p:txBody>
      </p:sp>
      <p:sp>
        <p:nvSpPr>
          <p:cNvPr id="50" name="cell:rowmins"/>
          <p:cNvSpPr txBox="1"/>
          <p:nvPr/>
        </p:nvSpPr>
        <p:spPr>
          <a:xfrm>
            <a:off x="10902391" y="1883664"/>
            <a:ext cx="603504" cy="496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18 min</a:t>
            </a:r>
          </a:p>
        </p:txBody>
      </p:sp>
      <p:sp>
        <p:nvSpPr>
          <p:cNvPr id="51" name="nav:modulerow">
            <a:hlinkClick r:id="rId9"/>
          </p:cNvPr>
          <p:cNvSpPr/>
          <p:nvPr/>
        </p:nvSpPr>
        <p:spPr>
          <a:xfrm>
            <a:off x="6205575" y="2545080"/>
            <a:ext cx="5483199" cy="606552"/>
          </a:xfrm>
          <a:prstGeom prst="roundRect">
            <a:avLst>
              <a:gd name="adj" fmla="val 1206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2" name="vis:rowbar"/>
          <p:cNvSpPr/>
          <p:nvPr/>
        </p:nvSpPr>
        <p:spPr>
          <a:xfrm>
            <a:off x="6205575" y="2545080"/>
            <a:ext cx="54864" cy="606552"/>
          </a:xfrm>
          <a:prstGeom prst="rect">
            <a:avLst/>
          </a:prstGeom>
          <a:solidFill>
            <a:srgbClr val="0E6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3" name="cell:rowcode"/>
          <p:cNvSpPr txBox="1"/>
          <p:nvPr/>
        </p:nvSpPr>
        <p:spPr>
          <a:xfrm>
            <a:off x="6425031" y="2599944"/>
            <a:ext cx="786384" cy="496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6E75"/>
                </a:solidFill>
                <a:latin typeface="Segoe UI Semibold"/>
              </a:rPr>
              <a:t>DW-08</a:t>
            </a:r>
          </a:p>
        </p:txBody>
      </p:sp>
      <p:sp>
        <p:nvSpPr>
          <p:cNvPr id="54" name="cell:rowtitle"/>
          <p:cNvSpPr txBox="1"/>
          <p:nvPr/>
        </p:nvSpPr>
        <p:spPr>
          <a:xfrm>
            <a:off x="7266279" y="2599944"/>
            <a:ext cx="3654399" cy="496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Meeting Notes &amp; Follow-ups</a:t>
            </a:r>
          </a:p>
        </p:txBody>
      </p:sp>
      <p:sp>
        <p:nvSpPr>
          <p:cNvPr id="55" name="cell:rowmins"/>
          <p:cNvSpPr txBox="1"/>
          <p:nvPr/>
        </p:nvSpPr>
        <p:spPr>
          <a:xfrm>
            <a:off x="10902391" y="2599944"/>
            <a:ext cx="603504" cy="496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17 min</a:t>
            </a:r>
          </a:p>
        </p:txBody>
      </p:sp>
      <p:sp>
        <p:nvSpPr>
          <p:cNvPr id="56" name="nav:modulerow">
            <a:hlinkClick r:id="rId10"/>
          </p:cNvPr>
          <p:cNvSpPr/>
          <p:nvPr/>
        </p:nvSpPr>
        <p:spPr>
          <a:xfrm>
            <a:off x="6205575" y="3261360"/>
            <a:ext cx="5483199" cy="606552"/>
          </a:xfrm>
          <a:prstGeom prst="roundRect">
            <a:avLst>
              <a:gd name="adj" fmla="val 1206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7" name="vis:rowbar"/>
          <p:cNvSpPr/>
          <p:nvPr/>
        </p:nvSpPr>
        <p:spPr>
          <a:xfrm>
            <a:off x="6205575" y="3261360"/>
            <a:ext cx="54864" cy="606552"/>
          </a:xfrm>
          <a:prstGeom prst="rect">
            <a:avLst/>
          </a:prstGeom>
          <a:solidFill>
            <a:srgbClr val="0E6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8" name="cell:rowcode"/>
          <p:cNvSpPr txBox="1"/>
          <p:nvPr/>
        </p:nvSpPr>
        <p:spPr>
          <a:xfrm>
            <a:off x="6425031" y="3316224"/>
            <a:ext cx="786384" cy="496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6E75"/>
                </a:solidFill>
                <a:latin typeface="Segoe UI Semibold"/>
              </a:rPr>
              <a:t>DW-09</a:t>
            </a:r>
          </a:p>
        </p:txBody>
      </p:sp>
      <p:sp>
        <p:nvSpPr>
          <p:cNvPr id="59" name="cell:rowtitle"/>
          <p:cNvSpPr txBox="1"/>
          <p:nvPr/>
        </p:nvSpPr>
        <p:spPr>
          <a:xfrm>
            <a:off x="7266279" y="3316224"/>
            <a:ext cx="3654399" cy="496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Brainstorming with AI</a:t>
            </a:r>
          </a:p>
        </p:txBody>
      </p:sp>
      <p:sp>
        <p:nvSpPr>
          <p:cNvPr id="60" name="cell:rowmins"/>
          <p:cNvSpPr txBox="1"/>
          <p:nvPr/>
        </p:nvSpPr>
        <p:spPr>
          <a:xfrm>
            <a:off x="10902391" y="3316224"/>
            <a:ext cx="603504" cy="496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16 min</a:t>
            </a:r>
          </a:p>
        </p:txBody>
      </p:sp>
      <p:sp>
        <p:nvSpPr>
          <p:cNvPr id="61" name="nav:modulerow">
            <a:hlinkClick r:id="rId11"/>
          </p:cNvPr>
          <p:cNvSpPr/>
          <p:nvPr/>
        </p:nvSpPr>
        <p:spPr>
          <a:xfrm>
            <a:off x="6205575" y="3977639"/>
            <a:ext cx="5483199" cy="606552"/>
          </a:xfrm>
          <a:prstGeom prst="roundRect">
            <a:avLst>
              <a:gd name="adj" fmla="val 1206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2" name="vis:rowbar"/>
          <p:cNvSpPr/>
          <p:nvPr/>
        </p:nvSpPr>
        <p:spPr>
          <a:xfrm>
            <a:off x="6205575" y="3977639"/>
            <a:ext cx="54864" cy="606552"/>
          </a:xfrm>
          <a:prstGeom prst="rect">
            <a:avLst/>
          </a:prstGeom>
          <a:solidFill>
            <a:srgbClr val="0E6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3" name="cell:rowcode"/>
          <p:cNvSpPr txBox="1"/>
          <p:nvPr/>
        </p:nvSpPr>
        <p:spPr>
          <a:xfrm>
            <a:off x="6425031" y="4032503"/>
            <a:ext cx="786384" cy="496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6E75"/>
                </a:solidFill>
                <a:latin typeface="Segoe UI Semibold"/>
              </a:rPr>
              <a:t>DW-10</a:t>
            </a:r>
          </a:p>
        </p:txBody>
      </p:sp>
      <p:sp>
        <p:nvSpPr>
          <p:cNvPr id="64" name="cell:rowtitle"/>
          <p:cNvSpPr txBox="1"/>
          <p:nvPr/>
        </p:nvSpPr>
        <p:spPr>
          <a:xfrm>
            <a:off x="7266279" y="4032503"/>
            <a:ext cx="3654399" cy="496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Planning with AI</a:t>
            </a:r>
          </a:p>
        </p:txBody>
      </p:sp>
      <p:sp>
        <p:nvSpPr>
          <p:cNvPr id="65" name="cell:rowmins"/>
          <p:cNvSpPr txBox="1"/>
          <p:nvPr/>
        </p:nvSpPr>
        <p:spPr>
          <a:xfrm>
            <a:off x="10902391" y="4032503"/>
            <a:ext cx="603504" cy="496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16 min</a:t>
            </a:r>
          </a:p>
        </p:txBody>
      </p:sp>
      <p:sp>
        <p:nvSpPr>
          <p:cNvPr id="66" name="nav:modulerow">
            <a:hlinkClick r:id="rId12"/>
          </p:cNvPr>
          <p:cNvSpPr/>
          <p:nvPr/>
        </p:nvSpPr>
        <p:spPr>
          <a:xfrm>
            <a:off x="6205575" y="4693920"/>
            <a:ext cx="5483199" cy="606552"/>
          </a:xfrm>
          <a:prstGeom prst="roundRect">
            <a:avLst>
              <a:gd name="adj" fmla="val 1206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7" name="vis:rowbar"/>
          <p:cNvSpPr/>
          <p:nvPr/>
        </p:nvSpPr>
        <p:spPr>
          <a:xfrm>
            <a:off x="6205575" y="4693920"/>
            <a:ext cx="54864" cy="606552"/>
          </a:xfrm>
          <a:prstGeom prst="rect">
            <a:avLst/>
          </a:prstGeom>
          <a:solidFill>
            <a:srgbClr val="0E6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8" name="cell:rowcode"/>
          <p:cNvSpPr txBox="1"/>
          <p:nvPr/>
        </p:nvSpPr>
        <p:spPr>
          <a:xfrm>
            <a:off x="6425031" y="4748783"/>
            <a:ext cx="786384" cy="496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6E75"/>
                </a:solidFill>
                <a:latin typeface="Segoe UI Semibold"/>
              </a:rPr>
              <a:t>DW-11</a:t>
            </a:r>
          </a:p>
        </p:txBody>
      </p:sp>
      <p:sp>
        <p:nvSpPr>
          <p:cNvPr id="69" name="cell:rowtitle"/>
          <p:cNvSpPr txBox="1"/>
          <p:nvPr/>
        </p:nvSpPr>
        <p:spPr>
          <a:xfrm>
            <a:off x="7266279" y="4748783"/>
            <a:ext cx="3654399" cy="496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Automation Basics</a:t>
            </a:r>
          </a:p>
        </p:txBody>
      </p:sp>
      <p:sp>
        <p:nvSpPr>
          <p:cNvPr id="70" name="cell:rowmins"/>
          <p:cNvSpPr txBox="1"/>
          <p:nvPr/>
        </p:nvSpPr>
        <p:spPr>
          <a:xfrm>
            <a:off x="10902391" y="4748783"/>
            <a:ext cx="603504" cy="496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18 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PROMPT ENGINEERING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7 modules in this track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INDEX  ·  Master index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9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cell:areablurb"/>
          <p:cNvSpPr txBox="1"/>
          <p:nvPr/>
        </p:nvSpPr>
        <p:spPr>
          <a:xfrm>
            <a:off x="502920" y="1554480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Asking well enough to get a usable answer.  Click any row to open that module.</a:t>
            </a:r>
          </a:p>
        </p:txBody>
      </p:sp>
      <p:sp>
        <p:nvSpPr>
          <p:cNvPr id="16" name="nav:modulerow">
            <a:hlinkClick r:id="rId2"/>
          </p:cNvPr>
          <p:cNvSpPr/>
          <p:nvPr/>
        </p:nvSpPr>
        <p:spPr>
          <a:xfrm>
            <a:off x="502920" y="1828800"/>
            <a:ext cx="5483199" cy="964692"/>
          </a:xfrm>
          <a:prstGeom prst="roundRect">
            <a:avLst>
              <a:gd name="adj" fmla="val 7582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rowbar"/>
          <p:cNvSpPr/>
          <p:nvPr/>
        </p:nvSpPr>
        <p:spPr>
          <a:xfrm>
            <a:off x="502920" y="1828800"/>
            <a:ext cx="54864" cy="964692"/>
          </a:xfrm>
          <a:prstGeom prst="rect">
            <a:avLst/>
          </a:prstGeom>
          <a:solidFill>
            <a:srgbClr val="6A2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cell:rowcode"/>
          <p:cNvSpPr txBox="1"/>
          <p:nvPr/>
        </p:nvSpPr>
        <p:spPr>
          <a:xfrm>
            <a:off x="722376" y="1883664"/>
            <a:ext cx="786384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A2FA0"/>
                </a:solidFill>
                <a:latin typeface="Segoe UI Semibold"/>
              </a:rPr>
              <a:t>PE-01</a:t>
            </a:r>
          </a:p>
        </p:txBody>
      </p:sp>
      <p:sp>
        <p:nvSpPr>
          <p:cNvPr id="19" name="cell:rowtitle"/>
          <p:cNvSpPr txBox="1"/>
          <p:nvPr/>
        </p:nvSpPr>
        <p:spPr>
          <a:xfrm>
            <a:off x="1563624" y="1883664"/>
            <a:ext cx="3654399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Basic Prompting</a:t>
            </a:r>
          </a:p>
        </p:txBody>
      </p:sp>
      <p:sp>
        <p:nvSpPr>
          <p:cNvPr id="20" name="cell:rowmins"/>
          <p:cNvSpPr txBox="1"/>
          <p:nvPr/>
        </p:nvSpPr>
        <p:spPr>
          <a:xfrm>
            <a:off x="5199735" y="1883664"/>
            <a:ext cx="603504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20 min</a:t>
            </a:r>
          </a:p>
        </p:txBody>
      </p:sp>
      <p:sp>
        <p:nvSpPr>
          <p:cNvPr id="21" name="nav:modulerow">
            <a:hlinkClick r:id="rId3"/>
          </p:cNvPr>
          <p:cNvSpPr/>
          <p:nvPr/>
        </p:nvSpPr>
        <p:spPr>
          <a:xfrm>
            <a:off x="502920" y="2903220"/>
            <a:ext cx="5483199" cy="964692"/>
          </a:xfrm>
          <a:prstGeom prst="roundRect">
            <a:avLst>
              <a:gd name="adj" fmla="val 7582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rowbar"/>
          <p:cNvSpPr/>
          <p:nvPr/>
        </p:nvSpPr>
        <p:spPr>
          <a:xfrm>
            <a:off x="502920" y="2903220"/>
            <a:ext cx="54864" cy="964692"/>
          </a:xfrm>
          <a:prstGeom prst="rect">
            <a:avLst/>
          </a:prstGeom>
          <a:solidFill>
            <a:srgbClr val="6A2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cell:rowcode"/>
          <p:cNvSpPr txBox="1"/>
          <p:nvPr/>
        </p:nvSpPr>
        <p:spPr>
          <a:xfrm>
            <a:off x="722376" y="2958084"/>
            <a:ext cx="786384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A2FA0"/>
                </a:solidFill>
                <a:latin typeface="Segoe UI Semibold"/>
              </a:rPr>
              <a:t>PE-02</a:t>
            </a:r>
          </a:p>
        </p:txBody>
      </p:sp>
      <p:sp>
        <p:nvSpPr>
          <p:cNvPr id="24" name="cell:rowtitle"/>
          <p:cNvSpPr txBox="1"/>
          <p:nvPr/>
        </p:nvSpPr>
        <p:spPr>
          <a:xfrm>
            <a:off x="1563624" y="2958084"/>
            <a:ext cx="3654399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Instructions &amp; Context</a:t>
            </a:r>
          </a:p>
        </p:txBody>
      </p:sp>
      <p:sp>
        <p:nvSpPr>
          <p:cNvPr id="25" name="cell:rowmins"/>
          <p:cNvSpPr txBox="1"/>
          <p:nvPr/>
        </p:nvSpPr>
        <p:spPr>
          <a:xfrm>
            <a:off x="5199735" y="2958084"/>
            <a:ext cx="603504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18 min</a:t>
            </a:r>
          </a:p>
        </p:txBody>
      </p:sp>
      <p:sp>
        <p:nvSpPr>
          <p:cNvPr id="26" name="nav:modulerow">
            <a:hlinkClick r:id="rId4"/>
          </p:cNvPr>
          <p:cNvSpPr/>
          <p:nvPr/>
        </p:nvSpPr>
        <p:spPr>
          <a:xfrm>
            <a:off x="502920" y="3977639"/>
            <a:ext cx="5483199" cy="964692"/>
          </a:xfrm>
          <a:prstGeom prst="roundRect">
            <a:avLst>
              <a:gd name="adj" fmla="val 7582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vis:rowbar"/>
          <p:cNvSpPr/>
          <p:nvPr/>
        </p:nvSpPr>
        <p:spPr>
          <a:xfrm>
            <a:off x="502920" y="3977639"/>
            <a:ext cx="54864" cy="964692"/>
          </a:xfrm>
          <a:prstGeom prst="rect">
            <a:avLst/>
          </a:prstGeom>
          <a:solidFill>
            <a:srgbClr val="6A2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cell:rowcode"/>
          <p:cNvSpPr txBox="1"/>
          <p:nvPr/>
        </p:nvSpPr>
        <p:spPr>
          <a:xfrm>
            <a:off x="722376" y="4032503"/>
            <a:ext cx="786384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A2FA0"/>
                </a:solidFill>
                <a:latin typeface="Segoe UI Semibold"/>
              </a:rPr>
              <a:t>PE-03</a:t>
            </a:r>
          </a:p>
        </p:txBody>
      </p:sp>
      <p:sp>
        <p:nvSpPr>
          <p:cNvPr id="29" name="cell:rowtitle"/>
          <p:cNvSpPr txBox="1"/>
          <p:nvPr/>
        </p:nvSpPr>
        <p:spPr>
          <a:xfrm>
            <a:off x="1563624" y="4032503"/>
            <a:ext cx="3654399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Role-Based Prompts</a:t>
            </a:r>
          </a:p>
        </p:txBody>
      </p:sp>
      <p:sp>
        <p:nvSpPr>
          <p:cNvPr id="30" name="cell:rowmins"/>
          <p:cNvSpPr txBox="1"/>
          <p:nvPr/>
        </p:nvSpPr>
        <p:spPr>
          <a:xfrm>
            <a:off x="5199735" y="4032503"/>
            <a:ext cx="603504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16 min</a:t>
            </a:r>
          </a:p>
        </p:txBody>
      </p:sp>
      <p:sp>
        <p:nvSpPr>
          <p:cNvPr id="31" name="nav:modulerow">
            <a:hlinkClick r:id="rId5"/>
          </p:cNvPr>
          <p:cNvSpPr/>
          <p:nvPr/>
        </p:nvSpPr>
        <p:spPr>
          <a:xfrm>
            <a:off x="502920" y="5052059"/>
            <a:ext cx="5483199" cy="964692"/>
          </a:xfrm>
          <a:prstGeom prst="roundRect">
            <a:avLst>
              <a:gd name="adj" fmla="val 7582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rowbar"/>
          <p:cNvSpPr/>
          <p:nvPr/>
        </p:nvSpPr>
        <p:spPr>
          <a:xfrm>
            <a:off x="502920" y="5052059"/>
            <a:ext cx="54864" cy="964692"/>
          </a:xfrm>
          <a:prstGeom prst="rect">
            <a:avLst/>
          </a:prstGeom>
          <a:solidFill>
            <a:srgbClr val="6A2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cell:rowcode"/>
          <p:cNvSpPr txBox="1"/>
          <p:nvPr/>
        </p:nvSpPr>
        <p:spPr>
          <a:xfrm>
            <a:off x="722376" y="5106923"/>
            <a:ext cx="786384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A2FA0"/>
                </a:solidFill>
                <a:latin typeface="Segoe UI Semibold"/>
              </a:rPr>
              <a:t>PE-04</a:t>
            </a:r>
          </a:p>
        </p:txBody>
      </p:sp>
      <p:sp>
        <p:nvSpPr>
          <p:cNvPr id="34" name="cell:rowtitle"/>
          <p:cNvSpPr txBox="1"/>
          <p:nvPr/>
        </p:nvSpPr>
        <p:spPr>
          <a:xfrm>
            <a:off x="1563624" y="5106923"/>
            <a:ext cx="3654399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Examples &amp; Structured Prompts</a:t>
            </a:r>
          </a:p>
        </p:txBody>
      </p:sp>
      <p:sp>
        <p:nvSpPr>
          <p:cNvPr id="35" name="cell:rowmins"/>
          <p:cNvSpPr txBox="1"/>
          <p:nvPr/>
        </p:nvSpPr>
        <p:spPr>
          <a:xfrm>
            <a:off x="5199735" y="5106923"/>
            <a:ext cx="603504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18 min</a:t>
            </a:r>
          </a:p>
        </p:txBody>
      </p:sp>
      <p:sp>
        <p:nvSpPr>
          <p:cNvPr id="36" name="nav:modulerow">
            <a:hlinkClick r:id="rId6"/>
          </p:cNvPr>
          <p:cNvSpPr/>
          <p:nvPr/>
        </p:nvSpPr>
        <p:spPr>
          <a:xfrm>
            <a:off x="6205575" y="1828800"/>
            <a:ext cx="5483199" cy="964692"/>
          </a:xfrm>
          <a:prstGeom prst="roundRect">
            <a:avLst>
              <a:gd name="adj" fmla="val 7582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vis:rowbar"/>
          <p:cNvSpPr/>
          <p:nvPr/>
        </p:nvSpPr>
        <p:spPr>
          <a:xfrm>
            <a:off x="6205575" y="1828800"/>
            <a:ext cx="54864" cy="964692"/>
          </a:xfrm>
          <a:prstGeom prst="rect">
            <a:avLst/>
          </a:prstGeom>
          <a:solidFill>
            <a:srgbClr val="6A2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cell:rowcode"/>
          <p:cNvSpPr txBox="1"/>
          <p:nvPr/>
        </p:nvSpPr>
        <p:spPr>
          <a:xfrm>
            <a:off x="6425031" y="1883664"/>
            <a:ext cx="786384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A2FA0"/>
                </a:solidFill>
                <a:latin typeface="Segoe UI Semibold"/>
              </a:rPr>
              <a:t>PE-05</a:t>
            </a:r>
          </a:p>
        </p:txBody>
      </p:sp>
      <p:sp>
        <p:nvSpPr>
          <p:cNvPr id="39" name="cell:rowtitle"/>
          <p:cNvSpPr txBox="1"/>
          <p:nvPr/>
        </p:nvSpPr>
        <p:spPr>
          <a:xfrm>
            <a:off x="7266279" y="1883664"/>
            <a:ext cx="3654399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Advanced Prompting</a:t>
            </a:r>
          </a:p>
        </p:txBody>
      </p:sp>
      <p:sp>
        <p:nvSpPr>
          <p:cNvPr id="40" name="cell:rowmins"/>
          <p:cNvSpPr txBox="1"/>
          <p:nvPr/>
        </p:nvSpPr>
        <p:spPr>
          <a:xfrm>
            <a:off x="10902391" y="1883664"/>
            <a:ext cx="603504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20 min</a:t>
            </a:r>
          </a:p>
        </p:txBody>
      </p:sp>
      <p:sp>
        <p:nvSpPr>
          <p:cNvPr id="41" name="nav:modulerow">
            <a:hlinkClick r:id="rId7"/>
          </p:cNvPr>
          <p:cNvSpPr/>
          <p:nvPr/>
        </p:nvSpPr>
        <p:spPr>
          <a:xfrm>
            <a:off x="6205575" y="2903220"/>
            <a:ext cx="5483199" cy="964692"/>
          </a:xfrm>
          <a:prstGeom prst="roundRect">
            <a:avLst>
              <a:gd name="adj" fmla="val 7582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2" name="vis:rowbar"/>
          <p:cNvSpPr/>
          <p:nvPr/>
        </p:nvSpPr>
        <p:spPr>
          <a:xfrm>
            <a:off x="6205575" y="2903220"/>
            <a:ext cx="54864" cy="964692"/>
          </a:xfrm>
          <a:prstGeom prst="rect">
            <a:avLst/>
          </a:prstGeom>
          <a:solidFill>
            <a:srgbClr val="6A2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3" name="cell:rowcode"/>
          <p:cNvSpPr txBox="1"/>
          <p:nvPr/>
        </p:nvSpPr>
        <p:spPr>
          <a:xfrm>
            <a:off x="6425031" y="2958084"/>
            <a:ext cx="786384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A2FA0"/>
                </a:solidFill>
                <a:latin typeface="Segoe UI Semibold"/>
              </a:rPr>
              <a:t>PE-06</a:t>
            </a:r>
          </a:p>
        </p:txBody>
      </p:sp>
      <p:sp>
        <p:nvSpPr>
          <p:cNvPr id="44" name="cell:rowtitle"/>
          <p:cNvSpPr txBox="1"/>
          <p:nvPr/>
        </p:nvSpPr>
        <p:spPr>
          <a:xfrm>
            <a:off x="7266279" y="2958084"/>
            <a:ext cx="3654399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Reusable Prompts</a:t>
            </a:r>
          </a:p>
        </p:txBody>
      </p:sp>
      <p:sp>
        <p:nvSpPr>
          <p:cNvPr id="45" name="cell:rowmins"/>
          <p:cNvSpPr txBox="1"/>
          <p:nvPr/>
        </p:nvSpPr>
        <p:spPr>
          <a:xfrm>
            <a:off x="10902391" y="2958084"/>
            <a:ext cx="603504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17 min</a:t>
            </a:r>
          </a:p>
        </p:txBody>
      </p:sp>
      <p:sp>
        <p:nvSpPr>
          <p:cNvPr id="46" name="nav:modulerow">
            <a:hlinkClick r:id="rId8"/>
          </p:cNvPr>
          <p:cNvSpPr/>
          <p:nvPr/>
        </p:nvSpPr>
        <p:spPr>
          <a:xfrm>
            <a:off x="6205575" y="3977639"/>
            <a:ext cx="5483199" cy="964692"/>
          </a:xfrm>
          <a:prstGeom prst="roundRect">
            <a:avLst>
              <a:gd name="adj" fmla="val 7582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7" name="vis:rowbar"/>
          <p:cNvSpPr/>
          <p:nvPr/>
        </p:nvSpPr>
        <p:spPr>
          <a:xfrm>
            <a:off x="6205575" y="3977639"/>
            <a:ext cx="54864" cy="964692"/>
          </a:xfrm>
          <a:prstGeom prst="rect">
            <a:avLst/>
          </a:prstGeom>
          <a:solidFill>
            <a:srgbClr val="6A2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8" name="cell:rowcode"/>
          <p:cNvSpPr txBox="1"/>
          <p:nvPr/>
        </p:nvSpPr>
        <p:spPr>
          <a:xfrm>
            <a:off x="6425031" y="4032503"/>
            <a:ext cx="786384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A2FA0"/>
                </a:solidFill>
                <a:latin typeface="Segoe UI Semibold"/>
              </a:rPr>
              <a:t>PE-07</a:t>
            </a:r>
          </a:p>
        </p:txBody>
      </p:sp>
      <p:sp>
        <p:nvSpPr>
          <p:cNvPr id="49" name="cell:rowtitle"/>
          <p:cNvSpPr txBox="1"/>
          <p:nvPr/>
        </p:nvSpPr>
        <p:spPr>
          <a:xfrm>
            <a:off x="7266279" y="4032503"/>
            <a:ext cx="3654399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Evaluating AI Responses</a:t>
            </a:r>
          </a:p>
        </p:txBody>
      </p:sp>
      <p:sp>
        <p:nvSpPr>
          <p:cNvPr id="50" name="cell:rowmins"/>
          <p:cNvSpPr txBox="1"/>
          <p:nvPr/>
        </p:nvSpPr>
        <p:spPr>
          <a:xfrm>
            <a:off x="10902391" y="4032503"/>
            <a:ext cx="603504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17 min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PROFESSIONAL SKILLS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9 modules in this track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INDEX  ·  Master index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11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cell:areablurb"/>
          <p:cNvSpPr txBox="1"/>
          <p:nvPr/>
        </p:nvSpPr>
        <p:spPr>
          <a:xfrm>
            <a:off x="502920" y="1554480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The skills AI assists and never replaces.  Click any row to open that module.</a:t>
            </a:r>
          </a:p>
        </p:txBody>
      </p:sp>
      <p:sp>
        <p:nvSpPr>
          <p:cNvPr id="16" name="nav:modulerow">
            <a:hlinkClick r:id="rId2"/>
          </p:cNvPr>
          <p:cNvSpPr/>
          <p:nvPr/>
        </p:nvSpPr>
        <p:spPr>
          <a:xfrm>
            <a:off x="502920" y="1828800"/>
            <a:ext cx="5483199" cy="749808"/>
          </a:xfrm>
          <a:prstGeom prst="roundRect">
            <a:avLst>
              <a:gd name="adj" fmla="val 975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rowbar"/>
          <p:cNvSpPr/>
          <p:nvPr/>
        </p:nvSpPr>
        <p:spPr>
          <a:xfrm>
            <a:off x="502920" y="1828800"/>
            <a:ext cx="54864" cy="749808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cell:rowcode"/>
          <p:cNvSpPr txBox="1"/>
          <p:nvPr/>
        </p:nvSpPr>
        <p:spPr>
          <a:xfrm>
            <a:off x="722376" y="1883664"/>
            <a:ext cx="78638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PS-01</a:t>
            </a:r>
          </a:p>
        </p:txBody>
      </p:sp>
      <p:sp>
        <p:nvSpPr>
          <p:cNvPr id="19" name="cell:rowtitle"/>
          <p:cNvSpPr txBox="1"/>
          <p:nvPr/>
        </p:nvSpPr>
        <p:spPr>
          <a:xfrm>
            <a:off x="1563624" y="1883664"/>
            <a:ext cx="365439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Business Communication</a:t>
            </a:r>
          </a:p>
        </p:txBody>
      </p:sp>
      <p:sp>
        <p:nvSpPr>
          <p:cNvPr id="20" name="cell:rowmins"/>
          <p:cNvSpPr txBox="1"/>
          <p:nvPr/>
        </p:nvSpPr>
        <p:spPr>
          <a:xfrm>
            <a:off x="5199735" y="1883664"/>
            <a:ext cx="60350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17 min</a:t>
            </a:r>
          </a:p>
        </p:txBody>
      </p:sp>
      <p:sp>
        <p:nvSpPr>
          <p:cNvPr id="21" name="nav:modulerow">
            <a:hlinkClick r:id="rId3"/>
          </p:cNvPr>
          <p:cNvSpPr/>
          <p:nvPr/>
        </p:nvSpPr>
        <p:spPr>
          <a:xfrm>
            <a:off x="502920" y="2688336"/>
            <a:ext cx="5483199" cy="749808"/>
          </a:xfrm>
          <a:prstGeom prst="roundRect">
            <a:avLst>
              <a:gd name="adj" fmla="val 975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rowbar"/>
          <p:cNvSpPr/>
          <p:nvPr/>
        </p:nvSpPr>
        <p:spPr>
          <a:xfrm>
            <a:off x="502920" y="2688336"/>
            <a:ext cx="54864" cy="749808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cell:rowcode"/>
          <p:cNvSpPr txBox="1"/>
          <p:nvPr/>
        </p:nvSpPr>
        <p:spPr>
          <a:xfrm>
            <a:off x="722376" y="2743200"/>
            <a:ext cx="78638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PS-02</a:t>
            </a:r>
          </a:p>
        </p:txBody>
      </p:sp>
      <p:sp>
        <p:nvSpPr>
          <p:cNvPr id="24" name="cell:rowtitle"/>
          <p:cNvSpPr txBox="1"/>
          <p:nvPr/>
        </p:nvSpPr>
        <p:spPr>
          <a:xfrm>
            <a:off x="1563624" y="2743200"/>
            <a:ext cx="365439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Professional Email Writing</a:t>
            </a:r>
          </a:p>
        </p:txBody>
      </p:sp>
      <p:sp>
        <p:nvSpPr>
          <p:cNvPr id="25" name="cell:rowmins"/>
          <p:cNvSpPr txBox="1"/>
          <p:nvPr/>
        </p:nvSpPr>
        <p:spPr>
          <a:xfrm>
            <a:off x="5199735" y="2743200"/>
            <a:ext cx="60350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17 min</a:t>
            </a:r>
          </a:p>
        </p:txBody>
      </p:sp>
      <p:sp>
        <p:nvSpPr>
          <p:cNvPr id="26" name="nav:modulerow">
            <a:hlinkClick r:id="rId4"/>
          </p:cNvPr>
          <p:cNvSpPr/>
          <p:nvPr/>
        </p:nvSpPr>
        <p:spPr>
          <a:xfrm>
            <a:off x="502920" y="3547872"/>
            <a:ext cx="5483199" cy="749808"/>
          </a:xfrm>
          <a:prstGeom prst="roundRect">
            <a:avLst>
              <a:gd name="adj" fmla="val 975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vis:rowbar"/>
          <p:cNvSpPr/>
          <p:nvPr/>
        </p:nvSpPr>
        <p:spPr>
          <a:xfrm>
            <a:off x="502920" y="3547872"/>
            <a:ext cx="54864" cy="749808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cell:rowcode"/>
          <p:cNvSpPr txBox="1"/>
          <p:nvPr/>
        </p:nvSpPr>
        <p:spPr>
          <a:xfrm>
            <a:off x="722376" y="3602736"/>
            <a:ext cx="78638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PS-03</a:t>
            </a:r>
          </a:p>
        </p:txBody>
      </p:sp>
      <p:sp>
        <p:nvSpPr>
          <p:cNvPr id="29" name="cell:rowtitle"/>
          <p:cNvSpPr txBox="1"/>
          <p:nvPr/>
        </p:nvSpPr>
        <p:spPr>
          <a:xfrm>
            <a:off x="1563624" y="3602736"/>
            <a:ext cx="365439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English for the Workplace</a:t>
            </a:r>
          </a:p>
        </p:txBody>
      </p:sp>
      <p:sp>
        <p:nvSpPr>
          <p:cNvPr id="30" name="cell:rowmins"/>
          <p:cNvSpPr txBox="1"/>
          <p:nvPr/>
        </p:nvSpPr>
        <p:spPr>
          <a:xfrm>
            <a:off x="5199735" y="3602736"/>
            <a:ext cx="60350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17 min</a:t>
            </a:r>
          </a:p>
        </p:txBody>
      </p:sp>
      <p:sp>
        <p:nvSpPr>
          <p:cNvPr id="31" name="nav:modulerow">
            <a:hlinkClick r:id="rId5"/>
          </p:cNvPr>
          <p:cNvSpPr/>
          <p:nvPr/>
        </p:nvSpPr>
        <p:spPr>
          <a:xfrm>
            <a:off x="502920" y="4407408"/>
            <a:ext cx="5483199" cy="749808"/>
          </a:xfrm>
          <a:prstGeom prst="roundRect">
            <a:avLst>
              <a:gd name="adj" fmla="val 975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rowbar"/>
          <p:cNvSpPr/>
          <p:nvPr/>
        </p:nvSpPr>
        <p:spPr>
          <a:xfrm>
            <a:off x="502920" y="4407408"/>
            <a:ext cx="54864" cy="749808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cell:rowcode"/>
          <p:cNvSpPr txBox="1"/>
          <p:nvPr/>
        </p:nvSpPr>
        <p:spPr>
          <a:xfrm>
            <a:off x="722376" y="4462272"/>
            <a:ext cx="78638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PS-04</a:t>
            </a:r>
          </a:p>
        </p:txBody>
      </p:sp>
      <p:sp>
        <p:nvSpPr>
          <p:cNvPr id="34" name="cell:rowtitle"/>
          <p:cNvSpPr txBox="1"/>
          <p:nvPr/>
        </p:nvSpPr>
        <p:spPr>
          <a:xfrm>
            <a:off x="1563624" y="4462272"/>
            <a:ext cx="365439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Time Management</a:t>
            </a:r>
          </a:p>
        </p:txBody>
      </p:sp>
      <p:sp>
        <p:nvSpPr>
          <p:cNvPr id="35" name="cell:rowmins"/>
          <p:cNvSpPr txBox="1"/>
          <p:nvPr/>
        </p:nvSpPr>
        <p:spPr>
          <a:xfrm>
            <a:off x="5199735" y="4462272"/>
            <a:ext cx="60350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16 min</a:t>
            </a:r>
          </a:p>
        </p:txBody>
      </p:sp>
      <p:sp>
        <p:nvSpPr>
          <p:cNvPr id="36" name="nav:modulerow">
            <a:hlinkClick r:id="rId6"/>
          </p:cNvPr>
          <p:cNvSpPr/>
          <p:nvPr/>
        </p:nvSpPr>
        <p:spPr>
          <a:xfrm>
            <a:off x="502920" y="5266944"/>
            <a:ext cx="5483199" cy="749808"/>
          </a:xfrm>
          <a:prstGeom prst="roundRect">
            <a:avLst>
              <a:gd name="adj" fmla="val 975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vis:rowbar"/>
          <p:cNvSpPr/>
          <p:nvPr/>
        </p:nvSpPr>
        <p:spPr>
          <a:xfrm>
            <a:off x="502920" y="5266944"/>
            <a:ext cx="54864" cy="749808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cell:rowcode"/>
          <p:cNvSpPr txBox="1"/>
          <p:nvPr/>
        </p:nvSpPr>
        <p:spPr>
          <a:xfrm>
            <a:off x="722376" y="5321807"/>
            <a:ext cx="78638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PS-05</a:t>
            </a:r>
          </a:p>
        </p:txBody>
      </p:sp>
      <p:sp>
        <p:nvSpPr>
          <p:cNvPr id="39" name="cell:rowtitle"/>
          <p:cNvSpPr txBox="1"/>
          <p:nvPr/>
        </p:nvSpPr>
        <p:spPr>
          <a:xfrm>
            <a:off x="1563624" y="5321807"/>
            <a:ext cx="365439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Productivity Systems</a:t>
            </a:r>
          </a:p>
        </p:txBody>
      </p:sp>
      <p:sp>
        <p:nvSpPr>
          <p:cNvPr id="40" name="cell:rowmins"/>
          <p:cNvSpPr txBox="1"/>
          <p:nvPr/>
        </p:nvSpPr>
        <p:spPr>
          <a:xfrm>
            <a:off x="5199735" y="5321807"/>
            <a:ext cx="60350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16 min</a:t>
            </a:r>
          </a:p>
        </p:txBody>
      </p:sp>
      <p:sp>
        <p:nvSpPr>
          <p:cNvPr id="41" name="nav:modulerow">
            <a:hlinkClick r:id="rId7"/>
          </p:cNvPr>
          <p:cNvSpPr/>
          <p:nvPr/>
        </p:nvSpPr>
        <p:spPr>
          <a:xfrm>
            <a:off x="6205575" y="1828800"/>
            <a:ext cx="5483199" cy="749808"/>
          </a:xfrm>
          <a:prstGeom prst="roundRect">
            <a:avLst>
              <a:gd name="adj" fmla="val 975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2" name="vis:rowbar"/>
          <p:cNvSpPr/>
          <p:nvPr/>
        </p:nvSpPr>
        <p:spPr>
          <a:xfrm>
            <a:off x="6205575" y="1828800"/>
            <a:ext cx="54864" cy="749808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3" name="cell:rowcode"/>
          <p:cNvSpPr txBox="1"/>
          <p:nvPr/>
        </p:nvSpPr>
        <p:spPr>
          <a:xfrm>
            <a:off x="6425031" y="1883664"/>
            <a:ext cx="78638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PS-06</a:t>
            </a:r>
          </a:p>
        </p:txBody>
      </p:sp>
      <p:sp>
        <p:nvSpPr>
          <p:cNvPr id="44" name="cell:rowtitle"/>
          <p:cNvSpPr txBox="1"/>
          <p:nvPr/>
        </p:nvSpPr>
        <p:spPr>
          <a:xfrm>
            <a:off x="7266279" y="1883664"/>
            <a:ext cx="365439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Problem-Solving</a:t>
            </a:r>
          </a:p>
        </p:txBody>
      </p:sp>
      <p:sp>
        <p:nvSpPr>
          <p:cNvPr id="45" name="cell:rowmins"/>
          <p:cNvSpPr txBox="1"/>
          <p:nvPr/>
        </p:nvSpPr>
        <p:spPr>
          <a:xfrm>
            <a:off x="10902391" y="1883664"/>
            <a:ext cx="60350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17 min</a:t>
            </a:r>
          </a:p>
        </p:txBody>
      </p:sp>
      <p:sp>
        <p:nvSpPr>
          <p:cNvPr id="46" name="nav:modulerow">
            <a:hlinkClick r:id="rId8"/>
          </p:cNvPr>
          <p:cNvSpPr/>
          <p:nvPr/>
        </p:nvSpPr>
        <p:spPr>
          <a:xfrm>
            <a:off x="6205575" y="2688336"/>
            <a:ext cx="5483199" cy="749808"/>
          </a:xfrm>
          <a:prstGeom prst="roundRect">
            <a:avLst>
              <a:gd name="adj" fmla="val 975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7" name="vis:rowbar"/>
          <p:cNvSpPr/>
          <p:nvPr/>
        </p:nvSpPr>
        <p:spPr>
          <a:xfrm>
            <a:off x="6205575" y="2688336"/>
            <a:ext cx="54864" cy="749808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8" name="cell:rowcode"/>
          <p:cNvSpPr txBox="1"/>
          <p:nvPr/>
        </p:nvSpPr>
        <p:spPr>
          <a:xfrm>
            <a:off x="6425031" y="2743200"/>
            <a:ext cx="78638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PS-07</a:t>
            </a:r>
          </a:p>
        </p:txBody>
      </p:sp>
      <p:sp>
        <p:nvSpPr>
          <p:cNvPr id="49" name="cell:rowtitle"/>
          <p:cNvSpPr txBox="1"/>
          <p:nvPr/>
        </p:nvSpPr>
        <p:spPr>
          <a:xfrm>
            <a:off x="7266279" y="2743200"/>
            <a:ext cx="365439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Critical Thinking</a:t>
            </a:r>
          </a:p>
        </p:txBody>
      </p:sp>
      <p:sp>
        <p:nvSpPr>
          <p:cNvPr id="50" name="cell:rowmins"/>
          <p:cNvSpPr txBox="1"/>
          <p:nvPr/>
        </p:nvSpPr>
        <p:spPr>
          <a:xfrm>
            <a:off x="10902391" y="2743200"/>
            <a:ext cx="60350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17 min</a:t>
            </a:r>
          </a:p>
        </p:txBody>
      </p:sp>
      <p:sp>
        <p:nvSpPr>
          <p:cNvPr id="51" name="nav:modulerow">
            <a:hlinkClick r:id="rId9"/>
          </p:cNvPr>
          <p:cNvSpPr/>
          <p:nvPr/>
        </p:nvSpPr>
        <p:spPr>
          <a:xfrm>
            <a:off x="6205575" y="3547872"/>
            <a:ext cx="5483199" cy="749808"/>
          </a:xfrm>
          <a:prstGeom prst="roundRect">
            <a:avLst>
              <a:gd name="adj" fmla="val 975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2" name="vis:rowbar"/>
          <p:cNvSpPr/>
          <p:nvPr/>
        </p:nvSpPr>
        <p:spPr>
          <a:xfrm>
            <a:off x="6205575" y="3547872"/>
            <a:ext cx="54864" cy="749808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3" name="cell:rowcode"/>
          <p:cNvSpPr txBox="1"/>
          <p:nvPr/>
        </p:nvSpPr>
        <p:spPr>
          <a:xfrm>
            <a:off x="6425031" y="3602736"/>
            <a:ext cx="78638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PS-08</a:t>
            </a:r>
          </a:p>
        </p:txBody>
      </p:sp>
      <p:sp>
        <p:nvSpPr>
          <p:cNvPr id="54" name="cell:rowtitle"/>
          <p:cNvSpPr txBox="1"/>
          <p:nvPr/>
        </p:nvSpPr>
        <p:spPr>
          <a:xfrm>
            <a:off x="7266279" y="3602736"/>
            <a:ext cx="365439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Presentation Skills</a:t>
            </a:r>
          </a:p>
        </p:txBody>
      </p:sp>
      <p:sp>
        <p:nvSpPr>
          <p:cNvPr id="55" name="cell:rowmins"/>
          <p:cNvSpPr txBox="1"/>
          <p:nvPr/>
        </p:nvSpPr>
        <p:spPr>
          <a:xfrm>
            <a:off x="10902391" y="3602736"/>
            <a:ext cx="60350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17 min</a:t>
            </a:r>
          </a:p>
        </p:txBody>
      </p:sp>
      <p:sp>
        <p:nvSpPr>
          <p:cNvPr id="56" name="nav:modulerow">
            <a:hlinkClick r:id="rId10"/>
          </p:cNvPr>
          <p:cNvSpPr/>
          <p:nvPr/>
        </p:nvSpPr>
        <p:spPr>
          <a:xfrm>
            <a:off x="6205575" y="4407408"/>
            <a:ext cx="5483199" cy="749808"/>
          </a:xfrm>
          <a:prstGeom prst="roundRect">
            <a:avLst>
              <a:gd name="adj" fmla="val 975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7" name="vis:rowbar"/>
          <p:cNvSpPr/>
          <p:nvPr/>
        </p:nvSpPr>
        <p:spPr>
          <a:xfrm>
            <a:off x="6205575" y="4407408"/>
            <a:ext cx="54864" cy="749808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8" name="cell:rowcode"/>
          <p:cNvSpPr txBox="1"/>
          <p:nvPr/>
        </p:nvSpPr>
        <p:spPr>
          <a:xfrm>
            <a:off x="6425031" y="4462272"/>
            <a:ext cx="78638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PS-09</a:t>
            </a:r>
          </a:p>
        </p:txBody>
      </p:sp>
      <p:sp>
        <p:nvSpPr>
          <p:cNvPr id="59" name="cell:rowtitle"/>
          <p:cNvSpPr txBox="1"/>
          <p:nvPr/>
        </p:nvSpPr>
        <p:spPr>
          <a:xfrm>
            <a:off x="7266279" y="4462272"/>
            <a:ext cx="365439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Teamwork &amp; Collaboration</a:t>
            </a:r>
          </a:p>
        </p:txBody>
      </p:sp>
      <p:sp>
        <p:nvSpPr>
          <p:cNvPr id="60" name="cell:rowmins"/>
          <p:cNvSpPr txBox="1"/>
          <p:nvPr/>
        </p:nvSpPr>
        <p:spPr>
          <a:xfrm>
            <a:off x="10902391" y="4462272"/>
            <a:ext cx="60350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17 min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SECURITY &amp; DATA PRIVACY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7 modules in this track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INDEX  ·  Master index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9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cell:areablurb"/>
          <p:cNvSpPr txBox="1"/>
          <p:nvPr/>
        </p:nvSpPr>
        <p:spPr>
          <a:xfrm>
            <a:off x="502920" y="1554480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Keeping our data, and our customers', where it belongs.  Click any row to open that module.</a:t>
            </a:r>
          </a:p>
        </p:txBody>
      </p:sp>
      <p:sp>
        <p:nvSpPr>
          <p:cNvPr id="16" name="nav:modulerow">
            <a:hlinkClick r:id="rId2"/>
          </p:cNvPr>
          <p:cNvSpPr/>
          <p:nvPr/>
        </p:nvSpPr>
        <p:spPr>
          <a:xfrm>
            <a:off x="502920" y="1828800"/>
            <a:ext cx="5483199" cy="964692"/>
          </a:xfrm>
          <a:prstGeom prst="roundRect">
            <a:avLst>
              <a:gd name="adj" fmla="val 7582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rowbar"/>
          <p:cNvSpPr/>
          <p:nvPr/>
        </p:nvSpPr>
        <p:spPr>
          <a:xfrm>
            <a:off x="502920" y="1828800"/>
            <a:ext cx="54864" cy="964692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cell:rowcode"/>
          <p:cNvSpPr txBox="1"/>
          <p:nvPr/>
        </p:nvSpPr>
        <p:spPr>
          <a:xfrm>
            <a:off x="722376" y="1883664"/>
            <a:ext cx="786384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SEC-01</a:t>
            </a:r>
          </a:p>
        </p:txBody>
      </p:sp>
      <p:sp>
        <p:nvSpPr>
          <p:cNvPr id="19" name="cell:rowtitle"/>
          <p:cNvSpPr txBox="1"/>
          <p:nvPr/>
        </p:nvSpPr>
        <p:spPr>
          <a:xfrm>
            <a:off x="1563624" y="1883664"/>
            <a:ext cx="3654399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Password Security</a:t>
            </a:r>
          </a:p>
        </p:txBody>
      </p:sp>
      <p:sp>
        <p:nvSpPr>
          <p:cNvPr id="20" name="cell:rowmins"/>
          <p:cNvSpPr txBox="1"/>
          <p:nvPr/>
        </p:nvSpPr>
        <p:spPr>
          <a:xfrm>
            <a:off x="5199735" y="1883664"/>
            <a:ext cx="603504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16 min</a:t>
            </a:r>
          </a:p>
        </p:txBody>
      </p:sp>
      <p:sp>
        <p:nvSpPr>
          <p:cNvPr id="21" name="nav:modulerow">
            <a:hlinkClick r:id="rId3"/>
          </p:cNvPr>
          <p:cNvSpPr/>
          <p:nvPr/>
        </p:nvSpPr>
        <p:spPr>
          <a:xfrm>
            <a:off x="502920" y="2903220"/>
            <a:ext cx="5483199" cy="964692"/>
          </a:xfrm>
          <a:prstGeom prst="roundRect">
            <a:avLst>
              <a:gd name="adj" fmla="val 7582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rowbar"/>
          <p:cNvSpPr/>
          <p:nvPr/>
        </p:nvSpPr>
        <p:spPr>
          <a:xfrm>
            <a:off x="502920" y="2903220"/>
            <a:ext cx="54864" cy="964692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cell:rowcode"/>
          <p:cNvSpPr txBox="1"/>
          <p:nvPr/>
        </p:nvSpPr>
        <p:spPr>
          <a:xfrm>
            <a:off x="722376" y="2958084"/>
            <a:ext cx="786384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SEC-02</a:t>
            </a:r>
          </a:p>
        </p:txBody>
      </p:sp>
      <p:sp>
        <p:nvSpPr>
          <p:cNvPr id="24" name="cell:rowtitle"/>
          <p:cNvSpPr txBox="1"/>
          <p:nvPr/>
        </p:nvSpPr>
        <p:spPr>
          <a:xfrm>
            <a:off x="1563624" y="2958084"/>
            <a:ext cx="3654399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Phishing &amp; Social Engineering</a:t>
            </a:r>
          </a:p>
        </p:txBody>
      </p:sp>
      <p:sp>
        <p:nvSpPr>
          <p:cNvPr id="25" name="cell:rowmins"/>
          <p:cNvSpPr txBox="1"/>
          <p:nvPr/>
        </p:nvSpPr>
        <p:spPr>
          <a:xfrm>
            <a:off x="5199735" y="2958084"/>
            <a:ext cx="603504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18 min</a:t>
            </a:r>
          </a:p>
        </p:txBody>
      </p:sp>
      <p:sp>
        <p:nvSpPr>
          <p:cNvPr id="26" name="nav:modulerow">
            <a:hlinkClick r:id="rId4"/>
          </p:cNvPr>
          <p:cNvSpPr/>
          <p:nvPr/>
        </p:nvSpPr>
        <p:spPr>
          <a:xfrm>
            <a:off x="502920" y="3977639"/>
            <a:ext cx="5483199" cy="964692"/>
          </a:xfrm>
          <a:prstGeom prst="roundRect">
            <a:avLst>
              <a:gd name="adj" fmla="val 7582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vis:rowbar"/>
          <p:cNvSpPr/>
          <p:nvPr/>
        </p:nvSpPr>
        <p:spPr>
          <a:xfrm>
            <a:off x="502920" y="3977639"/>
            <a:ext cx="54864" cy="964692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cell:rowcode"/>
          <p:cNvSpPr txBox="1"/>
          <p:nvPr/>
        </p:nvSpPr>
        <p:spPr>
          <a:xfrm>
            <a:off x="722376" y="4032503"/>
            <a:ext cx="786384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SEC-03</a:t>
            </a:r>
          </a:p>
        </p:txBody>
      </p:sp>
      <p:sp>
        <p:nvSpPr>
          <p:cNvPr id="29" name="cell:rowtitle"/>
          <p:cNvSpPr txBox="1"/>
          <p:nvPr/>
        </p:nvSpPr>
        <p:spPr>
          <a:xfrm>
            <a:off x="1563624" y="4032503"/>
            <a:ext cx="3654399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Multi-Factor Authentication</a:t>
            </a:r>
          </a:p>
        </p:txBody>
      </p:sp>
      <p:sp>
        <p:nvSpPr>
          <p:cNvPr id="30" name="cell:rowmins"/>
          <p:cNvSpPr txBox="1"/>
          <p:nvPr/>
        </p:nvSpPr>
        <p:spPr>
          <a:xfrm>
            <a:off x="5199735" y="4032503"/>
            <a:ext cx="603504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15 min</a:t>
            </a:r>
          </a:p>
        </p:txBody>
      </p:sp>
      <p:sp>
        <p:nvSpPr>
          <p:cNvPr id="31" name="nav:modulerow">
            <a:hlinkClick r:id="rId5"/>
          </p:cNvPr>
          <p:cNvSpPr/>
          <p:nvPr/>
        </p:nvSpPr>
        <p:spPr>
          <a:xfrm>
            <a:off x="502920" y="5052059"/>
            <a:ext cx="5483199" cy="964692"/>
          </a:xfrm>
          <a:prstGeom prst="roundRect">
            <a:avLst>
              <a:gd name="adj" fmla="val 7582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rowbar"/>
          <p:cNvSpPr/>
          <p:nvPr/>
        </p:nvSpPr>
        <p:spPr>
          <a:xfrm>
            <a:off x="502920" y="5052059"/>
            <a:ext cx="54864" cy="964692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cell:rowcode"/>
          <p:cNvSpPr txBox="1"/>
          <p:nvPr/>
        </p:nvSpPr>
        <p:spPr>
          <a:xfrm>
            <a:off x="722376" y="5106923"/>
            <a:ext cx="786384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SEC-04</a:t>
            </a:r>
          </a:p>
        </p:txBody>
      </p:sp>
      <p:sp>
        <p:nvSpPr>
          <p:cNvPr id="34" name="cell:rowtitle"/>
          <p:cNvSpPr txBox="1"/>
          <p:nvPr/>
        </p:nvSpPr>
        <p:spPr>
          <a:xfrm>
            <a:off x="1563624" y="5106923"/>
            <a:ext cx="3654399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Data Protection Basics</a:t>
            </a:r>
          </a:p>
        </p:txBody>
      </p:sp>
      <p:sp>
        <p:nvSpPr>
          <p:cNvPr id="35" name="cell:rowmins"/>
          <p:cNvSpPr txBox="1"/>
          <p:nvPr/>
        </p:nvSpPr>
        <p:spPr>
          <a:xfrm>
            <a:off x="5199735" y="5106923"/>
            <a:ext cx="603504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18 min</a:t>
            </a:r>
          </a:p>
        </p:txBody>
      </p:sp>
      <p:sp>
        <p:nvSpPr>
          <p:cNvPr id="36" name="nav:modulerow">
            <a:hlinkClick r:id="rId6"/>
          </p:cNvPr>
          <p:cNvSpPr/>
          <p:nvPr/>
        </p:nvSpPr>
        <p:spPr>
          <a:xfrm>
            <a:off x="6205575" y="1828800"/>
            <a:ext cx="5483199" cy="964692"/>
          </a:xfrm>
          <a:prstGeom prst="roundRect">
            <a:avLst>
              <a:gd name="adj" fmla="val 7582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vis:rowbar"/>
          <p:cNvSpPr/>
          <p:nvPr/>
        </p:nvSpPr>
        <p:spPr>
          <a:xfrm>
            <a:off x="6205575" y="1828800"/>
            <a:ext cx="54864" cy="964692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cell:rowcode"/>
          <p:cNvSpPr txBox="1"/>
          <p:nvPr/>
        </p:nvSpPr>
        <p:spPr>
          <a:xfrm>
            <a:off x="6425031" y="1883664"/>
            <a:ext cx="786384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SEC-05</a:t>
            </a:r>
          </a:p>
        </p:txBody>
      </p:sp>
      <p:sp>
        <p:nvSpPr>
          <p:cNvPr id="39" name="cell:rowtitle"/>
          <p:cNvSpPr txBox="1"/>
          <p:nvPr/>
        </p:nvSpPr>
        <p:spPr>
          <a:xfrm>
            <a:off x="7266279" y="1883664"/>
            <a:ext cx="3654399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Handling Confidential Information</a:t>
            </a:r>
          </a:p>
        </p:txBody>
      </p:sp>
      <p:sp>
        <p:nvSpPr>
          <p:cNvPr id="40" name="cell:rowmins"/>
          <p:cNvSpPr txBox="1"/>
          <p:nvPr/>
        </p:nvSpPr>
        <p:spPr>
          <a:xfrm>
            <a:off x="10902391" y="1883664"/>
            <a:ext cx="603504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16 min</a:t>
            </a:r>
          </a:p>
        </p:txBody>
      </p:sp>
      <p:sp>
        <p:nvSpPr>
          <p:cNvPr id="41" name="nav:modulerow">
            <a:hlinkClick r:id="rId7"/>
          </p:cNvPr>
          <p:cNvSpPr/>
          <p:nvPr/>
        </p:nvSpPr>
        <p:spPr>
          <a:xfrm>
            <a:off x="6205575" y="2903220"/>
            <a:ext cx="5483199" cy="964692"/>
          </a:xfrm>
          <a:prstGeom prst="roundRect">
            <a:avLst>
              <a:gd name="adj" fmla="val 7582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2" name="vis:rowbar"/>
          <p:cNvSpPr/>
          <p:nvPr/>
        </p:nvSpPr>
        <p:spPr>
          <a:xfrm>
            <a:off x="6205575" y="2903220"/>
            <a:ext cx="54864" cy="964692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3" name="cell:rowcode"/>
          <p:cNvSpPr txBox="1"/>
          <p:nvPr/>
        </p:nvSpPr>
        <p:spPr>
          <a:xfrm>
            <a:off x="6425031" y="2958084"/>
            <a:ext cx="786384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SEC-06</a:t>
            </a:r>
          </a:p>
        </p:txBody>
      </p:sp>
      <p:sp>
        <p:nvSpPr>
          <p:cNvPr id="44" name="cell:rowtitle"/>
          <p:cNvSpPr txBox="1"/>
          <p:nvPr/>
        </p:nvSpPr>
        <p:spPr>
          <a:xfrm>
            <a:off x="7266279" y="2958084"/>
            <a:ext cx="3654399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Safe Use of AI at Work</a:t>
            </a:r>
          </a:p>
        </p:txBody>
      </p:sp>
      <p:sp>
        <p:nvSpPr>
          <p:cNvPr id="45" name="cell:rowmins"/>
          <p:cNvSpPr txBox="1"/>
          <p:nvPr/>
        </p:nvSpPr>
        <p:spPr>
          <a:xfrm>
            <a:off x="10902391" y="2958084"/>
            <a:ext cx="603504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17 min</a:t>
            </a:r>
          </a:p>
        </p:txBody>
      </p:sp>
      <p:sp>
        <p:nvSpPr>
          <p:cNvPr id="46" name="nav:modulerow">
            <a:hlinkClick r:id="rId8"/>
          </p:cNvPr>
          <p:cNvSpPr/>
          <p:nvPr/>
        </p:nvSpPr>
        <p:spPr>
          <a:xfrm>
            <a:off x="6205575" y="3977639"/>
            <a:ext cx="5483199" cy="964692"/>
          </a:xfrm>
          <a:prstGeom prst="roundRect">
            <a:avLst>
              <a:gd name="adj" fmla="val 7582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7" name="vis:rowbar"/>
          <p:cNvSpPr/>
          <p:nvPr/>
        </p:nvSpPr>
        <p:spPr>
          <a:xfrm>
            <a:off x="6205575" y="3977639"/>
            <a:ext cx="54864" cy="964692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8" name="cell:rowcode"/>
          <p:cNvSpPr txBox="1"/>
          <p:nvPr/>
        </p:nvSpPr>
        <p:spPr>
          <a:xfrm>
            <a:off x="6425031" y="4032503"/>
            <a:ext cx="786384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SEC-07</a:t>
            </a:r>
          </a:p>
        </p:txBody>
      </p:sp>
      <p:sp>
        <p:nvSpPr>
          <p:cNvPr id="49" name="cell:rowtitle"/>
          <p:cNvSpPr txBox="1"/>
          <p:nvPr/>
        </p:nvSpPr>
        <p:spPr>
          <a:xfrm>
            <a:off x="7266279" y="4032503"/>
            <a:ext cx="3654399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What Never to Paste Into AI</a:t>
            </a:r>
          </a:p>
        </p:txBody>
      </p:sp>
      <p:sp>
        <p:nvSpPr>
          <p:cNvPr id="50" name="cell:rowmins"/>
          <p:cNvSpPr txBox="1"/>
          <p:nvPr/>
        </p:nvSpPr>
        <p:spPr>
          <a:xfrm>
            <a:off x="10902391" y="4032503"/>
            <a:ext cx="603504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16 min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LEARNING PATH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New Joiner — Week 1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INDEX  ·  Master index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8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cell:pathsub"/>
          <p:cNvSpPr txBox="1"/>
          <p:nvPr/>
        </p:nvSpPr>
        <p:spPr>
          <a:xfrm>
            <a:off x="502920" y="1554480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Six modules, about 100 minutes. Do these in your first week.</a:t>
            </a:r>
          </a:p>
        </p:txBody>
      </p:sp>
      <p:sp>
        <p:nvSpPr>
          <p:cNvPr id="16" name="vis:pathwhy"/>
          <p:cNvSpPr/>
          <p:nvPr/>
        </p:nvSpPr>
        <p:spPr>
          <a:xfrm>
            <a:off x="502920" y="1810512"/>
            <a:ext cx="11185855" cy="786384"/>
          </a:xfrm>
          <a:prstGeom prst="roundRect">
            <a:avLst>
              <a:gd name="adj" fmla="val 11627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icon"/>
          <p:cNvSpPr/>
          <p:nvPr/>
        </p:nvSpPr>
        <p:spPr>
          <a:xfrm>
            <a:off x="850392" y="2051913"/>
            <a:ext cx="219456" cy="219456"/>
          </a:xfrm>
          <a:prstGeom prst="ellipse">
            <a:avLst/>
          </a:prstGeom>
          <a:noFill/>
          <a:ln w="19050">
            <a:solidFill>
              <a:srgbClr val="768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8" name="vis:icon"/>
          <p:cNvCxnSpPr/>
          <p:nvPr/>
        </p:nvCxnSpPr>
        <p:spPr>
          <a:xfrm>
            <a:off x="901598" y="2300630"/>
            <a:ext cx="117043" cy="0"/>
          </a:xfrm>
          <a:prstGeom prst="line">
            <a:avLst/>
          </a:prstGeom>
          <a:ln w="19050">
            <a:solidFill>
              <a:srgbClr val="768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vis:icon"/>
          <p:cNvCxnSpPr/>
          <p:nvPr/>
        </p:nvCxnSpPr>
        <p:spPr>
          <a:xfrm>
            <a:off x="916228" y="2359151"/>
            <a:ext cx="87783" cy="0"/>
          </a:xfrm>
          <a:prstGeom prst="line">
            <a:avLst/>
          </a:prstGeom>
          <a:ln w="19050">
            <a:solidFill>
              <a:srgbClr val="768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body:pathwhy"/>
          <p:cNvSpPr txBox="1"/>
          <p:nvPr/>
        </p:nvSpPr>
        <p:spPr>
          <a:xfrm>
            <a:off x="1362456" y="1920240"/>
            <a:ext cx="1001542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Enough to work safely and to get value from the tools on day one. Nothing here assumes you have used AI before.</a:t>
            </a:r>
          </a:p>
        </p:txBody>
      </p:sp>
      <p:sp>
        <p:nvSpPr>
          <p:cNvPr id="21" name="nav:pathrow">
            <a:hlinkClick r:id="rId2"/>
          </p:cNvPr>
          <p:cNvSpPr/>
          <p:nvPr/>
        </p:nvSpPr>
        <p:spPr>
          <a:xfrm>
            <a:off x="502920" y="2834639"/>
            <a:ext cx="11185855" cy="438912"/>
          </a:xfrm>
          <a:prstGeom prst="roundRect">
            <a:avLst>
              <a:gd name="adj" fmla="val 166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pathnum"/>
          <p:cNvSpPr/>
          <p:nvPr/>
        </p:nvSpPr>
        <p:spPr>
          <a:xfrm>
            <a:off x="704088" y="2898647"/>
            <a:ext cx="310896" cy="310896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vis:pathnumtext"/>
          <p:cNvSpPr txBox="1"/>
          <p:nvPr/>
        </p:nvSpPr>
        <p:spPr>
          <a:xfrm>
            <a:off x="704088" y="2967227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24" name="cell:pathcode"/>
          <p:cNvSpPr txBox="1"/>
          <p:nvPr/>
        </p:nvSpPr>
        <p:spPr>
          <a:xfrm>
            <a:off x="1161288" y="2889503"/>
            <a:ext cx="786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AI-01</a:t>
            </a:r>
          </a:p>
        </p:txBody>
      </p:sp>
      <p:sp>
        <p:nvSpPr>
          <p:cNvPr id="25" name="cell:pathtitle"/>
          <p:cNvSpPr txBox="1"/>
          <p:nvPr/>
        </p:nvSpPr>
        <p:spPr>
          <a:xfrm>
            <a:off x="2002536" y="2889503"/>
            <a:ext cx="550148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AI Fundamentals</a:t>
            </a:r>
          </a:p>
        </p:txBody>
      </p:sp>
      <p:sp>
        <p:nvSpPr>
          <p:cNvPr id="26" name="cell:pathmins"/>
          <p:cNvSpPr txBox="1"/>
          <p:nvPr/>
        </p:nvSpPr>
        <p:spPr>
          <a:xfrm>
            <a:off x="10682935" y="2889503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18 min</a:t>
            </a:r>
          </a:p>
        </p:txBody>
      </p:sp>
      <p:sp>
        <p:nvSpPr>
          <p:cNvPr id="27" name="nav:pathrow">
            <a:hlinkClick r:id="rId3"/>
          </p:cNvPr>
          <p:cNvSpPr/>
          <p:nvPr/>
        </p:nvSpPr>
        <p:spPr>
          <a:xfrm>
            <a:off x="502920" y="3383279"/>
            <a:ext cx="11185855" cy="438912"/>
          </a:xfrm>
          <a:prstGeom prst="roundRect">
            <a:avLst>
              <a:gd name="adj" fmla="val 166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pathnum"/>
          <p:cNvSpPr/>
          <p:nvPr/>
        </p:nvSpPr>
        <p:spPr>
          <a:xfrm>
            <a:off x="704088" y="3447287"/>
            <a:ext cx="310896" cy="310896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pathnumtext"/>
          <p:cNvSpPr txBox="1"/>
          <p:nvPr/>
        </p:nvSpPr>
        <p:spPr>
          <a:xfrm>
            <a:off x="704088" y="3515868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30" name="cell:pathcode"/>
          <p:cNvSpPr txBox="1"/>
          <p:nvPr/>
        </p:nvSpPr>
        <p:spPr>
          <a:xfrm>
            <a:off x="1161288" y="3438144"/>
            <a:ext cx="786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SEC-01</a:t>
            </a:r>
          </a:p>
        </p:txBody>
      </p:sp>
      <p:sp>
        <p:nvSpPr>
          <p:cNvPr id="31" name="cell:pathtitle"/>
          <p:cNvSpPr txBox="1"/>
          <p:nvPr/>
        </p:nvSpPr>
        <p:spPr>
          <a:xfrm>
            <a:off x="2002536" y="3438144"/>
            <a:ext cx="550148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Password Security</a:t>
            </a:r>
          </a:p>
        </p:txBody>
      </p:sp>
      <p:sp>
        <p:nvSpPr>
          <p:cNvPr id="32" name="cell:pathmins"/>
          <p:cNvSpPr txBox="1"/>
          <p:nvPr/>
        </p:nvSpPr>
        <p:spPr>
          <a:xfrm>
            <a:off x="10682935" y="3438144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16 min</a:t>
            </a:r>
          </a:p>
        </p:txBody>
      </p:sp>
      <p:sp>
        <p:nvSpPr>
          <p:cNvPr id="33" name="nav:pathrow">
            <a:hlinkClick r:id="rId4"/>
          </p:cNvPr>
          <p:cNvSpPr/>
          <p:nvPr/>
        </p:nvSpPr>
        <p:spPr>
          <a:xfrm>
            <a:off x="502920" y="3931920"/>
            <a:ext cx="11185855" cy="438912"/>
          </a:xfrm>
          <a:prstGeom prst="roundRect">
            <a:avLst>
              <a:gd name="adj" fmla="val 166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vis:pathnum"/>
          <p:cNvSpPr/>
          <p:nvPr/>
        </p:nvSpPr>
        <p:spPr>
          <a:xfrm>
            <a:off x="704088" y="3995928"/>
            <a:ext cx="310896" cy="310896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5" name="vis:pathnumtext"/>
          <p:cNvSpPr txBox="1"/>
          <p:nvPr/>
        </p:nvSpPr>
        <p:spPr>
          <a:xfrm>
            <a:off x="704088" y="4064508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6" name="cell:pathcode"/>
          <p:cNvSpPr txBox="1"/>
          <p:nvPr/>
        </p:nvSpPr>
        <p:spPr>
          <a:xfrm>
            <a:off x="1161288" y="3986783"/>
            <a:ext cx="786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SEC-02</a:t>
            </a:r>
          </a:p>
        </p:txBody>
      </p:sp>
      <p:sp>
        <p:nvSpPr>
          <p:cNvPr id="37" name="cell:pathtitle"/>
          <p:cNvSpPr txBox="1"/>
          <p:nvPr/>
        </p:nvSpPr>
        <p:spPr>
          <a:xfrm>
            <a:off x="2002536" y="3986783"/>
            <a:ext cx="550148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Phishing &amp; Social Engineering</a:t>
            </a:r>
          </a:p>
        </p:txBody>
      </p:sp>
      <p:sp>
        <p:nvSpPr>
          <p:cNvPr id="38" name="cell:pathmins"/>
          <p:cNvSpPr txBox="1"/>
          <p:nvPr/>
        </p:nvSpPr>
        <p:spPr>
          <a:xfrm>
            <a:off x="10682935" y="3986783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18 min</a:t>
            </a:r>
          </a:p>
        </p:txBody>
      </p:sp>
      <p:sp>
        <p:nvSpPr>
          <p:cNvPr id="39" name="nav:pathrow">
            <a:hlinkClick r:id="rId5"/>
          </p:cNvPr>
          <p:cNvSpPr/>
          <p:nvPr/>
        </p:nvSpPr>
        <p:spPr>
          <a:xfrm>
            <a:off x="502920" y="4480560"/>
            <a:ext cx="11185855" cy="438912"/>
          </a:xfrm>
          <a:prstGeom prst="roundRect">
            <a:avLst>
              <a:gd name="adj" fmla="val 166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0" name="vis:pathnum"/>
          <p:cNvSpPr/>
          <p:nvPr/>
        </p:nvSpPr>
        <p:spPr>
          <a:xfrm>
            <a:off x="704088" y="4544568"/>
            <a:ext cx="310896" cy="310896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1" name="vis:pathnumtext"/>
          <p:cNvSpPr txBox="1"/>
          <p:nvPr/>
        </p:nvSpPr>
        <p:spPr>
          <a:xfrm>
            <a:off x="704088" y="4613148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42" name="cell:pathcode"/>
          <p:cNvSpPr txBox="1"/>
          <p:nvPr/>
        </p:nvSpPr>
        <p:spPr>
          <a:xfrm>
            <a:off x="1161288" y="4535424"/>
            <a:ext cx="786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SEC-07</a:t>
            </a:r>
          </a:p>
        </p:txBody>
      </p:sp>
      <p:sp>
        <p:nvSpPr>
          <p:cNvPr id="43" name="cell:pathtitle"/>
          <p:cNvSpPr txBox="1"/>
          <p:nvPr/>
        </p:nvSpPr>
        <p:spPr>
          <a:xfrm>
            <a:off x="2002536" y="4535424"/>
            <a:ext cx="550148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What Never to Paste Into AI</a:t>
            </a:r>
          </a:p>
        </p:txBody>
      </p:sp>
      <p:sp>
        <p:nvSpPr>
          <p:cNvPr id="44" name="cell:pathmins"/>
          <p:cNvSpPr txBox="1"/>
          <p:nvPr/>
        </p:nvSpPr>
        <p:spPr>
          <a:xfrm>
            <a:off x="10682935" y="4535424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16 min</a:t>
            </a:r>
          </a:p>
        </p:txBody>
      </p:sp>
      <p:sp>
        <p:nvSpPr>
          <p:cNvPr id="45" name="nav:pathrow">
            <a:hlinkClick r:id="rId6"/>
          </p:cNvPr>
          <p:cNvSpPr/>
          <p:nvPr/>
        </p:nvSpPr>
        <p:spPr>
          <a:xfrm>
            <a:off x="502920" y="5029200"/>
            <a:ext cx="11185855" cy="438912"/>
          </a:xfrm>
          <a:prstGeom prst="roundRect">
            <a:avLst>
              <a:gd name="adj" fmla="val 166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6" name="vis:pathnum"/>
          <p:cNvSpPr/>
          <p:nvPr/>
        </p:nvSpPr>
        <p:spPr>
          <a:xfrm>
            <a:off x="704088" y="5093208"/>
            <a:ext cx="310896" cy="310896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7" name="vis:pathnumtext"/>
          <p:cNvSpPr txBox="1"/>
          <p:nvPr/>
        </p:nvSpPr>
        <p:spPr>
          <a:xfrm>
            <a:off x="704088" y="5161788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48" name="cell:pathcode"/>
          <p:cNvSpPr txBox="1"/>
          <p:nvPr/>
        </p:nvSpPr>
        <p:spPr>
          <a:xfrm>
            <a:off x="1161288" y="5084064"/>
            <a:ext cx="786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PS-01</a:t>
            </a:r>
          </a:p>
        </p:txBody>
      </p:sp>
      <p:sp>
        <p:nvSpPr>
          <p:cNvPr id="49" name="cell:pathtitle"/>
          <p:cNvSpPr txBox="1"/>
          <p:nvPr/>
        </p:nvSpPr>
        <p:spPr>
          <a:xfrm>
            <a:off x="2002536" y="5084064"/>
            <a:ext cx="550148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Business Communication</a:t>
            </a:r>
          </a:p>
        </p:txBody>
      </p:sp>
      <p:sp>
        <p:nvSpPr>
          <p:cNvPr id="50" name="cell:pathmins"/>
          <p:cNvSpPr txBox="1"/>
          <p:nvPr/>
        </p:nvSpPr>
        <p:spPr>
          <a:xfrm>
            <a:off x="10682935" y="5084064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17 min</a:t>
            </a:r>
          </a:p>
        </p:txBody>
      </p:sp>
      <p:sp>
        <p:nvSpPr>
          <p:cNvPr id="51" name="nav:pathrow">
            <a:hlinkClick r:id="rId7"/>
          </p:cNvPr>
          <p:cNvSpPr/>
          <p:nvPr/>
        </p:nvSpPr>
        <p:spPr>
          <a:xfrm>
            <a:off x="502920" y="5577840"/>
            <a:ext cx="11185855" cy="438912"/>
          </a:xfrm>
          <a:prstGeom prst="roundRect">
            <a:avLst>
              <a:gd name="adj" fmla="val 166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2" name="vis:pathnum"/>
          <p:cNvSpPr/>
          <p:nvPr/>
        </p:nvSpPr>
        <p:spPr>
          <a:xfrm>
            <a:off x="704088" y="5641848"/>
            <a:ext cx="310896" cy="310896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3" name="vis:pathnumtext"/>
          <p:cNvSpPr txBox="1"/>
          <p:nvPr/>
        </p:nvSpPr>
        <p:spPr>
          <a:xfrm>
            <a:off x="704088" y="5710428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54" name="cell:pathcode"/>
          <p:cNvSpPr txBox="1"/>
          <p:nvPr/>
        </p:nvSpPr>
        <p:spPr>
          <a:xfrm>
            <a:off x="1161288" y="5632703"/>
            <a:ext cx="786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PS-02</a:t>
            </a:r>
          </a:p>
        </p:txBody>
      </p:sp>
      <p:sp>
        <p:nvSpPr>
          <p:cNvPr id="55" name="cell:pathtitle"/>
          <p:cNvSpPr txBox="1"/>
          <p:nvPr/>
        </p:nvSpPr>
        <p:spPr>
          <a:xfrm>
            <a:off x="2002536" y="5632703"/>
            <a:ext cx="550148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Professional Email Writing</a:t>
            </a:r>
          </a:p>
        </p:txBody>
      </p:sp>
      <p:sp>
        <p:nvSpPr>
          <p:cNvPr id="56" name="cell:pathmins"/>
          <p:cNvSpPr txBox="1"/>
          <p:nvPr/>
        </p:nvSpPr>
        <p:spPr>
          <a:xfrm>
            <a:off x="10682935" y="5632703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17 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LEARNING PATH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AI Basics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INDEX  ·  Master index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8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cell:pathsub"/>
          <p:cNvSpPr txBox="1"/>
          <p:nvPr/>
        </p:nvSpPr>
        <p:spPr>
          <a:xfrm>
            <a:off x="502920" y="1554480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Six modules, about 110 minutes. The full grounding.</a:t>
            </a:r>
          </a:p>
        </p:txBody>
      </p:sp>
      <p:sp>
        <p:nvSpPr>
          <p:cNvPr id="16" name="vis:pathwhy"/>
          <p:cNvSpPr/>
          <p:nvPr/>
        </p:nvSpPr>
        <p:spPr>
          <a:xfrm>
            <a:off x="502920" y="1810512"/>
            <a:ext cx="11185855" cy="786384"/>
          </a:xfrm>
          <a:prstGeom prst="roundRect">
            <a:avLst>
              <a:gd name="adj" fmla="val 11627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icon"/>
          <p:cNvSpPr/>
          <p:nvPr/>
        </p:nvSpPr>
        <p:spPr>
          <a:xfrm>
            <a:off x="850392" y="2051913"/>
            <a:ext cx="219456" cy="219456"/>
          </a:xfrm>
          <a:prstGeom prst="ellipse">
            <a:avLst/>
          </a:prstGeom>
          <a:noFill/>
          <a:ln w="19050">
            <a:solidFill>
              <a:srgbClr val="768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8" name="vis:icon"/>
          <p:cNvCxnSpPr/>
          <p:nvPr/>
        </p:nvCxnSpPr>
        <p:spPr>
          <a:xfrm>
            <a:off x="901598" y="2300630"/>
            <a:ext cx="117043" cy="0"/>
          </a:xfrm>
          <a:prstGeom prst="line">
            <a:avLst/>
          </a:prstGeom>
          <a:ln w="19050">
            <a:solidFill>
              <a:srgbClr val="768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vis:icon"/>
          <p:cNvCxnSpPr/>
          <p:nvPr/>
        </p:nvCxnSpPr>
        <p:spPr>
          <a:xfrm>
            <a:off x="916228" y="2359151"/>
            <a:ext cx="87783" cy="0"/>
          </a:xfrm>
          <a:prstGeom prst="line">
            <a:avLst/>
          </a:prstGeom>
          <a:ln w="19050">
            <a:solidFill>
              <a:srgbClr val="768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body:pathwhy"/>
          <p:cNvSpPr txBox="1"/>
          <p:nvPr/>
        </p:nvSpPr>
        <p:spPr>
          <a:xfrm>
            <a:off x="1362456" y="1920240"/>
            <a:ext cx="1001542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Take these in order. By the end you will know what these tools do, where they fail, and how to ask well.</a:t>
            </a:r>
          </a:p>
        </p:txBody>
      </p:sp>
      <p:sp>
        <p:nvSpPr>
          <p:cNvPr id="21" name="nav:pathrow">
            <a:hlinkClick r:id="rId2"/>
          </p:cNvPr>
          <p:cNvSpPr/>
          <p:nvPr/>
        </p:nvSpPr>
        <p:spPr>
          <a:xfrm>
            <a:off x="502920" y="2834639"/>
            <a:ext cx="11185855" cy="438912"/>
          </a:xfrm>
          <a:prstGeom prst="roundRect">
            <a:avLst>
              <a:gd name="adj" fmla="val 166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pathnum"/>
          <p:cNvSpPr/>
          <p:nvPr/>
        </p:nvSpPr>
        <p:spPr>
          <a:xfrm>
            <a:off x="704088" y="2898647"/>
            <a:ext cx="310896" cy="310896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vis:pathnumtext"/>
          <p:cNvSpPr txBox="1"/>
          <p:nvPr/>
        </p:nvSpPr>
        <p:spPr>
          <a:xfrm>
            <a:off x="704088" y="2967227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24" name="cell:pathcode"/>
          <p:cNvSpPr txBox="1"/>
          <p:nvPr/>
        </p:nvSpPr>
        <p:spPr>
          <a:xfrm>
            <a:off x="1161288" y="2889503"/>
            <a:ext cx="786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AI-01</a:t>
            </a:r>
          </a:p>
        </p:txBody>
      </p:sp>
      <p:sp>
        <p:nvSpPr>
          <p:cNvPr id="25" name="cell:pathtitle"/>
          <p:cNvSpPr txBox="1"/>
          <p:nvPr/>
        </p:nvSpPr>
        <p:spPr>
          <a:xfrm>
            <a:off x="2002536" y="2889503"/>
            <a:ext cx="550148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AI Fundamentals</a:t>
            </a:r>
          </a:p>
        </p:txBody>
      </p:sp>
      <p:sp>
        <p:nvSpPr>
          <p:cNvPr id="26" name="cell:pathmins"/>
          <p:cNvSpPr txBox="1"/>
          <p:nvPr/>
        </p:nvSpPr>
        <p:spPr>
          <a:xfrm>
            <a:off x="10682935" y="2889503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18 min</a:t>
            </a:r>
          </a:p>
        </p:txBody>
      </p:sp>
      <p:sp>
        <p:nvSpPr>
          <p:cNvPr id="27" name="nav:pathrow">
            <a:hlinkClick r:id="rId3"/>
          </p:cNvPr>
          <p:cNvSpPr/>
          <p:nvPr/>
        </p:nvSpPr>
        <p:spPr>
          <a:xfrm>
            <a:off x="502920" y="3383279"/>
            <a:ext cx="11185855" cy="438912"/>
          </a:xfrm>
          <a:prstGeom prst="roundRect">
            <a:avLst>
              <a:gd name="adj" fmla="val 166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pathnum"/>
          <p:cNvSpPr/>
          <p:nvPr/>
        </p:nvSpPr>
        <p:spPr>
          <a:xfrm>
            <a:off x="704088" y="3447287"/>
            <a:ext cx="310896" cy="310896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pathnumtext"/>
          <p:cNvSpPr txBox="1"/>
          <p:nvPr/>
        </p:nvSpPr>
        <p:spPr>
          <a:xfrm>
            <a:off x="704088" y="3515868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30" name="cell:pathcode"/>
          <p:cNvSpPr txBox="1"/>
          <p:nvPr/>
        </p:nvSpPr>
        <p:spPr>
          <a:xfrm>
            <a:off x="1161288" y="3438144"/>
            <a:ext cx="786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AI-02</a:t>
            </a:r>
          </a:p>
        </p:txBody>
      </p:sp>
      <p:sp>
        <p:nvSpPr>
          <p:cNvPr id="31" name="cell:pathtitle"/>
          <p:cNvSpPr txBox="1"/>
          <p:nvPr/>
        </p:nvSpPr>
        <p:spPr>
          <a:xfrm>
            <a:off x="2002536" y="3438144"/>
            <a:ext cx="550148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Generative AI</a:t>
            </a:r>
          </a:p>
        </p:txBody>
      </p:sp>
      <p:sp>
        <p:nvSpPr>
          <p:cNvPr id="32" name="cell:pathmins"/>
          <p:cNvSpPr txBox="1"/>
          <p:nvPr/>
        </p:nvSpPr>
        <p:spPr>
          <a:xfrm>
            <a:off x="10682935" y="3438144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18 min</a:t>
            </a:r>
          </a:p>
        </p:txBody>
      </p:sp>
      <p:sp>
        <p:nvSpPr>
          <p:cNvPr id="33" name="nav:pathrow">
            <a:hlinkClick r:id="rId4"/>
          </p:cNvPr>
          <p:cNvSpPr/>
          <p:nvPr/>
        </p:nvSpPr>
        <p:spPr>
          <a:xfrm>
            <a:off x="502920" y="3931920"/>
            <a:ext cx="11185855" cy="438912"/>
          </a:xfrm>
          <a:prstGeom prst="roundRect">
            <a:avLst>
              <a:gd name="adj" fmla="val 166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vis:pathnum"/>
          <p:cNvSpPr/>
          <p:nvPr/>
        </p:nvSpPr>
        <p:spPr>
          <a:xfrm>
            <a:off x="704088" y="3995928"/>
            <a:ext cx="310896" cy="310896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5" name="vis:pathnumtext"/>
          <p:cNvSpPr txBox="1"/>
          <p:nvPr/>
        </p:nvSpPr>
        <p:spPr>
          <a:xfrm>
            <a:off x="704088" y="4064508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6" name="cell:pathcode"/>
          <p:cNvSpPr txBox="1"/>
          <p:nvPr/>
        </p:nvSpPr>
        <p:spPr>
          <a:xfrm>
            <a:off x="1161288" y="3986783"/>
            <a:ext cx="786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AI-03</a:t>
            </a:r>
          </a:p>
        </p:txBody>
      </p:sp>
      <p:sp>
        <p:nvSpPr>
          <p:cNvPr id="37" name="cell:pathtitle"/>
          <p:cNvSpPr txBox="1"/>
          <p:nvPr/>
        </p:nvSpPr>
        <p:spPr>
          <a:xfrm>
            <a:off x="2002536" y="3986783"/>
            <a:ext cx="550148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AI Capabilities</a:t>
            </a:r>
          </a:p>
        </p:txBody>
      </p:sp>
      <p:sp>
        <p:nvSpPr>
          <p:cNvPr id="38" name="cell:pathmins"/>
          <p:cNvSpPr txBox="1"/>
          <p:nvPr/>
        </p:nvSpPr>
        <p:spPr>
          <a:xfrm>
            <a:off x="10682935" y="3986783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17 min</a:t>
            </a:r>
          </a:p>
        </p:txBody>
      </p:sp>
      <p:sp>
        <p:nvSpPr>
          <p:cNvPr id="39" name="nav:pathrow">
            <a:hlinkClick r:id="rId5"/>
          </p:cNvPr>
          <p:cNvSpPr/>
          <p:nvPr/>
        </p:nvSpPr>
        <p:spPr>
          <a:xfrm>
            <a:off x="502920" y="4480560"/>
            <a:ext cx="11185855" cy="438912"/>
          </a:xfrm>
          <a:prstGeom prst="roundRect">
            <a:avLst>
              <a:gd name="adj" fmla="val 166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0" name="vis:pathnum"/>
          <p:cNvSpPr/>
          <p:nvPr/>
        </p:nvSpPr>
        <p:spPr>
          <a:xfrm>
            <a:off x="704088" y="4544568"/>
            <a:ext cx="310896" cy="310896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1" name="vis:pathnumtext"/>
          <p:cNvSpPr txBox="1"/>
          <p:nvPr/>
        </p:nvSpPr>
        <p:spPr>
          <a:xfrm>
            <a:off x="704088" y="4613148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42" name="cell:pathcode"/>
          <p:cNvSpPr txBox="1"/>
          <p:nvPr/>
        </p:nvSpPr>
        <p:spPr>
          <a:xfrm>
            <a:off x="1161288" y="4535424"/>
            <a:ext cx="786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AI-04</a:t>
            </a:r>
          </a:p>
        </p:txBody>
      </p:sp>
      <p:sp>
        <p:nvSpPr>
          <p:cNvPr id="43" name="cell:pathtitle"/>
          <p:cNvSpPr txBox="1"/>
          <p:nvPr/>
        </p:nvSpPr>
        <p:spPr>
          <a:xfrm>
            <a:off x="2002536" y="4535424"/>
            <a:ext cx="550148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AI Limitations</a:t>
            </a:r>
          </a:p>
        </p:txBody>
      </p:sp>
      <p:sp>
        <p:nvSpPr>
          <p:cNvPr id="44" name="cell:pathmins"/>
          <p:cNvSpPr txBox="1"/>
          <p:nvPr/>
        </p:nvSpPr>
        <p:spPr>
          <a:xfrm>
            <a:off x="10682935" y="4535424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17 min</a:t>
            </a:r>
          </a:p>
        </p:txBody>
      </p:sp>
      <p:sp>
        <p:nvSpPr>
          <p:cNvPr id="45" name="nav:pathrow">
            <a:hlinkClick r:id="rId6"/>
          </p:cNvPr>
          <p:cNvSpPr/>
          <p:nvPr/>
        </p:nvSpPr>
        <p:spPr>
          <a:xfrm>
            <a:off x="502920" y="5029200"/>
            <a:ext cx="11185855" cy="438912"/>
          </a:xfrm>
          <a:prstGeom prst="roundRect">
            <a:avLst>
              <a:gd name="adj" fmla="val 166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6" name="vis:pathnum"/>
          <p:cNvSpPr/>
          <p:nvPr/>
        </p:nvSpPr>
        <p:spPr>
          <a:xfrm>
            <a:off x="704088" y="5093208"/>
            <a:ext cx="310896" cy="310896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7" name="vis:pathnumtext"/>
          <p:cNvSpPr txBox="1"/>
          <p:nvPr/>
        </p:nvSpPr>
        <p:spPr>
          <a:xfrm>
            <a:off x="704088" y="5161788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48" name="cell:pathcode"/>
          <p:cNvSpPr txBox="1"/>
          <p:nvPr/>
        </p:nvSpPr>
        <p:spPr>
          <a:xfrm>
            <a:off x="1161288" y="5084064"/>
            <a:ext cx="786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AI-05</a:t>
            </a:r>
          </a:p>
        </p:txBody>
      </p:sp>
      <p:sp>
        <p:nvSpPr>
          <p:cNvPr id="49" name="cell:pathtitle"/>
          <p:cNvSpPr txBox="1"/>
          <p:nvPr/>
        </p:nvSpPr>
        <p:spPr>
          <a:xfrm>
            <a:off x="2002536" y="5084064"/>
            <a:ext cx="550148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Hallucinations &amp; Fact-Checking</a:t>
            </a:r>
          </a:p>
        </p:txBody>
      </p:sp>
      <p:sp>
        <p:nvSpPr>
          <p:cNvPr id="50" name="cell:pathmins"/>
          <p:cNvSpPr txBox="1"/>
          <p:nvPr/>
        </p:nvSpPr>
        <p:spPr>
          <a:xfrm>
            <a:off x="10682935" y="5084064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18 min</a:t>
            </a:r>
          </a:p>
        </p:txBody>
      </p:sp>
      <p:sp>
        <p:nvSpPr>
          <p:cNvPr id="51" name="nav:pathrow">
            <a:hlinkClick r:id="rId7"/>
          </p:cNvPr>
          <p:cNvSpPr/>
          <p:nvPr/>
        </p:nvSpPr>
        <p:spPr>
          <a:xfrm>
            <a:off x="502920" y="5577840"/>
            <a:ext cx="11185855" cy="438912"/>
          </a:xfrm>
          <a:prstGeom prst="roundRect">
            <a:avLst>
              <a:gd name="adj" fmla="val 166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2" name="vis:pathnum"/>
          <p:cNvSpPr/>
          <p:nvPr/>
        </p:nvSpPr>
        <p:spPr>
          <a:xfrm>
            <a:off x="704088" y="5641848"/>
            <a:ext cx="310896" cy="310896"/>
          </a:xfrm>
          <a:prstGeom prst="ellipse">
            <a:avLst/>
          </a:prstGeom>
          <a:solidFill>
            <a:srgbClr val="6A2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3" name="vis:pathnumtext"/>
          <p:cNvSpPr txBox="1"/>
          <p:nvPr/>
        </p:nvSpPr>
        <p:spPr>
          <a:xfrm>
            <a:off x="704088" y="5710428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54" name="cell:pathcode"/>
          <p:cNvSpPr txBox="1"/>
          <p:nvPr/>
        </p:nvSpPr>
        <p:spPr>
          <a:xfrm>
            <a:off x="1161288" y="5632703"/>
            <a:ext cx="786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A2FA0"/>
                </a:solidFill>
                <a:latin typeface="Segoe UI Semibold"/>
              </a:rPr>
              <a:t>PE-01</a:t>
            </a:r>
          </a:p>
        </p:txBody>
      </p:sp>
      <p:sp>
        <p:nvSpPr>
          <p:cNvPr id="55" name="cell:pathtitle"/>
          <p:cNvSpPr txBox="1"/>
          <p:nvPr/>
        </p:nvSpPr>
        <p:spPr>
          <a:xfrm>
            <a:off x="2002536" y="5632703"/>
            <a:ext cx="550148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Basic Prompting</a:t>
            </a:r>
          </a:p>
        </p:txBody>
      </p:sp>
      <p:sp>
        <p:nvSpPr>
          <p:cNvPr id="56" name="cell:pathmins"/>
          <p:cNvSpPr txBox="1"/>
          <p:nvPr/>
        </p:nvSpPr>
        <p:spPr>
          <a:xfrm>
            <a:off x="10682935" y="5632703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20 min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LEARNING PATH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Manager track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INDEX  ·  Master index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8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cell:pathsub"/>
          <p:cNvSpPr txBox="1"/>
          <p:nvPr/>
        </p:nvSpPr>
        <p:spPr>
          <a:xfrm>
            <a:off x="502920" y="1554480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Six modules, about 100 minutes. For anyone who runs work.</a:t>
            </a:r>
          </a:p>
        </p:txBody>
      </p:sp>
      <p:sp>
        <p:nvSpPr>
          <p:cNvPr id="16" name="vis:pathwhy"/>
          <p:cNvSpPr/>
          <p:nvPr/>
        </p:nvSpPr>
        <p:spPr>
          <a:xfrm>
            <a:off x="502920" y="1810512"/>
            <a:ext cx="11185855" cy="786384"/>
          </a:xfrm>
          <a:prstGeom prst="roundRect">
            <a:avLst>
              <a:gd name="adj" fmla="val 11627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icon"/>
          <p:cNvSpPr/>
          <p:nvPr/>
        </p:nvSpPr>
        <p:spPr>
          <a:xfrm>
            <a:off x="850392" y="2051913"/>
            <a:ext cx="219456" cy="219456"/>
          </a:xfrm>
          <a:prstGeom prst="ellipse">
            <a:avLst/>
          </a:prstGeom>
          <a:noFill/>
          <a:ln w="19050">
            <a:solidFill>
              <a:srgbClr val="768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8" name="vis:icon"/>
          <p:cNvCxnSpPr/>
          <p:nvPr/>
        </p:nvCxnSpPr>
        <p:spPr>
          <a:xfrm>
            <a:off x="901598" y="2300630"/>
            <a:ext cx="117043" cy="0"/>
          </a:xfrm>
          <a:prstGeom prst="line">
            <a:avLst/>
          </a:prstGeom>
          <a:ln w="19050">
            <a:solidFill>
              <a:srgbClr val="768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vis:icon"/>
          <p:cNvCxnSpPr/>
          <p:nvPr/>
        </p:nvCxnSpPr>
        <p:spPr>
          <a:xfrm>
            <a:off x="916228" y="2359151"/>
            <a:ext cx="87783" cy="0"/>
          </a:xfrm>
          <a:prstGeom prst="line">
            <a:avLst/>
          </a:prstGeom>
          <a:ln w="19050">
            <a:solidFill>
              <a:srgbClr val="768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body:pathwhy"/>
          <p:cNvSpPr txBox="1"/>
          <p:nvPr/>
        </p:nvSpPr>
        <p:spPr>
          <a:xfrm>
            <a:off x="1362456" y="1920240"/>
            <a:ext cx="1001542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Communication, judgement and handover. The parts of the job that decide whether a team's work actually lands.</a:t>
            </a:r>
          </a:p>
        </p:txBody>
      </p:sp>
      <p:sp>
        <p:nvSpPr>
          <p:cNvPr id="21" name="nav:pathrow">
            <a:hlinkClick r:id="rId2"/>
          </p:cNvPr>
          <p:cNvSpPr/>
          <p:nvPr/>
        </p:nvSpPr>
        <p:spPr>
          <a:xfrm>
            <a:off x="502920" y="2834639"/>
            <a:ext cx="11185855" cy="438912"/>
          </a:xfrm>
          <a:prstGeom prst="roundRect">
            <a:avLst>
              <a:gd name="adj" fmla="val 166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pathnum"/>
          <p:cNvSpPr/>
          <p:nvPr/>
        </p:nvSpPr>
        <p:spPr>
          <a:xfrm>
            <a:off x="704088" y="2898647"/>
            <a:ext cx="310896" cy="310896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vis:pathnumtext"/>
          <p:cNvSpPr txBox="1"/>
          <p:nvPr/>
        </p:nvSpPr>
        <p:spPr>
          <a:xfrm>
            <a:off x="704088" y="2967227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24" name="cell:pathcode"/>
          <p:cNvSpPr txBox="1"/>
          <p:nvPr/>
        </p:nvSpPr>
        <p:spPr>
          <a:xfrm>
            <a:off x="1161288" y="2889503"/>
            <a:ext cx="786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PS-01</a:t>
            </a:r>
          </a:p>
        </p:txBody>
      </p:sp>
      <p:sp>
        <p:nvSpPr>
          <p:cNvPr id="25" name="cell:pathtitle"/>
          <p:cNvSpPr txBox="1"/>
          <p:nvPr/>
        </p:nvSpPr>
        <p:spPr>
          <a:xfrm>
            <a:off x="2002536" y="2889503"/>
            <a:ext cx="550148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Business Communication</a:t>
            </a:r>
          </a:p>
        </p:txBody>
      </p:sp>
      <p:sp>
        <p:nvSpPr>
          <p:cNvPr id="26" name="cell:pathmins"/>
          <p:cNvSpPr txBox="1"/>
          <p:nvPr/>
        </p:nvSpPr>
        <p:spPr>
          <a:xfrm>
            <a:off x="10682935" y="2889503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17 min</a:t>
            </a:r>
          </a:p>
        </p:txBody>
      </p:sp>
      <p:sp>
        <p:nvSpPr>
          <p:cNvPr id="27" name="nav:pathrow">
            <a:hlinkClick r:id="rId3"/>
          </p:cNvPr>
          <p:cNvSpPr/>
          <p:nvPr/>
        </p:nvSpPr>
        <p:spPr>
          <a:xfrm>
            <a:off x="502920" y="3383279"/>
            <a:ext cx="11185855" cy="438912"/>
          </a:xfrm>
          <a:prstGeom prst="roundRect">
            <a:avLst>
              <a:gd name="adj" fmla="val 166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pathnum"/>
          <p:cNvSpPr/>
          <p:nvPr/>
        </p:nvSpPr>
        <p:spPr>
          <a:xfrm>
            <a:off x="704088" y="3447287"/>
            <a:ext cx="310896" cy="310896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pathnumtext"/>
          <p:cNvSpPr txBox="1"/>
          <p:nvPr/>
        </p:nvSpPr>
        <p:spPr>
          <a:xfrm>
            <a:off x="704088" y="3515868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30" name="cell:pathcode"/>
          <p:cNvSpPr txBox="1"/>
          <p:nvPr/>
        </p:nvSpPr>
        <p:spPr>
          <a:xfrm>
            <a:off x="1161288" y="3438144"/>
            <a:ext cx="786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PS-04</a:t>
            </a:r>
          </a:p>
        </p:txBody>
      </p:sp>
      <p:sp>
        <p:nvSpPr>
          <p:cNvPr id="31" name="cell:pathtitle"/>
          <p:cNvSpPr txBox="1"/>
          <p:nvPr/>
        </p:nvSpPr>
        <p:spPr>
          <a:xfrm>
            <a:off x="2002536" y="3438144"/>
            <a:ext cx="550148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Time Management</a:t>
            </a:r>
          </a:p>
        </p:txBody>
      </p:sp>
      <p:sp>
        <p:nvSpPr>
          <p:cNvPr id="32" name="cell:pathmins"/>
          <p:cNvSpPr txBox="1"/>
          <p:nvPr/>
        </p:nvSpPr>
        <p:spPr>
          <a:xfrm>
            <a:off x="10682935" y="3438144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16 min</a:t>
            </a:r>
          </a:p>
        </p:txBody>
      </p:sp>
      <p:sp>
        <p:nvSpPr>
          <p:cNvPr id="33" name="nav:pathrow">
            <a:hlinkClick r:id="rId4"/>
          </p:cNvPr>
          <p:cNvSpPr/>
          <p:nvPr/>
        </p:nvSpPr>
        <p:spPr>
          <a:xfrm>
            <a:off x="502920" y="3931920"/>
            <a:ext cx="11185855" cy="438912"/>
          </a:xfrm>
          <a:prstGeom prst="roundRect">
            <a:avLst>
              <a:gd name="adj" fmla="val 166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vis:pathnum"/>
          <p:cNvSpPr/>
          <p:nvPr/>
        </p:nvSpPr>
        <p:spPr>
          <a:xfrm>
            <a:off x="704088" y="3995928"/>
            <a:ext cx="310896" cy="310896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5" name="vis:pathnumtext"/>
          <p:cNvSpPr txBox="1"/>
          <p:nvPr/>
        </p:nvSpPr>
        <p:spPr>
          <a:xfrm>
            <a:off x="704088" y="4064508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6" name="cell:pathcode"/>
          <p:cNvSpPr txBox="1"/>
          <p:nvPr/>
        </p:nvSpPr>
        <p:spPr>
          <a:xfrm>
            <a:off x="1161288" y="3986783"/>
            <a:ext cx="786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PS-06</a:t>
            </a:r>
          </a:p>
        </p:txBody>
      </p:sp>
      <p:sp>
        <p:nvSpPr>
          <p:cNvPr id="37" name="cell:pathtitle"/>
          <p:cNvSpPr txBox="1"/>
          <p:nvPr/>
        </p:nvSpPr>
        <p:spPr>
          <a:xfrm>
            <a:off x="2002536" y="3986783"/>
            <a:ext cx="550148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Problem-Solving</a:t>
            </a:r>
          </a:p>
        </p:txBody>
      </p:sp>
      <p:sp>
        <p:nvSpPr>
          <p:cNvPr id="38" name="cell:pathmins"/>
          <p:cNvSpPr txBox="1"/>
          <p:nvPr/>
        </p:nvSpPr>
        <p:spPr>
          <a:xfrm>
            <a:off x="10682935" y="3986783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17 min</a:t>
            </a:r>
          </a:p>
        </p:txBody>
      </p:sp>
      <p:sp>
        <p:nvSpPr>
          <p:cNvPr id="39" name="nav:pathrow">
            <a:hlinkClick r:id="rId5"/>
          </p:cNvPr>
          <p:cNvSpPr/>
          <p:nvPr/>
        </p:nvSpPr>
        <p:spPr>
          <a:xfrm>
            <a:off x="502920" y="4480560"/>
            <a:ext cx="11185855" cy="438912"/>
          </a:xfrm>
          <a:prstGeom prst="roundRect">
            <a:avLst>
              <a:gd name="adj" fmla="val 166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0" name="vis:pathnum"/>
          <p:cNvSpPr/>
          <p:nvPr/>
        </p:nvSpPr>
        <p:spPr>
          <a:xfrm>
            <a:off x="704088" y="4544568"/>
            <a:ext cx="310896" cy="310896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1" name="vis:pathnumtext"/>
          <p:cNvSpPr txBox="1"/>
          <p:nvPr/>
        </p:nvSpPr>
        <p:spPr>
          <a:xfrm>
            <a:off x="704088" y="4613148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42" name="cell:pathcode"/>
          <p:cNvSpPr txBox="1"/>
          <p:nvPr/>
        </p:nvSpPr>
        <p:spPr>
          <a:xfrm>
            <a:off x="1161288" y="4535424"/>
            <a:ext cx="786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PS-07</a:t>
            </a:r>
          </a:p>
        </p:txBody>
      </p:sp>
      <p:sp>
        <p:nvSpPr>
          <p:cNvPr id="43" name="cell:pathtitle"/>
          <p:cNvSpPr txBox="1"/>
          <p:nvPr/>
        </p:nvSpPr>
        <p:spPr>
          <a:xfrm>
            <a:off x="2002536" y="4535424"/>
            <a:ext cx="550148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Critical Thinking</a:t>
            </a:r>
          </a:p>
        </p:txBody>
      </p:sp>
      <p:sp>
        <p:nvSpPr>
          <p:cNvPr id="44" name="cell:pathmins"/>
          <p:cNvSpPr txBox="1"/>
          <p:nvPr/>
        </p:nvSpPr>
        <p:spPr>
          <a:xfrm>
            <a:off x="10682935" y="4535424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17 min</a:t>
            </a:r>
          </a:p>
        </p:txBody>
      </p:sp>
      <p:sp>
        <p:nvSpPr>
          <p:cNvPr id="45" name="nav:pathrow">
            <a:hlinkClick r:id="rId6"/>
          </p:cNvPr>
          <p:cNvSpPr/>
          <p:nvPr/>
        </p:nvSpPr>
        <p:spPr>
          <a:xfrm>
            <a:off x="502920" y="5029200"/>
            <a:ext cx="11185855" cy="438912"/>
          </a:xfrm>
          <a:prstGeom prst="roundRect">
            <a:avLst>
              <a:gd name="adj" fmla="val 166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6" name="vis:pathnum"/>
          <p:cNvSpPr/>
          <p:nvPr/>
        </p:nvSpPr>
        <p:spPr>
          <a:xfrm>
            <a:off x="704088" y="5093208"/>
            <a:ext cx="310896" cy="310896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7" name="vis:pathnumtext"/>
          <p:cNvSpPr txBox="1"/>
          <p:nvPr/>
        </p:nvSpPr>
        <p:spPr>
          <a:xfrm>
            <a:off x="704088" y="5161788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48" name="cell:pathcode"/>
          <p:cNvSpPr txBox="1"/>
          <p:nvPr/>
        </p:nvSpPr>
        <p:spPr>
          <a:xfrm>
            <a:off x="1161288" y="5084064"/>
            <a:ext cx="786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PS-08</a:t>
            </a:r>
          </a:p>
        </p:txBody>
      </p:sp>
      <p:sp>
        <p:nvSpPr>
          <p:cNvPr id="49" name="cell:pathtitle"/>
          <p:cNvSpPr txBox="1"/>
          <p:nvPr/>
        </p:nvSpPr>
        <p:spPr>
          <a:xfrm>
            <a:off x="2002536" y="5084064"/>
            <a:ext cx="550148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Presentation Skills</a:t>
            </a:r>
          </a:p>
        </p:txBody>
      </p:sp>
      <p:sp>
        <p:nvSpPr>
          <p:cNvPr id="50" name="cell:pathmins"/>
          <p:cNvSpPr txBox="1"/>
          <p:nvPr/>
        </p:nvSpPr>
        <p:spPr>
          <a:xfrm>
            <a:off x="10682935" y="5084064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17 min</a:t>
            </a:r>
          </a:p>
        </p:txBody>
      </p:sp>
      <p:sp>
        <p:nvSpPr>
          <p:cNvPr id="51" name="nav:pathrow">
            <a:hlinkClick r:id="rId7"/>
          </p:cNvPr>
          <p:cNvSpPr/>
          <p:nvPr/>
        </p:nvSpPr>
        <p:spPr>
          <a:xfrm>
            <a:off x="502920" y="5577840"/>
            <a:ext cx="11185855" cy="438912"/>
          </a:xfrm>
          <a:prstGeom prst="roundRect">
            <a:avLst>
              <a:gd name="adj" fmla="val 166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2" name="vis:pathnum"/>
          <p:cNvSpPr/>
          <p:nvPr/>
        </p:nvSpPr>
        <p:spPr>
          <a:xfrm>
            <a:off x="704088" y="5641848"/>
            <a:ext cx="310896" cy="310896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3" name="vis:pathnumtext"/>
          <p:cNvSpPr txBox="1"/>
          <p:nvPr/>
        </p:nvSpPr>
        <p:spPr>
          <a:xfrm>
            <a:off x="704088" y="5710428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54" name="cell:pathcode"/>
          <p:cNvSpPr txBox="1"/>
          <p:nvPr/>
        </p:nvSpPr>
        <p:spPr>
          <a:xfrm>
            <a:off x="1161288" y="5632703"/>
            <a:ext cx="786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PS-09</a:t>
            </a:r>
          </a:p>
        </p:txBody>
      </p:sp>
      <p:sp>
        <p:nvSpPr>
          <p:cNvPr id="55" name="cell:pathtitle"/>
          <p:cNvSpPr txBox="1"/>
          <p:nvPr/>
        </p:nvSpPr>
        <p:spPr>
          <a:xfrm>
            <a:off x="2002536" y="5632703"/>
            <a:ext cx="550148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Teamwork &amp; Collaboration</a:t>
            </a:r>
          </a:p>
        </p:txBody>
      </p:sp>
      <p:sp>
        <p:nvSpPr>
          <p:cNvPr id="56" name="cell:pathmins"/>
          <p:cNvSpPr txBox="1"/>
          <p:nvPr/>
        </p:nvSpPr>
        <p:spPr>
          <a:xfrm>
            <a:off x="10682935" y="5632703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17 min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WHERE TO START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If you only do one thing this week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INDEX  ·  Master index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startcard"/>
          <p:cNvSpPr/>
          <p:nvPr/>
        </p:nvSpPr>
        <p:spPr>
          <a:xfrm>
            <a:off x="502920" y="1719072"/>
            <a:ext cx="6448882" cy="2194560"/>
          </a:xfrm>
          <a:prstGeom prst="roundRect">
            <a:avLst>
              <a:gd name="adj" fmla="val 4166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seclabel"/>
          <p:cNvSpPr txBox="1"/>
          <p:nvPr/>
        </p:nvSpPr>
        <p:spPr>
          <a:xfrm>
            <a:off x="832104" y="2029967"/>
            <a:ext cx="57905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688D8"/>
                </a:solidFill>
                <a:latin typeface="Segoe UI Semibold"/>
              </a:rPr>
              <a:t>START HERE</a:t>
            </a:r>
          </a:p>
        </p:txBody>
      </p:sp>
      <p:sp>
        <p:nvSpPr>
          <p:cNvPr id="17" name="body:startcard"/>
          <p:cNvSpPr txBox="1"/>
          <p:nvPr/>
        </p:nvSpPr>
        <p:spPr>
          <a:xfrm>
            <a:off x="832104" y="2450591"/>
            <a:ext cx="579051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Segoe UI Semibold"/>
              </a:rPr>
              <a:t>AI Fundamentals, then What Never to Paste Into AI. Thirty-four minutes, and you can use these tools safely from that afternoon.</a:t>
            </a:r>
          </a:p>
        </p:txBody>
      </p:sp>
      <p:sp>
        <p:nvSpPr>
          <p:cNvPr id="18" name="vis:checktile"/>
          <p:cNvSpPr/>
          <p:nvPr/>
        </p:nvSpPr>
        <p:spPr>
          <a:xfrm>
            <a:off x="8082076" y="1719072"/>
            <a:ext cx="3606698" cy="987552"/>
          </a:xfrm>
          <a:prstGeom prst="roundRect">
            <a:avLst>
              <a:gd name="adj" fmla="val 925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vis:checkdot"/>
          <p:cNvSpPr/>
          <p:nvPr/>
        </p:nvSpPr>
        <p:spPr>
          <a:xfrm>
            <a:off x="8301532" y="2057400"/>
            <a:ext cx="310896" cy="310896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0" name="vis:icon"/>
          <p:cNvCxnSpPr/>
          <p:nvPr/>
        </p:nvCxnSpPr>
        <p:spPr>
          <a:xfrm>
            <a:off x="8394435" y="2216322"/>
            <a:ext cx="45172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vis:icon"/>
          <p:cNvCxnSpPr/>
          <p:nvPr/>
        </p:nvCxnSpPr>
        <p:spPr>
          <a:xfrm flipV="1">
            <a:off x="8439607" y="2164201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ell:checkitem"/>
          <p:cNvSpPr txBox="1"/>
          <p:nvPr/>
        </p:nvSpPr>
        <p:spPr>
          <a:xfrm>
            <a:off x="8740444" y="1865376"/>
            <a:ext cx="272887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AI-01 — AI Fundamentals</a:t>
            </a:r>
          </a:p>
        </p:txBody>
      </p:sp>
      <p:sp>
        <p:nvSpPr>
          <p:cNvPr id="23" name="vis:checktile"/>
          <p:cNvSpPr/>
          <p:nvPr/>
        </p:nvSpPr>
        <p:spPr>
          <a:xfrm>
            <a:off x="8082076" y="2926080"/>
            <a:ext cx="3606698" cy="987552"/>
          </a:xfrm>
          <a:prstGeom prst="roundRect">
            <a:avLst>
              <a:gd name="adj" fmla="val 925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checkdot"/>
          <p:cNvSpPr/>
          <p:nvPr/>
        </p:nvSpPr>
        <p:spPr>
          <a:xfrm>
            <a:off x="8301532" y="3264408"/>
            <a:ext cx="310896" cy="310896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5" name="vis:icon"/>
          <p:cNvCxnSpPr/>
          <p:nvPr/>
        </p:nvCxnSpPr>
        <p:spPr>
          <a:xfrm>
            <a:off x="8394435" y="3423330"/>
            <a:ext cx="45172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vis:icon"/>
          <p:cNvCxnSpPr/>
          <p:nvPr/>
        </p:nvCxnSpPr>
        <p:spPr>
          <a:xfrm flipV="1">
            <a:off x="8439607" y="3371209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ell:checkitem"/>
          <p:cNvSpPr txBox="1"/>
          <p:nvPr/>
        </p:nvSpPr>
        <p:spPr>
          <a:xfrm>
            <a:off x="8740444" y="3072384"/>
            <a:ext cx="272887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SEC-07 — What Never to Paste Into AI</a:t>
            </a:r>
          </a:p>
        </p:txBody>
      </p:sp>
      <p:sp>
        <p:nvSpPr>
          <p:cNvPr id="28" name="seclabel"/>
          <p:cNvSpPr txBox="1"/>
          <p:nvPr/>
        </p:nvSpPr>
        <p:spPr>
          <a:xfrm>
            <a:off x="502920" y="4187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KEEP THE FOLDER TOGETHER</a:t>
            </a:r>
          </a:p>
        </p:txBody>
      </p:sp>
      <p:sp>
        <p:nvSpPr>
          <p:cNvPr id="29" name="body:foldernote"/>
          <p:cNvSpPr txBox="1"/>
          <p:nvPr/>
        </p:nvSpPr>
        <p:spPr>
          <a:xfrm>
            <a:off x="502920" y="4553712"/>
            <a:ext cx="834367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The links on the track pages open the other decks by relative path. Move a deck out of its folder and its link stops working.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