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8.xml"/><Relationship Id="rId8" Type="http://schemas.openxmlformats.org/officeDocument/2006/relationships/slide" Target="slide22.xml"/><Relationship Id="rId9" Type="http://schemas.openxmlformats.org/officeDocument/2006/relationships/slide" Target="slide23.xml"/><Relationship Id="rId10" Type="http://schemas.openxmlformats.org/officeDocument/2006/relationships/slide" Target="slide48.xml"/><Relationship Id="rId11" Type="http://schemas.openxmlformats.org/officeDocument/2006/relationships/slide" Target="slide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 Target="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gquCNKKhJE0" TargetMode="Externa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4.xml"/><Relationship Id="rId4" Type="http://schemas.openxmlformats.org/officeDocument/2006/relationships/slide" Target="slide25.xml"/><Relationship Id="rId5" Type="http://schemas.openxmlformats.org/officeDocument/2006/relationships/slide" Target="slide26.xml"/><Relationship Id="rId6" Type="http://schemas.openxmlformats.org/officeDocument/2006/relationships/slide" Target="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9.xml"/><Relationship Id="rId4" Type="http://schemas.openxmlformats.org/officeDocument/2006/relationships/slide" Target="slide30.xml"/><Relationship Id="rId5" Type="http://schemas.openxmlformats.org/officeDocument/2006/relationships/slide" Target="slide31.xml"/><Relationship Id="rId6" Type="http://schemas.openxmlformats.org/officeDocument/2006/relationships/slide" Target="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 Target="slide36.xml"/><Relationship Id="rId6" Type="http://schemas.openxmlformats.org/officeDocument/2006/relationships/slide" Target="slide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9.xml"/><Relationship Id="rId4" Type="http://schemas.openxmlformats.org/officeDocument/2006/relationships/slide" Target="slide40.xml"/><Relationship Id="rId5" Type="http://schemas.openxmlformats.org/officeDocument/2006/relationships/slide" Target="slide41.xml"/><Relationship Id="rId6" Type="http://schemas.openxmlformats.org/officeDocument/2006/relationships/slide" Target="slide4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4.xml"/><Relationship Id="rId4" Type="http://schemas.openxmlformats.org/officeDocument/2006/relationships/slide" Target="slide45.xml"/><Relationship Id="rId5" Type="http://schemas.openxmlformats.org/officeDocument/2006/relationships/slide" Target="slide46.xml"/><Relationship Id="rId6" Type="http://schemas.openxmlformats.org/officeDocument/2006/relationships/slide" Target="slide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8.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ity.gov.in/data-protection-framework" TargetMode="External"/><Relationship Id="rId3" Type="http://schemas.openxmlformats.org/officeDocument/2006/relationships/hyperlink" Target="https://u.ae/en/about-the-uae/digital-uae/data/data-protection-laws" TargetMode="External"/><Relationship Id="rId4" Type="http://schemas.openxmlformats.org/officeDocument/2006/relationships/hyperlink" Target="https://haveibeenpwned.com" TargetMode="External"/><Relationship Id="rId5"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layer"/>
          <p:cNvSpPr/>
          <p:nvPr/>
        </p:nvSpPr>
        <p:spPr>
          <a:xfrm>
            <a:off x="7589520" y="3595420"/>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layer"/>
          <p:cNvSpPr/>
          <p:nvPr/>
        </p:nvSpPr>
        <p:spPr>
          <a:xfrm>
            <a:off x="7900416" y="3028492"/>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layer"/>
          <p:cNvSpPr/>
          <p:nvPr/>
        </p:nvSpPr>
        <p:spPr>
          <a:xfrm>
            <a:off x="8211312" y="2461564"/>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vis:coverlayer"/>
          <p:cNvSpPr/>
          <p:nvPr/>
        </p:nvSpPr>
        <p:spPr>
          <a:xfrm>
            <a:off x="8522208" y="1894636"/>
            <a:ext cx="2765145" cy="790041"/>
          </a:xfrm>
          <a:prstGeom prst="roundRect">
            <a:avLst>
              <a:gd name="adj" fmla="val 11574"/>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960120" y="203200"/>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SECURITY &amp; DATA PRIVACY</a:t>
            </a:r>
          </a:p>
        </p:txBody>
      </p:sp>
      <p:sp>
        <p:nvSpPr>
          <p:cNvPr id="9" name="title:cover"/>
          <p:cNvSpPr txBox="1"/>
          <p:nvPr/>
        </p:nvSpPr>
        <p:spPr>
          <a:xfrm>
            <a:off x="960120" y="660400"/>
            <a:ext cx="5501487" cy="223418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Handling Confidential Information</a:t>
            </a:r>
          </a:p>
        </p:txBody>
      </p:sp>
      <p:cxnSp>
        <p:nvCxnSpPr>
          <p:cNvPr id="10" name="vis:rule"/>
          <p:cNvCxnSpPr/>
          <p:nvPr/>
        </p:nvCxnSpPr>
        <p:spPr>
          <a:xfrm>
            <a:off x="960120" y="316890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1" name="body:coversub"/>
          <p:cNvSpPr txBox="1"/>
          <p:nvPr/>
        </p:nvSpPr>
        <p:spPr>
          <a:xfrm>
            <a:off x="960120" y="3443224"/>
            <a:ext cx="5501487" cy="78130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The commercial material that is not personal data, and still must never leave the building.</a:t>
            </a:r>
          </a:p>
        </p:txBody>
      </p:sp>
      <p:sp>
        <p:nvSpPr>
          <p:cNvPr id="12" name="vis:chip"/>
          <p:cNvSpPr/>
          <p:nvPr/>
        </p:nvSpPr>
        <p:spPr>
          <a:xfrm>
            <a:off x="960120" y="4626864"/>
            <a:ext cx="1058164" cy="310896"/>
          </a:xfrm>
          <a:prstGeom prst="roundRect">
            <a:avLst>
              <a:gd name="adj" fmla="val 14705"/>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vis:chiptext"/>
          <p:cNvSpPr txBox="1"/>
          <p:nvPr/>
        </p:nvSpPr>
        <p:spPr>
          <a:xfrm>
            <a:off x="1115568" y="4672583"/>
            <a:ext cx="74726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SEC-05</a:t>
            </a:r>
          </a:p>
        </p:txBody>
      </p:sp>
      <p:sp>
        <p:nvSpPr>
          <p:cNvPr id="14" name="vis:chip"/>
          <p:cNvSpPr/>
          <p:nvPr/>
        </p:nvSpPr>
        <p:spPr>
          <a:xfrm>
            <a:off x="2164588"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chiptext"/>
          <p:cNvSpPr txBox="1"/>
          <p:nvPr/>
        </p:nvSpPr>
        <p:spPr>
          <a:xfrm>
            <a:off x="2320036" y="4672583"/>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16 MINUTES</a:t>
            </a:r>
          </a:p>
        </p:txBody>
      </p:sp>
      <p:sp>
        <p:nvSpPr>
          <p:cNvPr id="16" name="vis:chip"/>
          <p:cNvSpPr/>
          <p:nvPr/>
        </p:nvSpPr>
        <p:spPr>
          <a:xfrm>
            <a:off x="960120" y="5047488"/>
            <a:ext cx="2788677"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text"/>
          <p:cNvSpPr txBox="1"/>
          <p:nvPr/>
        </p:nvSpPr>
        <p:spPr>
          <a:xfrm>
            <a:off x="1115568" y="5093207"/>
            <a:ext cx="2477781"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MANDATORY FOR ALL STAFF</a:t>
            </a:r>
          </a:p>
        </p:txBody>
      </p:sp>
      <p:sp>
        <p:nvSpPr>
          <p:cNvPr id="18"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9"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SEC-05  ·  Handling Confidential Information</a:t>
            </a:r>
          </a:p>
        </p:txBody>
      </p:sp>
      <p:sp>
        <p:nvSpPr>
          <p:cNvPr id="20"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Divya shows a slide with a real price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95057" y="2247346"/>
            <a:ext cx="332461" cy="260187"/>
          </a:xfrm>
          <a:custGeom>
            <a:avLst/>
            <a:gdLst/>
            <a:ahLst/>
            <a:cxnLst/>
            <a:rect l="l" t="t" r="r" b="b"/>
            <a:pathLst>
              <a:path w="332461" h="260187">
                <a:moveTo>
                  <a:pt x="0" y="130093"/>
                </a:moveTo>
                <a:lnTo>
                  <a:pt x="166231" y="0"/>
                </a:lnTo>
                <a:lnTo>
                  <a:pt x="332461" y="130093"/>
                </a:lnTo>
                <a:lnTo>
                  <a:pt x="166231" y="260187"/>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is:icon"/>
          <p:cNvSpPr/>
          <p:nvPr/>
        </p:nvSpPr>
        <p:spPr>
          <a:xfrm>
            <a:off x="1110696" y="2326848"/>
            <a:ext cx="101183" cy="101183"/>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Divya supports the legal team in Bengaluru. She reuses an old slide in a supplier presentation. It still carries the discount structure agreed with a different supplier. Nobody notices in the room. The photograph circulates.</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One supplier now knows exactly what we give another.</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Four classes of information, and a habit of checking the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3938" y="1966611"/>
            <a:ext cx="41272" cy="412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07639" y="1987247"/>
            <a:ext cx="182778"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933938" y="2055051"/>
            <a:ext cx="41272" cy="412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07639" y="2075688"/>
            <a:ext cx="182778"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1" name="vis:icon"/>
          <p:cNvSpPr/>
          <p:nvPr/>
        </p:nvSpPr>
        <p:spPr>
          <a:xfrm>
            <a:off x="933938" y="2143492"/>
            <a:ext cx="41272" cy="412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1007639" y="2164128"/>
            <a:ext cx="182778"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3"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Sort information into four classes in a few seconds</a:t>
            </a:r>
          </a:p>
        </p:txBody>
      </p:sp>
      <p:sp>
        <p:nvSpPr>
          <p:cNvPr id="24"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925094" y="2865671"/>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vis:icon"/>
          <p:cNvSpPr/>
          <p:nvPr/>
        </p:nvSpPr>
        <p:spPr>
          <a:xfrm>
            <a:off x="1019431" y="2930527"/>
            <a:ext cx="82544" cy="82544"/>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Spot confidential material hidden in reused documents</a:t>
            </a:r>
          </a:p>
        </p:txBody>
      </p:sp>
      <p:sp>
        <p:nvSpPr>
          <p:cNvPr id="29"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933938" y="3735250"/>
            <a:ext cx="253531" cy="265323"/>
          </a:xfrm>
          <a:custGeom>
            <a:avLst/>
            <a:gdLst/>
            <a:ahLst/>
            <a:cxnLst/>
            <a:rect l="l" t="t" r="r" b="b"/>
            <a:pathLst>
              <a:path w="253531" h="265323">
                <a:moveTo>
                  <a:pt x="126766" y="0"/>
                </a:moveTo>
                <a:lnTo>
                  <a:pt x="253531" y="56013"/>
                </a:lnTo>
                <a:lnTo>
                  <a:pt x="232894" y="191622"/>
                </a:lnTo>
                <a:lnTo>
                  <a:pt x="126766" y="265323"/>
                </a:lnTo>
                <a:lnTo>
                  <a:pt x="20637" y="191622"/>
                </a:lnTo>
                <a:lnTo>
                  <a:pt x="0" y="56013"/>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Share what a third party needs without over-sharing</a:t>
            </a:r>
          </a:p>
        </p:txBody>
      </p:sp>
      <p:sp>
        <p:nvSpPr>
          <p:cNvPr id="33"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icon"/>
          <p:cNvSpPr/>
          <p:nvPr/>
        </p:nvSpPr>
        <p:spPr>
          <a:xfrm>
            <a:off x="930990" y="4634310"/>
            <a:ext cx="259426" cy="259426"/>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6" name="vis:icon"/>
          <p:cNvCxnSpPr/>
          <p:nvPr/>
        </p:nvCxnSpPr>
        <p:spPr>
          <a:xfrm>
            <a:off x="969315" y="4672635"/>
            <a:ext cx="182777" cy="18277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7"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Know what never leaves, regardless of who is asking</a:t>
            </a:r>
          </a:p>
        </p:txBody>
      </p:sp>
      <p:sp>
        <p:nvSpPr>
          <p:cNvPr id="38"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icon"/>
          <p:cNvSpPr/>
          <p:nvPr/>
        </p:nvSpPr>
        <p:spPr>
          <a:xfrm>
            <a:off x="1004691" y="5533370"/>
            <a:ext cx="112024" cy="112024"/>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942782" y="5689616"/>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Handle the request that comes from inside the company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Four classes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Public to restricted</a:t>
            </a:r>
          </a:p>
        </p:txBody>
      </p:sp>
      <p:cxnSp>
        <p:nvCxnSpPr>
          <p:cNvPr id="13" name="vis:menuarrow"/>
          <p:cNvCxnSpPr/>
          <p:nvPr/>
        </p:nvCxnSpPr>
        <p:spPr>
          <a:xfrm>
            <a:off x="11213287" y="1997049"/>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Where it hides</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Reused files and old slides</a:t>
            </a:r>
          </a:p>
        </p:txBody>
      </p:sp>
      <p:cxnSp>
        <p:nvCxnSpPr>
          <p:cNvPr id="19" name="vis:menuarrow"/>
          <p:cNvCxnSpPr/>
          <p:nvPr/>
        </p:nvCxnSpPr>
        <p:spPr>
          <a:xfrm>
            <a:off x="11213287" y="2424988"/>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Sharing outside</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Need to know, not nice to know</a:t>
            </a:r>
          </a:p>
        </p:txBody>
      </p:sp>
      <p:cxnSp>
        <p:nvCxnSpPr>
          <p:cNvPr id="25" name="vis:menuarrow"/>
          <p:cNvCxnSpPr/>
          <p:nvPr/>
        </p:nvCxnSpPr>
        <p:spPr>
          <a:xfrm>
            <a:off x="11213287" y="2852928"/>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Requests from inside</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Colleagues are not automatic</a:t>
            </a:r>
          </a:p>
        </p:txBody>
      </p:sp>
      <p:cxnSp>
        <p:nvCxnSpPr>
          <p:cNvPr id="31" name="vis:menuarrow"/>
          <p:cNvCxnSpPr/>
          <p:nvPr/>
        </p:nvCxnSpPr>
        <p:spPr>
          <a:xfrm>
            <a:off x="11213287" y="3280867"/>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Classify five real documents</a:t>
            </a:r>
          </a:p>
        </p:txBody>
      </p:sp>
      <p:cxnSp>
        <p:nvCxnSpPr>
          <p:cNvPr id="37" name="vis:menuarrow"/>
          <p:cNvCxnSpPr/>
          <p:nvPr/>
        </p:nvCxnSpPr>
        <p:spPr>
          <a:xfrm>
            <a:off x="11213287" y="3708806"/>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supplier-meeting decision</a:t>
            </a:r>
          </a:p>
        </p:txBody>
      </p:sp>
      <p:cxnSp>
        <p:nvCxnSpPr>
          <p:cNvPr id="43" name="vis:menuarrow"/>
          <p:cNvCxnSpPr/>
          <p:nvPr/>
        </p:nvCxnSpPr>
        <p:spPr>
          <a:xfrm>
            <a:off x="11213287" y="4136745"/>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4-minute outside explainer</a:t>
            </a:r>
          </a:p>
        </p:txBody>
      </p:sp>
      <p:cxnSp>
        <p:nvCxnSpPr>
          <p:cNvPr id="49" name="vis:menuarrow"/>
          <p:cNvCxnSpPr/>
          <p:nvPr/>
        </p:nvCxnSpPr>
        <p:spPr>
          <a:xfrm>
            <a:off x="11213287" y="456468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FOUR CLASSES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classes, few seconds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Most companies use some version of this. The names matter less than the habit of asking.</a:t>
            </a:r>
          </a:p>
        </p:txBody>
      </p:sp>
      <p:sp>
        <p:nvSpPr>
          <p:cNvPr id="16" name="vis:checktile"/>
          <p:cNvSpPr/>
          <p:nvPr/>
        </p:nvSpPr>
        <p:spPr>
          <a:xfrm>
            <a:off x="502920"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387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3546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PUBLIC — already published. The website, a brochure</a:t>
            </a:r>
          </a:p>
        </p:txBody>
      </p:sp>
      <p:sp>
        <p:nvSpPr>
          <p:cNvPr id="21" name="vis:checktile"/>
          <p:cNvSpPr/>
          <p:nvPr/>
        </p:nvSpPr>
        <p:spPr>
          <a:xfrm>
            <a:off x="6205575"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387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3546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INTERNAL — fine inside, awkward outside. Org charts, processes</a:t>
            </a:r>
          </a:p>
        </p:txBody>
      </p:sp>
      <p:sp>
        <p:nvSpPr>
          <p:cNvPr id="26" name="vis:checktile"/>
          <p:cNvSpPr/>
          <p:nvPr/>
        </p:nvSpPr>
        <p:spPr>
          <a:xfrm>
            <a:off x="502920"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5024628"/>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518355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CONFIDENTIAL — damaging outside. Prices, margins, contracts</a:t>
            </a:r>
          </a:p>
        </p:txBody>
      </p:sp>
      <p:sp>
        <p:nvSpPr>
          <p:cNvPr id="31" name="vis:checktile"/>
          <p:cNvSpPr/>
          <p:nvPr/>
        </p:nvSpPr>
        <p:spPr>
          <a:xfrm>
            <a:off x="6205575"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5024628"/>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17934" y="518355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563106"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RESTRICTED — damaging even inside. Salaries, acquisitions, legal cases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FOUR CLASSES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Restricted means inside too</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nest"/>
          <p:cNvSpPr/>
          <p:nvPr/>
        </p:nvSpPr>
        <p:spPr>
          <a:xfrm>
            <a:off x="502920" y="2221991"/>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nestlabel"/>
          <p:cNvSpPr txBox="1"/>
          <p:nvPr/>
        </p:nvSpPr>
        <p:spPr>
          <a:xfrm>
            <a:off x="722376" y="2368296"/>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Public</a:t>
            </a:r>
          </a:p>
        </p:txBody>
      </p:sp>
      <p:sp>
        <p:nvSpPr>
          <p:cNvPr id="17" name="vis:nestsub"/>
          <p:cNvSpPr txBox="1"/>
          <p:nvPr/>
        </p:nvSpPr>
        <p:spPr>
          <a:xfrm>
            <a:off x="722376" y="2679191"/>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Anyone, anywhere. Already published by us.</a:t>
            </a:r>
          </a:p>
        </p:txBody>
      </p:sp>
      <p:sp>
        <p:nvSpPr>
          <p:cNvPr id="18" name="vis:nest"/>
          <p:cNvSpPr/>
          <p:nvPr/>
        </p:nvSpPr>
        <p:spPr>
          <a:xfrm>
            <a:off x="832104" y="3081527"/>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nestlabel"/>
          <p:cNvSpPr txBox="1"/>
          <p:nvPr/>
        </p:nvSpPr>
        <p:spPr>
          <a:xfrm>
            <a:off x="1051560" y="3227832"/>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Internal and confidential</a:t>
            </a:r>
          </a:p>
        </p:txBody>
      </p:sp>
      <p:sp>
        <p:nvSpPr>
          <p:cNvPr id="20" name="vis:nestsub"/>
          <p:cNvSpPr txBox="1"/>
          <p:nvPr/>
        </p:nvSpPr>
        <p:spPr>
          <a:xfrm>
            <a:off x="1051560" y="3538727"/>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Colleagues who need it for their work.</a:t>
            </a:r>
          </a:p>
        </p:txBody>
      </p:sp>
      <p:sp>
        <p:nvSpPr>
          <p:cNvPr id="21" name="vis:nest"/>
          <p:cNvSpPr/>
          <p:nvPr/>
        </p:nvSpPr>
        <p:spPr>
          <a:xfrm>
            <a:off x="1161288" y="3941063"/>
            <a:ext cx="4947342" cy="1024128"/>
          </a:xfrm>
          <a:prstGeom prst="roundRect">
            <a:avLst>
              <a:gd name="adj" fmla="val 8928"/>
            </a:avLst>
          </a:prstGeom>
          <a:solidFill>
            <a:srgbClr val="F3F6FB"/>
          </a:solid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nestlabel"/>
          <p:cNvSpPr txBox="1"/>
          <p:nvPr/>
        </p:nvSpPr>
        <p:spPr>
          <a:xfrm>
            <a:off x="1380744" y="4087368"/>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7A1220"/>
                </a:solidFill>
                <a:latin typeface="Segoe UI Semibold"/>
              </a:rPr>
              <a:t>Restricted</a:t>
            </a:r>
          </a:p>
        </p:txBody>
      </p:sp>
      <p:sp>
        <p:nvSpPr>
          <p:cNvPr id="23" name="vis:nestsub"/>
          <p:cNvSpPr txBox="1"/>
          <p:nvPr/>
        </p:nvSpPr>
        <p:spPr>
          <a:xfrm>
            <a:off x="1380744" y="4398264"/>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 named few. Not the whole department.</a:t>
            </a:r>
          </a:p>
        </p:txBody>
      </p:sp>
      <p:sp>
        <p:nvSpPr>
          <p:cNvPr id="24" name="body:nestnote"/>
          <p:cNvSpPr txBox="1"/>
          <p:nvPr/>
        </p:nvSpPr>
        <p:spPr>
          <a:xfrm>
            <a:off x="7438150" y="2368296"/>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The mistake people make is assuming a colleague automatically qualifies. Restricted material is restricted from most of us, which is what the word means.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WHERE IT HIDES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It hides in reused files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An old slide left in a reused deck</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Discount structures, margins and named accounts survive in slides nobody scrolled to.</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Hidden columns in a shared spreadsheet</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Hiding a column does not remove it. Anyone can unhide it in one click.</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Tracked changes and comments in a document</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internal argument about pricing is still in the file you sent out.</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File properties and the file name itself</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"Margin analysis v4 FINAL confidential.xlsx" tells a story before it is opened.</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 photograph of a whiteboard</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other half of the board is usually still legible in the picture.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WHERE IT HIDES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Check before it leaves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Scroll the whole deck, including slides after the last one you use.</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Unhide every row and column before sending a spreadsheet.</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Accept or reject all changes and delete all comments.</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Rename the file to something you would be happy to see quoted.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SHARING OUTSIDE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Need to know, not nice to know</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59994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228904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SENDING THE WHOLE FILE</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 supplier asks for last quarter's volumes for their product.</a:t>
            </a:r>
          </a:p>
          <a:p>
            <a:pPr algn="l">
              <a:lnSpc>
                <a:spcPts val="1690"/>
              </a:lnSpc>
              <a:spcBef>
                <a:spcPts val="0"/>
              </a:spcBef>
              <a:spcAft>
                <a:spcPts val="600"/>
              </a:spcAft>
            </a:pPr>
            <a:r>
              <a:rPr sz="1300" b="0">
                <a:solidFill>
                  <a:srgbClr val="2A3547"/>
                </a:solidFill>
                <a:latin typeface="Segoe UI"/>
              </a:rPr>
              <a:t>You send the whole volume report, covering every product and supplier.</a:t>
            </a:r>
          </a:p>
          <a:p>
            <a:pPr algn="l">
              <a:lnSpc>
                <a:spcPts val="1690"/>
              </a:lnSpc>
              <a:spcBef>
                <a:spcPts val="0"/>
              </a:spcBef>
              <a:spcAft>
                <a:spcPts val="600"/>
              </a:spcAft>
            </a:pPr>
            <a:r>
              <a:rPr sz="1300" b="0">
                <a:solidFill>
                  <a:srgbClr val="2A3547"/>
                </a:solidFill>
                <a:latin typeface="Segoe UI"/>
              </a:rPr>
              <a:t>They now know what their competitors ship to us.</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233832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20274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SENDING THE ANSWER</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copy out the three lines that concern their product.</a:t>
            </a:r>
          </a:p>
          <a:p>
            <a:pPr algn="l">
              <a:lnSpc>
                <a:spcPts val="1690"/>
              </a:lnSpc>
              <a:spcBef>
                <a:spcPts val="0"/>
              </a:spcBef>
              <a:spcAft>
                <a:spcPts val="600"/>
              </a:spcAft>
            </a:pPr>
            <a:r>
              <a:rPr sz="1300" b="0">
                <a:solidFill>
                  <a:srgbClr val="2A3547"/>
                </a:solidFill>
                <a:latin typeface="Segoe UI"/>
              </a:rPr>
              <a:t>Into a fresh document, with nothing else in it.</a:t>
            </a:r>
          </a:p>
          <a:p>
            <a:pPr algn="l">
              <a:lnSpc>
                <a:spcPts val="1690"/>
              </a:lnSpc>
              <a:spcBef>
                <a:spcPts val="0"/>
              </a:spcBef>
              <a:spcAft>
                <a:spcPts val="600"/>
              </a:spcAft>
            </a:pPr>
            <a:r>
              <a:rPr sz="1300" b="0">
                <a:solidFill>
                  <a:srgbClr val="2A3547"/>
                </a:solidFill>
                <a:latin typeface="Segoe UI"/>
              </a:rPr>
              <a:t>They get a better answer, faster, and learn nothing else.</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Sending the whole file is almost always laziness rather than generosity. The extract takes two minutes.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SHARING OUTSIDE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extract habit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wording</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Thanks — I can share the figures for your product line. I will send those as a separate extract rather than the full report, since the report covers other suppliers as well. You will have it within the hour.</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Nobody has ever objected to this. Most people expect it.</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says yes, which keeps the relationship easy.</a:t>
            </a:r>
          </a:p>
        </p:txBody>
      </p:sp>
      <p:cxnSp>
        <p:nvCxnSpPr>
          <p:cNvPr id="33" name="vis:icon"/>
          <p:cNvCxnSpPr/>
          <p:nvPr/>
        </p:nvCxnSpPr>
        <p:spPr>
          <a:xfrm>
            <a:off x="7850361" y="3250143"/>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explains why, so it does not read as suspicion.</a:t>
            </a:r>
          </a:p>
        </p:txBody>
      </p:sp>
      <p:cxnSp>
        <p:nvCxnSpPr>
          <p:cNvPr id="36" name="vis:icon"/>
          <p:cNvCxnSpPr/>
          <p:nvPr/>
        </p:nvCxnSpPr>
        <p:spPr>
          <a:xfrm>
            <a:off x="7850361" y="4182831"/>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commits to a time, so it is not a soft refusal.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REQUESTS FROM INSIDE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Colleagues are not automatic</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Being employed here is not the same as needing to know. Most internal leaks start as a helpful favour.</a:t>
            </a:r>
          </a:p>
        </p:txBody>
      </p:sp>
      <p:sp>
        <p:nvSpPr>
          <p:cNvPr id="16" name="vis:treeq"/>
          <p:cNvSpPr/>
          <p:nvPr/>
        </p:nvSpPr>
        <p:spPr>
          <a:xfrm>
            <a:off x="3746818" y="2798064"/>
            <a:ext cx="4698059" cy="713232"/>
          </a:xfrm>
          <a:prstGeom prst="roundRect">
            <a:avLst>
              <a:gd name="adj" fmla="val 12820"/>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treeqtext"/>
          <p:cNvSpPr txBox="1"/>
          <p:nvPr/>
        </p:nvSpPr>
        <p:spPr>
          <a:xfrm>
            <a:off x="3947986" y="2926080"/>
            <a:ext cx="4295723" cy="457200"/>
          </a:xfrm>
          <a:prstGeom prst="rect">
            <a:avLst/>
          </a:prstGeom>
          <a:noFill/>
        </p:spPr>
        <p:txBody>
          <a:bodyPr wrap="square" lIns="0" rIns="0" tIns="0" bIns="0" anchor="ctr">
            <a:spAutoFit/>
          </a:bodyPr>
          <a:lstStyle/>
          <a:p>
            <a:pPr algn="ctr">
              <a:lnSpc>
                <a:spcPts val="1885"/>
              </a:lnSpc>
              <a:spcBef>
                <a:spcPts val="0"/>
              </a:spcBef>
              <a:spcAft>
                <a:spcPts val="0"/>
              </a:spcAft>
            </a:pPr>
            <a:r>
              <a:rPr sz="1450" b="0">
                <a:solidFill>
                  <a:srgbClr val="FFFFFF"/>
                </a:solidFill>
                <a:latin typeface="Segoe UI Semibold"/>
              </a:rPr>
              <a:t>Do they need this for work they are actually doing?</a:t>
            </a:r>
          </a:p>
        </p:txBody>
      </p:sp>
      <p:cxnSp>
        <p:nvCxnSpPr>
          <p:cNvPr id="18" name="vis:line"/>
          <p:cNvCxnSpPr/>
          <p:nvPr/>
        </p:nvCxnSpPr>
        <p:spPr>
          <a:xfrm>
            <a:off x="6095847" y="3511296"/>
            <a:ext cx="0" cy="146304"/>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3657600"/>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20" name="vis:line"/>
          <p:cNvCxnSpPr/>
          <p:nvPr/>
        </p:nvCxnSpPr>
        <p:spPr>
          <a:xfrm>
            <a:off x="2516373" y="3657600"/>
            <a:ext cx="0" cy="274320"/>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chip"/>
          <p:cNvSpPr/>
          <p:nvPr/>
        </p:nvSpPr>
        <p:spPr>
          <a:xfrm>
            <a:off x="1902201" y="3794760"/>
            <a:ext cx="122834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057649" y="3822192"/>
            <a:ext cx="91744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CURIOUS</a:t>
            </a:r>
          </a:p>
        </p:txBody>
      </p:sp>
      <p:sp>
        <p:nvSpPr>
          <p:cNvPr id="23" name="vis:treebox"/>
          <p:cNvSpPr/>
          <p:nvPr/>
        </p:nvSpPr>
        <p:spPr>
          <a:xfrm>
            <a:off x="279202" y="4169664"/>
            <a:ext cx="4474342" cy="1847087"/>
          </a:xfrm>
          <a:prstGeom prst="roundRect">
            <a:avLst>
              <a:gd name="adj" fmla="val 49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treebar"/>
          <p:cNvSpPr/>
          <p:nvPr/>
        </p:nvSpPr>
        <p:spPr>
          <a:xfrm>
            <a:off x="279202" y="4169664"/>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550596" y="4495921"/>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583880" y="4529206"/>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7" name="vis:treelabel"/>
          <p:cNvSpPr txBox="1"/>
          <p:nvPr/>
        </p:nvSpPr>
        <p:spPr>
          <a:xfrm>
            <a:off x="900994" y="4425696"/>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Point them on</a:t>
            </a:r>
          </a:p>
        </p:txBody>
      </p:sp>
      <p:sp>
        <p:nvSpPr>
          <p:cNvPr id="28" name="vis:treedetail"/>
          <p:cNvSpPr txBox="1"/>
          <p:nvPr/>
        </p:nvSpPr>
        <p:spPr>
          <a:xfrm>
            <a:off x="535234" y="4901184"/>
            <a:ext cx="3962278" cy="914399"/>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"That one sits with Finance." Not a refusal — it puts the decision with whoever owns the data.</a:t>
            </a:r>
          </a:p>
        </p:txBody>
      </p:sp>
      <p:cxnSp>
        <p:nvCxnSpPr>
          <p:cNvPr id="29" name="vis:line"/>
          <p:cNvCxnSpPr/>
          <p:nvPr/>
        </p:nvCxnSpPr>
        <p:spPr>
          <a:xfrm>
            <a:off x="9675321" y="3657600"/>
            <a:ext cx="0" cy="274320"/>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vis:chip"/>
          <p:cNvSpPr/>
          <p:nvPr/>
        </p:nvSpPr>
        <p:spPr>
          <a:xfrm>
            <a:off x="9282446" y="3794760"/>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text"/>
          <p:cNvSpPr txBox="1"/>
          <p:nvPr/>
        </p:nvSpPr>
        <p:spPr>
          <a:xfrm>
            <a:off x="9437894" y="3822192"/>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2" name="vis:treebox"/>
          <p:cNvSpPr/>
          <p:nvPr/>
        </p:nvSpPr>
        <p:spPr>
          <a:xfrm>
            <a:off x="7438150" y="4169664"/>
            <a:ext cx="4474342" cy="1847087"/>
          </a:xfrm>
          <a:prstGeom prst="roundRect">
            <a:avLst>
              <a:gd name="adj" fmla="val 49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treebar"/>
          <p:cNvSpPr/>
          <p:nvPr/>
        </p:nvSpPr>
        <p:spPr>
          <a:xfrm>
            <a:off x="7438150" y="4169664"/>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7730026" y="4613696"/>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7796595" y="4536887"/>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6" name="vis:treelabel"/>
          <p:cNvSpPr txBox="1"/>
          <p:nvPr/>
        </p:nvSpPr>
        <p:spPr>
          <a:xfrm>
            <a:off x="8059942" y="4425696"/>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Share it</a:t>
            </a:r>
          </a:p>
        </p:txBody>
      </p:sp>
      <p:sp>
        <p:nvSpPr>
          <p:cNvPr id="37" name="vis:treedetail"/>
          <p:cNvSpPr txBox="1"/>
          <p:nvPr/>
        </p:nvSpPr>
        <p:spPr>
          <a:xfrm>
            <a:off x="7694182" y="4901184"/>
            <a:ext cx="3962278" cy="914399"/>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Their job requires it. Send the part they need, not the whole file — exactly as you would externally.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REQUESTS FROM INSIDE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Saying no without friction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wording</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do not think I am the right person to share that one — it sits with [TEAM] and they will know what can go out. Happy to introduce you if that helps. If they are fine with it, send it over and I will work from it.</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Redirects rather than refuses. Almost nobody pushes back.</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puts the decision with whoever owns the information.</a:t>
            </a:r>
          </a:p>
        </p:txBody>
      </p:sp>
      <p:cxnSp>
        <p:nvCxnSpPr>
          <p:cNvPr id="33" name="vis:icon"/>
          <p:cNvCxnSpPr/>
          <p:nvPr/>
        </p:nvCxnSpPr>
        <p:spPr>
          <a:xfrm>
            <a:off x="7850361" y="3250143"/>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offers help, so it does not read as obstruction.</a:t>
            </a:r>
          </a:p>
        </p:txBody>
      </p:sp>
      <p:cxnSp>
        <p:nvCxnSpPr>
          <p:cNvPr id="36" name="vis:icon"/>
          <p:cNvCxnSpPr/>
          <p:nvPr/>
        </p:nvCxnSpPr>
        <p:spPr>
          <a:xfrm>
            <a:off x="7850361" y="4182831"/>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keeps you out of a judgement that is not yours.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classify five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epnum"/>
          <p:cNvSpPr/>
          <p:nvPr/>
        </p:nvSpPr>
        <p:spPr>
          <a:xfrm>
            <a:off x="502920" y="2027681"/>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the five documents you have used most this week.</a:t>
            </a:r>
          </a:p>
        </p:txBody>
      </p:sp>
      <p:sp>
        <p:nvSpPr>
          <p:cNvPr id="19" name="vis:stepnum"/>
          <p:cNvSpPr/>
          <p:nvPr/>
        </p:nvSpPr>
        <p:spPr>
          <a:xfrm>
            <a:off x="502920" y="3138677"/>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Put each into one of the four classes, out loud.</a:t>
            </a:r>
          </a:p>
        </p:txBody>
      </p:sp>
      <p:sp>
        <p:nvSpPr>
          <p:cNvPr id="23" name="vis:stepnum"/>
          <p:cNvSpPr/>
          <p:nvPr/>
        </p:nvSpPr>
        <p:spPr>
          <a:xfrm>
            <a:off x="502920" y="4249674"/>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For any confidential one, check who currently has access.</a:t>
            </a:r>
          </a:p>
        </p:txBody>
      </p:sp>
      <p:sp>
        <p:nvSpPr>
          <p:cNvPr id="27" name="vis:stepnum"/>
          <p:cNvSpPr/>
          <p:nvPr/>
        </p:nvSpPr>
        <p:spPr>
          <a:xfrm>
            <a:off x="502920" y="5360670"/>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Remove anyone who no longer needs it.</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will describe a document without showing it to you. Ask me four short questions, then tell me whether it is public, internal, confidential or restricted, and who should be able to open it. Do not ask me to paste the contents.</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Describe the type of document. Never paste the document.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never leaves, ever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Some material does not leave regardless of who is asking or why.</a:t>
            </a:r>
          </a:p>
          <a:p>
            <a:pPr algn="l">
              <a:lnSpc>
                <a:spcPts val="1755"/>
              </a:lnSpc>
              <a:spcBef>
                <a:spcPts val="0"/>
              </a:spcBef>
              <a:spcAft>
                <a:spcPts val="0"/>
              </a:spcAft>
            </a:pPr>
            <a:r>
              <a:rPr sz="1350" b="0">
                <a:solidFill>
                  <a:srgbClr val="FFFFFF"/>
                </a:solidFill>
                <a:latin typeface="Segoe UI"/>
              </a:rPr>
              <a:t>If somebody insists, that itself is worth reporting.</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Pricing or margin structures agreed with another party</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Salaries, appraisals or disciplinary records</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Legal advice, live disputes or draft settlements</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Unannounced acquisitions, closures or product plans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Marking things properly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96871" y="2190229"/>
            <a:ext cx="219104" cy="301269"/>
          </a:xfrm>
          <a:prstGeom prst="roundRect">
            <a:avLst>
              <a:gd name="adj" fmla="val 20866"/>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44800" y="2286087"/>
            <a:ext cx="123247"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44800" y="2340863"/>
            <a:ext cx="123247"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44800" y="2395640"/>
            <a:ext cx="82165"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1"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Mark it once</a:t>
            </a:r>
          </a:p>
        </p:txBody>
      </p:sp>
      <p:sp>
        <p:nvSpPr>
          <p:cNvPr id="22"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single word in the header. The reader then knows without asking anybody.</a:t>
            </a:r>
          </a:p>
        </p:txBody>
      </p:sp>
      <p:sp>
        <p:nvSpPr>
          <p:cNvPr id="23"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861435" y="2193652"/>
            <a:ext cx="130093" cy="130093"/>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4789541"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Say who it is for</a:t>
            </a:r>
          </a:p>
        </p:txBody>
      </p:sp>
      <p:sp>
        <p:nvSpPr>
          <p:cNvPr id="28"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"Confidential — Finance and Directors only" is far more useful than "Confidential".</a:t>
            </a:r>
          </a:p>
        </p:txBody>
      </p:sp>
      <p:sp>
        <p:nvSpPr>
          <p:cNvPr id="29"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8595906" y="2190229"/>
            <a:ext cx="301269" cy="301269"/>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flipV="1">
            <a:off x="8746540" y="2251852"/>
            <a:ext cx="0" cy="8901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a:off x="8746540" y="2340863"/>
            <a:ext cx="75318" cy="27389"/>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4"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Say when it stops</a:t>
            </a:r>
          </a:p>
        </p:txBody>
      </p:sp>
      <p:sp>
        <p:nvSpPr>
          <p:cNvPr id="35"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"Restricted until the announcement on 12 May" prevents permanent over-caution.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Reusing a deck without scrolling to the end</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slide you forgot is the one somebody photographs.</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Sending a whole report to answer one question</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Generosity that hands over every other supplier's position.</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Assuming a colleague qualifies</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Employment is not need-to-know. Most internal leaks start as a favour.</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Discussing figures in a public place</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Airports, cafés and shared taxis. Somebody is always close enough.</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Marking everything confidential</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When everything is marked, nothing is. People stop reading the label.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confidentiality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alertband"/>
          <p:cNvSpPr/>
          <p:nvPr/>
        </p:nvSpPr>
        <p:spPr>
          <a:xfrm>
            <a:off x="0" y="1719072"/>
            <a:ext cx="12191695" cy="96012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Send the answer, not the file it came from.</a:t>
            </a:r>
          </a:p>
          <a:p>
            <a:pPr algn="l">
              <a:lnSpc>
                <a:spcPts val="1755"/>
              </a:lnSpc>
              <a:spcBef>
                <a:spcPts val="0"/>
              </a:spcBef>
              <a:spcAft>
                <a:spcPts val="0"/>
              </a:spcAft>
            </a:pPr>
            <a:r>
              <a:rPr sz="1350" b="0">
                <a:solidFill>
                  <a:srgbClr val="FFFFFF"/>
                </a:solidFill>
                <a:latin typeface="Segoe UI"/>
              </a:rPr>
              <a:t>That habit covers external sharing, internal favours and reused documents all at once.</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Extract, do not forward.</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Need to know, not nice to know.</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Scroll to the end before sending.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Supplier meeting, Wednesday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 are presenting to a supplier and reusing last quarter's internal deck. You have ten minutes before the meeting and have not opened it since March.</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Present it as it is — you only need the first six slides.</a:t>
            </a:r>
          </a:p>
        </p:txBody>
      </p:sp>
      <p:cxnSp>
        <p:nvCxnSpPr>
          <p:cNvPr id="23" name="vis:choicearrow"/>
          <p:cNvCxnSpPr/>
          <p:nvPr/>
        </p:nvCxnSpPr>
        <p:spPr>
          <a:xfrm>
            <a:off x="758952"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Copy the six slides into a fresh deck and present that.</a:t>
            </a:r>
          </a:p>
        </p:txBody>
      </p:sp>
      <p:cxnSp>
        <p:nvCxnSpPr>
          <p:cNvPr id="29" name="vis:choicearrow"/>
          <p:cNvCxnSpPr/>
          <p:nvPr/>
        </p:nvCxnSpPr>
        <p:spPr>
          <a:xfrm>
            <a:off x="4566818"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Delete the later slides from the original and present it.</a:t>
            </a:r>
          </a:p>
        </p:txBody>
      </p:sp>
      <p:cxnSp>
        <p:nvCxnSpPr>
          <p:cNvPr id="35" name="vis:choicearrow"/>
          <p:cNvCxnSpPr/>
          <p:nvPr/>
        </p:nvCxnSpPr>
        <p:spPr>
          <a:xfrm>
            <a:off x="8374684"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Slide 14 is still in the file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never reach slide 14, but you scroll past it to get back to slide 3 during a question. It shows the discount structure agreed with their competitor. Somebody in the room photographs the screen.</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file you present is a file you have shared, all of it.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Five minutes, and nothing else exists in the file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new file containing exactly six slides. Nothing to scroll past, nothing hidden, nothing to photograph. It also loads faster and looks deliberate rather than recycled.</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Build the file you are actually presenting.</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Works, if you actually check</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Reasonable and it depends entirely on you scrolling to the very end. People routinely miss hidden slides, notes pages and comments. A fresh file removes the need to be thorough under time pressure.</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Deleting requires care. Starting fresh does not.</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minutes on the four classes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665"/>
              </a:lnSpc>
              <a:spcBef>
                <a:spcPts val="0"/>
              </a:spcBef>
              <a:spcAft>
                <a:spcPts val="0"/>
              </a:spcAft>
            </a:pPr>
            <a:r>
              <a:rPr sz="2050" b="0">
                <a:solidFill>
                  <a:srgbClr val="FFFFFF"/>
                </a:solidFill>
                <a:latin typeface="Segoe UI Semibold"/>
              </a:rPr>
              <a:t>Data Protection: Data Classification: Public, Internal, Confidential and Restricted - Lesson 4</a:t>
            </a:r>
          </a:p>
        </p:txBody>
      </p:sp>
      <p:sp>
        <p:nvSpPr>
          <p:cNvPr id="19" name="vis:chip"/>
          <p:cNvSpPr/>
          <p:nvPr/>
        </p:nvSpPr>
        <p:spPr>
          <a:xfrm>
            <a:off x="868680" y="3858768"/>
            <a:ext cx="203093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72003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EXPERTS ACADEMY</a:t>
            </a:r>
          </a:p>
        </p:txBody>
      </p:sp>
      <p:sp>
        <p:nvSpPr>
          <p:cNvPr id="21" name="vis:chip"/>
          <p:cNvSpPr/>
          <p:nvPr/>
        </p:nvSpPr>
        <p:spPr>
          <a:xfrm>
            <a:off x="3045918" y="3858768"/>
            <a:ext cx="123024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201366" y="3895344"/>
            <a:ext cx="91935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3:32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does restricted actually mean?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Cannot leave the company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Only a named few can see it, inside or out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Needs a password to open</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Must be deleted after use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Cannot leave the company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describes confidential. Restricted goes further — it also cannot circulate freely inside the company.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Restricted from most colleagues too.</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Only a named few can see it, inside or out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Salaries, live legal matters and unannounced plans are restricted from most employees. Being employed here does not qualify anyone.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Restricted from most colleagues too.</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Needs a password to open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control that may be used, not a definition. Classification is about who should see it; passwords are one way of enforcing that.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Restricted from most colleagues too.</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Must be deleted after use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Retention is a separate question. Plenty of restricted material is kept for years by the few people entitled to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Restricted from most colleagues too.</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 supplier asks for volume figures.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Send the full report — it is easier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Copy their three lines into a fresh document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Refuse — volumes are confidential</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Send it with the other columns hidden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Send the full report — it is easier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hands them every other supplier's volumes as well. The two minutes you saved could cost a negotiating position that took months to build.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Send the extract, never the report.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Copy their three lines into a fresh document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get a clearer answer faster, and learn nothing about anyone else. Say plainly that you are sending an extract — it reads as professional, not suspicious.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Send the extract, never the report.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Refuse — volumes are confidential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Their own volumes are not confidential from them. A blanket refusal damages a relationship for no protective benefit.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Send the extract, never the report.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Send it with the other columns hidden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Hiding is not removing. Anyone can unhide a column in one click, and most people eventually do.</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Send the extract, never the report.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 colleague asks for the margin file.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Send it — they work here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what they need it for, and point them at the owner</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Refuse and say nothing further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Send an older version instead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Send it — they work here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Employment is not need-to-know. Most internal leaks begin as a helpful favour between colleagues who trust each other.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Need to know, not employment.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Ask what they need it for, and point them at the owner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it is genuinely for their work, the owner will release it. If it is curiosity, the question ends the matter politely without you refusing anything.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Need to know, not employment.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Refuse and say nothing further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Creates friction for no reason. Redirecting to whoever owns the data is just as safe and far easier to work with.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Need to know, not employment.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Send an older version instead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Still confidential, and now also out of date. You have shared the material and created a second problem on top.</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Need to know, not employment.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does confidential material hide?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the first three slides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slides after the last one you present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the file's colour scheme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Only in files marked confidential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In the first three slides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Those are the ones everybody checks. Risk lives where attention does not.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 files you reused without scrolling.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In slides after the last one you present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Along with hidden columns, tracked changes, comments and the file name. All survive reuse and none of them get looked at.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 files you reused without scrolling.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In the file's colour scheme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Formatting carries no information. It is content in unexamined places that causes the problem.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 files you reused without scrolling.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Only in files marked confidential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Marking is often missing, especially on reused internal decks. The absence of a label proves nothing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 files you reused without scrolling.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not mark everything confidential?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slows down email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People stop reading the label</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against the law</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makes files bigger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slows down email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There is no technical cost. The problem is entirely about how people respond to the label.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everything is marked, nothing is.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People stop reading the label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the canteen menu is marked confidential, the marking on the acquisition paper carries no weight. Over-marking destroys the signal you actually need.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everything is marked, nothing is.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is against the law</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not unlawful, merely ineffective. The issue is practical rather than legal.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everything is marked, nothing is.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makes files bigger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header adds nothing measurable. The cost is attention, not storage.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everything is marked, nothing is.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Confidential information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Four classes</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Public, internal, confidential, restricted. Ask which, in a few seconds.</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Restricted excludes most colleagues</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Salaries, legal matters and unannounced plans are not department-wide.</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It hides in reused files</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Extra slides, hidden columns, tracked changes, file names, whiteboard photos.</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Send the answer, not the file</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Extracting three lines takes two minutes and reveals nothing else.</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Employment is not need-to-know</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Redirect to the owner rather than refusing. Nobody takes offence.</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Do not mark everything</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When every file is confidential, the label stops meaning anything.</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B67D8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B67D84"/>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B67D84"/>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Send the answer, not the file it came from.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3910" y="2379537"/>
            <a:ext cx="228995" cy="239645"/>
          </a:xfrm>
          <a:custGeom>
            <a:avLst/>
            <a:gdLst/>
            <a:ahLst/>
            <a:cxnLst/>
            <a:rect l="l" t="t" r="r" b="b"/>
            <a:pathLst>
              <a:path w="228995" h="239645">
                <a:moveTo>
                  <a:pt x="114498" y="0"/>
                </a:moveTo>
                <a:lnTo>
                  <a:pt x="228995" y="50591"/>
                </a:lnTo>
                <a:lnTo>
                  <a:pt x="210356" y="173077"/>
                </a:lnTo>
                <a:lnTo>
                  <a:pt x="114498" y="239645"/>
                </a:lnTo>
                <a:lnTo>
                  <a:pt x="18639" y="173077"/>
                </a:lnTo>
                <a:lnTo>
                  <a:pt x="0" y="50591"/>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extract wording</a:t>
            </a:r>
          </a:p>
        </p:txBody>
      </p:sp>
      <p:sp>
        <p:nvSpPr>
          <p:cNvPr id="20"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Says yes, explains why, commits to a time.</a:t>
            </a:r>
          </a:p>
        </p:txBody>
      </p:sp>
      <p:sp>
        <p:nvSpPr>
          <p:cNvPr id="21"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927816" y="3287070"/>
            <a:ext cx="101183" cy="101183"/>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71898" y="3428195"/>
            <a:ext cx="213019" cy="93195"/>
          </a:xfrm>
          <a:custGeom>
            <a:avLst/>
            <a:gdLst/>
            <a:ahLst/>
            <a:cxnLst/>
            <a:rect l="l" t="t" r="r" b="b"/>
            <a:pathLst>
              <a:path w="213019" h="93195">
                <a:moveTo>
                  <a:pt x="0" y="93195"/>
                </a:moveTo>
                <a:lnTo>
                  <a:pt x="15977" y="0"/>
                </a:lnTo>
                <a:lnTo>
                  <a:pt x="197042" y="0"/>
                </a:lnTo>
                <a:lnTo>
                  <a:pt x="213019" y="93195"/>
                </a:lnTo>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internal redirect</a:t>
            </a:r>
          </a:p>
        </p:txBody>
      </p:sp>
      <p:sp>
        <p:nvSpPr>
          <p:cNvPr id="26"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Points at the owner without refusing anything.</a:t>
            </a:r>
          </a:p>
        </p:txBody>
      </p:sp>
      <p:sp>
        <p:nvSpPr>
          <p:cNvPr id="27"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882549" y="4309101"/>
            <a:ext cx="69231" cy="6923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V="1">
            <a:off x="951780" y="4229219"/>
            <a:ext cx="127811" cy="149113"/>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1"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before-sending check</a:t>
            </a:r>
          </a:p>
        </p:txBody>
      </p:sp>
      <p:sp>
        <p:nvSpPr>
          <p:cNvPr id="32"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Scroll to the end, unhide, clear comments, rename.</a:t>
            </a:r>
          </a:p>
        </p:txBody>
      </p:sp>
      <p:sp>
        <p:nvSpPr>
          <p:cNvPr id="33"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LINKS THAT WORK</a:t>
            </a:r>
          </a:p>
        </p:txBody>
      </p:sp>
      <p:sp>
        <p:nvSpPr>
          <p:cNvPr id="34"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icon"/>
          <p:cNvSpPr/>
          <p:nvPr/>
        </p:nvSpPr>
        <p:spPr>
          <a:xfrm>
            <a:off x="8339937" y="2300630"/>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6" name="vis:icon"/>
          <p:cNvCxnSpPr/>
          <p:nvPr/>
        </p:nvCxnSpPr>
        <p:spPr>
          <a:xfrm>
            <a:off x="8482584" y="2443276"/>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7"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India's data protection framework</a:t>
            </a:r>
          </a:p>
        </p:txBody>
      </p:sp>
      <p:sp>
        <p:nvSpPr>
          <p:cNvPr id="38"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www.meity.gov.in/data-protection-fra…</a:t>
            </a:r>
          </a:p>
        </p:txBody>
      </p:sp>
      <p:sp>
        <p:nvSpPr>
          <p:cNvPr id="39"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icon"/>
          <p:cNvSpPr/>
          <p:nvPr/>
        </p:nvSpPr>
        <p:spPr>
          <a:xfrm>
            <a:off x="8339937" y="2977286"/>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1" name="vis:icon"/>
          <p:cNvCxnSpPr/>
          <p:nvPr/>
        </p:nvCxnSpPr>
        <p:spPr>
          <a:xfrm>
            <a:off x="8482584" y="3119932"/>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2"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UAE data protection laws</a:t>
            </a:r>
          </a:p>
        </p:txBody>
      </p:sp>
      <p:sp>
        <p:nvSpPr>
          <p:cNvPr id="43"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u.ae/en/about-the-uae/digital-uae/dat…</a:t>
            </a:r>
          </a:p>
        </p:txBody>
      </p:sp>
      <p:sp>
        <p:nvSpPr>
          <p:cNvPr id="44"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icon"/>
          <p:cNvSpPr/>
          <p:nvPr/>
        </p:nvSpPr>
        <p:spPr>
          <a:xfrm>
            <a:off x="8339937" y="3653942"/>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vis:icon"/>
          <p:cNvCxnSpPr/>
          <p:nvPr/>
        </p:nvCxnSpPr>
        <p:spPr>
          <a:xfrm>
            <a:off x="8482584" y="3796588"/>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7"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Check if your email has leaked</a:t>
            </a:r>
          </a:p>
        </p:txBody>
      </p:sp>
      <p:sp>
        <p:nvSpPr>
          <p:cNvPr id="48"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haveibeenpwned.com</a:t>
            </a:r>
          </a:p>
        </p:txBody>
      </p:sp>
      <p:sp>
        <p:nvSpPr>
          <p:cNvPr id="49"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0"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DO THIS NEXT</a:t>
            </a:r>
          </a:p>
        </p:txBody>
      </p:sp>
      <p:sp>
        <p:nvSpPr>
          <p:cNvPr id="51"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SEC-06, Safe Use of AI at Work. Which tools are approved, which settings to switch off, and how to keep a trail you can explain.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SEC-05  ·  Handling Confidential Information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Classification</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Deciding which of the four classes a document belongs to, and who may open it.</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Need to know</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test for sharing: does this person require it for work they are actually doing?</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Restricted</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Material limited to a named few, including inside the company.</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Extract</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fresh document containing only the part somebody actually needs.</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Metadata</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Information about a file: its name, author, comments and tracked changes.</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Confidential</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Damaging if it leaves the company, even though no individual is identifiable.</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