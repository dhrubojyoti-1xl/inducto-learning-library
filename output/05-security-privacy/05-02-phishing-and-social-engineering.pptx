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8.xml"/><Relationship Id="rId8" Type="http://schemas.openxmlformats.org/officeDocument/2006/relationships/slide" Target="slide22.xml"/><Relationship Id="rId9" Type="http://schemas.openxmlformats.org/officeDocument/2006/relationships/slide" Target="slide23.xml"/><Relationship Id="rId10" Type="http://schemas.openxmlformats.org/officeDocument/2006/relationships/slide" Target="slide48.xml"/><Relationship Id="rId11" Type="http://schemas.openxmlformats.org/officeDocument/2006/relationships/slide" Target="slide4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19.xml"/><Relationship Id="rId4" Type="http://schemas.openxmlformats.org/officeDocument/2006/relationships/slide" Target="slide20.xml"/><Relationship Id="rId5" Type="http://schemas.openxmlformats.org/officeDocument/2006/relationships/slide" Target="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UuLjQ-LWM9Y" TargetMode="Externa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4.xml"/><Relationship Id="rId4" Type="http://schemas.openxmlformats.org/officeDocument/2006/relationships/slide" Target="slide25.xml"/><Relationship Id="rId5" Type="http://schemas.openxmlformats.org/officeDocument/2006/relationships/slide" Target="slide26.xml"/><Relationship Id="rId6" Type="http://schemas.openxmlformats.org/officeDocument/2006/relationships/slide" Target="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9.xml"/><Relationship Id="rId4" Type="http://schemas.openxmlformats.org/officeDocument/2006/relationships/slide" Target="slide30.xml"/><Relationship Id="rId5" Type="http://schemas.openxmlformats.org/officeDocument/2006/relationships/slide" Target="slide31.xml"/><Relationship Id="rId6" Type="http://schemas.openxmlformats.org/officeDocument/2006/relationships/slide" Target="slide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4.xml"/><Relationship Id="rId4" Type="http://schemas.openxmlformats.org/officeDocument/2006/relationships/slide" Target="slide35.xml"/><Relationship Id="rId5" Type="http://schemas.openxmlformats.org/officeDocument/2006/relationships/slide" Target="slide36.xml"/><Relationship Id="rId6" Type="http://schemas.openxmlformats.org/officeDocument/2006/relationships/slide" Target="slide3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9.xml"/><Relationship Id="rId4" Type="http://schemas.openxmlformats.org/officeDocument/2006/relationships/slide" Target="slide40.xml"/><Relationship Id="rId5" Type="http://schemas.openxmlformats.org/officeDocument/2006/relationships/slide" Target="slide41.xml"/><Relationship Id="rId6" Type="http://schemas.openxmlformats.org/officeDocument/2006/relationships/slide" Target="slide4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4.xml"/><Relationship Id="rId4" Type="http://schemas.openxmlformats.org/officeDocument/2006/relationships/slide" Target="slide45.xml"/><Relationship Id="rId5" Type="http://schemas.openxmlformats.org/officeDocument/2006/relationships/slide" Target="slide46.xml"/><Relationship Id="rId6" Type="http://schemas.openxmlformats.org/officeDocument/2006/relationships/slide" Target="slide4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8.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aveibeenpwned.com" TargetMode="External"/><Relationship Id="rId3" Type="http://schemas.openxmlformats.org/officeDocument/2006/relationships/hyperlink" Target="https://www.meity.gov.in/data-protection-framework" TargetMode="External"/><Relationship Id="rId4" Type="http://schemas.openxmlformats.org/officeDocument/2006/relationships/hyperlink" Target="https://u.ae/en/about-the-uae/digital-uae/data/data-protection-laws" TargetMode="External"/><Relationship Id="rId5"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coverspine"/>
          <p:cNvSpPr/>
          <p:nvPr/>
        </p:nvSpPr>
        <p:spPr>
          <a:xfrm>
            <a:off x="0" y="0"/>
            <a:ext cx="201168" cy="6858000"/>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vis:covershield"/>
          <p:cNvSpPr/>
          <p:nvPr/>
        </p:nvSpPr>
        <p:spPr>
          <a:xfrm>
            <a:off x="8237793" y="1686153"/>
            <a:ext cx="2543933" cy="3028493"/>
          </a:xfrm>
          <a:custGeom>
            <a:avLst/>
            <a:gdLst/>
            <a:ahLst/>
            <a:cxnLst/>
            <a:rect l="l" t="t" r="r" b="b"/>
            <a:pathLst>
              <a:path w="2543933" h="3028493">
                <a:moveTo>
                  <a:pt x="1271967" y="0"/>
                </a:moveTo>
                <a:lnTo>
                  <a:pt x="2543933" y="605699"/>
                </a:lnTo>
                <a:lnTo>
                  <a:pt x="2362224" y="2059375"/>
                </a:lnTo>
                <a:lnTo>
                  <a:pt x="1271967" y="3028493"/>
                </a:lnTo>
                <a:lnTo>
                  <a:pt x="181709" y="2059375"/>
                </a:lnTo>
                <a:lnTo>
                  <a:pt x="0" y="605699"/>
                </a:lnTo>
                <a:close/>
              </a:path>
            </a:pathLst>
          </a:cu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vis:covershield"/>
          <p:cNvSpPr/>
          <p:nvPr/>
        </p:nvSpPr>
        <p:spPr>
          <a:xfrm>
            <a:off x="8661782" y="2170712"/>
            <a:ext cx="1695955" cy="2059375"/>
          </a:xfrm>
          <a:custGeom>
            <a:avLst/>
            <a:gdLst/>
            <a:ahLst/>
            <a:cxnLst/>
            <a:rect l="l" t="t" r="r" b="b"/>
            <a:pathLst>
              <a:path w="1695955" h="2059375">
                <a:moveTo>
                  <a:pt x="847978" y="0"/>
                </a:moveTo>
                <a:lnTo>
                  <a:pt x="1695955" y="423989"/>
                </a:lnTo>
                <a:lnTo>
                  <a:pt x="1574816" y="1393107"/>
                </a:lnTo>
                <a:lnTo>
                  <a:pt x="847978" y="2059375"/>
                </a:lnTo>
                <a:lnTo>
                  <a:pt x="121139" y="1393107"/>
                </a:lnTo>
                <a:lnTo>
                  <a:pt x="0" y="423989"/>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vis:icon"/>
          <p:cNvSpPr/>
          <p:nvPr/>
        </p:nvSpPr>
        <p:spPr>
          <a:xfrm>
            <a:off x="9136649" y="2827289"/>
            <a:ext cx="746220" cy="746220"/>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7" name="vis:icon"/>
          <p:cNvCxnSpPr/>
          <p:nvPr/>
        </p:nvCxnSpPr>
        <p:spPr>
          <a:xfrm>
            <a:off x="9246886" y="2937526"/>
            <a:ext cx="525747" cy="52574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8" name="seclabel"/>
          <p:cNvSpPr txBox="1"/>
          <p:nvPr/>
        </p:nvSpPr>
        <p:spPr>
          <a:xfrm>
            <a:off x="960120" y="566420"/>
            <a:ext cx="5501487"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B67D84"/>
                </a:solidFill>
                <a:latin typeface="Segoe UI Semibold"/>
              </a:rPr>
              <a:t>SECURITY &amp; DATA PRIVACY</a:t>
            </a:r>
          </a:p>
        </p:txBody>
      </p:sp>
      <p:sp>
        <p:nvSpPr>
          <p:cNvPr id="9" name="title:cover"/>
          <p:cNvSpPr txBox="1"/>
          <p:nvPr/>
        </p:nvSpPr>
        <p:spPr>
          <a:xfrm>
            <a:off x="960120" y="1023620"/>
            <a:ext cx="5501487"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Phishing &amp; Social Engineering</a:t>
            </a:r>
          </a:p>
        </p:txBody>
      </p:sp>
      <p:cxnSp>
        <p:nvCxnSpPr>
          <p:cNvPr id="10" name="vis:rule"/>
          <p:cNvCxnSpPr/>
          <p:nvPr/>
        </p:nvCxnSpPr>
        <p:spPr>
          <a:xfrm>
            <a:off x="960120" y="2805684"/>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1" name="body:coversub"/>
          <p:cNvSpPr txBox="1"/>
          <p:nvPr/>
        </p:nvSpPr>
        <p:spPr>
          <a:xfrm>
            <a:off x="960120" y="3080004"/>
            <a:ext cx="5501487" cy="114452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How people get talked into handing over the password, the payment or the file — and the pause that stops it.</a:t>
            </a:r>
          </a:p>
        </p:txBody>
      </p:sp>
      <p:sp>
        <p:nvSpPr>
          <p:cNvPr id="12" name="vis:chip"/>
          <p:cNvSpPr/>
          <p:nvPr/>
        </p:nvSpPr>
        <p:spPr>
          <a:xfrm>
            <a:off x="960120" y="4626864"/>
            <a:ext cx="1058164" cy="310896"/>
          </a:xfrm>
          <a:prstGeom prst="roundRect">
            <a:avLst>
              <a:gd name="adj" fmla="val 14705"/>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vis:chiptext"/>
          <p:cNvSpPr txBox="1"/>
          <p:nvPr/>
        </p:nvSpPr>
        <p:spPr>
          <a:xfrm>
            <a:off x="1115568" y="4672583"/>
            <a:ext cx="74726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SEC-02</a:t>
            </a:r>
          </a:p>
        </p:txBody>
      </p:sp>
      <p:sp>
        <p:nvSpPr>
          <p:cNvPr id="14" name="vis:chip"/>
          <p:cNvSpPr/>
          <p:nvPr/>
        </p:nvSpPr>
        <p:spPr>
          <a:xfrm>
            <a:off x="2164588" y="4626864"/>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chiptext"/>
          <p:cNvSpPr txBox="1"/>
          <p:nvPr/>
        </p:nvSpPr>
        <p:spPr>
          <a:xfrm>
            <a:off x="2320036" y="4672583"/>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18 MINUTES</a:t>
            </a:r>
          </a:p>
        </p:txBody>
      </p:sp>
      <p:sp>
        <p:nvSpPr>
          <p:cNvPr id="16" name="vis:chip"/>
          <p:cNvSpPr/>
          <p:nvPr/>
        </p:nvSpPr>
        <p:spPr>
          <a:xfrm>
            <a:off x="960120" y="5047488"/>
            <a:ext cx="2788677"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text"/>
          <p:cNvSpPr txBox="1"/>
          <p:nvPr/>
        </p:nvSpPr>
        <p:spPr>
          <a:xfrm>
            <a:off x="1115568" y="5093207"/>
            <a:ext cx="2477781"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MANDATORY FOR ALL STAFF</a:t>
            </a:r>
          </a:p>
        </p:txBody>
      </p:sp>
      <p:sp>
        <p:nvSpPr>
          <p:cNvPr id="18" name="cell:coverhint"/>
          <p:cNvSpPr txBox="1"/>
          <p:nvPr/>
        </p:nvSpPr>
        <p:spPr>
          <a:xfrm>
            <a:off x="960120" y="5724144"/>
            <a:ext cx="5501487"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9"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SEC-02  ·  Phishing &amp; Social Engineering</a:t>
            </a:r>
          </a:p>
        </p:txBody>
      </p:sp>
      <p:sp>
        <p:nvSpPr>
          <p:cNvPr id="20"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Rekha pays the wrong bank account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995057" y="2218436"/>
            <a:ext cx="332461" cy="303552"/>
          </a:xfrm>
          <a:custGeom>
            <a:avLst/>
            <a:gdLst/>
            <a:ahLst/>
            <a:cxnLst/>
            <a:rect l="l" t="t" r="r" b="b"/>
            <a:pathLst>
              <a:path w="332461" h="303552">
                <a:moveTo>
                  <a:pt x="166231" y="0"/>
                </a:moveTo>
                <a:lnTo>
                  <a:pt x="332461" y="303552"/>
                </a:lnTo>
                <a:lnTo>
                  <a:pt x="0" y="303552"/>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vis:icon"/>
          <p:cNvCxnSpPr/>
          <p:nvPr/>
        </p:nvCxnSpPr>
        <p:spPr>
          <a:xfrm>
            <a:off x="1161288" y="2334075"/>
            <a:ext cx="0" cy="90343"/>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143219" y="2456941"/>
            <a:ext cx="36137" cy="36137"/>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Rekha handles accounts payable in Gurugram. An email arrives from a regular supplier saying their bank details have changed. The signature, the logo and the invoice format are all correct. She updates the record and pays.</a:t>
            </a:r>
          </a:p>
        </p:txBody>
      </p:sp>
      <p:sp>
        <p:nvSpPr>
          <p:cNvPr id="22"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One payment, to an account nobody at that supplier controls.</a:t>
            </a:r>
          </a:p>
        </p:txBody>
      </p:sp>
      <p:sp>
        <p:nvSpPr>
          <p:cNvPr id="28"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B67D84"/>
                </a:solidFill>
                <a:latin typeface="Segoe UI Semibold"/>
              </a:rPr>
              <a:t>AFTER THIS MODULE</a:t>
            </a:r>
          </a:p>
        </p:txBody>
      </p:sp>
      <p:cxnSp>
        <p:nvCxnSpPr>
          <p:cNvPr id="30"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1"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One phone call to a number you already had. That is the whole defence.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25094" y="1969559"/>
            <a:ext cx="271219" cy="212257"/>
          </a:xfrm>
          <a:custGeom>
            <a:avLst/>
            <a:gdLst/>
            <a:ahLst/>
            <a:cxnLst/>
            <a:rect l="l" t="t" r="r" b="b"/>
            <a:pathLst>
              <a:path w="271219" h="212257">
                <a:moveTo>
                  <a:pt x="0" y="106129"/>
                </a:moveTo>
                <a:lnTo>
                  <a:pt x="135610" y="0"/>
                </a:lnTo>
                <a:lnTo>
                  <a:pt x="271219" y="106129"/>
                </a:lnTo>
                <a:lnTo>
                  <a:pt x="135610" y="212257"/>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vis:icon"/>
          <p:cNvSpPr/>
          <p:nvPr/>
        </p:nvSpPr>
        <p:spPr>
          <a:xfrm>
            <a:off x="1019431" y="2034415"/>
            <a:ext cx="82544" cy="82544"/>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Name the four pressure signals that appear in almost every attack</a:t>
            </a:r>
          </a:p>
        </p:txBody>
      </p:sp>
      <p:sp>
        <p:nvSpPr>
          <p:cNvPr id="20"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936886" y="2865671"/>
            <a:ext cx="247634" cy="165089"/>
          </a:xfrm>
          <a:prstGeom prst="roundRect">
            <a:avLst>
              <a:gd name="adj" fmla="val 27694"/>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flipH="1">
            <a:off x="984055" y="3030760"/>
            <a:ext cx="11792" cy="6485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V="1">
            <a:off x="984055" y="3030760"/>
            <a:ext cx="64856" cy="6485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5"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Use one verification habit that defeats a convincing email</a:t>
            </a:r>
          </a:p>
        </p:txBody>
      </p:sp>
      <p:sp>
        <p:nvSpPr>
          <p:cNvPr id="26"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icon"/>
          <p:cNvSpPr/>
          <p:nvPr/>
        </p:nvSpPr>
        <p:spPr>
          <a:xfrm>
            <a:off x="925094" y="3738198"/>
            <a:ext cx="271219" cy="247635"/>
          </a:xfrm>
          <a:custGeom>
            <a:avLst/>
            <a:gdLst/>
            <a:ahLst/>
            <a:cxnLst/>
            <a:rect l="l" t="t" r="r" b="b"/>
            <a:pathLst>
              <a:path w="271219" h="247635">
                <a:moveTo>
                  <a:pt x="135610" y="0"/>
                </a:moveTo>
                <a:lnTo>
                  <a:pt x="271219" y="247635"/>
                </a:lnTo>
                <a:lnTo>
                  <a:pt x="0" y="247635"/>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vis:icon"/>
          <p:cNvCxnSpPr/>
          <p:nvPr/>
        </p:nvCxnSpPr>
        <p:spPr>
          <a:xfrm>
            <a:off x="1060704" y="3832535"/>
            <a:ext cx="0" cy="73701"/>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0" name="vis:icon"/>
          <p:cNvSpPr/>
          <p:nvPr/>
        </p:nvSpPr>
        <p:spPr>
          <a:xfrm>
            <a:off x="1045963" y="3932768"/>
            <a:ext cx="29480" cy="2948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Recognise an attack that arrives by phone or WhatsApp</a:t>
            </a:r>
          </a:p>
        </p:txBody>
      </p:sp>
      <p:sp>
        <p:nvSpPr>
          <p:cNvPr id="32"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icon"/>
          <p:cNvSpPr/>
          <p:nvPr/>
        </p:nvSpPr>
        <p:spPr>
          <a:xfrm>
            <a:off x="930990" y="4634310"/>
            <a:ext cx="259426" cy="259426"/>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vis:icon"/>
          <p:cNvCxnSpPr/>
          <p:nvPr/>
        </p:nvCxnSpPr>
        <p:spPr>
          <a:xfrm>
            <a:off x="969315" y="4672635"/>
            <a:ext cx="182777" cy="18277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6"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Know why a real-looking sender proves nothing at all</a:t>
            </a:r>
          </a:p>
        </p:txBody>
      </p:sp>
      <p:sp>
        <p:nvSpPr>
          <p:cNvPr id="37"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icon"/>
          <p:cNvSpPr/>
          <p:nvPr/>
        </p:nvSpPr>
        <p:spPr>
          <a:xfrm>
            <a:off x="933938" y="5527474"/>
            <a:ext cx="253531" cy="265323"/>
          </a:xfrm>
          <a:custGeom>
            <a:avLst/>
            <a:gdLst/>
            <a:ahLst/>
            <a:cxnLst/>
            <a:rect l="l" t="t" r="r" b="b"/>
            <a:pathLst>
              <a:path w="253531" h="265323">
                <a:moveTo>
                  <a:pt x="126766" y="0"/>
                </a:moveTo>
                <a:lnTo>
                  <a:pt x="253531" y="56013"/>
                </a:lnTo>
                <a:lnTo>
                  <a:pt x="232894" y="191622"/>
                </a:lnTo>
                <a:lnTo>
                  <a:pt x="126766" y="265323"/>
                </a:lnTo>
                <a:lnTo>
                  <a:pt x="20637" y="191622"/>
                </a:lnTo>
                <a:lnTo>
                  <a:pt x="0" y="56013"/>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Report a suspected attempt without worrying about being wrong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It is not about spelling</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Modern attacks look perfect</a:t>
            </a:r>
          </a:p>
        </p:txBody>
      </p:sp>
      <p:cxnSp>
        <p:nvCxnSpPr>
          <p:cNvPr id="13" name="vis:menuarrow"/>
          <p:cNvCxnSpPr/>
          <p:nvPr/>
        </p:nvCxnSpPr>
        <p:spPr>
          <a:xfrm>
            <a:off x="11213287" y="1997049"/>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four pressure signals</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What every attack needs</a:t>
            </a:r>
          </a:p>
        </p:txBody>
      </p:sp>
      <p:cxnSp>
        <p:nvCxnSpPr>
          <p:cNvPr id="19" name="vis:menuarrow"/>
          <p:cNvCxnSpPr/>
          <p:nvPr/>
        </p:nvCxnSpPr>
        <p:spPr>
          <a:xfrm>
            <a:off x="11213287" y="2424988"/>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verification habit</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One call, a number you had</a:t>
            </a:r>
          </a:p>
        </p:txBody>
      </p:sp>
      <p:cxnSp>
        <p:nvCxnSpPr>
          <p:cNvPr id="25" name="vis:menuarrow"/>
          <p:cNvCxnSpPr/>
          <p:nvPr/>
        </p:nvCxnSpPr>
        <p:spPr>
          <a:xfrm>
            <a:off x="11213287" y="2852928"/>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Phone, WhatsApp and in person</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Not just email</a:t>
            </a:r>
          </a:p>
        </p:txBody>
      </p:sp>
      <p:cxnSp>
        <p:nvCxnSpPr>
          <p:cNvPr id="31" name="vis:menuarrow"/>
          <p:cNvCxnSpPr/>
          <p:nvPr/>
        </p:nvCxnSpPr>
        <p:spPr>
          <a:xfrm>
            <a:off x="11213287" y="3280867"/>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Test one real message</a:t>
            </a:r>
          </a:p>
        </p:txBody>
      </p:sp>
      <p:cxnSp>
        <p:nvCxnSpPr>
          <p:cNvPr id="37" name="vis:menuarrow"/>
          <p:cNvCxnSpPr/>
          <p:nvPr/>
        </p:nvCxnSpPr>
        <p:spPr>
          <a:xfrm>
            <a:off x="11213287" y="3708806"/>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Thursday afternoon decision</a:t>
            </a:r>
          </a:p>
        </p:txBody>
      </p:sp>
      <p:cxnSp>
        <p:nvCxnSpPr>
          <p:cNvPr id="43" name="vis:menuarrow"/>
          <p:cNvCxnSpPr/>
          <p:nvPr/>
        </p:nvCxnSpPr>
        <p:spPr>
          <a:xfrm>
            <a:off x="11213287" y="4136745"/>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9-minute outside guide</a:t>
            </a:r>
          </a:p>
        </p:txBody>
      </p:sp>
      <p:cxnSp>
        <p:nvCxnSpPr>
          <p:cNvPr id="49" name="vis:menuarrow"/>
          <p:cNvCxnSpPr/>
          <p:nvPr/>
        </p:nvCxnSpPr>
        <p:spPr>
          <a:xfrm>
            <a:off x="11213287" y="4564684"/>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IT IS NOT ABOUT SPELLING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They do not look wrong any more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The badly spelled email is twenty years out of date. Modern attempts are copied from real correspondence.</a:t>
            </a:r>
          </a:p>
        </p:txBody>
      </p:sp>
      <p:sp>
        <p:nvSpPr>
          <p:cNvPr id="16" name="vis:panel"/>
          <p:cNvSpPr/>
          <p:nvPr/>
        </p:nvSpPr>
        <p:spPr>
          <a:xfrm>
            <a:off x="502920" y="2706624"/>
            <a:ext cx="5437479" cy="3310128"/>
          </a:xfrm>
          <a:prstGeom prst="roundRect">
            <a:avLst>
              <a:gd name="adj" fmla="val 276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anelspine"/>
          <p:cNvSpPr/>
          <p:nvPr/>
        </p:nvSpPr>
        <p:spPr>
          <a:xfrm>
            <a:off x="502920" y="2706624"/>
            <a:ext cx="68580" cy="3310128"/>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
          <p:cNvSpPr/>
          <p:nvPr/>
        </p:nvSpPr>
        <p:spPr>
          <a:xfrm>
            <a:off x="777240" y="2944368"/>
            <a:ext cx="2513385"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chiptext"/>
          <p:cNvSpPr txBox="1"/>
          <p:nvPr/>
        </p:nvSpPr>
        <p:spPr>
          <a:xfrm>
            <a:off x="932688" y="2971799"/>
            <a:ext cx="22024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WE TEACH PEOPLE</a:t>
            </a:r>
          </a:p>
        </p:txBody>
      </p:sp>
      <p:sp>
        <p:nvSpPr>
          <p:cNvPr id="20" name="vis:paneltitle"/>
          <p:cNvSpPr txBox="1"/>
          <p:nvPr/>
        </p:nvSpPr>
        <p:spPr>
          <a:xfrm>
            <a:off x="777240" y="3364991"/>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Look for the mistakes</a:t>
            </a:r>
          </a:p>
        </p:txBody>
      </p:sp>
      <p:sp>
        <p:nvSpPr>
          <p:cNvPr id="21" name="vis:icon"/>
          <p:cNvSpPr/>
          <p:nvPr/>
        </p:nvSpPr>
        <p:spPr>
          <a:xfrm>
            <a:off x="811987" y="4068165"/>
            <a:ext cx="109728" cy="109728"/>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907084" y="4163263"/>
            <a:ext cx="43892" cy="43891"/>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3" name="vis:panelitem"/>
          <p:cNvSpPr txBox="1"/>
          <p:nvPr/>
        </p:nvSpPr>
        <p:spPr>
          <a:xfrm>
            <a:off x="1078992" y="4005072"/>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Poor spelling and odd grammar</a:t>
            </a:r>
          </a:p>
        </p:txBody>
      </p:sp>
      <p:sp>
        <p:nvSpPr>
          <p:cNvPr id="24" name="vis:icon"/>
          <p:cNvSpPr/>
          <p:nvPr/>
        </p:nvSpPr>
        <p:spPr>
          <a:xfrm>
            <a:off x="811987" y="4516221"/>
            <a:ext cx="109728" cy="109728"/>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907084" y="4611319"/>
            <a:ext cx="43892" cy="43891"/>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6" name="vis:panelitem"/>
          <p:cNvSpPr txBox="1"/>
          <p:nvPr/>
        </p:nvSpPr>
        <p:spPr>
          <a:xfrm>
            <a:off x="1078992" y="4453128"/>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strange-looking email address</a:t>
            </a:r>
          </a:p>
        </p:txBody>
      </p:sp>
      <p:sp>
        <p:nvSpPr>
          <p:cNvPr id="27" name="vis:icon"/>
          <p:cNvSpPr/>
          <p:nvPr/>
        </p:nvSpPr>
        <p:spPr>
          <a:xfrm>
            <a:off x="811987" y="4964277"/>
            <a:ext cx="109728" cy="109728"/>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907084" y="5059375"/>
            <a:ext cx="43892" cy="43891"/>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9" name="vis:panelitem"/>
          <p:cNvSpPr txBox="1"/>
          <p:nvPr/>
        </p:nvSpPr>
        <p:spPr>
          <a:xfrm>
            <a:off x="1078992" y="4901184"/>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Generic greetings like "Dear Customer"</a:t>
            </a:r>
          </a:p>
        </p:txBody>
      </p:sp>
      <p:sp>
        <p:nvSpPr>
          <p:cNvPr id="30" name="vis:icon"/>
          <p:cNvSpPr/>
          <p:nvPr/>
        </p:nvSpPr>
        <p:spPr>
          <a:xfrm>
            <a:off x="811987" y="5412333"/>
            <a:ext cx="109728" cy="109728"/>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1" name="vis:icon"/>
          <p:cNvCxnSpPr/>
          <p:nvPr/>
        </p:nvCxnSpPr>
        <p:spPr>
          <a:xfrm>
            <a:off x="907084" y="5507431"/>
            <a:ext cx="43892" cy="43891"/>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2" name="vis:panelitem"/>
          <p:cNvSpPr txBox="1"/>
          <p:nvPr/>
        </p:nvSpPr>
        <p:spPr>
          <a:xfrm>
            <a:off x="1078992" y="5349240"/>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Obviously fake logos</a:t>
            </a:r>
          </a:p>
        </p:txBody>
      </p:sp>
      <p:sp>
        <p:nvSpPr>
          <p:cNvPr id="33" name="vis:panel"/>
          <p:cNvSpPr/>
          <p:nvPr/>
        </p:nvSpPr>
        <p:spPr>
          <a:xfrm>
            <a:off x="6251295" y="2706624"/>
            <a:ext cx="5437479" cy="3310128"/>
          </a:xfrm>
          <a:prstGeom prst="roundRect">
            <a:avLst>
              <a:gd name="adj" fmla="val 276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panelspine"/>
          <p:cNvSpPr/>
          <p:nvPr/>
        </p:nvSpPr>
        <p:spPr>
          <a:xfrm>
            <a:off x="6251295" y="2706624"/>
            <a:ext cx="68580" cy="331012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
          <p:cNvSpPr/>
          <p:nvPr/>
        </p:nvSpPr>
        <p:spPr>
          <a:xfrm>
            <a:off x="6525615" y="2944368"/>
            <a:ext cx="2584942"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iptext"/>
          <p:cNvSpPr txBox="1"/>
          <p:nvPr/>
        </p:nvSpPr>
        <p:spPr>
          <a:xfrm>
            <a:off x="6681063" y="2971799"/>
            <a:ext cx="2274046"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ACTUALLY ARRIVES</a:t>
            </a:r>
          </a:p>
        </p:txBody>
      </p:sp>
      <p:sp>
        <p:nvSpPr>
          <p:cNvPr id="37" name="vis:paneltitle"/>
          <p:cNvSpPr txBox="1"/>
          <p:nvPr/>
        </p:nvSpPr>
        <p:spPr>
          <a:xfrm>
            <a:off x="6525615" y="3364991"/>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Copied from the real thing</a:t>
            </a:r>
          </a:p>
        </p:txBody>
      </p:sp>
      <p:cxnSp>
        <p:nvCxnSpPr>
          <p:cNvPr id="38" name="vis:icon"/>
          <p:cNvCxnSpPr/>
          <p:nvPr/>
        </p:nvCxnSpPr>
        <p:spPr>
          <a:xfrm>
            <a:off x="6567677" y="4079138"/>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H="1">
            <a:off x="6567677" y="4079138"/>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0" name="vis:panelitem"/>
          <p:cNvSpPr txBox="1"/>
          <p:nvPr/>
        </p:nvSpPr>
        <p:spPr>
          <a:xfrm>
            <a:off x="6827367" y="4005072"/>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Perfect English, often AI-written</a:t>
            </a:r>
          </a:p>
        </p:txBody>
      </p:sp>
      <p:cxnSp>
        <p:nvCxnSpPr>
          <p:cNvPr id="41" name="vis:icon"/>
          <p:cNvCxnSpPr/>
          <p:nvPr/>
        </p:nvCxnSpPr>
        <p:spPr>
          <a:xfrm>
            <a:off x="6567677" y="4527194"/>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2" name="vis:icon"/>
          <p:cNvCxnSpPr/>
          <p:nvPr/>
        </p:nvCxnSpPr>
        <p:spPr>
          <a:xfrm flipH="1">
            <a:off x="6567677" y="4527194"/>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3" name="vis:panelitem"/>
          <p:cNvSpPr txBox="1"/>
          <p:nvPr/>
        </p:nvSpPr>
        <p:spPr>
          <a:xfrm>
            <a:off x="6827367" y="4453128"/>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real display name, sometimes a real address</a:t>
            </a:r>
          </a:p>
        </p:txBody>
      </p:sp>
      <p:cxnSp>
        <p:nvCxnSpPr>
          <p:cNvPr id="44" name="vis:icon"/>
          <p:cNvCxnSpPr/>
          <p:nvPr/>
        </p:nvCxnSpPr>
        <p:spPr>
          <a:xfrm>
            <a:off x="6567677" y="4975250"/>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5" name="vis:icon"/>
          <p:cNvCxnSpPr/>
          <p:nvPr/>
        </p:nvCxnSpPr>
        <p:spPr>
          <a:xfrm flipH="1">
            <a:off x="6567677" y="4975250"/>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6" name="vis:panelitem"/>
          <p:cNvSpPr txBox="1"/>
          <p:nvPr/>
        </p:nvSpPr>
        <p:spPr>
          <a:xfrm>
            <a:off x="6827367" y="4901184"/>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Your name, your order number, your supplier</a:t>
            </a:r>
          </a:p>
        </p:txBody>
      </p:sp>
      <p:cxnSp>
        <p:nvCxnSpPr>
          <p:cNvPr id="47" name="vis:icon"/>
          <p:cNvCxnSpPr/>
          <p:nvPr/>
        </p:nvCxnSpPr>
        <p:spPr>
          <a:xfrm>
            <a:off x="6567677" y="5423306"/>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8" name="vis:icon"/>
          <p:cNvCxnSpPr/>
          <p:nvPr/>
        </p:nvCxnSpPr>
        <p:spPr>
          <a:xfrm flipH="1">
            <a:off x="6567677" y="5423306"/>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9" name="vis:panelitem"/>
          <p:cNvSpPr txBox="1"/>
          <p:nvPr/>
        </p:nvSpPr>
        <p:spPr>
          <a:xfrm>
            <a:off x="6827367" y="5349240"/>
            <a:ext cx="4587087" cy="393192"/>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The exact logo and invoice layout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IT IS NOT ABOUT SPELLING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 sender name proves nothing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flowcard"/>
          <p:cNvSpPr/>
          <p:nvPr/>
        </p:nvSpPr>
        <p:spPr>
          <a:xfrm>
            <a:off x="502920"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flownum"/>
          <p:cNvSpPr/>
          <p:nvPr/>
        </p:nvSpPr>
        <p:spPr>
          <a:xfrm>
            <a:off x="685800" y="2039111"/>
            <a:ext cx="384048" cy="38404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text"/>
          <p:cNvSpPr txBox="1"/>
          <p:nvPr/>
        </p:nvSpPr>
        <p:spPr>
          <a:xfrm>
            <a:off x="685800"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8" name="vis:flowtitle"/>
          <p:cNvSpPr txBox="1"/>
          <p:nvPr/>
        </p:nvSpPr>
        <p:spPr>
          <a:xfrm>
            <a:off x="704088"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 name is typed in</a:t>
            </a:r>
          </a:p>
        </p:txBody>
      </p:sp>
      <p:sp>
        <p:nvSpPr>
          <p:cNvPr id="19" name="vis:flowsub"/>
          <p:cNvSpPr txBox="1"/>
          <p:nvPr/>
        </p:nvSpPr>
        <p:spPr>
          <a:xfrm>
            <a:off x="704088"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Display names are free text. Anyone can put anything there.</a:t>
            </a:r>
          </a:p>
        </p:txBody>
      </p:sp>
      <p:cxnSp>
        <p:nvCxnSpPr>
          <p:cNvPr id="20" name="vis:flowarrow"/>
          <p:cNvCxnSpPr/>
          <p:nvPr/>
        </p:nvCxnSpPr>
        <p:spPr>
          <a:xfrm>
            <a:off x="3093643" y="3182111"/>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vis:flowcard"/>
          <p:cNvSpPr/>
          <p:nvPr/>
        </p:nvSpPr>
        <p:spPr>
          <a:xfrm>
            <a:off x="3395395"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flownum"/>
          <p:cNvSpPr/>
          <p:nvPr/>
        </p:nvSpPr>
        <p:spPr>
          <a:xfrm>
            <a:off x="3578275" y="2039111"/>
            <a:ext cx="384048" cy="38404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text"/>
          <p:cNvSpPr txBox="1"/>
          <p:nvPr/>
        </p:nvSpPr>
        <p:spPr>
          <a:xfrm>
            <a:off x="3578275"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4" name="vis:flowtitle"/>
          <p:cNvSpPr txBox="1"/>
          <p:nvPr/>
        </p:nvSpPr>
        <p:spPr>
          <a:xfrm>
            <a:off x="3596563" y="2587751"/>
            <a:ext cx="2106091" cy="512064"/>
          </a:xfrm>
          <a:prstGeom prst="rect">
            <a:avLst/>
          </a:prstGeom>
          <a:noFill/>
        </p:spPr>
        <p:txBody>
          <a:bodyPr wrap="square" lIns="0" rIns="0" tIns="0" bIns="0" anchor="t">
            <a:spAutoFit/>
          </a:bodyPr>
          <a:lstStyle/>
          <a:p>
            <a:pPr algn="l">
              <a:lnSpc>
                <a:spcPts val="2015"/>
              </a:lnSpc>
              <a:spcBef>
                <a:spcPts val="0"/>
              </a:spcBef>
              <a:spcAft>
                <a:spcPts val="0"/>
              </a:spcAft>
            </a:pPr>
            <a:r>
              <a:rPr sz="1550" b="0">
                <a:solidFill>
                  <a:srgbClr val="101826"/>
                </a:solidFill>
                <a:latin typeface="Segoe UI Semibold"/>
              </a:rPr>
              <a:t>The address can be close</a:t>
            </a:r>
          </a:p>
        </p:txBody>
      </p:sp>
      <p:sp>
        <p:nvSpPr>
          <p:cNvPr id="25" name="vis:flowsub"/>
          <p:cNvSpPr txBox="1"/>
          <p:nvPr/>
        </p:nvSpPr>
        <p:spPr>
          <a:xfrm>
            <a:off x="3596563"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One character different, or a lookalike domain.</a:t>
            </a:r>
          </a:p>
        </p:txBody>
      </p:sp>
      <p:cxnSp>
        <p:nvCxnSpPr>
          <p:cNvPr id="26" name="vis:flowarrow"/>
          <p:cNvCxnSpPr/>
          <p:nvPr/>
        </p:nvCxnSpPr>
        <p:spPr>
          <a:xfrm>
            <a:off x="5986119" y="3182111"/>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vis:flowcard"/>
          <p:cNvSpPr/>
          <p:nvPr/>
        </p:nvSpPr>
        <p:spPr>
          <a:xfrm>
            <a:off x="6287871"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flownum"/>
          <p:cNvSpPr/>
          <p:nvPr/>
        </p:nvSpPr>
        <p:spPr>
          <a:xfrm>
            <a:off x="6470751" y="2039111"/>
            <a:ext cx="384048" cy="38404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text"/>
          <p:cNvSpPr txBox="1"/>
          <p:nvPr/>
        </p:nvSpPr>
        <p:spPr>
          <a:xfrm>
            <a:off x="6470751"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0" name="vis:flowtitle"/>
          <p:cNvSpPr txBox="1"/>
          <p:nvPr/>
        </p:nvSpPr>
        <p:spPr>
          <a:xfrm>
            <a:off x="6489039"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Replies go elsewhere</a:t>
            </a:r>
          </a:p>
        </p:txBody>
      </p:sp>
      <p:sp>
        <p:nvSpPr>
          <p:cNvPr id="31" name="vis:flowsub"/>
          <p:cNvSpPr txBox="1"/>
          <p:nvPr/>
        </p:nvSpPr>
        <p:spPr>
          <a:xfrm>
            <a:off x="6489039"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The reply-to address can differ from the one shown.</a:t>
            </a:r>
          </a:p>
        </p:txBody>
      </p:sp>
      <p:cxnSp>
        <p:nvCxnSpPr>
          <p:cNvPr id="32" name="vis:flowarrow"/>
          <p:cNvCxnSpPr/>
          <p:nvPr/>
        </p:nvCxnSpPr>
        <p:spPr>
          <a:xfrm>
            <a:off x="8878595" y="3182111"/>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vis:flowcard"/>
          <p:cNvSpPr/>
          <p:nvPr/>
        </p:nvSpPr>
        <p:spPr>
          <a:xfrm>
            <a:off x="9180347"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flownum"/>
          <p:cNvSpPr/>
          <p:nvPr/>
        </p:nvSpPr>
        <p:spPr>
          <a:xfrm>
            <a:off x="9363227" y="2039111"/>
            <a:ext cx="384048" cy="38404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text"/>
          <p:cNvSpPr txBox="1"/>
          <p:nvPr/>
        </p:nvSpPr>
        <p:spPr>
          <a:xfrm>
            <a:off x="9363227"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6" name="vis:flowtitle"/>
          <p:cNvSpPr txBox="1"/>
          <p:nvPr/>
        </p:nvSpPr>
        <p:spPr>
          <a:xfrm>
            <a:off x="9381515" y="2587751"/>
            <a:ext cx="2106091" cy="512064"/>
          </a:xfrm>
          <a:prstGeom prst="rect">
            <a:avLst/>
          </a:prstGeom>
          <a:noFill/>
        </p:spPr>
        <p:txBody>
          <a:bodyPr wrap="square" lIns="0" rIns="0" tIns="0" bIns="0" anchor="t">
            <a:spAutoFit/>
          </a:bodyPr>
          <a:lstStyle/>
          <a:p>
            <a:pPr algn="l">
              <a:lnSpc>
                <a:spcPts val="2015"/>
              </a:lnSpc>
              <a:spcBef>
                <a:spcPts val="0"/>
              </a:spcBef>
              <a:spcAft>
                <a:spcPts val="0"/>
              </a:spcAft>
            </a:pPr>
            <a:r>
              <a:rPr sz="1550" b="0">
                <a:solidFill>
                  <a:srgbClr val="101826"/>
                </a:solidFill>
                <a:latin typeface="Segoe UI Semibold"/>
              </a:rPr>
              <a:t>So looking is not checking</a:t>
            </a:r>
          </a:p>
        </p:txBody>
      </p:sp>
      <p:sp>
        <p:nvSpPr>
          <p:cNvPr id="37" name="vis:flowsub"/>
          <p:cNvSpPr txBox="1"/>
          <p:nvPr/>
        </p:nvSpPr>
        <p:spPr>
          <a:xfrm>
            <a:off x="9381515"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Only a separate channel actually verifies.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FOUR PRESSURE SIGNALS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signals in every attack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Attacks do not need you to be careless. They need you to be busy and to feel pushed.</a:t>
            </a:r>
          </a:p>
        </p:txBody>
      </p:sp>
      <p:sp>
        <p:nvSpPr>
          <p:cNvPr id="16" name="vis:checktile"/>
          <p:cNvSpPr/>
          <p:nvPr/>
        </p:nvSpPr>
        <p:spPr>
          <a:xfrm>
            <a:off x="502920"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eckdot"/>
          <p:cNvSpPr/>
          <p:nvPr/>
        </p:nvSpPr>
        <p:spPr>
          <a:xfrm>
            <a:off x="722376" y="338785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01380" y="3466856"/>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823965" y="3489441"/>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cell:checkitem"/>
          <p:cNvSpPr txBox="1"/>
          <p:nvPr/>
        </p:nvSpPr>
        <p:spPr>
          <a:xfrm>
            <a:off x="1161288"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URGENCY — today, before close, immediately</a:t>
            </a:r>
          </a:p>
        </p:txBody>
      </p:sp>
      <p:sp>
        <p:nvSpPr>
          <p:cNvPr id="21" name="vis:checktile"/>
          <p:cNvSpPr/>
          <p:nvPr/>
        </p:nvSpPr>
        <p:spPr>
          <a:xfrm>
            <a:off x="6205575"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eckdot"/>
          <p:cNvSpPr/>
          <p:nvPr/>
        </p:nvSpPr>
        <p:spPr>
          <a:xfrm>
            <a:off x="6425031" y="338785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6504035" y="3466856"/>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6526621" y="3489441"/>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cell:checkitem"/>
          <p:cNvSpPr txBox="1"/>
          <p:nvPr/>
        </p:nvSpPr>
        <p:spPr>
          <a:xfrm>
            <a:off x="6863943"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AUTHORITY — from a director, a bank, a regulator</a:t>
            </a:r>
          </a:p>
        </p:txBody>
      </p:sp>
      <p:sp>
        <p:nvSpPr>
          <p:cNvPr id="26" name="vis:checktile"/>
          <p:cNvSpPr/>
          <p:nvPr/>
        </p:nvSpPr>
        <p:spPr>
          <a:xfrm>
            <a:off x="502920"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eckdot"/>
          <p:cNvSpPr/>
          <p:nvPr/>
        </p:nvSpPr>
        <p:spPr>
          <a:xfrm>
            <a:off x="722376" y="502462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icon"/>
          <p:cNvSpPr/>
          <p:nvPr/>
        </p:nvSpPr>
        <p:spPr>
          <a:xfrm>
            <a:off x="801380" y="5103632"/>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9" name="vis:icon"/>
          <p:cNvCxnSpPr/>
          <p:nvPr/>
        </p:nvCxnSpPr>
        <p:spPr>
          <a:xfrm>
            <a:off x="823965" y="5126217"/>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0" name="cell:checkitem"/>
          <p:cNvSpPr txBox="1"/>
          <p:nvPr/>
        </p:nvSpPr>
        <p:spPr>
          <a:xfrm>
            <a:off x="1161288"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SECRECY — do not discuss this with the team yet</a:t>
            </a:r>
          </a:p>
        </p:txBody>
      </p:sp>
      <p:sp>
        <p:nvSpPr>
          <p:cNvPr id="31" name="vis:checktile"/>
          <p:cNvSpPr/>
          <p:nvPr/>
        </p:nvSpPr>
        <p:spPr>
          <a:xfrm>
            <a:off x="6205575"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eckdot"/>
          <p:cNvSpPr/>
          <p:nvPr/>
        </p:nvSpPr>
        <p:spPr>
          <a:xfrm>
            <a:off x="6425031" y="502462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6504035" y="5103632"/>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6526621" y="5126217"/>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cell:checkitem"/>
          <p:cNvSpPr txBox="1"/>
          <p:nvPr/>
        </p:nvSpPr>
        <p:spPr>
          <a:xfrm>
            <a:off x="6863943"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 CHANGE — new bank details, new address, new process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FOUR PRESSURE SIGNALS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One is enough to make you check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59212" y="2186805"/>
            <a:ext cx="294423" cy="308117"/>
          </a:xfrm>
          <a:custGeom>
            <a:avLst/>
            <a:gdLst/>
            <a:ahLst/>
            <a:cxnLst/>
            <a:rect l="l" t="t" r="r" b="b"/>
            <a:pathLst>
              <a:path w="294423" h="308117">
                <a:moveTo>
                  <a:pt x="147212" y="0"/>
                </a:moveTo>
                <a:lnTo>
                  <a:pt x="294423" y="65047"/>
                </a:lnTo>
                <a:lnTo>
                  <a:pt x="270458" y="222529"/>
                </a:lnTo>
                <a:lnTo>
                  <a:pt x="147212" y="308117"/>
                </a:lnTo>
                <a:lnTo>
                  <a:pt x="23965" y="222529"/>
                </a:lnTo>
                <a:lnTo>
                  <a:pt x="0" y="65047"/>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 change, on its own, is reason enough</a:t>
            </a:r>
          </a:p>
        </p:txBody>
      </p:sp>
      <p:sp>
        <p:nvSpPr>
          <p:cNvPr id="19"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New bank details, a new process, a new address — verify that alone, even with no urgency and no pressure attached to it.</a:t>
            </a:r>
          </a:p>
        </p:txBody>
      </p:sp>
      <p:sp>
        <p:nvSpPr>
          <p:cNvPr id="20"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4775847" y="2190229"/>
            <a:ext cx="301269" cy="301269"/>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flipV="1">
            <a:off x="4926482" y="2251852"/>
            <a:ext cx="0" cy="89011"/>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926482" y="2340863"/>
            <a:ext cx="75317" cy="27389"/>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5"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Urgency plus authority</a:t>
            </a:r>
          </a:p>
        </p:txBody>
      </p:sp>
      <p:sp>
        <p:nvSpPr>
          <p:cNvPr id="26"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director needs this paid before five." A common combination, and an easy one to notice.</a:t>
            </a:r>
          </a:p>
        </p:txBody>
      </p:sp>
      <p:sp>
        <p:nvSpPr>
          <p:cNvPr id="27"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icon"/>
          <p:cNvSpPr/>
          <p:nvPr/>
        </p:nvSpPr>
        <p:spPr>
          <a:xfrm>
            <a:off x="8623294" y="2320322"/>
            <a:ext cx="246492" cy="171175"/>
          </a:xfrm>
          <a:prstGeom prst="roundRect">
            <a:avLst>
              <a:gd name="adj" fmla="val 26709"/>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icon"/>
          <p:cNvSpPr/>
          <p:nvPr/>
        </p:nvSpPr>
        <p:spPr>
          <a:xfrm>
            <a:off x="8667799" y="2203923"/>
            <a:ext cx="157481" cy="212257"/>
          </a:xfrm>
          <a:prstGeom prst="arc">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Secrecy plus a change</a:t>
            </a:r>
          </a:p>
        </p:txBody>
      </p:sp>
      <p:sp>
        <p:nvSpPr>
          <p:cNvPr id="32"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"Do not mention this yet — the new account is confidential." Nothing legitimate needs both.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VERIFICATION HABIT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One call, a number you had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311297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280207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VERIFYING INSIDE THE MESSAGE</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You ring the number in the email signature.</a:t>
            </a:r>
          </a:p>
          <a:p>
            <a:pPr algn="l">
              <a:lnSpc>
                <a:spcPts val="1690"/>
              </a:lnSpc>
              <a:spcBef>
                <a:spcPts val="0"/>
              </a:spcBef>
              <a:spcAft>
                <a:spcPts val="600"/>
              </a:spcAft>
            </a:pPr>
            <a:r>
              <a:rPr sz="1300" b="0">
                <a:solidFill>
                  <a:srgbClr val="2A3547"/>
                </a:solidFill>
                <a:latin typeface="Segoe UI"/>
              </a:rPr>
              <a:t>You reply to the email asking "is this really you?"</a:t>
            </a:r>
          </a:p>
          <a:p>
            <a:pPr algn="l">
              <a:lnSpc>
                <a:spcPts val="1690"/>
              </a:lnSpc>
              <a:spcBef>
                <a:spcPts val="0"/>
              </a:spcBef>
              <a:spcAft>
                <a:spcPts val="600"/>
              </a:spcAft>
            </a:pPr>
            <a:r>
              <a:rPr sz="1300" b="0">
                <a:solidFill>
                  <a:srgbClr val="2A3547"/>
                </a:solidFill>
                <a:latin typeface="Segoe UI"/>
              </a:rPr>
              <a:t>Both reach whoever sent it. Confirmation is worthless.</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230720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9963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VERIFYING OUTSIDE IT</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You ring the number already in your contacts or on the invoice you had before.</a:t>
            </a:r>
          </a:p>
          <a:p>
            <a:pPr algn="l">
              <a:lnSpc>
                <a:spcPts val="1690"/>
              </a:lnSpc>
              <a:spcBef>
                <a:spcPts val="0"/>
              </a:spcBef>
              <a:spcAft>
                <a:spcPts val="600"/>
              </a:spcAft>
            </a:pPr>
            <a:r>
              <a:rPr sz="1300" b="0">
                <a:solidFill>
                  <a:srgbClr val="2A3547"/>
                </a:solidFill>
                <a:latin typeface="Segoe UI"/>
              </a:rPr>
              <a:t>You walk to the person's desk, or message them on Teams.</a:t>
            </a:r>
          </a:p>
          <a:p>
            <a:pPr algn="l">
              <a:lnSpc>
                <a:spcPts val="1690"/>
              </a:lnSpc>
              <a:spcBef>
                <a:spcPts val="0"/>
              </a:spcBef>
              <a:spcAft>
                <a:spcPts val="600"/>
              </a:spcAft>
            </a:pPr>
            <a:r>
              <a:rPr sz="1300" b="0">
                <a:solidFill>
                  <a:srgbClr val="2A3547"/>
                </a:solidFill>
                <a:latin typeface="Segoe UI"/>
              </a:rPr>
              <a:t>Any channel they did not choose defeats the whole attempt.</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rule is not "verify". It is "verify somewhere the sender does not control".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VERIFICATION HABIT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wording, ready to use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promptcard"/>
          <p:cNvSpPr/>
          <p:nvPr/>
        </p:nvSpPr>
        <p:spPr>
          <a:xfrm>
            <a:off x="502920" y="1719072"/>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wording</a:t>
            </a:r>
          </a:p>
        </p:txBody>
      </p:sp>
      <p:sp>
        <p:nvSpPr>
          <p:cNvPr id="27" name="card:prompt"/>
          <p:cNvSpPr txBox="1"/>
          <p:nvPr/>
        </p:nvSpPr>
        <p:spPr>
          <a:xfrm>
            <a:off x="777240" y="2267712"/>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Hello, I have an email asking me to change the bank details on your account. Before I touch anything I need to confirm it with you directly. Can you confirm whether that request came from your side? I am calling the number we already had on file.</a:t>
            </a:r>
          </a:p>
        </p:txBody>
      </p:sp>
      <p:sp>
        <p:nvSpPr>
          <p:cNvPr id="28" name="vis:promptcap"/>
          <p:cNvSpPr txBox="1"/>
          <p:nvPr/>
        </p:nvSpPr>
        <p:spPr>
          <a:xfrm>
            <a:off x="777240" y="3393440"/>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Nobody legitimate has ever been offended by this call.</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states plainly that you are using an old number.</a:t>
            </a:r>
          </a:p>
        </p:txBody>
      </p:sp>
      <p:cxnSp>
        <p:nvCxnSpPr>
          <p:cNvPr id="33" name="vis:icon"/>
          <p:cNvCxnSpPr/>
          <p:nvPr/>
        </p:nvCxnSpPr>
        <p:spPr>
          <a:xfrm>
            <a:off x="7850361" y="3250143"/>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asks a yes-or-no question they can answer in seconds.</a:t>
            </a:r>
          </a:p>
        </p:txBody>
      </p:sp>
      <p:cxnSp>
        <p:nvCxnSpPr>
          <p:cNvPr id="36" name="vis:icon"/>
          <p:cNvCxnSpPr/>
          <p:nvPr/>
        </p:nvCxnSpPr>
        <p:spPr>
          <a:xfrm>
            <a:off x="7850361" y="4182831"/>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costs two minutes and stops the entire attack.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PHONE, WHATSAPP AND IN PERSON</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Not only email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mistake"/>
          <p:cNvSpPr/>
          <p:nvPr/>
        </p:nvSpPr>
        <p:spPr>
          <a:xfrm>
            <a:off x="502920" y="1719072"/>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203911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210769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 call from "IT support"</a:t>
            </a:r>
          </a:p>
        </p:txBody>
      </p:sp>
      <p:cxnSp>
        <p:nvCxnSpPr>
          <p:cNvPr id="20" name="vis:line"/>
          <p:cNvCxnSpPr/>
          <p:nvPr/>
        </p:nvCxnSpPr>
        <p:spPr>
          <a:xfrm>
            <a:off x="6008686" y="1865376"/>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Asking you to read out a code or install a remote-access tool. Nobody real does this.</a:t>
            </a:r>
          </a:p>
        </p:txBody>
      </p:sp>
      <p:sp>
        <p:nvSpPr>
          <p:cNvPr id="22" name="vis:mistake"/>
          <p:cNvSpPr/>
          <p:nvPr/>
        </p:nvSpPr>
        <p:spPr>
          <a:xfrm>
            <a:off x="502920" y="2834639"/>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834639"/>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315467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3223260"/>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926079"/>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 WhatsApp from your manager's "new number"</a:t>
            </a:r>
          </a:p>
        </p:txBody>
      </p:sp>
      <p:cxnSp>
        <p:nvCxnSpPr>
          <p:cNvPr id="27" name="vis:line"/>
          <p:cNvCxnSpPr/>
          <p:nvPr/>
        </p:nvCxnSpPr>
        <p:spPr>
          <a:xfrm>
            <a:off x="6008686" y="2980944"/>
            <a:ext cx="0" cy="658367"/>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926079"/>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Urgent, brief, and asking for a payment or a gift card. Ring the old number.</a:t>
            </a:r>
          </a:p>
        </p:txBody>
      </p:sp>
      <p:sp>
        <p:nvSpPr>
          <p:cNvPr id="29" name="vis:mistake"/>
          <p:cNvSpPr/>
          <p:nvPr/>
        </p:nvSpPr>
        <p:spPr>
          <a:xfrm>
            <a:off x="502920" y="3950208"/>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950208"/>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427024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433882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4041648"/>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 visitor who follows you through the door</a:t>
            </a:r>
          </a:p>
        </p:txBody>
      </p:sp>
      <p:cxnSp>
        <p:nvCxnSpPr>
          <p:cNvPr id="34" name="vis:line"/>
          <p:cNvCxnSpPr/>
          <p:nvPr/>
        </p:nvCxnSpPr>
        <p:spPr>
          <a:xfrm>
            <a:off x="6008686" y="4096512"/>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4041648"/>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Holding boxes and looking rushed. Politely ask them to sign in at reception.</a:t>
            </a:r>
          </a:p>
        </p:txBody>
      </p:sp>
      <p:sp>
        <p:nvSpPr>
          <p:cNvPr id="36" name="vis:mistake"/>
          <p:cNvSpPr/>
          <p:nvPr/>
        </p:nvSpPr>
        <p:spPr>
          <a:xfrm>
            <a:off x="502920" y="5065776"/>
            <a:ext cx="11185855" cy="950976"/>
          </a:xfrm>
          <a:prstGeom prst="roundRect">
            <a:avLst>
              <a:gd name="adj" fmla="val 7692"/>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5065776"/>
            <a:ext cx="68580" cy="95097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5385816"/>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5454396"/>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5157216"/>
            <a:ext cx="4682806" cy="768096"/>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 supplier asking for a document "resent"</a:t>
            </a:r>
          </a:p>
        </p:txBody>
      </p:sp>
      <p:cxnSp>
        <p:nvCxnSpPr>
          <p:cNvPr id="41" name="vis:line"/>
          <p:cNvCxnSpPr/>
          <p:nvPr/>
        </p:nvCxnSpPr>
        <p:spPr>
          <a:xfrm>
            <a:off x="6008686" y="5212080"/>
            <a:ext cx="0" cy="658368"/>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5157216"/>
            <a:ext cx="5296040" cy="768096"/>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Testing whether you will send a file to a new address without checking.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PHONE, WHATSAPP AND IN PERSON</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code that is never shared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Nobody legitimate will ever ask you to read out a one-time code.</a:t>
            </a:r>
          </a:p>
          <a:p>
            <a:pPr algn="l">
              <a:lnSpc>
                <a:spcPts val="1755"/>
              </a:lnSpc>
              <a:spcBef>
                <a:spcPts val="0"/>
              </a:spcBef>
              <a:spcAft>
                <a:spcPts val="0"/>
              </a:spcAft>
            </a:pPr>
            <a:r>
              <a:rPr sz="1350" b="0">
                <a:solidFill>
                  <a:srgbClr val="FFFFFF"/>
                </a:solidFill>
                <a:latin typeface="Segoe UI"/>
              </a:rPr>
              <a:t>Not IT, not the bank, not a director, not a supplier. There is no exception.</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 code on your phone stays on your phone.</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460315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462573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Anyone asking for it is attacking you.</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40492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42750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Report it, even if you did not give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test one message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stepnum"/>
          <p:cNvSpPr/>
          <p:nvPr/>
        </p:nvSpPr>
        <p:spPr>
          <a:xfrm>
            <a:off x="502920" y="2027681"/>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Open the last message that asked you to do something financial.</a:t>
            </a:r>
          </a:p>
        </p:txBody>
      </p:sp>
      <p:sp>
        <p:nvSpPr>
          <p:cNvPr id="19" name="vis:stepnum"/>
          <p:cNvSpPr/>
          <p:nvPr/>
        </p:nvSpPr>
        <p:spPr>
          <a:xfrm>
            <a:off x="502920" y="3138677"/>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Count how many of the four pressure signals it contains.</a:t>
            </a:r>
          </a:p>
        </p:txBody>
      </p:sp>
      <p:sp>
        <p:nvSpPr>
          <p:cNvPr id="23" name="vis:stepnum"/>
          <p:cNvSpPr/>
          <p:nvPr/>
        </p:nvSpPr>
        <p:spPr>
          <a:xfrm>
            <a:off x="502920" y="4249674"/>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Find a number for the sender that did not come from the message.</a:t>
            </a:r>
          </a:p>
        </p:txBody>
      </p:sp>
      <p:sp>
        <p:nvSpPr>
          <p:cNvPr id="27" name="vis:stepnum"/>
          <p:cNvSpPr/>
          <p:nvPr/>
        </p:nvSpPr>
        <p:spPr>
          <a:xfrm>
            <a:off x="502920" y="5360670"/>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If you cannot find one independently, that is your answer.</a:t>
            </a:r>
          </a:p>
        </p:txBody>
      </p:sp>
      <p:sp>
        <p:nvSpPr>
          <p:cNvPr id="30" name="vis:promptcard"/>
          <p:cNvSpPr/>
          <p:nvPr/>
        </p:nvSpPr>
        <p:spPr>
          <a:xfrm>
            <a:off x="6461607" y="1719072"/>
            <a:ext cx="5227167" cy="2807208"/>
          </a:xfrm>
          <a:prstGeom prst="roundRect">
            <a:avLst>
              <a:gd name="adj" fmla="val 325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3868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Consolas"/>
              </a:rPr>
              <a:t>I received a message asking me to act. Ask me six short questions, one at a time, to work out whether it shows signs of a phishing or impersonation attempt. Do not ask me to paste the message. At the end give me a verdict and one action.</a:t>
            </a:r>
          </a:p>
        </p:txBody>
      </p:sp>
      <p:sp>
        <p:nvSpPr>
          <p:cNvPr id="43" name="vis:promptcap"/>
          <p:cNvSpPr txBox="1"/>
          <p:nvPr/>
        </p:nvSpPr>
        <p:spPr>
          <a:xfrm>
            <a:off x="6735927" y="3855719"/>
            <a:ext cx="4678527" cy="45110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Describe the message. Never paste it, and never paste any attachment.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If you already clicked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Disconnect from the network, but do not switch the machine off.</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Change the password from a different device.</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Tell [COMPANY INPUT NEEDED: who to report a security concern to] within the hour.</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Say exactly what you clicked and what you typed. All of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Reporting a false alarm is free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Am I sure enough to be worth someone's time?</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1491848" y="3026664"/>
            <a:ext cx="2049051"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1647296" y="3054096"/>
            <a:ext cx="17381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CERTAIN IT IS FAKE</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a:off x="571079" y="3937040"/>
            <a:ext cx="66568"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V="1">
            <a:off x="637647" y="3860231"/>
            <a:ext cx="122896"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Report it and delete</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Reporting matters even when you spotted it. If it reached you, it reached colleagues, and some of them are busier than you were.</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018971" y="3026664"/>
            <a:ext cx="131269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174419" y="3054096"/>
            <a:ext cx="10018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NOT SURE</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Report it anyway</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false alarm costs somebody two minutes. A real attempt that nobody reported costs considerably more, and usually arrives at four other people's desks as well.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smart people get caught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nest"/>
          <p:cNvSpPr/>
          <p:nvPr/>
        </p:nvSpPr>
        <p:spPr>
          <a:xfrm>
            <a:off x="502920" y="2221991"/>
            <a:ext cx="6264078" cy="3291840"/>
          </a:xfrm>
          <a:prstGeom prst="roundRect">
            <a:avLst>
              <a:gd name="adj" fmla="val 2777"/>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nestlabel"/>
          <p:cNvSpPr txBox="1"/>
          <p:nvPr/>
        </p:nvSpPr>
        <p:spPr>
          <a:xfrm>
            <a:off x="722376" y="2368296"/>
            <a:ext cx="5825166"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It arrives when you are busy</a:t>
            </a:r>
          </a:p>
        </p:txBody>
      </p:sp>
      <p:sp>
        <p:nvSpPr>
          <p:cNvPr id="17" name="vis:nestsub"/>
          <p:cNvSpPr txBox="1"/>
          <p:nvPr/>
        </p:nvSpPr>
        <p:spPr>
          <a:xfrm>
            <a:off x="722376" y="2679191"/>
            <a:ext cx="5825166"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Late afternoon, month end, during a deadline.</a:t>
            </a:r>
          </a:p>
        </p:txBody>
      </p:sp>
      <p:sp>
        <p:nvSpPr>
          <p:cNvPr id="18" name="vis:nest"/>
          <p:cNvSpPr/>
          <p:nvPr/>
        </p:nvSpPr>
        <p:spPr>
          <a:xfrm>
            <a:off x="832104" y="3081527"/>
            <a:ext cx="5605710" cy="2157984"/>
          </a:xfrm>
          <a:prstGeom prst="roundRect">
            <a:avLst>
              <a:gd name="adj" fmla="val 4237"/>
            </a:avLst>
          </a:prstGeom>
          <a:solidFill>
            <a:srgbClr val="FFFFFF"/>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nestlabel"/>
          <p:cNvSpPr txBox="1"/>
          <p:nvPr/>
        </p:nvSpPr>
        <p:spPr>
          <a:xfrm>
            <a:off x="1051560" y="3227832"/>
            <a:ext cx="5166798"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It looks completely routine</a:t>
            </a:r>
          </a:p>
        </p:txBody>
      </p:sp>
      <p:sp>
        <p:nvSpPr>
          <p:cNvPr id="20" name="vis:nestsub"/>
          <p:cNvSpPr txBox="1"/>
          <p:nvPr/>
        </p:nvSpPr>
        <p:spPr>
          <a:xfrm>
            <a:off x="1051560" y="3538727"/>
            <a:ext cx="5166798"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 supplier you know, an invoice you expected.</a:t>
            </a:r>
          </a:p>
        </p:txBody>
      </p:sp>
      <p:sp>
        <p:nvSpPr>
          <p:cNvPr id="21" name="vis:nest"/>
          <p:cNvSpPr/>
          <p:nvPr/>
        </p:nvSpPr>
        <p:spPr>
          <a:xfrm>
            <a:off x="1161288" y="3941063"/>
            <a:ext cx="4947342" cy="1024128"/>
          </a:xfrm>
          <a:prstGeom prst="roundRect">
            <a:avLst>
              <a:gd name="adj" fmla="val 8928"/>
            </a:avLst>
          </a:prstGeom>
          <a:solidFill>
            <a:srgbClr val="F3F6FB"/>
          </a:solid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nestlabel"/>
          <p:cNvSpPr txBox="1"/>
          <p:nvPr/>
        </p:nvSpPr>
        <p:spPr>
          <a:xfrm>
            <a:off x="1380744" y="4087368"/>
            <a:ext cx="4508430"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7A1220"/>
                </a:solidFill>
                <a:latin typeface="Segoe UI Semibold"/>
              </a:rPr>
              <a:t>It asks for one small thing</a:t>
            </a:r>
          </a:p>
        </p:txBody>
      </p:sp>
      <p:sp>
        <p:nvSpPr>
          <p:cNvPr id="23" name="vis:nestsub"/>
          <p:cNvSpPr txBox="1"/>
          <p:nvPr/>
        </p:nvSpPr>
        <p:spPr>
          <a:xfrm>
            <a:off x="1380744" y="4398264"/>
            <a:ext cx="4508430"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Update a field, confirm a code, resend a file.</a:t>
            </a:r>
          </a:p>
        </p:txBody>
      </p:sp>
      <p:sp>
        <p:nvSpPr>
          <p:cNvPr id="24" name="body:nestnote"/>
          <p:cNvSpPr txBox="1"/>
          <p:nvPr/>
        </p:nvSpPr>
        <p:spPr>
          <a:xfrm>
            <a:off x="7438150" y="2368296"/>
            <a:ext cx="4250624" cy="299923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5B6779"/>
                </a:solidFill>
                <a:latin typeface="Segoe UI"/>
              </a:rPr>
              <a:t>Nobody is caught by an obvious scam. People are caught by an ordinary request on a busy afternoon, which is exactly what these are designed to be.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phishing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alertband"/>
          <p:cNvSpPr/>
          <p:nvPr/>
        </p:nvSpPr>
        <p:spPr>
          <a:xfrm>
            <a:off x="0" y="1719072"/>
            <a:ext cx="12191695" cy="960120"/>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275"/>
              </a:lnSpc>
              <a:spcBef>
                <a:spcPts val="0"/>
              </a:spcBef>
              <a:spcAft>
                <a:spcPts val="400"/>
              </a:spcAft>
            </a:pPr>
            <a:r>
              <a:rPr sz="1750" b="0">
                <a:solidFill>
                  <a:srgbClr val="FFFFFF"/>
                </a:solidFill>
                <a:latin typeface="Segoe UI Semibold"/>
              </a:rPr>
              <a:t>Anything that changes where money or data goes gets verified on a channel the sender did not choose.</a:t>
            </a:r>
          </a:p>
          <a:p>
            <a:pPr algn="l">
              <a:lnSpc>
                <a:spcPts val="1625"/>
              </a:lnSpc>
              <a:spcBef>
                <a:spcPts val="0"/>
              </a:spcBef>
              <a:spcAft>
                <a:spcPts val="0"/>
              </a:spcAft>
            </a:pPr>
            <a:r>
              <a:rPr sz="1250" b="0">
                <a:solidFill>
                  <a:srgbClr val="FFFFFF"/>
                </a:solidFill>
                <a:latin typeface="Segoe UI"/>
              </a:rPr>
              <a:t>That single habit defeats nearly every version of this attack.</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Bank details change — call an old number.</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Urgent and secret — verify twice.</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One-time code requested — report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Thursday, 4:30 pm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An email from a regular supplier says their bank details have changed and an overdue invoice needs paying today. The layout, logo and signature all look exactly right.</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Reply to the email asking them to confirm the new details.</a:t>
            </a:r>
          </a:p>
        </p:txBody>
      </p:sp>
      <p:cxnSp>
        <p:nvCxnSpPr>
          <p:cNvPr id="23" name="vis:choicearrow"/>
          <p:cNvCxnSpPr/>
          <p:nvPr/>
        </p:nvCxnSpPr>
        <p:spPr>
          <a:xfrm>
            <a:off x="758952" y="5632704"/>
            <a:ext cx="292608"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Ring the supplier on the number you already had on file.</a:t>
            </a:r>
          </a:p>
        </p:txBody>
      </p:sp>
      <p:cxnSp>
        <p:nvCxnSpPr>
          <p:cNvPr id="29" name="vis:choicearrow"/>
          <p:cNvCxnSpPr/>
          <p:nvPr/>
        </p:nvCxnSpPr>
        <p:spPr>
          <a:xfrm>
            <a:off x="4566818" y="5632704"/>
            <a:ext cx="292608"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Pay it — the invoice is genuinely overdue and it looks right.</a:t>
            </a:r>
          </a:p>
        </p:txBody>
      </p:sp>
      <p:cxnSp>
        <p:nvCxnSpPr>
          <p:cNvPr id="35" name="vis:choicearrow"/>
          <p:cNvCxnSpPr/>
          <p:nvPr/>
        </p:nvCxnSpPr>
        <p:spPr>
          <a:xfrm>
            <a:off x="8374684" y="5632704"/>
            <a:ext cx="292608"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See what happens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You asked the attacker whether they are real</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reply goes wherever the sender chose. Within ten minutes you have a polite confirmation, possibly with a scanned letter attached. You now feel more confident than before, which is precisely the point of the exchange.</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Never verify inside the channel the request arrived on.</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Two minutes, and the attack ends</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number from your existing records reaches the real supplier, who confirms they have not changed anything. You report the email, and the same message is found sitting in three other inboxes.</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Use a number you had before the message arrived.</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The money leaves and does not come back</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payment reaches an account nobody at the supplier controls. Recovery depends on how fast the bank is told, and after a few hours it is usually gone. The real invoice is still outstanding.</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Overdue is pressure. Pressure is one of the four signals.</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Nine minutes on spotting them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How to Spot Phishing Emails | Cyber Security Awareness for Employees</a:t>
            </a:r>
          </a:p>
        </p:txBody>
      </p:sp>
      <p:sp>
        <p:nvSpPr>
          <p:cNvPr id="19" name="vis:chip"/>
          <p:cNvSpPr/>
          <p:nvPr/>
        </p:nvSpPr>
        <p:spPr>
          <a:xfrm>
            <a:off x="868680" y="3858768"/>
            <a:ext cx="168236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13714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UK CYBER HUB</a:t>
            </a:r>
          </a:p>
        </p:txBody>
      </p:sp>
      <p:sp>
        <p:nvSpPr>
          <p:cNvPr id="21" name="vis:chip"/>
          <p:cNvSpPr/>
          <p:nvPr/>
        </p:nvSpPr>
        <p:spPr>
          <a:xfrm>
            <a:off x="2697353" y="3858768"/>
            <a:ext cx="120484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2852801" y="3895344"/>
            <a:ext cx="8939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8:51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using UK examples. The signals are identical here; the reporting route is ours.</a:t>
            </a:r>
          </a:p>
        </p:txBody>
      </p:sp>
      <p:sp>
        <p:nvSpPr>
          <p:cNvPr id="25" name="nav:videobtn">
            <a:hlinkClick r:id="rId2"/>
          </p:cNvPr>
          <p:cNvSpPr/>
          <p:nvPr/>
        </p:nvSpPr>
        <p:spPr>
          <a:xfrm>
            <a:off x="868680" y="5230368"/>
            <a:ext cx="3017520" cy="493776"/>
          </a:xfrm>
          <a:prstGeom prst="roundRect">
            <a:avLst>
              <a:gd name="adj" fmla="val 11111"/>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Everything you need is already in this deck.</a:t>
            </a:r>
          </a:p>
        </p:txBody>
      </p:sp>
      <p:cxnSp>
        <p:nvCxnSpPr>
          <p:cNvPr id="35" name="vis:icon"/>
          <p:cNvCxnSpPr/>
          <p:nvPr/>
        </p:nvCxnSpPr>
        <p:spPr>
          <a:xfrm>
            <a:off x="8439424" y="3743919"/>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prefer watching to reading.</a:t>
            </a:r>
          </a:p>
        </p:txBody>
      </p:sp>
      <p:cxnSp>
        <p:nvCxnSpPr>
          <p:cNvPr id="38" name="vis:icon"/>
          <p:cNvCxnSpPr/>
          <p:nvPr/>
        </p:nvCxnSpPr>
        <p:spPr>
          <a:xfrm>
            <a:off x="8439424" y="4859487"/>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proves an email is genuine?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sender's name and address look right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Nothing in the message. Only a separate channel</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logo and invoice format match exactly</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They knew your order number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 sender's name and address look right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Display names are free text and addresses can be lookalikes or genuinely compromised. Looking right is the entire design goal of the message.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Nothing inside the message.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Nothing in the message. Only a separate channel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Every element of an email can be copied or controlled by the sender. A phone call to a number you already had is outside their control, which is why it works.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Nothing inside the message.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The logo and invoice format match exactly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Those are copied from real correspondence, often from a genuine earlier email. A perfect match is evidence of effort, not of authenticity.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Nothing inside the message.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They knew your order number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Order numbers appear in emails, attachments and sometimes breached systems. Knowing details makes the message convincing, not legitimate.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Nothing inside the message.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combination should stop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Urgency and a request to keep it quiet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long email with an attachment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An email arriving late in the day</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supplier you have not heard from recently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Urgency and a request to keep it quiet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Nothing legitimate needs both speed and secrecy. That pairing exists specifically to stop you checking with the colleague who would recognise it as false.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Signals combine easily — but one alone is reason enough to check.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 long email with an attachment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Perfectly normal in most jobs. Length and attachments are not signals in themselves.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Signals combine easily — but one alone is reason enough to check.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An email arriving late in the day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Timing alone is not a signal, although attacks do favour busy periods. It matters only alongside the actual pressure signals.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Signals combine easily — but one alone is reason enough to check.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 supplier you have not heard from recently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Common and usually innocent. What matters is whether they are asking you to change where money or data goes.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Signals combine easily — but one alone is reason enough to check.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Who may ask for a one-time code?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Your IT team, when fixing your account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Nobody — not IT, your bank, or your manager</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Your bank's fraud department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Your manager, if it is urgent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Your IT team, when fixing your account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They never need it. IT can reset access through their own systems, and any request for a code from you is somebody impersonating them.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Nobody. There is no exception.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Nobody — not IT, your bank, or your manager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code exists to prove it is you. Anyone asking you to read it out is asking you to prove you are them. There is no legitimate version of that request.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Nobody. There is no exception.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Your bank's fraud department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This is the single most common impersonation there is. Real banks state clearly that they will never ask for a code, and attackers rely on you not remembering that.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Nobody. There is no exception.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Your manager, if it is urgent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Urgency plus authority is the classic pairing. A manager has no reason to need your code, and a real one will understand completely when you decline.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Nobody. There is no exception.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You clicked. What comes first?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Switch the machine off immediately</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Disconnect from the network and report it within the hour</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Wait to see whether anything odd happens</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Delete the email so nobody else clicks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Switch the machine off immediately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Powering off can destroy information the security team needs to see what happened. Disconnect from the network instead and leave it running.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Disconnect, change password elsewhere, report within the hour.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Disconnect from the network and report it within the hour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Disconnecting stops anything in progress, keeping it powered preserves evidence, and reporting quickly is what turns an incident into a contained one.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Disconnect, change password elsewhere, report within the hour.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Wait to see whether anything odd happens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Nothing visible will happen, and the useful window closes. By the time something is obvious, credentials have been used elsewhere.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Disconnect, change password elsewhere, report within the hour.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Delete the email so nobody else clicks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have removed the evidence and left the copies in everyone else's inbox. Report it first — that is what gets it pulled from other mailboxes.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Disconnect, change password elsewhere, report within the hour.</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Should you report a false alarm?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No — it wastes the security team's time</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Yes, always. The cost of being wrong is tiny</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Only if you clicked something</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Only if it involves money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No — it wastes the security team's time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Two minutes of theirs against a possible incident is not a close call. Teams would far rather see ten false alarms than miss one real attempt.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Yes. It costs two minutes.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Yes, always. The cost of being wrong is tiny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If it reached you it reached colleagues, some busier than you. Reporting is what gets it removed from other inboxes before somebody acts on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Yes. It costs two minutes.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Only if you clicked something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Reporting the attempt matters even when you spotted it perfectly. The value is in warning everyone else who received the same thing.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Yes. It costs two minutes.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Only if it involves money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Credential and document requests are just as serious, and are usually the first step towards the payment request that follows.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Yes. It costs two minutes.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Phishing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They do not look wrong</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Perfect English, real logos, your order number. Spelling is not the test.</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Four pressure signals</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Urgency, authority, secrecy, a change. One alone is reason enough to verify.</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Verify outside the channel</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number you already had, not one from the message.</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Never a one-time code</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Nobody legitimate asks. There is genuinely no exception.</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If you clicked, disconnect and report</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Leave it powered on, change the password elsewhere, report within the hour.</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Report false alarms too</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It reached your colleagues as well, and some of them are busier.</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B67D8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B67D84"/>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B67D84"/>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145"/>
              </a:lnSpc>
              <a:spcBef>
                <a:spcPts val="0"/>
              </a:spcBef>
              <a:spcAft>
                <a:spcPts val="0"/>
              </a:spcAft>
            </a:pPr>
            <a:r>
              <a:rPr sz="1650" b="0">
                <a:solidFill>
                  <a:srgbClr val="FFFFFF"/>
                </a:solidFill>
                <a:latin typeface="Segoe UI Semibold"/>
              </a:rPr>
              <a:t>Anything that changes where money or data goes gets verified on a channel the sender did not choose.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6573" y="2403501"/>
            <a:ext cx="223669" cy="149113"/>
          </a:xfrm>
          <a:prstGeom prst="roundRect">
            <a:avLst>
              <a:gd name="adj" fmla="val 30661"/>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909176" y="2552614"/>
            <a:ext cx="10651" cy="5858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909176" y="2552614"/>
            <a:ext cx="58581" cy="5858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1"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verification call wording</a:t>
            </a:r>
          </a:p>
        </p:txBody>
      </p:sp>
      <p:sp>
        <p:nvSpPr>
          <p:cNvPr id="22"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Confirms directly, on a number you already had.</a:t>
            </a:r>
          </a:p>
        </p:txBody>
      </p:sp>
      <p:sp>
        <p:nvSpPr>
          <p:cNvPr id="23"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863910" y="3303046"/>
            <a:ext cx="37278" cy="3727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6" name="vis:icon"/>
          <p:cNvCxnSpPr/>
          <p:nvPr/>
        </p:nvCxnSpPr>
        <p:spPr>
          <a:xfrm>
            <a:off x="930478" y="3321686"/>
            <a:ext cx="165090"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7" name="vis:icon"/>
          <p:cNvSpPr/>
          <p:nvPr/>
        </p:nvSpPr>
        <p:spPr>
          <a:xfrm>
            <a:off x="863910" y="3382928"/>
            <a:ext cx="37278" cy="3727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930478" y="3401568"/>
            <a:ext cx="165090"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9" name="vis:icon"/>
          <p:cNvSpPr/>
          <p:nvPr/>
        </p:nvSpPr>
        <p:spPr>
          <a:xfrm>
            <a:off x="863910" y="3462810"/>
            <a:ext cx="37278" cy="3727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0" name="vis:icon"/>
          <p:cNvCxnSpPr/>
          <p:nvPr/>
        </p:nvCxnSpPr>
        <p:spPr>
          <a:xfrm>
            <a:off x="930478" y="3481449"/>
            <a:ext cx="165090"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1"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four-signal check</a:t>
            </a:r>
          </a:p>
        </p:txBody>
      </p:sp>
      <p:sp>
        <p:nvSpPr>
          <p:cNvPr id="32"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Urgency, authority, secrecy, a change. Count them.</a:t>
            </a:r>
          </a:p>
        </p:txBody>
      </p:sp>
      <p:sp>
        <p:nvSpPr>
          <p:cNvPr id="33"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icon"/>
          <p:cNvSpPr/>
          <p:nvPr/>
        </p:nvSpPr>
        <p:spPr>
          <a:xfrm>
            <a:off x="863910" y="4183953"/>
            <a:ext cx="228995" cy="239645"/>
          </a:xfrm>
          <a:custGeom>
            <a:avLst/>
            <a:gdLst/>
            <a:ahLst/>
            <a:cxnLst/>
            <a:rect l="l" t="t" r="r" b="b"/>
            <a:pathLst>
              <a:path w="228995" h="239645">
                <a:moveTo>
                  <a:pt x="114498" y="0"/>
                </a:moveTo>
                <a:lnTo>
                  <a:pt x="228995" y="50591"/>
                </a:lnTo>
                <a:lnTo>
                  <a:pt x="210356" y="173077"/>
                </a:lnTo>
                <a:lnTo>
                  <a:pt x="114498" y="239645"/>
                </a:lnTo>
                <a:lnTo>
                  <a:pt x="18639" y="173077"/>
                </a:lnTo>
                <a:lnTo>
                  <a:pt x="0" y="50591"/>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first-hour checklist</a:t>
            </a:r>
          </a:p>
        </p:txBody>
      </p:sp>
      <p:sp>
        <p:nvSpPr>
          <p:cNvPr id="37"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Disconnect, change elsewhere, report within the hour.</a:t>
            </a:r>
          </a:p>
        </p:txBody>
      </p:sp>
      <p:sp>
        <p:nvSpPr>
          <p:cNvPr id="38"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LINKS THAT WORK</a:t>
            </a:r>
          </a:p>
        </p:txBody>
      </p:sp>
      <p:sp>
        <p:nvSpPr>
          <p:cNvPr id="39"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icon"/>
          <p:cNvSpPr/>
          <p:nvPr/>
        </p:nvSpPr>
        <p:spPr>
          <a:xfrm>
            <a:off x="8339937" y="2300630"/>
            <a:ext cx="164592" cy="164592"/>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1" name="vis:icon"/>
          <p:cNvCxnSpPr/>
          <p:nvPr/>
        </p:nvCxnSpPr>
        <p:spPr>
          <a:xfrm>
            <a:off x="8482584" y="2443276"/>
            <a:ext cx="65836" cy="6583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42"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Check if your email has leaked</a:t>
            </a:r>
          </a:p>
        </p:txBody>
      </p:sp>
      <p:sp>
        <p:nvSpPr>
          <p:cNvPr id="43"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a:rPr>
              <a:t>haveibeenpwned.com</a:t>
            </a:r>
          </a:p>
        </p:txBody>
      </p:sp>
      <p:sp>
        <p:nvSpPr>
          <p:cNvPr id="44"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icon"/>
          <p:cNvSpPr/>
          <p:nvPr/>
        </p:nvSpPr>
        <p:spPr>
          <a:xfrm>
            <a:off x="8339937" y="2977286"/>
            <a:ext cx="164592" cy="164592"/>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6" name="vis:icon"/>
          <p:cNvCxnSpPr/>
          <p:nvPr/>
        </p:nvCxnSpPr>
        <p:spPr>
          <a:xfrm>
            <a:off x="8482584" y="3119932"/>
            <a:ext cx="65836" cy="6583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47"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India's data protection framework</a:t>
            </a:r>
          </a:p>
        </p:txBody>
      </p:sp>
      <p:sp>
        <p:nvSpPr>
          <p:cNvPr id="48"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a:rPr>
              <a:t>www.meity.gov.in/data-protection-fra…</a:t>
            </a:r>
          </a:p>
        </p:txBody>
      </p:sp>
      <p:sp>
        <p:nvSpPr>
          <p:cNvPr id="49"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0" name="vis:icon"/>
          <p:cNvSpPr/>
          <p:nvPr/>
        </p:nvSpPr>
        <p:spPr>
          <a:xfrm>
            <a:off x="8339937" y="3653942"/>
            <a:ext cx="164592" cy="164592"/>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1" name="vis:icon"/>
          <p:cNvCxnSpPr/>
          <p:nvPr/>
        </p:nvCxnSpPr>
        <p:spPr>
          <a:xfrm>
            <a:off x="8482584" y="3796588"/>
            <a:ext cx="65836" cy="6583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52"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UAE data protection laws</a:t>
            </a:r>
          </a:p>
        </p:txBody>
      </p:sp>
      <p:sp>
        <p:nvSpPr>
          <p:cNvPr id="53"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a:rPr>
              <a:t>u.ae/en/about-the-uae/digital-uae/dat…</a:t>
            </a:r>
          </a:p>
        </p:txBody>
      </p:sp>
      <p:sp>
        <p:nvSpPr>
          <p:cNvPr id="54"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5"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B67D84"/>
                </a:solidFill>
                <a:latin typeface="Segoe UI Semibold"/>
              </a:rPr>
              <a:t>DO THIS NEXT</a:t>
            </a:r>
          </a:p>
        </p:txBody>
      </p:sp>
      <p:sp>
        <p:nvSpPr>
          <p:cNvPr id="56"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SEC-03, Multi-Factor Authentication. The second lock that makes a stolen password nearly useless.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SEC-02  ·  Phishing &amp; Social Engineering</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Phishing</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message designed to make you hand over access, money or a document.</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Social engineering</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Manipulating a person rather than attacking a system. The pressure signals are the tools.</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Spoofing</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Making a message appear to come from somebody else. Display names are free text.</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Business email compromise</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An attacker using a real or lookalike account to redirect a payment.</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One-time code</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short code proving it is you. Never shared with anyone, for any reason.</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Out-of-band</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Checking through a different channel the sender does not control.</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