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UuLjQ-LWM9Y"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aveibeenpwned.com" TargetMode="External"/><Relationship Id="rId3" Type="http://schemas.openxmlformats.org/officeDocument/2006/relationships/hyperlink" Target="https://www.meity.gov.in/data-protection-framework" TargetMode="External"/><Relationship Id="rId4" Type="http://schemas.openxmlformats.org/officeDocument/2006/relationships/hyperlink" Target="https://u.ae/en/about-the-uae/digital-uae/data/data-protection-laws"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shield"/>
          <p:cNvSpPr/>
          <p:nvPr/>
        </p:nvSpPr>
        <p:spPr>
          <a:xfrm>
            <a:off x="8237793" y="1686153"/>
            <a:ext cx="2543933" cy="3028493"/>
          </a:xfrm>
          <a:custGeom>
            <a:avLst/>
            <a:gdLst/>
            <a:ahLst/>
            <a:cxnLst/>
            <a:rect l="l" t="t" r="r" b="b"/>
            <a:pathLst>
              <a:path w="2543933" h="3028493">
                <a:moveTo>
                  <a:pt x="1271967" y="0"/>
                </a:moveTo>
                <a:lnTo>
                  <a:pt x="2543933" y="605699"/>
                </a:lnTo>
                <a:lnTo>
                  <a:pt x="2362224" y="2059375"/>
                </a:lnTo>
                <a:lnTo>
                  <a:pt x="1271967" y="3028493"/>
                </a:lnTo>
                <a:lnTo>
                  <a:pt x="181709" y="2059375"/>
                </a:lnTo>
                <a:lnTo>
                  <a:pt x="0" y="605699"/>
                </a:lnTo>
                <a:close/>
              </a:path>
            </a:pathLst>
          </a:cu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vis:covershield"/>
          <p:cNvSpPr/>
          <p:nvPr/>
        </p:nvSpPr>
        <p:spPr>
          <a:xfrm>
            <a:off x="8661782" y="2170712"/>
            <a:ext cx="1695955" cy="2059375"/>
          </a:xfrm>
          <a:custGeom>
            <a:avLst/>
            <a:gdLst/>
            <a:ahLst/>
            <a:cxnLst/>
            <a:rect l="l" t="t" r="r" b="b"/>
            <a:pathLst>
              <a:path w="1695955" h="2059375">
                <a:moveTo>
                  <a:pt x="847978" y="0"/>
                </a:moveTo>
                <a:lnTo>
                  <a:pt x="1695955" y="423989"/>
                </a:lnTo>
                <a:lnTo>
                  <a:pt x="1574816" y="1393107"/>
                </a:lnTo>
                <a:lnTo>
                  <a:pt x="847978" y="2059375"/>
                </a:lnTo>
                <a:lnTo>
                  <a:pt x="121139" y="1393107"/>
                </a:lnTo>
                <a:lnTo>
                  <a:pt x="0" y="423989"/>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vis:icon"/>
          <p:cNvSpPr/>
          <p:nvPr/>
        </p:nvSpPr>
        <p:spPr>
          <a:xfrm>
            <a:off x="9136649" y="2827289"/>
            <a:ext cx="746220" cy="74622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icon"/>
          <p:cNvCxnSpPr/>
          <p:nvPr/>
        </p:nvCxnSpPr>
        <p:spPr>
          <a:xfrm>
            <a:off x="9246886" y="2937526"/>
            <a:ext cx="525747" cy="52574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8" name="seclabel"/>
          <p:cNvSpPr txBox="1"/>
          <p:nvPr/>
        </p:nvSpPr>
        <p:spPr>
          <a:xfrm>
            <a:off x="960120" y="566420"/>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9" name="title:cover"/>
          <p:cNvSpPr txBox="1"/>
          <p:nvPr/>
        </p:nvSpPr>
        <p:spPr>
          <a:xfrm>
            <a:off x="960120" y="1023620"/>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Phishing &amp; Social Engineering</a:t>
            </a:r>
          </a:p>
        </p:txBody>
      </p:sp>
      <p:cxnSp>
        <p:nvCxnSpPr>
          <p:cNvPr id="10" name="vis:rule"/>
          <p:cNvCxnSpPr/>
          <p:nvPr/>
        </p:nvCxnSpPr>
        <p:spPr>
          <a:xfrm>
            <a:off x="960120"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080004"/>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How people get talked into handing over the password, the payment or the file — and the pause that stops it.</a:t>
            </a:r>
          </a:p>
        </p:txBody>
      </p:sp>
      <p:sp>
        <p:nvSpPr>
          <p:cNvPr id="12" name="vis:chip"/>
          <p:cNvSpPr/>
          <p:nvPr/>
        </p:nvSpPr>
        <p:spPr>
          <a:xfrm>
            <a:off x="960120" y="4626864"/>
            <a:ext cx="1058164"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672583"/>
            <a:ext cx="747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SEC-02</a:t>
            </a:r>
          </a:p>
        </p:txBody>
      </p:sp>
      <p:sp>
        <p:nvSpPr>
          <p:cNvPr id="14" name="vis:chip"/>
          <p:cNvSpPr/>
          <p:nvPr/>
        </p:nvSpPr>
        <p:spPr>
          <a:xfrm>
            <a:off x="2164588"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320036"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6" name="vis:chip"/>
          <p:cNvSpPr/>
          <p:nvPr/>
        </p:nvSpPr>
        <p:spPr>
          <a:xfrm>
            <a:off x="960120"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1115568" y="5093207"/>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SEC-02  ·  Phishing &amp; Social Engineering</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Rekha pays the wrong bank account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18436"/>
            <a:ext cx="332461" cy="303552"/>
          </a:xfrm>
          <a:custGeom>
            <a:avLst/>
            <a:gdLst/>
            <a:ahLst/>
            <a:cxnLst/>
            <a:rect l="l" t="t" r="r" b="b"/>
            <a:pathLst>
              <a:path w="332461" h="303552">
                <a:moveTo>
                  <a:pt x="166231" y="0"/>
                </a:moveTo>
                <a:lnTo>
                  <a:pt x="332461" y="303552"/>
                </a:lnTo>
                <a:lnTo>
                  <a:pt x="0" y="303552"/>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1161288" y="2334075"/>
            <a:ext cx="0" cy="9034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143219" y="2456941"/>
            <a:ext cx="36137" cy="3613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Rekha handles accounts payable in Gurugram. An email arrives from a regular supplier saying their bank details have changed. The signature, the logo and the invoice format are all correct. She updates the record and pays.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One payment, to an account nobody at that supplier controls.</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phone call to a number you already had. That is the whole defence.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69559"/>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19431" y="2034415"/>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four pressure signals that appear in almost every attack</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6886" y="2865671"/>
            <a:ext cx="247634" cy="165089"/>
          </a:xfrm>
          <a:prstGeom prst="roundRect">
            <a:avLst>
              <a:gd name="adj" fmla="val 27694"/>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flipH="1">
            <a:off x="984055" y="3030760"/>
            <a:ext cx="11792" cy="6485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984055" y="3030760"/>
            <a:ext cx="64856" cy="6485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one verification habit that defeats a convincing email</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vis:icon"/>
          <p:cNvCxnSpPr/>
          <p:nvPr/>
        </p:nvCxnSpPr>
        <p:spPr>
          <a:xfrm>
            <a:off x="1060704" y="3832535"/>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1045963" y="3932768"/>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an attack that arrives by phone or WhatsApp</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30990" y="4634310"/>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969315" y="4672635"/>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6"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why a real-looking sender proves nothing at all</a:t>
            </a:r>
          </a:p>
        </p:txBody>
      </p:sp>
      <p:sp>
        <p:nvSpPr>
          <p:cNvPr id="37"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Report a suspected attempt without worrying about being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It is not about spelling</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Modern attacks look perfect</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pressure signals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every attack needs</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verification habit</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call, a number you had</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Phone, WhatsApp and in person</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just email</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Test one real message</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9-minute outside guide</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IT IS NOT ABOUT SPELLING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They do not look wrong any more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badly spelled email is twenty years out of date. Modern attempts are copied from real correspondence.</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513385"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22024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WE TEACH PEOPLE</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Look for the mistakes</a:t>
            </a:r>
          </a:p>
        </p:txBody>
      </p:sp>
      <p:sp>
        <p:nvSpPr>
          <p:cNvPr id="21" name="vis:icon"/>
          <p:cNvSpPr/>
          <p:nvPr/>
        </p:nvSpPr>
        <p:spPr>
          <a:xfrm>
            <a:off x="811987" y="4068165"/>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907084" y="4163263"/>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Poor spelling and odd grammar</a:t>
            </a:r>
          </a:p>
        </p:txBody>
      </p:sp>
      <p:sp>
        <p:nvSpPr>
          <p:cNvPr id="24" name="vis:icon"/>
          <p:cNvSpPr/>
          <p:nvPr/>
        </p:nvSpPr>
        <p:spPr>
          <a:xfrm>
            <a:off x="811987" y="4516221"/>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907084" y="4611319"/>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strange-looking email address</a:t>
            </a:r>
          </a:p>
        </p:txBody>
      </p:sp>
      <p:sp>
        <p:nvSpPr>
          <p:cNvPr id="27" name="vis:icon"/>
          <p:cNvSpPr/>
          <p:nvPr/>
        </p:nvSpPr>
        <p:spPr>
          <a:xfrm>
            <a:off x="811987" y="4964277"/>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07084" y="5059375"/>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Generic greetings like "Dear Customer"</a:t>
            </a:r>
          </a:p>
        </p:txBody>
      </p:sp>
      <p:sp>
        <p:nvSpPr>
          <p:cNvPr id="30" name="vis:icon"/>
          <p:cNvSpPr/>
          <p:nvPr/>
        </p:nvSpPr>
        <p:spPr>
          <a:xfrm>
            <a:off x="811987" y="5412333"/>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07084" y="5507431"/>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Obviously fake logos</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584942"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227404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ACTUALLY ARRIVES</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Copied from the real thing</a:t>
            </a:r>
          </a:p>
        </p:txBody>
      </p:sp>
      <p:cxnSp>
        <p:nvCxnSpPr>
          <p:cNvPr id="38" name="vis:icon"/>
          <p:cNvCxnSpPr/>
          <p:nvPr/>
        </p:nvCxnSpPr>
        <p:spPr>
          <a:xfrm>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Perfect English, often AI-written</a:t>
            </a:r>
          </a:p>
        </p:txBody>
      </p:sp>
      <p:cxnSp>
        <p:nvCxnSpPr>
          <p:cNvPr id="41" name="vis:icon"/>
          <p:cNvCxnSpPr/>
          <p:nvPr/>
        </p:nvCxnSpPr>
        <p:spPr>
          <a:xfrm>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real display name, sometimes a real address</a:t>
            </a:r>
          </a:p>
        </p:txBody>
      </p:sp>
      <p:cxnSp>
        <p:nvCxnSpPr>
          <p:cNvPr id="44" name="vis:icon"/>
          <p:cNvCxnSpPr/>
          <p:nvPr/>
        </p:nvCxnSpPr>
        <p:spPr>
          <a:xfrm>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Your name, your order number, your supplier</a:t>
            </a:r>
          </a:p>
        </p:txBody>
      </p:sp>
      <p:cxnSp>
        <p:nvCxnSpPr>
          <p:cNvPr id="47" name="vis:icon"/>
          <p:cNvCxnSpPr/>
          <p:nvPr/>
        </p:nvCxnSpPr>
        <p:spPr>
          <a:xfrm>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exact logo and invoice layout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IT IS NOT ABOUT SPELLING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sender name proves nothing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name is typed in</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Display names are free text. Anyone can put anything there.</a:t>
            </a:r>
          </a:p>
        </p:txBody>
      </p:sp>
      <p:cxnSp>
        <p:nvCxnSpPr>
          <p:cNvPr id="20" name="vis:flowarrow"/>
          <p:cNvCxnSpPr/>
          <p:nvPr/>
        </p:nvCxnSpPr>
        <p:spPr>
          <a:xfrm>
            <a:off x="3093643"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The address can be close</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character different, or a lookalike domain.</a:t>
            </a:r>
          </a:p>
        </p:txBody>
      </p:sp>
      <p:cxnSp>
        <p:nvCxnSpPr>
          <p:cNvPr id="26" name="vis:flowarrow"/>
          <p:cNvCxnSpPr/>
          <p:nvPr/>
        </p:nvCxnSpPr>
        <p:spPr>
          <a:xfrm>
            <a:off x="5986119"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Replies go elsewhere</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reply-to address can differ from the one shown.</a:t>
            </a:r>
          </a:p>
        </p:txBody>
      </p:sp>
      <p:cxnSp>
        <p:nvCxnSpPr>
          <p:cNvPr id="32" name="vis:flowarrow"/>
          <p:cNvCxnSpPr/>
          <p:nvPr/>
        </p:nvCxnSpPr>
        <p:spPr>
          <a:xfrm>
            <a:off x="8878595" y="3182111"/>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So looking is not checking</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Only a separate channel actually verifies.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PRESSURE SIGNALS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signals in every attack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Attacks do not need you to be careless. They need you to be busy and to feel pushed.</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01380" y="3466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23965" y="3489441"/>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URGENCY — today, before close, immediately</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6504035" y="3466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6526621" y="3489441"/>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AUTHORITY — from a director, a bank, a regulator</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01380" y="510363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823965" y="5126217"/>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SECRECY — do not discuss this with the team yet</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6504035" y="5103632"/>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6526621" y="5126217"/>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CHANGE — new bank details, new address, new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PRESSURE SIGNALS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is enough to make you check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9212" y="2186805"/>
            <a:ext cx="294423" cy="308117"/>
          </a:xfrm>
          <a:custGeom>
            <a:avLst/>
            <a:gdLst/>
            <a:ahLst/>
            <a:cxnLst/>
            <a:rect l="l" t="t" r="r" b="b"/>
            <a:pathLst>
              <a:path w="294423" h="308117">
                <a:moveTo>
                  <a:pt x="147212" y="0"/>
                </a:moveTo>
                <a:lnTo>
                  <a:pt x="294423" y="65047"/>
                </a:lnTo>
                <a:lnTo>
                  <a:pt x="270458" y="222529"/>
                </a:lnTo>
                <a:lnTo>
                  <a:pt x="147212" y="308117"/>
                </a:lnTo>
                <a:lnTo>
                  <a:pt x="23965" y="222529"/>
                </a:lnTo>
                <a:lnTo>
                  <a:pt x="0" y="6504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change, on its own, is reason enough</a:t>
            </a:r>
          </a:p>
        </p:txBody>
      </p:sp>
      <p:sp>
        <p:nvSpPr>
          <p:cNvPr id="19"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New bank details, a new process, a new address — verify that alone, even with no urgency and no pressure attached to it.</a:t>
            </a:r>
          </a:p>
        </p:txBody>
      </p:sp>
      <p:sp>
        <p:nvSpPr>
          <p:cNvPr id="20"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775847" y="2190229"/>
            <a:ext cx="301269" cy="301269"/>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flipV="1">
            <a:off x="4926482" y="2251852"/>
            <a:ext cx="0" cy="8901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926482" y="2340863"/>
            <a:ext cx="75317" cy="2738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5"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Urgency plus authority</a:t>
            </a:r>
          </a:p>
        </p:txBody>
      </p:sp>
      <p:sp>
        <p:nvSpPr>
          <p:cNvPr id="26"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director needs this paid before five." A common combination, and an easy one to notice.</a:t>
            </a:r>
          </a:p>
        </p:txBody>
      </p:sp>
      <p:sp>
        <p:nvSpPr>
          <p:cNvPr id="27"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623294" y="2320322"/>
            <a:ext cx="246492" cy="171175"/>
          </a:xfrm>
          <a:prstGeom prst="roundRect">
            <a:avLst>
              <a:gd name="adj" fmla="val 26709"/>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67799" y="2203923"/>
            <a:ext cx="157481" cy="212257"/>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Secrecy plus a change</a:t>
            </a:r>
          </a:p>
        </p:txBody>
      </p:sp>
      <p:sp>
        <p:nvSpPr>
          <p:cNvPr id="32"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"Do not mention this yet — the new account is confidential." Nothing legitimate needs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VERIFICATION HABIT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call, a number you had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311297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8020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VERIFYING INSIDE THE MESSAGE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ring the number in the email signature.</a:t>
            </a:r>
          </a:p>
          <a:p>
            <a:pPr algn="l">
              <a:lnSpc>
                <a:spcPts val="1690"/>
              </a:lnSpc>
              <a:spcBef>
                <a:spcPts val="0"/>
              </a:spcBef>
              <a:spcAft>
                <a:spcPts val="600"/>
              </a:spcAft>
            </a:pPr>
            <a:r>
              <a:rPr sz="1300" b="0">
                <a:solidFill>
                  <a:srgbClr val="2A3547"/>
                </a:solidFill>
                <a:latin typeface="Segoe UI"/>
              </a:rPr>
              <a:t>You reply to the email asking "is this really you?"</a:t>
            </a:r>
          </a:p>
          <a:p>
            <a:pPr algn="l">
              <a:lnSpc>
                <a:spcPts val="1690"/>
              </a:lnSpc>
              <a:spcBef>
                <a:spcPts val="0"/>
              </a:spcBef>
              <a:spcAft>
                <a:spcPts val="600"/>
              </a:spcAft>
            </a:pPr>
            <a:r>
              <a:rPr sz="1300" b="0">
                <a:solidFill>
                  <a:srgbClr val="2A3547"/>
                </a:solidFill>
                <a:latin typeface="Segoe UI"/>
              </a:rPr>
              <a:t>Both reach whoever sent it. Confirmation is worthless.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30720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9963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VERIFYING OUTSIDE IT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ring the number already in your contacts or on the invoice you had before.</a:t>
            </a:r>
          </a:p>
          <a:p>
            <a:pPr algn="l">
              <a:lnSpc>
                <a:spcPts val="1690"/>
              </a:lnSpc>
              <a:spcBef>
                <a:spcPts val="0"/>
              </a:spcBef>
              <a:spcAft>
                <a:spcPts val="600"/>
              </a:spcAft>
            </a:pPr>
            <a:r>
              <a:rPr sz="1300" b="0">
                <a:solidFill>
                  <a:srgbClr val="2A3547"/>
                </a:solidFill>
                <a:latin typeface="Segoe UI"/>
              </a:rPr>
              <a:t>You walk to the person's desk, or message them on Teams.</a:t>
            </a:r>
          </a:p>
          <a:p>
            <a:pPr algn="l">
              <a:lnSpc>
                <a:spcPts val="1690"/>
              </a:lnSpc>
              <a:spcBef>
                <a:spcPts val="0"/>
              </a:spcBef>
              <a:spcAft>
                <a:spcPts val="600"/>
              </a:spcAft>
            </a:pPr>
            <a:r>
              <a:rPr sz="1300" b="0">
                <a:solidFill>
                  <a:srgbClr val="2A3547"/>
                </a:solidFill>
                <a:latin typeface="Segoe UI"/>
              </a:rPr>
              <a:t>Any channel they did not choose defeats the whole attempt.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rule is not "verify". It is "verify somewhere the sender does not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VERIFICATION HABIT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wording, ready to 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Hello, I have an email asking me to change the bank details on your account. Before I touch anything I need to confirm it with you directly. Can you confirm whether that request came from your side? I am calling the number we already had on file.</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Nobody legitimate has ever been offended by this call.</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states plainly that you are using an old number.</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asks a yes-or-no question they can answer in seconds.</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costs two minutes and stops the entire attack.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PHONE, WHATSAPP AND IN PERSON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Not only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call from "IT support"</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Asking you to read out a code or install a remote-access tool. Nobody real does this.</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WhatsApp from your manager's "new number"</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Urgent, brief, and asking for a payment or a gift card. Ring the old number.</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visitor who follows you through the door</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Holding boxes and looking rushed. Politely ask them to sign in at reception.</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supplier asking for a document "resent"</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Testing whether you will send a file to a new address without checking.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PHONE, WHATSAPP AND IN PERSON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code that is never shared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Nobody legitimate will ever ask you to read out a one-time code.</a:t>
            </a:r>
          </a:p>
          <a:p>
            <a:pPr algn="l">
              <a:lnSpc>
                <a:spcPts val="1755"/>
              </a:lnSpc>
              <a:spcBef>
                <a:spcPts val="0"/>
              </a:spcBef>
              <a:spcAft>
                <a:spcPts val="0"/>
              </a:spcAft>
            </a:pPr>
            <a:r>
              <a:rPr sz="1350" b="0">
                <a:solidFill>
                  <a:srgbClr val="FFFFFF"/>
                </a:solidFill>
                <a:latin typeface="Segoe UI"/>
              </a:rPr>
              <a:t>Not IT, not the bank, not a director, not a supplier. There is no exception.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code on your phone stays on your phone.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Anyone asking for it is attacking you.</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Report it, even if you did not give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test one message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last message that asked you to do something financial.</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Count how many of the four pressure signals it contains.</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a number for the sender that did not come from the message.</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you cannot find one independently, that is your answer.</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I received a message asking me to act. Ask me six short questions, one at a time, to work out whether it shows signs of a phishing or impersonation attempt. Do not ask me to paste the message. At the end give me a verdict and one action.</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the message. Never paste it, and never paste any attachment.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you already clicked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Disconnect from the network, but do not switch the machine off.</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Change the password from a different device.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Tell [COMPANY INPUT NEEDED: who to report a security concern to] within the hour.</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exactly what you clicked and what you typed. All of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Reporting a false alarm is free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Am I sure enough to be worth someone's time?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491848" y="3026664"/>
            <a:ext cx="2049051"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647296" y="3054096"/>
            <a:ext cx="17381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CERTAIN IT IS FAKE</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Report it and delete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Reporting matters even when you spotted it. If it reached you, it reached colleagues, and some of them are busier than you were.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018971" y="3026664"/>
            <a:ext cx="131269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174419" y="3054096"/>
            <a:ext cx="10018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NOT SURE</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Report it anyway</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false alarm costs somebody two minutes. A real attempt that nobody reported costs considerably more, and usually arrives at four other people's desks as well.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smart people get caught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arrives when you are busy</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Late afternoon, month end, during a deadline.</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looks completely routine</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supplier you know, an invoice you expected.</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7A1220"/>
                </a:solidFill>
                <a:latin typeface="Segoe UI Semibold"/>
              </a:rPr>
              <a:t>It asks for one small thing</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Update a field, confirm a code, resend a file.</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Nobody is caught by an obvious scam. People are caught by an ordinary request on a busy afternoon, which is exactly what these are designed to be.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phishing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275"/>
              </a:lnSpc>
              <a:spcBef>
                <a:spcPts val="0"/>
              </a:spcBef>
              <a:spcAft>
                <a:spcPts val="400"/>
              </a:spcAft>
            </a:pPr>
            <a:r>
              <a:rPr sz="1750" b="0">
                <a:solidFill>
                  <a:srgbClr val="FFFFFF"/>
                </a:solidFill>
                <a:latin typeface="Segoe UI Semibold"/>
              </a:rPr>
              <a:t>Anything that changes where money or data goes gets verified on a channel the sender did not choose.</a:t>
            </a:r>
          </a:p>
          <a:p>
            <a:pPr algn="l">
              <a:lnSpc>
                <a:spcPts val="1625"/>
              </a:lnSpc>
              <a:spcBef>
                <a:spcPts val="0"/>
              </a:spcBef>
              <a:spcAft>
                <a:spcPts val="0"/>
              </a:spcAft>
            </a:pPr>
            <a:r>
              <a:rPr sz="1250" b="0">
                <a:solidFill>
                  <a:srgbClr val="FFFFFF"/>
                </a:solidFill>
                <a:latin typeface="Segoe UI"/>
              </a:rPr>
              <a:t>That single habit defeats nearly every version of this attack.</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Bank details change — call an old number.</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Urgent and secret — verify twice.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One-time code requested — report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4:30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An email from a regular supplier says their bank details have changed and an overdue invoice needs paying today. The layout, logo and signature all look exactly right.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Reply to the email asking them to confirm the new details.</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Ring the supplier on the number you already had on file.</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Pay it — the invoice is genuinely overdue and it looks right.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asked the attacker whether they are real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reply goes wherever the sender chose. Within ten minutes you have a polite confirmation, possibly with a scanned letter attached. You now feel more confident than before, which is precisely the point of the exchange.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verify inside the channel the request arrived on.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and the attack ends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number from your existing records reaches the real supplier, who confirms they have not changed anything. You report the email, and the same message is found sitting in three other inboxes.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a number you had before the message arrived.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money leaves and does not come back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payment reaches an account nobody at the supplier controls. Recovery depends on how fast the bank is told, and after a few hours it is usually gone. The real invoice is still outstanding.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Overdue is pressure. Pressure is one of the four signals.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Nine minutes on spotting them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Spot Phishing Emails | Cyber Security Awareness for Employees</a:t>
            </a:r>
          </a:p>
        </p:txBody>
      </p:sp>
      <p:sp>
        <p:nvSpPr>
          <p:cNvPr id="19" name="vis:chip"/>
          <p:cNvSpPr/>
          <p:nvPr/>
        </p:nvSpPr>
        <p:spPr>
          <a:xfrm>
            <a:off x="868680" y="3858768"/>
            <a:ext cx="16823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3714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UK CYBER HUB</a:t>
            </a:r>
          </a:p>
        </p:txBody>
      </p:sp>
      <p:sp>
        <p:nvSpPr>
          <p:cNvPr id="21" name="vis:chip"/>
          <p:cNvSpPr/>
          <p:nvPr/>
        </p:nvSpPr>
        <p:spPr>
          <a:xfrm>
            <a:off x="2697353" y="3858768"/>
            <a:ext cx="12048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852801" y="3895344"/>
            <a:ext cx="8939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8:51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using UK examples. The signals are identical here; the reporting route is ours.</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proves an email is genuine?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sender's name and address look right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in the message. Only a separate channel</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logo and invoice format match exactly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knew your order number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sender's name and address look right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Display names are free text and addresses can be lookalikes or genuinely compromised. Looking right is the entire design goal of the message.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Nothing in the message. Only a separate channel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 element of an email can be copied or controlled by the sender. A phone call to a number you already had is outside their control, which is why it works.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logo and invoice format match exactly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Those are copied from real correspondence, often from a genuine earlier email. A perfect match is evidence of effort, not of authenticity.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They knew your order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Order numbers appear in emails, attachments and sometimes breached systems. Knowing details makes the message convincing, not legitimate.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Nothing inside the message.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3770"/>
              </a:lnSpc>
              <a:spcBef>
                <a:spcPts val="0"/>
              </a:spcBef>
              <a:spcAft>
                <a:spcPts val="0"/>
              </a:spcAft>
            </a:pPr>
            <a:r>
              <a:rPr sz="2900" b="0">
                <a:solidFill>
                  <a:srgbClr val="101826"/>
                </a:solidFill>
                <a:latin typeface="Segoe UI Semibold"/>
              </a:rPr>
              <a:t>Which of these is reason enough to verify, on its own?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request to change bank details or payment instructions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long email with an attachment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email arriving late in the day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supplier you have not heard from recently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request to change bank details or payment instructions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change is reason enough by itself. It does not need urgency or secrecy attached to it — waiting for a second signal before verifying is exactly the gap this kind of attack is built to use.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change to where money or data goes — no second signal needed.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long email with an attachment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Perfectly normal in most jobs. Length and attachments are not signals in themselves.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change to where money or data goes — no second signal needed.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email arriving late in the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Timing alone is not a signal, although attacks do favour busy periods. It matters only alongside an actual pressure signal such as a change.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change to where money or data goes — no second signal needed.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supplier you have not heard from recently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Common and usually innocent. What matters is whether they are asking you to change where money or data goes.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change to where money or data goes — no second signal needed.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Who may ask for a one-time code?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IT team, when fixing your account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Nobody — not IT, your bank, or your manager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bank's fraud department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manager, if it is urgent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Your IT team, when fixing your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never need it. IT can reset access through their own systems, and any request for a code from you is somebody impersonating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Nobody — not IT, your bank, or your manager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code exists to prove it is you. Anyone asking you to read it out is asking you to prove you are them. There is no legitimate version of that request.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bank's fraud department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single most common impersonation there is. Real banks state clearly that they will never ask for a code, and attackers rely on you not remembering that.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Your manager, if it is urgent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Urgency plus authority is the classic pairing. A manager has no reason to need your code, and a real one will understand completely when you decline.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There is no exception.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clicked. What comes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Switch the machine off immediately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Disconnect from the network and report it within the hour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to see whether anything odd happens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email so nobody else clicks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Switch the machine off immediately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Powering off can destroy information the security team needs to see what happened. Disconnect from the network instead and leave it running.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Disconnect from the network and report it within the hour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Disconnecting stops anything in progress, keeping it powered preserves evidence, and reporting quickly is what turns an incident into a contained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Wait to see whether anything odd happens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visible will happen, and the useful window closes. By the time something is obvious, credentials have been used elsewhere.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Delete the email so nobody else clicks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have removed the evidence and left the copies in everyone else's inbox. Report it first — that is what gets it pulled from other mailboxes.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Disconnect, change password elsewhere, report within the hour.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Should you report a false alarm?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 — it wastes the security team's time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always. The cost of being wrong is tiny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you clicked something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it involves money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No — it wastes the security team's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minutes of theirs against a possible incident is not a close call. Teams would far rather see ten false alarms than miss one real attempt.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Yes, always. The cost of being wrong is tiny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it reached you it reached colleagues, some busier than you. Reporting is what gets it removed from other inboxes before somebody acts on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if you clicked something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Reporting the attempt matters even when you spotted it perfectly. The value is in warning everyone else who received the same 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if it involves money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Credential and document requests are just as serious, and are usually the first step towards the payment request that follows.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Yes. It costs two minutes.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Phishing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They do not look wrong</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Perfect English, real logos, your order number. Spelling is not the test.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pressure signals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Urgency, authority, secrecy, a change. One alone is reason enough to verify.</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Verify outside the channel</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number you already had, not one from the message.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a one-time code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Nobody legitimate asks. There is genuinely no exception.</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If you clicked, disconnect and report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Leave it powered on, change the password elsewhere, report within the hour.</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false alarms too</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reached your colleagues as well, and some of them are busier.</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145"/>
              </a:lnSpc>
              <a:spcBef>
                <a:spcPts val="0"/>
              </a:spcBef>
              <a:spcAft>
                <a:spcPts val="0"/>
              </a:spcAft>
            </a:pPr>
            <a:r>
              <a:rPr sz="1650" b="0">
                <a:solidFill>
                  <a:srgbClr val="FFFFFF"/>
                </a:solidFill>
                <a:latin typeface="Segoe UI Semibold"/>
              </a:rPr>
              <a:t>Anything that changes where money or data goes gets verified on a channel the sender did not choose.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6573" y="2403501"/>
            <a:ext cx="223669" cy="149113"/>
          </a:xfrm>
          <a:prstGeom prst="roundRect">
            <a:avLst>
              <a:gd name="adj" fmla="val 306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909176" y="2552614"/>
            <a:ext cx="10651" cy="5858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09176" y="2552614"/>
            <a:ext cx="58581" cy="5858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verification call wording</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Confirms directly, on a number you already had.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four-signal check</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Urgency, authority, secrecy, a change. Any one alone is reason enough.</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first-hour checklist</a:t>
            </a:r>
          </a:p>
        </p:txBody>
      </p:sp>
      <p:sp>
        <p:nvSpPr>
          <p:cNvPr id="37"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Disconnect, change elsewhere, report within the hour.</a:t>
            </a:r>
          </a:p>
        </p:txBody>
      </p:sp>
      <p:sp>
        <p:nvSpPr>
          <p:cNvPr id="38"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9"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43"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44"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8"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9"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1"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2"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53"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4"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6"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SEC-03, Multi-Factor Authentication. The second lock that makes a stolen password nearly useless.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SEC-02  ·  Phishing &amp; Social Engineering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Phishing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message designed to make you hand over access, money or a document.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Social engineering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Manipulating a person rather than attacking a system. The pressure signals are the tools.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Spoofing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Making a message appear to come from somebody else. Display names are free text.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Business email compromise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attacker using a real or lookalike account to redirect a payment.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One-time code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short code proving it is you. Never shared with anyone, for any reason.</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Out-of-band</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Checking through a different channel the sender does not control.</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