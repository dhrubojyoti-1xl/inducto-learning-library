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2.xml"/><Relationship Id="rId6" Type="http://schemas.openxmlformats.org/officeDocument/2006/relationships/slide" Target="slide14.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5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L3alw3iXaio"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haveibeenpwned.com" TargetMode="External"/><Relationship Id="rId3" Type="http://schemas.openxmlformats.org/officeDocument/2006/relationships/hyperlink" Target="https://www.meity.gov.in/data-protection-framework" TargetMode="External"/><Relationship Id="rId4" Type="http://schemas.openxmlformats.org/officeDocument/2006/relationships/hyperlink" Target="https://u.ae/en/about-the-uae/digital-uae/data/data-protection-laws"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pic>
        <p:nvPicPr>
          <p:cNvPr id="3" name="vis:coverphoto" descr="hero-mfa-identity.jpg"/>
          <p:cNvPicPr>
            <a:picLocks noChangeAspect="1"/>
          </p:cNvPicPr>
          <p:nvPr/>
        </p:nvPicPr>
        <p:blipFill>
          <a:blip r:embed="rId2"/>
          <a:srcRect l="22674" r="22674"/>
          <a:stretch>
            <a:fillRect/>
          </a:stretch>
        </p:blipFill>
        <p:spPr>
          <a:xfrm>
            <a:off x="5532120" y="0"/>
            <a:ext cx="6659575" cy="6858000"/>
          </a:xfrm>
          <a:prstGeom prst="rect">
            <a:avLst/>
          </a:prstGeom>
        </p:spPr>
      </p:pic>
      <p:sp>
        <p:nvSpPr>
          <p:cNvPr id="4" name="vis:coverpanel"/>
          <p:cNvSpPr/>
          <p:nvPr/>
        </p:nvSpPr>
        <p:spPr>
          <a:xfrm>
            <a:off x="0" y="0"/>
            <a:ext cx="5532120"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 name="vis:coveredge"/>
          <p:cNvSpPr/>
          <p:nvPr/>
        </p:nvSpPr>
        <p:spPr>
          <a:xfrm>
            <a:off x="5532120" y="0"/>
            <a:ext cx="6400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vis:coverspine"/>
          <p:cNvSpPr/>
          <p:nvPr/>
        </p:nvSpPr>
        <p:spPr>
          <a:xfrm>
            <a:off x="0" y="0"/>
            <a:ext cx="201168" cy="685800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7" name="seclabel"/>
          <p:cNvSpPr txBox="1"/>
          <p:nvPr/>
        </p:nvSpPr>
        <p:spPr>
          <a:xfrm>
            <a:off x="841248" y="203200"/>
            <a:ext cx="418795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SECURITY &amp; DATA PRIVACY</a:t>
            </a:r>
          </a:p>
        </p:txBody>
      </p:sp>
      <p:sp>
        <p:nvSpPr>
          <p:cNvPr id="8" name="title:cover"/>
          <p:cNvSpPr txBox="1"/>
          <p:nvPr/>
        </p:nvSpPr>
        <p:spPr>
          <a:xfrm>
            <a:off x="841248" y="660400"/>
            <a:ext cx="4187952"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Multi-Factor Authentication</a:t>
            </a:r>
          </a:p>
        </p:txBody>
      </p:sp>
      <p:cxnSp>
        <p:nvCxnSpPr>
          <p:cNvPr id="9" name="vis:rule"/>
          <p:cNvCxnSpPr/>
          <p:nvPr/>
        </p:nvCxnSpPr>
        <p:spPr>
          <a:xfrm>
            <a:off x="841248" y="2442464"/>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0" name="body:coversub"/>
          <p:cNvSpPr txBox="1"/>
          <p:nvPr/>
        </p:nvSpPr>
        <p:spPr>
          <a:xfrm>
            <a:off x="841248" y="2716784"/>
            <a:ext cx="4187952" cy="150774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The second lock that makes a stolen password almost useless — and the one way people still get past it.</a:t>
            </a:r>
          </a:p>
        </p:txBody>
      </p:sp>
      <p:sp>
        <p:nvSpPr>
          <p:cNvPr id="11" name="vis:chip"/>
          <p:cNvSpPr/>
          <p:nvPr/>
        </p:nvSpPr>
        <p:spPr>
          <a:xfrm>
            <a:off x="841248" y="4626864"/>
            <a:ext cx="1058164" cy="310896"/>
          </a:xfrm>
          <a:prstGeom prst="roundRect">
            <a:avLst>
              <a:gd name="adj" fmla="val 14705"/>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vis:chiptext"/>
          <p:cNvSpPr txBox="1"/>
          <p:nvPr/>
        </p:nvSpPr>
        <p:spPr>
          <a:xfrm>
            <a:off x="996696" y="4672584"/>
            <a:ext cx="74726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SEC-03</a:t>
            </a:r>
          </a:p>
        </p:txBody>
      </p:sp>
      <p:sp>
        <p:nvSpPr>
          <p:cNvPr id="13" name="vis:chip"/>
          <p:cNvSpPr/>
          <p:nvPr/>
        </p:nvSpPr>
        <p:spPr>
          <a:xfrm>
            <a:off x="2045716" y="4626864"/>
            <a:ext cx="145630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4" name="vis:chiptext"/>
          <p:cNvSpPr txBox="1"/>
          <p:nvPr/>
        </p:nvSpPr>
        <p:spPr>
          <a:xfrm>
            <a:off x="2201164" y="4672584"/>
            <a:ext cx="114541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15 MINUTES</a:t>
            </a:r>
          </a:p>
        </p:txBody>
      </p:sp>
      <p:sp>
        <p:nvSpPr>
          <p:cNvPr id="15" name="vis:chip"/>
          <p:cNvSpPr/>
          <p:nvPr/>
        </p:nvSpPr>
        <p:spPr>
          <a:xfrm>
            <a:off x="841248" y="5047488"/>
            <a:ext cx="2788677"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996696" y="5093208"/>
            <a:ext cx="247778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MANDATORY FOR ALL STAFF</a:t>
            </a:r>
          </a:p>
        </p:txBody>
      </p:sp>
      <p:sp>
        <p:nvSpPr>
          <p:cNvPr id="17" name="cell:coverhint"/>
          <p:cNvSpPr txBox="1"/>
          <p:nvPr/>
        </p:nvSpPr>
        <p:spPr>
          <a:xfrm>
            <a:off x="841248" y="5724144"/>
            <a:ext cx="4187952"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18"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SEC-03  ·  Multi-Factor Authentication</a:t>
            </a:r>
          </a:p>
        </p:txBody>
      </p:sp>
      <p:sp>
        <p:nvSpPr>
          <p:cNvPr id="19"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Ayesha's password worked. It failed.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1031194" y="2355757"/>
            <a:ext cx="260187" cy="180685"/>
          </a:xfrm>
          <a:prstGeom prst="roundRect">
            <a:avLst>
              <a:gd name="adj" fmla="val 25303"/>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icon"/>
          <p:cNvSpPr/>
          <p:nvPr/>
        </p:nvSpPr>
        <p:spPr>
          <a:xfrm>
            <a:off x="1078172" y="2232891"/>
            <a:ext cx="166230" cy="224049"/>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Ayesha handles HR records in Dubai. Her password leaked in a breach at a site she had forgotten about. Someone used it at 2am. They got the password right and still could not get in, because a code went to her phone.</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Nothing at all — which is the entire point of the story.</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One extra step at login, and a stolen password stops being enough.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4575" y="2057999"/>
            <a:ext cx="212257" cy="147401"/>
          </a:xfrm>
          <a:prstGeom prst="roundRect">
            <a:avLst>
              <a:gd name="adj" fmla="val 31017"/>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2899" y="1957766"/>
            <a:ext cx="135609" cy="182777"/>
          </a:xfrm>
          <a:prstGeom prst="arc">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Explain what a second factor is, without jargon</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25094" y="2865671"/>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is:icon"/>
          <p:cNvSpPr/>
          <p:nvPr/>
        </p:nvSpPr>
        <p:spPr>
          <a:xfrm>
            <a:off x="1019431" y="2930527"/>
            <a:ext cx="82544" cy="8254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Choose the strongest option your systems offer</a:t>
            </a:r>
          </a:p>
        </p:txBody>
      </p:sp>
      <p:sp>
        <p:nvSpPr>
          <p:cNvPr id="25"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925094" y="3738198"/>
            <a:ext cx="271219" cy="247635"/>
          </a:xfrm>
          <a:custGeom>
            <a:avLst/>
            <a:gdLst/>
            <a:ahLst/>
            <a:cxnLst/>
            <a:rect l="l" t="t" r="r" b="b"/>
            <a:pathLst>
              <a:path w="271219" h="247635">
                <a:moveTo>
                  <a:pt x="135610" y="0"/>
                </a:moveTo>
                <a:lnTo>
                  <a:pt x="271219" y="247635"/>
                </a:lnTo>
                <a:lnTo>
                  <a:pt x="0" y="247635"/>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8" name="vis:icon"/>
          <p:cNvCxnSpPr/>
          <p:nvPr/>
        </p:nvCxnSpPr>
        <p:spPr>
          <a:xfrm>
            <a:off x="1060704" y="3832535"/>
            <a:ext cx="0" cy="7370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vis:icon"/>
          <p:cNvSpPr/>
          <p:nvPr/>
        </p:nvSpPr>
        <p:spPr>
          <a:xfrm>
            <a:off x="1045963" y="3932768"/>
            <a:ext cx="29480" cy="2948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Recognise an MFA fatigue attack and stop it correctly</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25094" y="4651999"/>
            <a:ext cx="129713" cy="129713"/>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a:off x="1031223" y="4764024"/>
            <a:ext cx="153298" cy="11792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H="1">
            <a:off x="1096080" y="4822984"/>
            <a:ext cx="29480" cy="35376"/>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H="1">
            <a:off x="1131456" y="4858360"/>
            <a:ext cx="29480" cy="3537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Know what to do when you lose the phone with your codes</a:t>
            </a:r>
          </a:p>
        </p:txBody>
      </p:sp>
      <p:sp>
        <p:nvSpPr>
          <p:cNvPr id="38"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933938" y="5527474"/>
            <a:ext cx="253531" cy="265323"/>
          </a:xfrm>
          <a:custGeom>
            <a:avLst/>
            <a:gdLst/>
            <a:ahLst/>
            <a:cxnLst/>
            <a:rect l="l" t="t" r="r" b="b"/>
            <a:pathLst>
              <a:path w="253531" h="265323">
                <a:moveTo>
                  <a:pt x="126766" y="0"/>
                </a:moveTo>
                <a:lnTo>
                  <a:pt x="253531" y="56013"/>
                </a:lnTo>
                <a:lnTo>
                  <a:pt x="232894" y="191622"/>
                </a:lnTo>
                <a:lnTo>
                  <a:pt x="126766" y="265323"/>
                </a:lnTo>
                <a:lnTo>
                  <a:pt x="20637" y="191622"/>
                </a:lnTo>
                <a:lnTo>
                  <a:pt x="0" y="56013"/>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Never approve a prompt you did not personally trigger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What a second factor is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Something you have</a:t>
            </a:r>
          </a:p>
        </p:txBody>
      </p:sp>
      <p:cxnSp>
        <p:nvCxnSpPr>
          <p:cNvPr id="13" name="vis:menuarrow"/>
          <p:cNvCxnSpPr/>
          <p:nvPr/>
        </p:nvCxnSpPr>
        <p:spPr>
          <a:xfrm>
            <a:off x="11213287" y="1997049"/>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Which type is strongest</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Not all are equal</a:t>
            </a:r>
          </a:p>
        </p:txBody>
      </p:sp>
      <p:cxnSp>
        <p:nvCxnSpPr>
          <p:cNvPr id="19" name="vis:menuarrow"/>
          <p:cNvCxnSpPr/>
          <p:nvPr/>
        </p:nvCxnSpPr>
        <p:spPr>
          <a:xfrm>
            <a:off x="11213287" y="242498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fatigue attack</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one way past it</a:t>
            </a:r>
          </a:p>
        </p:txBody>
      </p:sp>
      <p:cxnSp>
        <p:nvCxnSpPr>
          <p:cNvPr id="25" name="vis:menuarrow"/>
          <p:cNvCxnSpPr/>
          <p:nvPr/>
        </p:nvCxnSpPr>
        <p:spPr>
          <a:xfrm>
            <a:off x="11213287" y="2852928"/>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Losing your phone</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Before it happens</a:t>
            </a:r>
          </a:p>
        </p:txBody>
      </p:sp>
      <p:cxnSp>
        <p:nvCxnSpPr>
          <p:cNvPr id="31" name="vis:menuarrow"/>
          <p:cNvCxnSpPr/>
          <p:nvPr/>
        </p:nvCxnSpPr>
        <p:spPr>
          <a:xfrm>
            <a:off x="11213287" y="328086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Check your own setup</a:t>
            </a:r>
          </a:p>
        </p:txBody>
      </p:sp>
      <p:cxnSp>
        <p:nvCxnSpPr>
          <p:cNvPr id="37" name="vis:menuarrow"/>
          <p:cNvCxnSpPr/>
          <p:nvPr/>
        </p:nvCxnSpPr>
        <p:spPr>
          <a:xfrm>
            <a:off x="11213287" y="3708806"/>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2am decision</a:t>
            </a:r>
          </a:p>
        </p:txBody>
      </p:sp>
      <p:cxnSp>
        <p:nvCxnSpPr>
          <p:cNvPr id="43" name="vis:menuarrow"/>
          <p:cNvCxnSpPr/>
          <p:nvPr/>
        </p:nvCxnSpPr>
        <p:spPr>
          <a:xfrm>
            <a:off x="11213287" y="4136745"/>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3-minute outside explainer</a:t>
            </a:r>
          </a:p>
        </p:txBody>
      </p:sp>
      <p:cxnSp>
        <p:nvCxnSpPr>
          <p:cNvPr id="49" name="vis:menuarrow"/>
          <p:cNvCxnSpPr/>
          <p:nvPr/>
        </p:nvCxnSpPr>
        <p:spPr>
          <a:xfrm>
            <a:off x="11213287" y="456468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7A122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A SECOND FACTOR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Something you know, something you have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137160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Security people group proof of identity into three kinds: something you know (a password), something you have (your phone or a security key), and something you are (a fingerprint or your face). MFA means adding a second kind — in the systems you use day to day, usually something you have.</a:t>
            </a:r>
          </a:p>
        </p:txBody>
      </p:sp>
      <p:sp>
        <p:nvSpPr>
          <p:cNvPr id="16" name="vis:flowcard"/>
          <p:cNvSpPr/>
          <p:nvPr/>
        </p:nvSpPr>
        <p:spPr>
          <a:xfrm>
            <a:off x="502920" y="3675887"/>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
          <p:cNvSpPr/>
          <p:nvPr/>
        </p:nvSpPr>
        <p:spPr>
          <a:xfrm>
            <a:off x="685800" y="3493007"/>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flownumtext"/>
          <p:cNvSpPr txBox="1"/>
          <p:nvPr/>
        </p:nvSpPr>
        <p:spPr>
          <a:xfrm>
            <a:off x="685800" y="3570731"/>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9" name="vis:flowtitle"/>
          <p:cNvSpPr txBox="1"/>
          <p:nvPr/>
        </p:nvSpPr>
        <p:spPr>
          <a:xfrm>
            <a:off x="704088" y="4041648"/>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You enter the password</a:t>
            </a:r>
          </a:p>
        </p:txBody>
      </p:sp>
      <p:sp>
        <p:nvSpPr>
          <p:cNvPr id="20" name="vis:flowsub"/>
          <p:cNvSpPr txBox="1"/>
          <p:nvPr/>
        </p:nvSpPr>
        <p:spPr>
          <a:xfrm>
            <a:off x="704088" y="4590288"/>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Something you know. It may already have leaked.</a:t>
            </a:r>
          </a:p>
        </p:txBody>
      </p:sp>
      <p:cxnSp>
        <p:nvCxnSpPr>
          <p:cNvPr id="21" name="vis:flowarrow"/>
          <p:cNvCxnSpPr/>
          <p:nvPr/>
        </p:nvCxnSpPr>
        <p:spPr>
          <a:xfrm>
            <a:off x="3093643" y="463600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vis:flowcard"/>
          <p:cNvSpPr/>
          <p:nvPr/>
        </p:nvSpPr>
        <p:spPr>
          <a:xfrm>
            <a:off x="3395395" y="3675887"/>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
          <p:cNvSpPr/>
          <p:nvPr/>
        </p:nvSpPr>
        <p:spPr>
          <a:xfrm>
            <a:off x="3578275" y="3493007"/>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flownumtext"/>
          <p:cNvSpPr txBox="1"/>
          <p:nvPr/>
        </p:nvSpPr>
        <p:spPr>
          <a:xfrm>
            <a:off x="3578275" y="3570731"/>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5" name="vis:flowtitle"/>
          <p:cNvSpPr txBox="1"/>
          <p:nvPr/>
        </p:nvSpPr>
        <p:spPr>
          <a:xfrm>
            <a:off x="3596563" y="4041648"/>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A second proof is asked for</a:t>
            </a:r>
          </a:p>
        </p:txBody>
      </p:sp>
      <p:sp>
        <p:nvSpPr>
          <p:cNvPr id="26" name="vis:flowsub"/>
          <p:cNvSpPr txBox="1"/>
          <p:nvPr/>
        </p:nvSpPr>
        <p:spPr>
          <a:xfrm>
            <a:off x="3596563" y="4590288"/>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Something you have, usually your phone.</a:t>
            </a:r>
          </a:p>
        </p:txBody>
      </p:sp>
      <p:cxnSp>
        <p:nvCxnSpPr>
          <p:cNvPr id="27" name="vis:flowarrow"/>
          <p:cNvCxnSpPr/>
          <p:nvPr/>
        </p:nvCxnSpPr>
        <p:spPr>
          <a:xfrm>
            <a:off x="5986119" y="463600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8" name="vis:flowcard"/>
          <p:cNvSpPr/>
          <p:nvPr/>
        </p:nvSpPr>
        <p:spPr>
          <a:xfrm>
            <a:off x="6287871" y="3675887"/>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
          <p:cNvSpPr/>
          <p:nvPr/>
        </p:nvSpPr>
        <p:spPr>
          <a:xfrm>
            <a:off x="6470751" y="3493007"/>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flownumtext"/>
          <p:cNvSpPr txBox="1"/>
          <p:nvPr/>
        </p:nvSpPr>
        <p:spPr>
          <a:xfrm>
            <a:off x="6470751" y="3570731"/>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1" name="vis:flowtitle"/>
          <p:cNvSpPr txBox="1"/>
          <p:nvPr/>
        </p:nvSpPr>
        <p:spPr>
          <a:xfrm>
            <a:off x="6489039" y="4041648"/>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Only you can supply it</a:t>
            </a:r>
          </a:p>
        </p:txBody>
      </p:sp>
      <p:sp>
        <p:nvSpPr>
          <p:cNvPr id="32" name="vis:flowsub"/>
          <p:cNvSpPr txBox="1"/>
          <p:nvPr/>
        </p:nvSpPr>
        <p:spPr>
          <a:xfrm>
            <a:off x="6489039" y="4590288"/>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Because the phone is in your pocket, not in a leaked list.</a:t>
            </a:r>
          </a:p>
        </p:txBody>
      </p:sp>
      <p:cxnSp>
        <p:nvCxnSpPr>
          <p:cNvPr id="33" name="vis:flowarrow"/>
          <p:cNvCxnSpPr/>
          <p:nvPr/>
        </p:nvCxnSpPr>
        <p:spPr>
          <a:xfrm>
            <a:off x="8878595" y="4636007"/>
            <a:ext cx="219456"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4" name="vis:flowcard"/>
          <p:cNvSpPr/>
          <p:nvPr/>
        </p:nvSpPr>
        <p:spPr>
          <a:xfrm>
            <a:off x="9180347" y="3675887"/>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
          <p:cNvSpPr/>
          <p:nvPr/>
        </p:nvSpPr>
        <p:spPr>
          <a:xfrm>
            <a:off x="9363227" y="3493007"/>
            <a:ext cx="384048" cy="384048"/>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flownumtext"/>
          <p:cNvSpPr txBox="1"/>
          <p:nvPr/>
        </p:nvSpPr>
        <p:spPr>
          <a:xfrm>
            <a:off x="9363227" y="3570731"/>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7" name="vis:flowtitle"/>
          <p:cNvSpPr txBox="1"/>
          <p:nvPr/>
        </p:nvSpPr>
        <p:spPr>
          <a:xfrm>
            <a:off x="9381515" y="4041648"/>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A stolen password fails</a:t>
            </a:r>
          </a:p>
        </p:txBody>
      </p:sp>
      <p:sp>
        <p:nvSpPr>
          <p:cNvPr id="38" name="vis:flowsub"/>
          <p:cNvSpPr txBox="1"/>
          <p:nvPr/>
        </p:nvSpPr>
        <p:spPr>
          <a:xfrm>
            <a:off x="9381515" y="4590288"/>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Which is the whole point of the second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WHAT A SECOND FACTOR 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it matters so much</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1903051"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15921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PASSWORD ONLY</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One thing between them and us</a:t>
            </a:r>
          </a:p>
        </p:txBody>
      </p:sp>
      <p:cxnSp>
        <p:nvCxnSpPr>
          <p:cNvPr id="20" name="vis:icon"/>
          <p:cNvCxnSpPr/>
          <p:nvPr/>
        </p:nvCxnSpPr>
        <p:spPr>
          <a:xfrm>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H="1">
            <a:off x="819302" y="3091586"/>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leaked password works immediately</a:t>
            </a:r>
          </a:p>
        </p:txBody>
      </p:sp>
      <p:cxnSp>
        <p:nvCxnSpPr>
          <p:cNvPr id="23" name="vis:icon"/>
          <p:cNvCxnSpPr/>
          <p:nvPr/>
        </p:nvCxnSpPr>
        <p:spPr>
          <a:xfrm>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H="1">
            <a:off x="819302" y="3786530"/>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have no idea it has been used</a:t>
            </a:r>
          </a:p>
        </p:txBody>
      </p:sp>
      <p:cxnSp>
        <p:nvCxnSpPr>
          <p:cNvPr id="26" name="vis:icon"/>
          <p:cNvCxnSpPr/>
          <p:nvPr/>
        </p:nvCxnSpPr>
        <p:spPr>
          <a:xfrm>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819302" y="4481474"/>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works from anywhere in the world</a:t>
            </a:r>
          </a:p>
        </p:txBody>
      </p:sp>
      <p:cxnSp>
        <p:nvCxnSpPr>
          <p:cNvPr id="29" name="vis:icon"/>
          <p:cNvCxnSpPr/>
          <p:nvPr/>
        </p:nvCxnSpPr>
        <p:spPr>
          <a:xfrm>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H="1">
            <a:off x="819302" y="5176418"/>
            <a:ext cx="117043"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It keeps working until you change it</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2713747"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2402851"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PASSWORD PLUS A FACTOR</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Two things, one of them physical</a:t>
            </a:r>
          </a:p>
        </p:txBody>
      </p:sp>
      <p:cxnSp>
        <p:nvCxnSpPr>
          <p:cNvPr id="37" name="vis:icon"/>
          <p:cNvCxnSpPr/>
          <p:nvPr/>
        </p:nvCxnSpPr>
        <p:spPr>
          <a:xfrm>
            <a:off x="6560362"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V="1">
            <a:off x="6607911" y="3098901"/>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 leaked password alone achieves nothing</a:t>
            </a:r>
          </a:p>
        </p:txBody>
      </p:sp>
      <p:cxnSp>
        <p:nvCxnSpPr>
          <p:cNvPr id="40" name="vis:icon"/>
          <p:cNvCxnSpPr/>
          <p:nvPr/>
        </p:nvCxnSpPr>
        <p:spPr>
          <a:xfrm>
            <a:off x="6560362"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V="1">
            <a:off x="6607911" y="3793845"/>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are told the moment somebody tries</a:t>
            </a:r>
          </a:p>
        </p:txBody>
      </p:sp>
      <p:cxnSp>
        <p:nvCxnSpPr>
          <p:cNvPr id="43" name="vis:icon"/>
          <p:cNvCxnSpPr/>
          <p:nvPr/>
        </p:nvCxnSpPr>
        <p:spPr>
          <a:xfrm>
            <a:off x="6560362"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V="1">
            <a:off x="6607911" y="4488789"/>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They would need the phone in your pocket</a:t>
            </a:r>
          </a:p>
        </p:txBody>
      </p:sp>
      <p:cxnSp>
        <p:nvCxnSpPr>
          <p:cNvPr id="46" name="vis:icon"/>
          <p:cNvCxnSpPr/>
          <p:nvPr/>
        </p:nvCxnSpPr>
        <p:spPr>
          <a:xfrm>
            <a:off x="6560362"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V="1">
            <a:off x="6607911" y="5183733"/>
            <a:ext cx="87783"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You find out and change it the same 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WHICH TYPE IS STRONGEST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Not all factors are equal</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65633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281525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STRONGEST — a security key or passkey, tied to the real site</a:t>
            </a:r>
          </a:p>
        </p:txBody>
      </p:sp>
      <p:sp>
        <p:nvSpPr>
          <p:cNvPr id="20" name="vis:checktile"/>
          <p:cNvSpPr/>
          <p:nvPr/>
        </p:nvSpPr>
        <p:spPr>
          <a:xfrm>
            <a:off x="6205575" y="210312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65633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281525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276313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24942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STRONG — an authenticator app showing a rotating code</a:t>
            </a:r>
          </a:p>
        </p:txBody>
      </p:sp>
      <p:sp>
        <p:nvSpPr>
          <p:cNvPr id="25" name="vis:checktile"/>
          <p:cNvSpPr/>
          <p:nvPr/>
        </p:nvSpPr>
        <p:spPr>
          <a:xfrm>
            <a:off x="502920"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293108"/>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45203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WEAKER — a push notification you tap to approve</a:t>
            </a:r>
          </a:p>
        </p:txBody>
      </p:sp>
      <p:sp>
        <p:nvSpPr>
          <p:cNvPr id="30" name="vis:checktile"/>
          <p:cNvSpPr/>
          <p:nvPr/>
        </p:nvSpPr>
        <p:spPr>
          <a:xfrm>
            <a:off x="6205575" y="373989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293108"/>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45203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39990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388620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WEAKEST — a code sent by SMS, which can be intercepted</a:t>
            </a:r>
          </a:p>
        </p:txBody>
      </p:sp>
      <p:sp>
        <p:nvSpPr>
          <p:cNvPr id="35" name="cell:glosshint"/>
          <p:cNvSpPr txBox="1"/>
          <p:nvPr/>
        </p:nvSpPr>
        <p:spPr>
          <a:xfrm>
            <a:off x="502920" y="5687568"/>
            <a:ext cx="1609344" cy="23774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What does this mean?</a:t>
            </a:r>
          </a:p>
        </p:txBody>
      </p:sp>
      <p:sp>
        <p:nvSpPr>
          <p:cNvPr id="36" name="vis:chip"/>
          <p:cNvSpPr/>
          <p:nvPr/>
        </p:nvSpPr>
        <p:spPr>
          <a:xfrm>
            <a:off x="2221991" y="5660136"/>
            <a:ext cx="2414861" cy="274320"/>
          </a:xfrm>
          <a:prstGeom prst="roundRect">
            <a:avLst>
              <a:gd name="adj" fmla="val 16666"/>
            </a:avLst>
          </a:prstGeom>
          <a:noFill/>
          <a:ln w="12700">
            <a:solidFill>
              <a:srgbClr val="5B6779"/>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chiptext"/>
          <p:cNvSpPr txBox="1"/>
          <p:nvPr/>
        </p:nvSpPr>
        <p:spPr>
          <a:xfrm>
            <a:off x="2377439" y="5687568"/>
            <a:ext cx="210396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5B6779"/>
                </a:solidFill>
                <a:latin typeface="Segoe UI Semibold"/>
              </a:rPr>
              <a:t>AUTHENTICATOR APP  ?</a:t>
            </a:r>
          </a:p>
        </p:txBody>
      </p:sp>
      <p:sp>
        <p:nvSpPr>
          <p:cNvPr id="38" name="nav:gloss">
            <a:hlinkClick action="ppaction://hlinksldjump" r:id="rId3"/>
          </p:cNvPr>
          <p:cNvSpPr/>
          <p:nvPr/>
        </p:nvSpPr>
        <p:spPr>
          <a:xfrm>
            <a:off x="2221991" y="5660136"/>
            <a:ext cx="2414861" cy="274320"/>
          </a:xfrm>
          <a:prstGeom prst="roundRect">
            <a:avLst>
              <a:gd name="adj" fmla="val 20000"/>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WHICH TYPE IS STRONGEST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Any factor beats none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48942" y="2210770"/>
            <a:ext cx="150634" cy="150634"/>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72188" y="2340863"/>
            <a:ext cx="178023" cy="13694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H="1">
            <a:off x="1147506" y="2409334"/>
            <a:ext cx="34235" cy="41082"/>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0" name="vis:icon"/>
          <p:cNvCxnSpPr/>
          <p:nvPr/>
        </p:nvCxnSpPr>
        <p:spPr>
          <a:xfrm flipH="1">
            <a:off x="1188588" y="2450416"/>
            <a:ext cx="34235" cy="41082"/>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1"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Use the best offered</a:t>
            </a:r>
          </a:p>
        </p:txBody>
      </p:sp>
      <p:sp>
        <p:nvSpPr>
          <p:cNvPr id="22"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If the system supports an app or a key, choose that over SMS. It takes two minutes to set up.</a:t>
            </a:r>
          </a:p>
        </p:txBody>
      </p:sp>
      <p:sp>
        <p:nvSpPr>
          <p:cNvPr id="23"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4775847" y="2190229"/>
            <a:ext cx="301269" cy="301269"/>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flipV="1">
            <a:off x="4926482" y="2251852"/>
            <a:ext cx="0" cy="8901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a:off x="4926482" y="2340863"/>
            <a:ext cx="75317" cy="2738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8"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SMS still helps</a:t>
            </a:r>
          </a:p>
        </p:txBody>
      </p:sp>
      <p:sp>
        <p:nvSpPr>
          <p:cNvPr id="29"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Weakest is not useless. A texted code still defeats an attacker holding only your password.</a:t>
            </a:r>
          </a:p>
        </p:txBody>
      </p:sp>
      <p:sp>
        <p:nvSpPr>
          <p:cNvPr id="30"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599329" y="2186805"/>
            <a:ext cx="294422" cy="308117"/>
          </a:xfrm>
          <a:custGeom>
            <a:avLst/>
            <a:gdLst/>
            <a:ahLst/>
            <a:cxnLst/>
            <a:rect l="l" t="t" r="r" b="b"/>
            <a:pathLst>
              <a:path w="294422" h="308117">
                <a:moveTo>
                  <a:pt x="147211" y="0"/>
                </a:moveTo>
                <a:lnTo>
                  <a:pt x="294422" y="65047"/>
                </a:lnTo>
                <a:lnTo>
                  <a:pt x="270458" y="222529"/>
                </a:lnTo>
                <a:lnTo>
                  <a:pt x="147211" y="308117"/>
                </a:lnTo>
                <a:lnTo>
                  <a:pt x="23965" y="222529"/>
                </a:lnTo>
                <a:lnTo>
                  <a:pt x="0" y="65047"/>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Never turn it off</a:t>
            </a:r>
          </a:p>
        </p:txBody>
      </p:sp>
      <p:sp>
        <p:nvSpPr>
          <p:cNvPr id="34"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 inconvenience is a few seconds. The protection is against the most common attack there is.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FATIGUE ATTACK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one way past it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If they have your password, they can trigger approval prompts on your phone. Over and over.</a:t>
            </a:r>
          </a:p>
        </p:txBody>
      </p:sp>
      <p:sp>
        <p:nvSpPr>
          <p:cNvPr id="16" name="vis:mistake"/>
          <p:cNvSpPr/>
          <p:nvPr/>
        </p:nvSpPr>
        <p:spPr>
          <a:xfrm>
            <a:off x="502920" y="2706624"/>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bar"/>
          <p:cNvSpPr/>
          <p:nvPr/>
        </p:nvSpPr>
        <p:spPr>
          <a:xfrm>
            <a:off x="502920" y="2706624"/>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
          <p:cNvSpPr/>
          <p:nvPr/>
        </p:nvSpPr>
        <p:spPr>
          <a:xfrm>
            <a:off x="740664" y="2903220"/>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mistakenumtext"/>
          <p:cNvSpPr txBox="1"/>
          <p:nvPr/>
        </p:nvSpPr>
        <p:spPr>
          <a:xfrm>
            <a:off x="740664" y="297180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20" name="cell:mistake"/>
          <p:cNvSpPr txBox="1"/>
          <p:nvPr/>
        </p:nvSpPr>
        <p:spPr>
          <a:xfrm>
            <a:off x="1179576" y="2798064"/>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Prompts arrive at 2am, repeatedly</a:t>
            </a:r>
          </a:p>
        </p:txBody>
      </p:sp>
      <p:cxnSp>
        <p:nvCxnSpPr>
          <p:cNvPr id="21" name="vis:line"/>
          <p:cNvCxnSpPr/>
          <p:nvPr/>
        </p:nvCxnSpPr>
        <p:spPr>
          <a:xfrm>
            <a:off x="6008686" y="2852928"/>
            <a:ext cx="0" cy="41148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mistakewhy"/>
          <p:cNvSpPr txBox="1"/>
          <p:nvPr/>
        </p:nvSpPr>
        <p:spPr>
          <a:xfrm>
            <a:off x="6173278" y="2798064"/>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attacker is logging in with your password every few seconds, hoping you tap once.</a:t>
            </a:r>
          </a:p>
        </p:txBody>
      </p:sp>
      <p:sp>
        <p:nvSpPr>
          <p:cNvPr id="23" name="vis:mistake"/>
          <p:cNvSpPr/>
          <p:nvPr/>
        </p:nvSpPr>
        <p:spPr>
          <a:xfrm>
            <a:off x="502920" y="3575304"/>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bar"/>
          <p:cNvSpPr/>
          <p:nvPr/>
        </p:nvSpPr>
        <p:spPr>
          <a:xfrm>
            <a:off x="502920" y="3575304"/>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
          <p:cNvSpPr/>
          <p:nvPr/>
        </p:nvSpPr>
        <p:spPr>
          <a:xfrm>
            <a:off x="740664" y="3771900"/>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mistakenumtext"/>
          <p:cNvSpPr txBox="1"/>
          <p:nvPr/>
        </p:nvSpPr>
        <p:spPr>
          <a:xfrm>
            <a:off x="740664" y="384048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7" name="cell:mistake"/>
          <p:cNvSpPr txBox="1"/>
          <p:nvPr/>
        </p:nvSpPr>
        <p:spPr>
          <a:xfrm>
            <a:off x="1179576" y="3666744"/>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You tap approve to stop the buzzing</a:t>
            </a:r>
          </a:p>
        </p:txBody>
      </p:sp>
      <p:cxnSp>
        <p:nvCxnSpPr>
          <p:cNvPr id="28" name="vis:line"/>
          <p:cNvCxnSpPr/>
          <p:nvPr/>
        </p:nvCxnSpPr>
        <p:spPr>
          <a:xfrm>
            <a:off x="6008686" y="3721608"/>
            <a:ext cx="0" cy="411479"/>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9" name="cell:mistakewhy"/>
          <p:cNvSpPr txBox="1"/>
          <p:nvPr/>
        </p:nvSpPr>
        <p:spPr>
          <a:xfrm>
            <a:off x="6173278" y="3666744"/>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That single tap is the entire breach. It is the only step they could not do themselves.</a:t>
            </a:r>
          </a:p>
        </p:txBody>
      </p:sp>
      <p:sp>
        <p:nvSpPr>
          <p:cNvPr id="30" name="vis:mistake"/>
          <p:cNvSpPr/>
          <p:nvPr/>
        </p:nvSpPr>
        <p:spPr>
          <a:xfrm>
            <a:off x="502920" y="4443983"/>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bar"/>
          <p:cNvSpPr/>
          <p:nvPr/>
        </p:nvSpPr>
        <p:spPr>
          <a:xfrm>
            <a:off x="502920" y="4443983"/>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
          <p:cNvSpPr/>
          <p:nvPr/>
        </p:nvSpPr>
        <p:spPr>
          <a:xfrm>
            <a:off x="740664" y="46405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istakenumtext"/>
          <p:cNvSpPr txBox="1"/>
          <p:nvPr/>
        </p:nvSpPr>
        <p:spPr>
          <a:xfrm>
            <a:off x="740664" y="470915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4" name="cell:mistake"/>
          <p:cNvSpPr txBox="1"/>
          <p:nvPr/>
        </p:nvSpPr>
        <p:spPr>
          <a:xfrm>
            <a:off x="1179576" y="4535423"/>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 call follows saying it is IT</a:t>
            </a:r>
          </a:p>
        </p:txBody>
      </p:sp>
      <p:cxnSp>
        <p:nvCxnSpPr>
          <p:cNvPr id="35" name="vis:line"/>
          <p:cNvCxnSpPr/>
          <p:nvPr/>
        </p:nvCxnSpPr>
        <p:spPr>
          <a:xfrm>
            <a:off x="6008686" y="4590288"/>
            <a:ext cx="0" cy="411479"/>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6" name="cell:mistakewhy"/>
          <p:cNvSpPr txBox="1"/>
          <p:nvPr/>
        </p:nvSpPr>
        <p:spPr>
          <a:xfrm>
            <a:off x="6173278" y="4535423"/>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"We are testing, please approve the next one." IT will never ask this.</a:t>
            </a:r>
          </a:p>
        </p:txBody>
      </p:sp>
      <p:sp>
        <p:nvSpPr>
          <p:cNvPr id="37" name="vis:mistake"/>
          <p:cNvSpPr/>
          <p:nvPr/>
        </p:nvSpPr>
        <p:spPr>
          <a:xfrm>
            <a:off x="502920" y="5312664"/>
            <a:ext cx="11185855" cy="704088"/>
          </a:xfrm>
          <a:prstGeom prst="roundRect">
            <a:avLst>
              <a:gd name="adj" fmla="val 1038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bar"/>
          <p:cNvSpPr/>
          <p:nvPr/>
        </p:nvSpPr>
        <p:spPr>
          <a:xfrm>
            <a:off x="502920" y="5312664"/>
            <a:ext cx="68580" cy="704088"/>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
          <p:cNvSpPr/>
          <p:nvPr/>
        </p:nvSpPr>
        <p:spPr>
          <a:xfrm>
            <a:off x="740664" y="550925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istakenumtext"/>
          <p:cNvSpPr txBox="1"/>
          <p:nvPr/>
        </p:nvSpPr>
        <p:spPr>
          <a:xfrm>
            <a:off x="740664" y="557784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1" name="cell:mistake"/>
          <p:cNvSpPr txBox="1"/>
          <p:nvPr/>
        </p:nvSpPr>
        <p:spPr>
          <a:xfrm>
            <a:off x="1179576" y="5404103"/>
            <a:ext cx="4682806" cy="521208"/>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You approve while half asleep</a:t>
            </a:r>
          </a:p>
        </p:txBody>
      </p:sp>
      <p:cxnSp>
        <p:nvCxnSpPr>
          <p:cNvPr id="42" name="vis:line"/>
          <p:cNvCxnSpPr/>
          <p:nvPr/>
        </p:nvCxnSpPr>
        <p:spPr>
          <a:xfrm>
            <a:off x="6008686" y="5458968"/>
            <a:ext cx="0" cy="41148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3" name="cell:mistakewhy"/>
          <p:cNvSpPr txBox="1"/>
          <p:nvPr/>
        </p:nvSpPr>
        <p:spPr>
          <a:xfrm>
            <a:off x="6173278" y="5404103"/>
            <a:ext cx="5296040" cy="521208"/>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Which is exactly why the prompts arrive at 2am rather than at 2pm.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FATIGUE ATTACK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to do instead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Never approve a prompt you did not personally trigger, no matter how many arrive.</a:t>
            </a:r>
          </a:p>
          <a:p>
            <a:pPr algn="l">
              <a:lnSpc>
                <a:spcPts val="1755"/>
              </a:lnSpc>
              <a:spcBef>
                <a:spcPts val="0"/>
              </a:spcBef>
              <a:spcAft>
                <a:spcPts val="0"/>
              </a:spcAft>
            </a:pPr>
            <a:r>
              <a:rPr sz="1350" b="0">
                <a:solidFill>
                  <a:srgbClr val="FFFFFF"/>
                </a:solidFill>
                <a:latin typeface="Segoe UI"/>
              </a:rPr>
              <a:t>An unexpected prompt means somebody already has your password.</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Deny it, every time.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Change your password immediately.</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Report it, even at 2am.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FATIGUE ATTACK</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report wording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promptcard"/>
          <p:cNvSpPr/>
          <p:nvPr/>
        </p:nvSpPr>
        <p:spPr>
          <a:xfrm>
            <a:off x="502920" y="1719072"/>
            <a:ext cx="6935230"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wording</a:t>
            </a:r>
          </a:p>
        </p:txBody>
      </p:sp>
      <p:sp>
        <p:nvSpPr>
          <p:cNvPr id="27" name="card:prompt"/>
          <p:cNvSpPr txBox="1"/>
          <p:nvPr/>
        </p:nvSpPr>
        <p:spPr>
          <a:xfrm>
            <a:off x="777240" y="2267712"/>
            <a:ext cx="6386590"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I am receiving repeated multi-factor approval prompts that I did not trigger. I have denied all of them and changed my password from a different device. The prompts started at approximately [TIME] on [DATE]. Please check for sign-in attempts on my account.</a:t>
            </a:r>
          </a:p>
        </p:txBody>
      </p:sp>
      <p:sp>
        <p:nvSpPr>
          <p:cNvPr id="28" name="vis:promptcap"/>
          <p:cNvSpPr txBox="1"/>
          <p:nvPr/>
        </p:nvSpPr>
        <p:spPr>
          <a:xfrm>
            <a:off x="777240" y="3624579"/>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Send this to your security contact, whatever the hour.</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states clearly you denied them, which matters.</a:t>
            </a:r>
          </a:p>
        </p:txBody>
      </p:sp>
      <p:cxnSp>
        <p:nvCxnSpPr>
          <p:cNvPr id="33" name="vis:icon"/>
          <p:cNvCxnSpPr/>
          <p:nvPr/>
        </p:nvCxnSpPr>
        <p:spPr>
          <a:xfrm>
            <a:off x="7850361" y="3250143"/>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The time window is what they need to find the attempts.</a:t>
            </a:r>
          </a:p>
        </p:txBody>
      </p:sp>
      <p:cxnSp>
        <p:nvCxnSpPr>
          <p:cNvPr id="36" name="vis:icon"/>
          <p:cNvCxnSpPr/>
          <p:nvPr/>
        </p:nvCxnSpPr>
        <p:spPr>
          <a:xfrm>
            <a:off x="7850361" y="418283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confirms the password was changed elsewhere, not on a possibly compromised device.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LOSING YOUR PHONE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Before you lose the phone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Save the backup codes somewhere offline, never on the phone they unlock.</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Register a second factor if the system allows it.</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Know who to contact for a reset: [COMPANY INPUT NEEDED: IT service desk route].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LOSING YOUR PHONE</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If it is lost or stolen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Report the loss to IT before you report it anywhere else.</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Change your work password from a different device.</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Ask for your authenticator registration to be reset.</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your account's recent sign-in activity once you are back in.</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My phone with my authenticator app has been lost. Please reset my multi-factor registration and check for any sign-in attempts since [TIME] on [DATE]. I have already changed my password from a different device.</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Send this straight away. Speed matters far more than tidiness.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check your setup</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tepnum"/>
          <p:cNvSpPr/>
          <p:nvPr/>
        </p:nvSpPr>
        <p:spPr>
          <a:xfrm>
            <a:off x="502920" y="2027681"/>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your work account's security settings.</a:t>
            </a:r>
          </a:p>
        </p:txBody>
      </p:sp>
      <p:sp>
        <p:nvSpPr>
          <p:cNvPr id="19" name="vis:stepnum"/>
          <p:cNvSpPr/>
          <p:nvPr/>
        </p:nvSpPr>
        <p:spPr>
          <a:xfrm>
            <a:off x="502920" y="3138677"/>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Check which second factor is registered against your name.</a:t>
            </a:r>
          </a:p>
        </p:txBody>
      </p:sp>
      <p:sp>
        <p:nvSpPr>
          <p:cNvPr id="23" name="vis:stepnum"/>
          <p:cNvSpPr/>
          <p:nvPr/>
        </p:nvSpPr>
        <p:spPr>
          <a:xfrm>
            <a:off x="502920" y="4249674"/>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If it is SMS and an app is offered, switch to the app.</a:t>
            </a:r>
          </a:p>
        </p:txBody>
      </p:sp>
      <p:sp>
        <p:nvSpPr>
          <p:cNvPr id="27" name="vis:stepnum"/>
          <p:cNvSpPr/>
          <p:nvPr/>
        </p:nvSpPr>
        <p:spPr>
          <a:xfrm>
            <a:off x="502920" y="5360670"/>
            <a:ext cx="347472" cy="34747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Find your backup codes and store them away from your phone.</a:t>
            </a:r>
          </a:p>
        </p:txBody>
      </p:sp>
      <p:sp>
        <p:nvSpPr>
          <p:cNvPr id="30" name="vis:promptcard"/>
          <p:cNvSpPr/>
          <p:nvPr/>
        </p:nvSpPr>
        <p:spPr>
          <a:xfrm>
            <a:off x="6461607" y="1719072"/>
            <a:ext cx="5227167" cy="2377947"/>
          </a:xfrm>
          <a:prstGeom prst="roundRect">
            <a:avLst>
              <a:gd name="adj" fmla="val 384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15569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Explain in plain English, for someone with no technical background, the difference between receiving a code by SMS, using an authenticator app, and using a passkey. Six lines maximum. No recommendations about specific products.</a:t>
            </a:r>
          </a:p>
        </p:txBody>
      </p:sp>
      <p:sp>
        <p:nvSpPr>
          <p:cNvPr id="43" name="vis:promptcap"/>
          <p:cNvSpPr txBox="1"/>
          <p:nvPr/>
        </p:nvSpPr>
        <p:spPr>
          <a:xfrm>
            <a:off x="6735927" y="362457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Useful if you want to understand the choice before making it.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worth having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Approve only prompts you triggered in the last few seconds.</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Deny anything unexpected, then change your password.</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Never read a code aloud, to anyone, for any reason.</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Keep backup codes somewhere that is not your phone.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Approving a prompt to make it stop</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That tap is the only thing the attacker could not do without you.</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Reading a code to somebody who rang</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call is the attack. Nobody legitimate has ever needed your code.</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Turning MFA off because it is inconvenient</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Seconds of friction against the most common attack there is.</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Storing backup codes on the same phone</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When the phone is lost, both factors are lost with it.</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Assuming a denied prompt needs no action</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An unexpected prompt means your password is already known. Change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An unexpected prompt means what?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Did I just try to log in, in the last minute?</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Deny and act</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has your password and is using it right now. Deny, change the password from another device, and report it whatever the time.</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Approve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You triggered it, it arrived immediately, and it matches what you are doing. That is the only situation in which approval is correct.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MFA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alertband"/>
          <p:cNvSpPr/>
          <p:nvPr/>
        </p:nvSpPr>
        <p:spPr>
          <a:xfrm>
            <a:off x="0" y="1719072"/>
            <a:ext cx="12191695" cy="96012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Approve only what you started. An unexpected prompt is a warning, not an annoyance.</a:t>
            </a:r>
          </a:p>
          <a:p>
            <a:pPr algn="l">
              <a:lnSpc>
                <a:spcPts val="1755"/>
              </a:lnSpc>
              <a:spcBef>
                <a:spcPts val="0"/>
              </a:spcBef>
              <a:spcAft>
                <a:spcPts val="0"/>
              </a:spcAft>
            </a:pPr>
            <a:r>
              <a:rPr sz="1350" b="0">
                <a:solidFill>
                  <a:srgbClr val="FFFFFF"/>
                </a:solidFill>
                <a:latin typeface="Segoe UI"/>
              </a:rPr>
              <a:t>It is telling you, in real time, that your password is already in somebody else's hands.</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started it — approve.</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You did not — deny and change.</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Someone asks for the code — report.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Tuesday, 2:10 am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Your phone buzzes with an approval prompt for your work account. Then again. Then four more times in two minutes. You are half asleep.</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Approve one so the buzzing stops and deal with it in the morning.</a:t>
            </a:r>
          </a:p>
        </p:txBody>
      </p:sp>
      <p:cxnSp>
        <p:nvCxnSpPr>
          <p:cNvPr id="23" name="vis:choicearrow"/>
          <p:cNvCxnSpPr/>
          <p:nvPr/>
        </p:nvCxnSpPr>
        <p:spPr>
          <a:xfrm>
            <a:off x="758952"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Deny them all, change your password from your laptop, report it.</a:t>
            </a:r>
          </a:p>
        </p:txBody>
      </p:sp>
      <p:cxnSp>
        <p:nvCxnSpPr>
          <p:cNvPr id="29" name="vis:choicearrow"/>
          <p:cNvCxnSpPr/>
          <p:nvPr/>
        </p:nvCxnSpPr>
        <p:spPr>
          <a:xfrm>
            <a:off x="4566818"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Turn the phone to silent and look at it after breakfast.</a:t>
            </a:r>
          </a:p>
        </p:txBody>
      </p:sp>
      <p:cxnSp>
        <p:nvCxnSpPr>
          <p:cNvPr id="35" name="vis:choicearrow"/>
          <p:cNvCxnSpPr/>
          <p:nvPr/>
        </p:nvCxnSpPr>
        <p:spPr>
          <a:xfrm>
            <a:off x="8374684" y="5632704"/>
            <a:ext cx="292608" cy="0"/>
          </a:xfrm>
          <a:prstGeom prst="line">
            <a:avLst/>
          </a:prstGeom>
          <a:ln w="19050">
            <a:solidFill>
              <a:srgbClr val="7A122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That tap was the entire attack</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attacker already had your password — that is why prompts were arriving. The one thing they could not do was approve the second step. You have just done it for them, and they are now inside with your access.</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 prompts exist because they are stuck. Approving unsticks them.</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Three minutes at 2am, and nothing happens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Denying stops the attempts. Changing the password from a different device removes the thing they were relying on. The security contact finds sign-in attempts from another country and blocks them before morning.</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Deny, change elsewhere, report. In that order, at any hour.</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Six hours of unlimited attempts</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prompts continue all night. If you have any other account using the same password, or if a colleague approves something on a shared system, the attacker gets in. By morning you cannot tell what happened.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Silence hides the alarm. It does not stop the attempt.</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minutes on the second lock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What is Multi-Factor Authentication</a:t>
            </a:r>
          </a:p>
        </p:txBody>
      </p:sp>
      <p:sp>
        <p:nvSpPr>
          <p:cNvPr id="19" name="vis:chip"/>
          <p:cNvSpPr/>
          <p:nvPr/>
        </p:nvSpPr>
        <p:spPr>
          <a:xfrm>
            <a:off x="868680" y="3858768"/>
            <a:ext cx="19591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6482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IBM TECHNOLOGY</a:t>
            </a:r>
          </a:p>
        </p:txBody>
      </p:sp>
      <p:sp>
        <p:nvSpPr>
          <p:cNvPr id="21" name="vis:chip"/>
          <p:cNvSpPr/>
          <p:nvPr/>
        </p:nvSpPr>
        <p:spPr>
          <a:xfrm>
            <a:off x="297416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312961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3:02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An outside video, not company material. Where it differs from this module, follow this module.</a:t>
            </a:r>
          </a:p>
        </p:txBody>
      </p:sp>
      <p:sp>
        <p:nvSpPr>
          <p:cNvPr id="25" name="nav:videobtn">
            <a:hlinkClick r:id="rId2"/>
          </p:cNvPr>
          <p:cNvSpPr/>
          <p:nvPr/>
        </p:nvSpPr>
        <p:spPr>
          <a:xfrm>
            <a:off x="868680" y="5230368"/>
            <a:ext cx="3017520" cy="493776"/>
          </a:xfrm>
          <a:prstGeom prst="roundRect">
            <a:avLst>
              <a:gd name="adj" fmla="val 11111"/>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is a second factor?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second, longer password</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Something physical you have, like your phone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security question about your first school</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Logging in from the office network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second, longer password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passwords are two things you know, and both can leak in the same way. The point is to add something of a completely different kind.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Something physical you have, like your phone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leaked list can contain your password. It cannot contain the phone in your pocket, which is why stolen credentials stop being enough.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 security question about your first school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Another thing you know, and usually findable on social media. Security questions are among the weakest protections there are.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Logging in from the office network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Location can be a useful signal for the security team and it is not a factor you supply. It also fails entirely for anyone working remotely.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Something you have, not something you know.</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Which factor is strongest?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code sent by SMS</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security key or passkey</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An email to your other account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security question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code sent by SMS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weakest of the common options, because numbers can be redirected to another SIM. Still far better than nothing, but choose an app if one is offered.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A security key or passkey</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checks the real address of the site, so it will not work on a lookalike page at all. That defeats phishing in a way codes cannot.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An email to your other account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that account uses a leaked password too, you have added no protection. It is also just another thing you know, reached with a password.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 security question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Not really a factor at all. The answers are often public, guessable, or already sitting in a previous breach.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key or passkey, then an app, then SMS.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Six prompts arrive at 2am. Why?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 system fault repeating a notification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Somebody is logging in with your password right now</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Your session expired overnight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Somebody is trying to guess your password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 system fault repeating a notification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Possible in theory and rare in practice. Treat it as an attack until somebody confirms otherwise — the cost of being wrong is very one-sided.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Somebody is logging in with your password right now</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Prompts are only generated when the correct password is entered. Repeated prompts mean repeated correct entries, and none of them are yours.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Your session expired overnight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Expiry does not push approval prompts to your phone at two in the morning. It asks you to sign in the next time you use the system.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Somebody is trying to guess your password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Wrong passwords never reach the second step. Reaching your phone means the password stage has already been passed.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Somebody already has your password.</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do backup codes belong?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Saved in a note on the same phone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Somewhere offline and separate from your phone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Emailed to yourself</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Shared with a colleague for emergencies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Saved in a note on the same phone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When the phone is lost, both factors go with it. That is precisely the situation the codes exist for.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Somewhere offline and separate from your phone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 locked drawer at home, or an approved password manager on a different device. The requirement is that losing one does not lose both.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Emailed to yourself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Your email is one of the accounts they protect. If it is compromised, the codes go with it, and email is usually the first target.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Shared with a colleague for emergencies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makes your account usable by somebody else entirely, and destroys any record of who actually signed in.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Anywhere except the phone they unlock.</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IT rings and asks you to approve.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Approve it — they are testing the system</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Deny it, change your password, and report the call</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 them to confirm your employee number first</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Approve it and then change your password</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Approve it — they are testing the system</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one of the most effective scripts there is, because it explains the unexpected prompt. Real IT can test without your approval and never asks for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Deny it, change your password, and report the call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call plus the prompt together mean somebody has your password and is trying to talk you past the second step. Report the call as well as the prompts.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Ask them to confirm your employee number first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may well know it — employee numbers appear in many documents. Verification questions do not help when the caller has done their research.</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Approve it and then change your password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Approval is instant and irreversible. Once you have approved, they are inside, and changing the password afterwards does not remove an active session.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They never need it. Report the call.</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MFA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Something you have</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password can leak. The phone in your pocket cannot leak with it.</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Pick the strongest offered</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Passkey or security key, then an authenticator app, then SMS.</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Any factor beats none</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Even a texted code defeats an attacker holding only your password.</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Approve only what you started</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unexpected prompt means somebody already has your password.</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Never read a code aloud</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There is no legitimate reason for anyone to ask for it.</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backup codes elsewhere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Not on the phone they exist to replace.</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B67D8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B67D84"/>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1885"/>
              </a:lnSpc>
              <a:spcBef>
                <a:spcPts val="0"/>
              </a:spcBef>
              <a:spcAft>
                <a:spcPts val="0"/>
              </a:spcAft>
            </a:pPr>
            <a:r>
              <a:rPr sz="1450" b="0">
                <a:solidFill>
                  <a:srgbClr val="FFFFFF"/>
                </a:solidFill>
                <a:latin typeface="Segoe UI Semibold"/>
              </a:rPr>
              <a:t>An unexpected prompt is not an annoyance. It is a warning that your password is already in somebody else's hands.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855922" y="2382199"/>
            <a:ext cx="244971" cy="223670"/>
          </a:xfrm>
          <a:custGeom>
            <a:avLst/>
            <a:gdLst/>
            <a:ahLst/>
            <a:cxnLst/>
            <a:rect l="l" t="t" r="r" b="b"/>
            <a:pathLst>
              <a:path w="244971" h="223670">
                <a:moveTo>
                  <a:pt x="122486" y="0"/>
                </a:moveTo>
                <a:lnTo>
                  <a:pt x="244971" y="223670"/>
                </a:lnTo>
                <a:lnTo>
                  <a:pt x="0" y="223670"/>
                </a:lnTo>
                <a:close/>
              </a:path>
            </a:pathLst>
          </a:cu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vis:icon"/>
          <p:cNvCxnSpPr/>
          <p:nvPr/>
        </p:nvCxnSpPr>
        <p:spPr>
          <a:xfrm>
            <a:off x="978408" y="2467407"/>
            <a:ext cx="0" cy="66568"/>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965094" y="2557940"/>
            <a:ext cx="26627" cy="26627"/>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fatigue-attack report</a:t>
            </a:r>
          </a:p>
        </p:txBody>
      </p:sp>
      <p:sp>
        <p:nvSpPr>
          <p:cNvPr id="22"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Denied, password changed elsewhere, time window given.</a:t>
            </a:r>
          </a:p>
        </p:txBody>
      </p:sp>
      <p:sp>
        <p:nvSpPr>
          <p:cNvPr id="23"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icon"/>
          <p:cNvSpPr/>
          <p:nvPr/>
        </p:nvSpPr>
        <p:spPr>
          <a:xfrm>
            <a:off x="855922" y="3300384"/>
            <a:ext cx="117160" cy="117160"/>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6" name="vis:icon"/>
          <p:cNvCxnSpPr/>
          <p:nvPr/>
        </p:nvCxnSpPr>
        <p:spPr>
          <a:xfrm>
            <a:off x="951780" y="3401568"/>
            <a:ext cx="138462" cy="106509"/>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H="1">
            <a:off x="1010360" y="3454822"/>
            <a:ext cx="26628" cy="3195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H="1">
            <a:off x="1042313" y="3486775"/>
            <a:ext cx="26627" cy="3195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29"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lost-phone message</a:t>
            </a:r>
          </a:p>
        </p:txBody>
      </p:sp>
      <p:sp>
        <p:nvSpPr>
          <p:cNvPr id="30"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Reset registration and check sign-ins since a stated time.</a:t>
            </a:r>
          </a:p>
        </p:txBody>
      </p:sp>
      <p:sp>
        <p:nvSpPr>
          <p:cNvPr id="31"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82549" y="4309101"/>
            <a:ext cx="69231" cy="69231"/>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951780" y="4229219"/>
            <a:ext cx="127811" cy="149113"/>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35"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approve-or-deny test</a:t>
            </a:r>
          </a:p>
        </p:txBody>
      </p:sp>
      <p:sp>
        <p:nvSpPr>
          <p:cNvPr id="36"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Did I start this in the last minute? If not, deny.</a:t>
            </a:r>
          </a:p>
        </p:txBody>
      </p:sp>
      <p:sp>
        <p:nvSpPr>
          <p:cNvPr id="37"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LINKS THAT WORK</a:t>
            </a:r>
          </a:p>
        </p:txBody>
      </p:sp>
      <p:sp>
        <p:nvSpPr>
          <p:cNvPr id="38"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icon"/>
          <p:cNvSpPr/>
          <p:nvPr/>
        </p:nvSpPr>
        <p:spPr>
          <a:xfrm>
            <a:off x="8339937" y="2300630"/>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0" name="vis:icon"/>
          <p:cNvCxnSpPr/>
          <p:nvPr/>
        </p:nvCxnSpPr>
        <p:spPr>
          <a:xfrm>
            <a:off x="8482584" y="2443276"/>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1"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Check if your email has leaked</a:t>
            </a:r>
          </a:p>
        </p:txBody>
      </p:sp>
      <p:sp>
        <p:nvSpPr>
          <p:cNvPr id="42"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haveibeenpwned.com</a:t>
            </a:r>
          </a:p>
        </p:txBody>
      </p:sp>
      <p:sp>
        <p:nvSpPr>
          <p:cNvPr id="43"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icon"/>
          <p:cNvSpPr/>
          <p:nvPr/>
        </p:nvSpPr>
        <p:spPr>
          <a:xfrm>
            <a:off x="8339937" y="2977286"/>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5" name="vis:icon"/>
          <p:cNvCxnSpPr/>
          <p:nvPr/>
        </p:nvCxnSpPr>
        <p:spPr>
          <a:xfrm>
            <a:off x="8482584" y="3119932"/>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46"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India's data protection framework</a:t>
            </a:r>
          </a:p>
        </p:txBody>
      </p:sp>
      <p:sp>
        <p:nvSpPr>
          <p:cNvPr id="47"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www.meity.gov.in/data-protection-fra…</a:t>
            </a:r>
          </a:p>
        </p:txBody>
      </p:sp>
      <p:sp>
        <p:nvSpPr>
          <p:cNvPr id="48"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9" name="vis:icon"/>
          <p:cNvSpPr/>
          <p:nvPr/>
        </p:nvSpPr>
        <p:spPr>
          <a:xfrm>
            <a:off x="8339937" y="3653942"/>
            <a:ext cx="164592" cy="164592"/>
          </a:xfrm>
          <a:prstGeom prst="ellipse">
            <a:avLst/>
          </a:prstGeom>
          <a:noFill/>
          <a:ln w="1905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0" name="vis:icon"/>
          <p:cNvCxnSpPr/>
          <p:nvPr/>
        </p:nvCxnSpPr>
        <p:spPr>
          <a:xfrm>
            <a:off x="8482584" y="3796588"/>
            <a:ext cx="65836" cy="65837"/>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51"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UAE data protection laws</a:t>
            </a:r>
          </a:p>
        </p:txBody>
      </p:sp>
      <p:sp>
        <p:nvSpPr>
          <p:cNvPr id="52"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a:rPr>
              <a:t>u.ae/en/about-the-uae/digital-uae/dat…</a:t>
            </a:r>
          </a:p>
        </p:txBody>
      </p:sp>
      <p:sp>
        <p:nvSpPr>
          <p:cNvPr id="53"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4"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B67D84"/>
                </a:solidFill>
                <a:latin typeface="Segoe UI Semibold"/>
              </a:rPr>
              <a:t>DO THIS NEXT</a:t>
            </a:r>
          </a:p>
        </p:txBody>
      </p:sp>
      <p:sp>
        <p:nvSpPr>
          <p:cNvPr id="55"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module: SEC-04, Data Protection Basics. What counts as personal data, and what the law expects us to do with 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7A122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SEC-03  ·  Multi-Factor Authentication</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7A122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7A122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7A122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Multi-factor authentication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Proving who you are with two different kinds of proof: something you know, have or are — not a password alone.</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Authenticator app</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 app showing a rotating code, tied to the device rather than to a phone number.</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Passkey</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modern factor tied to the real website address, so it cannot be used on a fake page.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MFA fatigue</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Flooding you with approval prompts until you tap one to stop the noise.</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Backup codes</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One-time codes for when you lose your phone. Stored away from that phone.</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One-time code</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short code proving it is you. Never shared with anyone, for any reason.</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7A122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