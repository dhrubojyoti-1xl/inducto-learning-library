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L3alw3iXaio"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aveibeenpwned.com" TargetMode="External"/><Relationship Id="rId3" Type="http://schemas.openxmlformats.org/officeDocument/2006/relationships/hyperlink" Target="https://www.meity.gov.in/data-protection-framework" TargetMode="External"/><Relationship Id="rId4" Type="http://schemas.openxmlformats.org/officeDocument/2006/relationships/hyperlink" Target="https://u.ae/en/about-the-uae/digital-uae/data/data-protection-laws"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mfa-identity.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20320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SECURITY &amp; DATA PRIVACY</a:t>
            </a:r>
          </a:p>
        </p:txBody>
      </p:sp>
      <p:sp>
        <p:nvSpPr>
          <p:cNvPr id="8" name="title:cover"/>
          <p:cNvSpPr txBox="1"/>
          <p:nvPr/>
        </p:nvSpPr>
        <p:spPr>
          <a:xfrm>
            <a:off x="841248" y="66040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Multi-Factor Authentication</a:t>
            </a:r>
          </a:p>
        </p:txBody>
      </p:sp>
      <p:cxnSp>
        <p:nvCxnSpPr>
          <p:cNvPr id="9" name="vis:rule"/>
          <p:cNvCxnSpPr/>
          <p:nvPr/>
        </p:nvCxnSpPr>
        <p:spPr>
          <a:xfrm>
            <a:off x="841248" y="244246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716784"/>
            <a:ext cx="4187952" cy="150774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The second lock that makes a stolen password almost useless — and the one way people still get past it.</a:t>
            </a:r>
          </a:p>
        </p:txBody>
      </p:sp>
      <p:sp>
        <p:nvSpPr>
          <p:cNvPr id="11" name="vis:chip"/>
          <p:cNvSpPr/>
          <p:nvPr/>
        </p:nvSpPr>
        <p:spPr>
          <a:xfrm>
            <a:off x="841248" y="4626864"/>
            <a:ext cx="1058164" cy="310896"/>
          </a:xfrm>
          <a:prstGeom prst="roundRect">
            <a:avLst>
              <a:gd name="adj" fmla="val 14705"/>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4"/>
            <a:ext cx="7472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SEC-03</a:t>
            </a:r>
          </a:p>
        </p:txBody>
      </p:sp>
      <p:sp>
        <p:nvSpPr>
          <p:cNvPr id="13" name="vis:chip"/>
          <p:cNvSpPr/>
          <p:nvPr/>
        </p:nvSpPr>
        <p:spPr>
          <a:xfrm>
            <a:off x="2045716"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201164" y="4672584"/>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15 MINUTES</a:t>
            </a:r>
          </a:p>
        </p:txBody>
      </p:sp>
      <p:sp>
        <p:nvSpPr>
          <p:cNvPr id="15" name="vis:chip"/>
          <p:cNvSpPr/>
          <p:nvPr/>
        </p:nvSpPr>
        <p:spPr>
          <a:xfrm>
            <a:off x="841248" y="5047488"/>
            <a:ext cx="2788677"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8"/>
            <a:ext cx="2477781"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MANDATORY FOR ALL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SEC-03  ·  Multi-Factor Authentication</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Ayesha's password worked. It failed.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31194" y="2355757"/>
            <a:ext cx="260187" cy="180685"/>
          </a:xfrm>
          <a:prstGeom prst="roundRect">
            <a:avLst>
              <a:gd name="adj" fmla="val 25303"/>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1078172" y="2232891"/>
            <a:ext cx="166230" cy="224049"/>
          </a:xfrm>
          <a:prstGeom prst="arc">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Ayesha handles HR records in Dubai. Her password leaked in a breach at a site she had forgotten about. Someone used it at 2am. They got the password right and still could not get in, because a code went to her phone.</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Nothing at all — which is the entire point of the story.</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One extra step at login, and a stolen password stops being enough.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4575" y="2057999"/>
            <a:ext cx="212257" cy="147401"/>
          </a:xfrm>
          <a:prstGeom prst="roundRect">
            <a:avLst>
              <a:gd name="adj" fmla="val 31017"/>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92899" y="1957766"/>
            <a:ext cx="135609" cy="182777"/>
          </a:xfrm>
          <a:prstGeom prst="arc">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Explain what a second factor is, without jargon</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25094" y="2865671"/>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is:icon"/>
          <p:cNvSpPr/>
          <p:nvPr/>
        </p:nvSpPr>
        <p:spPr>
          <a:xfrm>
            <a:off x="1019431" y="2930527"/>
            <a:ext cx="82544" cy="82544"/>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Choose the strongest option your systems offer</a:t>
            </a:r>
          </a:p>
        </p:txBody>
      </p:sp>
      <p:sp>
        <p:nvSpPr>
          <p:cNvPr id="25"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925094" y="3738198"/>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vis:icon"/>
          <p:cNvCxnSpPr/>
          <p:nvPr/>
        </p:nvCxnSpPr>
        <p:spPr>
          <a:xfrm>
            <a:off x="1060704" y="3832535"/>
            <a:ext cx="0" cy="7370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1045963" y="3932768"/>
            <a:ext cx="29480" cy="2948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an MFA fatigue attack and stop it correctly</a:t>
            </a:r>
          </a:p>
        </p:txBody>
      </p:sp>
      <p:sp>
        <p:nvSpPr>
          <p:cNvPr id="31"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25094" y="4651999"/>
            <a:ext cx="129713" cy="129713"/>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1031223" y="4764024"/>
            <a:ext cx="153298" cy="11792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H="1">
            <a:off x="1096080" y="4822984"/>
            <a:ext cx="29480" cy="35376"/>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H="1">
            <a:off x="1131456" y="4858360"/>
            <a:ext cx="29480" cy="3537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what to do when you lose the phone with your codes</a:t>
            </a:r>
          </a:p>
        </p:txBody>
      </p:sp>
      <p:sp>
        <p:nvSpPr>
          <p:cNvPr id="38"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933938" y="5527474"/>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Never approve a prompt you did not personally trigger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a second factor is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Something you have</a:t>
            </a:r>
          </a:p>
        </p:txBody>
      </p:sp>
      <p:cxnSp>
        <p:nvCxnSpPr>
          <p:cNvPr id="13" name="vis:menuarrow"/>
          <p:cNvCxnSpPr/>
          <p:nvPr/>
        </p:nvCxnSpPr>
        <p:spPr>
          <a:xfrm>
            <a:off x="11213287" y="1997049"/>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Which type is strongest</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Not all are equal</a:t>
            </a:r>
          </a:p>
        </p:txBody>
      </p:sp>
      <p:cxnSp>
        <p:nvCxnSpPr>
          <p:cNvPr id="19" name="vis:menuarrow"/>
          <p:cNvCxnSpPr/>
          <p:nvPr/>
        </p:nvCxnSpPr>
        <p:spPr>
          <a:xfrm>
            <a:off x="11213287" y="242498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fatigue attack</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one way past it</a:t>
            </a:r>
          </a:p>
        </p:txBody>
      </p:sp>
      <p:cxnSp>
        <p:nvCxnSpPr>
          <p:cNvPr id="25" name="vis:menuarrow"/>
          <p:cNvCxnSpPr/>
          <p:nvPr/>
        </p:nvCxnSpPr>
        <p:spPr>
          <a:xfrm>
            <a:off x="11213287" y="285292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Losing your phone</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Before it happens</a:t>
            </a:r>
          </a:p>
        </p:txBody>
      </p:sp>
      <p:cxnSp>
        <p:nvCxnSpPr>
          <p:cNvPr id="31" name="vis:menuarrow"/>
          <p:cNvCxnSpPr/>
          <p:nvPr/>
        </p:nvCxnSpPr>
        <p:spPr>
          <a:xfrm>
            <a:off x="11213287" y="3280867"/>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Check your own setup</a:t>
            </a:r>
          </a:p>
        </p:txBody>
      </p:sp>
      <p:cxnSp>
        <p:nvCxnSpPr>
          <p:cNvPr id="37" name="vis:menuarrow"/>
          <p:cNvCxnSpPr/>
          <p:nvPr/>
        </p:nvCxnSpPr>
        <p:spPr>
          <a:xfrm>
            <a:off x="11213287" y="3708806"/>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2am decision</a:t>
            </a:r>
          </a:p>
        </p:txBody>
      </p:sp>
      <p:cxnSp>
        <p:nvCxnSpPr>
          <p:cNvPr id="43" name="vis:menuarrow"/>
          <p:cNvCxnSpPr/>
          <p:nvPr/>
        </p:nvCxnSpPr>
        <p:spPr>
          <a:xfrm>
            <a:off x="11213287" y="4136745"/>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3-minute outside explainer</a:t>
            </a:r>
          </a:p>
        </p:txBody>
      </p:sp>
      <p:cxnSp>
        <p:nvCxnSpPr>
          <p:cNvPr id="49" name="vis:menuarrow"/>
          <p:cNvCxnSpPr/>
          <p:nvPr/>
        </p:nvCxnSpPr>
        <p:spPr>
          <a:xfrm>
            <a:off x="11213287" y="456468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A SECOND FACTOR 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Something you know, something you have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 password is something you know. It can be stolen without you noticing. A second factor is something you physically have.</a:t>
            </a:r>
          </a:p>
        </p:txBody>
      </p:sp>
      <p:sp>
        <p:nvSpPr>
          <p:cNvPr id="16" name="vis:flowcard"/>
          <p:cNvSpPr/>
          <p:nvPr/>
        </p:nvSpPr>
        <p:spPr>
          <a:xfrm>
            <a:off x="502920"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75303"/>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You enter the password</a:t>
            </a:r>
          </a:p>
        </p:txBody>
      </p:sp>
      <p:sp>
        <p:nvSpPr>
          <p:cNvPr id="20" name="vis:flowsub"/>
          <p:cNvSpPr txBox="1"/>
          <p:nvPr/>
        </p:nvSpPr>
        <p:spPr>
          <a:xfrm>
            <a:off x="704088"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Something you know. It may already have leaked.</a:t>
            </a:r>
          </a:p>
        </p:txBody>
      </p:sp>
      <p:cxnSp>
        <p:nvCxnSpPr>
          <p:cNvPr id="21" name="vis:flowarrow"/>
          <p:cNvCxnSpPr/>
          <p:nvPr/>
        </p:nvCxnSpPr>
        <p:spPr>
          <a:xfrm>
            <a:off x="3093643" y="41696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75303"/>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A second proof is asked for</a:t>
            </a:r>
          </a:p>
        </p:txBody>
      </p:sp>
      <p:sp>
        <p:nvSpPr>
          <p:cNvPr id="26" name="vis:flowsub"/>
          <p:cNvSpPr txBox="1"/>
          <p:nvPr/>
        </p:nvSpPr>
        <p:spPr>
          <a:xfrm>
            <a:off x="3596563"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Something you have, usually your phone.</a:t>
            </a:r>
          </a:p>
        </p:txBody>
      </p:sp>
      <p:cxnSp>
        <p:nvCxnSpPr>
          <p:cNvPr id="27" name="vis:flowarrow"/>
          <p:cNvCxnSpPr/>
          <p:nvPr/>
        </p:nvCxnSpPr>
        <p:spPr>
          <a:xfrm>
            <a:off x="5986119" y="41696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Only you can supply it</a:t>
            </a:r>
          </a:p>
        </p:txBody>
      </p:sp>
      <p:sp>
        <p:nvSpPr>
          <p:cNvPr id="32" name="vis:flowsub"/>
          <p:cNvSpPr txBox="1"/>
          <p:nvPr/>
        </p:nvSpPr>
        <p:spPr>
          <a:xfrm>
            <a:off x="6489039"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Because the phone is in your pocket, not in a leaked list.</a:t>
            </a:r>
          </a:p>
        </p:txBody>
      </p:sp>
      <p:cxnSp>
        <p:nvCxnSpPr>
          <p:cNvPr id="33" name="vis:flowarrow"/>
          <p:cNvCxnSpPr/>
          <p:nvPr/>
        </p:nvCxnSpPr>
        <p:spPr>
          <a:xfrm>
            <a:off x="8878595" y="41696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75303"/>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A stolen password fails</a:t>
            </a:r>
          </a:p>
        </p:txBody>
      </p:sp>
      <p:sp>
        <p:nvSpPr>
          <p:cNvPr id="38" name="vis:flowsub"/>
          <p:cNvSpPr txBox="1"/>
          <p:nvPr/>
        </p:nvSpPr>
        <p:spPr>
          <a:xfrm>
            <a:off x="9381515"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Which is the whole point of the second step.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A SECOND FACTOR 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it matters so much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903051"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5921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PASSWORD ONLY</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thing between them and us</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leaked password works immediately</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have no idea it has been used</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It works from anywhere in the world</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It keeps working until you change it</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2713747"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2402851"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PASSWORD PLUS A FACTOR</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Two things, one of them physical</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leaked password alone achieves nothing</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are told the moment somebody tries</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They would need the phone in your pocket</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 find out and change it the same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WHICH TYPE IS STRONGEST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Not all factors are equal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65633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281525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STRONGEST — a security key or passkey, tied to the real site</a:t>
            </a:r>
          </a:p>
        </p:txBody>
      </p:sp>
      <p:sp>
        <p:nvSpPr>
          <p:cNvPr id="20" name="vis:checktile"/>
          <p:cNvSpPr/>
          <p:nvPr/>
        </p:nvSpPr>
        <p:spPr>
          <a:xfrm>
            <a:off x="6205575"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65633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281525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STRONG — an authenticator app showing a rotating code</a:t>
            </a:r>
          </a:p>
        </p:txBody>
      </p:sp>
      <p:sp>
        <p:nvSpPr>
          <p:cNvPr id="25" name="vis:checktile"/>
          <p:cNvSpPr/>
          <p:nvPr/>
        </p:nvSpPr>
        <p:spPr>
          <a:xfrm>
            <a:off x="502920"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293108"/>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45203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WEAKER — a push notification you tap to approve</a:t>
            </a:r>
          </a:p>
        </p:txBody>
      </p:sp>
      <p:sp>
        <p:nvSpPr>
          <p:cNvPr id="30" name="vis:checktile"/>
          <p:cNvSpPr/>
          <p:nvPr/>
        </p:nvSpPr>
        <p:spPr>
          <a:xfrm>
            <a:off x="6205575"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293108"/>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45203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WEAKEST — a code sent by SMS, which can be intercepted</a:t>
            </a:r>
          </a:p>
        </p:txBody>
      </p:sp>
      <p:sp>
        <p:nvSpPr>
          <p:cNvPr id="35"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6" name="vis:chip"/>
          <p:cNvSpPr/>
          <p:nvPr/>
        </p:nvSpPr>
        <p:spPr>
          <a:xfrm>
            <a:off x="2221991" y="5660136"/>
            <a:ext cx="2414861"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chiptext"/>
          <p:cNvSpPr txBox="1"/>
          <p:nvPr/>
        </p:nvSpPr>
        <p:spPr>
          <a:xfrm>
            <a:off x="2377439" y="5687568"/>
            <a:ext cx="210396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AUTHENTICATOR APP  ?</a:t>
            </a:r>
          </a:p>
        </p:txBody>
      </p:sp>
      <p:sp>
        <p:nvSpPr>
          <p:cNvPr id="38" name="nav:gloss">
            <a:hlinkClick action="ppaction://hlinksldjump" r:id="rId3"/>
          </p:cNvPr>
          <p:cNvSpPr/>
          <p:nvPr/>
        </p:nvSpPr>
        <p:spPr>
          <a:xfrm>
            <a:off x="2221991" y="5660136"/>
            <a:ext cx="2414861"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WHICH TYPE IS STRONGEST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Any factor beats none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48942" y="2210770"/>
            <a:ext cx="150634" cy="150634"/>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72188" y="2340863"/>
            <a:ext cx="178023" cy="13694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H="1">
            <a:off x="1147506" y="2409334"/>
            <a:ext cx="34235" cy="41082"/>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H="1">
            <a:off x="1188588" y="2450416"/>
            <a:ext cx="34235" cy="41082"/>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1"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Use the best offered</a:t>
            </a:r>
          </a:p>
        </p:txBody>
      </p:sp>
      <p:sp>
        <p:nvSpPr>
          <p:cNvPr id="22"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If the system supports an app or a key, choose that over SMS. It takes two minutes to set up.</a:t>
            </a:r>
          </a:p>
        </p:txBody>
      </p:sp>
      <p:sp>
        <p:nvSpPr>
          <p:cNvPr id="23"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75847" y="2190229"/>
            <a:ext cx="301269" cy="301269"/>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flipV="1">
            <a:off x="4926482" y="2251852"/>
            <a:ext cx="0" cy="8901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4926482" y="2340863"/>
            <a:ext cx="75317" cy="27389"/>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8"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SMS still helps</a:t>
            </a:r>
          </a:p>
        </p:txBody>
      </p:sp>
      <p:sp>
        <p:nvSpPr>
          <p:cNvPr id="29"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Weakest is not useless. A texted code still defeats an attacker holding only your password.</a:t>
            </a:r>
          </a:p>
        </p:txBody>
      </p:sp>
      <p:sp>
        <p:nvSpPr>
          <p:cNvPr id="30"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599329" y="2186805"/>
            <a:ext cx="294422" cy="308117"/>
          </a:xfrm>
          <a:custGeom>
            <a:avLst/>
            <a:gdLst/>
            <a:ahLst/>
            <a:cxnLst/>
            <a:rect l="l" t="t" r="r" b="b"/>
            <a:pathLst>
              <a:path w="294422" h="308117">
                <a:moveTo>
                  <a:pt x="147211" y="0"/>
                </a:moveTo>
                <a:lnTo>
                  <a:pt x="294422" y="65047"/>
                </a:lnTo>
                <a:lnTo>
                  <a:pt x="270458" y="222529"/>
                </a:lnTo>
                <a:lnTo>
                  <a:pt x="147211" y="308117"/>
                </a:lnTo>
                <a:lnTo>
                  <a:pt x="23965" y="222529"/>
                </a:lnTo>
                <a:lnTo>
                  <a:pt x="0" y="65047"/>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Never turn it off</a:t>
            </a:r>
          </a:p>
        </p:txBody>
      </p:sp>
      <p:sp>
        <p:nvSpPr>
          <p:cNvPr id="34"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inconvenience is a few seconds. The protection is against the most common attack there 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FATIGUE ATTACK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one way past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If they have your password, they can trigger approval prompts on your phone. Over and over.</a:t>
            </a:r>
          </a:p>
        </p:txBody>
      </p:sp>
      <p:sp>
        <p:nvSpPr>
          <p:cNvPr id="16" name="vis:mistake"/>
          <p:cNvSpPr/>
          <p:nvPr/>
        </p:nvSpPr>
        <p:spPr>
          <a:xfrm>
            <a:off x="502920" y="2706624"/>
            <a:ext cx="11185855" cy="704088"/>
          </a:xfrm>
          <a:prstGeom prst="roundRect">
            <a:avLst>
              <a:gd name="adj" fmla="val 1038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bar"/>
          <p:cNvSpPr/>
          <p:nvPr/>
        </p:nvSpPr>
        <p:spPr>
          <a:xfrm>
            <a:off x="502920" y="2706624"/>
            <a:ext cx="68580" cy="70408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
          <p:cNvSpPr/>
          <p:nvPr/>
        </p:nvSpPr>
        <p:spPr>
          <a:xfrm>
            <a:off x="740664" y="2903220"/>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mistakenumtext"/>
          <p:cNvSpPr txBox="1"/>
          <p:nvPr/>
        </p:nvSpPr>
        <p:spPr>
          <a:xfrm>
            <a:off x="740664" y="297180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20" name="cell:mistake"/>
          <p:cNvSpPr txBox="1"/>
          <p:nvPr/>
        </p:nvSpPr>
        <p:spPr>
          <a:xfrm>
            <a:off x="1179576" y="2798064"/>
            <a:ext cx="4682806" cy="521208"/>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Prompts arrive at 2am, repeatedly</a:t>
            </a:r>
          </a:p>
        </p:txBody>
      </p:sp>
      <p:cxnSp>
        <p:nvCxnSpPr>
          <p:cNvPr id="21" name="vis:line"/>
          <p:cNvCxnSpPr/>
          <p:nvPr/>
        </p:nvCxnSpPr>
        <p:spPr>
          <a:xfrm>
            <a:off x="6008686" y="2852928"/>
            <a:ext cx="0" cy="41148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mistakewhy"/>
          <p:cNvSpPr txBox="1"/>
          <p:nvPr/>
        </p:nvSpPr>
        <p:spPr>
          <a:xfrm>
            <a:off x="6173278" y="2798064"/>
            <a:ext cx="5296040" cy="521208"/>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attacker is logging in with your password every few seconds, hoping you tap once.</a:t>
            </a:r>
          </a:p>
        </p:txBody>
      </p:sp>
      <p:sp>
        <p:nvSpPr>
          <p:cNvPr id="23" name="vis:mistake"/>
          <p:cNvSpPr/>
          <p:nvPr/>
        </p:nvSpPr>
        <p:spPr>
          <a:xfrm>
            <a:off x="502920" y="3575304"/>
            <a:ext cx="11185855" cy="704088"/>
          </a:xfrm>
          <a:prstGeom prst="roundRect">
            <a:avLst>
              <a:gd name="adj" fmla="val 1038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bar"/>
          <p:cNvSpPr/>
          <p:nvPr/>
        </p:nvSpPr>
        <p:spPr>
          <a:xfrm>
            <a:off x="502920" y="3575304"/>
            <a:ext cx="68580" cy="70408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
          <p:cNvSpPr/>
          <p:nvPr/>
        </p:nvSpPr>
        <p:spPr>
          <a:xfrm>
            <a:off x="740664" y="3771900"/>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mistakenumtext"/>
          <p:cNvSpPr txBox="1"/>
          <p:nvPr/>
        </p:nvSpPr>
        <p:spPr>
          <a:xfrm>
            <a:off x="740664" y="384048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7" name="cell:mistake"/>
          <p:cNvSpPr txBox="1"/>
          <p:nvPr/>
        </p:nvSpPr>
        <p:spPr>
          <a:xfrm>
            <a:off x="1179576" y="3666744"/>
            <a:ext cx="4682806" cy="521208"/>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You tap approve to stop the buzzing</a:t>
            </a:r>
          </a:p>
        </p:txBody>
      </p:sp>
      <p:cxnSp>
        <p:nvCxnSpPr>
          <p:cNvPr id="28" name="vis:line"/>
          <p:cNvCxnSpPr/>
          <p:nvPr/>
        </p:nvCxnSpPr>
        <p:spPr>
          <a:xfrm>
            <a:off x="6008686" y="3721608"/>
            <a:ext cx="0" cy="411479"/>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9" name="cell:mistakewhy"/>
          <p:cNvSpPr txBox="1"/>
          <p:nvPr/>
        </p:nvSpPr>
        <p:spPr>
          <a:xfrm>
            <a:off x="6173278" y="3666744"/>
            <a:ext cx="5296040" cy="521208"/>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That single tap is the entire breach. It is the only step they could not do themselves.</a:t>
            </a:r>
          </a:p>
        </p:txBody>
      </p:sp>
      <p:sp>
        <p:nvSpPr>
          <p:cNvPr id="30" name="vis:mistake"/>
          <p:cNvSpPr/>
          <p:nvPr/>
        </p:nvSpPr>
        <p:spPr>
          <a:xfrm>
            <a:off x="502920" y="4443983"/>
            <a:ext cx="11185855" cy="704088"/>
          </a:xfrm>
          <a:prstGeom prst="roundRect">
            <a:avLst>
              <a:gd name="adj" fmla="val 1038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bar"/>
          <p:cNvSpPr/>
          <p:nvPr/>
        </p:nvSpPr>
        <p:spPr>
          <a:xfrm>
            <a:off x="502920" y="4443983"/>
            <a:ext cx="68580" cy="70408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
          <p:cNvSpPr/>
          <p:nvPr/>
        </p:nvSpPr>
        <p:spPr>
          <a:xfrm>
            <a:off x="740664" y="46405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istakenumtext"/>
          <p:cNvSpPr txBox="1"/>
          <p:nvPr/>
        </p:nvSpPr>
        <p:spPr>
          <a:xfrm>
            <a:off x="740664" y="470915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4" name="cell:mistake"/>
          <p:cNvSpPr txBox="1"/>
          <p:nvPr/>
        </p:nvSpPr>
        <p:spPr>
          <a:xfrm>
            <a:off x="1179576" y="4535423"/>
            <a:ext cx="4682806" cy="521208"/>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call follows saying it is IT</a:t>
            </a:r>
          </a:p>
        </p:txBody>
      </p:sp>
      <p:cxnSp>
        <p:nvCxnSpPr>
          <p:cNvPr id="35" name="vis:line"/>
          <p:cNvCxnSpPr/>
          <p:nvPr/>
        </p:nvCxnSpPr>
        <p:spPr>
          <a:xfrm>
            <a:off x="6008686" y="4590288"/>
            <a:ext cx="0" cy="411479"/>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6" name="cell:mistakewhy"/>
          <p:cNvSpPr txBox="1"/>
          <p:nvPr/>
        </p:nvSpPr>
        <p:spPr>
          <a:xfrm>
            <a:off x="6173278" y="4535423"/>
            <a:ext cx="5296040" cy="521208"/>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"We are testing, please approve the next one." IT will never ask this.</a:t>
            </a:r>
          </a:p>
        </p:txBody>
      </p:sp>
      <p:sp>
        <p:nvSpPr>
          <p:cNvPr id="37" name="vis:mistake"/>
          <p:cNvSpPr/>
          <p:nvPr/>
        </p:nvSpPr>
        <p:spPr>
          <a:xfrm>
            <a:off x="502920" y="5312664"/>
            <a:ext cx="11185855" cy="704088"/>
          </a:xfrm>
          <a:prstGeom prst="roundRect">
            <a:avLst>
              <a:gd name="adj" fmla="val 1038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bar"/>
          <p:cNvSpPr/>
          <p:nvPr/>
        </p:nvSpPr>
        <p:spPr>
          <a:xfrm>
            <a:off x="502920" y="5312664"/>
            <a:ext cx="68580" cy="70408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
          <p:cNvSpPr/>
          <p:nvPr/>
        </p:nvSpPr>
        <p:spPr>
          <a:xfrm>
            <a:off x="740664" y="550925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istakenumtext"/>
          <p:cNvSpPr txBox="1"/>
          <p:nvPr/>
        </p:nvSpPr>
        <p:spPr>
          <a:xfrm>
            <a:off x="740664" y="557784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1" name="cell:mistake"/>
          <p:cNvSpPr txBox="1"/>
          <p:nvPr/>
        </p:nvSpPr>
        <p:spPr>
          <a:xfrm>
            <a:off x="1179576" y="5404103"/>
            <a:ext cx="4682806" cy="521208"/>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You approve while half asleep</a:t>
            </a:r>
          </a:p>
        </p:txBody>
      </p:sp>
      <p:cxnSp>
        <p:nvCxnSpPr>
          <p:cNvPr id="42" name="vis:line"/>
          <p:cNvCxnSpPr/>
          <p:nvPr/>
        </p:nvCxnSpPr>
        <p:spPr>
          <a:xfrm>
            <a:off x="6008686" y="5458968"/>
            <a:ext cx="0" cy="41148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3" name="cell:mistakewhy"/>
          <p:cNvSpPr txBox="1"/>
          <p:nvPr/>
        </p:nvSpPr>
        <p:spPr>
          <a:xfrm>
            <a:off x="6173278" y="5404103"/>
            <a:ext cx="5296040" cy="521208"/>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Which is exactly why the prompts arrive at 2am rather than at 2pm.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FATIGUE ATTACK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to do instead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Never approve a prompt you did not personally trigger, no matter how many arrive.</a:t>
            </a:r>
          </a:p>
          <a:p>
            <a:pPr algn="l">
              <a:lnSpc>
                <a:spcPts val="1755"/>
              </a:lnSpc>
              <a:spcBef>
                <a:spcPts val="0"/>
              </a:spcBef>
              <a:spcAft>
                <a:spcPts val="0"/>
              </a:spcAft>
            </a:pPr>
            <a:r>
              <a:rPr sz="1350" b="0">
                <a:solidFill>
                  <a:srgbClr val="FFFFFF"/>
                </a:solidFill>
                <a:latin typeface="Segoe UI"/>
              </a:rPr>
              <a:t>An unexpected prompt means somebody already has your password.</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Deny it, every time.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Change your password immediately.</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Report it, even at 2am.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FATIGUE ATTACK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report wording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am receiving repeated multi-factor approval prompts that I did not trigger. I have denied all of them and changed my password from a different device. The prompts started at approximately [TIME] on [DATE]. Please check for sign-in attempts on my account.</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Send this to your security contact, whatever the hour.</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states clearly you denied them, which matters.</a:t>
            </a:r>
          </a:p>
        </p:txBody>
      </p:sp>
      <p:cxnSp>
        <p:nvCxnSpPr>
          <p:cNvPr id="33" name="vis:icon"/>
          <p:cNvCxnSpPr/>
          <p:nvPr/>
        </p:nvCxnSpPr>
        <p:spPr>
          <a:xfrm>
            <a:off x="7850361" y="3250143"/>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time window is what they need to find the attempts.</a:t>
            </a:r>
          </a:p>
        </p:txBody>
      </p:sp>
      <p:cxnSp>
        <p:nvCxnSpPr>
          <p:cNvPr id="36" name="vis:icon"/>
          <p:cNvCxnSpPr/>
          <p:nvPr/>
        </p:nvCxnSpPr>
        <p:spPr>
          <a:xfrm>
            <a:off x="7850361" y="418283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confirms the password was changed elsewhere, not on a possibly compromised device.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LOSING YOUR PHONE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Before you lose the phone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Save the backup codes somewhere offline, never on the phone they unlock.</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Register a second factor if the system allows it.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Know who to contact for a reset: [COMPANY INPUT NEEDED: IT service desk route].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LOSING YOUR PHONE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If it is lost or stolen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pnum"/>
          <p:cNvSpPr/>
          <p:nvPr/>
        </p:nvSpPr>
        <p:spPr>
          <a:xfrm>
            <a:off x="502920" y="2027681"/>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Report the loss to IT before you report it anywhere else.</a:t>
            </a:r>
          </a:p>
        </p:txBody>
      </p:sp>
      <p:sp>
        <p:nvSpPr>
          <p:cNvPr id="19" name="vis:stepnum"/>
          <p:cNvSpPr/>
          <p:nvPr/>
        </p:nvSpPr>
        <p:spPr>
          <a:xfrm>
            <a:off x="502920" y="3138677"/>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Change your work password from a different device.</a:t>
            </a:r>
          </a:p>
        </p:txBody>
      </p:sp>
      <p:sp>
        <p:nvSpPr>
          <p:cNvPr id="23" name="vis:stepnum"/>
          <p:cNvSpPr/>
          <p:nvPr/>
        </p:nvSpPr>
        <p:spPr>
          <a:xfrm>
            <a:off x="502920" y="4249674"/>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Ask for your authenticator registration to be reset.</a:t>
            </a:r>
          </a:p>
        </p:txBody>
      </p:sp>
      <p:sp>
        <p:nvSpPr>
          <p:cNvPr id="27" name="vis:stepnum"/>
          <p:cNvSpPr/>
          <p:nvPr/>
        </p:nvSpPr>
        <p:spPr>
          <a:xfrm>
            <a:off x="502920" y="5360670"/>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Check your account's recent sign-in activity once you are back in.</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My phone with my authenticator app has been lost. Please reset my multi-factor registration and check for any sign-in attempts since [TIME] on [DATE]. I have already changed my password from a different device.</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Send this straight away. Speed matters far more than tidiness.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check your setup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pnum"/>
          <p:cNvSpPr/>
          <p:nvPr/>
        </p:nvSpPr>
        <p:spPr>
          <a:xfrm>
            <a:off x="502920" y="2027681"/>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your work account's security settings.</a:t>
            </a:r>
          </a:p>
        </p:txBody>
      </p:sp>
      <p:sp>
        <p:nvSpPr>
          <p:cNvPr id="19" name="vis:stepnum"/>
          <p:cNvSpPr/>
          <p:nvPr/>
        </p:nvSpPr>
        <p:spPr>
          <a:xfrm>
            <a:off x="502920" y="3138677"/>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Check which second factor is registered against your name.</a:t>
            </a:r>
          </a:p>
        </p:txBody>
      </p:sp>
      <p:sp>
        <p:nvSpPr>
          <p:cNvPr id="23" name="vis:stepnum"/>
          <p:cNvSpPr/>
          <p:nvPr/>
        </p:nvSpPr>
        <p:spPr>
          <a:xfrm>
            <a:off x="502920" y="4249674"/>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If it is SMS and an app is offered, switch to the app.</a:t>
            </a:r>
          </a:p>
        </p:txBody>
      </p:sp>
      <p:sp>
        <p:nvSpPr>
          <p:cNvPr id="27" name="vis:stepnum"/>
          <p:cNvSpPr/>
          <p:nvPr/>
        </p:nvSpPr>
        <p:spPr>
          <a:xfrm>
            <a:off x="502920" y="5360670"/>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your backup codes and store them away from your phone.</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Explain in plain English, for someone with no technical background, the difference between receiving a code by SMS, using an authenticator app, and using a passkey. Six lines maximum. No recommendations about specific products.</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Useful if you want to understand the choice before making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Approve only prompts you triggered in the last few seconds.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Deny anything unexpected, then change your password.</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read a code aloud, to anyone, for any reason.</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Keep backup codes somewhere that is not your phone.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Approving a prompt to make it stop</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That tap is the only thing the attacker could not do without you.</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Reading a code to somebody who rang</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call is the attack. Nobody legitimate has ever needed your code.</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Turning MFA off because it is inconvenient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Seconds of friction against the most common attack there is.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Storing backup codes on the same phone</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When the phone is lost, both factors are lost with it.</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Assuming a denied prompt needs no action</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An unexpected prompt means your password is already known. Change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An unexpected prompt means what?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Did I just try to log in, in the last minute?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Deny and act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has your password and is using it right now. Deny, change the password from another device, and report it whatever the time.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Approve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triggered it, it arrived immediately, and it matches what you are doing. That is the only situation in which approval is correct.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MFA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Approve only what you started. An unexpected prompt is a warning, not an annoyance.</a:t>
            </a:r>
          </a:p>
          <a:p>
            <a:pPr algn="l">
              <a:lnSpc>
                <a:spcPts val="1755"/>
              </a:lnSpc>
              <a:spcBef>
                <a:spcPts val="0"/>
              </a:spcBef>
              <a:spcAft>
                <a:spcPts val="0"/>
              </a:spcAft>
            </a:pPr>
            <a:r>
              <a:rPr sz="1350" b="0">
                <a:solidFill>
                  <a:srgbClr val="FFFFFF"/>
                </a:solidFill>
                <a:latin typeface="Segoe UI"/>
              </a:rPr>
              <a:t>It is telling you, in real time, that your password is already in somebody else's hands.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started it — approve.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did not — deny and change.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Someone asks for the code — report.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Tuesday, 2:10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Your phone buzzes with an approval prompt for your work account. Then again. Then four more times in two minutes. You are half asleep.</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Approve one so the buzzing stops and deal with it in the morning.</a:t>
            </a:r>
          </a:p>
        </p:txBody>
      </p:sp>
      <p:cxnSp>
        <p:nvCxnSpPr>
          <p:cNvPr id="23" name="vis:choicearrow"/>
          <p:cNvCxnSpPr/>
          <p:nvPr/>
        </p:nvCxnSpPr>
        <p:spPr>
          <a:xfrm>
            <a:off x="758952"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Deny them all, change your password from your laptop, report it.</a:t>
            </a:r>
          </a:p>
        </p:txBody>
      </p:sp>
      <p:cxnSp>
        <p:nvCxnSpPr>
          <p:cNvPr id="29" name="vis:choicearrow"/>
          <p:cNvCxnSpPr/>
          <p:nvPr/>
        </p:nvCxnSpPr>
        <p:spPr>
          <a:xfrm>
            <a:off x="4566818"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Turn the phone to silent and look at it after breakfast.</a:t>
            </a:r>
          </a:p>
        </p:txBody>
      </p:sp>
      <p:cxnSp>
        <p:nvCxnSpPr>
          <p:cNvPr id="35" name="vis:choicearrow"/>
          <p:cNvCxnSpPr/>
          <p:nvPr/>
        </p:nvCxnSpPr>
        <p:spPr>
          <a:xfrm>
            <a:off x="8374684"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That tap was the entire attack</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attacker already had your password — that is why prompts were arriving. The one thing they could not do was approve the second step. You have just done it for them, and they are now inside with your access.</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prompts exist because they are stuck. Approving unsticks them.</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Three minutes at 2am, and nothing happens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Denying stops the attempts. Changing the password from a different device removes the thing they were relying on. The security contact finds sign-in attempts from another country and blocks them before morning.</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Deny, change elsewhere, report. In that order, at any hour.</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Six hours of unlimited attempts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prompts continue all night. If you have any other account using the same password, or if a colleague approves something on a shared system, the attacker gets in. By morning you cannot tell what happened.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Silence hides the alarm. It does not stop the attempt.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minutes on the second lock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What is Multi-Factor Authentication</a:t>
            </a:r>
          </a:p>
        </p:txBody>
      </p:sp>
      <p:sp>
        <p:nvSpPr>
          <p:cNvPr id="19" name="vis:chip"/>
          <p:cNvSpPr/>
          <p:nvPr/>
        </p:nvSpPr>
        <p:spPr>
          <a:xfrm>
            <a:off x="868680" y="3858768"/>
            <a:ext cx="19591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482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IBM TECHNOLOGY</a:t>
            </a:r>
          </a:p>
        </p:txBody>
      </p:sp>
      <p:sp>
        <p:nvSpPr>
          <p:cNvPr id="21" name="vis:chip"/>
          <p:cNvSpPr/>
          <p:nvPr/>
        </p:nvSpPr>
        <p:spPr>
          <a:xfrm>
            <a:off x="2974163" y="3858768"/>
            <a:ext cx="12302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129611" y="3895344"/>
            <a:ext cx="9193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3:02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is a second factor?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second, longer password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Something physical you have, like your phone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security question about your first school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Logging in from the office network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second, longer password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passwords are two things you know, and both can leak in the same way. The point is to add something of a completely different kind.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Something you have, not something you know.</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Something physical you have, like your phone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leaked list can contain your password. It cannot contain the phone in your pocket, which is why stolen credentials stop being enough.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Something you have, not something you know.</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security question about your first school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Another thing you know, and usually findable on social media. Security questions are among the weakest protections there are.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Something you have, not something you know.</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Logging in from the office network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Location can be a useful signal for the security team and it is not a factor you supply. It also fails entirely for anyone working remotely.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Something you have, not something you know.</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factor is strongest?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code sent by SMS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security key or passkey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email to your other account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security question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code sent by SMS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weakest of the common options, because numbers can be redirected to another SIM. Still far better than nothing, but choose an app if one is offered.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key or passkey, then an app, then SMS.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security key or passkey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checks the real address of the site, so it will not work on a lookalike page at all. That defeats phishing in a way codes cannot.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key or passkey, then an app, then SMS.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An email to your other account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that account uses a leaked password too, you have added no protection. It is also just another thing you know, reached with a password.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key or passkey, then an app, then SMS.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security question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 really a factor at all. The answers are often public, guessable, or already sitting in a previous breach.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key or passkey, then an app, then SMS.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Six prompts arrive at 2am. Why?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system fault repeating a notification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Somebody is logging in with your password right now</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Your session expired overnight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Somebody is trying to guess your password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system fault repeating a notification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Possible in theory and rare in practice. Treat it as an attack until somebody confirms otherwise — the cost of being wrong is very one-sided.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already has your password.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Somebody is logging in with your password right now</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Prompts are only generated when the correct password is entered. Repeated prompts mean repeated correct entries, and none of them are yours.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already has your password.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Your session expired overnight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Expiry does not push approval prompts to your phone at two in the morning. It asks you to sign in the next time you use the system.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already has your password.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Somebody is trying to guess your password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Wrong passwords never reach the second step. Reaching your phone means the password stage has already been passed.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already has your password.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do backup codes belong?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Saved in a note on the same phone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Somewhere offline and separate from your phone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Emailed to yourself</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Shared with a colleague for emergencies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Saved in a note on the same phone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When the phone is lost, both factors go with it. That is precisely the situation the codes exist for.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Anywhere except the phone they unlock.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Somewhere offline and separate from your phone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locked drawer at home, or an approved password manager on a different device. The requirement is that losing one does not lose both.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Anywhere except the phone they unlock.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Emailed to yourself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Your email is one of the accounts they protect. If it is compromised, the codes go with it, and email is usually the first target.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Anywhere except the phone they unlock.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Shared with a colleague for emergencies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makes your account usable by somebody else entirely, and destroys any record of who actually signed 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Anywhere except the phone they unlock.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IT rings and asks you to approve.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Approve it — they are testing the system</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Deny it, change your password, and report the call</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them to confirm your employee number first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Approve it and then change your password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Approve it — they are testing the system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one of the most effective scripts there is, because it explains the unexpected prompt. Real IT can test without your approval and never asks for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never need it. Report the call.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Deny it, change your password, and report the call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call plus the prompt together mean somebody has your password and is trying to talk you past the second step. Report the call as well as the prompts.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never need it. Report the call.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Ask them to confirm your employee number first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may well know it — employee numbers appear in many documents. Verification questions do not help when the caller has done their research.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never need it. Report the call.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Approve it and then change your password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Approval is instant and irreversible. Once you have approved, they are inside, and changing the password afterwards does not remove an active session.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They never need it. Report the call.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MFA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Something you have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password can leak. The phone in your pocket cannot leak with it.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Pick the strongest offered</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Passkey or security key, then an authenticator app, then SMS.</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Any factor beats none</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Even a texted code defeats an attacker holding only your password.</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Approve only what you started</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unexpected prompt means somebody already has your password.</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read a code aloud</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There is no legitimate reason for anyone to ask for it.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Keep backup codes elsewhere</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Not on the phone they exist to replace.</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B67D8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1885"/>
              </a:lnSpc>
              <a:spcBef>
                <a:spcPts val="0"/>
              </a:spcBef>
              <a:spcAft>
                <a:spcPts val="0"/>
              </a:spcAft>
            </a:pPr>
            <a:r>
              <a:rPr sz="1450" b="0">
                <a:solidFill>
                  <a:srgbClr val="FFFFFF"/>
                </a:solidFill>
                <a:latin typeface="Segoe UI Semibold"/>
              </a:rPr>
              <a:t>An unexpected prompt is not an annoyance. It is a warning that your password is already in somebody else's hands.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55922" y="2382199"/>
            <a:ext cx="244971" cy="223670"/>
          </a:xfrm>
          <a:custGeom>
            <a:avLst/>
            <a:gdLst/>
            <a:ahLst/>
            <a:cxnLst/>
            <a:rect l="l" t="t" r="r" b="b"/>
            <a:pathLst>
              <a:path w="244971" h="223670">
                <a:moveTo>
                  <a:pt x="122486" y="0"/>
                </a:moveTo>
                <a:lnTo>
                  <a:pt x="244971" y="223670"/>
                </a:lnTo>
                <a:lnTo>
                  <a:pt x="0" y="223670"/>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vis:icon"/>
          <p:cNvCxnSpPr/>
          <p:nvPr/>
        </p:nvCxnSpPr>
        <p:spPr>
          <a:xfrm>
            <a:off x="978408" y="2467407"/>
            <a:ext cx="0" cy="66568"/>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965094" y="2557940"/>
            <a:ext cx="26627" cy="26627"/>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fatigue-attack report</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Denied, password changed elsewhere, time window given.</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55922" y="3300384"/>
            <a:ext cx="117160" cy="117160"/>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951780" y="3401568"/>
            <a:ext cx="138462" cy="106509"/>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1010360" y="3454822"/>
            <a:ext cx="26628" cy="31953"/>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H="1">
            <a:off x="1042313" y="3486775"/>
            <a:ext cx="26627" cy="31953"/>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9"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lost-phone message</a:t>
            </a:r>
          </a:p>
        </p:txBody>
      </p:sp>
      <p:sp>
        <p:nvSpPr>
          <p:cNvPr id="30"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Reset registration and check sign-ins since a stated time.</a:t>
            </a:r>
          </a:p>
        </p:txBody>
      </p:sp>
      <p:sp>
        <p:nvSpPr>
          <p:cNvPr id="31"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82549" y="4309101"/>
            <a:ext cx="69231" cy="6923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951780" y="4229219"/>
            <a:ext cx="127811" cy="149113"/>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5"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approve-or-deny test</a:t>
            </a:r>
          </a:p>
        </p:txBody>
      </p:sp>
      <p:sp>
        <p:nvSpPr>
          <p:cNvPr id="36"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Did I start this in the last minute? If not, deny.</a:t>
            </a:r>
          </a:p>
        </p:txBody>
      </p:sp>
      <p:sp>
        <p:nvSpPr>
          <p:cNvPr id="37"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LINKS THAT WORK</a:t>
            </a:r>
          </a:p>
        </p:txBody>
      </p:sp>
      <p:sp>
        <p:nvSpPr>
          <p:cNvPr id="38"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8339937" y="2300630"/>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a:off x="8482584" y="2443276"/>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1"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Check if your email has leaked</a:t>
            </a:r>
          </a:p>
        </p:txBody>
      </p:sp>
      <p:sp>
        <p:nvSpPr>
          <p:cNvPr id="42"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haveibeenpwned.com</a:t>
            </a:r>
          </a:p>
        </p:txBody>
      </p:sp>
      <p:sp>
        <p:nvSpPr>
          <p:cNvPr id="43"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icon"/>
          <p:cNvSpPr/>
          <p:nvPr/>
        </p:nvSpPr>
        <p:spPr>
          <a:xfrm>
            <a:off x="8339937" y="2977286"/>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vis:icon"/>
          <p:cNvCxnSpPr/>
          <p:nvPr/>
        </p:nvCxnSpPr>
        <p:spPr>
          <a:xfrm>
            <a:off x="8482584" y="3119932"/>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6"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India's data protection framework</a:t>
            </a:r>
          </a:p>
        </p:txBody>
      </p:sp>
      <p:sp>
        <p:nvSpPr>
          <p:cNvPr id="47"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www.meity.gov.in/data-protection-fra…</a:t>
            </a:r>
          </a:p>
        </p:txBody>
      </p:sp>
      <p:sp>
        <p:nvSpPr>
          <p:cNvPr id="48"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icon"/>
          <p:cNvSpPr/>
          <p:nvPr/>
        </p:nvSpPr>
        <p:spPr>
          <a:xfrm>
            <a:off x="8339937" y="3653942"/>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0" name="vis:icon"/>
          <p:cNvCxnSpPr/>
          <p:nvPr/>
        </p:nvCxnSpPr>
        <p:spPr>
          <a:xfrm>
            <a:off x="8482584" y="3796588"/>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51"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UAE data protection laws</a:t>
            </a:r>
          </a:p>
        </p:txBody>
      </p:sp>
      <p:sp>
        <p:nvSpPr>
          <p:cNvPr id="52"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u.ae/en/about-the-uae/digital-uae/dat…</a:t>
            </a:r>
          </a:p>
        </p:txBody>
      </p:sp>
      <p:sp>
        <p:nvSpPr>
          <p:cNvPr id="53"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4"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DO THIS NEXT</a:t>
            </a:r>
          </a:p>
        </p:txBody>
      </p:sp>
      <p:sp>
        <p:nvSpPr>
          <p:cNvPr id="55"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SEC-04, Data Protection Basics. What counts as personal data, and what the law expects us to do with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SEC-03  ·  Multi-Factor Authentication</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Multi-factor authentication</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Proving who you are with two different kinds of thing: something you know and something you have.</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Authenticator app</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app showing a rotating code, tied to the device rather than to a phone number.</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Passkey</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modern factor tied to the real website address, so it cannot be used on a fake page.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MFA fatigue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Flooding you with approval prompts until you tap one to stop the noise.</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Backup codes</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One-time codes for when you lose your phone. Stored away from that phone.</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One-time code</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short code proving it is you. Never shared with anyone, for any reason.</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