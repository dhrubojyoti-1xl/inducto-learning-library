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8.xml"/><Relationship Id="rId8" Type="http://schemas.openxmlformats.org/officeDocument/2006/relationships/slide" Target="slide22.xml"/><Relationship Id="rId9" Type="http://schemas.openxmlformats.org/officeDocument/2006/relationships/slide" Target="slide23.xml"/><Relationship Id="rId10" Type="http://schemas.openxmlformats.org/officeDocument/2006/relationships/slide" Target="slide48.xml"/><Relationship Id="rId11" Type="http://schemas.openxmlformats.org/officeDocument/2006/relationships/slide" Target="slide4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19.xml"/><Relationship Id="rId4" Type="http://schemas.openxmlformats.org/officeDocument/2006/relationships/slide" Target="slide20.xml"/><Relationship Id="rId5" Type="http://schemas.openxmlformats.org/officeDocument/2006/relationships/slide" Target="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pR7FfNWjEe8" TargetMode="External"/><Relationship Id="rId3" Type="http://schemas.openxmlformats.org/officeDocument/2006/relationships/slide" Target="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4.xml"/><Relationship Id="rId4" Type="http://schemas.openxmlformats.org/officeDocument/2006/relationships/slide" Target="slide25.xml"/><Relationship Id="rId5" Type="http://schemas.openxmlformats.org/officeDocument/2006/relationships/slide" Target="slide26.xml"/><Relationship Id="rId6" Type="http://schemas.openxmlformats.org/officeDocument/2006/relationships/slide" Target="slide2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9.xml"/><Relationship Id="rId4" Type="http://schemas.openxmlformats.org/officeDocument/2006/relationships/slide" Target="slide30.xml"/><Relationship Id="rId5" Type="http://schemas.openxmlformats.org/officeDocument/2006/relationships/slide" Target="slide31.xml"/><Relationship Id="rId6" Type="http://schemas.openxmlformats.org/officeDocument/2006/relationships/slide" Target="slide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4.xml"/><Relationship Id="rId4" Type="http://schemas.openxmlformats.org/officeDocument/2006/relationships/slide" Target="slide35.xml"/><Relationship Id="rId5" Type="http://schemas.openxmlformats.org/officeDocument/2006/relationships/slide" Target="slide36.xml"/><Relationship Id="rId6" Type="http://schemas.openxmlformats.org/officeDocument/2006/relationships/slide" Target="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9.xml"/><Relationship Id="rId4" Type="http://schemas.openxmlformats.org/officeDocument/2006/relationships/slide" Target="slide40.xml"/><Relationship Id="rId5" Type="http://schemas.openxmlformats.org/officeDocument/2006/relationships/slide" Target="slide41.xml"/><Relationship Id="rId6" Type="http://schemas.openxmlformats.org/officeDocument/2006/relationships/slide" Target="slide4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4.xml"/><Relationship Id="rId4" Type="http://schemas.openxmlformats.org/officeDocument/2006/relationships/slide" Target="slide45.xml"/><Relationship Id="rId5" Type="http://schemas.openxmlformats.org/officeDocument/2006/relationships/slide" Target="slide46.xml"/><Relationship Id="rId6" Type="http://schemas.openxmlformats.org/officeDocument/2006/relationships/slide" Target="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8.xml"/><Relationship Id="rId3" Type="http://schemas.openxmlformats.org/officeDocument/2006/relationships/slide" Target="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ity.gov.in/data-protection-framework" TargetMode="External"/><Relationship Id="rId3" Type="http://schemas.openxmlformats.org/officeDocument/2006/relationships/hyperlink" Target="https://u.ae/en/about-the-uae/digital-uae/data/data-protection-laws" TargetMode="External"/><Relationship Id="rId4" Type="http://schemas.openxmlformats.org/officeDocument/2006/relationships/hyperlink" Target="https://haveibeenpwned.com" TargetMode="External"/><Relationship Id="rId5" Type="http://schemas.openxmlformats.org/officeDocument/2006/relationships/slide" Target="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" name="vis:coverline"/>
          <p:cNvCxnSpPr/>
          <p:nvPr/>
        </p:nvCxnSpPr>
        <p:spPr>
          <a:xfrm>
            <a:off x="8203996" y="2278684"/>
            <a:ext cx="998525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is:coverline"/>
          <p:cNvCxnSpPr/>
          <p:nvPr/>
        </p:nvCxnSpPr>
        <p:spPr>
          <a:xfrm flipV="1">
            <a:off x="7973568" y="2937052"/>
            <a:ext cx="122895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vis:coverline"/>
          <p:cNvCxnSpPr/>
          <p:nvPr/>
        </p:nvCxnSpPr>
        <p:spPr>
          <a:xfrm>
            <a:off x="9202521" y="2937052"/>
            <a:ext cx="76810" cy="1316736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vis:coverline"/>
          <p:cNvCxnSpPr/>
          <p:nvPr/>
        </p:nvCxnSpPr>
        <p:spPr>
          <a:xfrm flipV="1">
            <a:off x="9202521" y="2212848"/>
            <a:ext cx="1152144" cy="724204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is:coverline"/>
          <p:cNvCxnSpPr/>
          <p:nvPr/>
        </p:nvCxnSpPr>
        <p:spPr>
          <a:xfrm>
            <a:off x="9202521" y="2937052"/>
            <a:ext cx="130576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vis:coverline"/>
          <p:cNvCxnSpPr/>
          <p:nvPr/>
        </p:nvCxnSpPr>
        <p:spPr>
          <a:xfrm>
            <a:off x="10354665" y="2212848"/>
            <a:ext cx="921715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vis:coverline"/>
          <p:cNvCxnSpPr/>
          <p:nvPr/>
        </p:nvCxnSpPr>
        <p:spPr>
          <a:xfrm flipV="1">
            <a:off x="10508284" y="2871216"/>
            <a:ext cx="768096" cy="724204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vis:coverline"/>
          <p:cNvCxnSpPr/>
          <p:nvPr/>
        </p:nvCxnSpPr>
        <p:spPr>
          <a:xfrm flipV="1">
            <a:off x="9279331" y="3595420"/>
            <a:ext cx="1228953" cy="658368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covernode"/>
          <p:cNvSpPr/>
          <p:nvPr/>
        </p:nvSpPr>
        <p:spPr>
          <a:xfrm>
            <a:off x="8139988" y="2214676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vis:covernode"/>
          <p:cNvSpPr/>
          <p:nvPr/>
        </p:nvSpPr>
        <p:spPr>
          <a:xfrm>
            <a:off x="7909560" y="353141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vis:covernode"/>
          <p:cNvSpPr/>
          <p:nvPr/>
        </p:nvSpPr>
        <p:spPr>
          <a:xfrm>
            <a:off x="9065361" y="2799892"/>
            <a:ext cx="274320" cy="27432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covernode"/>
          <p:cNvSpPr/>
          <p:nvPr/>
        </p:nvSpPr>
        <p:spPr>
          <a:xfrm>
            <a:off x="9215323" y="4189780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overnode"/>
          <p:cNvSpPr/>
          <p:nvPr/>
        </p:nvSpPr>
        <p:spPr>
          <a:xfrm>
            <a:off x="10263225" y="2121408"/>
            <a:ext cx="182880" cy="18288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overnode"/>
          <p:cNvSpPr/>
          <p:nvPr/>
        </p:nvSpPr>
        <p:spPr>
          <a:xfrm>
            <a:off x="10416844" y="3503980"/>
            <a:ext cx="182880" cy="18288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overnode"/>
          <p:cNvSpPr/>
          <p:nvPr/>
        </p:nvSpPr>
        <p:spPr>
          <a:xfrm>
            <a:off x="11212372" y="2807208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seclabel"/>
          <p:cNvSpPr txBox="1"/>
          <p:nvPr/>
        </p:nvSpPr>
        <p:spPr>
          <a:xfrm>
            <a:off x="960120" y="566420"/>
            <a:ext cx="5501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SECURITY &amp; DATA PRIVACY</a:t>
            </a:r>
          </a:p>
        </p:txBody>
      </p:sp>
      <p:sp>
        <p:nvSpPr>
          <p:cNvPr id="20" name="title:cover"/>
          <p:cNvSpPr txBox="1"/>
          <p:nvPr/>
        </p:nvSpPr>
        <p:spPr>
          <a:xfrm>
            <a:off x="960120" y="1023620"/>
            <a:ext cx="5501487" cy="150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Safe Use of AI at Work</a:t>
            </a:r>
          </a:p>
        </p:txBody>
      </p:sp>
      <p:cxnSp>
        <p:nvCxnSpPr>
          <p:cNvPr id="21" name="vis:rule"/>
          <p:cNvCxnSpPr/>
          <p:nvPr/>
        </p:nvCxnSpPr>
        <p:spPr>
          <a:xfrm>
            <a:off x="960120" y="2805684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body:coversub"/>
          <p:cNvSpPr txBox="1"/>
          <p:nvPr/>
        </p:nvSpPr>
        <p:spPr>
          <a:xfrm>
            <a:off x="960120" y="3080004"/>
            <a:ext cx="5501487" cy="1144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Which tools are approved, which settings to switch off, and how to keep a trail you can actually explain.</a:t>
            </a:r>
          </a:p>
        </p:txBody>
      </p:sp>
      <p:sp>
        <p:nvSpPr>
          <p:cNvPr id="23" name="vis:chip"/>
          <p:cNvSpPr/>
          <p:nvPr/>
        </p:nvSpPr>
        <p:spPr>
          <a:xfrm>
            <a:off x="960120" y="4626864"/>
            <a:ext cx="1058164" cy="310896"/>
          </a:xfrm>
          <a:prstGeom prst="roundRect">
            <a:avLst>
              <a:gd name="adj" fmla="val 14705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chiptext"/>
          <p:cNvSpPr txBox="1"/>
          <p:nvPr/>
        </p:nvSpPr>
        <p:spPr>
          <a:xfrm>
            <a:off x="1115568" y="4672583"/>
            <a:ext cx="7472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SEC-06</a:t>
            </a:r>
          </a:p>
        </p:txBody>
      </p:sp>
      <p:sp>
        <p:nvSpPr>
          <p:cNvPr id="25" name="vis:chip"/>
          <p:cNvSpPr/>
          <p:nvPr/>
        </p:nvSpPr>
        <p:spPr>
          <a:xfrm>
            <a:off x="2164588" y="4626864"/>
            <a:ext cx="1453134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text"/>
          <p:cNvSpPr txBox="1"/>
          <p:nvPr/>
        </p:nvSpPr>
        <p:spPr>
          <a:xfrm>
            <a:off x="2320036" y="4672583"/>
            <a:ext cx="114223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17 MINUTES</a:t>
            </a:r>
          </a:p>
        </p:txBody>
      </p:sp>
      <p:sp>
        <p:nvSpPr>
          <p:cNvPr id="27" name="vis:chip"/>
          <p:cNvSpPr/>
          <p:nvPr/>
        </p:nvSpPr>
        <p:spPr>
          <a:xfrm>
            <a:off x="960120" y="5047488"/>
            <a:ext cx="2788677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chiptext"/>
          <p:cNvSpPr txBox="1"/>
          <p:nvPr/>
        </p:nvSpPr>
        <p:spPr>
          <a:xfrm>
            <a:off x="1115568" y="5093207"/>
            <a:ext cx="247778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MANDATORY FOR ALL STAFF</a:t>
            </a:r>
          </a:p>
        </p:txBody>
      </p:sp>
      <p:sp>
        <p:nvSpPr>
          <p:cNvPr id="29" name="cell:coverhint"/>
          <p:cNvSpPr txBox="1"/>
          <p:nvPr/>
        </p:nvSpPr>
        <p:spPr>
          <a:xfrm>
            <a:off x="960120" y="5724144"/>
            <a:ext cx="550148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WHY THIS MATTERS TO YOU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Harish cannot answer a simple question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ory"/>
          <p:cNvSpPr/>
          <p:nvPr/>
        </p:nvSpPr>
        <p:spPr>
          <a:xfrm>
            <a:off x="502920" y="1719072"/>
            <a:ext cx="6448882" cy="3273552"/>
          </a:xfrm>
          <a:prstGeom prst="roundRect">
            <a:avLst>
              <a:gd name="adj" fmla="val 279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oryspine"/>
          <p:cNvSpPr/>
          <p:nvPr/>
        </p:nvSpPr>
        <p:spPr>
          <a:xfrm>
            <a:off x="502920" y="1719072"/>
            <a:ext cx="68580" cy="327355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813816" y="2029967"/>
            <a:ext cx="69494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1005898" y="2214823"/>
            <a:ext cx="310779" cy="325233"/>
          </a:xfrm>
          <a:custGeom>
            <a:avLst/>
            <a:gdLst/>
            <a:ahLst/>
            <a:cxnLst/>
            <a:rect l="l" t="t" r="r" b="b"/>
            <a:pathLst>
              <a:path w="310779" h="325233">
                <a:moveTo>
                  <a:pt x="155390" y="0"/>
                </a:moveTo>
                <a:lnTo>
                  <a:pt x="310779" y="68660"/>
                </a:lnTo>
                <a:lnTo>
                  <a:pt x="285483" y="234891"/>
                </a:lnTo>
                <a:lnTo>
                  <a:pt x="155390" y="325233"/>
                </a:lnTo>
                <a:lnTo>
                  <a:pt x="25296" y="234891"/>
                </a:lnTo>
                <a:lnTo>
                  <a:pt x="0" y="68660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body:scenario"/>
          <p:cNvSpPr txBox="1"/>
          <p:nvPr/>
        </p:nvSpPr>
        <p:spPr>
          <a:xfrm>
            <a:off x="813816" y="2944368"/>
            <a:ext cx="5827090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Harish runs projects in Abu Dhabi. A client asks, during an audit, whether any of their drawings have been processed by AI tools. He genuinely does not know. Nor does anyone else, because nobody kept a record.</a:t>
            </a:r>
          </a:p>
        </p:txBody>
      </p:sp>
      <p:sp>
        <p:nvSpPr>
          <p:cNvPr id="20" name="vis:cost"/>
          <p:cNvSpPr/>
          <p:nvPr/>
        </p:nvSpPr>
        <p:spPr>
          <a:xfrm>
            <a:off x="502920" y="5230368"/>
            <a:ext cx="644888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ostspine"/>
          <p:cNvSpPr/>
          <p:nvPr/>
        </p:nvSpPr>
        <p:spPr>
          <a:xfrm>
            <a:off x="502920" y="5230368"/>
            <a:ext cx="68580" cy="7863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26983" y="5478719"/>
            <a:ext cx="302849" cy="276514"/>
          </a:xfrm>
          <a:custGeom>
            <a:avLst/>
            <a:gdLst/>
            <a:ahLst/>
            <a:cxnLst/>
            <a:rect l="l" t="t" r="r" b="b"/>
            <a:pathLst>
              <a:path w="302849" h="276514">
                <a:moveTo>
                  <a:pt x="151425" y="0"/>
                </a:moveTo>
                <a:lnTo>
                  <a:pt x="302849" y="276514"/>
                </a:lnTo>
                <a:lnTo>
                  <a:pt x="0" y="276514"/>
                </a:lnTo>
                <a:close/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vis:icon"/>
          <p:cNvCxnSpPr/>
          <p:nvPr/>
        </p:nvCxnSpPr>
        <p:spPr>
          <a:xfrm>
            <a:off x="978408" y="5584057"/>
            <a:ext cx="0" cy="82296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vis:icon"/>
          <p:cNvSpPr/>
          <p:nvPr/>
        </p:nvSpPr>
        <p:spPr>
          <a:xfrm>
            <a:off x="961948" y="5695980"/>
            <a:ext cx="32918" cy="3291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body:cost"/>
          <p:cNvSpPr txBox="1"/>
          <p:nvPr/>
        </p:nvSpPr>
        <p:spPr>
          <a:xfrm>
            <a:off x="1362456" y="5358383"/>
            <a:ext cx="531502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62828"/>
                </a:solidFill>
                <a:latin typeface="Segoe UI Semibold"/>
              </a:rPr>
              <a:t>A question we could not answer, in front of a client.</a:t>
            </a:r>
          </a:p>
        </p:txBody>
      </p:sp>
      <p:sp>
        <p:nvSpPr>
          <p:cNvPr id="26" name="vis:fix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seclabel"/>
          <p:cNvSpPr txBox="1"/>
          <p:nvPr/>
        </p:nvSpPr>
        <p:spPr>
          <a:xfrm>
            <a:off x="8411260" y="2066543"/>
            <a:ext cx="29483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AFTER THIS MODULE</a:t>
            </a:r>
          </a:p>
        </p:txBody>
      </p:sp>
      <p:cxnSp>
        <p:nvCxnSpPr>
          <p:cNvPr id="28" name="vis:rule"/>
          <p:cNvCxnSpPr/>
          <p:nvPr/>
        </p:nvCxnSpPr>
        <p:spPr>
          <a:xfrm>
            <a:off x="8411260" y="2505456"/>
            <a:ext cx="2948331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dy:fix"/>
          <p:cNvSpPr txBox="1"/>
          <p:nvPr/>
        </p:nvSpPr>
        <p:spPr>
          <a:xfrm>
            <a:off x="8411260" y="2724912"/>
            <a:ext cx="294833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Approved tools, the right settings, and a habit of noting what you used.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WHAT YOU'LL BE ABLE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By the end, you can do these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ome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1792224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954575" y="2081584"/>
            <a:ext cx="76648" cy="76648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1031223" y="1993143"/>
            <a:ext cx="141505" cy="165089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outcome"/>
          <p:cNvSpPr txBox="1"/>
          <p:nvPr/>
        </p:nvSpPr>
        <p:spPr>
          <a:xfrm>
            <a:off x="1545336" y="1828800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Tell an approved tool from an unapproved one at a glance</a:t>
            </a:r>
          </a:p>
        </p:txBody>
      </p:sp>
      <p:sp>
        <p:nvSpPr>
          <p:cNvPr id="20" name="vis:outcome"/>
          <p:cNvSpPr/>
          <p:nvPr/>
        </p:nvSpPr>
        <p:spPr>
          <a:xfrm>
            <a:off x="502920" y="2615184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badge"/>
          <p:cNvSpPr/>
          <p:nvPr/>
        </p:nvSpPr>
        <p:spPr>
          <a:xfrm>
            <a:off x="777240" y="268833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954575" y="2954111"/>
            <a:ext cx="212257" cy="147401"/>
          </a:xfrm>
          <a:prstGeom prst="roundRect">
            <a:avLst>
              <a:gd name="adj" fmla="val 31017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992899" y="2853878"/>
            <a:ext cx="135609" cy="182777"/>
          </a:xfrm>
          <a:prstGeom prst="arc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cell:outcome"/>
          <p:cNvSpPr txBox="1"/>
          <p:nvPr/>
        </p:nvSpPr>
        <p:spPr>
          <a:xfrm>
            <a:off x="1545336" y="2724912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Switch off the settings that let your work train a model</a:t>
            </a:r>
          </a:p>
        </p:txBody>
      </p:sp>
      <p:sp>
        <p:nvSpPr>
          <p:cNvPr id="25" name="vis:outcome"/>
          <p:cNvSpPr/>
          <p:nvPr/>
        </p:nvSpPr>
        <p:spPr>
          <a:xfrm>
            <a:off x="502920" y="3511296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badge"/>
          <p:cNvSpPr/>
          <p:nvPr/>
        </p:nvSpPr>
        <p:spPr>
          <a:xfrm>
            <a:off x="777240" y="35844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966367" y="3738198"/>
            <a:ext cx="188673" cy="259426"/>
          </a:xfrm>
          <a:prstGeom prst="roundRect">
            <a:avLst>
              <a:gd name="adj" fmla="val 24232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1007639" y="3820743"/>
            <a:ext cx="106129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is:icon"/>
          <p:cNvCxnSpPr/>
          <p:nvPr/>
        </p:nvCxnSpPr>
        <p:spPr>
          <a:xfrm>
            <a:off x="1007639" y="3867911"/>
            <a:ext cx="106129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vis:icon"/>
          <p:cNvCxnSpPr/>
          <p:nvPr/>
        </p:nvCxnSpPr>
        <p:spPr>
          <a:xfrm>
            <a:off x="1007639" y="3915080"/>
            <a:ext cx="70753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ell:outcome"/>
          <p:cNvSpPr txBox="1"/>
          <p:nvPr/>
        </p:nvSpPr>
        <p:spPr>
          <a:xfrm>
            <a:off x="1545336" y="3621024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Keep a record that answers an audit question in one line</a:t>
            </a:r>
          </a:p>
        </p:txBody>
      </p:sp>
      <p:sp>
        <p:nvSpPr>
          <p:cNvPr id="32" name="vis:outcome"/>
          <p:cNvSpPr/>
          <p:nvPr/>
        </p:nvSpPr>
        <p:spPr>
          <a:xfrm>
            <a:off x="502920" y="4407408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badge"/>
          <p:cNvSpPr/>
          <p:nvPr/>
        </p:nvSpPr>
        <p:spPr>
          <a:xfrm>
            <a:off x="777240" y="44805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icon"/>
          <p:cNvSpPr/>
          <p:nvPr/>
        </p:nvSpPr>
        <p:spPr>
          <a:xfrm>
            <a:off x="925094" y="4657895"/>
            <a:ext cx="271219" cy="212257"/>
          </a:xfrm>
          <a:custGeom>
            <a:avLst/>
            <a:gdLst/>
            <a:ahLst/>
            <a:cxnLst/>
            <a:rect l="l" t="t" r="r" b="b"/>
            <a:pathLst>
              <a:path w="271219" h="212257">
                <a:moveTo>
                  <a:pt x="0" y="106129"/>
                </a:moveTo>
                <a:lnTo>
                  <a:pt x="135610" y="0"/>
                </a:lnTo>
                <a:lnTo>
                  <a:pt x="271219" y="106129"/>
                </a:lnTo>
                <a:lnTo>
                  <a:pt x="135610" y="212257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vis:icon"/>
          <p:cNvSpPr/>
          <p:nvPr/>
        </p:nvSpPr>
        <p:spPr>
          <a:xfrm>
            <a:off x="1019431" y="4722751"/>
            <a:ext cx="82544" cy="82544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cell:outcome"/>
          <p:cNvSpPr txBox="1"/>
          <p:nvPr/>
        </p:nvSpPr>
        <p:spPr>
          <a:xfrm>
            <a:off x="1545336" y="4517136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Recognise AI hidden inside tools you already use</a:t>
            </a:r>
          </a:p>
        </p:txBody>
      </p:sp>
      <p:sp>
        <p:nvSpPr>
          <p:cNvPr id="37" name="vis:outcome"/>
          <p:cNvSpPr/>
          <p:nvPr/>
        </p:nvSpPr>
        <p:spPr>
          <a:xfrm>
            <a:off x="502920" y="5303520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badge"/>
          <p:cNvSpPr/>
          <p:nvPr/>
        </p:nvSpPr>
        <p:spPr>
          <a:xfrm>
            <a:off x="777240" y="53766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icon"/>
          <p:cNvSpPr/>
          <p:nvPr/>
        </p:nvSpPr>
        <p:spPr>
          <a:xfrm>
            <a:off x="1004691" y="5533370"/>
            <a:ext cx="112024" cy="112024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icon"/>
          <p:cNvSpPr/>
          <p:nvPr/>
        </p:nvSpPr>
        <p:spPr>
          <a:xfrm>
            <a:off x="942782" y="5689616"/>
            <a:ext cx="235843" cy="103181"/>
          </a:xfrm>
          <a:custGeom>
            <a:avLst/>
            <a:gdLst/>
            <a:ahLst/>
            <a:cxnLst/>
            <a:rect l="l" t="t" r="r" b="b"/>
            <a:pathLst>
              <a:path w="235843" h="103181">
                <a:moveTo>
                  <a:pt x="0" y="103181"/>
                </a:moveTo>
                <a:lnTo>
                  <a:pt x="17689" y="0"/>
                </a:lnTo>
                <a:lnTo>
                  <a:pt x="218154" y="0"/>
                </a:lnTo>
                <a:lnTo>
                  <a:pt x="235843" y="103181"/>
                </a:lnTo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ell:outcome"/>
          <p:cNvSpPr txBox="1"/>
          <p:nvPr/>
        </p:nvSpPr>
        <p:spPr>
          <a:xfrm>
            <a:off x="1545336" y="5413248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Say plainly when AI helped, without over-explaining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any line to jump straight there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Approved and unapproved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More than an account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1997049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256739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256739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311603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311603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The settings that matter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311603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Two switches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424988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684678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684678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739542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739542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AI you did not notice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739542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Already inside your tools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2852928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112617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112617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167481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167481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Keeping a trail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167481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Answering the audit question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280867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54055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540556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3595420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3595420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Do this now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3595420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Check your own setup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3708806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396849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3968496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02335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02335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02335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 audit-week decision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136745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4396435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4396435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445129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445129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Watch this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445129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13-minute outside overview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4564684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4824374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4824374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4879238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4879238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Quiz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4879238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questions, instant feedback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4992624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av:menurow">
            <a:hlinkClick action="ppaction://hlinksldjump" r:id="rId10"/>
          </p:cNvPr>
          <p:cNvSpPr/>
          <p:nvPr/>
        </p:nvSpPr>
        <p:spPr>
          <a:xfrm>
            <a:off x="502920" y="5252313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menubar"/>
          <p:cNvSpPr/>
          <p:nvPr/>
        </p:nvSpPr>
        <p:spPr>
          <a:xfrm>
            <a:off x="502920" y="5252313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vis:menunum"/>
          <p:cNvSpPr txBox="1"/>
          <p:nvPr/>
        </p:nvSpPr>
        <p:spPr>
          <a:xfrm>
            <a:off x="813816" y="5307177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09</a:t>
            </a:r>
          </a:p>
        </p:txBody>
      </p:sp>
      <p:sp>
        <p:nvSpPr>
          <p:cNvPr id="59" name="cell:menulabel"/>
          <p:cNvSpPr txBox="1"/>
          <p:nvPr/>
        </p:nvSpPr>
        <p:spPr>
          <a:xfrm>
            <a:off x="1344168" y="5307177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Recap card</a:t>
            </a:r>
          </a:p>
        </p:txBody>
      </p:sp>
      <p:sp>
        <p:nvSpPr>
          <p:cNvPr id="60" name="cell:menusub"/>
          <p:cNvSpPr txBox="1"/>
          <p:nvPr/>
        </p:nvSpPr>
        <p:spPr>
          <a:xfrm>
            <a:off x="7134682" y="5307177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whole topic on one screen</a:t>
            </a:r>
          </a:p>
        </p:txBody>
      </p:sp>
      <p:cxnSp>
        <p:nvCxnSpPr>
          <p:cNvPr id="61" name="vis:menuarrow"/>
          <p:cNvCxnSpPr/>
          <p:nvPr/>
        </p:nvCxnSpPr>
        <p:spPr>
          <a:xfrm>
            <a:off x="11213287" y="54205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nav:menurow">
            <a:hlinkClick action="ppaction://hlinksldjump" r:id="rId11"/>
          </p:cNvPr>
          <p:cNvSpPr/>
          <p:nvPr/>
        </p:nvSpPr>
        <p:spPr>
          <a:xfrm>
            <a:off x="502920" y="5680252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vis:menubar"/>
          <p:cNvSpPr/>
          <p:nvPr/>
        </p:nvSpPr>
        <p:spPr>
          <a:xfrm>
            <a:off x="502920" y="5680252"/>
            <a:ext cx="68580" cy="336499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vis:menunum"/>
          <p:cNvSpPr txBox="1"/>
          <p:nvPr/>
        </p:nvSpPr>
        <p:spPr>
          <a:xfrm>
            <a:off x="813816" y="5735116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1220"/>
                </a:solidFill>
                <a:latin typeface="Segoe UI Semibold"/>
              </a:rPr>
              <a:t>10</a:t>
            </a:r>
          </a:p>
        </p:txBody>
      </p:sp>
      <p:sp>
        <p:nvSpPr>
          <p:cNvPr id="65" name="cell:menulabel"/>
          <p:cNvSpPr txBox="1"/>
          <p:nvPr/>
        </p:nvSpPr>
        <p:spPr>
          <a:xfrm>
            <a:off x="1344168" y="5735116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Your toolkit</a:t>
            </a:r>
          </a:p>
        </p:txBody>
      </p:sp>
      <p:sp>
        <p:nvSpPr>
          <p:cNvPr id="66" name="cell:menusub"/>
          <p:cNvSpPr txBox="1"/>
          <p:nvPr/>
        </p:nvSpPr>
        <p:spPr>
          <a:xfrm>
            <a:off x="7134682" y="5735116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Templates, links, what to do next</a:t>
            </a:r>
          </a:p>
        </p:txBody>
      </p:sp>
      <p:cxnSp>
        <p:nvCxnSpPr>
          <p:cNvPr id="67" name="vis:menuarrow"/>
          <p:cNvCxnSpPr/>
          <p:nvPr/>
        </p:nvCxnSpPr>
        <p:spPr>
          <a:xfrm>
            <a:off x="11213287" y="5848502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APPROVED AND UNAPPROVED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Approval is more than being logged in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The same model can be safe or unsafe depending on the account you signed in with — but the account alone does not make a use approved. The tool, the configuration and what you are using it for all have to be approved too.</a:t>
            </a:r>
          </a:p>
        </p:txBody>
      </p:sp>
      <p:sp>
        <p:nvSpPr>
          <p:cNvPr id="16" name="vis:panel"/>
          <p:cNvSpPr/>
          <p:nvPr/>
        </p:nvSpPr>
        <p:spPr>
          <a:xfrm>
            <a:off x="502920" y="2980944"/>
            <a:ext cx="5437479" cy="256032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anelspine"/>
          <p:cNvSpPr/>
          <p:nvPr/>
        </p:nvSpPr>
        <p:spPr>
          <a:xfrm>
            <a:off x="502920" y="2980944"/>
            <a:ext cx="68580" cy="25603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"/>
          <p:cNvSpPr/>
          <p:nvPr/>
        </p:nvSpPr>
        <p:spPr>
          <a:xfrm>
            <a:off x="777240" y="3218687"/>
            <a:ext cx="161505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chiptext"/>
          <p:cNvSpPr txBox="1"/>
          <p:nvPr/>
        </p:nvSpPr>
        <p:spPr>
          <a:xfrm>
            <a:off x="932688" y="3246119"/>
            <a:ext cx="1304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UNAPPROVED</a:t>
            </a:r>
          </a:p>
        </p:txBody>
      </p:sp>
      <p:sp>
        <p:nvSpPr>
          <p:cNvPr id="20" name="vis:paneltitle"/>
          <p:cNvSpPr txBox="1"/>
          <p:nvPr/>
        </p:nvSpPr>
        <p:spPr>
          <a:xfrm>
            <a:off x="777240" y="3639311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Personal login, free tier</a:t>
            </a:r>
          </a:p>
        </p:txBody>
      </p:sp>
      <p:cxnSp>
        <p:nvCxnSpPr>
          <p:cNvPr id="21" name="vis:icon"/>
          <p:cNvCxnSpPr/>
          <p:nvPr/>
        </p:nvCxnSpPr>
        <p:spPr>
          <a:xfrm>
            <a:off x="819302" y="4353458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is:icon"/>
          <p:cNvCxnSpPr/>
          <p:nvPr/>
        </p:nvCxnSpPr>
        <p:spPr>
          <a:xfrm flipH="1">
            <a:off x="819302" y="4353458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vis:panelitem"/>
          <p:cNvSpPr txBox="1"/>
          <p:nvPr/>
        </p:nvSpPr>
        <p:spPr>
          <a:xfrm>
            <a:off x="1078992" y="4279392"/>
            <a:ext cx="4587087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A3547"/>
                </a:solidFill>
                <a:latin typeface="Segoe UI"/>
              </a:rPr>
              <a:t>No agreement anybody here has read</a:t>
            </a:r>
          </a:p>
        </p:txBody>
      </p:sp>
      <p:cxnSp>
        <p:nvCxnSpPr>
          <p:cNvPr id="24" name="vis:icon"/>
          <p:cNvCxnSpPr/>
          <p:nvPr/>
        </p:nvCxnSpPr>
        <p:spPr>
          <a:xfrm>
            <a:off x="819302" y="4614062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 flipH="1">
            <a:off x="819302" y="4614062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panelitem"/>
          <p:cNvSpPr txBox="1"/>
          <p:nvPr/>
        </p:nvSpPr>
        <p:spPr>
          <a:xfrm>
            <a:off x="1078992" y="4539996"/>
            <a:ext cx="4587087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A3547"/>
                </a:solidFill>
                <a:latin typeface="Segoe UI"/>
              </a:rPr>
              <a:t>Chats often used to improve the service</a:t>
            </a:r>
          </a:p>
        </p:txBody>
      </p:sp>
      <p:cxnSp>
        <p:nvCxnSpPr>
          <p:cNvPr id="27" name="vis:icon"/>
          <p:cNvCxnSpPr/>
          <p:nvPr/>
        </p:nvCxnSpPr>
        <p:spPr>
          <a:xfrm>
            <a:off x="819302" y="4874666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H="1">
            <a:off x="819302" y="4874666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panelitem"/>
          <p:cNvSpPr txBox="1"/>
          <p:nvPr/>
        </p:nvSpPr>
        <p:spPr>
          <a:xfrm>
            <a:off x="1078992" y="4800600"/>
            <a:ext cx="4587087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A3547"/>
                </a:solidFill>
                <a:latin typeface="Segoe UI"/>
              </a:rPr>
              <a:t>No record of what was shared</a:t>
            </a:r>
          </a:p>
        </p:txBody>
      </p:sp>
      <p:cxnSp>
        <p:nvCxnSpPr>
          <p:cNvPr id="30" name="vis:icon"/>
          <p:cNvCxnSpPr/>
          <p:nvPr/>
        </p:nvCxnSpPr>
        <p:spPr>
          <a:xfrm>
            <a:off x="819302" y="5135270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is:icon"/>
          <p:cNvCxnSpPr/>
          <p:nvPr/>
        </p:nvCxnSpPr>
        <p:spPr>
          <a:xfrm flipH="1">
            <a:off x="819302" y="5135270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vis:panelitem"/>
          <p:cNvSpPr txBox="1"/>
          <p:nvPr/>
        </p:nvSpPr>
        <p:spPr>
          <a:xfrm>
            <a:off x="1078992" y="5061204"/>
            <a:ext cx="4587087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A3547"/>
                </a:solidFill>
                <a:latin typeface="Segoe UI"/>
              </a:rPr>
              <a:t>Nothing can be deleted on our behalf</a:t>
            </a:r>
          </a:p>
        </p:txBody>
      </p:sp>
      <p:sp>
        <p:nvSpPr>
          <p:cNvPr id="33" name="vis:panel"/>
          <p:cNvSpPr/>
          <p:nvPr/>
        </p:nvSpPr>
        <p:spPr>
          <a:xfrm>
            <a:off x="6251295" y="2980944"/>
            <a:ext cx="5437479" cy="256032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panelspine"/>
          <p:cNvSpPr/>
          <p:nvPr/>
        </p:nvSpPr>
        <p:spPr>
          <a:xfrm>
            <a:off x="6251295" y="2980944"/>
            <a:ext cx="68580" cy="2560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chip"/>
          <p:cNvSpPr/>
          <p:nvPr/>
        </p:nvSpPr>
        <p:spPr>
          <a:xfrm>
            <a:off x="6525615" y="3218687"/>
            <a:ext cx="1366774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chiptext"/>
          <p:cNvSpPr txBox="1"/>
          <p:nvPr/>
        </p:nvSpPr>
        <p:spPr>
          <a:xfrm>
            <a:off x="6681063" y="3246119"/>
            <a:ext cx="105587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APPROVED</a:t>
            </a:r>
          </a:p>
        </p:txBody>
      </p:sp>
      <p:sp>
        <p:nvSpPr>
          <p:cNvPr id="37" name="vis:paneltitle"/>
          <p:cNvSpPr txBox="1"/>
          <p:nvPr/>
        </p:nvSpPr>
        <p:spPr>
          <a:xfrm>
            <a:off x="6525615" y="3639311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[COMPANY INPUT NEEDED: approved AI tool]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6560362" y="4415637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6607911" y="4360773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panelitem"/>
          <p:cNvSpPr txBox="1"/>
          <p:nvPr/>
        </p:nvSpPr>
        <p:spPr>
          <a:xfrm>
            <a:off x="6827367" y="4279392"/>
            <a:ext cx="4587087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A3547"/>
                </a:solidFill>
                <a:latin typeface="Segoe UI"/>
              </a:rPr>
              <a:t>Covered by terms the company agreed</a:t>
            </a:r>
          </a:p>
        </p:txBody>
      </p:sp>
      <p:cxnSp>
        <p:nvCxnSpPr>
          <p:cNvPr id="41" name="vis:icon"/>
          <p:cNvCxnSpPr/>
          <p:nvPr/>
        </p:nvCxnSpPr>
        <p:spPr>
          <a:xfrm>
            <a:off x="6560362" y="4676241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vis:icon"/>
          <p:cNvCxnSpPr/>
          <p:nvPr/>
        </p:nvCxnSpPr>
        <p:spPr>
          <a:xfrm flipV="1">
            <a:off x="6607911" y="4621377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vis:panelitem"/>
          <p:cNvSpPr txBox="1"/>
          <p:nvPr/>
        </p:nvSpPr>
        <p:spPr>
          <a:xfrm>
            <a:off x="6827367" y="4539996"/>
            <a:ext cx="4587087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A3547"/>
                </a:solidFill>
                <a:latin typeface="Segoe UI"/>
              </a:rPr>
              <a:t>Business tiers normally exclude training on your data</a:t>
            </a:r>
          </a:p>
        </p:txBody>
      </p:sp>
      <p:cxnSp>
        <p:nvCxnSpPr>
          <p:cNvPr id="44" name="vis:icon"/>
          <p:cNvCxnSpPr/>
          <p:nvPr/>
        </p:nvCxnSpPr>
        <p:spPr>
          <a:xfrm>
            <a:off x="6560362" y="4936845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vis:icon"/>
          <p:cNvCxnSpPr/>
          <p:nvPr/>
        </p:nvCxnSpPr>
        <p:spPr>
          <a:xfrm flipV="1">
            <a:off x="6607911" y="4881981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vis:panelitem"/>
          <p:cNvSpPr txBox="1"/>
          <p:nvPr/>
        </p:nvSpPr>
        <p:spPr>
          <a:xfrm>
            <a:off x="6827367" y="4800600"/>
            <a:ext cx="4587087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A3547"/>
                </a:solidFill>
                <a:latin typeface="Segoe UI"/>
              </a:rPr>
              <a:t>Access is managed and can be withdrawn</a:t>
            </a:r>
          </a:p>
        </p:txBody>
      </p:sp>
      <p:cxnSp>
        <p:nvCxnSpPr>
          <p:cNvPr id="47" name="vis:icon"/>
          <p:cNvCxnSpPr/>
          <p:nvPr/>
        </p:nvCxnSpPr>
        <p:spPr>
          <a:xfrm>
            <a:off x="6560362" y="5197449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vis:icon"/>
          <p:cNvCxnSpPr/>
          <p:nvPr/>
        </p:nvCxnSpPr>
        <p:spPr>
          <a:xfrm flipV="1">
            <a:off x="6607911" y="5142585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vis:panelitem"/>
          <p:cNvSpPr txBox="1"/>
          <p:nvPr/>
        </p:nvSpPr>
        <p:spPr>
          <a:xfrm>
            <a:off x="6827367" y="5061204"/>
            <a:ext cx="4587087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A3547"/>
                </a:solidFill>
                <a:latin typeface="Segoe UI"/>
              </a:rPr>
              <a:t>Somebody can answer questions about it later</a:t>
            </a:r>
          </a:p>
        </p:txBody>
      </p:sp>
      <p:sp>
        <p:nvSpPr>
          <p:cNvPr id="50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51" name="vis:chip"/>
          <p:cNvSpPr/>
          <p:nvPr/>
        </p:nvSpPr>
        <p:spPr>
          <a:xfrm>
            <a:off x="2221991" y="5660136"/>
            <a:ext cx="2032789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chiptext"/>
          <p:cNvSpPr txBox="1"/>
          <p:nvPr/>
        </p:nvSpPr>
        <p:spPr>
          <a:xfrm>
            <a:off x="2377439" y="5687568"/>
            <a:ext cx="17218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APPROVED TOOL  ?</a:t>
            </a:r>
          </a:p>
        </p:txBody>
      </p:sp>
      <p:sp>
        <p:nvSpPr>
          <p:cNvPr id="53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2032789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APPROVED AND UNAPPROVED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Signs you are in the wrong place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01380" y="2973080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823965" y="2995665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You signed in with a personal email, not your work one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6504035" y="2973080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6526621" y="2995665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There was no single sign-on screen or company logo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801380" y="4609856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823965" y="4632441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site offered a free trial or asked for a card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504035" y="4609856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6526621" y="4632441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You found it through a search result or a social post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SETTINGS THAT MATTER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Two switches worth finding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55789" y="2190229"/>
            <a:ext cx="301269" cy="301269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00295" y="2234735"/>
            <a:ext cx="212257" cy="21225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Training on your data</a:t>
            </a:r>
          </a:p>
        </p:txBody>
      </p:sp>
      <p:sp>
        <p:nvSpPr>
          <p:cNvPr id="20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Consumer accounts often use chats to improve the service. Business tiers usually do not. Check which you are on.</a:t>
            </a:r>
          </a:p>
        </p:txBody>
      </p:sp>
      <p:sp>
        <p:nvSpPr>
          <p:cNvPr id="21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4775847" y="2190229"/>
            <a:ext cx="301269" cy="301269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 flipV="1">
            <a:off x="4926482" y="2251852"/>
            <a:ext cx="0" cy="89011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>
            <a:off x="4926482" y="2340863"/>
            <a:ext cx="75317" cy="27389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Chat history</a:t>
            </a:r>
          </a:p>
        </p:txBody>
      </p:sp>
      <p:sp>
        <p:nvSpPr>
          <p:cNvPr id="27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Turning history off usually turns training off too, and leaves less sitting there to leak.</a:t>
            </a:r>
          </a:p>
        </p:txBody>
      </p:sp>
      <p:sp>
        <p:nvSpPr>
          <p:cNvPr id="28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icon"/>
          <p:cNvSpPr/>
          <p:nvPr/>
        </p:nvSpPr>
        <p:spPr>
          <a:xfrm>
            <a:off x="8681494" y="2193652"/>
            <a:ext cx="130093" cy="130093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icon"/>
          <p:cNvSpPr/>
          <p:nvPr/>
        </p:nvSpPr>
        <p:spPr>
          <a:xfrm>
            <a:off x="8609600" y="2375099"/>
            <a:ext cx="273881" cy="119823"/>
          </a:xfrm>
          <a:custGeom>
            <a:avLst/>
            <a:gdLst/>
            <a:ahLst/>
            <a:cxnLst/>
            <a:rect l="l" t="t" r="r" b="b"/>
            <a:pathLst>
              <a:path w="273881" h="119823">
                <a:moveTo>
                  <a:pt x="0" y="119823"/>
                </a:moveTo>
                <a:lnTo>
                  <a:pt x="20541" y="0"/>
                </a:lnTo>
                <a:lnTo>
                  <a:pt x="253340" y="0"/>
                </a:lnTo>
                <a:lnTo>
                  <a:pt x="273881" y="119823"/>
                </a:lnTo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Shared workspaces</a:t>
            </a:r>
          </a:p>
        </p:txBody>
      </p:sp>
      <p:sp>
        <p:nvSpPr>
          <p:cNvPr id="33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Check whether colleagues can see your conversations. Sometimes they can.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SETTINGS THAT MATTER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Settings are not a substitute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Switching training off reduces the risk. It does not make confidential data safe to paste.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The text still travels, is still stored, and is still outside our control.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0138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823965" y="3608313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Settings reduce reuse.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460315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462573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They do not stop transmission.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40492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842750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paste rules still apply.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AI YOU DID NOT NOTICE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It is already in your tools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Most people using AI at work today did not decide to. It arrived inside software they already had.</a:t>
            </a:r>
          </a:p>
        </p:txBody>
      </p:sp>
      <p:sp>
        <p:nvSpPr>
          <p:cNvPr id="16" name="vis:flowcard"/>
          <p:cNvSpPr/>
          <p:nvPr/>
        </p:nvSpPr>
        <p:spPr>
          <a:xfrm>
            <a:off x="502920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flownum"/>
          <p:cNvSpPr/>
          <p:nvPr/>
        </p:nvSpPr>
        <p:spPr>
          <a:xfrm>
            <a:off x="685800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flownumtext"/>
          <p:cNvSpPr txBox="1"/>
          <p:nvPr/>
        </p:nvSpPr>
        <p:spPr>
          <a:xfrm>
            <a:off x="685800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vis:flowtitle"/>
          <p:cNvSpPr txBox="1"/>
          <p:nvPr/>
        </p:nvSpPr>
        <p:spPr>
          <a:xfrm>
            <a:off x="704088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Your email suggests replies</a:t>
            </a:r>
          </a:p>
        </p:txBody>
      </p:sp>
      <p:sp>
        <p:nvSpPr>
          <p:cNvPr id="20" name="vis:flowsub"/>
          <p:cNvSpPr txBox="1"/>
          <p:nvPr/>
        </p:nvSpPr>
        <p:spPr>
          <a:xfrm>
            <a:off x="704088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That is a model reading your message.</a:t>
            </a:r>
          </a:p>
        </p:txBody>
      </p:sp>
      <p:cxnSp>
        <p:nvCxnSpPr>
          <p:cNvPr id="21" name="vis:flowarrow"/>
          <p:cNvCxnSpPr/>
          <p:nvPr/>
        </p:nvCxnSpPr>
        <p:spPr>
          <a:xfrm>
            <a:off x="3093643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flowcard"/>
          <p:cNvSpPr/>
          <p:nvPr/>
        </p:nvSpPr>
        <p:spPr>
          <a:xfrm>
            <a:off x="3395395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flownum"/>
          <p:cNvSpPr/>
          <p:nvPr/>
        </p:nvSpPr>
        <p:spPr>
          <a:xfrm>
            <a:off x="3578275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flownumtext"/>
          <p:cNvSpPr txBox="1"/>
          <p:nvPr/>
        </p:nvSpPr>
        <p:spPr>
          <a:xfrm>
            <a:off x="3578275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vis:flowtitle"/>
          <p:cNvSpPr txBox="1"/>
          <p:nvPr/>
        </p:nvSpPr>
        <p:spPr>
          <a:xfrm>
            <a:off x="3596563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Your notes app summarises</a:t>
            </a:r>
          </a:p>
        </p:txBody>
      </p:sp>
      <p:sp>
        <p:nvSpPr>
          <p:cNvPr id="26" name="vis:flowsub"/>
          <p:cNvSpPr txBox="1"/>
          <p:nvPr/>
        </p:nvSpPr>
        <p:spPr>
          <a:xfrm>
            <a:off x="3596563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Meeting notes processed somewhere else.</a:t>
            </a:r>
          </a:p>
        </p:txBody>
      </p:sp>
      <p:cxnSp>
        <p:nvCxnSpPr>
          <p:cNvPr id="27" name="vis:flowarrow"/>
          <p:cNvCxnSpPr/>
          <p:nvPr/>
        </p:nvCxnSpPr>
        <p:spPr>
          <a:xfrm>
            <a:off x="5986119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flowcard"/>
          <p:cNvSpPr/>
          <p:nvPr/>
        </p:nvSpPr>
        <p:spPr>
          <a:xfrm>
            <a:off x="6287871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flownum"/>
          <p:cNvSpPr/>
          <p:nvPr/>
        </p:nvSpPr>
        <p:spPr>
          <a:xfrm>
            <a:off x="6470751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flownumtext"/>
          <p:cNvSpPr txBox="1"/>
          <p:nvPr/>
        </p:nvSpPr>
        <p:spPr>
          <a:xfrm>
            <a:off x="6470751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1" name="vis:flowtitle"/>
          <p:cNvSpPr txBox="1"/>
          <p:nvPr/>
        </p:nvSpPr>
        <p:spPr>
          <a:xfrm>
            <a:off x="6489039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Your browser offers to rewrite</a:t>
            </a:r>
          </a:p>
        </p:txBody>
      </p:sp>
      <p:sp>
        <p:nvSpPr>
          <p:cNvPr id="32" name="vis:flowsub"/>
          <p:cNvSpPr txBox="1"/>
          <p:nvPr/>
        </p:nvSpPr>
        <p:spPr>
          <a:xfrm>
            <a:off x="6489039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Selected text sent off for a suggestion.</a:t>
            </a:r>
          </a:p>
        </p:txBody>
      </p:sp>
      <p:cxnSp>
        <p:nvCxnSpPr>
          <p:cNvPr id="33" name="vis:flowarrow"/>
          <p:cNvCxnSpPr/>
          <p:nvPr/>
        </p:nvCxnSpPr>
        <p:spPr>
          <a:xfrm>
            <a:off x="8878595" y="4169663"/>
            <a:ext cx="219456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vis:flowcard"/>
          <p:cNvSpPr/>
          <p:nvPr/>
        </p:nvSpPr>
        <p:spPr>
          <a:xfrm>
            <a:off x="9180347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flownum"/>
          <p:cNvSpPr/>
          <p:nvPr/>
        </p:nvSpPr>
        <p:spPr>
          <a:xfrm>
            <a:off x="9363227" y="3026663"/>
            <a:ext cx="384048" cy="384048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flownumtext"/>
          <p:cNvSpPr txBox="1"/>
          <p:nvPr/>
        </p:nvSpPr>
        <p:spPr>
          <a:xfrm>
            <a:off x="9363227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7" name="vis:flowtitle"/>
          <p:cNvSpPr txBox="1"/>
          <p:nvPr/>
        </p:nvSpPr>
        <p:spPr>
          <a:xfrm>
            <a:off x="9381515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A plugin joins your call</a:t>
            </a:r>
          </a:p>
        </p:txBody>
      </p:sp>
      <p:sp>
        <p:nvSpPr>
          <p:cNvPr id="38" name="vis:flowsub"/>
          <p:cNvSpPr txBox="1"/>
          <p:nvPr/>
        </p:nvSpPr>
        <p:spPr>
          <a:xfrm>
            <a:off x="9381515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Recording and transcribing, often unnoticed.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AI YOU DID NOT NOTICE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uninvited meeting bot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203911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210769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 note-taking bot joins the call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Somebody's personal tool is now recording a meeting nobody consented to.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834639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834639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315467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3223260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926079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 browser extension rewrites your email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980944"/>
            <a:ext cx="0" cy="658367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926079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text was sent to a service the company has never assessed.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950208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950208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427024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433882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4041648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 free PDF summariser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4096512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4041648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uploaded a contract to a website to save ten minutes of reading.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5065776"/>
            <a:ext cx="11185855" cy="950976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5065776"/>
            <a:ext cx="68580" cy="9509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5385816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5454396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5157216"/>
            <a:ext cx="468280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 phone keyboard with AI suggestions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5212080"/>
            <a:ext cx="0" cy="658368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5157216"/>
            <a:ext cx="5296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Everything typed, including in work apps, may be processed elsewhere.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KEEPING A TRAIL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Answering the audit question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ard"/>
          <p:cNvSpPr/>
          <p:nvPr/>
        </p:nvSpPr>
        <p:spPr>
          <a:xfrm>
            <a:off x="502920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outspine"/>
          <p:cNvSpPr/>
          <p:nvPr/>
        </p:nvSpPr>
        <p:spPr>
          <a:xfrm>
            <a:off x="502920" y="1719072"/>
            <a:ext cx="68580" cy="32918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58952" y="1920240"/>
            <a:ext cx="146387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14400" y="1947672"/>
            <a:ext cx="11529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NO RECORD</a:t>
            </a:r>
          </a:p>
        </p:txBody>
      </p:sp>
      <p:sp>
        <p:nvSpPr>
          <p:cNvPr id="19" name="vis:outbody"/>
          <p:cNvSpPr txBox="1"/>
          <p:nvPr/>
        </p:nvSpPr>
        <p:spPr>
          <a:xfrm>
            <a:off x="758952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"Has any of our material been through an AI tool?"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"I do not think so, but I could not say for certain."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That answer is worse than a yes with a record behind it.</a:t>
            </a:r>
          </a:p>
        </p:txBody>
      </p:sp>
      <p:sp>
        <p:nvSpPr>
          <p:cNvPr id="20" name="vis:outcard"/>
          <p:cNvSpPr/>
          <p:nvPr/>
        </p:nvSpPr>
        <p:spPr>
          <a:xfrm>
            <a:off x="6278727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outspine"/>
          <p:cNvSpPr/>
          <p:nvPr/>
        </p:nvSpPr>
        <p:spPr>
          <a:xfrm>
            <a:off x="6278727" y="1719072"/>
            <a:ext cx="68580" cy="32918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"/>
          <p:cNvSpPr/>
          <p:nvPr/>
        </p:nvSpPr>
        <p:spPr>
          <a:xfrm>
            <a:off x="6534759" y="1920240"/>
            <a:ext cx="1966214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hiptext"/>
          <p:cNvSpPr txBox="1"/>
          <p:nvPr/>
        </p:nvSpPr>
        <p:spPr>
          <a:xfrm>
            <a:off x="6690207" y="1947672"/>
            <a:ext cx="16553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ONE LINE PER USE</a:t>
            </a:r>
          </a:p>
        </p:txBody>
      </p:sp>
      <p:sp>
        <p:nvSpPr>
          <p:cNvPr id="24" name="vis:outbody"/>
          <p:cNvSpPr txBox="1"/>
          <p:nvPr/>
        </p:nvSpPr>
        <p:spPr>
          <a:xfrm>
            <a:off x="6534759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"Drafting assistance only, on the approved tool, with no client drawings uploaded."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Backed by a note in the project file, written at the time.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question takes thirty seconds and ends there.</a:t>
            </a:r>
          </a:p>
        </p:txBody>
      </p:sp>
      <p:sp>
        <p:nvSpPr>
          <p:cNvPr id="25" name="cell:banote"/>
          <p:cNvSpPr txBox="1"/>
          <p:nvPr/>
        </p:nvSpPr>
        <p:spPr>
          <a:xfrm>
            <a:off x="502920" y="5193792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Nobody is asking you to justify using a tool. They are asking whether you know what happened to their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KEEPING A TRAIL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one-line note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romptcard"/>
          <p:cNvSpPr/>
          <p:nvPr/>
        </p:nvSpPr>
        <p:spPr>
          <a:xfrm>
            <a:off x="502920" y="1719072"/>
            <a:ext cx="6935230" cy="2146807"/>
          </a:xfrm>
          <a:prstGeom prst="roundRect">
            <a:avLst>
              <a:gd name="adj" fmla="val 425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romptbar"/>
          <p:cNvSpPr/>
          <p:nvPr/>
        </p:nvSpPr>
        <p:spPr>
          <a:xfrm>
            <a:off x="502920" y="1719072"/>
            <a:ext cx="6935230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739932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 flipH="1">
            <a:off x="775045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V="1">
            <a:off x="775045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opybtn"/>
          <p:cNvSpPr/>
          <p:nvPr/>
        </p:nvSpPr>
        <p:spPr>
          <a:xfrm>
            <a:off x="5577981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icon"/>
          <p:cNvSpPr/>
          <p:nvPr/>
        </p:nvSpPr>
        <p:spPr>
          <a:xfrm>
            <a:off x="5761592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5780246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>
            <a:off x="5780246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>
            <a:off x="5780246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copytext"/>
          <p:cNvSpPr txBox="1"/>
          <p:nvPr/>
        </p:nvSpPr>
        <p:spPr>
          <a:xfrm>
            <a:off x="5989461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26" name="vis:prompthdr"/>
          <p:cNvSpPr txBox="1"/>
          <p:nvPr/>
        </p:nvSpPr>
        <p:spPr>
          <a:xfrm>
            <a:off x="1051560" y="1828800"/>
            <a:ext cx="44166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note format</a:t>
            </a:r>
          </a:p>
        </p:txBody>
      </p:sp>
      <p:sp>
        <p:nvSpPr>
          <p:cNvPr id="27" name="card:prompt"/>
          <p:cNvSpPr txBox="1"/>
          <p:nvPr/>
        </p:nvSpPr>
        <p:spPr>
          <a:xfrm>
            <a:off x="777240" y="2267712"/>
            <a:ext cx="6386590" cy="924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AI use: [what for — drafting / summarising / formatting]. Tool: [approved tool name]. Data provided: [description, e.g. dates and quantities only, no client documents]. Output checked by: [your name]. Date: [date].</a:t>
            </a:r>
          </a:p>
        </p:txBody>
      </p:sp>
      <p:sp>
        <p:nvSpPr>
          <p:cNvPr id="28" name="vis:promptcap"/>
          <p:cNvSpPr txBox="1"/>
          <p:nvPr/>
        </p:nvSpPr>
        <p:spPr>
          <a:xfrm>
            <a:off x="777240" y="3393440"/>
            <a:ext cx="6386590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Five fields, twenty seconds, kept in the project file.</a:t>
            </a:r>
          </a:p>
        </p:txBody>
      </p:sp>
      <p:sp>
        <p:nvSpPr>
          <p:cNvPr id="29" name="seclabel"/>
          <p:cNvSpPr txBox="1"/>
          <p:nvPr/>
        </p:nvSpPr>
        <p:spPr>
          <a:xfrm>
            <a:off x="7803910" y="1773936"/>
            <a:ext cx="38848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WHY THIS WORKS</a:t>
            </a:r>
          </a:p>
        </p:txBody>
      </p:sp>
      <p:cxnSp>
        <p:nvCxnSpPr>
          <p:cNvPr id="30" name="vis:icon"/>
          <p:cNvCxnSpPr/>
          <p:nvPr/>
        </p:nvCxnSpPr>
        <p:spPr>
          <a:xfrm>
            <a:off x="7850361" y="2317455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is:icon"/>
          <p:cNvCxnSpPr/>
          <p:nvPr/>
        </p:nvCxnSpPr>
        <p:spPr>
          <a:xfrm flipV="1">
            <a:off x="7902665" y="2257104"/>
            <a:ext cx="96561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ell:why"/>
          <p:cNvSpPr txBox="1"/>
          <p:nvPr/>
        </p:nvSpPr>
        <p:spPr>
          <a:xfrm>
            <a:off x="8187958" y="2157984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"Data provided" is the field the auditor cares about.</a:t>
            </a:r>
          </a:p>
        </p:txBody>
      </p:sp>
      <p:cxnSp>
        <p:nvCxnSpPr>
          <p:cNvPr id="33" name="vis:icon"/>
          <p:cNvCxnSpPr/>
          <p:nvPr/>
        </p:nvCxnSpPr>
        <p:spPr>
          <a:xfrm>
            <a:off x="7850361" y="3250143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7902665" y="3189792"/>
            <a:ext cx="96561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why"/>
          <p:cNvSpPr txBox="1"/>
          <p:nvPr/>
        </p:nvSpPr>
        <p:spPr>
          <a:xfrm>
            <a:off x="8187958" y="3090672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"Checked by" makes clear a person owned the output.</a:t>
            </a:r>
          </a:p>
        </p:txBody>
      </p:sp>
      <p:cxnSp>
        <p:nvCxnSpPr>
          <p:cNvPr id="36" name="vis:icon"/>
          <p:cNvCxnSpPr/>
          <p:nvPr/>
        </p:nvCxnSpPr>
        <p:spPr>
          <a:xfrm>
            <a:off x="7850361" y="4182831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vis:icon"/>
          <p:cNvCxnSpPr/>
          <p:nvPr/>
        </p:nvCxnSpPr>
        <p:spPr>
          <a:xfrm flipV="1">
            <a:off x="7902665" y="4122480"/>
            <a:ext cx="96561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ell:why"/>
          <p:cNvSpPr txBox="1"/>
          <p:nvPr/>
        </p:nvSpPr>
        <p:spPr>
          <a:xfrm>
            <a:off x="8187958" y="4023360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Written at the time, it takes seconds. Reconstructed later, it is guesswork.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Do this now: check your setup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pnum"/>
          <p:cNvSpPr/>
          <p:nvPr/>
        </p:nvSpPr>
        <p:spPr>
          <a:xfrm>
            <a:off x="502920" y="2027681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epnumtext"/>
          <p:cNvSpPr txBox="1"/>
          <p:nvPr/>
        </p:nvSpPr>
        <p:spPr>
          <a:xfrm>
            <a:off x="502920" y="2105406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76656" y="2375154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ell:step"/>
          <p:cNvSpPr txBox="1"/>
          <p:nvPr/>
        </p:nvSpPr>
        <p:spPr>
          <a:xfrm>
            <a:off x="1051560" y="1719072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Open every AI tool you have used for work in the last month.</a:t>
            </a:r>
          </a:p>
        </p:txBody>
      </p:sp>
      <p:sp>
        <p:nvSpPr>
          <p:cNvPr id="19" name="vis:stepnum"/>
          <p:cNvSpPr/>
          <p:nvPr/>
        </p:nvSpPr>
        <p:spPr>
          <a:xfrm>
            <a:off x="502920" y="3138677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stepnumtext"/>
          <p:cNvSpPr txBox="1"/>
          <p:nvPr/>
        </p:nvSpPr>
        <p:spPr>
          <a:xfrm>
            <a:off x="502920" y="3216401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cxnSp>
        <p:nvCxnSpPr>
          <p:cNvPr id="21" name="vis:line"/>
          <p:cNvCxnSpPr/>
          <p:nvPr/>
        </p:nvCxnSpPr>
        <p:spPr>
          <a:xfrm>
            <a:off x="676656" y="3486150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step"/>
          <p:cNvSpPr txBox="1"/>
          <p:nvPr/>
        </p:nvSpPr>
        <p:spPr>
          <a:xfrm>
            <a:off x="1051560" y="2830068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Check which account you are signed in with on each.</a:t>
            </a:r>
          </a:p>
        </p:txBody>
      </p:sp>
      <p:sp>
        <p:nvSpPr>
          <p:cNvPr id="23" name="vis:stepnum"/>
          <p:cNvSpPr/>
          <p:nvPr/>
        </p:nvSpPr>
        <p:spPr>
          <a:xfrm>
            <a:off x="502920" y="4249674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stepnumtext"/>
          <p:cNvSpPr txBox="1"/>
          <p:nvPr/>
        </p:nvSpPr>
        <p:spPr>
          <a:xfrm>
            <a:off x="502920" y="4327398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cxnSp>
        <p:nvCxnSpPr>
          <p:cNvPr id="25" name="vis:line"/>
          <p:cNvCxnSpPr/>
          <p:nvPr/>
        </p:nvCxnSpPr>
        <p:spPr>
          <a:xfrm>
            <a:off x="676656" y="4597146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step"/>
          <p:cNvSpPr txBox="1"/>
          <p:nvPr/>
        </p:nvSpPr>
        <p:spPr>
          <a:xfrm>
            <a:off x="1051560" y="3941064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Find the data and privacy settings and turn training off.</a:t>
            </a:r>
          </a:p>
        </p:txBody>
      </p:sp>
      <p:sp>
        <p:nvSpPr>
          <p:cNvPr id="27" name="vis:stepnum"/>
          <p:cNvSpPr/>
          <p:nvPr/>
        </p:nvSpPr>
        <p:spPr>
          <a:xfrm>
            <a:off x="502920" y="5360670"/>
            <a:ext cx="347472" cy="34747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stepnumtext"/>
          <p:cNvSpPr txBox="1"/>
          <p:nvPr/>
        </p:nvSpPr>
        <p:spPr>
          <a:xfrm>
            <a:off x="502920" y="5438394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cell:step"/>
          <p:cNvSpPr txBox="1"/>
          <p:nvPr/>
        </p:nvSpPr>
        <p:spPr>
          <a:xfrm>
            <a:off x="1051560" y="5052060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Remove any browser extension you cannot name the vendor of.</a:t>
            </a:r>
          </a:p>
        </p:txBody>
      </p:sp>
      <p:sp>
        <p:nvSpPr>
          <p:cNvPr id="30" name="vis:promptcard"/>
          <p:cNvSpPr/>
          <p:nvPr/>
        </p:nvSpPr>
        <p:spPr>
          <a:xfrm>
            <a:off x="6461607" y="1719072"/>
            <a:ext cx="5227167" cy="2377947"/>
          </a:xfrm>
          <a:prstGeom prst="roundRect">
            <a:avLst>
              <a:gd name="adj" fmla="val 384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promptbar"/>
          <p:cNvSpPr/>
          <p:nvPr/>
        </p:nvSpPr>
        <p:spPr>
          <a:xfrm>
            <a:off x="6461607" y="1719072"/>
            <a:ext cx="5227167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698620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 flipH="1">
            <a:off x="6733733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733733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copybtn"/>
          <p:cNvSpPr/>
          <p:nvPr/>
        </p:nvSpPr>
        <p:spPr>
          <a:xfrm>
            <a:off x="9828606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icon"/>
          <p:cNvSpPr/>
          <p:nvPr/>
        </p:nvSpPr>
        <p:spPr>
          <a:xfrm>
            <a:off x="10012217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10030871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>
            <a:off x="10030871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>
            <a:off x="10030871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copytext"/>
          <p:cNvSpPr txBox="1"/>
          <p:nvPr/>
        </p:nvSpPr>
        <p:spPr>
          <a:xfrm>
            <a:off x="10240086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41" name="vis:prompthdr"/>
          <p:cNvSpPr txBox="1"/>
          <p:nvPr/>
        </p:nvSpPr>
        <p:spPr>
          <a:xfrm>
            <a:off x="7010247" y="1828800"/>
            <a:ext cx="27086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42" name="card:prompt"/>
          <p:cNvSpPr txBox="1"/>
          <p:nvPr/>
        </p:nvSpPr>
        <p:spPr>
          <a:xfrm>
            <a:off x="6735927" y="2267712"/>
            <a:ext cx="4678527" cy="115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Explain, for someone with no technical background, what the difference is between a consumer AI account and a business one in terms of how data is handled. Six lines maximum. Do not recommend specific products.</a:t>
            </a:r>
          </a:p>
        </p:txBody>
      </p:sp>
      <p:sp>
        <p:nvSpPr>
          <p:cNvPr id="43" name="vis:promptcap"/>
          <p:cNvSpPr txBox="1"/>
          <p:nvPr/>
        </p:nvSpPr>
        <p:spPr>
          <a:xfrm>
            <a:off x="6735927" y="3624579"/>
            <a:ext cx="4678527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Useful background before you check your own settings.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Saying that AI helped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Never present AI output as a source or as research.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If asked, say plainly that you drafted it with AI assistance.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Do not claim a level of checking you did not do.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work is yours either way, because you sent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three rules that never change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nest"/>
          <p:cNvSpPr/>
          <p:nvPr/>
        </p:nvSpPr>
        <p:spPr>
          <a:xfrm>
            <a:off x="502920" y="2221991"/>
            <a:ext cx="6264078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nestlabel"/>
          <p:cNvSpPr txBox="1"/>
          <p:nvPr/>
        </p:nvSpPr>
        <p:spPr>
          <a:xfrm>
            <a:off x="722376" y="2368296"/>
            <a:ext cx="58251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Approved tool, work account</a:t>
            </a:r>
          </a:p>
        </p:txBody>
      </p:sp>
      <p:sp>
        <p:nvSpPr>
          <p:cNvPr id="17" name="vis:nestsub"/>
          <p:cNvSpPr txBox="1"/>
          <p:nvPr/>
        </p:nvSpPr>
        <p:spPr>
          <a:xfrm>
            <a:off x="722376" y="2679191"/>
            <a:ext cx="58251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time, including for quick questions.</a:t>
            </a:r>
          </a:p>
        </p:txBody>
      </p:sp>
      <p:sp>
        <p:nvSpPr>
          <p:cNvPr id="18" name="vis:nest"/>
          <p:cNvSpPr/>
          <p:nvPr/>
        </p:nvSpPr>
        <p:spPr>
          <a:xfrm>
            <a:off x="832104" y="3081527"/>
            <a:ext cx="5605710" cy="2157984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nestlabel"/>
          <p:cNvSpPr txBox="1"/>
          <p:nvPr/>
        </p:nvSpPr>
        <p:spPr>
          <a:xfrm>
            <a:off x="1051560" y="3227832"/>
            <a:ext cx="5166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Facts, never files</a:t>
            </a:r>
          </a:p>
        </p:txBody>
      </p:sp>
      <p:sp>
        <p:nvSpPr>
          <p:cNvPr id="20" name="vis:nestsub"/>
          <p:cNvSpPr txBox="1"/>
          <p:nvPr/>
        </p:nvSpPr>
        <p:spPr>
          <a:xfrm>
            <a:off x="1051560" y="3538727"/>
            <a:ext cx="51667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Describe the situation. Do not upload the document.</a:t>
            </a:r>
          </a:p>
        </p:txBody>
      </p:sp>
      <p:sp>
        <p:nvSpPr>
          <p:cNvPr id="21" name="vis:nest"/>
          <p:cNvSpPr/>
          <p:nvPr/>
        </p:nvSpPr>
        <p:spPr>
          <a:xfrm>
            <a:off x="1161288" y="3941063"/>
            <a:ext cx="4947342" cy="1024128"/>
          </a:xfrm>
          <a:prstGeom prst="roundRect">
            <a:avLst>
              <a:gd name="adj" fmla="val 8928"/>
            </a:avLst>
          </a:prstGeom>
          <a:solidFill>
            <a:srgbClr val="F3F6FB"/>
          </a:solidFill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nestlabel"/>
          <p:cNvSpPr txBox="1"/>
          <p:nvPr/>
        </p:nvSpPr>
        <p:spPr>
          <a:xfrm>
            <a:off x="1380744" y="4087368"/>
            <a:ext cx="45084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A1220"/>
                </a:solidFill>
                <a:latin typeface="Segoe UI Semibold"/>
              </a:rPr>
              <a:t>A person checks the output</a:t>
            </a:r>
          </a:p>
        </p:txBody>
      </p:sp>
      <p:sp>
        <p:nvSpPr>
          <p:cNvPr id="23" name="vis:nestsub"/>
          <p:cNvSpPr txBox="1"/>
          <p:nvPr/>
        </p:nvSpPr>
        <p:spPr>
          <a:xfrm>
            <a:off x="1380744" y="4398264"/>
            <a:ext cx="450843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And a person is accountable for it afterwards.</a:t>
            </a:r>
          </a:p>
        </p:txBody>
      </p:sp>
      <p:sp>
        <p:nvSpPr>
          <p:cNvPr id="24" name="body:nestnote"/>
          <p:cNvSpPr txBox="1"/>
          <p:nvPr/>
        </p:nvSpPr>
        <p:spPr>
          <a:xfrm>
            <a:off x="7438150" y="2368296"/>
            <a:ext cx="4250624" cy="2999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779"/>
                </a:solidFill>
                <a:latin typeface="Segoe UI"/>
              </a:rPr>
              <a:t>Settings, tools and policies will change. These three have not changed since the first of these tools arrived, and will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Five mistakes people really make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Using a personal account for a quick question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Quick questions carry the same data as slow ones, with none of the protections.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Installing a browser extension that rewrites text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Everything you select goes to a service nobody here has assessed.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Letting a note-taking bot into a client call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have recorded people who never agreed to be recorded.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Assuming settings make pasting safe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They reduce reuse. The data still leaves, and is still stored.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Keeping no record at all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"I do not know" is the worst possible answer to an audit question.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safe use rule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Approved tool, work account, facts not files, and a person who checked it.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Four conditions. If all four hold, you are almost always fine.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81527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60450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Approved tool and work account.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461704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4662220" y="3613525"/>
            <a:ext cx="83394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Facts described, files kept back.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418819" y="3665646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63991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named person checked the output.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Audit week, Tuesday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ccard"/>
          <p:cNvSpPr/>
          <p:nvPr/>
        </p:nvSpPr>
        <p:spPr>
          <a:xfrm>
            <a:off x="502920" y="1719072"/>
            <a:ext cx="11185855" cy="1097280"/>
          </a:xfrm>
          <a:prstGeom prst="roundRect">
            <a:avLst>
              <a:gd name="adj" fmla="val 8333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942929" y="2063252"/>
            <a:ext cx="180685" cy="180685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43076" y="2315260"/>
            <a:ext cx="380391" cy="166421"/>
          </a:xfrm>
          <a:custGeom>
            <a:avLst/>
            <a:gdLst/>
            <a:ahLst/>
            <a:cxnLst/>
            <a:rect l="l" t="t" r="r" b="b"/>
            <a:pathLst>
              <a:path w="380391" h="166421">
                <a:moveTo>
                  <a:pt x="0" y="166421"/>
                </a:moveTo>
                <a:lnTo>
                  <a:pt x="28530" y="0"/>
                </a:lnTo>
                <a:lnTo>
                  <a:pt x="351861" y="0"/>
                </a:lnTo>
                <a:lnTo>
                  <a:pt x="380391" y="166421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situation"/>
          <p:cNvSpPr txBox="1"/>
          <p:nvPr/>
        </p:nvSpPr>
        <p:spPr>
          <a:xfrm>
            <a:off x="1472184" y="1901952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A client auditor asks whether their technical drawings have been processed by any AI tool. You used an assistant during the project, but not on the drawings.</a:t>
            </a:r>
          </a:p>
        </p:txBody>
      </p:sp>
      <p:sp>
        <p:nvSpPr>
          <p:cNvPr id="19" name="quiz:choice">
            <a:hlinkClick action="ppaction://hlinksldjump" r:id="rId3"/>
          </p:cNvPr>
          <p:cNvSpPr/>
          <p:nvPr/>
        </p:nvSpPr>
        <p:spPr>
          <a:xfrm>
            <a:off x="502920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"/>
          <p:cNvSpPr/>
          <p:nvPr/>
        </p:nvSpPr>
        <p:spPr>
          <a:xfrm>
            <a:off x="758952" y="3364991"/>
            <a:ext cx="1296924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914400" y="3392423"/>
            <a:ext cx="9860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A</a:t>
            </a:r>
          </a:p>
        </p:txBody>
      </p:sp>
      <p:sp>
        <p:nvSpPr>
          <p:cNvPr id="22" name="cell:choice"/>
          <p:cNvSpPr txBox="1"/>
          <p:nvPr/>
        </p:nvSpPr>
        <p:spPr>
          <a:xfrm>
            <a:off x="758952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Say no — you are fairly sure the drawings were never uploaded.</a:t>
            </a:r>
          </a:p>
        </p:txBody>
      </p:sp>
      <p:cxnSp>
        <p:nvCxnSpPr>
          <p:cNvPr id="23" name="vis:choicearrow"/>
          <p:cNvCxnSpPr/>
          <p:nvPr/>
        </p:nvCxnSpPr>
        <p:spPr>
          <a:xfrm>
            <a:off x="758952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oicego"/>
          <p:cNvSpPr txBox="1"/>
          <p:nvPr/>
        </p:nvSpPr>
        <p:spPr>
          <a:xfrm>
            <a:off x="1161288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25" name="quiz:choice">
            <a:hlinkClick action="ppaction://hlinksldjump" r:id="rId4"/>
          </p:cNvPr>
          <p:cNvSpPr/>
          <p:nvPr/>
        </p:nvSpPr>
        <p:spPr>
          <a:xfrm>
            <a:off x="4310786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"/>
          <p:cNvSpPr/>
          <p:nvPr/>
        </p:nvSpPr>
        <p:spPr>
          <a:xfrm>
            <a:off x="4566818" y="3364991"/>
            <a:ext cx="1287399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4722266" y="3392423"/>
            <a:ext cx="976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B</a:t>
            </a:r>
          </a:p>
        </p:txBody>
      </p:sp>
      <p:sp>
        <p:nvSpPr>
          <p:cNvPr id="28" name="cell:choice"/>
          <p:cNvSpPr txBox="1"/>
          <p:nvPr/>
        </p:nvSpPr>
        <p:spPr>
          <a:xfrm>
            <a:off x="4566818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Say what you used it for, on which tool, and what you did not upload.</a:t>
            </a:r>
          </a:p>
        </p:txBody>
      </p:sp>
      <p:cxnSp>
        <p:nvCxnSpPr>
          <p:cNvPr id="29" name="vis:choicearrow"/>
          <p:cNvCxnSpPr/>
          <p:nvPr/>
        </p:nvCxnSpPr>
        <p:spPr>
          <a:xfrm>
            <a:off x="4566818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oicego"/>
          <p:cNvSpPr txBox="1"/>
          <p:nvPr/>
        </p:nvSpPr>
        <p:spPr>
          <a:xfrm>
            <a:off x="4969154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31" name="quiz:choice">
            <a:hlinkClick action="ppaction://hlinksldjump" r:id="rId5"/>
          </p:cNvPr>
          <p:cNvSpPr/>
          <p:nvPr/>
        </p:nvSpPr>
        <p:spPr>
          <a:xfrm>
            <a:off x="8118652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ip"/>
          <p:cNvSpPr/>
          <p:nvPr/>
        </p:nvSpPr>
        <p:spPr>
          <a:xfrm>
            <a:off x="8374684" y="3364991"/>
            <a:ext cx="1290574" cy="274320"/>
          </a:xfrm>
          <a:prstGeom prst="roundRect">
            <a:avLst>
              <a:gd name="adj" fmla="val 16666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chiptext"/>
          <p:cNvSpPr txBox="1"/>
          <p:nvPr/>
        </p:nvSpPr>
        <p:spPr>
          <a:xfrm>
            <a:off x="8530132" y="3392423"/>
            <a:ext cx="9796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C</a:t>
            </a:r>
          </a:p>
        </p:txBody>
      </p:sp>
      <p:sp>
        <p:nvSpPr>
          <p:cNvPr id="34" name="cell:choice"/>
          <p:cNvSpPr txBox="1"/>
          <p:nvPr/>
        </p:nvSpPr>
        <p:spPr>
          <a:xfrm>
            <a:off x="8374684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Say nobody on the project used AI at all.</a:t>
            </a:r>
          </a:p>
        </p:txBody>
      </p:sp>
      <p:cxnSp>
        <p:nvCxnSpPr>
          <p:cNvPr id="35" name="vis:choicearrow"/>
          <p:cNvCxnSpPr/>
          <p:nvPr/>
        </p:nvCxnSpPr>
        <p:spPr>
          <a:xfrm>
            <a:off x="8374684" y="5632704"/>
            <a:ext cx="292608" cy="0"/>
          </a:xfrm>
          <a:prstGeom prst="line">
            <a:avLst/>
          </a:prstGeom>
          <a:ln w="19050">
            <a:solidFill>
              <a:srgbClr val="7A12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choicego"/>
          <p:cNvSpPr txBox="1"/>
          <p:nvPr/>
        </p:nvSpPr>
        <p:spPr>
          <a:xfrm>
            <a:off x="8777020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See what happens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A confident answer you cannot support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are probably right and you cannot show it. If the auditor asks a second question — which tool, which account, who else on the team — the answer becomes "I would have to check", which reads as a no that was never verified.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 unsupported no is worse than a documented yes.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Thirty seconds, and the question closes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"Drafting assistance on the approved tool for progress reports. No client drawings were uploaded at any point." You show the one-line note in the project file. The auditor moves on.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Specific and documented beats reassuring and vague.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A statement you cannot possibly know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cannot speak for six people's browser extensions, phone keyboards and note-taking apps. If any of them did use something, your answer becomes a false statement to a client auditor, which is a far larger problem than the original question.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Answer for what you know. Never for what others did.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WATCH THIS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Thirteen minutes on the wider picture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nav:video">
            <a:hlinkClick r:id="rId2"/>
          </p:cNvPr>
          <p:cNvSpPr/>
          <p:nvPr/>
        </p:nvSpPr>
        <p:spPr>
          <a:xfrm>
            <a:off x="502920" y="1719072"/>
            <a:ext cx="6448882" cy="4297680"/>
          </a:xfrm>
          <a:prstGeom prst="roundRect">
            <a:avLst>
              <a:gd name="adj" fmla="val 21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lay"/>
          <p:cNvSpPr/>
          <p:nvPr/>
        </p:nvSpPr>
        <p:spPr>
          <a:xfrm>
            <a:off x="1161288" y="2432303"/>
            <a:ext cx="950976" cy="950976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laytri"/>
          <p:cNvSpPr/>
          <p:nvPr/>
        </p:nvSpPr>
        <p:spPr>
          <a:xfrm>
            <a:off x="1499616" y="2679191"/>
            <a:ext cx="384048" cy="457200"/>
          </a:xfrm>
          <a:custGeom>
            <a:avLst/>
            <a:gdLst/>
            <a:ahLst/>
            <a:cxnLst/>
            <a:rect l="l" t="t" r="r" b="b"/>
            <a:pathLst>
              <a:path w="384048" h="457200">
                <a:moveTo>
                  <a:pt x="0" y="0"/>
                </a:moveTo>
                <a:lnTo>
                  <a:pt x="384048" y="2286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videotitle"/>
          <p:cNvSpPr txBox="1"/>
          <p:nvPr/>
        </p:nvSpPr>
        <p:spPr>
          <a:xfrm>
            <a:off x="2514600" y="2231136"/>
            <a:ext cx="412630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How to Secure AI Business Models</a:t>
            </a:r>
          </a:p>
        </p:txBody>
      </p:sp>
      <p:sp>
        <p:nvSpPr>
          <p:cNvPr id="19" name="vis:chip"/>
          <p:cNvSpPr/>
          <p:nvPr/>
        </p:nvSpPr>
        <p:spPr>
          <a:xfrm>
            <a:off x="868680" y="3858768"/>
            <a:ext cx="195917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1024128" y="3895344"/>
            <a:ext cx="16482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IBM TECHNOLOGY</a:t>
            </a:r>
          </a:p>
        </p:txBody>
      </p:sp>
      <p:sp>
        <p:nvSpPr>
          <p:cNvPr id="21" name="vis:chip"/>
          <p:cNvSpPr/>
          <p:nvPr/>
        </p:nvSpPr>
        <p:spPr>
          <a:xfrm>
            <a:off x="2974163" y="3858768"/>
            <a:ext cx="1276604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text"/>
          <p:cNvSpPr txBox="1"/>
          <p:nvPr/>
        </p:nvSpPr>
        <p:spPr>
          <a:xfrm>
            <a:off x="3129611" y="3895344"/>
            <a:ext cx="9657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13:13 MIN</a:t>
            </a:r>
          </a:p>
        </p:txBody>
      </p:sp>
      <p:cxnSp>
        <p:nvCxnSpPr>
          <p:cNvPr id="23" name="vis:rule"/>
          <p:cNvCxnSpPr/>
          <p:nvPr/>
        </p:nvCxnSpPr>
        <p:spPr>
          <a:xfrm>
            <a:off x="868680" y="4425696"/>
            <a:ext cx="5717362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dy:videonote"/>
          <p:cNvSpPr txBox="1"/>
          <p:nvPr/>
        </p:nvSpPr>
        <p:spPr>
          <a:xfrm>
            <a:off x="868680" y="4645152"/>
            <a:ext cx="57173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48D9A"/>
                </a:solidFill>
                <a:latin typeface="Segoe UI"/>
              </a:rPr>
              <a:t>Aimed at people building AI systems. Watch for context, not for the daily rules — those are in this module.</a:t>
            </a:r>
          </a:p>
        </p:txBody>
      </p:sp>
      <p:sp>
        <p:nvSpPr>
          <p:cNvPr id="25" name="nav:videobtn">
            <a:hlinkClick r:id="rId2"/>
          </p:cNvPr>
          <p:cNvSpPr/>
          <p:nvPr/>
        </p:nvSpPr>
        <p:spPr>
          <a:xfrm>
            <a:off x="868680" y="52303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1069116" y="5370819"/>
            <a:ext cx="153619" cy="153619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1202253" y="5503956"/>
            <a:ext cx="61447" cy="61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av:videobtntext"/>
          <p:cNvSpPr txBox="1"/>
          <p:nvPr/>
        </p:nvSpPr>
        <p:spPr>
          <a:xfrm>
            <a:off x="1417320" y="535838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Click to open on YouTube</a:t>
            </a:r>
          </a:p>
        </p:txBody>
      </p:sp>
      <p:sp>
        <p:nvSpPr>
          <p:cNvPr id="29" name="vis:videohow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videospine"/>
          <p:cNvSpPr/>
          <p:nvPr/>
        </p:nvSpPr>
        <p:spPr>
          <a:xfrm>
            <a:off x="8082076" y="1719072"/>
            <a:ext cx="68580" cy="4297680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seclabel"/>
          <p:cNvSpPr txBox="1"/>
          <p:nvPr/>
        </p:nvSpPr>
        <p:spPr>
          <a:xfrm>
            <a:off x="8392972" y="2029967"/>
            <a:ext cx="2984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HOW TO USE IT</a:t>
            </a:r>
          </a:p>
        </p:txBody>
      </p:sp>
      <p:cxnSp>
        <p:nvCxnSpPr>
          <p:cNvPr id="32" name="vis:icon"/>
          <p:cNvCxnSpPr/>
          <p:nvPr/>
        </p:nvCxnSpPr>
        <p:spPr>
          <a:xfrm>
            <a:off x="8439424" y="2628351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91728" y="2568000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why"/>
          <p:cNvSpPr txBox="1"/>
          <p:nvPr/>
        </p:nvSpPr>
        <p:spPr>
          <a:xfrm>
            <a:off x="8777020" y="2468879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Optional. The four conditions above are what you need.</a:t>
            </a:r>
          </a:p>
        </p:txBody>
      </p:sp>
      <p:cxnSp>
        <p:nvCxnSpPr>
          <p:cNvPr id="35" name="vis:icon"/>
          <p:cNvCxnSpPr/>
          <p:nvPr/>
        </p:nvCxnSpPr>
        <p:spPr>
          <a:xfrm>
            <a:off x="8439424" y="3743919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 flipV="1">
            <a:off x="8491728" y="3683568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why"/>
          <p:cNvSpPr txBox="1"/>
          <p:nvPr/>
        </p:nvSpPr>
        <p:spPr>
          <a:xfrm>
            <a:off x="8777020" y="3584448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Useful if you want to understand what governance means.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8439424" y="4859487"/>
            <a:ext cx="52304" cy="52304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8491728" y="4799136"/>
            <a:ext cx="96560" cy="112655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why"/>
          <p:cNvSpPr txBox="1"/>
          <p:nvPr/>
        </p:nvSpPr>
        <p:spPr>
          <a:xfrm>
            <a:off x="8777020" y="4700016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opens in your browser. Turn the sound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1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makes a tool approved?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is a well-known brand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The company has explicitly approved this tool, this account and this use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has a privacy policy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You turned the training setting off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It is a well-known brand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Brand tells you nothing about the terms you are using. The same well-known tool is safe on a company account and unassessed on a personal free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 tool, the account and the use case — not just the brand.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The company has explicitly approved this tool, this account and this u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All three together give terms somebody has read, managed access, and a person who can answer questions afterwards. A work account on the company's general subscription does not by itself approve every tool or every use of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 tool, the account and the use case — not just the brand.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It has a privacy policy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Every service has one, and almost nobody at this company has read the one on a free consumer tier. A policy is not an agreement we negotiated.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 tool, the account and the use case — not just the brand.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You turned the training setting off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helps and it does not create an agreement, a record or any ability to delete data later. Settings are one layer, not the whole thing.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 tool, the account and the use case — not just the brand.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2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do the settings actually do?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Stop your data leaving your laptop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Reduce the chance your text is reused for training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Delete your conversations immediately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Make confidential data safe to paste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Stop your data leaving your laptop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Nothing about a privacy setting keeps text local. Whatever you type still travels to the service and is processed there.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Reduce reuse. They do not stop transmission.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Reduce the chance your text is reused for training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is a genuine and worthwhile reduction. It does not change the fact that the data was transmitted, stored and is outside our control.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Reduce reuse. They do not stop transmission.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Delete your conversations immediately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Some services retain content for a period regardless, for abuse monitoring. Turning history off is not the same as instant deletion.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Reduce reuse. They do not stop transmission.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Make confidential data safe to paste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They never do this. The paste rules are unchanged by any setting on any tier of any product.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Reduce reuse. They do not stop transmission.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3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does unnoticed AI usually arrive?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Through deliberate downloads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 new features in email, browsers and meeting apps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Only in tools with AI in the name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Through the IT department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Through deliberate downloads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Deliberate use is the visible, manageable kind. The risk is the features that appeared in software you were already using.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Inside tools you already had.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As new features in email, browsers and meeting apps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Reply suggestions, rewrite buttons, meeting summaries and note-taking bots. Most people using AI at work never chose to.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Inside tools you already had.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Only in tools with AI in the name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Almost none of them are named that way. The feature is usually a small button or an automatic suggestion with no label at all.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Inside tools you already had.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Through the IT department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IT-deployed tools are the assessed ones. Unnoticed AI arrives through vendor updates and extensions individuals install themselves.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Inside tools you already had.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4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keep a one-line note?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To prove you followed policy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So you can answer what data was provided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Because the law requires a log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To justify the cost of the tool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To prove you followed policy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Partly, and the real purpose is narrower. The question is almost always what happened to the client's material, not whether you behaved well.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"I do not know" is the worst audit answer.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So you can answer what data was provided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single field is what an auditor or client actually wants. Written at the time it takes twenty seconds; reconstructed a year later it is guesswork.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"I do not know" is the worst audit answer.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Because the law requires a log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Requirements vary and are changing. The practical reason stands on its own: you cannot remember, and you will be asked.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"I do not know" is the worst audit answer.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To justify the cost of the tool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 different conversation entirely. The note exists for the data question, not for the budget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"I do not know" is the worst audit answer.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QUIZ  ·  QUESTION 5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 bot joins your client call.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Let it run — somebody must have arranged it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whose it is and whether everyone agreed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Leave the call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Carry on and mention it afterwards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Let it run — somebody must have arranged it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Somebody arranged it for themselves. Everyone else on the call, including the client, is being recorded without having agreed to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Nobody consented. Stop and ask.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Ask whose it is and whether everyone agreed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Ten seconds, and it is a reasonable question anyone can ask. Recording people needs their knowledge and agreement, and a client call raises that sharply.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Nobody consented. Stop and ask.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See the recap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Leave the call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Disruptive and it does not stop the recording of everyone else. Asking the question is more useful and less dramatic.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Nobody consented. Stop and ask.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Carry on and mention it afterwards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By then the recording exists and the client has been captured. The moment to raise it is before anything substantive is said.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Nobody consented. Stop and ask.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RECAP CARD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Safe AI use on one screen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recaphint"/>
          <p:cNvSpPr txBox="1"/>
          <p:nvPr/>
        </p:nvSpPr>
        <p:spPr>
          <a:xfrm>
            <a:off x="502920" y="1591056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Screenshot this slide. It is the whole module in one screen.</a:t>
            </a:r>
          </a:p>
        </p:txBody>
      </p:sp>
      <p:sp>
        <p:nvSpPr>
          <p:cNvPr id="16" name="vis:recaptile"/>
          <p:cNvSpPr/>
          <p:nvPr/>
        </p:nvSpPr>
        <p:spPr>
          <a:xfrm>
            <a:off x="502920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ecapbar"/>
          <p:cNvSpPr/>
          <p:nvPr/>
        </p:nvSpPr>
        <p:spPr>
          <a:xfrm>
            <a:off x="502920" y="190195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ecaphead"/>
          <p:cNvSpPr txBox="1"/>
          <p:nvPr/>
        </p:nvSpPr>
        <p:spPr>
          <a:xfrm>
            <a:off x="740664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Approval is more than an account</a:t>
            </a:r>
          </a:p>
        </p:txBody>
      </p:sp>
      <p:sp>
        <p:nvSpPr>
          <p:cNvPr id="19" name="cell:recapsub"/>
          <p:cNvSpPr txBox="1"/>
          <p:nvPr/>
        </p:nvSpPr>
        <p:spPr>
          <a:xfrm>
            <a:off x="740664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tool, the configuration and the use case all need to be approved too, not just the account.</a:t>
            </a:r>
          </a:p>
        </p:txBody>
      </p:sp>
      <p:sp>
        <p:nvSpPr>
          <p:cNvPr id="20" name="vis:recaptile"/>
          <p:cNvSpPr/>
          <p:nvPr/>
        </p:nvSpPr>
        <p:spPr>
          <a:xfrm>
            <a:off x="6178143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recapbar"/>
          <p:cNvSpPr/>
          <p:nvPr/>
        </p:nvSpPr>
        <p:spPr>
          <a:xfrm>
            <a:off x="6178143" y="190195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cell:recaphead"/>
          <p:cNvSpPr txBox="1"/>
          <p:nvPr/>
        </p:nvSpPr>
        <p:spPr>
          <a:xfrm>
            <a:off x="6415887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Two settings worth finding</a:t>
            </a:r>
          </a:p>
        </p:txBody>
      </p:sp>
      <p:sp>
        <p:nvSpPr>
          <p:cNvPr id="23" name="cell:recapsub"/>
          <p:cNvSpPr txBox="1"/>
          <p:nvPr/>
        </p:nvSpPr>
        <p:spPr>
          <a:xfrm>
            <a:off x="6415887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Training on your data, and chat history. Turn both off where you can.</a:t>
            </a:r>
          </a:p>
        </p:txBody>
      </p:sp>
      <p:sp>
        <p:nvSpPr>
          <p:cNvPr id="24" name="vis:recaptile"/>
          <p:cNvSpPr/>
          <p:nvPr/>
        </p:nvSpPr>
        <p:spPr>
          <a:xfrm>
            <a:off x="502920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recapbar"/>
          <p:cNvSpPr/>
          <p:nvPr/>
        </p:nvSpPr>
        <p:spPr>
          <a:xfrm>
            <a:off x="502920" y="302971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recaphead"/>
          <p:cNvSpPr txBox="1"/>
          <p:nvPr/>
        </p:nvSpPr>
        <p:spPr>
          <a:xfrm>
            <a:off x="740664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Settings are not permission</a:t>
            </a:r>
          </a:p>
        </p:txBody>
      </p:sp>
      <p:sp>
        <p:nvSpPr>
          <p:cNvPr id="27" name="cell:recapsub"/>
          <p:cNvSpPr txBox="1"/>
          <p:nvPr/>
        </p:nvSpPr>
        <p:spPr>
          <a:xfrm>
            <a:off x="740664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They reduce reuse. The paste rules do not change.</a:t>
            </a:r>
          </a:p>
        </p:txBody>
      </p:sp>
      <p:sp>
        <p:nvSpPr>
          <p:cNvPr id="28" name="vis:recaptile"/>
          <p:cNvSpPr/>
          <p:nvPr/>
        </p:nvSpPr>
        <p:spPr>
          <a:xfrm>
            <a:off x="6178143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recapbar"/>
          <p:cNvSpPr/>
          <p:nvPr/>
        </p:nvSpPr>
        <p:spPr>
          <a:xfrm>
            <a:off x="6178143" y="302971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cell:recaphead"/>
          <p:cNvSpPr txBox="1"/>
          <p:nvPr/>
        </p:nvSpPr>
        <p:spPr>
          <a:xfrm>
            <a:off x="6415887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AI is already in your tools</a:t>
            </a:r>
          </a:p>
        </p:txBody>
      </p:sp>
      <p:sp>
        <p:nvSpPr>
          <p:cNvPr id="31" name="cell:recapsub"/>
          <p:cNvSpPr txBox="1"/>
          <p:nvPr/>
        </p:nvSpPr>
        <p:spPr>
          <a:xfrm>
            <a:off x="6415887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Reply suggestions, rewrite buttons, meeting bots. Mostly nobody chose them.</a:t>
            </a:r>
          </a:p>
        </p:txBody>
      </p:sp>
      <p:sp>
        <p:nvSpPr>
          <p:cNvPr id="32" name="vis:recaptile"/>
          <p:cNvSpPr/>
          <p:nvPr/>
        </p:nvSpPr>
        <p:spPr>
          <a:xfrm>
            <a:off x="502920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recapbar"/>
          <p:cNvSpPr/>
          <p:nvPr/>
        </p:nvSpPr>
        <p:spPr>
          <a:xfrm>
            <a:off x="502920" y="415747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recaphead"/>
          <p:cNvSpPr txBox="1"/>
          <p:nvPr/>
        </p:nvSpPr>
        <p:spPr>
          <a:xfrm>
            <a:off x="740664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Keep a one-line note</a:t>
            </a:r>
          </a:p>
        </p:txBody>
      </p:sp>
      <p:sp>
        <p:nvSpPr>
          <p:cNvPr id="35" name="cell:recapsub"/>
          <p:cNvSpPr txBox="1"/>
          <p:nvPr/>
        </p:nvSpPr>
        <p:spPr>
          <a:xfrm>
            <a:off x="740664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What for, which tool, what data, who checked it, when.</a:t>
            </a:r>
          </a:p>
        </p:txBody>
      </p:sp>
      <p:sp>
        <p:nvSpPr>
          <p:cNvPr id="36" name="vis:recaptile"/>
          <p:cNvSpPr/>
          <p:nvPr/>
        </p:nvSpPr>
        <p:spPr>
          <a:xfrm>
            <a:off x="6178143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ecapbar"/>
          <p:cNvSpPr/>
          <p:nvPr/>
        </p:nvSpPr>
        <p:spPr>
          <a:xfrm>
            <a:off x="6178143" y="4157472"/>
            <a:ext cx="54864" cy="963168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ecaphead"/>
          <p:cNvSpPr txBox="1"/>
          <p:nvPr/>
        </p:nvSpPr>
        <p:spPr>
          <a:xfrm>
            <a:off x="6415887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 person is always accountable</a:t>
            </a:r>
          </a:p>
        </p:txBody>
      </p:sp>
      <p:sp>
        <p:nvSpPr>
          <p:cNvPr id="39" name="cell:recapsub"/>
          <p:cNvSpPr txBox="1"/>
          <p:nvPr/>
        </p:nvSpPr>
        <p:spPr>
          <a:xfrm>
            <a:off x="6415887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sent it, so it is yours, whatever helped you write it.</a:t>
            </a:r>
          </a:p>
        </p:txBody>
      </p:sp>
      <p:sp>
        <p:nvSpPr>
          <p:cNvPr id="40" name="vis:recapline"/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1219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75995" y="5464820"/>
            <a:ext cx="241401" cy="241401"/>
          </a:xfrm>
          <a:prstGeom prst="ellipse">
            <a:avLst/>
          </a:prstGeom>
          <a:noFill/>
          <a:ln w="19050">
            <a:solidFill>
              <a:srgbClr val="B67D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932322" y="5738408"/>
            <a:ext cx="128747" cy="0"/>
          </a:xfrm>
          <a:prstGeom prst="line">
            <a:avLst/>
          </a:prstGeom>
          <a:ln w="19050">
            <a:solidFill>
              <a:srgbClr val="B67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>
            <a:off x="948415" y="5802782"/>
            <a:ext cx="96561" cy="0"/>
          </a:xfrm>
          <a:prstGeom prst="line">
            <a:avLst/>
          </a:prstGeom>
          <a:ln w="19050">
            <a:solidFill>
              <a:srgbClr val="B67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recapone"/>
          <p:cNvSpPr txBox="1"/>
          <p:nvPr/>
        </p:nvSpPr>
        <p:spPr>
          <a:xfrm>
            <a:off x="1417320" y="5394959"/>
            <a:ext cx="99605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Approved tool, work account, facts not files, and a named person who checked the output.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YOUR TOOLKIT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Take these three things with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5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seclabel"/>
          <p:cNvSpPr txBox="1"/>
          <p:nvPr/>
        </p:nvSpPr>
        <p:spPr>
          <a:xfrm>
            <a:off x="502920" y="1719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TEMPLATES YOU CAN REUSE TODAY</a:t>
            </a:r>
          </a:p>
        </p:txBody>
      </p:sp>
      <p:sp>
        <p:nvSpPr>
          <p:cNvPr id="16" name="vis:tk"/>
          <p:cNvSpPr/>
          <p:nvPr/>
        </p:nvSpPr>
        <p:spPr>
          <a:xfrm>
            <a:off x="502920" y="2121408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22376" y="224332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893200" y="2382199"/>
            <a:ext cx="170414" cy="234320"/>
          </a:xfrm>
          <a:prstGeom prst="roundRect">
            <a:avLst>
              <a:gd name="adj" fmla="val 26828"/>
            </a:avLst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930478" y="2456756"/>
            <a:ext cx="95859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>
            <a:off x="930478" y="2499359"/>
            <a:ext cx="95859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>
            <a:off x="930478" y="2541963"/>
            <a:ext cx="63906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tkname"/>
          <p:cNvSpPr txBox="1"/>
          <p:nvPr/>
        </p:nvSpPr>
        <p:spPr>
          <a:xfrm>
            <a:off x="1417320" y="2212848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one-line AI note</a:t>
            </a:r>
          </a:p>
        </p:txBody>
      </p:sp>
      <p:sp>
        <p:nvSpPr>
          <p:cNvPr id="23" name="cell:tksub"/>
          <p:cNvSpPr txBox="1"/>
          <p:nvPr/>
        </p:nvSpPr>
        <p:spPr>
          <a:xfrm>
            <a:off x="1417320" y="2517648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Purpose, tool, data provided, who checked, date.</a:t>
            </a:r>
          </a:p>
        </p:txBody>
      </p:sp>
      <p:sp>
        <p:nvSpPr>
          <p:cNvPr id="24" name="vis:tk"/>
          <p:cNvSpPr/>
          <p:nvPr/>
        </p:nvSpPr>
        <p:spPr>
          <a:xfrm>
            <a:off x="502920" y="3023616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badge"/>
          <p:cNvSpPr/>
          <p:nvPr/>
        </p:nvSpPr>
        <p:spPr>
          <a:xfrm>
            <a:off x="722376" y="314553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6" name="vis:icon"/>
          <p:cNvCxnSpPr/>
          <p:nvPr/>
        </p:nvCxnSpPr>
        <p:spPr>
          <a:xfrm>
            <a:off x="882549" y="3406893"/>
            <a:ext cx="69231" cy="69231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 flipV="1">
            <a:off x="951780" y="3327011"/>
            <a:ext cx="127811" cy="149113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tkname"/>
          <p:cNvSpPr txBox="1"/>
          <p:nvPr/>
        </p:nvSpPr>
        <p:spPr>
          <a:xfrm>
            <a:off x="1417320" y="3115056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four conditions</a:t>
            </a:r>
          </a:p>
        </p:txBody>
      </p:sp>
      <p:sp>
        <p:nvSpPr>
          <p:cNvPr id="29" name="cell:tksub"/>
          <p:cNvSpPr txBox="1"/>
          <p:nvPr/>
        </p:nvSpPr>
        <p:spPr>
          <a:xfrm>
            <a:off x="1417320" y="3419856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Approved tool, work account, facts only, human check.</a:t>
            </a:r>
          </a:p>
        </p:txBody>
      </p:sp>
      <p:sp>
        <p:nvSpPr>
          <p:cNvPr id="30" name="vis:tk"/>
          <p:cNvSpPr/>
          <p:nvPr/>
        </p:nvSpPr>
        <p:spPr>
          <a:xfrm>
            <a:off x="502920" y="3925823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badge"/>
          <p:cNvSpPr/>
          <p:nvPr/>
        </p:nvSpPr>
        <p:spPr>
          <a:xfrm>
            <a:off x="722376" y="4047743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55922" y="4207917"/>
            <a:ext cx="244971" cy="191717"/>
          </a:xfrm>
          <a:custGeom>
            <a:avLst/>
            <a:gdLst/>
            <a:ahLst/>
            <a:cxnLst/>
            <a:rect l="l" t="t" r="r" b="b"/>
            <a:pathLst>
              <a:path w="244971" h="191717">
                <a:moveTo>
                  <a:pt x="0" y="95858"/>
                </a:moveTo>
                <a:lnTo>
                  <a:pt x="122486" y="0"/>
                </a:lnTo>
                <a:lnTo>
                  <a:pt x="244971" y="95858"/>
                </a:lnTo>
                <a:lnTo>
                  <a:pt x="122486" y="191717"/>
                </a:lnTo>
                <a:close/>
              </a:path>
            </a:pathLst>
          </a:cu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vis:icon"/>
          <p:cNvSpPr/>
          <p:nvPr/>
        </p:nvSpPr>
        <p:spPr>
          <a:xfrm>
            <a:off x="941129" y="4266497"/>
            <a:ext cx="74556" cy="74556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tkname"/>
          <p:cNvSpPr txBox="1"/>
          <p:nvPr/>
        </p:nvSpPr>
        <p:spPr>
          <a:xfrm>
            <a:off x="1417320" y="4017263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settings sweep</a:t>
            </a:r>
          </a:p>
        </p:txBody>
      </p:sp>
      <p:sp>
        <p:nvSpPr>
          <p:cNvPr id="35" name="cell:tksub"/>
          <p:cNvSpPr txBox="1"/>
          <p:nvPr/>
        </p:nvSpPr>
        <p:spPr>
          <a:xfrm>
            <a:off x="1417320" y="4322063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Training off, history off, extensions you can name.</a:t>
            </a:r>
          </a:p>
        </p:txBody>
      </p:sp>
      <p:sp>
        <p:nvSpPr>
          <p:cNvPr id="36" name="seclabel"/>
          <p:cNvSpPr txBox="1"/>
          <p:nvPr/>
        </p:nvSpPr>
        <p:spPr>
          <a:xfrm>
            <a:off x="8082076" y="1719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LINKS THAT WORK</a:t>
            </a:r>
          </a:p>
        </p:txBody>
      </p:sp>
      <p:sp>
        <p:nvSpPr>
          <p:cNvPr id="37" name="nav:link">
            <a:hlinkClick r:id="rId2"/>
          </p:cNvPr>
          <p:cNvSpPr/>
          <p:nvPr/>
        </p:nvSpPr>
        <p:spPr>
          <a:xfrm>
            <a:off x="8082076" y="2121408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icon"/>
          <p:cNvSpPr/>
          <p:nvPr/>
        </p:nvSpPr>
        <p:spPr>
          <a:xfrm>
            <a:off x="8339937" y="2300630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9" name="vis:icon"/>
          <p:cNvCxnSpPr/>
          <p:nvPr/>
        </p:nvCxnSpPr>
        <p:spPr>
          <a:xfrm>
            <a:off x="8482584" y="2443276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linklabel"/>
          <p:cNvSpPr txBox="1"/>
          <p:nvPr/>
        </p:nvSpPr>
        <p:spPr>
          <a:xfrm>
            <a:off x="8703868" y="2203703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India's data protection framework</a:t>
            </a:r>
          </a:p>
        </p:txBody>
      </p:sp>
      <p:sp>
        <p:nvSpPr>
          <p:cNvPr id="41" name="cell:linkurl"/>
          <p:cNvSpPr txBox="1"/>
          <p:nvPr/>
        </p:nvSpPr>
        <p:spPr>
          <a:xfrm>
            <a:off x="8703868" y="2423160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www.meity.gov.in/data-protection-fra…</a:t>
            </a:r>
          </a:p>
        </p:txBody>
      </p:sp>
      <p:sp>
        <p:nvSpPr>
          <p:cNvPr id="42" name="nav:link">
            <a:hlinkClick r:id="rId3"/>
          </p:cNvPr>
          <p:cNvSpPr/>
          <p:nvPr/>
        </p:nvSpPr>
        <p:spPr>
          <a:xfrm>
            <a:off x="8082076" y="2798063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vis:icon"/>
          <p:cNvSpPr/>
          <p:nvPr/>
        </p:nvSpPr>
        <p:spPr>
          <a:xfrm>
            <a:off x="8339937" y="2977286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4" name="vis:icon"/>
          <p:cNvCxnSpPr/>
          <p:nvPr/>
        </p:nvCxnSpPr>
        <p:spPr>
          <a:xfrm>
            <a:off x="8482584" y="3119932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cell:linklabel"/>
          <p:cNvSpPr txBox="1"/>
          <p:nvPr/>
        </p:nvSpPr>
        <p:spPr>
          <a:xfrm>
            <a:off x="8703868" y="2880359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UAE data protection laws</a:t>
            </a:r>
          </a:p>
        </p:txBody>
      </p:sp>
      <p:sp>
        <p:nvSpPr>
          <p:cNvPr id="46" name="cell:linkurl"/>
          <p:cNvSpPr txBox="1"/>
          <p:nvPr/>
        </p:nvSpPr>
        <p:spPr>
          <a:xfrm>
            <a:off x="8703868" y="3099815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u.ae/en/about-the-uae/digital-uae/dat…</a:t>
            </a:r>
          </a:p>
        </p:txBody>
      </p:sp>
      <p:sp>
        <p:nvSpPr>
          <p:cNvPr id="47" name="nav:link">
            <a:hlinkClick r:id="rId4"/>
          </p:cNvPr>
          <p:cNvSpPr/>
          <p:nvPr/>
        </p:nvSpPr>
        <p:spPr>
          <a:xfrm>
            <a:off x="8082076" y="3474720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vis:icon"/>
          <p:cNvSpPr/>
          <p:nvPr/>
        </p:nvSpPr>
        <p:spPr>
          <a:xfrm>
            <a:off x="8339937" y="3653942"/>
            <a:ext cx="164592" cy="164592"/>
          </a:xfrm>
          <a:prstGeom prst="ellipse">
            <a:avLst/>
          </a:prstGeom>
          <a:noFill/>
          <a:ln w="1905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9" name="vis:icon"/>
          <p:cNvCxnSpPr/>
          <p:nvPr/>
        </p:nvCxnSpPr>
        <p:spPr>
          <a:xfrm>
            <a:off x="8482584" y="3796588"/>
            <a:ext cx="65836" cy="65837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cell:linklabel"/>
          <p:cNvSpPr txBox="1"/>
          <p:nvPr/>
        </p:nvSpPr>
        <p:spPr>
          <a:xfrm>
            <a:off x="8703868" y="3557015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Check if your email has leaked</a:t>
            </a:r>
          </a:p>
        </p:txBody>
      </p:sp>
      <p:sp>
        <p:nvSpPr>
          <p:cNvPr id="51" name="cell:linkurl"/>
          <p:cNvSpPr txBox="1"/>
          <p:nvPr/>
        </p:nvSpPr>
        <p:spPr>
          <a:xfrm>
            <a:off x="8703868" y="3776472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"/>
              </a:rPr>
              <a:t>haveibeenpwned.com</a:t>
            </a:r>
          </a:p>
        </p:txBody>
      </p:sp>
      <p:sp>
        <p:nvSpPr>
          <p:cNvPr id="52" name="vis:next"/>
          <p:cNvSpPr/>
          <p:nvPr/>
        </p:nvSpPr>
        <p:spPr>
          <a:xfrm>
            <a:off x="8082076" y="4297680"/>
            <a:ext cx="3606698" cy="1719072"/>
          </a:xfrm>
          <a:prstGeom prst="roundRect">
            <a:avLst>
              <a:gd name="adj" fmla="val 425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seclabel"/>
          <p:cNvSpPr txBox="1"/>
          <p:nvPr/>
        </p:nvSpPr>
        <p:spPr>
          <a:xfrm>
            <a:off x="8338108" y="4480560"/>
            <a:ext cx="30946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B67D84"/>
                </a:solidFill>
                <a:latin typeface="Segoe UI Semibold"/>
              </a:rPr>
              <a:t>DO THIS NEXT</a:t>
            </a:r>
          </a:p>
        </p:txBody>
      </p:sp>
      <p:sp>
        <p:nvSpPr>
          <p:cNvPr id="54" name="cell:next"/>
          <p:cNvSpPr txBox="1"/>
          <p:nvPr/>
        </p:nvSpPr>
        <p:spPr>
          <a:xfrm>
            <a:off x="8338108" y="4809744"/>
            <a:ext cx="3094634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Segoe UI"/>
              </a:rPr>
              <a:t>Companion module: SEC-07, What Never to Paste Into AI. The five red lines and the two-second test, in detail.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A1220"/>
                </a:solidFill>
                <a:latin typeface="Segoe UI Semibold"/>
              </a:rPr>
              <a:t>GLOSSARY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Words people use around AI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SEC-06  ·  Safe Use of AI at Work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7A1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7A12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122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gloss"/>
          <p:cNvSpPr/>
          <p:nvPr/>
        </p:nvSpPr>
        <p:spPr>
          <a:xfrm>
            <a:off x="502920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glossbar"/>
          <p:cNvSpPr/>
          <p:nvPr/>
        </p:nvSpPr>
        <p:spPr>
          <a:xfrm>
            <a:off x="502920" y="1719072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cell:glossterm"/>
          <p:cNvSpPr txBox="1"/>
          <p:nvPr/>
        </p:nvSpPr>
        <p:spPr>
          <a:xfrm>
            <a:off x="740664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Approved tool</a:t>
            </a:r>
          </a:p>
        </p:txBody>
      </p:sp>
      <p:sp>
        <p:nvSpPr>
          <p:cNvPr id="18" name="cell:glossdef"/>
          <p:cNvSpPr txBox="1"/>
          <p:nvPr/>
        </p:nvSpPr>
        <p:spPr>
          <a:xfrm>
            <a:off x="740664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tool, account and use the company has actually approved — not just any work login.</a:t>
            </a:r>
          </a:p>
        </p:txBody>
      </p:sp>
      <p:sp>
        <p:nvSpPr>
          <p:cNvPr id="19" name="vis:gloss"/>
          <p:cNvSpPr/>
          <p:nvPr/>
        </p:nvSpPr>
        <p:spPr>
          <a:xfrm>
            <a:off x="6178143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glossbar"/>
          <p:cNvSpPr/>
          <p:nvPr/>
        </p:nvSpPr>
        <p:spPr>
          <a:xfrm>
            <a:off x="6178143" y="1719072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cell:glossterm"/>
          <p:cNvSpPr txBox="1"/>
          <p:nvPr/>
        </p:nvSpPr>
        <p:spPr>
          <a:xfrm>
            <a:off x="6415887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Consumer tier</a:t>
            </a:r>
          </a:p>
        </p:txBody>
      </p:sp>
      <p:sp>
        <p:nvSpPr>
          <p:cNvPr id="22" name="cell:glossdef"/>
          <p:cNvSpPr txBox="1"/>
          <p:nvPr/>
        </p:nvSpPr>
        <p:spPr>
          <a:xfrm>
            <a:off x="6415887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free or personal subscription. Terms nobody here negotiated, and often training on your input.</a:t>
            </a:r>
          </a:p>
        </p:txBody>
      </p:sp>
      <p:sp>
        <p:nvSpPr>
          <p:cNvPr id="23" name="vis:gloss"/>
          <p:cNvSpPr/>
          <p:nvPr/>
        </p:nvSpPr>
        <p:spPr>
          <a:xfrm>
            <a:off x="502920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glossbar"/>
          <p:cNvSpPr/>
          <p:nvPr/>
        </p:nvSpPr>
        <p:spPr>
          <a:xfrm>
            <a:off x="502920" y="2962656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cell:glossterm"/>
          <p:cNvSpPr txBox="1"/>
          <p:nvPr/>
        </p:nvSpPr>
        <p:spPr>
          <a:xfrm>
            <a:off x="740664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Training on your data</a:t>
            </a:r>
          </a:p>
        </p:txBody>
      </p:sp>
      <p:sp>
        <p:nvSpPr>
          <p:cNvPr id="26" name="cell:glossdef"/>
          <p:cNvSpPr txBox="1"/>
          <p:nvPr/>
        </p:nvSpPr>
        <p:spPr>
          <a:xfrm>
            <a:off x="740664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Using what you type to improve the service. Usually switchable on business tiers.</a:t>
            </a:r>
          </a:p>
        </p:txBody>
      </p:sp>
      <p:sp>
        <p:nvSpPr>
          <p:cNvPr id="27" name="vis:gloss"/>
          <p:cNvSpPr/>
          <p:nvPr/>
        </p:nvSpPr>
        <p:spPr>
          <a:xfrm>
            <a:off x="6178143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glossbar"/>
          <p:cNvSpPr/>
          <p:nvPr/>
        </p:nvSpPr>
        <p:spPr>
          <a:xfrm>
            <a:off x="6178143" y="2962656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cell:glossterm"/>
          <p:cNvSpPr txBox="1"/>
          <p:nvPr/>
        </p:nvSpPr>
        <p:spPr>
          <a:xfrm>
            <a:off x="6415887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Shadow AI</a:t>
            </a:r>
          </a:p>
        </p:txBody>
      </p:sp>
      <p:sp>
        <p:nvSpPr>
          <p:cNvPr id="30" name="cell:glossdef"/>
          <p:cNvSpPr txBox="1"/>
          <p:nvPr/>
        </p:nvSpPr>
        <p:spPr>
          <a:xfrm>
            <a:off x="6415887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AI tools in use at work that nobody assessed or approved. Usually browser extensions and bots.</a:t>
            </a:r>
          </a:p>
        </p:txBody>
      </p:sp>
      <p:sp>
        <p:nvSpPr>
          <p:cNvPr id="31" name="vis:gloss"/>
          <p:cNvSpPr/>
          <p:nvPr/>
        </p:nvSpPr>
        <p:spPr>
          <a:xfrm>
            <a:off x="502920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glossbar"/>
          <p:cNvSpPr/>
          <p:nvPr/>
        </p:nvSpPr>
        <p:spPr>
          <a:xfrm>
            <a:off x="502920" y="4206240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glossterm"/>
          <p:cNvSpPr txBox="1"/>
          <p:nvPr/>
        </p:nvSpPr>
        <p:spPr>
          <a:xfrm>
            <a:off x="740664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Audit trail</a:t>
            </a:r>
          </a:p>
        </p:txBody>
      </p:sp>
      <p:sp>
        <p:nvSpPr>
          <p:cNvPr id="34" name="cell:glossdef"/>
          <p:cNvSpPr txBox="1"/>
          <p:nvPr/>
        </p:nvSpPr>
        <p:spPr>
          <a:xfrm>
            <a:off x="740664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record of what was used, on what, by whom. Written at the time, not reconstructed.</a:t>
            </a:r>
          </a:p>
        </p:txBody>
      </p:sp>
      <p:sp>
        <p:nvSpPr>
          <p:cNvPr id="35" name="vis:gloss"/>
          <p:cNvSpPr/>
          <p:nvPr/>
        </p:nvSpPr>
        <p:spPr>
          <a:xfrm>
            <a:off x="6178143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glossbar"/>
          <p:cNvSpPr/>
          <p:nvPr/>
        </p:nvSpPr>
        <p:spPr>
          <a:xfrm>
            <a:off x="6178143" y="4206240"/>
            <a:ext cx="54864" cy="1078992"/>
          </a:xfrm>
          <a:prstGeom prst="rect">
            <a:avLst/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cell:glossterm"/>
          <p:cNvSpPr txBox="1"/>
          <p:nvPr/>
        </p:nvSpPr>
        <p:spPr>
          <a:xfrm>
            <a:off x="6415887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Accountability</a:t>
            </a:r>
          </a:p>
        </p:txBody>
      </p:sp>
      <p:sp>
        <p:nvSpPr>
          <p:cNvPr id="38" name="cell:glossdef"/>
          <p:cNvSpPr txBox="1"/>
          <p:nvPr/>
        </p:nvSpPr>
        <p:spPr>
          <a:xfrm>
            <a:off x="6415887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named person owns the output, regardless of what helped produce it.</a:t>
            </a:r>
          </a:p>
        </p:txBody>
      </p:sp>
      <p:sp>
        <p:nvSpPr>
          <p:cNvPr id="39" name="nav:glossback">
            <a:hlinkClick action="ppaction://hlinksldjump" r:id="rId2"/>
          </p:cNvPr>
          <p:cNvSpPr/>
          <p:nvPr/>
        </p:nvSpPr>
        <p:spPr>
          <a:xfrm>
            <a:off x="502920" y="5504688"/>
            <a:ext cx="2651760" cy="512064"/>
          </a:xfrm>
          <a:prstGeom prst="roundRect">
            <a:avLst>
              <a:gd name="adj" fmla="val 10714"/>
            </a:avLst>
          </a:prstGeom>
          <a:solidFill>
            <a:srgbClr val="7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nav:glossbacktext"/>
          <p:cNvSpPr txBox="1"/>
          <p:nvPr/>
        </p:nvSpPr>
        <p:spPr>
          <a:xfrm>
            <a:off x="758952" y="565099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menu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