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7.xml"/><Relationship Id="rId4" Type="http://schemas.openxmlformats.org/officeDocument/2006/relationships/slide" Target="slide9.xml"/><Relationship Id="rId5" Type="http://schemas.openxmlformats.org/officeDocument/2006/relationships/slide" Target="slide11.xml"/><Relationship Id="rId6" Type="http://schemas.openxmlformats.org/officeDocument/2006/relationships/slide" Target="slide13.xml"/><Relationship Id="rId7" Type="http://schemas.openxmlformats.org/officeDocument/2006/relationships/slide" Target="slide18.xml"/><Relationship Id="rId8" Type="http://schemas.openxmlformats.org/officeDocument/2006/relationships/slide" Target="slide22.xml"/><Relationship Id="rId9" Type="http://schemas.openxmlformats.org/officeDocument/2006/relationships/slide" Target="slide23.xml"/><Relationship Id="rId10" Type="http://schemas.openxmlformats.org/officeDocument/2006/relationships/slide" Target="slide48.xml"/><Relationship Id="rId11" Type="http://schemas.openxmlformats.org/officeDocument/2006/relationships/slide" Target="slide4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8.xml"/><Relationship Id="rId3" Type="http://schemas.openxmlformats.org/officeDocument/2006/relationships/slide" Target="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8.xml"/><Relationship Id="rId3" Type="http://schemas.openxmlformats.org/officeDocument/2006/relationships/slide" Target="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8.xml"/><Relationship Id="rId3" Type="http://schemas.openxmlformats.org/officeDocument/2006/relationships/slide" Target="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pR7FfNWjEe8" TargetMode="External"/><Relationship Id="rId3" Type="http://schemas.openxmlformats.org/officeDocument/2006/relationships/slide" Target="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24.xml"/><Relationship Id="rId4" Type="http://schemas.openxmlformats.org/officeDocument/2006/relationships/slide" Target="slide25.xml"/><Relationship Id="rId5" Type="http://schemas.openxmlformats.org/officeDocument/2006/relationships/slide" Target="slide26.xml"/><Relationship Id="rId6" Type="http://schemas.openxmlformats.org/officeDocument/2006/relationships/slide" Target="slide2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3.xml"/><Relationship Id="rId3" Type="http://schemas.openxmlformats.org/officeDocument/2006/relationships/slide" Target="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8.xml"/><Relationship Id="rId3" Type="http://schemas.openxmlformats.org/officeDocument/2006/relationships/slide" Target="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3.xml"/><Relationship Id="rId3" Type="http://schemas.openxmlformats.org/officeDocument/2006/relationships/slide" Target="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3.xml"/><Relationship Id="rId3" Type="http://schemas.openxmlformats.org/officeDocument/2006/relationships/slide" Target="slide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29.xml"/><Relationship Id="rId4" Type="http://schemas.openxmlformats.org/officeDocument/2006/relationships/slide" Target="slide30.xml"/><Relationship Id="rId5" Type="http://schemas.openxmlformats.org/officeDocument/2006/relationships/slide" Target="slide31.xml"/><Relationship Id="rId6" Type="http://schemas.openxmlformats.org/officeDocument/2006/relationships/slide" Target="slide3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8.xml"/><Relationship Id="rId3" Type="http://schemas.openxmlformats.org/officeDocument/2006/relationships/slide" Target="slide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3.xml"/><Relationship Id="rId3" Type="http://schemas.openxmlformats.org/officeDocument/2006/relationships/slide" Target="slide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8.xml"/><Relationship Id="rId3" Type="http://schemas.openxmlformats.org/officeDocument/2006/relationships/slide" Target="slide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8.xml"/><Relationship Id="rId3" Type="http://schemas.openxmlformats.org/officeDocument/2006/relationships/slide" Target="slide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34.xml"/><Relationship Id="rId4" Type="http://schemas.openxmlformats.org/officeDocument/2006/relationships/slide" Target="slide35.xml"/><Relationship Id="rId5" Type="http://schemas.openxmlformats.org/officeDocument/2006/relationships/slide" Target="slide36.xml"/><Relationship Id="rId6" Type="http://schemas.openxmlformats.org/officeDocument/2006/relationships/slide" Target="slide3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3.xml"/><Relationship Id="rId3" Type="http://schemas.openxmlformats.org/officeDocument/2006/relationships/slide" Target="slide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Relationship Id="rId3" Type="http://schemas.openxmlformats.org/officeDocument/2006/relationships/slide" Target="slide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3.xml"/><Relationship Id="rId3" Type="http://schemas.openxmlformats.org/officeDocument/2006/relationships/slide" Target="slide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3.xml"/><Relationship Id="rId3" Type="http://schemas.openxmlformats.org/officeDocument/2006/relationships/slide" Target="slide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39.xml"/><Relationship Id="rId4" Type="http://schemas.openxmlformats.org/officeDocument/2006/relationships/slide" Target="slide40.xml"/><Relationship Id="rId5" Type="http://schemas.openxmlformats.org/officeDocument/2006/relationships/slide" Target="slide41.xml"/><Relationship Id="rId6" Type="http://schemas.openxmlformats.org/officeDocument/2006/relationships/slide" Target="slide4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Relationship Id="rId3" Type="http://schemas.openxmlformats.org/officeDocument/2006/relationships/slide" Target="slide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3.xml"/><Relationship Id="rId3" Type="http://schemas.openxmlformats.org/officeDocument/2006/relationships/slide" Target="slide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Relationship Id="rId3" Type="http://schemas.openxmlformats.org/officeDocument/2006/relationships/slide" Target="slide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Relationship Id="rId3" Type="http://schemas.openxmlformats.org/officeDocument/2006/relationships/slide" Target="slide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44.xml"/><Relationship Id="rId4" Type="http://schemas.openxmlformats.org/officeDocument/2006/relationships/slide" Target="slide45.xml"/><Relationship Id="rId5" Type="http://schemas.openxmlformats.org/officeDocument/2006/relationships/slide" Target="slide46.xml"/><Relationship Id="rId6" Type="http://schemas.openxmlformats.org/officeDocument/2006/relationships/slide" Target="slide4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3.xml"/><Relationship Id="rId3" Type="http://schemas.openxmlformats.org/officeDocument/2006/relationships/slide" Target="slide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8.xml"/><Relationship Id="rId3" Type="http://schemas.openxmlformats.org/officeDocument/2006/relationships/slide" Target="slide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3.xml"/><Relationship Id="rId3" Type="http://schemas.openxmlformats.org/officeDocument/2006/relationships/slide" Target="slide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3.xml"/><Relationship Id="rId3" Type="http://schemas.openxmlformats.org/officeDocument/2006/relationships/slide" Target="slide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eity.gov.in/data-protection-framework" TargetMode="External"/><Relationship Id="rId3" Type="http://schemas.openxmlformats.org/officeDocument/2006/relationships/hyperlink" Target="https://u.ae/en/about-the-uae/digital-uae/data/data-protection-laws" TargetMode="External"/><Relationship Id="rId4" Type="http://schemas.openxmlformats.org/officeDocument/2006/relationships/hyperlink" Target="https://haveibeenpwned.com" TargetMode="External"/><Relationship Id="rId5" Type="http://schemas.openxmlformats.org/officeDocument/2006/relationships/slide" Target="slide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s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vis:coverspine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4" name="vis:coverline"/>
          <p:cNvCxnSpPr/>
          <p:nvPr/>
        </p:nvCxnSpPr>
        <p:spPr>
          <a:xfrm>
            <a:off x="8203996" y="2278684"/>
            <a:ext cx="998525" cy="658368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vis:coverline"/>
          <p:cNvCxnSpPr/>
          <p:nvPr/>
        </p:nvCxnSpPr>
        <p:spPr>
          <a:xfrm flipV="1">
            <a:off x="7973568" y="2937052"/>
            <a:ext cx="1228953" cy="658368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vis:coverline"/>
          <p:cNvCxnSpPr/>
          <p:nvPr/>
        </p:nvCxnSpPr>
        <p:spPr>
          <a:xfrm>
            <a:off x="9202521" y="2937052"/>
            <a:ext cx="76810" cy="1316736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vis:coverline"/>
          <p:cNvCxnSpPr/>
          <p:nvPr/>
        </p:nvCxnSpPr>
        <p:spPr>
          <a:xfrm flipV="1">
            <a:off x="9202521" y="2212848"/>
            <a:ext cx="1152144" cy="724204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is:coverline"/>
          <p:cNvCxnSpPr/>
          <p:nvPr/>
        </p:nvCxnSpPr>
        <p:spPr>
          <a:xfrm>
            <a:off x="9202521" y="2937052"/>
            <a:ext cx="1305763" cy="658368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s:coverline"/>
          <p:cNvCxnSpPr/>
          <p:nvPr/>
        </p:nvCxnSpPr>
        <p:spPr>
          <a:xfrm>
            <a:off x="10354665" y="2212848"/>
            <a:ext cx="921715" cy="658368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vis:coverline"/>
          <p:cNvCxnSpPr/>
          <p:nvPr/>
        </p:nvCxnSpPr>
        <p:spPr>
          <a:xfrm flipV="1">
            <a:off x="10508284" y="2871216"/>
            <a:ext cx="768096" cy="724204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s:coverline"/>
          <p:cNvCxnSpPr/>
          <p:nvPr/>
        </p:nvCxnSpPr>
        <p:spPr>
          <a:xfrm flipV="1">
            <a:off x="9279331" y="3595420"/>
            <a:ext cx="1228953" cy="658368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covernode"/>
          <p:cNvSpPr/>
          <p:nvPr/>
        </p:nvSpPr>
        <p:spPr>
          <a:xfrm>
            <a:off x="8139988" y="2214676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vis:covernode"/>
          <p:cNvSpPr/>
          <p:nvPr/>
        </p:nvSpPr>
        <p:spPr>
          <a:xfrm>
            <a:off x="7909560" y="353141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vis:covernode"/>
          <p:cNvSpPr/>
          <p:nvPr/>
        </p:nvSpPr>
        <p:spPr>
          <a:xfrm>
            <a:off x="9065361" y="2799892"/>
            <a:ext cx="274320" cy="27432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covernode"/>
          <p:cNvSpPr/>
          <p:nvPr/>
        </p:nvSpPr>
        <p:spPr>
          <a:xfrm>
            <a:off x="9215323" y="4189780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covernode"/>
          <p:cNvSpPr/>
          <p:nvPr/>
        </p:nvSpPr>
        <p:spPr>
          <a:xfrm>
            <a:off x="10263225" y="2121408"/>
            <a:ext cx="182880" cy="18288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covernode"/>
          <p:cNvSpPr/>
          <p:nvPr/>
        </p:nvSpPr>
        <p:spPr>
          <a:xfrm>
            <a:off x="10416844" y="3503980"/>
            <a:ext cx="182880" cy="18288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covernode"/>
          <p:cNvSpPr/>
          <p:nvPr/>
        </p:nvSpPr>
        <p:spPr>
          <a:xfrm>
            <a:off x="11212372" y="2807208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seclabel"/>
          <p:cNvSpPr txBox="1"/>
          <p:nvPr/>
        </p:nvSpPr>
        <p:spPr>
          <a:xfrm>
            <a:off x="960120" y="566420"/>
            <a:ext cx="5501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B67D84"/>
                </a:solidFill>
                <a:latin typeface="Segoe UI Semibold"/>
              </a:rPr>
              <a:t>SECURITY &amp; DATA PRIVACY</a:t>
            </a:r>
          </a:p>
        </p:txBody>
      </p:sp>
      <p:sp>
        <p:nvSpPr>
          <p:cNvPr id="20" name="title:cover"/>
          <p:cNvSpPr txBox="1"/>
          <p:nvPr/>
        </p:nvSpPr>
        <p:spPr>
          <a:xfrm>
            <a:off x="960120" y="1023620"/>
            <a:ext cx="5501487" cy="150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720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FFFFFF"/>
                </a:solidFill>
                <a:latin typeface="Segoe UI Semibold"/>
              </a:rPr>
              <a:t>Safe Use of AI at Work</a:t>
            </a:r>
          </a:p>
        </p:txBody>
      </p:sp>
      <p:cxnSp>
        <p:nvCxnSpPr>
          <p:cNvPr id="21" name="vis:rule"/>
          <p:cNvCxnSpPr/>
          <p:nvPr/>
        </p:nvCxnSpPr>
        <p:spPr>
          <a:xfrm>
            <a:off x="960120" y="2805684"/>
            <a:ext cx="3606698" cy="0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body:coversub"/>
          <p:cNvSpPr txBox="1"/>
          <p:nvPr/>
        </p:nvSpPr>
        <p:spPr>
          <a:xfrm>
            <a:off x="960120" y="3080004"/>
            <a:ext cx="5501487" cy="1144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9D1DE"/>
                </a:solidFill>
                <a:latin typeface="Segoe UI"/>
              </a:rPr>
              <a:t>Which tools are approved, which settings to switch off, and how to keep a trail you can actually explain.</a:t>
            </a:r>
          </a:p>
        </p:txBody>
      </p:sp>
      <p:sp>
        <p:nvSpPr>
          <p:cNvPr id="23" name="vis:chip"/>
          <p:cNvSpPr/>
          <p:nvPr/>
        </p:nvSpPr>
        <p:spPr>
          <a:xfrm>
            <a:off x="960120" y="4626864"/>
            <a:ext cx="1058164" cy="310896"/>
          </a:xfrm>
          <a:prstGeom prst="roundRect">
            <a:avLst>
              <a:gd name="adj" fmla="val 14705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chiptext"/>
          <p:cNvSpPr txBox="1"/>
          <p:nvPr/>
        </p:nvSpPr>
        <p:spPr>
          <a:xfrm>
            <a:off x="1115568" y="4672583"/>
            <a:ext cx="7472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SEC-06</a:t>
            </a:r>
          </a:p>
        </p:txBody>
      </p:sp>
      <p:sp>
        <p:nvSpPr>
          <p:cNvPr id="25" name="vis:chip"/>
          <p:cNvSpPr/>
          <p:nvPr/>
        </p:nvSpPr>
        <p:spPr>
          <a:xfrm>
            <a:off x="2164588" y="4626864"/>
            <a:ext cx="1453134" cy="310896"/>
          </a:xfrm>
          <a:prstGeom prst="roundRect">
            <a:avLst>
              <a:gd name="adj" fmla="val 14705"/>
            </a:avLst>
          </a:prstGeom>
          <a:noFill/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iptext"/>
          <p:cNvSpPr txBox="1"/>
          <p:nvPr/>
        </p:nvSpPr>
        <p:spPr>
          <a:xfrm>
            <a:off x="2320036" y="4672583"/>
            <a:ext cx="11422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C9D1DE"/>
                </a:solidFill>
                <a:latin typeface="Segoe UI Semibold"/>
              </a:rPr>
              <a:t>17 MINUTES</a:t>
            </a:r>
          </a:p>
        </p:txBody>
      </p:sp>
      <p:sp>
        <p:nvSpPr>
          <p:cNvPr id="27" name="vis:chip"/>
          <p:cNvSpPr/>
          <p:nvPr/>
        </p:nvSpPr>
        <p:spPr>
          <a:xfrm>
            <a:off x="960120" y="5047488"/>
            <a:ext cx="2788677" cy="310896"/>
          </a:xfrm>
          <a:prstGeom prst="roundRect">
            <a:avLst>
              <a:gd name="adj" fmla="val 14705"/>
            </a:avLst>
          </a:prstGeom>
          <a:noFill/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chiptext"/>
          <p:cNvSpPr txBox="1"/>
          <p:nvPr/>
        </p:nvSpPr>
        <p:spPr>
          <a:xfrm>
            <a:off x="1115568" y="5093207"/>
            <a:ext cx="247778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C9D1DE"/>
                </a:solidFill>
                <a:latin typeface="Segoe UI Semibold"/>
              </a:rPr>
              <a:t>MANDATORY FOR ALL STAFF</a:t>
            </a:r>
          </a:p>
        </p:txBody>
      </p:sp>
      <p:sp>
        <p:nvSpPr>
          <p:cNvPr id="29" name="cell:coverhint"/>
          <p:cNvSpPr txBox="1"/>
          <p:nvPr/>
        </p:nvSpPr>
        <p:spPr>
          <a:xfrm>
            <a:off x="960120" y="5724144"/>
            <a:ext cx="550148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D9A"/>
                </a:solidFill>
                <a:latin typeface="Segoe UI"/>
              </a:rPr>
              <a:t>Start here  →  the next slide shows what this saves you.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D9A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31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D9A"/>
                </a:solidFill>
                <a:latin typeface="Segoe UI"/>
              </a:rPr>
              <a:t>Inducto Learning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WHY THIS MATTERS TO YOU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Harish cannot answer a simple question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story"/>
          <p:cNvSpPr/>
          <p:nvPr/>
        </p:nvSpPr>
        <p:spPr>
          <a:xfrm>
            <a:off x="502920" y="1719072"/>
            <a:ext cx="6448882" cy="3273552"/>
          </a:xfrm>
          <a:prstGeom prst="roundRect">
            <a:avLst>
              <a:gd name="adj" fmla="val 2793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storyspine"/>
          <p:cNvSpPr/>
          <p:nvPr/>
        </p:nvSpPr>
        <p:spPr>
          <a:xfrm>
            <a:off x="502920" y="1719072"/>
            <a:ext cx="68580" cy="327355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badge"/>
          <p:cNvSpPr/>
          <p:nvPr/>
        </p:nvSpPr>
        <p:spPr>
          <a:xfrm>
            <a:off x="813816" y="2029967"/>
            <a:ext cx="694944" cy="694944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icon"/>
          <p:cNvSpPr/>
          <p:nvPr/>
        </p:nvSpPr>
        <p:spPr>
          <a:xfrm>
            <a:off x="1005898" y="2214823"/>
            <a:ext cx="310779" cy="325233"/>
          </a:xfrm>
          <a:custGeom>
            <a:avLst/>
            <a:gdLst/>
            <a:ahLst/>
            <a:cxnLst/>
            <a:rect l="l" t="t" r="r" b="b"/>
            <a:pathLst>
              <a:path w="310779" h="325233">
                <a:moveTo>
                  <a:pt x="155390" y="0"/>
                </a:moveTo>
                <a:lnTo>
                  <a:pt x="310779" y="68660"/>
                </a:lnTo>
                <a:lnTo>
                  <a:pt x="285483" y="234891"/>
                </a:lnTo>
                <a:lnTo>
                  <a:pt x="155390" y="325233"/>
                </a:lnTo>
                <a:lnTo>
                  <a:pt x="25296" y="234891"/>
                </a:lnTo>
                <a:lnTo>
                  <a:pt x="0" y="68660"/>
                </a:lnTo>
                <a:close/>
              </a:path>
            </a:pathLst>
          </a:cu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ody:scenario"/>
          <p:cNvSpPr txBox="1"/>
          <p:nvPr/>
        </p:nvSpPr>
        <p:spPr>
          <a:xfrm>
            <a:off x="813816" y="2944368"/>
            <a:ext cx="5827090" cy="1792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Harish runs projects in Abu Dhabi. A client asks, during an audit, whether any of their drawings have been processed by AI tools. He genuinely does not know. Nor does anyone else, because nobody kept a record.</a:t>
            </a:r>
          </a:p>
        </p:txBody>
      </p:sp>
      <p:sp>
        <p:nvSpPr>
          <p:cNvPr id="20" name="vis:cost"/>
          <p:cNvSpPr/>
          <p:nvPr/>
        </p:nvSpPr>
        <p:spPr>
          <a:xfrm>
            <a:off x="502920" y="5230368"/>
            <a:ext cx="644888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ostspine"/>
          <p:cNvSpPr/>
          <p:nvPr/>
        </p:nvSpPr>
        <p:spPr>
          <a:xfrm>
            <a:off x="502920" y="5230368"/>
            <a:ext cx="68580" cy="78638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icon"/>
          <p:cNvSpPr/>
          <p:nvPr/>
        </p:nvSpPr>
        <p:spPr>
          <a:xfrm>
            <a:off x="826983" y="5478719"/>
            <a:ext cx="302849" cy="276514"/>
          </a:xfrm>
          <a:custGeom>
            <a:avLst/>
            <a:gdLst/>
            <a:ahLst/>
            <a:cxnLst/>
            <a:rect l="l" t="t" r="r" b="b"/>
            <a:pathLst>
              <a:path w="302849" h="276514">
                <a:moveTo>
                  <a:pt x="151425" y="0"/>
                </a:moveTo>
                <a:lnTo>
                  <a:pt x="302849" y="276514"/>
                </a:lnTo>
                <a:lnTo>
                  <a:pt x="0" y="276514"/>
                </a:lnTo>
                <a:close/>
              </a:path>
            </a:pathLst>
          </a:custGeom>
          <a:noFill/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vis:icon"/>
          <p:cNvCxnSpPr/>
          <p:nvPr/>
        </p:nvCxnSpPr>
        <p:spPr>
          <a:xfrm>
            <a:off x="978408" y="5584057"/>
            <a:ext cx="0" cy="82296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vis:icon"/>
          <p:cNvSpPr/>
          <p:nvPr/>
        </p:nvSpPr>
        <p:spPr>
          <a:xfrm>
            <a:off x="961948" y="5695980"/>
            <a:ext cx="32918" cy="3291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body:cost"/>
          <p:cNvSpPr txBox="1"/>
          <p:nvPr/>
        </p:nvSpPr>
        <p:spPr>
          <a:xfrm>
            <a:off x="1362456" y="5358383"/>
            <a:ext cx="531502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62828"/>
                </a:solidFill>
                <a:latin typeface="Segoe UI Semibold"/>
              </a:rPr>
              <a:t>A question we could not answer, in front of a client.</a:t>
            </a:r>
          </a:p>
        </p:txBody>
      </p:sp>
      <p:sp>
        <p:nvSpPr>
          <p:cNvPr id="26" name="vis:fix"/>
          <p:cNvSpPr/>
          <p:nvPr/>
        </p:nvSpPr>
        <p:spPr>
          <a:xfrm>
            <a:off x="8082076" y="1719072"/>
            <a:ext cx="3606698" cy="4297680"/>
          </a:xfrm>
          <a:prstGeom prst="roundRect">
            <a:avLst>
              <a:gd name="adj" fmla="val 2535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seclabel"/>
          <p:cNvSpPr txBox="1"/>
          <p:nvPr/>
        </p:nvSpPr>
        <p:spPr>
          <a:xfrm>
            <a:off x="8411260" y="2066543"/>
            <a:ext cx="29483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B67D84"/>
                </a:solidFill>
                <a:latin typeface="Segoe UI Semibold"/>
              </a:rPr>
              <a:t>AFTER THIS MODULE</a:t>
            </a:r>
          </a:p>
        </p:txBody>
      </p:sp>
      <p:cxnSp>
        <p:nvCxnSpPr>
          <p:cNvPr id="28" name="vis:rule"/>
          <p:cNvCxnSpPr/>
          <p:nvPr/>
        </p:nvCxnSpPr>
        <p:spPr>
          <a:xfrm>
            <a:off x="8411260" y="2505456"/>
            <a:ext cx="2948331" cy="0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body:fix"/>
          <p:cNvSpPr txBox="1"/>
          <p:nvPr/>
        </p:nvSpPr>
        <p:spPr>
          <a:xfrm>
            <a:off x="8411260" y="2724912"/>
            <a:ext cx="294833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Segoe UI Semibold"/>
              </a:rPr>
              <a:t>Approved tools, the right settings, and a habit of noting what you used.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WHAT YOU'LL BE ABLE TO DO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By the end, you can do these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outcome"/>
          <p:cNvSpPr/>
          <p:nvPr/>
        </p:nvSpPr>
        <p:spPr>
          <a:xfrm>
            <a:off x="502920" y="1719072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badge"/>
          <p:cNvSpPr/>
          <p:nvPr/>
        </p:nvSpPr>
        <p:spPr>
          <a:xfrm>
            <a:off x="777240" y="17922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954575" y="2081584"/>
            <a:ext cx="76648" cy="76648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is:icon"/>
          <p:cNvCxnSpPr/>
          <p:nvPr/>
        </p:nvCxnSpPr>
        <p:spPr>
          <a:xfrm flipV="1">
            <a:off x="1031223" y="1993143"/>
            <a:ext cx="141505" cy="165089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ell:outcome"/>
          <p:cNvSpPr txBox="1"/>
          <p:nvPr/>
        </p:nvSpPr>
        <p:spPr>
          <a:xfrm>
            <a:off x="1545336" y="1828800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Tell an approved tool from an unapproved one at a glance</a:t>
            </a:r>
          </a:p>
        </p:txBody>
      </p:sp>
      <p:sp>
        <p:nvSpPr>
          <p:cNvPr id="20" name="vis:outcome"/>
          <p:cNvSpPr/>
          <p:nvPr/>
        </p:nvSpPr>
        <p:spPr>
          <a:xfrm>
            <a:off x="502920" y="2615184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badge"/>
          <p:cNvSpPr/>
          <p:nvPr/>
        </p:nvSpPr>
        <p:spPr>
          <a:xfrm>
            <a:off x="777240" y="268833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icon"/>
          <p:cNvSpPr/>
          <p:nvPr/>
        </p:nvSpPr>
        <p:spPr>
          <a:xfrm>
            <a:off x="954575" y="2954111"/>
            <a:ext cx="212257" cy="147401"/>
          </a:xfrm>
          <a:prstGeom prst="roundRect">
            <a:avLst>
              <a:gd name="adj" fmla="val 31017"/>
            </a:avLst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icon"/>
          <p:cNvSpPr/>
          <p:nvPr/>
        </p:nvSpPr>
        <p:spPr>
          <a:xfrm>
            <a:off x="992899" y="2853878"/>
            <a:ext cx="135609" cy="182777"/>
          </a:xfrm>
          <a:prstGeom prst="arc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cell:outcome"/>
          <p:cNvSpPr txBox="1"/>
          <p:nvPr/>
        </p:nvSpPr>
        <p:spPr>
          <a:xfrm>
            <a:off x="1545336" y="2724912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Switch off the settings that let your work train a model</a:t>
            </a:r>
          </a:p>
        </p:txBody>
      </p:sp>
      <p:sp>
        <p:nvSpPr>
          <p:cNvPr id="25" name="vis:outcome"/>
          <p:cNvSpPr/>
          <p:nvPr/>
        </p:nvSpPr>
        <p:spPr>
          <a:xfrm>
            <a:off x="502920" y="3511296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badge"/>
          <p:cNvSpPr/>
          <p:nvPr/>
        </p:nvSpPr>
        <p:spPr>
          <a:xfrm>
            <a:off x="777240" y="35844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icon"/>
          <p:cNvSpPr/>
          <p:nvPr/>
        </p:nvSpPr>
        <p:spPr>
          <a:xfrm>
            <a:off x="966367" y="3738198"/>
            <a:ext cx="188673" cy="259426"/>
          </a:xfrm>
          <a:prstGeom prst="roundRect">
            <a:avLst>
              <a:gd name="adj" fmla="val 24232"/>
            </a:avLst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8" name="vis:icon"/>
          <p:cNvCxnSpPr/>
          <p:nvPr/>
        </p:nvCxnSpPr>
        <p:spPr>
          <a:xfrm>
            <a:off x="1007639" y="3820743"/>
            <a:ext cx="106129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vis:icon"/>
          <p:cNvCxnSpPr/>
          <p:nvPr/>
        </p:nvCxnSpPr>
        <p:spPr>
          <a:xfrm>
            <a:off x="1007639" y="3867911"/>
            <a:ext cx="106129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vis:icon"/>
          <p:cNvCxnSpPr/>
          <p:nvPr/>
        </p:nvCxnSpPr>
        <p:spPr>
          <a:xfrm>
            <a:off x="1007639" y="3915080"/>
            <a:ext cx="70753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ell:outcome"/>
          <p:cNvSpPr txBox="1"/>
          <p:nvPr/>
        </p:nvSpPr>
        <p:spPr>
          <a:xfrm>
            <a:off x="1545336" y="3621024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Keep a record that answers an audit question in one line</a:t>
            </a:r>
          </a:p>
        </p:txBody>
      </p:sp>
      <p:sp>
        <p:nvSpPr>
          <p:cNvPr id="32" name="vis:outcome"/>
          <p:cNvSpPr/>
          <p:nvPr/>
        </p:nvSpPr>
        <p:spPr>
          <a:xfrm>
            <a:off x="502920" y="4407408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badge"/>
          <p:cNvSpPr/>
          <p:nvPr/>
        </p:nvSpPr>
        <p:spPr>
          <a:xfrm>
            <a:off x="777240" y="44805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icon"/>
          <p:cNvSpPr/>
          <p:nvPr/>
        </p:nvSpPr>
        <p:spPr>
          <a:xfrm>
            <a:off x="925094" y="4657895"/>
            <a:ext cx="271219" cy="212257"/>
          </a:xfrm>
          <a:custGeom>
            <a:avLst/>
            <a:gdLst/>
            <a:ahLst/>
            <a:cxnLst/>
            <a:rect l="l" t="t" r="r" b="b"/>
            <a:pathLst>
              <a:path w="271219" h="212257">
                <a:moveTo>
                  <a:pt x="0" y="106129"/>
                </a:moveTo>
                <a:lnTo>
                  <a:pt x="135610" y="0"/>
                </a:lnTo>
                <a:lnTo>
                  <a:pt x="271219" y="106129"/>
                </a:lnTo>
                <a:lnTo>
                  <a:pt x="135610" y="212257"/>
                </a:lnTo>
                <a:close/>
              </a:path>
            </a:pathLst>
          </a:cu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s:icon"/>
          <p:cNvSpPr/>
          <p:nvPr/>
        </p:nvSpPr>
        <p:spPr>
          <a:xfrm>
            <a:off x="1019431" y="4722751"/>
            <a:ext cx="82544" cy="82544"/>
          </a:xfrm>
          <a:prstGeom prst="ellipse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cell:outcome"/>
          <p:cNvSpPr txBox="1"/>
          <p:nvPr/>
        </p:nvSpPr>
        <p:spPr>
          <a:xfrm>
            <a:off x="1545336" y="4517136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Recognise AI hidden inside tools you already use</a:t>
            </a:r>
          </a:p>
        </p:txBody>
      </p:sp>
      <p:sp>
        <p:nvSpPr>
          <p:cNvPr id="37" name="vis:outcome"/>
          <p:cNvSpPr/>
          <p:nvPr/>
        </p:nvSpPr>
        <p:spPr>
          <a:xfrm>
            <a:off x="502920" y="5303520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vis:badge"/>
          <p:cNvSpPr/>
          <p:nvPr/>
        </p:nvSpPr>
        <p:spPr>
          <a:xfrm>
            <a:off x="777240" y="537667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vis:icon"/>
          <p:cNvSpPr/>
          <p:nvPr/>
        </p:nvSpPr>
        <p:spPr>
          <a:xfrm>
            <a:off x="1004691" y="5533370"/>
            <a:ext cx="112024" cy="112024"/>
          </a:xfrm>
          <a:prstGeom prst="ellipse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vis:icon"/>
          <p:cNvSpPr/>
          <p:nvPr/>
        </p:nvSpPr>
        <p:spPr>
          <a:xfrm>
            <a:off x="942782" y="5689616"/>
            <a:ext cx="235843" cy="103181"/>
          </a:xfrm>
          <a:custGeom>
            <a:avLst/>
            <a:gdLst/>
            <a:ahLst/>
            <a:cxnLst/>
            <a:rect l="l" t="t" r="r" b="b"/>
            <a:pathLst>
              <a:path w="235843" h="103181">
                <a:moveTo>
                  <a:pt x="0" y="103181"/>
                </a:moveTo>
                <a:lnTo>
                  <a:pt x="17689" y="0"/>
                </a:lnTo>
                <a:lnTo>
                  <a:pt x="218154" y="0"/>
                </a:lnTo>
                <a:lnTo>
                  <a:pt x="235843" y="103181"/>
                </a:lnTo>
              </a:path>
            </a:pathLst>
          </a:cu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ell:outcome"/>
          <p:cNvSpPr txBox="1"/>
          <p:nvPr/>
        </p:nvSpPr>
        <p:spPr>
          <a:xfrm>
            <a:off x="1545336" y="5413248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Say plainly when AI helped, without over-explaining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INTERACTIVE MENU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Tap any line to jump straight there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cell:menuhint"/>
          <p:cNvSpPr txBox="1"/>
          <p:nvPr/>
        </p:nvSpPr>
        <p:spPr>
          <a:xfrm>
            <a:off x="502920" y="1554480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Every slide has a Menu button in the top-right corner to bring you back here.</a:t>
            </a:r>
          </a:p>
        </p:txBody>
      </p:sp>
      <p:sp>
        <p:nvSpPr>
          <p:cNvPr id="8" name="nav:menurow">
            <a:hlinkClick action="ppaction://hlinksldjump" r:id="rId2"/>
          </p:cNvPr>
          <p:cNvSpPr/>
          <p:nvPr/>
        </p:nvSpPr>
        <p:spPr>
          <a:xfrm>
            <a:off x="502920" y="1828800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vis:menubar"/>
          <p:cNvSpPr/>
          <p:nvPr/>
        </p:nvSpPr>
        <p:spPr>
          <a:xfrm>
            <a:off x="502920" y="1828800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vis:menunum"/>
          <p:cNvSpPr txBox="1"/>
          <p:nvPr/>
        </p:nvSpPr>
        <p:spPr>
          <a:xfrm>
            <a:off x="813816" y="1883664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01</a:t>
            </a:r>
          </a:p>
        </p:txBody>
      </p:sp>
      <p:sp>
        <p:nvSpPr>
          <p:cNvPr id="11" name="cell:menulabel"/>
          <p:cNvSpPr txBox="1"/>
          <p:nvPr/>
        </p:nvSpPr>
        <p:spPr>
          <a:xfrm>
            <a:off x="1344168" y="1883664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Approved and unapproved</a:t>
            </a:r>
          </a:p>
        </p:txBody>
      </p:sp>
      <p:sp>
        <p:nvSpPr>
          <p:cNvPr id="12" name="cell:menusub"/>
          <p:cNvSpPr txBox="1"/>
          <p:nvPr/>
        </p:nvSpPr>
        <p:spPr>
          <a:xfrm>
            <a:off x="7134682" y="1883664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account decides</a:t>
            </a:r>
          </a:p>
        </p:txBody>
      </p:sp>
      <p:cxnSp>
        <p:nvCxnSpPr>
          <p:cNvPr id="13" name="vis:menuarrow"/>
          <p:cNvCxnSpPr/>
          <p:nvPr/>
        </p:nvCxnSpPr>
        <p:spPr>
          <a:xfrm>
            <a:off x="11213287" y="1997049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row">
            <a:hlinkClick action="ppaction://hlinksldjump" r:id="rId3"/>
          </p:cNvPr>
          <p:cNvSpPr/>
          <p:nvPr/>
        </p:nvSpPr>
        <p:spPr>
          <a:xfrm>
            <a:off x="502920" y="2256739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menubar"/>
          <p:cNvSpPr/>
          <p:nvPr/>
        </p:nvSpPr>
        <p:spPr>
          <a:xfrm>
            <a:off x="502920" y="2256739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menunum"/>
          <p:cNvSpPr txBox="1"/>
          <p:nvPr/>
        </p:nvSpPr>
        <p:spPr>
          <a:xfrm>
            <a:off x="813816" y="2311603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02</a:t>
            </a:r>
          </a:p>
        </p:txBody>
      </p:sp>
      <p:sp>
        <p:nvSpPr>
          <p:cNvPr id="17" name="cell:menulabel"/>
          <p:cNvSpPr txBox="1"/>
          <p:nvPr/>
        </p:nvSpPr>
        <p:spPr>
          <a:xfrm>
            <a:off x="1344168" y="2311603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The settings that matter</a:t>
            </a:r>
          </a:p>
        </p:txBody>
      </p:sp>
      <p:sp>
        <p:nvSpPr>
          <p:cNvPr id="18" name="cell:menusub"/>
          <p:cNvSpPr txBox="1"/>
          <p:nvPr/>
        </p:nvSpPr>
        <p:spPr>
          <a:xfrm>
            <a:off x="7134682" y="2311603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Two switches</a:t>
            </a:r>
          </a:p>
        </p:txBody>
      </p:sp>
      <p:cxnSp>
        <p:nvCxnSpPr>
          <p:cNvPr id="19" name="vis:menuarrow"/>
          <p:cNvCxnSpPr/>
          <p:nvPr/>
        </p:nvCxnSpPr>
        <p:spPr>
          <a:xfrm>
            <a:off x="11213287" y="2424988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nav:menurow">
            <a:hlinkClick action="ppaction://hlinksldjump" r:id="rId4"/>
          </p:cNvPr>
          <p:cNvSpPr/>
          <p:nvPr/>
        </p:nvSpPr>
        <p:spPr>
          <a:xfrm>
            <a:off x="502920" y="2684678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menubar"/>
          <p:cNvSpPr/>
          <p:nvPr/>
        </p:nvSpPr>
        <p:spPr>
          <a:xfrm>
            <a:off x="502920" y="2684678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menunum"/>
          <p:cNvSpPr txBox="1"/>
          <p:nvPr/>
        </p:nvSpPr>
        <p:spPr>
          <a:xfrm>
            <a:off x="813816" y="2739542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03</a:t>
            </a:r>
          </a:p>
        </p:txBody>
      </p:sp>
      <p:sp>
        <p:nvSpPr>
          <p:cNvPr id="23" name="cell:menulabel"/>
          <p:cNvSpPr txBox="1"/>
          <p:nvPr/>
        </p:nvSpPr>
        <p:spPr>
          <a:xfrm>
            <a:off x="1344168" y="2739542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AI you did not notice</a:t>
            </a:r>
          </a:p>
        </p:txBody>
      </p:sp>
      <p:sp>
        <p:nvSpPr>
          <p:cNvPr id="24" name="cell:menusub"/>
          <p:cNvSpPr txBox="1"/>
          <p:nvPr/>
        </p:nvSpPr>
        <p:spPr>
          <a:xfrm>
            <a:off x="7134682" y="2739542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Already inside your tools</a:t>
            </a:r>
          </a:p>
        </p:txBody>
      </p:sp>
      <p:cxnSp>
        <p:nvCxnSpPr>
          <p:cNvPr id="25" name="vis:menuarrow"/>
          <p:cNvCxnSpPr/>
          <p:nvPr/>
        </p:nvCxnSpPr>
        <p:spPr>
          <a:xfrm>
            <a:off x="11213287" y="2852928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nav:menurow">
            <a:hlinkClick action="ppaction://hlinksldjump" r:id="rId5"/>
          </p:cNvPr>
          <p:cNvSpPr/>
          <p:nvPr/>
        </p:nvSpPr>
        <p:spPr>
          <a:xfrm>
            <a:off x="502920" y="3112617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menubar"/>
          <p:cNvSpPr/>
          <p:nvPr/>
        </p:nvSpPr>
        <p:spPr>
          <a:xfrm>
            <a:off x="502920" y="3112617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menunum"/>
          <p:cNvSpPr txBox="1"/>
          <p:nvPr/>
        </p:nvSpPr>
        <p:spPr>
          <a:xfrm>
            <a:off x="813816" y="3167481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04</a:t>
            </a:r>
          </a:p>
        </p:txBody>
      </p:sp>
      <p:sp>
        <p:nvSpPr>
          <p:cNvPr id="29" name="cell:menulabel"/>
          <p:cNvSpPr txBox="1"/>
          <p:nvPr/>
        </p:nvSpPr>
        <p:spPr>
          <a:xfrm>
            <a:off x="1344168" y="3167481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Keeping a trail</a:t>
            </a:r>
          </a:p>
        </p:txBody>
      </p:sp>
      <p:sp>
        <p:nvSpPr>
          <p:cNvPr id="30" name="cell:menusub"/>
          <p:cNvSpPr txBox="1"/>
          <p:nvPr/>
        </p:nvSpPr>
        <p:spPr>
          <a:xfrm>
            <a:off x="7134682" y="3167481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Answering the audit question</a:t>
            </a:r>
          </a:p>
        </p:txBody>
      </p:sp>
      <p:cxnSp>
        <p:nvCxnSpPr>
          <p:cNvPr id="31" name="vis:menuarrow"/>
          <p:cNvCxnSpPr/>
          <p:nvPr/>
        </p:nvCxnSpPr>
        <p:spPr>
          <a:xfrm>
            <a:off x="11213287" y="3280867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nav:menurow">
            <a:hlinkClick action="ppaction://hlinksldjump" r:id="rId6"/>
          </p:cNvPr>
          <p:cNvSpPr/>
          <p:nvPr/>
        </p:nvSpPr>
        <p:spPr>
          <a:xfrm>
            <a:off x="502920" y="3540556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menubar"/>
          <p:cNvSpPr/>
          <p:nvPr/>
        </p:nvSpPr>
        <p:spPr>
          <a:xfrm>
            <a:off x="502920" y="3540556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menunum"/>
          <p:cNvSpPr txBox="1"/>
          <p:nvPr/>
        </p:nvSpPr>
        <p:spPr>
          <a:xfrm>
            <a:off x="813816" y="3595420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05</a:t>
            </a:r>
          </a:p>
        </p:txBody>
      </p:sp>
      <p:sp>
        <p:nvSpPr>
          <p:cNvPr id="35" name="cell:menulabel"/>
          <p:cNvSpPr txBox="1"/>
          <p:nvPr/>
        </p:nvSpPr>
        <p:spPr>
          <a:xfrm>
            <a:off x="1344168" y="3595420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Do this now</a:t>
            </a:r>
          </a:p>
        </p:txBody>
      </p:sp>
      <p:sp>
        <p:nvSpPr>
          <p:cNvPr id="36" name="cell:menusub"/>
          <p:cNvSpPr txBox="1"/>
          <p:nvPr/>
        </p:nvSpPr>
        <p:spPr>
          <a:xfrm>
            <a:off x="7134682" y="3595420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Check your own setup</a:t>
            </a:r>
          </a:p>
        </p:txBody>
      </p:sp>
      <p:cxnSp>
        <p:nvCxnSpPr>
          <p:cNvPr id="37" name="vis:menuarrow"/>
          <p:cNvCxnSpPr/>
          <p:nvPr/>
        </p:nvCxnSpPr>
        <p:spPr>
          <a:xfrm>
            <a:off x="11213287" y="3708806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nav:menurow">
            <a:hlinkClick action="ppaction://hlinksldjump" r:id="rId7"/>
          </p:cNvPr>
          <p:cNvSpPr/>
          <p:nvPr/>
        </p:nvSpPr>
        <p:spPr>
          <a:xfrm>
            <a:off x="502920" y="3968496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vis:menubar"/>
          <p:cNvSpPr/>
          <p:nvPr/>
        </p:nvSpPr>
        <p:spPr>
          <a:xfrm>
            <a:off x="502920" y="3968496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vis:menunum"/>
          <p:cNvSpPr txBox="1"/>
          <p:nvPr/>
        </p:nvSpPr>
        <p:spPr>
          <a:xfrm>
            <a:off x="813816" y="4023359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06</a:t>
            </a:r>
          </a:p>
        </p:txBody>
      </p:sp>
      <p:sp>
        <p:nvSpPr>
          <p:cNvPr id="41" name="cell:menulabel"/>
          <p:cNvSpPr txBox="1"/>
          <p:nvPr/>
        </p:nvSpPr>
        <p:spPr>
          <a:xfrm>
            <a:off x="1344168" y="4023359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Choose what you'd do</a:t>
            </a:r>
          </a:p>
        </p:txBody>
      </p:sp>
      <p:sp>
        <p:nvSpPr>
          <p:cNvPr id="42" name="cell:menusub"/>
          <p:cNvSpPr txBox="1"/>
          <p:nvPr/>
        </p:nvSpPr>
        <p:spPr>
          <a:xfrm>
            <a:off x="7134682" y="4023359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An audit-week decision</a:t>
            </a:r>
          </a:p>
        </p:txBody>
      </p:sp>
      <p:cxnSp>
        <p:nvCxnSpPr>
          <p:cNvPr id="43" name="vis:menuarrow"/>
          <p:cNvCxnSpPr/>
          <p:nvPr/>
        </p:nvCxnSpPr>
        <p:spPr>
          <a:xfrm>
            <a:off x="11213287" y="4136745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nav:menurow">
            <a:hlinkClick action="ppaction://hlinksldjump" r:id="rId8"/>
          </p:cNvPr>
          <p:cNvSpPr/>
          <p:nvPr/>
        </p:nvSpPr>
        <p:spPr>
          <a:xfrm>
            <a:off x="502920" y="4396435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vis:menubar"/>
          <p:cNvSpPr/>
          <p:nvPr/>
        </p:nvSpPr>
        <p:spPr>
          <a:xfrm>
            <a:off x="502920" y="4396435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vis:menunum"/>
          <p:cNvSpPr txBox="1"/>
          <p:nvPr/>
        </p:nvSpPr>
        <p:spPr>
          <a:xfrm>
            <a:off x="813816" y="4451299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07</a:t>
            </a:r>
          </a:p>
        </p:txBody>
      </p:sp>
      <p:sp>
        <p:nvSpPr>
          <p:cNvPr id="47" name="cell:menulabel"/>
          <p:cNvSpPr txBox="1"/>
          <p:nvPr/>
        </p:nvSpPr>
        <p:spPr>
          <a:xfrm>
            <a:off x="1344168" y="4451299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Watch this</a:t>
            </a:r>
          </a:p>
        </p:txBody>
      </p:sp>
      <p:sp>
        <p:nvSpPr>
          <p:cNvPr id="48" name="cell:menusub"/>
          <p:cNvSpPr txBox="1"/>
          <p:nvPr/>
        </p:nvSpPr>
        <p:spPr>
          <a:xfrm>
            <a:off x="7134682" y="4451299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13-minute outside overview</a:t>
            </a:r>
          </a:p>
        </p:txBody>
      </p:sp>
      <p:cxnSp>
        <p:nvCxnSpPr>
          <p:cNvPr id="49" name="vis:menuarrow"/>
          <p:cNvCxnSpPr/>
          <p:nvPr/>
        </p:nvCxnSpPr>
        <p:spPr>
          <a:xfrm>
            <a:off x="11213287" y="4564684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nav:menurow">
            <a:hlinkClick action="ppaction://hlinksldjump" r:id="rId9"/>
          </p:cNvPr>
          <p:cNvSpPr/>
          <p:nvPr/>
        </p:nvSpPr>
        <p:spPr>
          <a:xfrm>
            <a:off x="502920" y="4824374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1" name="vis:menubar"/>
          <p:cNvSpPr/>
          <p:nvPr/>
        </p:nvSpPr>
        <p:spPr>
          <a:xfrm>
            <a:off x="502920" y="4824374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vis:menunum"/>
          <p:cNvSpPr txBox="1"/>
          <p:nvPr/>
        </p:nvSpPr>
        <p:spPr>
          <a:xfrm>
            <a:off x="813816" y="4879238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08</a:t>
            </a:r>
          </a:p>
        </p:txBody>
      </p:sp>
      <p:sp>
        <p:nvSpPr>
          <p:cNvPr id="53" name="cell:menulabel"/>
          <p:cNvSpPr txBox="1"/>
          <p:nvPr/>
        </p:nvSpPr>
        <p:spPr>
          <a:xfrm>
            <a:off x="1344168" y="4879238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Quiz</a:t>
            </a:r>
          </a:p>
        </p:txBody>
      </p:sp>
      <p:sp>
        <p:nvSpPr>
          <p:cNvPr id="54" name="cell:menusub"/>
          <p:cNvSpPr txBox="1"/>
          <p:nvPr/>
        </p:nvSpPr>
        <p:spPr>
          <a:xfrm>
            <a:off x="7134682" y="4879238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5 questions, instant feedback</a:t>
            </a:r>
          </a:p>
        </p:txBody>
      </p:sp>
      <p:cxnSp>
        <p:nvCxnSpPr>
          <p:cNvPr id="55" name="vis:menuarrow"/>
          <p:cNvCxnSpPr/>
          <p:nvPr/>
        </p:nvCxnSpPr>
        <p:spPr>
          <a:xfrm>
            <a:off x="11213287" y="4992624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nav:menurow">
            <a:hlinkClick action="ppaction://hlinksldjump" r:id="rId10"/>
          </p:cNvPr>
          <p:cNvSpPr/>
          <p:nvPr/>
        </p:nvSpPr>
        <p:spPr>
          <a:xfrm>
            <a:off x="502920" y="5252313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7" name="vis:menubar"/>
          <p:cNvSpPr/>
          <p:nvPr/>
        </p:nvSpPr>
        <p:spPr>
          <a:xfrm>
            <a:off x="502920" y="5252313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8" name="vis:menunum"/>
          <p:cNvSpPr txBox="1"/>
          <p:nvPr/>
        </p:nvSpPr>
        <p:spPr>
          <a:xfrm>
            <a:off x="813816" y="5307177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09</a:t>
            </a:r>
          </a:p>
        </p:txBody>
      </p:sp>
      <p:sp>
        <p:nvSpPr>
          <p:cNvPr id="59" name="cell:menulabel"/>
          <p:cNvSpPr txBox="1"/>
          <p:nvPr/>
        </p:nvSpPr>
        <p:spPr>
          <a:xfrm>
            <a:off x="1344168" y="5307177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Recap card</a:t>
            </a:r>
          </a:p>
        </p:txBody>
      </p:sp>
      <p:sp>
        <p:nvSpPr>
          <p:cNvPr id="60" name="cell:menusub"/>
          <p:cNvSpPr txBox="1"/>
          <p:nvPr/>
        </p:nvSpPr>
        <p:spPr>
          <a:xfrm>
            <a:off x="7134682" y="5307177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whole topic on one screen</a:t>
            </a:r>
          </a:p>
        </p:txBody>
      </p:sp>
      <p:cxnSp>
        <p:nvCxnSpPr>
          <p:cNvPr id="61" name="vis:menuarrow"/>
          <p:cNvCxnSpPr/>
          <p:nvPr/>
        </p:nvCxnSpPr>
        <p:spPr>
          <a:xfrm>
            <a:off x="11213287" y="5420563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nav:menurow">
            <a:hlinkClick action="ppaction://hlinksldjump" r:id="rId11"/>
          </p:cNvPr>
          <p:cNvSpPr/>
          <p:nvPr/>
        </p:nvSpPr>
        <p:spPr>
          <a:xfrm>
            <a:off x="502920" y="5680252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3" name="vis:menubar"/>
          <p:cNvSpPr/>
          <p:nvPr/>
        </p:nvSpPr>
        <p:spPr>
          <a:xfrm>
            <a:off x="502920" y="5680252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4" name="vis:menunum"/>
          <p:cNvSpPr txBox="1"/>
          <p:nvPr/>
        </p:nvSpPr>
        <p:spPr>
          <a:xfrm>
            <a:off x="813816" y="5735116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10</a:t>
            </a:r>
          </a:p>
        </p:txBody>
      </p:sp>
      <p:sp>
        <p:nvSpPr>
          <p:cNvPr id="65" name="cell:menulabel"/>
          <p:cNvSpPr txBox="1"/>
          <p:nvPr/>
        </p:nvSpPr>
        <p:spPr>
          <a:xfrm>
            <a:off x="1344168" y="5735116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Your toolkit</a:t>
            </a:r>
          </a:p>
        </p:txBody>
      </p:sp>
      <p:sp>
        <p:nvSpPr>
          <p:cNvPr id="66" name="cell:menusub"/>
          <p:cNvSpPr txBox="1"/>
          <p:nvPr/>
        </p:nvSpPr>
        <p:spPr>
          <a:xfrm>
            <a:off x="7134682" y="5735116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Templates, links, what to do next</a:t>
            </a:r>
          </a:p>
        </p:txBody>
      </p:sp>
      <p:cxnSp>
        <p:nvCxnSpPr>
          <p:cNvPr id="67" name="vis:menuarrow"/>
          <p:cNvCxnSpPr/>
          <p:nvPr/>
        </p:nvCxnSpPr>
        <p:spPr>
          <a:xfrm>
            <a:off x="11213287" y="5848502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APPROVED AND UNAPPROVED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The account decides everything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body:lead"/>
          <p:cNvSpPr txBox="1"/>
          <p:nvPr/>
        </p:nvSpPr>
        <p:spPr>
          <a:xfrm>
            <a:off x="502920" y="1719072"/>
            <a:ext cx="8343671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A3547"/>
                </a:solidFill>
                <a:latin typeface="Segoe UI"/>
              </a:rPr>
              <a:t>The same model can be safe or unsafe depending entirely on which account you signed in with.</a:t>
            </a:r>
          </a:p>
        </p:txBody>
      </p:sp>
      <p:sp>
        <p:nvSpPr>
          <p:cNvPr id="16" name="vis:panel"/>
          <p:cNvSpPr/>
          <p:nvPr/>
        </p:nvSpPr>
        <p:spPr>
          <a:xfrm>
            <a:off x="502920" y="2706624"/>
            <a:ext cx="5437479" cy="2834640"/>
          </a:xfrm>
          <a:prstGeom prst="roundRect">
            <a:avLst>
              <a:gd name="adj" fmla="val 32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panelspine"/>
          <p:cNvSpPr/>
          <p:nvPr/>
        </p:nvSpPr>
        <p:spPr>
          <a:xfrm>
            <a:off x="502920" y="2706624"/>
            <a:ext cx="68580" cy="2834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chip"/>
          <p:cNvSpPr/>
          <p:nvPr/>
        </p:nvSpPr>
        <p:spPr>
          <a:xfrm>
            <a:off x="777240" y="2944368"/>
            <a:ext cx="1615059" cy="274320"/>
          </a:xfrm>
          <a:prstGeom prst="roundRect">
            <a:avLst>
              <a:gd name="adj" fmla="val 1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vis:chiptext"/>
          <p:cNvSpPr txBox="1"/>
          <p:nvPr/>
        </p:nvSpPr>
        <p:spPr>
          <a:xfrm>
            <a:off x="932688" y="2971799"/>
            <a:ext cx="13041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UNAPPROVED</a:t>
            </a:r>
          </a:p>
        </p:txBody>
      </p:sp>
      <p:sp>
        <p:nvSpPr>
          <p:cNvPr id="20" name="vis:paneltitle"/>
          <p:cNvSpPr txBox="1"/>
          <p:nvPr/>
        </p:nvSpPr>
        <p:spPr>
          <a:xfrm>
            <a:off x="777240" y="3364991"/>
            <a:ext cx="4888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Personal login, free tier</a:t>
            </a:r>
          </a:p>
        </p:txBody>
      </p:sp>
      <p:cxnSp>
        <p:nvCxnSpPr>
          <p:cNvPr id="21" name="vis:icon"/>
          <p:cNvCxnSpPr/>
          <p:nvPr/>
        </p:nvCxnSpPr>
        <p:spPr>
          <a:xfrm>
            <a:off x="819302" y="4079138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s:icon"/>
          <p:cNvCxnSpPr/>
          <p:nvPr/>
        </p:nvCxnSpPr>
        <p:spPr>
          <a:xfrm flipH="1">
            <a:off x="819302" y="4079138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vis:panelitem"/>
          <p:cNvSpPr txBox="1"/>
          <p:nvPr/>
        </p:nvSpPr>
        <p:spPr>
          <a:xfrm>
            <a:off x="1078992" y="4005072"/>
            <a:ext cx="4587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No agreement anybody here has read</a:t>
            </a:r>
          </a:p>
        </p:txBody>
      </p:sp>
      <p:cxnSp>
        <p:nvCxnSpPr>
          <p:cNvPr id="24" name="vis:icon"/>
          <p:cNvCxnSpPr/>
          <p:nvPr/>
        </p:nvCxnSpPr>
        <p:spPr>
          <a:xfrm>
            <a:off x="819302" y="4408322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s:icon"/>
          <p:cNvCxnSpPr/>
          <p:nvPr/>
        </p:nvCxnSpPr>
        <p:spPr>
          <a:xfrm flipH="1">
            <a:off x="819302" y="4408322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s:panelitem"/>
          <p:cNvSpPr txBox="1"/>
          <p:nvPr/>
        </p:nvSpPr>
        <p:spPr>
          <a:xfrm>
            <a:off x="1078992" y="4334256"/>
            <a:ext cx="4587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Chats often used to improve the service</a:t>
            </a:r>
          </a:p>
        </p:txBody>
      </p:sp>
      <p:cxnSp>
        <p:nvCxnSpPr>
          <p:cNvPr id="27" name="vis:icon"/>
          <p:cNvCxnSpPr/>
          <p:nvPr/>
        </p:nvCxnSpPr>
        <p:spPr>
          <a:xfrm>
            <a:off x="819302" y="4737506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is:icon"/>
          <p:cNvCxnSpPr/>
          <p:nvPr/>
        </p:nvCxnSpPr>
        <p:spPr>
          <a:xfrm flipH="1">
            <a:off x="819302" y="4737506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vis:panelitem"/>
          <p:cNvSpPr txBox="1"/>
          <p:nvPr/>
        </p:nvSpPr>
        <p:spPr>
          <a:xfrm>
            <a:off x="1078992" y="4663440"/>
            <a:ext cx="4587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No record of what was shared</a:t>
            </a:r>
          </a:p>
        </p:txBody>
      </p:sp>
      <p:cxnSp>
        <p:nvCxnSpPr>
          <p:cNvPr id="30" name="vis:icon"/>
          <p:cNvCxnSpPr/>
          <p:nvPr/>
        </p:nvCxnSpPr>
        <p:spPr>
          <a:xfrm>
            <a:off x="819302" y="5066690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s:icon"/>
          <p:cNvCxnSpPr/>
          <p:nvPr/>
        </p:nvCxnSpPr>
        <p:spPr>
          <a:xfrm flipH="1">
            <a:off x="819302" y="5066690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s:panelitem"/>
          <p:cNvSpPr txBox="1"/>
          <p:nvPr/>
        </p:nvSpPr>
        <p:spPr>
          <a:xfrm>
            <a:off x="1078992" y="4992624"/>
            <a:ext cx="4587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Nothing can be deleted on our behalf</a:t>
            </a:r>
          </a:p>
        </p:txBody>
      </p:sp>
      <p:sp>
        <p:nvSpPr>
          <p:cNvPr id="33" name="vis:panel"/>
          <p:cNvSpPr/>
          <p:nvPr/>
        </p:nvSpPr>
        <p:spPr>
          <a:xfrm>
            <a:off x="6251295" y="2706624"/>
            <a:ext cx="5437479" cy="2834640"/>
          </a:xfrm>
          <a:prstGeom prst="roundRect">
            <a:avLst>
              <a:gd name="adj" fmla="val 32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panelspine"/>
          <p:cNvSpPr/>
          <p:nvPr/>
        </p:nvSpPr>
        <p:spPr>
          <a:xfrm>
            <a:off x="6251295" y="2706624"/>
            <a:ext cx="68580" cy="283464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vis:chip"/>
          <p:cNvSpPr/>
          <p:nvPr/>
        </p:nvSpPr>
        <p:spPr>
          <a:xfrm>
            <a:off x="6525615" y="2944368"/>
            <a:ext cx="1366774" cy="274320"/>
          </a:xfrm>
          <a:prstGeom prst="roundRect">
            <a:avLst>
              <a:gd name="adj" fmla="val 16666"/>
            </a:avLst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vis:chiptext"/>
          <p:cNvSpPr txBox="1"/>
          <p:nvPr/>
        </p:nvSpPr>
        <p:spPr>
          <a:xfrm>
            <a:off x="6681063" y="2971799"/>
            <a:ext cx="10558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APPROVED</a:t>
            </a:r>
          </a:p>
        </p:txBody>
      </p:sp>
      <p:sp>
        <p:nvSpPr>
          <p:cNvPr id="37" name="vis:paneltitle"/>
          <p:cNvSpPr txBox="1"/>
          <p:nvPr/>
        </p:nvSpPr>
        <p:spPr>
          <a:xfrm>
            <a:off x="6525615" y="3364991"/>
            <a:ext cx="4888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[COMPANY INPUT NEEDED: approved AI tool]</a:t>
            </a:r>
          </a:p>
        </p:txBody>
      </p:sp>
      <p:cxnSp>
        <p:nvCxnSpPr>
          <p:cNvPr id="38" name="vis:icon"/>
          <p:cNvCxnSpPr/>
          <p:nvPr/>
        </p:nvCxnSpPr>
        <p:spPr>
          <a:xfrm>
            <a:off x="6560362" y="4141317"/>
            <a:ext cx="47549" cy="47549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vis:icon"/>
          <p:cNvCxnSpPr/>
          <p:nvPr/>
        </p:nvCxnSpPr>
        <p:spPr>
          <a:xfrm flipV="1">
            <a:off x="6607911" y="4086453"/>
            <a:ext cx="87783" cy="102413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vis:panelitem"/>
          <p:cNvSpPr txBox="1"/>
          <p:nvPr/>
        </p:nvSpPr>
        <p:spPr>
          <a:xfrm>
            <a:off x="6827367" y="4005072"/>
            <a:ext cx="4587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Covered by terms the company agreed</a:t>
            </a:r>
          </a:p>
        </p:txBody>
      </p:sp>
      <p:cxnSp>
        <p:nvCxnSpPr>
          <p:cNvPr id="41" name="vis:icon"/>
          <p:cNvCxnSpPr/>
          <p:nvPr/>
        </p:nvCxnSpPr>
        <p:spPr>
          <a:xfrm>
            <a:off x="6560362" y="4470501"/>
            <a:ext cx="47549" cy="47549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vis:icon"/>
          <p:cNvCxnSpPr/>
          <p:nvPr/>
        </p:nvCxnSpPr>
        <p:spPr>
          <a:xfrm flipV="1">
            <a:off x="6607911" y="4415637"/>
            <a:ext cx="87783" cy="102413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vis:panelitem"/>
          <p:cNvSpPr txBox="1"/>
          <p:nvPr/>
        </p:nvSpPr>
        <p:spPr>
          <a:xfrm>
            <a:off x="6827367" y="4334256"/>
            <a:ext cx="4587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Business tiers normally exclude training on your data</a:t>
            </a:r>
          </a:p>
        </p:txBody>
      </p:sp>
      <p:cxnSp>
        <p:nvCxnSpPr>
          <p:cNvPr id="44" name="vis:icon"/>
          <p:cNvCxnSpPr/>
          <p:nvPr/>
        </p:nvCxnSpPr>
        <p:spPr>
          <a:xfrm>
            <a:off x="6560362" y="4799685"/>
            <a:ext cx="47549" cy="47549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vis:icon"/>
          <p:cNvCxnSpPr/>
          <p:nvPr/>
        </p:nvCxnSpPr>
        <p:spPr>
          <a:xfrm flipV="1">
            <a:off x="6607911" y="4744821"/>
            <a:ext cx="87783" cy="102413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vis:panelitem"/>
          <p:cNvSpPr txBox="1"/>
          <p:nvPr/>
        </p:nvSpPr>
        <p:spPr>
          <a:xfrm>
            <a:off x="6827367" y="4663440"/>
            <a:ext cx="4587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Access is managed and can be withdrawn</a:t>
            </a:r>
          </a:p>
        </p:txBody>
      </p:sp>
      <p:cxnSp>
        <p:nvCxnSpPr>
          <p:cNvPr id="47" name="vis:icon"/>
          <p:cNvCxnSpPr/>
          <p:nvPr/>
        </p:nvCxnSpPr>
        <p:spPr>
          <a:xfrm>
            <a:off x="6560362" y="5128869"/>
            <a:ext cx="47549" cy="47549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vis:icon"/>
          <p:cNvCxnSpPr/>
          <p:nvPr/>
        </p:nvCxnSpPr>
        <p:spPr>
          <a:xfrm flipV="1">
            <a:off x="6607911" y="5074005"/>
            <a:ext cx="87783" cy="102413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vis:panelitem"/>
          <p:cNvSpPr txBox="1"/>
          <p:nvPr/>
        </p:nvSpPr>
        <p:spPr>
          <a:xfrm>
            <a:off x="6827367" y="4992624"/>
            <a:ext cx="4587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Somebody can answer questions about it later</a:t>
            </a:r>
          </a:p>
        </p:txBody>
      </p:sp>
      <p:sp>
        <p:nvSpPr>
          <p:cNvPr id="50" name="cell:glosshint"/>
          <p:cNvSpPr txBox="1"/>
          <p:nvPr/>
        </p:nvSpPr>
        <p:spPr>
          <a:xfrm>
            <a:off x="502920" y="5687568"/>
            <a:ext cx="16093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What does this mean?</a:t>
            </a:r>
          </a:p>
        </p:txBody>
      </p:sp>
      <p:sp>
        <p:nvSpPr>
          <p:cNvPr id="51" name="vis:chip"/>
          <p:cNvSpPr/>
          <p:nvPr/>
        </p:nvSpPr>
        <p:spPr>
          <a:xfrm>
            <a:off x="2221991" y="5660136"/>
            <a:ext cx="2032789" cy="274320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5B67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vis:chiptext"/>
          <p:cNvSpPr txBox="1"/>
          <p:nvPr/>
        </p:nvSpPr>
        <p:spPr>
          <a:xfrm>
            <a:off x="2377439" y="5687568"/>
            <a:ext cx="17218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5B6779"/>
                </a:solidFill>
                <a:latin typeface="Segoe UI Semibold"/>
              </a:rPr>
              <a:t>APPROVED TOOL  ?</a:t>
            </a:r>
          </a:p>
        </p:txBody>
      </p:sp>
      <p:sp>
        <p:nvSpPr>
          <p:cNvPr id="53" name="nav:gloss">
            <a:hlinkClick action="ppaction://hlinksldjump" r:id="rId3"/>
          </p:cNvPr>
          <p:cNvSpPr/>
          <p:nvPr/>
        </p:nvSpPr>
        <p:spPr>
          <a:xfrm>
            <a:off x="2221991" y="5660136"/>
            <a:ext cx="2032789" cy="27432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APPROVED AND UNAPPROVED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Signs you are in the wrong place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checktile"/>
          <p:cNvSpPr/>
          <p:nvPr/>
        </p:nvSpPr>
        <p:spPr>
          <a:xfrm>
            <a:off x="502920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checkdot"/>
          <p:cNvSpPr/>
          <p:nvPr/>
        </p:nvSpPr>
        <p:spPr>
          <a:xfrm>
            <a:off x="722376" y="2894076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801380" y="2973080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823965" y="2995665"/>
            <a:ext cx="107717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ell:checkitem"/>
          <p:cNvSpPr txBox="1"/>
          <p:nvPr/>
        </p:nvSpPr>
        <p:spPr>
          <a:xfrm>
            <a:off x="1161288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You signed in with a personal email, not your work one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6205575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6425031" y="2894076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icon"/>
          <p:cNvSpPr/>
          <p:nvPr/>
        </p:nvSpPr>
        <p:spPr>
          <a:xfrm>
            <a:off x="6504035" y="2973080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3" name="vis:icon"/>
          <p:cNvCxnSpPr/>
          <p:nvPr/>
        </p:nvCxnSpPr>
        <p:spPr>
          <a:xfrm>
            <a:off x="6526621" y="2995665"/>
            <a:ext cx="107716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6863943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There was no single sign-on screen or company logo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502920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722376" y="4530852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icon"/>
          <p:cNvSpPr/>
          <p:nvPr/>
        </p:nvSpPr>
        <p:spPr>
          <a:xfrm>
            <a:off x="801380" y="4609856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8" name="vis:icon"/>
          <p:cNvCxnSpPr/>
          <p:nvPr/>
        </p:nvCxnSpPr>
        <p:spPr>
          <a:xfrm>
            <a:off x="823965" y="4632441"/>
            <a:ext cx="107717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1161288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The site offered a free trial or asked for a card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6205575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6425031" y="4530852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icon"/>
          <p:cNvSpPr/>
          <p:nvPr/>
        </p:nvSpPr>
        <p:spPr>
          <a:xfrm>
            <a:off x="6504035" y="4609856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3" name="vis:icon"/>
          <p:cNvCxnSpPr/>
          <p:nvPr/>
        </p:nvCxnSpPr>
        <p:spPr>
          <a:xfrm>
            <a:off x="6526621" y="4632441"/>
            <a:ext cx="107716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6863943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You found it through a search result or a social post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THE SETTINGS THAT MATTER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Two switches worth finding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tile"/>
          <p:cNvSpPr/>
          <p:nvPr/>
        </p:nvSpPr>
        <p:spPr>
          <a:xfrm>
            <a:off x="502920" y="1719072"/>
            <a:ext cx="3545738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badge"/>
          <p:cNvSpPr/>
          <p:nvPr/>
        </p:nvSpPr>
        <p:spPr>
          <a:xfrm>
            <a:off x="777240" y="2011679"/>
            <a:ext cx="65836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955789" y="2190229"/>
            <a:ext cx="301269" cy="301269"/>
          </a:xfrm>
          <a:prstGeom prst="ellipse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1000295" y="2234735"/>
            <a:ext cx="212257" cy="212257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ell:tilelabel"/>
          <p:cNvSpPr txBox="1"/>
          <p:nvPr/>
        </p:nvSpPr>
        <p:spPr>
          <a:xfrm>
            <a:off x="777240" y="2852928"/>
            <a:ext cx="299709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Training on your data</a:t>
            </a:r>
          </a:p>
        </p:txBody>
      </p:sp>
      <p:sp>
        <p:nvSpPr>
          <p:cNvPr id="20" name="cell:tilesub"/>
          <p:cNvSpPr txBox="1"/>
          <p:nvPr/>
        </p:nvSpPr>
        <p:spPr>
          <a:xfrm>
            <a:off x="777240" y="3493008"/>
            <a:ext cx="29970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Consumer accounts often use chats to improve the service. Business tiers usually do not. Check which you are on.</a:t>
            </a:r>
          </a:p>
        </p:txBody>
      </p:sp>
      <p:sp>
        <p:nvSpPr>
          <p:cNvPr id="21" name="vis:tile"/>
          <p:cNvSpPr/>
          <p:nvPr/>
        </p:nvSpPr>
        <p:spPr>
          <a:xfrm>
            <a:off x="4322978" y="1719072"/>
            <a:ext cx="3545738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badge"/>
          <p:cNvSpPr/>
          <p:nvPr/>
        </p:nvSpPr>
        <p:spPr>
          <a:xfrm>
            <a:off x="4597298" y="2011679"/>
            <a:ext cx="65836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icon"/>
          <p:cNvSpPr/>
          <p:nvPr/>
        </p:nvSpPr>
        <p:spPr>
          <a:xfrm>
            <a:off x="4775847" y="2190229"/>
            <a:ext cx="301269" cy="301269"/>
          </a:xfrm>
          <a:prstGeom prst="ellipse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4" name="vis:icon"/>
          <p:cNvCxnSpPr/>
          <p:nvPr/>
        </p:nvCxnSpPr>
        <p:spPr>
          <a:xfrm flipV="1">
            <a:off x="4926482" y="2251852"/>
            <a:ext cx="0" cy="89011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s:icon"/>
          <p:cNvCxnSpPr/>
          <p:nvPr/>
        </p:nvCxnSpPr>
        <p:spPr>
          <a:xfrm>
            <a:off x="4926482" y="2340863"/>
            <a:ext cx="75317" cy="27389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ell:tilelabel"/>
          <p:cNvSpPr txBox="1"/>
          <p:nvPr/>
        </p:nvSpPr>
        <p:spPr>
          <a:xfrm>
            <a:off x="4597298" y="2852928"/>
            <a:ext cx="299709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Chat history</a:t>
            </a:r>
          </a:p>
        </p:txBody>
      </p:sp>
      <p:sp>
        <p:nvSpPr>
          <p:cNvPr id="27" name="cell:tilesub"/>
          <p:cNvSpPr txBox="1"/>
          <p:nvPr/>
        </p:nvSpPr>
        <p:spPr>
          <a:xfrm>
            <a:off x="4597298" y="3493008"/>
            <a:ext cx="29970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Turning history off usually turns training off too, and leaves less sitting there to leak.</a:t>
            </a:r>
          </a:p>
        </p:txBody>
      </p:sp>
      <p:sp>
        <p:nvSpPr>
          <p:cNvPr id="28" name="vis:tile"/>
          <p:cNvSpPr/>
          <p:nvPr/>
        </p:nvSpPr>
        <p:spPr>
          <a:xfrm>
            <a:off x="8143036" y="1719072"/>
            <a:ext cx="3545738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badge"/>
          <p:cNvSpPr/>
          <p:nvPr/>
        </p:nvSpPr>
        <p:spPr>
          <a:xfrm>
            <a:off x="8417356" y="2011679"/>
            <a:ext cx="65836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icon"/>
          <p:cNvSpPr/>
          <p:nvPr/>
        </p:nvSpPr>
        <p:spPr>
          <a:xfrm>
            <a:off x="8681494" y="2193652"/>
            <a:ext cx="130093" cy="130093"/>
          </a:xfrm>
          <a:prstGeom prst="ellipse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icon"/>
          <p:cNvSpPr/>
          <p:nvPr/>
        </p:nvSpPr>
        <p:spPr>
          <a:xfrm>
            <a:off x="8609600" y="2375099"/>
            <a:ext cx="273881" cy="119823"/>
          </a:xfrm>
          <a:custGeom>
            <a:avLst/>
            <a:gdLst/>
            <a:ahLst/>
            <a:cxnLst/>
            <a:rect l="l" t="t" r="r" b="b"/>
            <a:pathLst>
              <a:path w="273881" h="119823">
                <a:moveTo>
                  <a:pt x="0" y="119823"/>
                </a:moveTo>
                <a:lnTo>
                  <a:pt x="20541" y="0"/>
                </a:lnTo>
                <a:lnTo>
                  <a:pt x="253340" y="0"/>
                </a:lnTo>
                <a:lnTo>
                  <a:pt x="273881" y="119823"/>
                </a:lnTo>
              </a:path>
            </a:pathLst>
          </a:cu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ell:tilelabel"/>
          <p:cNvSpPr txBox="1"/>
          <p:nvPr/>
        </p:nvSpPr>
        <p:spPr>
          <a:xfrm>
            <a:off x="8417356" y="2852928"/>
            <a:ext cx="299709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Shared workspaces</a:t>
            </a:r>
          </a:p>
        </p:txBody>
      </p:sp>
      <p:sp>
        <p:nvSpPr>
          <p:cNvPr id="33" name="cell:tilesub"/>
          <p:cNvSpPr txBox="1"/>
          <p:nvPr/>
        </p:nvSpPr>
        <p:spPr>
          <a:xfrm>
            <a:off x="8417356" y="3493008"/>
            <a:ext cx="29970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Check whether colleagues can see your conversations. Sometimes they can.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THE SETTINGS THAT MATTER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Settings are not a substitute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alertband"/>
          <p:cNvSpPr/>
          <p:nvPr/>
        </p:nvSpPr>
        <p:spPr>
          <a:xfrm>
            <a:off x="0" y="1719072"/>
            <a:ext cx="12191695" cy="9601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519744" y="2014057"/>
            <a:ext cx="386975" cy="353324"/>
          </a:xfrm>
          <a:custGeom>
            <a:avLst/>
            <a:gdLst/>
            <a:ahLst/>
            <a:cxnLst/>
            <a:rect l="l" t="t" r="r" b="b"/>
            <a:pathLst>
              <a:path w="386975" h="353324">
                <a:moveTo>
                  <a:pt x="193488" y="0"/>
                </a:moveTo>
                <a:lnTo>
                  <a:pt x="386975" y="353324"/>
                </a:lnTo>
                <a:lnTo>
                  <a:pt x="0" y="353324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vis:icon"/>
          <p:cNvCxnSpPr/>
          <p:nvPr/>
        </p:nvCxnSpPr>
        <p:spPr>
          <a:xfrm>
            <a:off x="713232" y="2148657"/>
            <a:ext cx="0" cy="105156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692200" y="2291669"/>
            <a:ext cx="42062" cy="420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body:alert"/>
          <p:cNvSpPr txBox="1"/>
          <p:nvPr/>
        </p:nvSpPr>
        <p:spPr>
          <a:xfrm>
            <a:off x="1179576" y="1901952"/>
            <a:ext cx="1050919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FFFFFF"/>
                </a:solidFill>
                <a:latin typeface="Segoe UI Semibold"/>
              </a:rPr>
              <a:t>Switching training off reduces the risk. It does not make confidential data safe to paste.</a:t>
            </a:r>
          </a:p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The text still travels, is still stored, and is still outside our control.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50292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722376" y="3506724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icon"/>
          <p:cNvSpPr/>
          <p:nvPr/>
        </p:nvSpPr>
        <p:spPr>
          <a:xfrm>
            <a:off x="801380" y="3585728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3" name="vis:icon"/>
          <p:cNvCxnSpPr/>
          <p:nvPr/>
        </p:nvCxnSpPr>
        <p:spPr>
          <a:xfrm>
            <a:off x="823965" y="3608313"/>
            <a:ext cx="107717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116128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Settings reduce reuse.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430469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4524146" y="3506724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icon"/>
          <p:cNvSpPr/>
          <p:nvPr/>
        </p:nvSpPr>
        <p:spPr>
          <a:xfrm>
            <a:off x="4603150" y="3585728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8" name="vis:icon"/>
          <p:cNvCxnSpPr/>
          <p:nvPr/>
        </p:nvCxnSpPr>
        <p:spPr>
          <a:xfrm>
            <a:off x="4625736" y="3608313"/>
            <a:ext cx="107716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496305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They do not stop transmission.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810646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8325916" y="3506724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icon"/>
          <p:cNvSpPr/>
          <p:nvPr/>
        </p:nvSpPr>
        <p:spPr>
          <a:xfrm>
            <a:off x="8404920" y="3585728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3" name="vis:icon"/>
          <p:cNvCxnSpPr/>
          <p:nvPr/>
        </p:nvCxnSpPr>
        <p:spPr>
          <a:xfrm>
            <a:off x="8427506" y="3608313"/>
            <a:ext cx="107716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876482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The paste rules still apply.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AI YOU DID NOT NOTICE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It is already in your tools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body:lead"/>
          <p:cNvSpPr txBox="1"/>
          <p:nvPr/>
        </p:nvSpPr>
        <p:spPr>
          <a:xfrm>
            <a:off x="502920" y="1719072"/>
            <a:ext cx="8343671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A3547"/>
                </a:solidFill>
                <a:latin typeface="Segoe UI"/>
              </a:rPr>
              <a:t>Most people using AI at work today did not decide to. It arrived inside software they already had.</a:t>
            </a:r>
          </a:p>
        </p:txBody>
      </p:sp>
      <p:sp>
        <p:nvSpPr>
          <p:cNvPr id="16" name="vis:flowcard"/>
          <p:cNvSpPr/>
          <p:nvPr/>
        </p:nvSpPr>
        <p:spPr>
          <a:xfrm>
            <a:off x="502920" y="3209544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flownum"/>
          <p:cNvSpPr/>
          <p:nvPr/>
        </p:nvSpPr>
        <p:spPr>
          <a:xfrm>
            <a:off x="685800" y="3026663"/>
            <a:ext cx="384048" cy="384048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flownumtext"/>
          <p:cNvSpPr txBox="1"/>
          <p:nvPr/>
        </p:nvSpPr>
        <p:spPr>
          <a:xfrm>
            <a:off x="685800" y="3104387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vis:flowtitle"/>
          <p:cNvSpPr txBox="1"/>
          <p:nvPr/>
        </p:nvSpPr>
        <p:spPr>
          <a:xfrm>
            <a:off x="704088" y="3575303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01826"/>
                </a:solidFill>
                <a:latin typeface="Segoe UI Semibold"/>
              </a:rPr>
              <a:t>Your email suggests replies</a:t>
            </a:r>
          </a:p>
        </p:txBody>
      </p:sp>
      <p:sp>
        <p:nvSpPr>
          <p:cNvPr id="20" name="vis:flowsub"/>
          <p:cNvSpPr txBox="1"/>
          <p:nvPr/>
        </p:nvSpPr>
        <p:spPr>
          <a:xfrm>
            <a:off x="704088" y="4123944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That is a model reading your message.</a:t>
            </a:r>
          </a:p>
        </p:txBody>
      </p:sp>
      <p:cxnSp>
        <p:nvCxnSpPr>
          <p:cNvPr id="21" name="vis:flowarrow"/>
          <p:cNvCxnSpPr/>
          <p:nvPr/>
        </p:nvCxnSpPr>
        <p:spPr>
          <a:xfrm>
            <a:off x="3093643" y="4169663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s:flowcard"/>
          <p:cNvSpPr/>
          <p:nvPr/>
        </p:nvSpPr>
        <p:spPr>
          <a:xfrm>
            <a:off x="3395395" y="3209544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flownum"/>
          <p:cNvSpPr/>
          <p:nvPr/>
        </p:nvSpPr>
        <p:spPr>
          <a:xfrm>
            <a:off x="3578275" y="3026663"/>
            <a:ext cx="384048" cy="384048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flownumtext"/>
          <p:cNvSpPr txBox="1"/>
          <p:nvPr/>
        </p:nvSpPr>
        <p:spPr>
          <a:xfrm>
            <a:off x="3578275" y="3104387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5" name="vis:flowtitle"/>
          <p:cNvSpPr txBox="1"/>
          <p:nvPr/>
        </p:nvSpPr>
        <p:spPr>
          <a:xfrm>
            <a:off x="3596563" y="3575303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01826"/>
                </a:solidFill>
                <a:latin typeface="Segoe UI Semibold"/>
              </a:rPr>
              <a:t>Your notes app summarises</a:t>
            </a:r>
          </a:p>
        </p:txBody>
      </p:sp>
      <p:sp>
        <p:nvSpPr>
          <p:cNvPr id="26" name="vis:flowsub"/>
          <p:cNvSpPr txBox="1"/>
          <p:nvPr/>
        </p:nvSpPr>
        <p:spPr>
          <a:xfrm>
            <a:off x="3596563" y="4123944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Meeting notes processed somewhere else.</a:t>
            </a:r>
          </a:p>
        </p:txBody>
      </p:sp>
      <p:cxnSp>
        <p:nvCxnSpPr>
          <p:cNvPr id="27" name="vis:flowarrow"/>
          <p:cNvCxnSpPr/>
          <p:nvPr/>
        </p:nvCxnSpPr>
        <p:spPr>
          <a:xfrm>
            <a:off x="5986119" y="4169663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s:flowcard"/>
          <p:cNvSpPr/>
          <p:nvPr/>
        </p:nvSpPr>
        <p:spPr>
          <a:xfrm>
            <a:off x="6287871" y="3209544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flownum"/>
          <p:cNvSpPr/>
          <p:nvPr/>
        </p:nvSpPr>
        <p:spPr>
          <a:xfrm>
            <a:off x="6470751" y="3026663"/>
            <a:ext cx="384048" cy="384048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flownumtext"/>
          <p:cNvSpPr txBox="1"/>
          <p:nvPr/>
        </p:nvSpPr>
        <p:spPr>
          <a:xfrm>
            <a:off x="6470751" y="3104387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1" name="vis:flowtitle"/>
          <p:cNvSpPr txBox="1"/>
          <p:nvPr/>
        </p:nvSpPr>
        <p:spPr>
          <a:xfrm>
            <a:off x="6489039" y="3575303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01826"/>
                </a:solidFill>
                <a:latin typeface="Segoe UI Semibold"/>
              </a:rPr>
              <a:t>Your browser offers to rewrite</a:t>
            </a:r>
          </a:p>
        </p:txBody>
      </p:sp>
      <p:sp>
        <p:nvSpPr>
          <p:cNvPr id="32" name="vis:flowsub"/>
          <p:cNvSpPr txBox="1"/>
          <p:nvPr/>
        </p:nvSpPr>
        <p:spPr>
          <a:xfrm>
            <a:off x="6489039" y="4123944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Selected text sent off for a suggestion.</a:t>
            </a:r>
          </a:p>
        </p:txBody>
      </p:sp>
      <p:cxnSp>
        <p:nvCxnSpPr>
          <p:cNvPr id="33" name="vis:flowarrow"/>
          <p:cNvCxnSpPr/>
          <p:nvPr/>
        </p:nvCxnSpPr>
        <p:spPr>
          <a:xfrm>
            <a:off x="8878595" y="4169663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s:flowcard"/>
          <p:cNvSpPr/>
          <p:nvPr/>
        </p:nvSpPr>
        <p:spPr>
          <a:xfrm>
            <a:off x="9180347" y="3209544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vis:flownum"/>
          <p:cNvSpPr/>
          <p:nvPr/>
        </p:nvSpPr>
        <p:spPr>
          <a:xfrm>
            <a:off x="9363227" y="3026663"/>
            <a:ext cx="384048" cy="384048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vis:flownumtext"/>
          <p:cNvSpPr txBox="1"/>
          <p:nvPr/>
        </p:nvSpPr>
        <p:spPr>
          <a:xfrm>
            <a:off x="9363227" y="3104387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7" name="vis:flowtitle"/>
          <p:cNvSpPr txBox="1"/>
          <p:nvPr/>
        </p:nvSpPr>
        <p:spPr>
          <a:xfrm>
            <a:off x="9381515" y="3575303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01826"/>
                </a:solidFill>
                <a:latin typeface="Segoe UI Semibold"/>
              </a:rPr>
              <a:t>A plugin joins your call</a:t>
            </a:r>
          </a:p>
        </p:txBody>
      </p:sp>
      <p:sp>
        <p:nvSpPr>
          <p:cNvPr id="38" name="vis:flowsub"/>
          <p:cNvSpPr txBox="1"/>
          <p:nvPr/>
        </p:nvSpPr>
        <p:spPr>
          <a:xfrm>
            <a:off x="9381515" y="4123944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Recording and transcribing, often unnoticed.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AI YOU DID NOT NOTICE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The uninvited meeting bot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mistake"/>
          <p:cNvSpPr/>
          <p:nvPr/>
        </p:nvSpPr>
        <p:spPr>
          <a:xfrm>
            <a:off x="502920" y="1719072"/>
            <a:ext cx="11185855" cy="950976"/>
          </a:xfrm>
          <a:prstGeom prst="roundRect">
            <a:avLst>
              <a:gd name="adj" fmla="val 769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mistakebar"/>
          <p:cNvSpPr/>
          <p:nvPr/>
        </p:nvSpPr>
        <p:spPr>
          <a:xfrm>
            <a:off x="502920" y="1719072"/>
            <a:ext cx="68580" cy="95097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mistakenum"/>
          <p:cNvSpPr/>
          <p:nvPr/>
        </p:nvSpPr>
        <p:spPr>
          <a:xfrm>
            <a:off x="740664" y="2039112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mistakenumtext"/>
          <p:cNvSpPr txBox="1"/>
          <p:nvPr/>
        </p:nvSpPr>
        <p:spPr>
          <a:xfrm>
            <a:off x="740664" y="2107692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cell:mistake"/>
          <p:cNvSpPr txBox="1"/>
          <p:nvPr/>
        </p:nvSpPr>
        <p:spPr>
          <a:xfrm>
            <a:off x="1179576" y="1810512"/>
            <a:ext cx="468280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 note-taking bot joins the call</a:t>
            </a:r>
          </a:p>
        </p:txBody>
      </p:sp>
      <p:cxnSp>
        <p:nvCxnSpPr>
          <p:cNvPr id="20" name="vis:line"/>
          <p:cNvCxnSpPr/>
          <p:nvPr/>
        </p:nvCxnSpPr>
        <p:spPr>
          <a:xfrm>
            <a:off x="6008686" y="1865376"/>
            <a:ext cx="0" cy="658368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ell:mistakewhy"/>
          <p:cNvSpPr txBox="1"/>
          <p:nvPr/>
        </p:nvSpPr>
        <p:spPr>
          <a:xfrm>
            <a:off x="6173278" y="1810512"/>
            <a:ext cx="529604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Somebody's personal tool is now recording a meeting nobody consented to.</a:t>
            </a:r>
          </a:p>
        </p:txBody>
      </p:sp>
      <p:sp>
        <p:nvSpPr>
          <p:cNvPr id="22" name="vis:mistake"/>
          <p:cNvSpPr/>
          <p:nvPr/>
        </p:nvSpPr>
        <p:spPr>
          <a:xfrm>
            <a:off x="502920" y="2834639"/>
            <a:ext cx="11185855" cy="950976"/>
          </a:xfrm>
          <a:prstGeom prst="roundRect">
            <a:avLst>
              <a:gd name="adj" fmla="val 769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mistakebar"/>
          <p:cNvSpPr/>
          <p:nvPr/>
        </p:nvSpPr>
        <p:spPr>
          <a:xfrm>
            <a:off x="502920" y="2834639"/>
            <a:ext cx="68580" cy="95097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mistakenum"/>
          <p:cNvSpPr/>
          <p:nvPr/>
        </p:nvSpPr>
        <p:spPr>
          <a:xfrm>
            <a:off x="740664" y="3154679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mistakenumtext"/>
          <p:cNvSpPr txBox="1"/>
          <p:nvPr/>
        </p:nvSpPr>
        <p:spPr>
          <a:xfrm>
            <a:off x="740664" y="3223260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6" name="cell:mistake"/>
          <p:cNvSpPr txBox="1"/>
          <p:nvPr/>
        </p:nvSpPr>
        <p:spPr>
          <a:xfrm>
            <a:off x="1179576" y="2926079"/>
            <a:ext cx="468280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 browser extension rewrites your email</a:t>
            </a:r>
          </a:p>
        </p:txBody>
      </p:sp>
      <p:cxnSp>
        <p:nvCxnSpPr>
          <p:cNvPr id="27" name="vis:line"/>
          <p:cNvCxnSpPr/>
          <p:nvPr/>
        </p:nvCxnSpPr>
        <p:spPr>
          <a:xfrm>
            <a:off x="6008686" y="2980944"/>
            <a:ext cx="0" cy="658367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ell:mistakewhy"/>
          <p:cNvSpPr txBox="1"/>
          <p:nvPr/>
        </p:nvSpPr>
        <p:spPr>
          <a:xfrm>
            <a:off x="6173278" y="2926079"/>
            <a:ext cx="529604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text was sent to a service the company has never assessed.</a:t>
            </a:r>
          </a:p>
        </p:txBody>
      </p:sp>
      <p:sp>
        <p:nvSpPr>
          <p:cNvPr id="29" name="vis:mistake"/>
          <p:cNvSpPr/>
          <p:nvPr/>
        </p:nvSpPr>
        <p:spPr>
          <a:xfrm>
            <a:off x="502920" y="3950208"/>
            <a:ext cx="11185855" cy="950976"/>
          </a:xfrm>
          <a:prstGeom prst="roundRect">
            <a:avLst>
              <a:gd name="adj" fmla="val 769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mistakebar"/>
          <p:cNvSpPr/>
          <p:nvPr/>
        </p:nvSpPr>
        <p:spPr>
          <a:xfrm>
            <a:off x="502920" y="3950208"/>
            <a:ext cx="68580" cy="95097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mistakenum"/>
          <p:cNvSpPr/>
          <p:nvPr/>
        </p:nvSpPr>
        <p:spPr>
          <a:xfrm>
            <a:off x="740664" y="4270248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mistakenumtext"/>
          <p:cNvSpPr txBox="1"/>
          <p:nvPr/>
        </p:nvSpPr>
        <p:spPr>
          <a:xfrm>
            <a:off x="740664" y="433882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3" name="cell:mistake"/>
          <p:cNvSpPr txBox="1"/>
          <p:nvPr/>
        </p:nvSpPr>
        <p:spPr>
          <a:xfrm>
            <a:off x="1179576" y="4041648"/>
            <a:ext cx="468280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 free PDF summariser</a:t>
            </a:r>
          </a:p>
        </p:txBody>
      </p:sp>
      <p:cxnSp>
        <p:nvCxnSpPr>
          <p:cNvPr id="34" name="vis:line"/>
          <p:cNvCxnSpPr/>
          <p:nvPr/>
        </p:nvCxnSpPr>
        <p:spPr>
          <a:xfrm>
            <a:off x="6008686" y="4096512"/>
            <a:ext cx="0" cy="658368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ell:mistakewhy"/>
          <p:cNvSpPr txBox="1"/>
          <p:nvPr/>
        </p:nvSpPr>
        <p:spPr>
          <a:xfrm>
            <a:off x="6173278" y="4041648"/>
            <a:ext cx="529604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You uploaded a contract to a website to save ten minutes of reading.</a:t>
            </a:r>
          </a:p>
        </p:txBody>
      </p:sp>
      <p:sp>
        <p:nvSpPr>
          <p:cNvPr id="36" name="vis:mistake"/>
          <p:cNvSpPr/>
          <p:nvPr/>
        </p:nvSpPr>
        <p:spPr>
          <a:xfrm>
            <a:off x="502920" y="5065776"/>
            <a:ext cx="11185855" cy="950976"/>
          </a:xfrm>
          <a:prstGeom prst="roundRect">
            <a:avLst>
              <a:gd name="adj" fmla="val 769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mistakebar"/>
          <p:cNvSpPr/>
          <p:nvPr/>
        </p:nvSpPr>
        <p:spPr>
          <a:xfrm>
            <a:off x="502920" y="5065776"/>
            <a:ext cx="68580" cy="95097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vis:mistakenum"/>
          <p:cNvSpPr/>
          <p:nvPr/>
        </p:nvSpPr>
        <p:spPr>
          <a:xfrm>
            <a:off x="740664" y="5385816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vis:mistakenumtext"/>
          <p:cNvSpPr txBox="1"/>
          <p:nvPr/>
        </p:nvSpPr>
        <p:spPr>
          <a:xfrm>
            <a:off x="740664" y="5454396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40" name="cell:mistake"/>
          <p:cNvSpPr txBox="1"/>
          <p:nvPr/>
        </p:nvSpPr>
        <p:spPr>
          <a:xfrm>
            <a:off x="1179576" y="5157216"/>
            <a:ext cx="468280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 phone keyboard with AI suggestions</a:t>
            </a:r>
          </a:p>
        </p:txBody>
      </p:sp>
      <p:cxnSp>
        <p:nvCxnSpPr>
          <p:cNvPr id="41" name="vis:line"/>
          <p:cNvCxnSpPr/>
          <p:nvPr/>
        </p:nvCxnSpPr>
        <p:spPr>
          <a:xfrm>
            <a:off x="6008686" y="5212080"/>
            <a:ext cx="0" cy="658368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ell:mistakewhy"/>
          <p:cNvSpPr txBox="1"/>
          <p:nvPr/>
        </p:nvSpPr>
        <p:spPr>
          <a:xfrm>
            <a:off x="6173278" y="5157216"/>
            <a:ext cx="529604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Everything typed, including in work apps, may be processed elsewhere.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KEEPING A TRAIL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Answering the audit question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outcard"/>
          <p:cNvSpPr/>
          <p:nvPr/>
        </p:nvSpPr>
        <p:spPr>
          <a:xfrm>
            <a:off x="502920" y="1719072"/>
            <a:ext cx="5410047" cy="3291840"/>
          </a:xfrm>
          <a:prstGeom prst="roundRect">
            <a:avLst>
              <a:gd name="adj" fmla="val 27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outspine"/>
          <p:cNvSpPr/>
          <p:nvPr/>
        </p:nvSpPr>
        <p:spPr>
          <a:xfrm>
            <a:off x="502920" y="1719072"/>
            <a:ext cx="68580" cy="32918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chip"/>
          <p:cNvSpPr/>
          <p:nvPr/>
        </p:nvSpPr>
        <p:spPr>
          <a:xfrm>
            <a:off x="758952" y="1920240"/>
            <a:ext cx="1463879" cy="274320"/>
          </a:xfrm>
          <a:prstGeom prst="roundRect">
            <a:avLst>
              <a:gd name="adj" fmla="val 1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chiptext"/>
          <p:cNvSpPr txBox="1"/>
          <p:nvPr/>
        </p:nvSpPr>
        <p:spPr>
          <a:xfrm>
            <a:off x="914400" y="1947672"/>
            <a:ext cx="11529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NO RECORD</a:t>
            </a:r>
          </a:p>
        </p:txBody>
      </p:sp>
      <p:sp>
        <p:nvSpPr>
          <p:cNvPr id="19" name="vis:outbody"/>
          <p:cNvSpPr txBox="1"/>
          <p:nvPr/>
        </p:nvSpPr>
        <p:spPr>
          <a:xfrm>
            <a:off x="758952" y="2359152"/>
            <a:ext cx="4897983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"Has any of our material been through an AI tool?"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"I do not think so, but I could not say for certain."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That answer is worse than a yes with a record behind it.</a:t>
            </a:r>
          </a:p>
        </p:txBody>
      </p:sp>
      <p:sp>
        <p:nvSpPr>
          <p:cNvPr id="20" name="vis:outcard"/>
          <p:cNvSpPr/>
          <p:nvPr/>
        </p:nvSpPr>
        <p:spPr>
          <a:xfrm>
            <a:off x="6278727" y="1719072"/>
            <a:ext cx="5410047" cy="3291840"/>
          </a:xfrm>
          <a:prstGeom prst="roundRect">
            <a:avLst>
              <a:gd name="adj" fmla="val 27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outspine"/>
          <p:cNvSpPr/>
          <p:nvPr/>
        </p:nvSpPr>
        <p:spPr>
          <a:xfrm>
            <a:off x="6278727" y="1719072"/>
            <a:ext cx="68580" cy="329184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chip"/>
          <p:cNvSpPr/>
          <p:nvPr/>
        </p:nvSpPr>
        <p:spPr>
          <a:xfrm>
            <a:off x="6534759" y="1920240"/>
            <a:ext cx="1966214" cy="274320"/>
          </a:xfrm>
          <a:prstGeom prst="roundRect">
            <a:avLst>
              <a:gd name="adj" fmla="val 16666"/>
            </a:avLst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chiptext"/>
          <p:cNvSpPr txBox="1"/>
          <p:nvPr/>
        </p:nvSpPr>
        <p:spPr>
          <a:xfrm>
            <a:off x="6690207" y="1947672"/>
            <a:ext cx="165531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ONE LINE PER USE</a:t>
            </a:r>
          </a:p>
        </p:txBody>
      </p:sp>
      <p:sp>
        <p:nvSpPr>
          <p:cNvPr id="24" name="vis:outbody"/>
          <p:cNvSpPr txBox="1"/>
          <p:nvPr/>
        </p:nvSpPr>
        <p:spPr>
          <a:xfrm>
            <a:off x="6534759" y="2359152"/>
            <a:ext cx="4897983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"Drafting assistance only, on the approved tool, with no client drawings uploaded."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Backed by a note in the project file, written at the time.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The question takes thirty seconds and ends there.</a:t>
            </a:r>
          </a:p>
        </p:txBody>
      </p:sp>
      <p:sp>
        <p:nvSpPr>
          <p:cNvPr id="25" name="cell:banote"/>
          <p:cNvSpPr txBox="1"/>
          <p:nvPr/>
        </p:nvSpPr>
        <p:spPr>
          <a:xfrm>
            <a:off x="502920" y="5193792"/>
            <a:ext cx="1118585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Nobody is asking you to justify using a tool. They are asking whether you know what happened to their material.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KEEPING A TRAIL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The one-line note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promptcard"/>
          <p:cNvSpPr/>
          <p:nvPr/>
        </p:nvSpPr>
        <p:spPr>
          <a:xfrm>
            <a:off x="502920" y="1719072"/>
            <a:ext cx="6935230" cy="2146807"/>
          </a:xfrm>
          <a:prstGeom prst="roundRect">
            <a:avLst>
              <a:gd name="adj" fmla="val 4259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promptbar"/>
          <p:cNvSpPr/>
          <p:nvPr/>
        </p:nvSpPr>
        <p:spPr>
          <a:xfrm>
            <a:off x="502920" y="1719072"/>
            <a:ext cx="6935230" cy="402336"/>
          </a:xfrm>
          <a:prstGeom prst="rect">
            <a:avLst/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739932" y="1841235"/>
            <a:ext cx="184343" cy="122895"/>
          </a:xfrm>
          <a:prstGeom prst="roundRect">
            <a:avLst>
              <a:gd name="adj" fmla="val 37202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 flipH="1">
            <a:off x="775045" y="1964131"/>
            <a:ext cx="8778" cy="4828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is:icon"/>
          <p:cNvCxnSpPr/>
          <p:nvPr/>
        </p:nvCxnSpPr>
        <p:spPr>
          <a:xfrm flipV="1">
            <a:off x="775045" y="1964131"/>
            <a:ext cx="48280" cy="4828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copybtn"/>
          <p:cNvSpPr/>
          <p:nvPr/>
        </p:nvSpPr>
        <p:spPr>
          <a:xfrm>
            <a:off x="5577981" y="1792224"/>
            <a:ext cx="1677289" cy="256032"/>
          </a:xfrm>
          <a:prstGeom prst="roundRect">
            <a:avLst>
              <a:gd name="adj" fmla="val 1785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icon"/>
          <p:cNvSpPr/>
          <p:nvPr/>
        </p:nvSpPr>
        <p:spPr>
          <a:xfrm>
            <a:off x="5761592" y="1858060"/>
            <a:ext cx="80832" cy="13057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2" name="vis:icon"/>
          <p:cNvCxnSpPr/>
          <p:nvPr/>
        </p:nvCxnSpPr>
        <p:spPr>
          <a:xfrm>
            <a:off x="5780246" y="1895368"/>
            <a:ext cx="4352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s:icon"/>
          <p:cNvCxnSpPr/>
          <p:nvPr/>
        </p:nvCxnSpPr>
        <p:spPr>
          <a:xfrm>
            <a:off x="5780246" y="1923348"/>
            <a:ext cx="4352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s:icon"/>
          <p:cNvCxnSpPr/>
          <p:nvPr/>
        </p:nvCxnSpPr>
        <p:spPr>
          <a:xfrm>
            <a:off x="5780246" y="1951329"/>
            <a:ext cx="3109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is:copytext"/>
          <p:cNvSpPr txBox="1"/>
          <p:nvPr/>
        </p:nvSpPr>
        <p:spPr>
          <a:xfrm>
            <a:off x="5989461" y="1851660"/>
            <a:ext cx="106464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Select + copy</a:t>
            </a:r>
          </a:p>
        </p:txBody>
      </p:sp>
      <p:sp>
        <p:nvSpPr>
          <p:cNvPr id="26" name="vis:prompthdr"/>
          <p:cNvSpPr txBox="1"/>
          <p:nvPr/>
        </p:nvSpPr>
        <p:spPr>
          <a:xfrm>
            <a:off x="1051560" y="1828800"/>
            <a:ext cx="441669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60">
                <a:solidFill>
                  <a:srgbClr val="FFFFFF"/>
                </a:solidFill>
                <a:latin typeface="Segoe UI Semibold"/>
              </a:rPr>
              <a:t>Copy this note format</a:t>
            </a:r>
          </a:p>
        </p:txBody>
      </p:sp>
      <p:sp>
        <p:nvSpPr>
          <p:cNvPr id="27" name="card:prompt"/>
          <p:cNvSpPr txBox="1"/>
          <p:nvPr/>
        </p:nvSpPr>
        <p:spPr>
          <a:xfrm>
            <a:off x="777240" y="2267712"/>
            <a:ext cx="6386590" cy="924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AI use: [what for — drafting / summarising / formatting]. Tool: [approved tool name]. Data provided: [description, e.g. dates and quantities only, no client documents]. Output checked by: [your name]. Date: [date].</a:t>
            </a:r>
          </a:p>
        </p:txBody>
      </p:sp>
      <p:sp>
        <p:nvSpPr>
          <p:cNvPr id="28" name="vis:promptcap"/>
          <p:cNvSpPr txBox="1"/>
          <p:nvPr/>
        </p:nvSpPr>
        <p:spPr>
          <a:xfrm>
            <a:off x="777240" y="3393440"/>
            <a:ext cx="6386590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D1DE"/>
                </a:solidFill>
                <a:latin typeface="Segoe UI"/>
              </a:rPr>
              <a:t>Five fields, twenty seconds, kept in the project file.</a:t>
            </a:r>
          </a:p>
        </p:txBody>
      </p:sp>
      <p:sp>
        <p:nvSpPr>
          <p:cNvPr id="29" name="seclabel"/>
          <p:cNvSpPr txBox="1"/>
          <p:nvPr/>
        </p:nvSpPr>
        <p:spPr>
          <a:xfrm>
            <a:off x="7803910" y="1773936"/>
            <a:ext cx="3884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WHY THIS WORKS</a:t>
            </a:r>
          </a:p>
        </p:txBody>
      </p:sp>
      <p:cxnSp>
        <p:nvCxnSpPr>
          <p:cNvPr id="30" name="vis:icon"/>
          <p:cNvCxnSpPr/>
          <p:nvPr/>
        </p:nvCxnSpPr>
        <p:spPr>
          <a:xfrm>
            <a:off x="7850361" y="2317455"/>
            <a:ext cx="52304" cy="52304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s:icon"/>
          <p:cNvCxnSpPr/>
          <p:nvPr/>
        </p:nvCxnSpPr>
        <p:spPr>
          <a:xfrm flipV="1">
            <a:off x="7902665" y="2257104"/>
            <a:ext cx="96561" cy="112655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ell:why"/>
          <p:cNvSpPr txBox="1"/>
          <p:nvPr/>
        </p:nvSpPr>
        <p:spPr>
          <a:xfrm>
            <a:off x="8187958" y="2157984"/>
            <a:ext cx="350081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"Data provided" is the field the auditor cares about.</a:t>
            </a:r>
          </a:p>
        </p:txBody>
      </p:sp>
      <p:cxnSp>
        <p:nvCxnSpPr>
          <p:cNvPr id="33" name="vis:icon"/>
          <p:cNvCxnSpPr/>
          <p:nvPr/>
        </p:nvCxnSpPr>
        <p:spPr>
          <a:xfrm>
            <a:off x="7850361" y="3250143"/>
            <a:ext cx="52304" cy="52304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vis:icon"/>
          <p:cNvCxnSpPr/>
          <p:nvPr/>
        </p:nvCxnSpPr>
        <p:spPr>
          <a:xfrm flipV="1">
            <a:off x="7902665" y="3189792"/>
            <a:ext cx="96561" cy="112655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ell:why"/>
          <p:cNvSpPr txBox="1"/>
          <p:nvPr/>
        </p:nvSpPr>
        <p:spPr>
          <a:xfrm>
            <a:off x="8187958" y="3090672"/>
            <a:ext cx="350081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"Checked by" makes clear a person owned the output.</a:t>
            </a:r>
          </a:p>
        </p:txBody>
      </p:sp>
      <p:cxnSp>
        <p:nvCxnSpPr>
          <p:cNvPr id="36" name="vis:icon"/>
          <p:cNvCxnSpPr/>
          <p:nvPr/>
        </p:nvCxnSpPr>
        <p:spPr>
          <a:xfrm>
            <a:off x="7850361" y="4182831"/>
            <a:ext cx="52304" cy="52304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vis:icon"/>
          <p:cNvCxnSpPr/>
          <p:nvPr/>
        </p:nvCxnSpPr>
        <p:spPr>
          <a:xfrm flipV="1">
            <a:off x="7902665" y="4122480"/>
            <a:ext cx="96561" cy="112655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ell:why"/>
          <p:cNvSpPr txBox="1"/>
          <p:nvPr/>
        </p:nvSpPr>
        <p:spPr>
          <a:xfrm>
            <a:off x="8187958" y="4023360"/>
            <a:ext cx="350081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Written at the time, it takes seconds. Reconstructed later, it is guesswork.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Do this now: check your setup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stepnum"/>
          <p:cNvSpPr/>
          <p:nvPr/>
        </p:nvSpPr>
        <p:spPr>
          <a:xfrm>
            <a:off x="502920" y="2027681"/>
            <a:ext cx="347472" cy="34747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stepnumtext"/>
          <p:cNvSpPr txBox="1"/>
          <p:nvPr/>
        </p:nvSpPr>
        <p:spPr>
          <a:xfrm>
            <a:off x="502920" y="2105406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cxnSp>
        <p:nvCxnSpPr>
          <p:cNvPr id="17" name="vis:line"/>
          <p:cNvCxnSpPr/>
          <p:nvPr/>
        </p:nvCxnSpPr>
        <p:spPr>
          <a:xfrm>
            <a:off x="676656" y="2375154"/>
            <a:ext cx="0" cy="76352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ell:step"/>
          <p:cNvSpPr txBox="1"/>
          <p:nvPr/>
        </p:nvSpPr>
        <p:spPr>
          <a:xfrm>
            <a:off x="1051560" y="1719072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Open every AI tool you have used for work in the last month.</a:t>
            </a:r>
          </a:p>
        </p:txBody>
      </p:sp>
      <p:sp>
        <p:nvSpPr>
          <p:cNvPr id="19" name="vis:stepnum"/>
          <p:cNvSpPr/>
          <p:nvPr/>
        </p:nvSpPr>
        <p:spPr>
          <a:xfrm>
            <a:off x="502920" y="3138677"/>
            <a:ext cx="347472" cy="34747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stepnumtext"/>
          <p:cNvSpPr txBox="1"/>
          <p:nvPr/>
        </p:nvSpPr>
        <p:spPr>
          <a:xfrm>
            <a:off x="502920" y="3216401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cxnSp>
        <p:nvCxnSpPr>
          <p:cNvPr id="21" name="vis:line"/>
          <p:cNvCxnSpPr/>
          <p:nvPr/>
        </p:nvCxnSpPr>
        <p:spPr>
          <a:xfrm>
            <a:off x="676656" y="3486150"/>
            <a:ext cx="0" cy="76352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ell:step"/>
          <p:cNvSpPr txBox="1"/>
          <p:nvPr/>
        </p:nvSpPr>
        <p:spPr>
          <a:xfrm>
            <a:off x="1051560" y="2830068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Check which account you are signed in with on each.</a:t>
            </a:r>
          </a:p>
        </p:txBody>
      </p:sp>
      <p:sp>
        <p:nvSpPr>
          <p:cNvPr id="23" name="vis:stepnum"/>
          <p:cNvSpPr/>
          <p:nvPr/>
        </p:nvSpPr>
        <p:spPr>
          <a:xfrm>
            <a:off x="502920" y="4249674"/>
            <a:ext cx="347472" cy="34747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stepnumtext"/>
          <p:cNvSpPr txBox="1"/>
          <p:nvPr/>
        </p:nvSpPr>
        <p:spPr>
          <a:xfrm>
            <a:off x="502920" y="4327398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cxnSp>
        <p:nvCxnSpPr>
          <p:cNvPr id="25" name="vis:line"/>
          <p:cNvCxnSpPr/>
          <p:nvPr/>
        </p:nvCxnSpPr>
        <p:spPr>
          <a:xfrm>
            <a:off x="676656" y="4597146"/>
            <a:ext cx="0" cy="76352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ell:step"/>
          <p:cNvSpPr txBox="1"/>
          <p:nvPr/>
        </p:nvSpPr>
        <p:spPr>
          <a:xfrm>
            <a:off x="1051560" y="3941064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Find the data and privacy settings and turn training off.</a:t>
            </a:r>
          </a:p>
        </p:txBody>
      </p:sp>
      <p:sp>
        <p:nvSpPr>
          <p:cNvPr id="27" name="vis:stepnum"/>
          <p:cNvSpPr/>
          <p:nvPr/>
        </p:nvSpPr>
        <p:spPr>
          <a:xfrm>
            <a:off x="502920" y="5360670"/>
            <a:ext cx="347472" cy="34747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stepnumtext"/>
          <p:cNvSpPr txBox="1"/>
          <p:nvPr/>
        </p:nvSpPr>
        <p:spPr>
          <a:xfrm>
            <a:off x="502920" y="5438394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9" name="cell:step"/>
          <p:cNvSpPr txBox="1"/>
          <p:nvPr/>
        </p:nvSpPr>
        <p:spPr>
          <a:xfrm>
            <a:off x="1051560" y="5052060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Remove any browser extension you cannot name the vendor of.</a:t>
            </a:r>
          </a:p>
        </p:txBody>
      </p:sp>
      <p:sp>
        <p:nvSpPr>
          <p:cNvPr id="30" name="vis:promptcard"/>
          <p:cNvSpPr/>
          <p:nvPr/>
        </p:nvSpPr>
        <p:spPr>
          <a:xfrm>
            <a:off x="6461607" y="1719072"/>
            <a:ext cx="5227167" cy="2377947"/>
          </a:xfrm>
          <a:prstGeom prst="roundRect">
            <a:avLst>
              <a:gd name="adj" fmla="val 3845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promptbar"/>
          <p:cNvSpPr/>
          <p:nvPr/>
        </p:nvSpPr>
        <p:spPr>
          <a:xfrm>
            <a:off x="6461607" y="1719072"/>
            <a:ext cx="5227167" cy="402336"/>
          </a:xfrm>
          <a:prstGeom prst="rect">
            <a:avLst/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icon"/>
          <p:cNvSpPr/>
          <p:nvPr/>
        </p:nvSpPr>
        <p:spPr>
          <a:xfrm>
            <a:off x="6698620" y="1841235"/>
            <a:ext cx="184343" cy="122895"/>
          </a:xfrm>
          <a:prstGeom prst="roundRect">
            <a:avLst>
              <a:gd name="adj" fmla="val 37202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3" name="vis:icon"/>
          <p:cNvCxnSpPr/>
          <p:nvPr/>
        </p:nvCxnSpPr>
        <p:spPr>
          <a:xfrm flipH="1">
            <a:off x="6733733" y="1964131"/>
            <a:ext cx="8778" cy="4828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vis:icon"/>
          <p:cNvCxnSpPr/>
          <p:nvPr/>
        </p:nvCxnSpPr>
        <p:spPr>
          <a:xfrm flipV="1">
            <a:off x="6733733" y="1964131"/>
            <a:ext cx="48280" cy="4828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vis:copybtn"/>
          <p:cNvSpPr/>
          <p:nvPr/>
        </p:nvSpPr>
        <p:spPr>
          <a:xfrm>
            <a:off x="9828606" y="1792224"/>
            <a:ext cx="1677289" cy="256032"/>
          </a:xfrm>
          <a:prstGeom prst="roundRect">
            <a:avLst>
              <a:gd name="adj" fmla="val 1785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vis:icon"/>
          <p:cNvSpPr/>
          <p:nvPr/>
        </p:nvSpPr>
        <p:spPr>
          <a:xfrm>
            <a:off x="10012217" y="1858060"/>
            <a:ext cx="80832" cy="13057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7" name="vis:icon"/>
          <p:cNvCxnSpPr/>
          <p:nvPr/>
        </p:nvCxnSpPr>
        <p:spPr>
          <a:xfrm>
            <a:off x="10030871" y="1895368"/>
            <a:ext cx="4352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vis:icon"/>
          <p:cNvCxnSpPr/>
          <p:nvPr/>
        </p:nvCxnSpPr>
        <p:spPr>
          <a:xfrm>
            <a:off x="10030871" y="1923348"/>
            <a:ext cx="4352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vis:icon"/>
          <p:cNvCxnSpPr/>
          <p:nvPr/>
        </p:nvCxnSpPr>
        <p:spPr>
          <a:xfrm>
            <a:off x="10030871" y="1951329"/>
            <a:ext cx="3109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vis:copytext"/>
          <p:cNvSpPr txBox="1"/>
          <p:nvPr/>
        </p:nvSpPr>
        <p:spPr>
          <a:xfrm>
            <a:off x="10240086" y="1851660"/>
            <a:ext cx="106464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Select + copy</a:t>
            </a:r>
          </a:p>
        </p:txBody>
      </p:sp>
      <p:sp>
        <p:nvSpPr>
          <p:cNvPr id="41" name="vis:prompthdr"/>
          <p:cNvSpPr txBox="1"/>
          <p:nvPr/>
        </p:nvSpPr>
        <p:spPr>
          <a:xfrm>
            <a:off x="7010247" y="1828800"/>
            <a:ext cx="27086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60">
                <a:solidFill>
                  <a:srgbClr val="FFFFFF"/>
                </a:solidFill>
                <a:latin typeface="Segoe UI Semibold"/>
              </a:rPr>
              <a:t>Copy this prompt</a:t>
            </a:r>
          </a:p>
        </p:txBody>
      </p:sp>
      <p:sp>
        <p:nvSpPr>
          <p:cNvPr id="42" name="card:prompt"/>
          <p:cNvSpPr txBox="1"/>
          <p:nvPr/>
        </p:nvSpPr>
        <p:spPr>
          <a:xfrm>
            <a:off x="6735927" y="2267712"/>
            <a:ext cx="4678527" cy="1155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Explain, for someone with no technical background, what the difference is between a consumer AI account and a business one in terms of how data is handled. Six lines maximum. Do not recommend specific products.</a:t>
            </a:r>
          </a:p>
        </p:txBody>
      </p:sp>
      <p:sp>
        <p:nvSpPr>
          <p:cNvPr id="43" name="vis:promptcap"/>
          <p:cNvSpPr txBox="1"/>
          <p:nvPr/>
        </p:nvSpPr>
        <p:spPr>
          <a:xfrm>
            <a:off x="6735927" y="3624579"/>
            <a:ext cx="4678527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D1DE"/>
                </a:solidFill>
                <a:latin typeface="Segoe UI"/>
              </a:rPr>
              <a:t>Useful background before you check your own settings.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Saying that AI helped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checktile"/>
          <p:cNvSpPr/>
          <p:nvPr/>
        </p:nvSpPr>
        <p:spPr>
          <a:xfrm>
            <a:off x="502920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checkdot"/>
          <p:cNvSpPr/>
          <p:nvPr/>
        </p:nvSpPr>
        <p:spPr>
          <a:xfrm>
            <a:off x="722376" y="2894076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815279" y="3052998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is:icon"/>
          <p:cNvCxnSpPr/>
          <p:nvPr/>
        </p:nvCxnSpPr>
        <p:spPr>
          <a:xfrm flipV="1">
            <a:off x="860450" y="3000877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ell:checkitem"/>
          <p:cNvSpPr txBox="1"/>
          <p:nvPr/>
        </p:nvSpPr>
        <p:spPr>
          <a:xfrm>
            <a:off x="1161288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Never present AI output as a source or as research.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6205575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6425031" y="2894076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2" name="vis:icon"/>
          <p:cNvCxnSpPr/>
          <p:nvPr/>
        </p:nvCxnSpPr>
        <p:spPr>
          <a:xfrm>
            <a:off x="6517934" y="3052998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s:icon"/>
          <p:cNvCxnSpPr/>
          <p:nvPr/>
        </p:nvCxnSpPr>
        <p:spPr>
          <a:xfrm flipV="1">
            <a:off x="6563106" y="3000877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6863943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If asked, say plainly that you drafted it with AI assistance.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502920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722376" y="4530852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815279" y="4689774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is:icon"/>
          <p:cNvCxnSpPr/>
          <p:nvPr/>
        </p:nvCxnSpPr>
        <p:spPr>
          <a:xfrm flipV="1">
            <a:off x="860450" y="4637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1161288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Do not claim a level of checking you did not do.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6205575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6425031" y="4530852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2" name="vis:icon"/>
          <p:cNvCxnSpPr/>
          <p:nvPr/>
        </p:nvCxnSpPr>
        <p:spPr>
          <a:xfrm>
            <a:off x="6517934" y="4689774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6563106" y="4637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6863943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The work is yours either way, because you sent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The three rules that never change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nest"/>
          <p:cNvSpPr/>
          <p:nvPr/>
        </p:nvSpPr>
        <p:spPr>
          <a:xfrm>
            <a:off x="502920" y="2221991"/>
            <a:ext cx="6264078" cy="3291840"/>
          </a:xfrm>
          <a:prstGeom prst="roundRect">
            <a:avLst>
              <a:gd name="adj" fmla="val 2777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nestlabel"/>
          <p:cNvSpPr txBox="1"/>
          <p:nvPr/>
        </p:nvSpPr>
        <p:spPr>
          <a:xfrm>
            <a:off x="722376" y="2368296"/>
            <a:ext cx="58251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Approved tool, work account</a:t>
            </a:r>
          </a:p>
        </p:txBody>
      </p:sp>
      <p:sp>
        <p:nvSpPr>
          <p:cNvPr id="17" name="vis:nestsub"/>
          <p:cNvSpPr txBox="1"/>
          <p:nvPr/>
        </p:nvSpPr>
        <p:spPr>
          <a:xfrm>
            <a:off x="722376" y="2679191"/>
            <a:ext cx="58251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Every time, including for quick questions.</a:t>
            </a:r>
          </a:p>
        </p:txBody>
      </p:sp>
      <p:sp>
        <p:nvSpPr>
          <p:cNvPr id="18" name="vis:nest"/>
          <p:cNvSpPr/>
          <p:nvPr/>
        </p:nvSpPr>
        <p:spPr>
          <a:xfrm>
            <a:off x="832104" y="3081527"/>
            <a:ext cx="560571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vis:nestlabel"/>
          <p:cNvSpPr txBox="1"/>
          <p:nvPr/>
        </p:nvSpPr>
        <p:spPr>
          <a:xfrm>
            <a:off x="1051560" y="3227832"/>
            <a:ext cx="51667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Facts, never files</a:t>
            </a:r>
          </a:p>
        </p:txBody>
      </p:sp>
      <p:sp>
        <p:nvSpPr>
          <p:cNvPr id="20" name="vis:nestsub"/>
          <p:cNvSpPr txBox="1"/>
          <p:nvPr/>
        </p:nvSpPr>
        <p:spPr>
          <a:xfrm>
            <a:off x="1051560" y="3538727"/>
            <a:ext cx="51667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Describe the situation. Do not upload the document.</a:t>
            </a:r>
          </a:p>
        </p:txBody>
      </p:sp>
      <p:sp>
        <p:nvSpPr>
          <p:cNvPr id="21" name="vis:nest"/>
          <p:cNvSpPr/>
          <p:nvPr/>
        </p:nvSpPr>
        <p:spPr>
          <a:xfrm>
            <a:off x="1161288" y="3941063"/>
            <a:ext cx="4947342" cy="1024128"/>
          </a:xfrm>
          <a:prstGeom prst="roundRect">
            <a:avLst>
              <a:gd name="adj" fmla="val 8928"/>
            </a:avLst>
          </a:prstGeom>
          <a:solidFill>
            <a:srgbClr val="F3F6FB"/>
          </a:solidFill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nestlabel"/>
          <p:cNvSpPr txBox="1"/>
          <p:nvPr/>
        </p:nvSpPr>
        <p:spPr>
          <a:xfrm>
            <a:off x="1380744" y="4087368"/>
            <a:ext cx="45084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A1220"/>
                </a:solidFill>
                <a:latin typeface="Segoe UI Semibold"/>
              </a:rPr>
              <a:t>A person checks the output</a:t>
            </a:r>
          </a:p>
        </p:txBody>
      </p:sp>
      <p:sp>
        <p:nvSpPr>
          <p:cNvPr id="23" name="vis:nestsub"/>
          <p:cNvSpPr txBox="1"/>
          <p:nvPr/>
        </p:nvSpPr>
        <p:spPr>
          <a:xfrm>
            <a:off x="1380744" y="4398264"/>
            <a:ext cx="450843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And a person is accountable for it afterwards.</a:t>
            </a:r>
          </a:p>
        </p:txBody>
      </p:sp>
      <p:sp>
        <p:nvSpPr>
          <p:cNvPr id="24" name="body:nestnote"/>
          <p:cNvSpPr txBox="1"/>
          <p:nvPr/>
        </p:nvSpPr>
        <p:spPr>
          <a:xfrm>
            <a:off x="7438150" y="2368296"/>
            <a:ext cx="4250624" cy="2999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B6779"/>
                </a:solidFill>
                <a:latin typeface="Segoe UI"/>
              </a:rPr>
              <a:t>Settings, tools and policies will change. These three have not changed since the first of these tools arrived, and will not.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Five mistakes people really make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mistake"/>
          <p:cNvSpPr/>
          <p:nvPr/>
        </p:nvSpPr>
        <p:spPr>
          <a:xfrm>
            <a:off x="502920" y="1719072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mistakebar"/>
          <p:cNvSpPr/>
          <p:nvPr/>
        </p:nvSpPr>
        <p:spPr>
          <a:xfrm>
            <a:off x="502920" y="1719072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mistakenum"/>
          <p:cNvSpPr/>
          <p:nvPr/>
        </p:nvSpPr>
        <p:spPr>
          <a:xfrm>
            <a:off x="740664" y="1927555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mistakenumtext"/>
          <p:cNvSpPr txBox="1"/>
          <p:nvPr/>
        </p:nvSpPr>
        <p:spPr>
          <a:xfrm>
            <a:off x="740664" y="199613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cell:mistake"/>
          <p:cNvSpPr txBox="1"/>
          <p:nvPr/>
        </p:nvSpPr>
        <p:spPr>
          <a:xfrm>
            <a:off x="1179576" y="1810512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Using a personal account for a quick question</a:t>
            </a:r>
          </a:p>
        </p:txBody>
      </p:sp>
      <p:cxnSp>
        <p:nvCxnSpPr>
          <p:cNvPr id="20" name="vis:line"/>
          <p:cNvCxnSpPr/>
          <p:nvPr/>
        </p:nvCxnSpPr>
        <p:spPr>
          <a:xfrm>
            <a:off x="6008686" y="1865376"/>
            <a:ext cx="0" cy="43525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ell:mistakewhy"/>
          <p:cNvSpPr txBox="1"/>
          <p:nvPr/>
        </p:nvSpPr>
        <p:spPr>
          <a:xfrm>
            <a:off x="6173278" y="1810512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Quick questions carry the same data as slow ones, with none of the protections.</a:t>
            </a:r>
          </a:p>
        </p:txBody>
      </p:sp>
      <p:sp>
        <p:nvSpPr>
          <p:cNvPr id="22" name="vis:mistake"/>
          <p:cNvSpPr/>
          <p:nvPr/>
        </p:nvSpPr>
        <p:spPr>
          <a:xfrm>
            <a:off x="502920" y="2611526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mistakebar"/>
          <p:cNvSpPr/>
          <p:nvPr/>
        </p:nvSpPr>
        <p:spPr>
          <a:xfrm>
            <a:off x="502920" y="2611526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mistakenum"/>
          <p:cNvSpPr/>
          <p:nvPr/>
        </p:nvSpPr>
        <p:spPr>
          <a:xfrm>
            <a:off x="740664" y="2820009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mistakenumtext"/>
          <p:cNvSpPr txBox="1"/>
          <p:nvPr/>
        </p:nvSpPr>
        <p:spPr>
          <a:xfrm>
            <a:off x="740664" y="2888589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6" name="cell:mistake"/>
          <p:cNvSpPr txBox="1"/>
          <p:nvPr/>
        </p:nvSpPr>
        <p:spPr>
          <a:xfrm>
            <a:off x="1179576" y="2702966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Installing a browser extension that rewrites text</a:t>
            </a:r>
          </a:p>
        </p:txBody>
      </p:sp>
      <p:cxnSp>
        <p:nvCxnSpPr>
          <p:cNvPr id="27" name="vis:line"/>
          <p:cNvCxnSpPr/>
          <p:nvPr/>
        </p:nvCxnSpPr>
        <p:spPr>
          <a:xfrm>
            <a:off x="6008686" y="2757830"/>
            <a:ext cx="0" cy="43525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ell:mistakewhy"/>
          <p:cNvSpPr txBox="1"/>
          <p:nvPr/>
        </p:nvSpPr>
        <p:spPr>
          <a:xfrm>
            <a:off x="6173278" y="2702966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Everything you select goes to a service nobody here has assessed.</a:t>
            </a:r>
          </a:p>
        </p:txBody>
      </p:sp>
      <p:sp>
        <p:nvSpPr>
          <p:cNvPr id="29" name="vis:mistake"/>
          <p:cNvSpPr/>
          <p:nvPr/>
        </p:nvSpPr>
        <p:spPr>
          <a:xfrm>
            <a:off x="502920" y="3503980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mistakebar"/>
          <p:cNvSpPr/>
          <p:nvPr/>
        </p:nvSpPr>
        <p:spPr>
          <a:xfrm>
            <a:off x="502920" y="3503980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mistakenum"/>
          <p:cNvSpPr/>
          <p:nvPr/>
        </p:nvSpPr>
        <p:spPr>
          <a:xfrm>
            <a:off x="740664" y="3712463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mistakenumtext"/>
          <p:cNvSpPr txBox="1"/>
          <p:nvPr/>
        </p:nvSpPr>
        <p:spPr>
          <a:xfrm>
            <a:off x="740664" y="3781044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3" name="cell:mistake"/>
          <p:cNvSpPr txBox="1"/>
          <p:nvPr/>
        </p:nvSpPr>
        <p:spPr>
          <a:xfrm>
            <a:off x="1179576" y="3595420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Letting a note-taking bot into a client call</a:t>
            </a:r>
          </a:p>
        </p:txBody>
      </p:sp>
      <p:cxnSp>
        <p:nvCxnSpPr>
          <p:cNvPr id="34" name="vis:line"/>
          <p:cNvCxnSpPr/>
          <p:nvPr/>
        </p:nvCxnSpPr>
        <p:spPr>
          <a:xfrm>
            <a:off x="6008686" y="3650284"/>
            <a:ext cx="0" cy="435255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ell:mistakewhy"/>
          <p:cNvSpPr txBox="1"/>
          <p:nvPr/>
        </p:nvSpPr>
        <p:spPr>
          <a:xfrm>
            <a:off x="6173278" y="3595420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You have recorded people who never agreed to be recorded.</a:t>
            </a:r>
          </a:p>
        </p:txBody>
      </p:sp>
      <p:sp>
        <p:nvSpPr>
          <p:cNvPr id="36" name="vis:mistake"/>
          <p:cNvSpPr/>
          <p:nvPr/>
        </p:nvSpPr>
        <p:spPr>
          <a:xfrm>
            <a:off x="502920" y="4396435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mistakebar"/>
          <p:cNvSpPr/>
          <p:nvPr/>
        </p:nvSpPr>
        <p:spPr>
          <a:xfrm>
            <a:off x="502920" y="4396435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vis:mistakenum"/>
          <p:cNvSpPr/>
          <p:nvPr/>
        </p:nvSpPr>
        <p:spPr>
          <a:xfrm>
            <a:off x="740664" y="4604918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vis:mistakenumtext"/>
          <p:cNvSpPr txBox="1"/>
          <p:nvPr/>
        </p:nvSpPr>
        <p:spPr>
          <a:xfrm>
            <a:off x="740664" y="467349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40" name="cell:mistake"/>
          <p:cNvSpPr txBox="1"/>
          <p:nvPr/>
        </p:nvSpPr>
        <p:spPr>
          <a:xfrm>
            <a:off x="1179576" y="4487875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Assuming settings make pasting safe</a:t>
            </a:r>
          </a:p>
        </p:txBody>
      </p:sp>
      <p:cxnSp>
        <p:nvCxnSpPr>
          <p:cNvPr id="41" name="vis:line"/>
          <p:cNvCxnSpPr/>
          <p:nvPr/>
        </p:nvCxnSpPr>
        <p:spPr>
          <a:xfrm>
            <a:off x="6008686" y="4542739"/>
            <a:ext cx="0" cy="43525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ell:mistakewhy"/>
          <p:cNvSpPr txBox="1"/>
          <p:nvPr/>
        </p:nvSpPr>
        <p:spPr>
          <a:xfrm>
            <a:off x="6173278" y="4487875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They reduce reuse. The data still leaves, and is still stored.</a:t>
            </a:r>
          </a:p>
        </p:txBody>
      </p:sp>
      <p:sp>
        <p:nvSpPr>
          <p:cNvPr id="43" name="vis:mistake"/>
          <p:cNvSpPr/>
          <p:nvPr/>
        </p:nvSpPr>
        <p:spPr>
          <a:xfrm>
            <a:off x="502920" y="5288889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vis:mistakebar"/>
          <p:cNvSpPr/>
          <p:nvPr/>
        </p:nvSpPr>
        <p:spPr>
          <a:xfrm>
            <a:off x="502920" y="5288889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vis:mistakenum"/>
          <p:cNvSpPr/>
          <p:nvPr/>
        </p:nvSpPr>
        <p:spPr>
          <a:xfrm>
            <a:off x="740664" y="5497372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vis:mistakenumtext"/>
          <p:cNvSpPr txBox="1"/>
          <p:nvPr/>
        </p:nvSpPr>
        <p:spPr>
          <a:xfrm>
            <a:off x="740664" y="5565952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7" name="cell:mistake"/>
          <p:cNvSpPr txBox="1"/>
          <p:nvPr/>
        </p:nvSpPr>
        <p:spPr>
          <a:xfrm>
            <a:off x="1179576" y="5380329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Keeping no record at all</a:t>
            </a:r>
          </a:p>
        </p:txBody>
      </p:sp>
      <p:cxnSp>
        <p:nvCxnSpPr>
          <p:cNvPr id="48" name="vis:line"/>
          <p:cNvCxnSpPr/>
          <p:nvPr/>
        </p:nvCxnSpPr>
        <p:spPr>
          <a:xfrm>
            <a:off x="6008686" y="5435193"/>
            <a:ext cx="0" cy="435255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ell:mistakewhy"/>
          <p:cNvSpPr txBox="1"/>
          <p:nvPr/>
        </p:nvSpPr>
        <p:spPr>
          <a:xfrm>
            <a:off x="6173278" y="5380329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"I do not know" is the worst possible answer to an audit question.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The safe use rule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alertband"/>
          <p:cNvSpPr/>
          <p:nvPr/>
        </p:nvSpPr>
        <p:spPr>
          <a:xfrm>
            <a:off x="0" y="1719072"/>
            <a:ext cx="12191695" cy="960120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519744" y="2014057"/>
            <a:ext cx="386975" cy="353324"/>
          </a:xfrm>
          <a:custGeom>
            <a:avLst/>
            <a:gdLst/>
            <a:ahLst/>
            <a:cxnLst/>
            <a:rect l="l" t="t" r="r" b="b"/>
            <a:pathLst>
              <a:path w="386975" h="353324">
                <a:moveTo>
                  <a:pt x="193488" y="0"/>
                </a:moveTo>
                <a:lnTo>
                  <a:pt x="386975" y="353324"/>
                </a:lnTo>
                <a:lnTo>
                  <a:pt x="0" y="353324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vis:icon"/>
          <p:cNvCxnSpPr/>
          <p:nvPr/>
        </p:nvCxnSpPr>
        <p:spPr>
          <a:xfrm>
            <a:off x="713232" y="2148657"/>
            <a:ext cx="0" cy="105156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692200" y="2291669"/>
            <a:ext cx="42062" cy="420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body:alert"/>
          <p:cNvSpPr txBox="1"/>
          <p:nvPr/>
        </p:nvSpPr>
        <p:spPr>
          <a:xfrm>
            <a:off x="1179576" y="1901952"/>
            <a:ext cx="1050919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FFFFFF"/>
                </a:solidFill>
                <a:latin typeface="Segoe UI Semibold"/>
              </a:rPr>
              <a:t>Approved tool, work account, facts not files, and a person who checked it.</a:t>
            </a:r>
          </a:p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Four conditions. If all four hold, you are almost always fine.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50292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722376" y="3506724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2" name="vis:icon"/>
          <p:cNvCxnSpPr/>
          <p:nvPr/>
        </p:nvCxnSpPr>
        <p:spPr>
          <a:xfrm>
            <a:off x="815279" y="3665646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s:icon"/>
          <p:cNvCxnSpPr/>
          <p:nvPr/>
        </p:nvCxnSpPr>
        <p:spPr>
          <a:xfrm flipV="1">
            <a:off x="860450" y="3613525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116128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Approved tool and work account.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430469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4524146" y="3506724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4617049" y="3665646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is:icon"/>
          <p:cNvCxnSpPr/>
          <p:nvPr/>
        </p:nvCxnSpPr>
        <p:spPr>
          <a:xfrm flipV="1">
            <a:off x="4662220" y="3613525"/>
            <a:ext cx="83394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496305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Facts described, files kept back.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810646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8325916" y="3506724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2" name="vis:icon"/>
          <p:cNvCxnSpPr/>
          <p:nvPr/>
        </p:nvCxnSpPr>
        <p:spPr>
          <a:xfrm>
            <a:off x="8418819" y="3665646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8463991" y="3613525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876482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A named person checked the output.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CHOOSE WHAT YOU'D DO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Audit week, Tuesday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sccard"/>
          <p:cNvSpPr/>
          <p:nvPr/>
        </p:nvSpPr>
        <p:spPr>
          <a:xfrm>
            <a:off x="502920" y="1719072"/>
            <a:ext cx="11185855" cy="1097280"/>
          </a:xfrm>
          <a:prstGeom prst="roundRect">
            <a:avLst>
              <a:gd name="adj" fmla="val 8333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942929" y="2063252"/>
            <a:ext cx="180685" cy="180685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843076" y="2315260"/>
            <a:ext cx="380391" cy="166421"/>
          </a:xfrm>
          <a:custGeom>
            <a:avLst/>
            <a:gdLst/>
            <a:ahLst/>
            <a:cxnLst/>
            <a:rect l="l" t="t" r="r" b="b"/>
            <a:pathLst>
              <a:path w="380391" h="166421">
                <a:moveTo>
                  <a:pt x="0" y="166421"/>
                </a:moveTo>
                <a:lnTo>
                  <a:pt x="28530" y="0"/>
                </a:lnTo>
                <a:lnTo>
                  <a:pt x="351861" y="0"/>
                </a:lnTo>
                <a:lnTo>
                  <a:pt x="380391" y="166421"/>
                </a:lnTo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:situation"/>
          <p:cNvSpPr txBox="1"/>
          <p:nvPr/>
        </p:nvSpPr>
        <p:spPr>
          <a:xfrm>
            <a:off x="1472184" y="1901952"/>
            <a:ext cx="990569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A client auditor asks whether their technical drawings have been processed by any AI tool. You used an assistant during the project, but not on the drawings.</a:t>
            </a:r>
          </a:p>
        </p:txBody>
      </p:sp>
      <p:sp>
        <p:nvSpPr>
          <p:cNvPr id="19" name="quiz:choice">
            <a:hlinkClick action="ppaction://hlinksldjump" r:id="rId3"/>
          </p:cNvPr>
          <p:cNvSpPr/>
          <p:nvPr/>
        </p:nvSpPr>
        <p:spPr>
          <a:xfrm>
            <a:off x="502920" y="3108960"/>
            <a:ext cx="3570122" cy="2907792"/>
          </a:xfrm>
          <a:prstGeom prst="roundRect">
            <a:avLst>
              <a:gd name="adj" fmla="val 3144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chip"/>
          <p:cNvSpPr/>
          <p:nvPr/>
        </p:nvSpPr>
        <p:spPr>
          <a:xfrm>
            <a:off x="758952" y="3364991"/>
            <a:ext cx="1296924" cy="274320"/>
          </a:xfrm>
          <a:prstGeom prst="roundRect">
            <a:avLst>
              <a:gd name="adj" fmla="val 16666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iptext"/>
          <p:cNvSpPr txBox="1"/>
          <p:nvPr/>
        </p:nvSpPr>
        <p:spPr>
          <a:xfrm>
            <a:off x="914400" y="3392423"/>
            <a:ext cx="9860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OPTION A</a:t>
            </a:r>
          </a:p>
        </p:txBody>
      </p:sp>
      <p:sp>
        <p:nvSpPr>
          <p:cNvPr id="22" name="cell:choice"/>
          <p:cNvSpPr txBox="1"/>
          <p:nvPr/>
        </p:nvSpPr>
        <p:spPr>
          <a:xfrm>
            <a:off x="758952" y="3913632"/>
            <a:ext cx="3058058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Say no — you are fairly sure the drawings were never uploaded.</a:t>
            </a:r>
          </a:p>
        </p:txBody>
      </p:sp>
      <p:cxnSp>
        <p:nvCxnSpPr>
          <p:cNvPr id="23" name="vis:choicearrow"/>
          <p:cNvCxnSpPr/>
          <p:nvPr/>
        </p:nvCxnSpPr>
        <p:spPr>
          <a:xfrm>
            <a:off x="758952" y="5632704"/>
            <a:ext cx="292608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oicego"/>
          <p:cNvSpPr txBox="1"/>
          <p:nvPr/>
        </p:nvSpPr>
        <p:spPr>
          <a:xfrm>
            <a:off x="1161288" y="5504688"/>
            <a:ext cx="26557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See what happens</a:t>
            </a:r>
          </a:p>
        </p:txBody>
      </p:sp>
      <p:sp>
        <p:nvSpPr>
          <p:cNvPr id="25" name="quiz:choice">
            <a:hlinkClick action="ppaction://hlinksldjump" r:id="rId4"/>
          </p:cNvPr>
          <p:cNvSpPr/>
          <p:nvPr/>
        </p:nvSpPr>
        <p:spPr>
          <a:xfrm>
            <a:off x="4310786" y="3108960"/>
            <a:ext cx="3570122" cy="2907792"/>
          </a:xfrm>
          <a:prstGeom prst="roundRect">
            <a:avLst>
              <a:gd name="adj" fmla="val 3144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ip"/>
          <p:cNvSpPr/>
          <p:nvPr/>
        </p:nvSpPr>
        <p:spPr>
          <a:xfrm>
            <a:off x="4566818" y="3364991"/>
            <a:ext cx="1287399" cy="274320"/>
          </a:xfrm>
          <a:prstGeom prst="roundRect">
            <a:avLst>
              <a:gd name="adj" fmla="val 16666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chiptext"/>
          <p:cNvSpPr txBox="1"/>
          <p:nvPr/>
        </p:nvSpPr>
        <p:spPr>
          <a:xfrm>
            <a:off x="4722266" y="3392423"/>
            <a:ext cx="976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OPTION B</a:t>
            </a:r>
          </a:p>
        </p:txBody>
      </p:sp>
      <p:sp>
        <p:nvSpPr>
          <p:cNvPr id="28" name="cell:choice"/>
          <p:cNvSpPr txBox="1"/>
          <p:nvPr/>
        </p:nvSpPr>
        <p:spPr>
          <a:xfrm>
            <a:off x="4566818" y="3913632"/>
            <a:ext cx="3058058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Say what you used it for, on which tool, and what you did not upload.</a:t>
            </a:r>
          </a:p>
        </p:txBody>
      </p:sp>
      <p:cxnSp>
        <p:nvCxnSpPr>
          <p:cNvPr id="29" name="vis:choicearrow"/>
          <p:cNvCxnSpPr/>
          <p:nvPr/>
        </p:nvCxnSpPr>
        <p:spPr>
          <a:xfrm>
            <a:off x="4566818" y="5632704"/>
            <a:ext cx="292608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ell:choicego"/>
          <p:cNvSpPr txBox="1"/>
          <p:nvPr/>
        </p:nvSpPr>
        <p:spPr>
          <a:xfrm>
            <a:off x="4969154" y="5504688"/>
            <a:ext cx="26557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See what happens</a:t>
            </a:r>
          </a:p>
        </p:txBody>
      </p:sp>
      <p:sp>
        <p:nvSpPr>
          <p:cNvPr id="31" name="quiz:choice">
            <a:hlinkClick action="ppaction://hlinksldjump" r:id="rId5"/>
          </p:cNvPr>
          <p:cNvSpPr/>
          <p:nvPr/>
        </p:nvSpPr>
        <p:spPr>
          <a:xfrm>
            <a:off x="8118652" y="3108960"/>
            <a:ext cx="3570122" cy="2907792"/>
          </a:xfrm>
          <a:prstGeom prst="roundRect">
            <a:avLst>
              <a:gd name="adj" fmla="val 3144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chip"/>
          <p:cNvSpPr/>
          <p:nvPr/>
        </p:nvSpPr>
        <p:spPr>
          <a:xfrm>
            <a:off x="8374684" y="3364991"/>
            <a:ext cx="1290574" cy="274320"/>
          </a:xfrm>
          <a:prstGeom prst="roundRect">
            <a:avLst>
              <a:gd name="adj" fmla="val 16666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chiptext"/>
          <p:cNvSpPr txBox="1"/>
          <p:nvPr/>
        </p:nvSpPr>
        <p:spPr>
          <a:xfrm>
            <a:off x="8530132" y="3392423"/>
            <a:ext cx="97967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OPTION C</a:t>
            </a:r>
          </a:p>
        </p:txBody>
      </p:sp>
      <p:sp>
        <p:nvSpPr>
          <p:cNvPr id="34" name="cell:choice"/>
          <p:cNvSpPr txBox="1"/>
          <p:nvPr/>
        </p:nvSpPr>
        <p:spPr>
          <a:xfrm>
            <a:off x="8374684" y="3913632"/>
            <a:ext cx="3058058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Say nobody on the project used AI at all.</a:t>
            </a:r>
          </a:p>
        </p:txBody>
      </p:sp>
      <p:cxnSp>
        <p:nvCxnSpPr>
          <p:cNvPr id="35" name="vis:choicearrow"/>
          <p:cNvCxnSpPr/>
          <p:nvPr/>
        </p:nvCxnSpPr>
        <p:spPr>
          <a:xfrm>
            <a:off x="8374684" y="5632704"/>
            <a:ext cx="292608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ell:choicego"/>
          <p:cNvSpPr txBox="1"/>
          <p:nvPr/>
        </p:nvSpPr>
        <p:spPr>
          <a:xfrm>
            <a:off x="8777020" y="5504688"/>
            <a:ext cx="26557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See what happens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A confident answer you cannot support</a:t>
            </a:r>
          </a:p>
        </p:txBody>
      </p:sp>
      <p:sp>
        <p:nvSpPr>
          <p:cNvPr id="6" name="body:consequence"/>
          <p:cNvSpPr txBox="1"/>
          <p:nvPr/>
        </p:nvSpPr>
        <p:spPr>
          <a:xfrm>
            <a:off x="502920" y="1517904"/>
            <a:ext cx="644888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You are probably right and you cannot show it. If the auditor asks a second question — which tool, which account, who else on the team — the answer becomes "I would have to check", which reads as a no that was never verified.</a:t>
            </a:r>
          </a:p>
        </p:txBody>
      </p:sp>
      <p:sp>
        <p:nvSpPr>
          <p:cNvPr id="7" name="vis:fbcard"/>
          <p:cNvSpPr/>
          <p:nvPr/>
        </p:nvSpPr>
        <p:spPr>
          <a:xfrm>
            <a:off x="8082076" y="1517904"/>
            <a:ext cx="3606698" cy="2194560"/>
          </a:xfrm>
          <a:prstGeom prst="roundRect">
            <a:avLst>
              <a:gd name="adj" fmla="val 41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seclabel"/>
          <p:cNvSpPr txBox="1"/>
          <p:nvPr/>
        </p:nvSpPr>
        <p:spPr>
          <a:xfrm>
            <a:off x="8356396" y="1755648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THE RULE</a:t>
            </a:r>
          </a:p>
        </p:txBody>
      </p:sp>
      <p:sp>
        <p:nvSpPr>
          <p:cNvPr id="9" name="cell:rule"/>
          <p:cNvSpPr txBox="1"/>
          <p:nvPr/>
        </p:nvSpPr>
        <p:spPr>
          <a:xfrm>
            <a:off x="8356396" y="2121408"/>
            <a:ext cx="305805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An unsupported no is worse than a documented yes.</a:t>
            </a:r>
          </a:p>
        </p:txBody>
      </p:sp>
      <p:sp>
        <p:nvSpPr>
          <p:cNvPr id="10" name="nav:scback">
            <a:hlinkClick action="ppaction://hlinksldjump" r:id="rId2"/>
          </p:cNvPr>
          <p:cNvSpPr/>
          <p:nvPr/>
        </p:nvSpPr>
        <p:spPr>
          <a:xfrm>
            <a:off x="502920" y="4718304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nav:scbacktext"/>
          <p:cNvSpPr txBox="1"/>
          <p:nvPr/>
        </p:nvSpPr>
        <p:spPr>
          <a:xfrm>
            <a:off x="777240" y="488289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situation  →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4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6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0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Thirty seconds, and the question closes</a:t>
            </a:r>
          </a:p>
        </p:txBody>
      </p:sp>
      <p:sp>
        <p:nvSpPr>
          <p:cNvPr id="6" name="body:consequence"/>
          <p:cNvSpPr txBox="1"/>
          <p:nvPr/>
        </p:nvSpPr>
        <p:spPr>
          <a:xfrm>
            <a:off x="502920" y="1517904"/>
            <a:ext cx="644888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"Drafting assistance on the approved tool for progress reports. No client drawings were uploaded at any point." You show the one-line note in the project file. The auditor moves on.</a:t>
            </a:r>
          </a:p>
        </p:txBody>
      </p:sp>
      <p:sp>
        <p:nvSpPr>
          <p:cNvPr id="7" name="vis:fbcard"/>
          <p:cNvSpPr/>
          <p:nvPr/>
        </p:nvSpPr>
        <p:spPr>
          <a:xfrm>
            <a:off x="8082076" y="1517904"/>
            <a:ext cx="3606698" cy="2194560"/>
          </a:xfrm>
          <a:prstGeom prst="roundRect">
            <a:avLst>
              <a:gd name="adj" fmla="val 41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seclabel"/>
          <p:cNvSpPr txBox="1"/>
          <p:nvPr/>
        </p:nvSpPr>
        <p:spPr>
          <a:xfrm>
            <a:off x="8356396" y="1755648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THE RULE</a:t>
            </a:r>
          </a:p>
        </p:txBody>
      </p:sp>
      <p:sp>
        <p:nvSpPr>
          <p:cNvPr id="9" name="cell:rule"/>
          <p:cNvSpPr txBox="1"/>
          <p:nvPr/>
        </p:nvSpPr>
        <p:spPr>
          <a:xfrm>
            <a:off x="8356396" y="2121408"/>
            <a:ext cx="305805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Specific and documented beats reassuring and vague.</a:t>
            </a:r>
          </a:p>
        </p:txBody>
      </p:sp>
      <p:sp>
        <p:nvSpPr>
          <p:cNvPr id="10" name="nav:scback">
            <a:hlinkClick action="ppaction://hlinksldjump" r:id="rId2"/>
          </p:cNvPr>
          <p:cNvSpPr/>
          <p:nvPr/>
        </p:nvSpPr>
        <p:spPr>
          <a:xfrm>
            <a:off x="502920" y="4718304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nav:scbacktext"/>
          <p:cNvSpPr txBox="1"/>
          <p:nvPr/>
        </p:nvSpPr>
        <p:spPr>
          <a:xfrm>
            <a:off x="777240" y="488289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situation  →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4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6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0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A statement you cannot possibly know</a:t>
            </a:r>
          </a:p>
        </p:txBody>
      </p:sp>
      <p:sp>
        <p:nvSpPr>
          <p:cNvPr id="6" name="body:consequence"/>
          <p:cNvSpPr txBox="1"/>
          <p:nvPr/>
        </p:nvSpPr>
        <p:spPr>
          <a:xfrm>
            <a:off x="502920" y="1517904"/>
            <a:ext cx="644888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You cannot speak for six people's browser extensions, phone keyboards and note-taking apps. If any of them did use something, your answer becomes a false statement to a client auditor, which is a far larger problem than the original question.</a:t>
            </a:r>
          </a:p>
        </p:txBody>
      </p:sp>
      <p:sp>
        <p:nvSpPr>
          <p:cNvPr id="7" name="vis:fbcard"/>
          <p:cNvSpPr/>
          <p:nvPr/>
        </p:nvSpPr>
        <p:spPr>
          <a:xfrm>
            <a:off x="8082076" y="1517904"/>
            <a:ext cx="3606698" cy="2194560"/>
          </a:xfrm>
          <a:prstGeom prst="roundRect">
            <a:avLst>
              <a:gd name="adj" fmla="val 41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seclabel"/>
          <p:cNvSpPr txBox="1"/>
          <p:nvPr/>
        </p:nvSpPr>
        <p:spPr>
          <a:xfrm>
            <a:off x="8356396" y="1755648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THE RULE</a:t>
            </a:r>
          </a:p>
        </p:txBody>
      </p:sp>
      <p:sp>
        <p:nvSpPr>
          <p:cNvPr id="9" name="cell:rule"/>
          <p:cNvSpPr txBox="1"/>
          <p:nvPr/>
        </p:nvSpPr>
        <p:spPr>
          <a:xfrm>
            <a:off x="8356396" y="2121408"/>
            <a:ext cx="305805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Answer for what you know. Never for what others did.</a:t>
            </a:r>
          </a:p>
        </p:txBody>
      </p:sp>
      <p:sp>
        <p:nvSpPr>
          <p:cNvPr id="10" name="nav:scback">
            <a:hlinkClick action="ppaction://hlinksldjump" r:id="rId2"/>
          </p:cNvPr>
          <p:cNvSpPr/>
          <p:nvPr/>
        </p:nvSpPr>
        <p:spPr>
          <a:xfrm>
            <a:off x="502920" y="4718304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nav:scbacktext"/>
          <p:cNvSpPr txBox="1"/>
          <p:nvPr/>
        </p:nvSpPr>
        <p:spPr>
          <a:xfrm>
            <a:off x="777240" y="488289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situation  →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4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6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0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WATCH THIS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Thirteen minutes on the wider picture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nav:video">
            <a:hlinkClick r:id="rId2"/>
          </p:cNvPr>
          <p:cNvSpPr/>
          <p:nvPr/>
        </p:nvSpPr>
        <p:spPr>
          <a:xfrm>
            <a:off x="502920" y="1719072"/>
            <a:ext cx="6448882" cy="4297680"/>
          </a:xfrm>
          <a:prstGeom prst="roundRect">
            <a:avLst>
              <a:gd name="adj" fmla="val 2127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play"/>
          <p:cNvSpPr/>
          <p:nvPr/>
        </p:nvSpPr>
        <p:spPr>
          <a:xfrm>
            <a:off x="1161288" y="2432303"/>
            <a:ext cx="950976" cy="95097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playtri"/>
          <p:cNvSpPr/>
          <p:nvPr/>
        </p:nvSpPr>
        <p:spPr>
          <a:xfrm>
            <a:off x="1499616" y="2679191"/>
            <a:ext cx="384048" cy="457200"/>
          </a:xfrm>
          <a:custGeom>
            <a:avLst/>
            <a:gdLst/>
            <a:ahLst/>
            <a:cxnLst/>
            <a:rect l="l" t="t" r="r" b="b"/>
            <a:pathLst>
              <a:path w="384048" h="457200">
                <a:moveTo>
                  <a:pt x="0" y="0"/>
                </a:moveTo>
                <a:lnTo>
                  <a:pt x="384048" y="2286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:videotitle"/>
          <p:cNvSpPr txBox="1"/>
          <p:nvPr/>
        </p:nvSpPr>
        <p:spPr>
          <a:xfrm>
            <a:off x="2514600" y="2231136"/>
            <a:ext cx="412630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Segoe UI Semibold"/>
              </a:rPr>
              <a:t>How to Secure AI Business Models</a:t>
            </a:r>
          </a:p>
        </p:txBody>
      </p:sp>
      <p:sp>
        <p:nvSpPr>
          <p:cNvPr id="19" name="vis:chip"/>
          <p:cNvSpPr/>
          <p:nvPr/>
        </p:nvSpPr>
        <p:spPr>
          <a:xfrm>
            <a:off x="868680" y="3858768"/>
            <a:ext cx="1959179" cy="292608"/>
          </a:xfrm>
          <a:prstGeom prst="roundRect">
            <a:avLst>
              <a:gd name="adj" fmla="val 15625"/>
            </a:avLst>
          </a:prstGeom>
          <a:noFill/>
          <a:ln w="12700">
            <a:solidFill>
              <a:srgbClr val="848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chiptext"/>
          <p:cNvSpPr txBox="1"/>
          <p:nvPr/>
        </p:nvSpPr>
        <p:spPr>
          <a:xfrm>
            <a:off x="1024128" y="3895344"/>
            <a:ext cx="16482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848D9A"/>
                </a:solidFill>
                <a:latin typeface="Segoe UI Semibold"/>
              </a:rPr>
              <a:t>IBM TECHNOLOGY</a:t>
            </a:r>
          </a:p>
        </p:txBody>
      </p:sp>
      <p:sp>
        <p:nvSpPr>
          <p:cNvPr id="21" name="vis:chip"/>
          <p:cNvSpPr/>
          <p:nvPr/>
        </p:nvSpPr>
        <p:spPr>
          <a:xfrm>
            <a:off x="2974163" y="3858768"/>
            <a:ext cx="1276604" cy="292608"/>
          </a:xfrm>
          <a:prstGeom prst="roundRect">
            <a:avLst>
              <a:gd name="adj" fmla="val 15625"/>
            </a:avLst>
          </a:prstGeom>
          <a:noFill/>
          <a:ln w="12700">
            <a:solidFill>
              <a:srgbClr val="848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chiptext"/>
          <p:cNvSpPr txBox="1"/>
          <p:nvPr/>
        </p:nvSpPr>
        <p:spPr>
          <a:xfrm>
            <a:off x="3129611" y="3895344"/>
            <a:ext cx="9657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848D9A"/>
                </a:solidFill>
                <a:latin typeface="Segoe UI Semibold"/>
              </a:rPr>
              <a:t>13:13 MIN</a:t>
            </a:r>
          </a:p>
        </p:txBody>
      </p:sp>
      <p:cxnSp>
        <p:nvCxnSpPr>
          <p:cNvPr id="23" name="vis:rule"/>
          <p:cNvCxnSpPr/>
          <p:nvPr/>
        </p:nvCxnSpPr>
        <p:spPr>
          <a:xfrm>
            <a:off x="868680" y="4425696"/>
            <a:ext cx="5717362" cy="0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body:videonote"/>
          <p:cNvSpPr txBox="1"/>
          <p:nvPr/>
        </p:nvSpPr>
        <p:spPr>
          <a:xfrm>
            <a:off x="868680" y="4645152"/>
            <a:ext cx="571736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48D9A"/>
                </a:solidFill>
                <a:latin typeface="Segoe UI"/>
              </a:rPr>
              <a:t>Aimed at people building AI systems. Watch for context, not for the daily rules — those are in this module.</a:t>
            </a:r>
          </a:p>
        </p:txBody>
      </p:sp>
      <p:sp>
        <p:nvSpPr>
          <p:cNvPr id="25" name="nav:videobtn">
            <a:hlinkClick r:id="rId2"/>
          </p:cNvPr>
          <p:cNvSpPr/>
          <p:nvPr/>
        </p:nvSpPr>
        <p:spPr>
          <a:xfrm>
            <a:off x="868680" y="5230368"/>
            <a:ext cx="3017520" cy="493776"/>
          </a:xfrm>
          <a:prstGeom prst="roundRect">
            <a:avLst>
              <a:gd name="adj" fmla="val 11111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icon"/>
          <p:cNvSpPr/>
          <p:nvPr/>
        </p:nvSpPr>
        <p:spPr>
          <a:xfrm>
            <a:off x="1069116" y="5370819"/>
            <a:ext cx="153619" cy="153619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1202253" y="5503956"/>
            <a:ext cx="61447" cy="61448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nav:videobtntext"/>
          <p:cNvSpPr txBox="1"/>
          <p:nvPr/>
        </p:nvSpPr>
        <p:spPr>
          <a:xfrm>
            <a:off x="1417320" y="535838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Click to open on YouTube</a:t>
            </a:r>
          </a:p>
        </p:txBody>
      </p:sp>
      <p:sp>
        <p:nvSpPr>
          <p:cNvPr id="29" name="vis:videohow"/>
          <p:cNvSpPr/>
          <p:nvPr/>
        </p:nvSpPr>
        <p:spPr>
          <a:xfrm>
            <a:off x="8082076" y="1719072"/>
            <a:ext cx="3606698" cy="4297680"/>
          </a:xfrm>
          <a:prstGeom prst="roundRect">
            <a:avLst>
              <a:gd name="adj" fmla="val 253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videospine"/>
          <p:cNvSpPr/>
          <p:nvPr/>
        </p:nvSpPr>
        <p:spPr>
          <a:xfrm>
            <a:off x="8082076" y="1719072"/>
            <a:ext cx="68580" cy="4297680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seclabel"/>
          <p:cNvSpPr txBox="1"/>
          <p:nvPr/>
        </p:nvSpPr>
        <p:spPr>
          <a:xfrm>
            <a:off x="8392972" y="2029967"/>
            <a:ext cx="298490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HOW TO USE IT</a:t>
            </a:r>
          </a:p>
        </p:txBody>
      </p:sp>
      <p:cxnSp>
        <p:nvCxnSpPr>
          <p:cNvPr id="32" name="vis:icon"/>
          <p:cNvCxnSpPr/>
          <p:nvPr/>
        </p:nvCxnSpPr>
        <p:spPr>
          <a:xfrm>
            <a:off x="8439424" y="2628351"/>
            <a:ext cx="52304" cy="52304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8491728" y="2568000"/>
            <a:ext cx="96560" cy="112655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why"/>
          <p:cNvSpPr txBox="1"/>
          <p:nvPr/>
        </p:nvSpPr>
        <p:spPr>
          <a:xfrm>
            <a:off x="8777020" y="2468879"/>
            <a:ext cx="260085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Optional. The four conditions above are what you need.</a:t>
            </a:r>
          </a:p>
        </p:txBody>
      </p:sp>
      <p:cxnSp>
        <p:nvCxnSpPr>
          <p:cNvPr id="35" name="vis:icon"/>
          <p:cNvCxnSpPr/>
          <p:nvPr/>
        </p:nvCxnSpPr>
        <p:spPr>
          <a:xfrm>
            <a:off x="8439424" y="3743919"/>
            <a:ext cx="52304" cy="52304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vis:icon"/>
          <p:cNvCxnSpPr/>
          <p:nvPr/>
        </p:nvCxnSpPr>
        <p:spPr>
          <a:xfrm flipV="1">
            <a:off x="8491728" y="3683568"/>
            <a:ext cx="96560" cy="112655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ell:why"/>
          <p:cNvSpPr txBox="1"/>
          <p:nvPr/>
        </p:nvSpPr>
        <p:spPr>
          <a:xfrm>
            <a:off x="8777020" y="3584448"/>
            <a:ext cx="260085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Useful if you want to understand what governance means.</a:t>
            </a:r>
          </a:p>
        </p:txBody>
      </p:sp>
      <p:cxnSp>
        <p:nvCxnSpPr>
          <p:cNvPr id="38" name="vis:icon"/>
          <p:cNvCxnSpPr/>
          <p:nvPr/>
        </p:nvCxnSpPr>
        <p:spPr>
          <a:xfrm>
            <a:off x="8439424" y="4859487"/>
            <a:ext cx="52304" cy="52304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vis:icon"/>
          <p:cNvCxnSpPr/>
          <p:nvPr/>
        </p:nvCxnSpPr>
        <p:spPr>
          <a:xfrm flipV="1">
            <a:off x="8491728" y="4799136"/>
            <a:ext cx="96560" cy="112655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ell:why"/>
          <p:cNvSpPr txBox="1"/>
          <p:nvPr/>
        </p:nvSpPr>
        <p:spPr>
          <a:xfrm>
            <a:off x="8777020" y="4700016"/>
            <a:ext cx="260085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It opens in your browser. Turn the sound 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QUIZ  ·  QUESTION 1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What makes a tool approved?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It is a well-known brand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The company has an agreement and you use your work account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It has a privacy policy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You turned the training setting off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It is a well-known brand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Brand tells you nothing about the terms you are using. The same well-known tool is safe on a company account and unassessed on a personal free one.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An agreement and an account, not the brand.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The company has an agreement and you use your work account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Those two together give terms somebody has read, managed access, and a person who can answer questions about it afterwards. Without them, none of that exists.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An agreement and an account, not the brand.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It has a privacy policy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Every service has one, and almost nobody at this company has read the one on a free consumer tier. A policy is not an agreement we negotiated.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An agreement and an account, not the brand.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You turned the training setting off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That helps and it does not create an agreement, a record or any ability to delete data later. Settings are one layer, not the whole thing.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An agreement and an account, not the brand.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QUIZ  ·  QUESTION 2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What do the settings actually do?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Stop your data leaving your laptop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Reduce the chance your text is reused for training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Delete your conversations immediately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Make confidential data safe to paste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Stop your data leaving your laptop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Nothing about a privacy setting keeps text local. Whatever you type still travels to the service and is processed there.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Reduce reuse. They do not stop transmission.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Reduce the chance your text is reused for training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That is a genuine and worthwhile reduction. It does not change the fact that the data was transmitted, stored and is outside our control.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Reduce reuse. They do not stop transmission.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Delete your conversations immediately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Some services retain content for a period regardless, for abuse monitoring. Turning history off is not the same as instant deletion.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Reduce reuse. They do not stop transmission.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Make confidential data safe to paste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They never do this. The paste rules are unchanged by any setting on any tier of any product.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Reduce reuse. They do not stop transmission.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QUIZ  ·  QUESTION 3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Where does unnoticed AI usually arrive?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Through deliberate downloads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As new features in email, browsers and meeting apps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Only in tools with AI in the name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Through the IT department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Through deliberate downloads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Deliberate use is the visible, manageable kind. The risk is the features that appeared in software you were already using.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Inside tools you already had.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As new features in email, browsers and meeting apps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Reply suggestions, rewrite buttons, meeting summaries and note-taking bots. Most people using AI at work never chose to.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Inside tools you already had.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Only in tools with AI in the name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Almost none of them are named that way. The feature is usually a small button or an automatic suggestion with no label at all.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Inside tools you already had.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Through the IT department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IT-deployed tools are the assessed ones. Unnoticed AI arrives through vendor updates and extensions individuals install themselves.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Inside tools you already had.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QUIZ  ·  QUESTION 4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Why keep a one-line note?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To prove you followed policy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So you can answer what data was provided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Because the law requires a log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To justify the cost of the tool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To prove you followed policy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Partly, and the real purpose is narrower. The question is almost always what happened to the client's material, not whether you behaved well.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"I do not know" is the worst audit answer.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So you can answer what data was provided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That single field is what an auditor or client actually wants. Written at the time it takes twenty seconds; reconstructed a year later it is guesswork.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"I do not know" is the worst audit answer.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Because the law requires a log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Requirements vary and are changing. The practical reason stands on its own: you cannot remember, and you will be asked.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"I do not know" is the worst audit answer.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To justify the cost of the tool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A different conversation entirely. The note exists for the data question, not for the budget one.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"I do not know" is the worst audit answer.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QUIZ  ·  QUESTION 5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A bot joins your client call.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Let it run — somebody must have arranged it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Ask whose it is and whether everyone agreed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Leave the call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Carry on and mention it afterwards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Let it run — somebody must have arranged it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Somebody arranged it for themselves. Everyone else on the call, including the client, is being recorded without having agreed to it.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Nobody consented. Stop and ask.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Ask whose it is and whether everyone agreed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Ten seconds, and it is a reasonable question anyone can ask. Recording people needs their knowledge and agreement, and a client call raises that sharply.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Nobody consented. Stop and ask.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See the recap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Leave the call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Disruptive and it does not stop the recording of everyone else. Asking the question is more useful and less dramatic.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Nobody consented. Stop and ask.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Carry on and mention it afterwards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By then the recording exists and the client has been captured. The moment to raise it is before anything substantive is said.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Nobody consented. Stop and ask.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RECAP CARD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Safe AI use on one screen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cell:recaphint"/>
          <p:cNvSpPr txBox="1"/>
          <p:nvPr/>
        </p:nvSpPr>
        <p:spPr>
          <a:xfrm>
            <a:off x="502920" y="159105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Screenshot this slide. It is the whole module in one screen.</a:t>
            </a:r>
          </a:p>
        </p:txBody>
      </p:sp>
      <p:sp>
        <p:nvSpPr>
          <p:cNvPr id="16" name="vis:recaptile"/>
          <p:cNvSpPr/>
          <p:nvPr/>
        </p:nvSpPr>
        <p:spPr>
          <a:xfrm>
            <a:off x="502920" y="190195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recapbar"/>
          <p:cNvSpPr/>
          <p:nvPr/>
        </p:nvSpPr>
        <p:spPr>
          <a:xfrm>
            <a:off x="502920" y="1901952"/>
            <a:ext cx="54864" cy="963168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cell:recaphead"/>
          <p:cNvSpPr txBox="1"/>
          <p:nvPr/>
        </p:nvSpPr>
        <p:spPr>
          <a:xfrm>
            <a:off x="740664" y="201168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The account decides</a:t>
            </a:r>
          </a:p>
        </p:txBody>
      </p:sp>
      <p:sp>
        <p:nvSpPr>
          <p:cNvPr id="19" name="cell:recapsub"/>
          <p:cNvSpPr txBox="1"/>
          <p:nvPr/>
        </p:nvSpPr>
        <p:spPr>
          <a:xfrm>
            <a:off x="740664" y="232257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same model is safe on a work account and unassessed on a personal one.</a:t>
            </a:r>
          </a:p>
        </p:txBody>
      </p:sp>
      <p:sp>
        <p:nvSpPr>
          <p:cNvPr id="20" name="vis:recaptile"/>
          <p:cNvSpPr/>
          <p:nvPr/>
        </p:nvSpPr>
        <p:spPr>
          <a:xfrm>
            <a:off x="6178143" y="190195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recapbar"/>
          <p:cNvSpPr/>
          <p:nvPr/>
        </p:nvSpPr>
        <p:spPr>
          <a:xfrm>
            <a:off x="6178143" y="1901952"/>
            <a:ext cx="54864" cy="963168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cell:recaphead"/>
          <p:cNvSpPr txBox="1"/>
          <p:nvPr/>
        </p:nvSpPr>
        <p:spPr>
          <a:xfrm>
            <a:off x="6415887" y="201168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Two settings worth finding</a:t>
            </a:r>
          </a:p>
        </p:txBody>
      </p:sp>
      <p:sp>
        <p:nvSpPr>
          <p:cNvPr id="23" name="cell:recapsub"/>
          <p:cNvSpPr txBox="1"/>
          <p:nvPr/>
        </p:nvSpPr>
        <p:spPr>
          <a:xfrm>
            <a:off x="6415887" y="232257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Training on your data, and chat history. Turn both off where you can.</a:t>
            </a:r>
          </a:p>
        </p:txBody>
      </p:sp>
      <p:sp>
        <p:nvSpPr>
          <p:cNvPr id="24" name="vis:recaptile"/>
          <p:cNvSpPr/>
          <p:nvPr/>
        </p:nvSpPr>
        <p:spPr>
          <a:xfrm>
            <a:off x="502920" y="302971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recapbar"/>
          <p:cNvSpPr/>
          <p:nvPr/>
        </p:nvSpPr>
        <p:spPr>
          <a:xfrm>
            <a:off x="502920" y="3029712"/>
            <a:ext cx="54864" cy="963168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cell:recaphead"/>
          <p:cNvSpPr txBox="1"/>
          <p:nvPr/>
        </p:nvSpPr>
        <p:spPr>
          <a:xfrm>
            <a:off x="740664" y="313944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Settings are not permission</a:t>
            </a:r>
          </a:p>
        </p:txBody>
      </p:sp>
      <p:sp>
        <p:nvSpPr>
          <p:cNvPr id="27" name="cell:recapsub"/>
          <p:cNvSpPr txBox="1"/>
          <p:nvPr/>
        </p:nvSpPr>
        <p:spPr>
          <a:xfrm>
            <a:off x="740664" y="345033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They reduce reuse. The paste rules do not change.</a:t>
            </a:r>
          </a:p>
        </p:txBody>
      </p:sp>
      <p:sp>
        <p:nvSpPr>
          <p:cNvPr id="28" name="vis:recaptile"/>
          <p:cNvSpPr/>
          <p:nvPr/>
        </p:nvSpPr>
        <p:spPr>
          <a:xfrm>
            <a:off x="6178143" y="302971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recapbar"/>
          <p:cNvSpPr/>
          <p:nvPr/>
        </p:nvSpPr>
        <p:spPr>
          <a:xfrm>
            <a:off x="6178143" y="3029712"/>
            <a:ext cx="54864" cy="963168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cell:recaphead"/>
          <p:cNvSpPr txBox="1"/>
          <p:nvPr/>
        </p:nvSpPr>
        <p:spPr>
          <a:xfrm>
            <a:off x="6415887" y="313944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AI is already in your tools</a:t>
            </a:r>
          </a:p>
        </p:txBody>
      </p:sp>
      <p:sp>
        <p:nvSpPr>
          <p:cNvPr id="31" name="cell:recapsub"/>
          <p:cNvSpPr txBox="1"/>
          <p:nvPr/>
        </p:nvSpPr>
        <p:spPr>
          <a:xfrm>
            <a:off x="6415887" y="345033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Reply suggestions, rewrite buttons, meeting bots. Mostly nobody chose them.</a:t>
            </a:r>
          </a:p>
        </p:txBody>
      </p:sp>
      <p:sp>
        <p:nvSpPr>
          <p:cNvPr id="32" name="vis:recaptile"/>
          <p:cNvSpPr/>
          <p:nvPr/>
        </p:nvSpPr>
        <p:spPr>
          <a:xfrm>
            <a:off x="502920" y="415747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recapbar"/>
          <p:cNvSpPr/>
          <p:nvPr/>
        </p:nvSpPr>
        <p:spPr>
          <a:xfrm>
            <a:off x="502920" y="4157472"/>
            <a:ext cx="54864" cy="963168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cell:recaphead"/>
          <p:cNvSpPr txBox="1"/>
          <p:nvPr/>
        </p:nvSpPr>
        <p:spPr>
          <a:xfrm>
            <a:off x="740664" y="42672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Keep a one-line note</a:t>
            </a:r>
          </a:p>
        </p:txBody>
      </p:sp>
      <p:sp>
        <p:nvSpPr>
          <p:cNvPr id="35" name="cell:recapsub"/>
          <p:cNvSpPr txBox="1"/>
          <p:nvPr/>
        </p:nvSpPr>
        <p:spPr>
          <a:xfrm>
            <a:off x="740664" y="457809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What for, which tool, what data, who checked it, when.</a:t>
            </a:r>
          </a:p>
        </p:txBody>
      </p:sp>
      <p:sp>
        <p:nvSpPr>
          <p:cNvPr id="36" name="vis:recaptile"/>
          <p:cNvSpPr/>
          <p:nvPr/>
        </p:nvSpPr>
        <p:spPr>
          <a:xfrm>
            <a:off x="6178143" y="415747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recapbar"/>
          <p:cNvSpPr/>
          <p:nvPr/>
        </p:nvSpPr>
        <p:spPr>
          <a:xfrm>
            <a:off x="6178143" y="4157472"/>
            <a:ext cx="54864" cy="963168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cell:recaphead"/>
          <p:cNvSpPr txBox="1"/>
          <p:nvPr/>
        </p:nvSpPr>
        <p:spPr>
          <a:xfrm>
            <a:off x="6415887" y="42672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A person is always accountable</a:t>
            </a:r>
          </a:p>
        </p:txBody>
      </p:sp>
      <p:sp>
        <p:nvSpPr>
          <p:cNvPr id="39" name="cell:recapsub"/>
          <p:cNvSpPr txBox="1"/>
          <p:nvPr/>
        </p:nvSpPr>
        <p:spPr>
          <a:xfrm>
            <a:off x="6415887" y="457809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You sent it, so it is yours, whatever helped you write it.</a:t>
            </a:r>
          </a:p>
        </p:txBody>
      </p:sp>
      <p:sp>
        <p:nvSpPr>
          <p:cNvPr id="40" name="vis:recapline"/>
          <p:cNvSpPr/>
          <p:nvPr/>
        </p:nvSpPr>
        <p:spPr>
          <a:xfrm>
            <a:off x="502920" y="5266944"/>
            <a:ext cx="11185855" cy="749808"/>
          </a:xfrm>
          <a:prstGeom prst="roundRect">
            <a:avLst>
              <a:gd name="adj" fmla="val 12195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vis:icon"/>
          <p:cNvSpPr/>
          <p:nvPr/>
        </p:nvSpPr>
        <p:spPr>
          <a:xfrm>
            <a:off x="875995" y="5464820"/>
            <a:ext cx="241401" cy="241401"/>
          </a:xfrm>
          <a:prstGeom prst="ellipse">
            <a:avLst/>
          </a:prstGeom>
          <a:noFill/>
          <a:ln w="19050">
            <a:solidFill>
              <a:srgbClr val="B67D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42" name="vis:icon"/>
          <p:cNvCxnSpPr/>
          <p:nvPr/>
        </p:nvCxnSpPr>
        <p:spPr>
          <a:xfrm>
            <a:off x="932322" y="5738408"/>
            <a:ext cx="128747" cy="0"/>
          </a:xfrm>
          <a:prstGeom prst="line">
            <a:avLst/>
          </a:prstGeom>
          <a:ln w="19050">
            <a:solidFill>
              <a:srgbClr val="B67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vis:icon"/>
          <p:cNvCxnSpPr/>
          <p:nvPr/>
        </p:nvCxnSpPr>
        <p:spPr>
          <a:xfrm>
            <a:off x="948415" y="5802782"/>
            <a:ext cx="96561" cy="0"/>
          </a:xfrm>
          <a:prstGeom prst="line">
            <a:avLst/>
          </a:prstGeom>
          <a:ln w="19050">
            <a:solidFill>
              <a:srgbClr val="B67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ell:recapone"/>
          <p:cNvSpPr txBox="1"/>
          <p:nvPr/>
        </p:nvSpPr>
        <p:spPr>
          <a:xfrm>
            <a:off x="1417320" y="5394959"/>
            <a:ext cx="996055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Segoe UI Semibold"/>
              </a:rPr>
              <a:t>Approved tool, work account, facts not files, and a named person who checked the output.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YOUR TOOLKIT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Take these three things with you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5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seclabel"/>
          <p:cNvSpPr txBox="1"/>
          <p:nvPr/>
        </p:nvSpPr>
        <p:spPr>
          <a:xfrm>
            <a:off x="502920" y="1719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TEMPLATES YOU CAN REUSE TODAY</a:t>
            </a:r>
          </a:p>
        </p:txBody>
      </p:sp>
      <p:sp>
        <p:nvSpPr>
          <p:cNvPr id="16" name="vis:tk"/>
          <p:cNvSpPr/>
          <p:nvPr/>
        </p:nvSpPr>
        <p:spPr>
          <a:xfrm>
            <a:off x="502920" y="2121408"/>
            <a:ext cx="6448882" cy="755904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badge"/>
          <p:cNvSpPr/>
          <p:nvPr/>
        </p:nvSpPr>
        <p:spPr>
          <a:xfrm>
            <a:off x="722376" y="224332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icon"/>
          <p:cNvSpPr/>
          <p:nvPr/>
        </p:nvSpPr>
        <p:spPr>
          <a:xfrm>
            <a:off x="893200" y="2382199"/>
            <a:ext cx="170414" cy="234320"/>
          </a:xfrm>
          <a:prstGeom prst="roundRect">
            <a:avLst>
              <a:gd name="adj" fmla="val 26828"/>
            </a:avLst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930478" y="2456756"/>
            <a:ext cx="95859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is:icon"/>
          <p:cNvCxnSpPr/>
          <p:nvPr/>
        </p:nvCxnSpPr>
        <p:spPr>
          <a:xfrm>
            <a:off x="930478" y="2499359"/>
            <a:ext cx="95859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s:icon"/>
          <p:cNvCxnSpPr/>
          <p:nvPr/>
        </p:nvCxnSpPr>
        <p:spPr>
          <a:xfrm>
            <a:off x="930478" y="2541963"/>
            <a:ext cx="63906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ell:tkname"/>
          <p:cNvSpPr txBox="1"/>
          <p:nvPr/>
        </p:nvSpPr>
        <p:spPr>
          <a:xfrm>
            <a:off x="1417320" y="2212848"/>
            <a:ext cx="527845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The one-line AI note</a:t>
            </a:r>
          </a:p>
        </p:txBody>
      </p:sp>
      <p:sp>
        <p:nvSpPr>
          <p:cNvPr id="23" name="cell:tksub"/>
          <p:cNvSpPr txBox="1"/>
          <p:nvPr/>
        </p:nvSpPr>
        <p:spPr>
          <a:xfrm>
            <a:off x="1417320" y="2517648"/>
            <a:ext cx="5278450" cy="332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Purpose, tool, data provided, who checked, date.</a:t>
            </a:r>
          </a:p>
        </p:txBody>
      </p:sp>
      <p:sp>
        <p:nvSpPr>
          <p:cNvPr id="24" name="vis:tk"/>
          <p:cNvSpPr/>
          <p:nvPr/>
        </p:nvSpPr>
        <p:spPr>
          <a:xfrm>
            <a:off x="502920" y="3023616"/>
            <a:ext cx="6448882" cy="755904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badge"/>
          <p:cNvSpPr/>
          <p:nvPr/>
        </p:nvSpPr>
        <p:spPr>
          <a:xfrm>
            <a:off x="722376" y="314553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6" name="vis:icon"/>
          <p:cNvCxnSpPr/>
          <p:nvPr/>
        </p:nvCxnSpPr>
        <p:spPr>
          <a:xfrm>
            <a:off x="882549" y="3406893"/>
            <a:ext cx="69231" cy="69231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vis:icon"/>
          <p:cNvCxnSpPr/>
          <p:nvPr/>
        </p:nvCxnSpPr>
        <p:spPr>
          <a:xfrm flipV="1">
            <a:off x="951780" y="3327011"/>
            <a:ext cx="127811" cy="149113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ell:tkname"/>
          <p:cNvSpPr txBox="1"/>
          <p:nvPr/>
        </p:nvSpPr>
        <p:spPr>
          <a:xfrm>
            <a:off x="1417320" y="3115056"/>
            <a:ext cx="527845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The four conditions</a:t>
            </a:r>
          </a:p>
        </p:txBody>
      </p:sp>
      <p:sp>
        <p:nvSpPr>
          <p:cNvPr id="29" name="cell:tksub"/>
          <p:cNvSpPr txBox="1"/>
          <p:nvPr/>
        </p:nvSpPr>
        <p:spPr>
          <a:xfrm>
            <a:off x="1417320" y="3419856"/>
            <a:ext cx="5278450" cy="332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Approved tool, work account, facts only, human check.</a:t>
            </a:r>
          </a:p>
        </p:txBody>
      </p:sp>
      <p:sp>
        <p:nvSpPr>
          <p:cNvPr id="30" name="vis:tk"/>
          <p:cNvSpPr/>
          <p:nvPr/>
        </p:nvSpPr>
        <p:spPr>
          <a:xfrm>
            <a:off x="502920" y="3925823"/>
            <a:ext cx="6448882" cy="755904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badge"/>
          <p:cNvSpPr/>
          <p:nvPr/>
        </p:nvSpPr>
        <p:spPr>
          <a:xfrm>
            <a:off x="722376" y="4047743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icon"/>
          <p:cNvSpPr/>
          <p:nvPr/>
        </p:nvSpPr>
        <p:spPr>
          <a:xfrm>
            <a:off x="855922" y="4207917"/>
            <a:ext cx="244971" cy="191717"/>
          </a:xfrm>
          <a:custGeom>
            <a:avLst/>
            <a:gdLst/>
            <a:ahLst/>
            <a:cxnLst/>
            <a:rect l="l" t="t" r="r" b="b"/>
            <a:pathLst>
              <a:path w="244971" h="191717">
                <a:moveTo>
                  <a:pt x="0" y="95858"/>
                </a:moveTo>
                <a:lnTo>
                  <a:pt x="122486" y="0"/>
                </a:lnTo>
                <a:lnTo>
                  <a:pt x="244971" y="95858"/>
                </a:lnTo>
                <a:lnTo>
                  <a:pt x="122486" y="191717"/>
                </a:lnTo>
                <a:close/>
              </a:path>
            </a:pathLst>
          </a:cu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s:icon"/>
          <p:cNvSpPr/>
          <p:nvPr/>
        </p:nvSpPr>
        <p:spPr>
          <a:xfrm>
            <a:off x="941129" y="4266497"/>
            <a:ext cx="74556" cy="74556"/>
          </a:xfrm>
          <a:prstGeom prst="ellipse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cell:tkname"/>
          <p:cNvSpPr txBox="1"/>
          <p:nvPr/>
        </p:nvSpPr>
        <p:spPr>
          <a:xfrm>
            <a:off x="1417320" y="4017263"/>
            <a:ext cx="527845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The settings sweep</a:t>
            </a:r>
          </a:p>
        </p:txBody>
      </p:sp>
      <p:sp>
        <p:nvSpPr>
          <p:cNvPr id="35" name="cell:tksub"/>
          <p:cNvSpPr txBox="1"/>
          <p:nvPr/>
        </p:nvSpPr>
        <p:spPr>
          <a:xfrm>
            <a:off x="1417320" y="4322063"/>
            <a:ext cx="5278450" cy="332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Training off, history off, extensions you can name.</a:t>
            </a:r>
          </a:p>
        </p:txBody>
      </p:sp>
      <p:sp>
        <p:nvSpPr>
          <p:cNvPr id="36" name="seclabel"/>
          <p:cNvSpPr txBox="1"/>
          <p:nvPr/>
        </p:nvSpPr>
        <p:spPr>
          <a:xfrm>
            <a:off x="8082076" y="1719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LINKS THAT WORK</a:t>
            </a:r>
          </a:p>
        </p:txBody>
      </p:sp>
      <p:sp>
        <p:nvSpPr>
          <p:cNvPr id="37" name="nav:link">
            <a:hlinkClick r:id="rId2"/>
          </p:cNvPr>
          <p:cNvSpPr/>
          <p:nvPr/>
        </p:nvSpPr>
        <p:spPr>
          <a:xfrm>
            <a:off x="8082076" y="2121408"/>
            <a:ext cx="3606698" cy="566928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vis:icon"/>
          <p:cNvSpPr/>
          <p:nvPr/>
        </p:nvSpPr>
        <p:spPr>
          <a:xfrm>
            <a:off x="8339937" y="2300630"/>
            <a:ext cx="164592" cy="164592"/>
          </a:xfrm>
          <a:prstGeom prst="ellipse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9" name="vis:icon"/>
          <p:cNvCxnSpPr/>
          <p:nvPr/>
        </p:nvCxnSpPr>
        <p:spPr>
          <a:xfrm>
            <a:off x="8482584" y="2443276"/>
            <a:ext cx="65836" cy="65837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ell:linklabel"/>
          <p:cNvSpPr txBox="1"/>
          <p:nvPr/>
        </p:nvSpPr>
        <p:spPr>
          <a:xfrm>
            <a:off x="8703868" y="2203703"/>
            <a:ext cx="27471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01826"/>
                </a:solidFill>
                <a:latin typeface="Segoe UI Semibold"/>
              </a:rPr>
              <a:t>India's data protection framework</a:t>
            </a:r>
          </a:p>
        </p:txBody>
      </p:sp>
      <p:sp>
        <p:nvSpPr>
          <p:cNvPr id="41" name="cell:linkurl"/>
          <p:cNvSpPr txBox="1"/>
          <p:nvPr/>
        </p:nvSpPr>
        <p:spPr>
          <a:xfrm>
            <a:off x="8703868" y="2423160"/>
            <a:ext cx="274716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"/>
              </a:rPr>
              <a:t>www.meity.gov.in/data-protection-fra…</a:t>
            </a:r>
          </a:p>
        </p:txBody>
      </p:sp>
      <p:sp>
        <p:nvSpPr>
          <p:cNvPr id="42" name="nav:link">
            <a:hlinkClick r:id="rId3"/>
          </p:cNvPr>
          <p:cNvSpPr/>
          <p:nvPr/>
        </p:nvSpPr>
        <p:spPr>
          <a:xfrm>
            <a:off x="8082076" y="2798063"/>
            <a:ext cx="3606698" cy="566928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3" name="vis:icon"/>
          <p:cNvSpPr/>
          <p:nvPr/>
        </p:nvSpPr>
        <p:spPr>
          <a:xfrm>
            <a:off x="8339937" y="2977286"/>
            <a:ext cx="164592" cy="164592"/>
          </a:xfrm>
          <a:prstGeom prst="ellipse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44" name="vis:icon"/>
          <p:cNvCxnSpPr/>
          <p:nvPr/>
        </p:nvCxnSpPr>
        <p:spPr>
          <a:xfrm>
            <a:off x="8482584" y="3119932"/>
            <a:ext cx="65836" cy="65837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ell:linklabel"/>
          <p:cNvSpPr txBox="1"/>
          <p:nvPr/>
        </p:nvSpPr>
        <p:spPr>
          <a:xfrm>
            <a:off x="8703868" y="2880359"/>
            <a:ext cx="27471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01826"/>
                </a:solidFill>
                <a:latin typeface="Segoe UI Semibold"/>
              </a:rPr>
              <a:t>UAE data protection laws</a:t>
            </a:r>
          </a:p>
        </p:txBody>
      </p:sp>
      <p:sp>
        <p:nvSpPr>
          <p:cNvPr id="46" name="cell:linkurl"/>
          <p:cNvSpPr txBox="1"/>
          <p:nvPr/>
        </p:nvSpPr>
        <p:spPr>
          <a:xfrm>
            <a:off x="8703868" y="3099815"/>
            <a:ext cx="274716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"/>
              </a:rPr>
              <a:t>u.ae/en/about-the-uae/digital-uae/dat…</a:t>
            </a:r>
          </a:p>
        </p:txBody>
      </p:sp>
      <p:sp>
        <p:nvSpPr>
          <p:cNvPr id="47" name="nav:link">
            <a:hlinkClick r:id="rId4"/>
          </p:cNvPr>
          <p:cNvSpPr/>
          <p:nvPr/>
        </p:nvSpPr>
        <p:spPr>
          <a:xfrm>
            <a:off x="8082076" y="3474720"/>
            <a:ext cx="3606698" cy="566928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8" name="vis:icon"/>
          <p:cNvSpPr/>
          <p:nvPr/>
        </p:nvSpPr>
        <p:spPr>
          <a:xfrm>
            <a:off x="8339937" y="3653942"/>
            <a:ext cx="164592" cy="164592"/>
          </a:xfrm>
          <a:prstGeom prst="ellipse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49" name="vis:icon"/>
          <p:cNvCxnSpPr/>
          <p:nvPr/>
        </p:nvCxnSpPr>
        <p:spPr>
          <a:xfrm>
            <a:off x="8482584" y="3796588"/>
            <a:ext cx="65836" cy="65837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ell:linklabel"/>
          <p:cNvSpPr txBox="1"/>
          <p:nvPr/>
        </p:nvSpPr>
        <p:spPr>
          <a:xfrm>
            <a:off x="8703868" y="3557015"/>
            <a:ext cx="27471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01826"/>
                </a:solidFill>
                <a:latin typeface="Segoe UI Semibold"/>
              </a:rPr>
              <a:t>Check if your email has leaked</a:t>
            </a:r>
          </a:p>
        </p:txBody>
      </p:sp>
      <p:sp>
        <p:nvSpPr>
          <p:cNvPr id="51" name="cell:linkurl"/>
          <p:cNvSpPr txBox="1"/>
          <p:nvPr/>
        </p:nvSpPr>
        <p:spPr>
          <a:xfrm>
            <a:off x="8703868" y="3776472"/>
            <a:ext cx="274716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"/>
              </a:rPr>
              <a:t>haveibeenpwned.com</a:t>
            </a:r>
          </a:p>
        </p:txBody>
      </p:sp>
      <p:sp>
        <p:nvSpPr>
          <p:cNvPr id="52" name="vis:next"/>
          <p:cNvSpPr/>
          <p:nvPr/>
        </p:nvSpPr>
        <p:spPr>
          <a:xfrm>
            <a:off x="8082076" y="4297680"/>
            <a:ext cx="3606698" cy="1719072"/>
          </a:xfrm>
          <a:prstGeom prst="roundRect">
            <a:avLst>
              <a:gd name="adj" fmla="val 4255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3" name="seclabel"/>
          <p:cNvSpPr txBox="1"/>
          <p:nvPr/>
        </p:nvSpPr>
        <p:spPr>
          <a:xfrm>
            <a:off x="8338108" y="4480560"/>
            <a:ext cx="309463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B67D84"/>
                </a:solidFill>
                <a:latin typeface="Segoe UI Semibold"/>
              </a:rPr>
              <a:t>DO THIS NEXT</a:t>
            </a:r>
          </a:p>
        </p:txBody>
      </p:sp>
      <p:sp>
        <p:nvSpPr>
          <p:cNvPr id="54" name="cell:next"/>
          <p:cNvSpPr txBox="1"/>
          <p:nvPr/>
        </p:nvSpPr>
        <p:spPr>
          <a:xfrm>
            <a:off x="8338108" y="4809744"/>
            <a:ext cx="3094634" cy="98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Segoe UI"/>
              </a:rPr>
              <a:t>Companion module: SEC-07, What Never to Paste Into AI. The five red lines and the two-second test, in detail.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GLOSSARY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Words people use around AI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SEC-06  ·  Safe Use of AI at Work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gloss"/>
          <p:cNvSpPr/>
          <p:nvPr/>
        </p:nvSpPr>
        <p:spPr>
          <a:xfrm>
            <a:off x="502920" y="1719072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glossbar"/>
          <p:cNvSpPr/>
          <p:nvPr/>
        </p:nvSpPr>
        <p:spPr>
          <a:xfrm>
            <a:off x="502920" y="1719072"/>
            <a:ext cx="54864" cy="107899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cell:glossterm"/>
          <p:cNvSpPr txBox="1"/>
          <p:nvPr/>
        </p:nvSpPr>
        <p:spPr>
          <a:xfrm>
            <a:off x="740664" y="18288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Approved tool</a:t>
            </a:r>
          </a:p>
        </p:txBody>
      </p:sp>
      <p:sp>
        <p:nvSpPr>
          <p:cNvPr id="18" name="cell:glossdef"/>
          <p:cNvSpPr txBox="1"/>
          <p:nvPr/>
        </p:nvSpPr>
        <p:spPr>
          <a:xfrm>
            <a:off x="740664" y="2139696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An AI service the company holds an agreement with, used through your work account.</a:t>
            </a:r>
          </a:p>
        </p:txBody>
      </p:sp>
      <p:sp>
        <p:nvSpPr>
          <p:cNvPr id="19" name="vis:gloss"/>
          <p:cNvSpPr/>
          <p:nvPr/>
        </p:nvSpPr>
        <p:spPr>
          <a:xfrm>
            <a:off x="6178143" y="1719072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glossbar"/>
          <p:cNvSpPr/>
          <p:nvPr/>
        </p:nvSpPr>
        <p:spPr>
          <a:xfrm>
            <a:off x="6178143" y="1719072"/>
            <a:ext cx="54864" cy="107899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cell:glossterm"/>
          <p:cNvSpPr txBox="1"/>
          <p:nvPr/>
        </p:nvSpPr>
        <p:spPr>
          <a:xfrm>
            <a:off x="6415887" y="18288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Consumer tier</a:t>
            </a:r>
          </a:p>
        </p:txBody>
      </p:sp>
      <p:sp>
        <p:nvSpPr>
          <p:cNvPr id="22" name="cell:glossdef"/>
          <p:cNvSpPr txBox="1"/>
          <p:nvPr/>
        </p:nvSpPr>
        <p:spPr>
          <a:xfrm>
            <a:off x="6415887" y="2139696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free or personal subscription. Terms nobody here negotiated, and often training on your input.</a:t>
            </a:r>
          </a:p>
        </p:txBody>
      </p:sp>
      <p:sp>
        <p:nvSpPr>
          <p:cNvPr id="23" name="vis:gloss"/>
          <p:cNvSpPr/>
          <p:nvPr/>
        </p:nvSpPr>
        <p:spPr>
          <a:xfrm>
            <a:off x="502920" y="2962656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glossbar"/>
          <p:cNvSpPr/>
          <p:nvPr/>
        </p:nvSpPr>
        <p:spPr>
          <a:xfrm>
            <a:off x="502920" y="2962656"/>
            <a:ext cx="54864" cy="107899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cell:glossterm"/>
          <p:cNvSpPr txBox="1"/>
          <p:nvPr/>
        </p:nvSpPr>
        <p:spPr>
          <a:xfrm>
            <a:off x="740664" y="3072384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Training on your data</a:t>
            </a:r>
          </a:p>
        </p:txBody>
      </p:sp>
      <p:sp>
        <p:nvSpPr>
          <p:cNvPr id="26" name="cell:glossdef"/>
          <p:cNvSpPr txBox="1"/>
          <p:nvPr/>
        </p:nvSpPr>
        <p:spPr>
          <a:xfrm>
            <a:off x="740664" y="3383280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Using what you type to improve the service. Usually switchable on business tiers.</a:t>
            </a:r>
          </a:p>
        </p:txBody>
      </p:sp>
      <p:sp>
        <p:nvSpPr>
          <p:cNvPr id="27" name="vis:gloss"/>
          <p:cNvSpPr/>
          <p:nvPr/>
        </p:nvSpPr>
        <p:spPr>
          <a:xfrm>
            <a:off x="6178143" y="2962656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glossbar"/>
          <p:cNvSpPr/>
          <p:nvPr/>
        </p:nvSpPr>
        <p:spPr>
          <a:xfrm>
            <a:off x="6178143" y="2962656"/>
            <a:ext cx="54864" cy="107899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cell:glossterm"/>
          <p:cNvSpPr txBox="1"/>
          <p:nvPr/>
        </p:nvSpPr>
        <p:spPr>
          <a:xfrm>
            <a:off x="6415887" y="3072384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Shadow AI</a:t>
            </a:r>
          </a:p>
        </p:txBody>
      </p:sp>
      <p:sp>
        <p:nvSpPr>
          <p:cNvPr id="30" name="cell:glossdef"/>
          <p:cNvSpPr txBox="1"/>
          <p:nvPr/>
        </p:nvSpPr>
        <p:spPr>
          <a:xfrm>
            <a:off x="6415887" y="3383280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AI tools in use at work that nobody assessed or approved. Usually browser extensions and bots.</a:t>
            </a:r>
          </a:p>
        </p:txBody>
      </p:sp>
      <p:sp>
        <p:nvSpPr>
          <p:cNvPr id="31" name="vis:gloss"/>
          <p:cNvSpPr/>
          <p:nvPr/>
        </p:nvSpPr>
        <p:spPr>
          <a:xfrm>
            <a:off x="502920" y="4206240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glossbar"/>
          <p:cNvSpPr/>
          <p:nvPr/>
        </p:nvSpPr>
        <p:spPr>
          <a:xfrm>
            <a:off x="502920" y="4206240"/>
            <a:ext cx="54864" cy="107899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cell:glossterm"/>
          <p:cNvSpPr txBox="1"/>
          <p:nvPr/>
        </p:nvSpPr>
        <p:spPr>
          <a:xfrm>
            <a:off x="740664" y="4315968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Audit trail</a:t>
            </a:r>
          </a:p>
        </p:txBody>
      </p:sp>
      <p:sp>
        <p:nvSpPr>
          <p:cNvPr id="34" name="cell:glossdef"/>
          <p:cNvSpPr txBox="1"/>
          <p:nvPr/>
        </p:nvSpPr>
        <p:spPr>
          <a:xfrm>
            <a:off x="740664" y="4626864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record of what was used, on what, by whom. Written at the time, not reconstructed.</a:t>
            </a:r>
          </a:p>
        </p:txBody>
      </p:sp>
      <p:sp>
        <p:nvSpPr>
          <p:cNvPr id="35" name="vis:gloss"/>
          <p:cNvSpPr/>
          <p:nvPr/>
        </p:nvSpPr>
        <p:spPr>
          <a:xfrm>
            <a:off x="6178143" y="4206240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vis:glossbar"/>
          <p:cNvSpPr/>
          <p:nvPr/>
        </p:nvSpPr>
        <p:spPr>
          <a:xfrm>
            <a:off x="6178143" y="4206240"/>
            <a:ext cx="54864" cy="107899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cell:glossterm"/>
          <p:cNvSpPr txBox="1"/>
          <p:nvPr/>
        </p:nvSpPr>
        <p:spPr>
          <a:xfrm>
            <a:off x="6415887" y="4315968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Accountability</a:t>
            </a:r>
          </a:p>
        </p:txBody>
      </p:sp>
      <p:sp>
        <p:nvSpPr>
          <p:cNvPr id="38" name="cell:glossdef"/>
          <p:cNvSpPr txBox="1"/>
          <p:nvPr/>
        </p:nvSpPr>
        <p:spPr>
          <a:xfrm>
            <a:off x="6415887" y="4626864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named person owns the output, regardless of what helped produce it.</a:t>
            </a:r>
          </a:p>
        </p:txBody>
      </p:sp>
      <p:sp>
        <p:nvSpPr>
          <p:cNvPr id="39" name="nav:glossback">
            <a:hlinkClick action="ppaction://hlinksldjump" r:id="rId2"/>
          </p:cNvPr>
          <p:cNvSpPr/>
          <p:nvPr/>
        </p:nvSpPr>
        <p:spPr>
          <a:xfrm>
            <a:off x="502920" y="5504688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nav:glossbacktext"/>
          <p:cNvSpPr txBox="1"/>
          <p:nvPr/>
        </p:nvSpPr>
        <p:spPr>
          <a:xfrm>
            <a:off x="758952" y="5650992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menu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