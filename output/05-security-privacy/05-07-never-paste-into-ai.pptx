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2.xml"/><Relationship Id="rId6" Type="http://schemas.openxmlformats.org/officeDocument/2006/relationships/slide" Target="slide14.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57wFvOqzBvg"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ity.gov.in/data-protection-framework" TargetMode="External"/><Relationship Id="rId3" Type="http://schemas.openxmlformats.org/officeDocument/2006/relationships/hyperlink" Target="https://u.ae/en/about-the-uae/digital-uae/data/data-protection-laws" TargetMode="External"/><Relationship Id="rId4" Type="http://schemas.openxmlformats.org/officeDocument/2006/relationships/hyperlink" Target="https://haveibeenpwned.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safe-ai-use.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56642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SECURITY &amp; DATA PRIVACY</a:t>
            </a:r>
          </a:p>
        </p:txBody>
      </p:sp>
      <p:sp>
        <p:nvSpPr>
          <p:cNvPr id="8" name="title:cover"/>
          <p:cNvSpPr txBox="1"/>
          <p:nvPr/>
        </p:nvSpPr>
        <p:spPr>
          <a:xfrm>
            <a:off x="841248" y="102362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What Never to Paste Into AI</a:t>
            </a:r>
          </a:p>
        </p:txBody>
      </p:sp>
      <p:cxnSp>
        <p:nvCxnSpPr>
          <p:cNvPr id="9" name="vis:rule"/>
          <p:cNvCxnSpPr/>
          <p:nvPr/>
        </p:nvCxnSpPr>
        <p:spPr>
          <a:xfrm>
            <a:off x="841248" y="280568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3080004"/>
            <a:ext cx="4187952" cy="114452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The five red lines, the two-second test, and exactly what to type instead when you are in a hurry.</a:t>
            </a:r>
          </a:p>
        </p:txBody>
      </p:sp>
      <p:sp>
        <p:nvSpPr>
          <p:cNvPr id="11" name="vis:chip"/>
          <p:cNvSpPr/>
          <p:nvPr/>
        </p:nvSpPr>
        <p:spPr>
          <a:xfrm>
            <a:off x="841248" y="4626864"/>
            <a:ext cx="1054989" cy="310896"/>
          </a:xfrm>
          <a:prstGeom prst="roundRect">
            <a:avLst>
              <a:gd name="adj" fmla="val 14705"/>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3"/>
            <a:ext cx="74409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SEC-07</a:t>
            </a:r>
          </a:p>
        </p:txBody>
      </p:sp>
      <p:sp>
        <p:nvSpPr>
          <p:cNvPr id="13" name="vis:chip"/>
          <p:cNvSpPr/>
          <p:nvPr/>
        </p:nvSpPr>
        <p:spPr>
          <a:xfrm>
            <a:off x="2042541"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197989" y="4672583"/>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16 MINUTES</a:t>
            </a:r>
          </a:p>
        </p:txBody>
      </p:sp>
      <p:sp>
        <p:nvSpPr>
          <p:cNvPr id="15" name="vis:chip"/>
          <p:cNvSpPr/>
          <p:nvPr/>
        </p:nvSpPr>
        <p:spPr>
          <a:xfrm>
            <a:off x="841248" y="5047488"/>
            <a:ext cx="2788677"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7"/>
            <a:ext cx="2477781"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MANDATORY FOR ALL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SEC-07  ·  What Never to Paste Into AI</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One paste, and it is out of our hands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31194" y="2355757"/>
            <a:ext cx="260187" cy="180685"/>
          </a:xfrm>
          <a:prstGeom prst="roundRect">
            <a:avLst>
              <a:gd name="adj" fmla="val 25303"/>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icon"/>
          <p:cNvSpPr/>
          <p:nvPr/>
        </p:nvSpPr>
        <p:spPr>
          <a:xfrm>
            <a:off x="1078172" y="2232891"/>
            <a:ext cx="166230" cy="224049"/>
          </a:xfrm>
          <a:prstGeom prst="arc">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Farhan in accounts needs a payment-reminder letter. He pastes the customer ageing report — 340 names, phone numbers and outstanding amounts — into a free AI site. The letter that comes back is excellent. The report is now on a server we do not control.</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We cannot retrieve it, cannot delete it, and cannot tell an auditor where it went.</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You will know in two seconds whether something is safe to paste — and exactly what to type instead.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0990" y="1945974"/>
            <a:ext cx="259426" cy="259426"/>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969315" y="1984299"/>
            <a:ext cx="182777" cy="18277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9"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Name the five kinds of information that must never go into an AI tool</a:t>
            </a:r>
          </a:p>
        </p:txBody>
      </p:sp>
      <p:sp>
        <p:nvSpPr>
          <p:cNvPr id="20"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933938" y="2839138"/>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Strip a real request down to facts that are safe to share, in under a minute</a:t>
            </a:r>
          </a:p>
        </p:txBody>
      </p:sp>
      <p:sp>
        <p:nvSpPr>
          <p:cNvPr id="24"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925094" y="3761783"/>
            <a:ext cx="271219" cy="212257"/>
          </a:xfrm>
          <a:custGeom>
            <a:avLst/>
            <a:gdLst/>
            <a:ahLst/>
            <a:cxnLst/>
            <a:rect l="l" t="t" r="r" b="b"/>
            <a:pathLst>
              <a:path w="271219" h="212257">
                <a:moveTo>
                  <a:pt x="0" y="106128"/>
                </a:moveTo>
                <a:lnTo>
                  <a:pt x="135610" y="0"/>
                </a:lnTo>
                <a:lnTo>
                  <a:pt x="271219" y="106128"/>
                </a:lnTo>
                <a:lnTo>
                  <a:pt x="135610" y="212257"/>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s:icon"/>
          <p:cNvSpPr/>
          <p:nvPr/>
        </p:nvSpPr>
        <p:spPr>
          <a:xfrm>
            <a:off x="1019431" y="3826639"/>
            <a:ext cx="82544" cy="82544"/>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Tell an approved tool from a personal account at a glance</a:t>
            </a:r>
          </a:p>
        </p:txBody>
      </p:sp>
      <p:sp>
        <p:nvSpPr>
          <p:cNvPr id="29"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925094" y="4634310"/>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vis:icon"/>
          <p:cNvCxnSpPr/>
          <p:nvPr/>
        </p:nvCxnSpPr>
        <p:spPr>
          <a:xfrm>
            <a:off x="1060704" y="4728647"/>
            <a:ext cx="0" cy="7370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3" name="vis:icon"/>
          <p:cNvSpPr/>
          <p:nvPr/>
        </p:nvSpPr>
        <p:spPr>
          <a:xfrm>
            <a:off x="1045963" y="4828880"/>
            <a:ext cx="29480" cy="2948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Explain what actually happens after a bad paste, not just that it is banned</a:t>
            </a:r>
          </a:p>
        </p:txBody>
      </p:sp>
      <p:sp>
        <p:nvSpPr>
          <p:cNvPr id="35"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icon"/>
          <p:cNvSpPr/>
          <p:nvPr/>
        </p:nvSpPr>
        <p:spPr>
          <a:xfrm>
            <a:off x="925094" y="5548111"/>
            <a:ext cx="129713" cy="129713"/>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a:off x="1031223" y="5660136"/>
            <a:ext cx="153298" cy="11792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H="1">
            <a:off x="1096080" y="5719096"/>
            <a:ext cx="29480" cy="35376"/>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40" name="vis:icon"/>
          <p:cNvCxnSpPr/>
          <p:nvPr/>
        </p:nvCxnSpPr>
        <p:spPr>
          <a:xfrm flipH="1">
            <a:off x="1131456" y="5754472"/>
            <a:ext cx="29480" cy="3537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1"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Know what to do in the first hour if you have already pasted something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five red lines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What never goes in, and why</a:t>
            </a:r>
          </a:p>
        </p:txBody>
      </p:sp>
      <p:cxnSp>
        <p:nvCxnSpPr>
          <p:cNvPr id="13" name="vis:menuarrow"/>
          <p:cNvCxnSpPr/>
          <p:nvPr/>
        </p:nvCxnSpPr>
        <p:spPr>
          <a:xfrm>
            <a:off x="11213287" y="1997049"/>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What goes wrong</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part people do not expect</a:t>
            </a:r>
          </a:p>
        </p:txBody>
      </p:sp>
      <p:cxnSp>
        <p:nvCxnSpPr>
          <p:cNvPr id="19" name="vis:menuarrow"/>
          <p:cNvCxnSpPr/>
          <p:nvPr/>
        </p:nvCxnSpPr>
        <p:spPr>
          <a:xfrm>
            <a:off x="11213287" y="242498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Strip it down</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Turn a file into safe facts</a:t>
            </a:r>
          </a:p>
        </p:txBody>
      </p:sp>
      <p:cxnSp>
        <p:nvCxnSpPr>
          <p:cNvPr id="25" name="vis:menuarrow"/>
          <p:cNvCxnSpPr/>
          <p:nvPr/>
        </p:nvCxnSpPr>
        <p:spPr>
          <a:xfrm>
            <a:off x="11213287" y="285292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Approved or personal?</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account changes everything</a:t>
            </a:r>
          </a:p>
        </p:txBody>
      </p:sp>
      <p:cxnSp>
        <p:nvCxnSpPr>
          <p:cNvPr id="31" name="vis:menuarrow"/>
          <p:cNvCxnSpPr/>
          <p:nvPr/>
        </p:nvCxnSpPr>
        <p:spPr>
          <a:xfrm>
            <a:off x="11213287" y="3280867"/>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If you already have</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first hour matters most</a:t>
            </a:r>
          </a:p>
        </p:txBody>
      </p:sp>
      <p:cxnSp>
        <p:nvCxnSpPr>
          <p:cNvPr id="37" name="vis:menuarrow"/>
          <p:cNvCxnSpPr/>
          <p:nvPr/>
        </p:nvCxnSpPr>
        <p:spPr>
          <a:xfrm>
            <a:off x="11213287" y="3708806"/>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Thursday afternoon deadline</a:t>
            </a:r>
          </a:p>
        </p:txBody>
      </p:sp>
      <p:cxnSp>
        <p:nvCxnSpPr>
          <p:cNvPr id="43" name="vis:menuarrow"/>
          <p:cNvCxnSpPr/>
          <p:nvPr/>
        </p:nvCxnSpPr>
        <p:spPr>
          <a:xfrm>
            <a:off x="11213287" y="4136745"/>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7-minute outside warning</a:t>
            </a:r>
          </a:p>
        </p:txBody>
      </p:sp>
      <p:cxnSp>
        <p:nvCxnSpPr>
          <p:cNvPr id="49" name="vis:menuarrow"/>
          <p:cNvCxnSpPr/>
          <p:nvPr/>
        </p:nvCxnSpPr>
        <p:spPr>
          <a:xfrm>
            <a:off x="11213287" y="456468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FIVE RED LINES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things that never go in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Customer or employee personal data</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Names with phone numbers, addresses, ID numbers, salaries. This is the one regulators count.</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Anything lifted from a signed contract</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Prices, terms, penalty clauses. The client agreed to share those with us, not with a third party.</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Financial records and pricing</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Margins, cost sheets, bank details, unpublished results. A competitor would pay for these.</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Login details of any kind</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Passwords, API keys, one-time codes. A prompt box is not a password manager.</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Anything marked confidential or internal</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Board papers, legal advice, unannounced plans. If it carries a marking, the marking is your answer.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FIVE RED LINES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one paste is hard to undo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People expect a paste to behave like a draft email they can unsend. It does not.</a:t>
            </a:r>
          </a:p>
        </p:txBody>
      </p:sp>
      <p:sp>
        <p:nvSpPr>
          <p:cNvPr id="16" name="vis:flowcard"/>
          <p:cNvSpPr/>
          <p:nvPr/>
        </p:nvSpPr>
        <p:spPr>
          <a:xfrm>
            <a:off x="502920"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2752344"/>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paste</a:t>
            </a:r>
          </a:p>
        </p:txBody>
      </p:sp>
      <p:sp>
        <p:nvSpPr>
          <p:cNvPr id="20" name="vis:flowsub"/>
          <p:cNvSpPr txBox="1"/>
          <p:nvPr/>
        </p:nvSpPr>
        <p:spPr>
          <a:xfrm>
            <a:off x="704088"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The text leaves your laptop and travels to the tool's servers.</a:t>
            </a:r>
          </a:p>
        </p:txBody>
      </p:sp>
      <p:cxnSp>
        <p:nvCxnSpPr>
          <p:cNvPr id="21" name="vis:flowarrow"/>
          <p:cNvCxnSpPr/>
          <p:nvPr/>
        </p:nvCxnSpPr>
        <p:spPr>
          <a:xfrm>
            <a:off x="3093643" y="389534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2752344"/>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is stored</a:t>
            </a:r>
          </a:p>
        </p:txBody>
      </p:sp>
      <p:sp>
        <p:nvSpPr>
          <p:cNvPr id="26" name="vis:flowsub"/>
          <p:cNvSpPr txBox="1"/>
          <p:nvPr/>
        </p:nvSpPr>
        <p:spPr>
          <a:xfrm>
            <a:off x="3596563"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Most services keep the conversation. Free accounts usually keep it longest.</a:t>
            </a:r>
          </a:p>
        </p:txBody>
      </p:sp>
      <p:cxnSp>
        <p:nvCxnSpPr>
          <p:cNvPr id="27" name="vis:flowarrow"/>
          <p:cNvCxnSpPr/>
          <p:nvPr/>
        </p:nvCxnSpPr>
        <p:spPr>
          <a:xfrm>
            <a:off x="5986119" y="389534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2752344"/>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may be reused</a:t>
            </a:r>
          </a:p>
        </p:txBody>
      </p:sp>
      <p:sp>
        <p:nvSpPr>
          <p:cNvPr id="32" name="vis:flowsub"/>
          <p:cNvSpPr txBox="1"/>
          <p:nvPr/>
        </p:nvSpPr>
        <p:spPr>
          <a:xfrm>
            <a:off x="6489039"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On consumer accounts, chats can be used to improve the service unless you switch that off.</a:t>
            </a:r>
          </a:p>
        </p:txBody>
      </p:sp>
      <p:cxnSp>
        <p:nvCxnSpPr>
          <p:cNvPr id="33" name="vis:flowarrow"/>
          <p:cNvCxnSpPr/>
          <p:nvPr/>
        </p:nvCxnSpPr>
        <p:spPr>
          <a:xfrm>
            <a:off x="8878595" y="389534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293522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2752344"/>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2830068"/>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30098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cannot recall it</a:t>
            </a:r>
          </a:p>
        </p:txBody>
      </p:sp>
      <p:sp>
        <p:nvSpPr>
          <p:cNvPr id="38" name="vis:flowsub"/>
          <p:cNvSpPr txBox="1"/>
          <p:nvPr/>
        </p:nvSpPr>
        <p:spPr>
          <a:xfrm>
            <a:off x="9381515" y="384962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 delete button reaches every copy. This is the part people do not expect.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GOES WRONG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actually goes wrong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48942" y="2190229"/>
            <a:ext cx="314963" cy="287575"/>
          </a:xfrm>
          <a:custGeom>
            <a:avLst/>
            <a:gdLst/>
            <a:ahLst/>
            <a:cxnLst/>
            <a:rect l="l" t="t" r="r" b="b"/>
            <a:pathLst>
              <a:path w="314963" h="287575">
                <a:moveTo>
                  <a:pt x="157482" y="0"/>
                </a:moveTo>
                <a:lnTo>
                  <a:pt x="314963" y="287575"/>
                </a:lnTo>
                <a:lnTo>
                  <a:pt x="0" y="287575"/>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vis:icon"/>
          <p:cNvCxnSpPr/>
          <p:nvPr/>
        </p:nvCxnSpPr>
        <p:spPr>
          <a:xfrm>
            <a:off x="1106424" y="2299781"/>
            <a:ext cx="0" cy="85588"/>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9306" y="2416181"/>
            <a:ext cx="34235" cy="34235"/>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 reportable incident</a:t>
            </a:r>
          </a:p>
        </p:txBody>
      </p:sp>
      <p:sp>
        <p:nvSpPr>
          <p:cNvPr id="21"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Under India's DPDP Act and UAE data protection law, personal data leaving our control is an incident we may be required to report.</a:t>
            </a:r>
          </a:p>
        </p:txBody>
      </p:sp>
      <p:sp>
        <p:nvSpPr>
          <p:cNvPr id="22"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4861435" y="2193652"/>
            <a:ext cx="130093" cy="130093"/>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89541" y="2375099"/>
            <a:ext cx="273881" cy="119823"/>
          </a:xfrm>
          <a:custGeom>
            <a:avLst/>
            <a:gdLst/>
            <a:ahLst/>
            <a:cxnLst/>
            <a:rect l="l" t="t" r="r" b="b"/>
            <a:pathLst>
              <a:path w="273881" h="119823">
                <a:moveTo>
                  <a:pt x="0" y="119823"/>
                </a:moveTo>
                <a:lnTo>
                  <a:pt x="20541" y="0"/>
                </a:lnTo>
                <a:lnTo>
                  <a:pt x="253340" y="0"/>
                </a:lnTo>
                <a:lnTo>
                  <a:pt x="273881" y="119823"/>
                </a:lnTo>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 client relationship</a:t>
            </a:r>
          </a:p>
        </p:txBody>
      </p:sp>
      <p:sp>
        <p:nvSpPr>
          <p:cNvPr id="27"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Clients ask how their data is handled. "An employee pasted it into a chatbot" is not an answer that survives a renewal meeting.</a:t>
            </a:r>
          </a:p>
        </p:txBody>
      </p:sp>
      <p:sp>
        <p:nvSpPr>
          <p:cNvPr id="28"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589059" y="2217617"/>
            <a:ext cx="314963" cy="246493"/>
          </a:xfrm>
          <a:custGeom>
            <a:avLst/>
            <a:gdLst/>
            <a:ahLst/>
            <a:cxnLst/>
            <a:rect l="l" t="t" r="r" b="b"/>
            <a:pathLst>
              <a:path w="314963" h="246493">
                <a:moveTo>
                  <a:pt x="0" y="123246"/>
                </a:moveTo>
                <a:lnTo>
                  <a:pt x="157481" y="0"/>
                </a:lnTo>
                <a:lnTo>
                  <a:pt x="314963" y="123246"/>
                </a:lnTo>
                <a:lnTo>
                  <a:pt x="157481" y="246493"/>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vis:icon"/>
          <p:cNvSpPr/>
          <p:nvPr/>
        </p:nvSpPr>
        <p:spPr>
          <a:xfrm>
            <a:off x="8698611" y="2292934"/>
            <a:ext cx="95858" cy="95858"/>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It can resurface</a:t>
            </a:r>
          </a:p>
        </p:txBody>
      </p:sp>
      <p:sp>
        <p:nvSpPr>
          <p:cNvPr id="33"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Text used for training can, rarely, appear in another user's answer. You have no way to check whether yours did.</a:t>
            </a:r>
          </a:p>
        </p:txBody>
      </p:sp>
      <p:sp>
        <p:nvSpPr>
          <p:cNvPr id="34"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35" name="vis:chip"/>
          <p:cNvSpPr/>
          <p:nvPr/>
        </p:nvSpPr>
        <p:spPr>
          <a:xfrm>
            <a:off x="2221991" y="5660136"/>
            <a:ext cx="1819132"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iptext"/>
          <p:cNvSpPr txBox="1"/>
          <p:nvPr/>
        </p:nvSpPr>
        <p:spPr>
          <a:xfrm>
            <a:off x="2377439" y="5687568"/>
            <a:ext cx="1508236"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DATA BREACH  ?</a:t>
            </a:r>
          </a:p>
        </p:txBody>
      </p:sp>
      <p:sp>
        <p:nvSpPr>
          <p:cNvPr id="37" name="nav:gloss">
            <a:hlinkClick action="ppaction://hlinksldjump" r:id="rId3"/>
          </p:cNvPr>
          <p:cNvSpPr/>
          <p:nvPr/>
        </p:nvSpPr>
        <p:spPr>
          <a:xfrm>
            <a:off x="2221991" y="5660136"/>
            <a:ext cx="1819132"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chip"/>
          <p:cNvSpPr/>
          <p:nvPr/>
        </p:nvSpPr>
        <p:spPr>
          <a:xfrm>
            <a:off x="4169140" y="5660136"/>
            <a:ext cx="1489914"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chiptext"/>
          <p:cNvSpPr txBox="1"/>
          <p:nvPr/>
        </p:nvSpPr>
        <p:spPr>
          <a:xfrm>
            <a:off x="4324588" y="5687568"/>
            <a:ext cx="117901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DPDP ACT  ?</a:t>
            </a:r>
          </a:p>
        </p:txBody>
      </p:sp>
      <p:sp>
        <p:nvSpPr>
          <p:cNvPr id="40" name="nav:gloss">
            <a:hlinkClick action="ppaction://hlinksldjump" r:id="rId3"/>
          </p:cNvPr>
          <p:cNvSpPr/>
          <p:nvPr/>
        </p:nvSpPr>
        <p:spPr>
          <a:xfrm>
            <a:off x="4169140" y="5660136"/>
            <a:ext cx="1489914"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GOES WRONG</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test that takes two seconds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Could this text identify a person or a customer?</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571079" y="3937040"/>
            <a:ext cx="66568"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637647" y="3860231"/>
            <a:ext cx="122896"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Safe to paste</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Dates, quantities, reasons, general descriptions. Everything it needs to write with, and nothing that could harm anyone if it leaked tomorrow.</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7709544"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7742828"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Do not paste it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Take out the names, numbers and addresses first, or describe the situation in your own words instead. The tool does not need to know who it is to write well.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STRIP IT DOWN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Turn a file into safe facts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2375977"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2065081"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FARHAN PASTED</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The full ageing report: 340 rows with names, phone numbers, credit limits and outstanding amounts.</a:t>
            </a:r>
          </a:p>
          <a:p>
            <a:pPr algn="l">
              <a:lnSpc>
                <a:spcPts val="1690"/>
              </a:lnSpc>
              <a:spcBef>
                <a:spcPts val="0"/>
              </a:spcBef>
              <a:spcAft>
                <a:spcPts val="600"/>
              </a:spcAft>
            </a:pPr>
            <a:r>
              <a:rPr sz="1300" b="0">
                <a:solidFill>
                  <a:srgbClr val="2A3547"/>
                </a:solidFill>
                <a:latin typeface="Segoe UI"/>
              </a:rPr>
              <a:t>Plus the covering note naming the two largest defaulters.</a:t>
            </a:r>
          </a:p>
          <a:p>
            <a:pPr algn="l">
              <a:lnSpc>
                <a:spcPts val="1690"/>
              </a:lnSpc>
              <a:spcBef>
                <a:spcPts val="0"/>
              </a:spcBef>
              <a:spcAft>
                <a:spcPts val="600"/>
              </a:spcAft>
            </a:pPr>
            <a:r>
              <a:rPr sz="1300" b="0">
                <a:solidFill>
                  <a:srgbClr val="2A3547"/>
                </a:solidFill>
                <a:latin typeface="Segoe UI"/>
              </a:rPr>
              <a:t>Every one of those names is now outside the company, permanently.</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3018160"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270726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HE SHOULD HAVE TYPED</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"Write a firm payment-reminder letter for an invoice 45 days overdue."</a:t>
            </a:r>
          </a:p>
          <a:p>
            <a:pPr algn="l">
              <a:lnSpc>
                <a:spcPts val="1690"/>
              </a:lnSpc>
              <a:spcBef>
                <a:spcPts val="0"/>
              </a:spcBef>
              <a:spcAft>
                <a:spcPts val="600"/>
              </a:spcAft>
            </a:pPr>
            <a:r>
              <a:rPr sz="1300" b="0">
                <a:solidFill>
                  <a:srgbClr val="2A3547"/>
                </a:solidFill>
                <a:latin typeface="Segoe UI"/>
              </a:rPr>
              <a:t>"Second reminder. Long-standing client, we want to keep the relationship."</a:t>
            </a:r>
          </a:p>
          <a:p>
            <a:pPr algn="l">
              <a:lnSpc>
                <a:spcPts val="1690"/>
              </a:lnSpc>
              <a:spcBef>
                <a:spcPts val="0"/>
              </a:spcBef>
              <a:spcAft>
                <a:spcPts val="600"/>
              </a:spcAft>
            </a:pPr>
            <a:r>
              <a:rPr sz="1300" b="0">
                <a:solidFill>
                  <a:srgbClr val="2A3547"/>
                </a:solidFill>
                <a:latin typeface="Segoe UI"/>
              </a:rPr>
              <a:t>Nothing identifying anyone — and the letter that comes back is just as good.</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tool never needed the names. It only ever needed the situation.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STRIP IT DOWN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strip a real request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pnum"/>
          <p:cNvSpPr/>
          <p:nvPr/>
        </p:nvSpPr>
        <p:spPr>
          <a:xfrm>
            <a:off x="502920" y="2027681"/>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something you were genuinely about to paste this week.</a:t>
            </a:r>
          </a:p>
        </p:txBody>
      </p:sp>
      <p:sp>
        <p:nvSpPr>
          <p:cNvPr id="19" name="vis:stepnum"/>
          <p:cNvSpPr/>
          <p:nvPr/>
        </p:nvSpPr>
        <p:spPr>
          <a:xfrm>
            <a:off x="502920" y="3138677"/>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Delete every name, phone number, address and ID number.</a:t>
            </a:r>
          </a:p>
        </p:txBody>
      </p:sp>
      <p:sp>
        <p:nvSpPr>
          <p:cNvPr id="23" name="vis:stepnum"/>
          <p:cNvSpPr/>
          <p:nvPr/>
        </p:nvSpPr>
        <p:spPr>
          <a:xfrm>
            <a:off x="502920" y="4249674"/>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Replace exact amounts with a range, and exact dates with "45 days overdue".</a:t>
            </a:r>
          </a:p>
        </p:txBody>
      </p:sp>
      <p:sp>
        <p:nvSpPr>
          <p:cNvPr id="27" name="vis:stepnum"/>
          <p:cNvSpPr/>
          <p:nvPr/>
        </p:nvSpPr>
        <p:spPr>
          <a:xfrm>
            <a:off x="502920" y="5360670"/>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Paste what is left. Add the real details yourself afterwards, in Outlook.</a:t>
            </a:r>
          </a:p>
        </p:txBody>
      </p:sp>
      <p:sp>
        <p:nvSpPr>
          <p:cNvPr id="30" name="vis:promptcard"/>
          <p:cNvSpPr/>
          <p:nvPr/>
        </p:nvSpPr>
        <p:spPr>
          <a:xfrm>
            <a:off x="6461607" y="1719072"/>
            <a:ext cx="5227167" cy="2807208"/>
          </a:xfrm>
          <a:prstGeom prst="roundRect">
            <a:avLst>
              <a:gd name="adj" fmla="val 325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Write a firm but polite payment reminder for an invoice that is 45 days overdue. This is the second reminder. The client is long-standing and we want to keep the relationship. Under 130 words. Include one clear sentence asking them to confirm a payment date.</a:t>
            </a:r>
          </a:p>
        </p:txBody>
      </p:sp>
      <p:sp>
        <p:nvSpPr>
          <p:cNvPr id="43" name="vis:promptcap"/>
          <p:cNvSpPr txBox="1"/>
          <p:nvPr/>
        </p:nvSpPr>
        <p:spPr>
          <a:xfrm>
            <a:off x="6735927" y="3855719"/>
            <a:ext cx="4678527" cy="45110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No name, no invoice number, no amount. It still writes the whole letter.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STRIP IT DOWN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Say it in your own words instead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Describing a situation takes about fifteen seconds and removes the risk entirely.</a:t>
            </a:r>
          </a:p>
        </p:txBody>
      </p:sp>
      <p:sp>
        <p:nvSpPr>
          <p:cNvPr id="16" name="vis:promptcard"/>
          <p:cNvSpPr/>
          <p:nvPr/>
        </p:nvSpPr>
        <p:spPr>
          <a:xfrm>
            <a:off x="502920" y="2432304"/>
            <a:ext cx="5816644"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432304"/>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55446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67736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67736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4459395" y="2505456"/>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4643007" y="257129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4661660" y="260860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263658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4661660" y="266456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4870875" y="256489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542032"/>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8" name="card:prompt"/>
          <p:cNvSpPr txBox="1"/>
          <p:nvPr/>
        </p:nvSpPr>
        <p:spPr>
          <a:xfrm>
            <a:off x="777240" y="2980944"/>
            <a:ext cx="5268004"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need to reply to a customer complaint. A delivery arrived three days late and two cartons were damaged. We accept the delay. We want to offer a replacement for the damaged cartons but not a discount. Draft a 120-word reply, apologetic but not grovelling.</a:t>
            </a:r>
          </a:p>
        </p:txBody>
      </p:sp>
      <p:sp>
        <p:nvSpPr>
          <p:cNvPr id="29" name="vis:promptcap"/>
          <p:cNvSpPr txBox="1"/>
          <p:nvPr/>
        </p:nvSpPr>
        <p:spPr>
          <a:xfrm>
            <a:off x="777240" y="433781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Everything the tool needs. Nothing it should not have.</a:t>
            </a:r>
          </a:p>
        </p:txBody>
      </p:sp>
      <p:sp>
        <p:nvSpPr>
          <p:cNvPr id="30" name="vis:outcard"/>
          <p:cNvSpPr/>
          <p:nvPr/>
        </p:nvSpPr>
        <p:spPr>
          <a:xfrm>
            <a:off x="6685324" y="2432304"/>
            <a:ext cx="5003450" cy="2377947"/>
          </a:xfrm>
          <a:prstGeom prst="roundRect">
            <a:avLst>
              <a:gd name="adj" fmla="val 38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outspine"/>
          <p:cNvSpPr/>
          <p:nvPr/>
        </p:nvSpPr>
        <p:spPr>
          <a:xfrm>
            <a:off x="6685324" y="2432304"/>
            <a:ext cx="68580" cy="2377947"/>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6941356" y="2633472"/>
            <a:ext cx="2087885"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7096804" y="2660904"/>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4" name="vis:outbody"/>
          <p:cNvSpPr txBox="1"/>
          <p:nvPr/>
        </p:nvSpPr>
        <p:spPr>
          <a:xfrm>
            <a:off x="6941356" y="3072384"/>
            <a:ext cx="4491386" cy="151841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complete reply covering the delay, the damage and the replacement offer.</a:t>
            </a:r>
          </a:p>
          <a:p>
            <a:pPr algn="l">
              <a:lnSpc>
                <a:spcPts val="1690"/>
              </a:lnSpc>
              <a:spcBef>
                <a:spcPts val="0"/>
              </a:spcBef>
              <a:spcAft>
                <a:spcPts val="600"/>
              </a:spcAft>
            </a:pPr>
            <a:r>
              <a:rPr sz="1300" b="0">
                <a:solidFill>
                  <a:srgbClr val="2A3547"/>
                </a:solidFill>
                <a:latin typeface="Segoe UI"/>
              </a:rPr>
              <a:t>No customer name, no invoice number and no address went in — because none of it was needed.</a:t>
            </a:r>
          </a:p>
          <a:p>
            <a:pPr algn="l">
              <a:lnSpc>
                <a:spcPts val="1690"/>
              </a:lnSpc>
              <a:spcBef>
                <a:spcPts val="0"/>
              </a:spcBef>
              <a:spcAft>
                <a:spcPts val="600"/>
              </a:spcAft>
            </a:pPr>
            <a:r>
              <a:rPr sz="1300" b="0">
                <a:solidFill>
                  <a:srgbClr val="2A3547"/>
                </a:solidFill>
                <a:latin typeface="Segoe UI"/>
              </a:rPr>
              <a:t>You add the name yourself, in Outlook, where it belongs.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APPROVED OR PERSONAL?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Approved account or personal?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panel"/>
          <p:cNvSpPr/>
          <p:nvPr/>
        </p:nvSpPr>
        <p:spPr>
          <a:xfrm>
            <a:off x="502920" y="1719072"/>
            <a:ext cx="5437479" cy="3822192"/>
          </a:xfrm>
          <a:prstGeom prst="roundRect">
            <a:avLst>
              <a:gd name="adj" fmla="val 23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382219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2191490"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88059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PERSONAL ACCOUNT</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Your own login on a free AI site</a:t>
            </a:r>
          </a:p>
        </p:txBody>
      </p:sp>
      <p:cxnSp>
        <p:nvCxnSpPr>
          <p:cNvPr id="20" name="vis:icon"/>
          <p:cNvCxnSpPr/>
          <p:nvPr/>
        </p:nvCxnSpPr>
        <p:spPr>
          <a:xfrm>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H="1">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Chats are usually kept, and may be used to improve the service</a:t>
            </a:r>
          </a:p>
        </p:txBody>
      </p:sp>
      <p:cxnSp>
        <p:nvCxnSpPr>
          <p:cNvPr id="23" name="vis:icon"/>
          <p:cNvCxnSpPr/>
          <p:nvPr/>
        </p:nvCxnSpPr>
        <p:spPr>
          <a:xfrm>
            <a:off x="819302" y="366765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H="1">
            <a:off x="819302" y="366765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593591"/>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 company has no record of what was shared</a:t>
            </a:r>
          </a:p>
        </p:txBody>
      </p:sp>
      <p:cxnSp>
        <p:nvCxnSpPr>
          <p:cNvPr id="26" name="vis:icon"/>
          <p:cNvCxnSpPr/>
          <p:nvPr/>
        </p:nvCxnSpPr>
        <p:spPr>
          <a:xfrm>
            <a:off x="819302" y="42437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H="1">
            <a:off x="819302" y="42437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169663"/>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Nobody can delete it on your behalf</a:t>
            </a:r>
          </a:p>
        </p:txBody>
      </p:sp>
      <p:cxnSp>
        <p:nvCxnSpPr>
          <p:cNvPr id="29" name="vis:icon"/>
          <p:cNvCxnSpPr/>
          <p:nvPr/>
        </p:nvCxnSpPr>
        <p:spPr>
          <a:xfrm>
            <a:off x="819302" y="4819802"/>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H="1">
            <a:off x="819302" y="4819802"/>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4745736"/>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If it goes wrong, it traces back to you personally</a:t>
            </a:r>
          </a:p>
        </p:txBody>
      </p:sp>
      <p:sp>
        <p:nvSpPr>
          <p:cNvPr id="32" name="vis:panel"/>
          <p:cNvSpPr/>
          <p:nvPr/>
        </p:nvSpPr>
        <p:spPr>
          <a:xfrm>
            <a:off x="6251295" y="1719072"/>
            <a:ext cx="5437479" cy="3822192"/>
          </a:xfrm>
          <a:prstGeom prst="roundRect">
            <a:avLst>
              <a:gd name="adj" fmla="val 23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3822192"/>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2213715"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90281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APPROVED ACCOUNT</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[COMPANY INPUT NEEDED: name of the approved AI tool]</a:t>
            </a:r>
          </a:p>
        </p:txBody>
      </p:sp>
      <p:cxnSp>
        <p:nvCxnSpPr>
          <p:cNvPr id="37"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Signed in with your work account, under a company agreement</a:t>
            </a:r>
          </a:p>
        </p:txBody>
      </p:sp>
      <p:cxnSp>
        <p:nvCxnSpPr>
          <p:cNvPr id="40" name="vis:icon"/>
          <p:cNvCxnSpPr/>
          <p:nvPr/>
        </p:nvCxnSpPr>
        <p:spPr>
          <a:xfrm>
            <a:off x="6560362" y="372983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V="1">
            <a:off x="6607911" y="367497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593591"/>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Covered by terms somebody here has actually read</a:t>
            </a:r>
          </a:p>
        </p:txBody>
      </p:sp>
      <p:cxnSp>
        <p:nvCxnSpPr>
          <p:cNvPr id="43" name="vis:icon"/>
          <p:cNvCxnSpPr/>
          <p:nvPr/>
        </p:nvCxnSpPr>
        <p:spPr>
          <a:xfrm>
            <a:off x="6560362" y="43059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V="1">
            <a:off x="6607911" y="42510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169663"/>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Data handling is known and can be explained to a client</a:t>
            </a:r>
          </a:p>
        </p:txBody>
      </p:sp>
      <p:cxnSp>
        <p:nvCxnSpPr>
          <p:cNvPr id="46" name="vis:icon"/>
          <p:cNvCxnSpPr/>
          <p:nvPr/>
        </p:nvCxnSpPr>
        <p:spPr>
          <a:xfrm>
            <a:off x="6560362" y="4881981"/>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607911" y="4827117"/>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4745736"/>
            <a:ext cx="4587087" cy="521208"/>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Real support exists if something is pasted by mistake</a:t>
            </a:r>
          </a:p>
        </p:txBody>
      </p:sp>
      <p:sp>
        <p:nvSpPr>
          <p:cNvPr id="49"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50" name="vis:chip"/>
          <p:cNvSpPr/>
          <p:nvPr/>
        </p:nvSpPr>
        <p:spPr>
          <a:xfrm>
            <a:off x="2221991" y="5660136"/>
            <a:ext cx="2032789"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chiptext"/>
          <p:cNvSpPr txBox="1"/>
          <p:nvPr/>
        </p:nvSpPr>
        <p:spPr>
          <a:xfrm>
            <a:off x="2377439" y="5687568"/>
            <a:ext cx="172189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APPROVED TOOL  ?</a:t>
            </a:r>
          </a:p>
        </p:txBody>
      </p:sp>
      <p:sp>
        <p:nvSpPr>
          <p:cNvPr id="52" name="nav:gloss">
            <a:hlinkClick action="ppaction://hlinksldjump" r:id="rId3"/>
          </p:cNvPr>
          <p:cNvSpPr/>
          <p:nvPr/>
        </p:nvSpPr>
        <p:spPr>
          <a:xfrm>
            <a:off x="2221991" y="5660136"/>
            <a:ext cx="2032789"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APPROVED OR PERSONAL?</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Signs you are in the wrong place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You signed in with a personal email rather than your work address.</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There is no company logo and no single sign-on screen.</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The site offered you a free trial, or asked for a card.</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You found it through a search result or a social media post.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IF YOU ALREADY HAVE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If you have already pasted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The first hour is worth more than the next month. Here is the whole procedure.</a:t>
            </a:r>
          </a:p>
        </p:txBody>
      </p:sp>
      <p:sp>
        <p:nvSpPr>
          <p:cNvPr id="16" name="vis:stepnum"/>
          <p:cNvSpPr/>
          <p:nvPr/>
        </p:nvSpPr>
        <p:spPr>
          <a:xfrm>
            <a:off x="502920" y="2651760"/>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stepnumtext"/>
          <p:cNvSpPr txBox="1"/>
          <p:nvPr/>
        </p:nvSpPr>
        <p:spPr>
          <a:xfrm>
            <a:off x="502920" y="272948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8" name="vis:line"/>
          <p:cNvCxnSpPr/>
          <p:nvPr/>
        </p:nvCxnSpPr>
        <p:spPr>
          <a:xfrm>
            <a:off x="676656" y="2999232"/>
            <a:ext cx="0" cy="585216"/>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9" name="cell:step"/>
          <p:cNvSpPr txBox="1"/>
          <p:nvPr/>
        </p:nvSpPr>
        <p:spPr>
          <a:xfrm>
            <a:off x="1051560" y="2432304"/>
            <a:ext cx="5044287" cy="786384"/>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Stop. Do not delete the conversation — it may be needed as a record.</a:t>
            </a:r>
          </a:p>
        </p:txBody>
      </p:sp>
      <p:sp>
        <p:nvSpPr>
          <p:cNvPr id="20" name="vis:stepnum"/>
          <p:cNvSpPr/>
          <p:nvPr/>
        </p:nvSpPr>
        <p:spPr>
          <a:xfrm>
            <a:off x="502920" y="3584448"/>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stepnumtext"/>
          <p:cNvSpPr txBox="1"/>
          <p:nvPr/>
        </p:nvSpPr>
        <p:spPr>
          <a:xfrm>
            <a:off x="502920" y="3662172"/>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2" name="vis:line"/>
          <p:cNvCxnSpPr/>
          <p:nvPr/>
        </p:nvCxnSpPr>
        <p:spPr>
          <a:xfrm>
            <a:off x="676656" y="3931920"/>
            <a:ext cx="0" cy="585216"/>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3" name="cell:step"/>
          <p:cNvSpPr txBox="1"/>
          <p:nvPr/>
        </p:nvSpPr>
        <p:spPr>
          <a:xfrm>
            <a:off x="1051560" y="3364992"/>
            <a:ext cx="5044287" cy="786384"/>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Write down what you pasted, into which tool, and roughly when.</a:t>
            </a:r>
          </a:p>
        </p:txBody>
      </p:sp>
      <p:sp>
        <p:nvSpPr>
          <p:cNvPr id="24" name="vis:stepnum"/>
          <p:cNvSpPr/>
          <p:nvPr/>
        </p:nvSpPr>
        <p:spPr>
          <a:xfrm>
            <a:off x="502920" y="4517136"/>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stepnumtext"/>
          <p:cNvSpPr txBox="1"/>
          <p:nvPr/>
        </p:nvSpPr>
        <p:spPr>
          <a:xfrm>
            <a:off x="502920" y="4594860"/>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6" name="vis:line"/>
          <p:cNvCxnSpPr/>
          <p:nvPr/>
        </p:nvCxnSpPr>
        <p:spPr>
          <a:xfrm>
            <a:off x="676656" y="4864608"/>
            <a:ext cx="0" cy="585216"/>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7" name="cell:step"/>
          <p:cNvSpPr txBox="1"/>
          <p:nvPr/>
        </p:nvSpPr>
        <p:spPr>
          <a:xfrm>
            <a:off x="1051560" y="4297680"/>
            <a:ext cx="5044287" cy="786384"/>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Tell your manager and [COMPANY INPUT NEEDED: who to report a data incident to] the same day.</a:t>
            </a:r>
          </a:p>
        </p:txBody>
      </p:sp>
      <p:sp>
        <p:nvSpPr>
          <p:cNvPr id="28" name="vis:stepnum"/>
          <p:cNvSpPr/>
          <p:nvPr/>
        </p:nvSpPr>
        <p:spPr>
          <a:xfrm>
            <a:off x="502920" y="5449824"/>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stepnumtext"/>
          <p:cNvSpPr txBox="1"/>
          <p:nvPr/>
        </p:nvSpPr>
        <p:spPr>
          <a:xfrm>
            <a:off x="502920" y="552754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0" name="cell:step"/>
          <p:cNvSpPr txBox="1"/>
          <p:nvPr/>
        </p:nvSpPr>
        <p:spPr>
          <a:xfrm>
            <a:off x="1051560" y="5230368"/>
            <a:ext cx="5044287" cy="786384"/>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If it involved customer or staff data, say so plainly. The reporting clock may already be running.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IF YOU ALREADY HAVE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Reporting early is not the problem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Nearly every incident that became serious became serious because somebody waited.</a:t>
            </a:r>
          </a:p>
          <a:p>
            <a:pPr algn="l">
              <a:lnSpc>
                <a:spcPts val="1755"/>
              </a:lnSpc>
              <a:spcBef>
                <a:spcPts val="0"/>
              </a:spcBef>
              <a:spcAft>
                <a:spcPts val="0"/>
              </a:spcAft>
            </a:pPr>
            <a:r>
              <a:rPr sz="1350" b="0">
                <a:solidFill>
                  <a:srgbClr val="FFFFFF"/>
                </a:solidFill>
                <a:latin typeface="Segoe UI"/>
              </a:rPr>
              <a:t>The paste is recoverable. The silence afterwards usually is not.</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 hour after the paste, real options still exist.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month later, the only option is explaining it to the client.</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[COMPANY INPUT NEEDED: the company's stated position on reporting your own mistake]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IF YOU ALREADY HAVE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that keep you clear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Type facts, never paste files. If your hand is reaching for Ctrl+V, stop.</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Strip names before anything else. Names are what regulators actually count.</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Use the work account every time, even for a "quick" question.</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If you would not read it aloud in a client's office, do not paste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IF YOU ALREADY HAVE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is fine to paste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This module is not asking you to stop using AI. Most of what you need help with is perfectly safe.</a:t>
            </a:r>
          </a:p>
        </p:txBody>
      </p:sp>
      <p:sp>
        <p:nvSpPr>
          <p:cNvPr id="16" name="vis:tile"/>
          <p:cNvSpPr/>
          <p:nvPr/>
        </p:nvSpPr>
        <p:spPr>
          <a:xfrm>
            <a:off x="502920" y="270662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77240" y="299923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96871" y="3177781"/>
            <a:ext cx="219104" cy="301269"/>
          </a:xfrm>
          <a:prstGeom prst="roundRect">
            <a:avLst>
              <a:gd name="adj" fmla="val 20866"/>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44800" y="3273639"/>
            <a:ext cx="123247"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44800" y="3328415"/>
            <a:ext cx="123247"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a:off x="1044800" y="3383192"/>
            <a:ext cx="82165"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2" name="cell:tilelabel"/>
          <p:cNvSpPr txBox="1"/>
          <p:nvPr/>
        </p:nvSpPr>
        <p:spPr>
          <a:xfrm>
            <a:off x="777240" y="384048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Your own draft</a:t>
            </a:r>
          </a:p>
        </p:txBody>
      </p:sp>
      <p:sp>
        <p:nvSpPr>
          <p:cNvPr id="23" name="cell:tilesub"/>
          <p:cNvSpPr txBox="1"/>
          <p:nvPr/>
        </p:nvSpPr>
        <p:spPr>
          <a:xfrm>
            <a:off x="777240" y="448056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Something you wrote yourself, names removed. Ask it to shorten it, or fix the English.</a:t>
            </a:r>
          </a:p>
        </p:txBody>
      </p:sp>
      <p:sp>
        <p:nvSpPr>
          <p:cNvPr id="24" name="vis:tile"/>
          <p:cNvSpPr/>
          <p:nvPr/>
        </p:nvSpPr>
        <p:spPr>
          <a:xfrm>
            <a:off x="4322978" y="270662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4597298" y="299923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4803235" y="3198322"/>
            <a:ext cx="205410" cy="205410"/>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981258" y="3376345"/>
            <a:ext cx="82164" cy="8216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8" name="cell:tilelabel"/>
          <p:cNvSpPr txBox="1"/>
          <p:nvPr/>
        </p:nvSpPr>
        <p:spPr>
          <a:xfrm>
            <a:off x="4597298" y="384048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Public information</a:t>
            </a:r>
          </a:p>
        </p:txBody>
      </p:sp>
      <p:sp>
        <p:nvSpPr>
          <p:cNvPr id="29" name="cell:tilesub"/>
          <p:cNvSpPr txBox="1"/>
          <p:nvPr/>
        </p:nvSpPr>
        <p:spPr>
          <a:xfrm>
            <a:off x="4597298" y="448056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published circular, a public spec sheet, anything already sitting on the open internet.</a:t>
            </a:r>
          </a:p>
        </p:txBody>
      </p:sp>
      <p:sp>
        <p:nvSpPr>
          <p:cNvPr id="30" name="vis:tile"/>
          <p:cNvSpPr/>
          <p:nvPr/>
        </p:nvSpPr>
        <p:spPr>
          <a:xfrm>
            <a:off x="8143036" y="2706624"/>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8417356" y="2999232"/>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602753" y="3205169"/>
            <a:ext cx="287575" cy="191716"/>
          </a:xfrm>
          <a:prstGeom prst="roundRect">
            <a:avLst>
              <a:gd name="adj" fmla="val 23847"/>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8657529" y="3396886"/>
            <a:ext cx="13694" cy="7531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8657529" y="3396886"/>
            <a:ext cx="75317" cy="7531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5" name="cell:tilelabel"/>
          <p:cNvSpPr txBox="1"/>
          <p:nvPr/>
        </p:nvSpPr>
        <p:spPr>
          <a:xfrm>
            <a:off x="8417356" y="3840480"/>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 situation, described</a:t>
            </a:r>
          </a:p>
        </p:txBody>
      </p:sp>
      <p:sp>
        <p:nvSpPr>
          <p:cNvPr id="36" name="cell:tilesub"/>
          <p:cNvSpPr txBox="1"/>
          <p:nvPr/>
        </p:nvSpPr>
        <p:spPr>
          <a:xfrm>
            <a:off x="8417356" y="4480560"/>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delivery was three days late and two cartons were damaged." No names, and no meaning lost.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IF YOU ALREADY HAVE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one-line test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Would I be comfortable if this exact text landed in a competitor's inbox tomorrow?</a:t>
            </a:r>
          </a:p>
          <a:p>
            <a:pPr algn="l">
              <a:lnSpc>
                <a:spcPts val="1755"/>
              </a:lnSpc>
              <a:spcBef>
                <a:spcPts val="0"/>
              </a:spcBef>
              <a:spcAft>
                <a:spcPts val="0"/>
              </a:spcAft>
            </a:pPr>
            <a:r>
              <a:rPr sz="1350" b="0">
                <a:solidFill>
                  <a:srgbClr val="FFFFFF"/>
                </a:solidFill>
                <a:latin typeface="Segoe UI"/>
              </a:rPr>
              <a:t>If the answer is anything other than a clear yes, it does not go in.</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3117" y="3597889"/>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46551" y="3610051"/>
            <a:ext cx="10771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vis:icon"/>
          <p:cNvSpPr/>
          <p:nvPr/>
        </p:nvSpPr>
        <p:spPr>
          <a:xfrm>
            <a:off x="803117" y="3650010"/>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846551" y="3662172"/>
            <a:ext cx="10771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803117" y="3702131"/>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46551" y="3714292"/>
            <a:ext cx="10771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 clear yes — paste it and carry on.</a:t>
            </a:r>
          </a:p>
        </p:txBody>
      </p:sp>
      <p:sp>
        <p:nvSpPr>
          <p:cNvPr id="29"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eckdot"/>
          <p:cNvSpPr/>
          <p:nvPr/>
        </p:nvSpPr>
        <p:spPr>
          <a:xfrm>
            <a:off x="452414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icon"/>
          <p:cNvSpPr/>
          <p:nvPr/>
        </p:nvSpPr>
        <p:spPr>
          <a:xfrm>
            <a:off x="4604887" y="3597889"/>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4648321" y="3610051"/>
            <a:ext cx="107717"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3" name="vis:icon"/>
          <p:cNvSpPr/>
          <p:nvPr/>
        </p:nvSpPr>
        <p:spPr>
          <a:xfrm>
            <a:off x="4604887" y="3650010"/>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4648321" y="3662172"/>
            <a:ext cx="107717"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icon"/>
          <p:cNvSpPr/>
          <p:nvPr/>
        </p:nvSpPr>
        <p:spPr>
          <a:xfrm>
            <a:off x="4604887" y="3702131"/>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6" name="vis:icon"/>
          <p:cNvCxnSpPr/>
          <p:nvPr/>
        </p:nvCxnSpPr>
        <p:spPr>
          <a:xfrm>
            <a:off x="4648321" y="3714292"/>
            <a:ext cx="107717"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7"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 sure — strip the names, then ask yourself again.</a:t>
            </a:r>
          </a:p>
        </p:txBody>
      </p:sp>
      <p:sp>
        <p:nvSpPr>
          <p:cNvPr id="38"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checkdot"/>
          <p:cNvSpPr/>
          <p:nvPr/>
        </p:nvSpPr>
        <p:spPr>
          <a:xfrm>
            <a:off x="832591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8406658" y="3597889"/>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1" name="vis:icon"/>
          <p:cNvCxnSpPr/>
          <p:nvPr/>
        </p:nvCxnSpPr>
        <p:spPr>
          <a:xfrm>
            <a:off x="8450092" y="3610051"/>
            <a:ext cx="10771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2" name="vis:icon"/>
          <p:cNvSpPr/>
          <p:nvPr/>
        </p:nvSpPr>
        <p:spPr>
          <a:xfrm>
            <a:off x="8406658" y="3650010"/>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8450092" y="3662172"/>
            <a:ext cx="10771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4" name="vis:icon"/>
          <p:cNvSpPr/>
          <p:nvPr/>
        </p:nvSpPr>
        <p:spPr>
          <a:xfrm>
            <a:off x="8406658" y="3702131"/>
            <a:ext cx="24323" cy="24323"/>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5" name="vis:icon"/>
          <p:cNvCxnSpPr/>
          <p:nvPr/>
        </p:nvCxnSpPr>
        <p:spPr>
          <a:xfrm>
            <a:off x="8450092" y="3714292"/>
            <a:ext cx="10771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6"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 — describe the situation in your own words instead.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Thursday, 3:20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A tender response is due at 6. The approved assistant on your laptop is down. The tender document runs to 40 pages and you need the eligibility criteria summarised.</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Open a free AI site on your phone with your personal login and paste the tender in.</a:t>
            </a:r>
          </a:p>
        </p:txBody>
      </p:sp>
      <p:cxnSp>
        <p:nvCxnSpPr>
          <p:cNvPr id="23" name="vis:choicearrow"/>
          <p:cNvCxnSpPr/>
          <p:nvPr/>
        </p:nvCxnSpPr>
        <p:spPr>
          <a:xfrm>
            <a:off x="758952"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Read the eligibility section yourself — it is four pages out of forty.</a:t>
            </a:r>
          </a:p>
        </p:txBody>
      </p:sp>
      <p:cxnSp>
        <p:nvCxnSpPr>
          <p:cNvPr id="29" name="vis:choicearrow"/>
          <p:cNvCxnSpPr/>
          <p:nvPr/>
        </p:nvCxnSpPr>
        <p:spPr>
          <a:xfrm>
            <a:off x="4566818"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a colleague to run it through their approved account.</a:t>
            </a:r>
          </a:p>
        </p:txBody>
      </p:sp>
      <p:cxnSp>
        <p:nvCxnSpPr>
          <p:cNvPr id="35" name="vis:choicearrow"/>
          <p:cNvCxnSpPr/>
          <p:nvPr/>
        </p:nvCxnSpPr>
        <p:spPr>
          <a:xfrm>
            <a:off x="8374684"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The fastest route to a reportable incident</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tender carries our pricing approach, our client references and the authority's terms. It now sits in a personal account, under an agreement nobody here has read, with no record that it happened. The deadline was met. The problem was not.</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deadline is not an exception. No deadline has ever been worth an uncontrolled disclosure.</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Twelve minutes, and no exposure at all</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Eligibility criteria are almost always one short section. You read four pages, list the six criteria, and use the assistant only to tidy the wording of the six lines you typed yourself. No document ever left your control.</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Ask the tool for wording. Do the reading yourself.</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Sensible — but check one thing first</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often the right call. What you have to confirm is that their account really is the approved one, and not their own personal login. Handing a confidential document to a colleague does not make an unapproved tool approved.</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Approved means the company's agreement — not a colleague's goodwill.</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Seven minutes on what leaks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Don’t share your SECRETS with ChatGPT, protect your PRIVACY</a:t>
            </a:r>
          </a:p>
        </p:txBody>
      </p:sp>
      <p:sp>
        <p:nvSpPr>
          <p:cNvPr id="19" name="vis:chip"/>
          <p:cNvSpPr/>
          <p:nvPr/>
        </p:nvSpPr>
        <p:spPr>
          <a:xfrm>
            <a:off x="868680" y="3858768"/>
            <a:ext cx="1752020"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44112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DAVID BOMBAL</a:t>
            </a:r>
          </a:p>
        </p:txBody>
      </p:sp>
      <p:sp>
        <p:nvSpPr>
          <p:cNvPr id="21" name="vis:chip"/>
          <p:cNvSpPr/>
          <p:nvPr/>
        </p:nvSpPr>
        <p:spPr>
          <a:xfrm>
            <a:off x="2767004" y="3858768"/>
            <a:ext cx="119849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922452" y="3895344"/>
            <a:ext cx="8876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7:17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of these is safe to paste?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 are drafting a reply to a customer whose order arrived two cartons short.</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customer's email, exactly as they sent it</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description of what happened, with no names</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customer's email with the name deleted</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full order history, so it has proper context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customer's email, exactly as they sent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Their email carries their name, their signature block and usually a phone number and address. All of it goes outside the company for no benefit — the tool does not need to know who they are to write well.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forward the document.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description of what happened, with no names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the habit to build. "An order was short by two cartons and the customer wants a credit note." Everything it needs to write, nothing that could harm anyone if it leaked.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forward the document.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customer's email with the name deleted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Better, but not enough. Signature blocks, order numbers, addresses and phone numbers survive that edit, and any one of them identifies the customer. Rewriting the situation is faster than sanitising a real email.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forward the document.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 full order history, so it has proper context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Far more data for no extra quality. Every extra row is more personal information outside our control, and none of it changes the four paragraphs you get back.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Describe the situation. Never forward the document.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is a personal account worse?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gives worse answers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gives up the company's contractual, security and audit controls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slower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There is no real difference if you are careful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gives worse answers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answers are usually similar — which is exactly why people reach for it. The problem is not the output, it is that nobody can account for what went in.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account you use decides who is accountable.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gives up the company's contractual, security and audit controls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the real difference. A work account brings an agreement, a record, and somebody who can act when a mistake happens. A personal account may provide none of that, and the trail ends at you.</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account you use decides who is accountable.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is slower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Speed was never the issue. A personal account is often quicker to open, which is precisely why this mistake is so common on a busy afternoon.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account you use decides who is accountable.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There is no real difference if you are careful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Care does not create a contract. Even a perfect paste into a personal account leaves the company unable to tell a client or an auditor what happened to their data.</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account you use decides who is accountable.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You pasted a client list. What now?</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An hour later you realise the file you pasted held about 200 customer names.</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Delete the conversation and move on</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Wait and see whether anything actually happens</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Write down what happened and report it the same day</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 a colleague, so at least someone else knows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Delete the conversation and move 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Deleting the chat removes your evidence, not their copy. The text was transmitted and stored an hour ago. You have made the incident harder to assess and easier to misjudge.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clock starts when you know, not when it hurts.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Wait and see whether anything actually happens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Nothing visible will happen, and that is the trap. Reporting windows are counted in days from the moment you knew — not from the moment harm shows up.</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clock starts when you know, not when it hurts.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Write down what happened and report it the same day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Right. What you pasted, into which tool, roughly when. Reported today there are still options. Reported next month the only option left is explaining it to the client.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clock starts when you know, not when it hurts.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Tell a colleague, so at least someone else knows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Kind, but it starts nothing. A colleague cannot notify a regulator, contact the vendor or assess the scope. It has to reach the person who handles incidents.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clock starts when you know, not when it hurts.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is not personal data?</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customer's mobile number</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delivery was three days late"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employee's payroll number</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photo of a delivery note showing the address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customer's mobile number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phone number identifies a person on its own. It is personal data in India, in the UAE and almost everywhere else, whether or not a name sits next to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it points to one person, it is personal data.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delivery was three days late"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fact about an event, not about a person. Nobody can be identified from it, so it carries no privacy risk — and the tool can still write you a full reply.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it points to one person, it is personal data.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An employee's payroll number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points to one named individual in our systems. An identifier does not stop being personal data because it happens to be a number rather than a name.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it points to one person, it is personal data.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photo of a delivery note showing the address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address identifies a household, and these tools read images as easily as text. Cropping it out is not an optional extra — it is the whole task.</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it points to one person, it is personal data.</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is the first thing you do?</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 are about to ask an AI assistant for help with something from work.</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Open the tool and start typing</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Check you are in the approved tool, on your work account</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Paste everything in, so it has full context</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a colleague whether it is allowed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Open the tool and start typing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how almost every bad paste begins — not with a decision but with the absence of one. Two seconds of checking is what separates a normal Tuesday from an incident report.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Right tool, right account, then type.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Check you are in the approved tool, on your work account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costs two seconds and it settles everything that follows: whether an agreement exists, whether a record exists, and whether anyone can help you if something goes wrong.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Right tool, right account, then type.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Paste everything in, so it has full context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Past a point, more context does not improve the answer — but it always increases exposure. Give it the situation, never the source documents.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Right tool, right account, then type.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 a colleague whether it is allowed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Your colleague is guessing too. The rule is in this module, and you never need permission to describe a situation without names in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Right tool, right account, then type.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Never-paste rules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Five things never go in</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Personal data, contract terms, financials, logins, anything marked confidential.</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Facts, not files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Describe the situation. Do not paste the document the situation came from.</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Names come out first</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Names, numbers and addresses before anything else. Those are what regulators count.</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account decides accountability</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Work account, under a company agreement, every single time.</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You cannot recall a paste</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 delete button reaches every copy. Prevention is the only control you have.</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Report it the same day</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hour later there are options. A month later there is only an apology.</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B67D8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145"/>
              </a:lnSpc>
              <a:spcBef>
                <a:spcPts val="0"/>
              </a:spcBef>
              <a:spcAft>
                <a:spcPts val="0"/>
              </a:spcAft>
            </a:pPr>
            <a:r>
              <a:rPr sz="1650" b="0">
                <a:solidFill>
                  <a:srgbClr val="FFFFFF"/>
                </a:solidFill>
                <a:latin typeface="Segoe UI Semibold"/>
              </a:rPr>
              <a:t>Would I be happy for this exact text to arrive in a competitor's inbox tomorrow? If not, it does not go 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3910" y="2379537"/>
            <a:ext cx="228995" cy="239645"/>
          </a:xfrm>
          <a:custGeom>
            <a:avLst/>
            <a:gdLst/>
            <a:ahLst/>
            <a:cxnLst/>
            <a:rect l="l" t="t" r="r" b="b"/>
            <a:pathLst>
              <a:path w="228995" h="239645">
                <a:moveTo>
                  <a:pt x="114498" y="0"/>
                </a:moveTo>
                <a:lnTo>
                  <a:pt x="228995" y="50591"/>
                </a:lnTo>
                <a:lnTo>
                  <a:pt x="210356" y="173077"/>
                </a:lnTo>
                <a:lnTo>
                  <a:pt x="114498" y="239645"/>
                </a:lnTo>
                <a:lnTo>
                  <a:pt x="18639" y="173077"/>
                </a:lnTo>
                <a:lnTo>
                  <a:pt x="0" y="50591"/>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two-second test</a:t>
            </a:r>
          </a:p>
        </p:txBody>
      </p:sp>
      <p:sp>
        <p:nvSpPr>
          <p:cNvPr id="20"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Could this text identify a person or a customer? If yes, strip it before it goes in.</a:t>
            </a:r>
          </a:p>
        </p:txBody>
      </p:sp>
      <p:sp>
        <p:nvSpPr>
          <p:cNvPr id="21"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61247" y="3321686"/>
            <a:ext cx="234320" cy="159763"/>
          </a:xfrm>
          <a:prstGeom prst="roundRect">
            <a:avLst>
              <a:gd name="adj" fmla="val 28617"/>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861247" y="3332336"/>
            <a:ext cx="117161" cy="85208"/>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978408" y="3332336"/>
            <a:ext cx="117160" cy="85208"/>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6"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safe payment-reminder prompt</a:t>
            </a:r>
          </a:p>
        </p:txBody>
      </p:sp>
      <p:sp>
        <p:nvSpPr>
          <p:cNvPr id="27"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Situation, days overdue, tone. No names, no invoice number, no amount.</a:t>
            </a:r>
          </a:p>
        </p:txBody>
      </p:sp>
      <p:sp>
        <p:nvSpPr>
          <p:cNvPr id="28"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909176" y="4197266"/>
            <a:ext cx="138462" cy="223669"/>
          </a:xfrm>
          <a:prstGeom prst="roundRect">
            <a:avLst>
              <a:gd name="adj" fmla="val 33019"/>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941129" y="4261172"/>
            <a:ext cx="74557"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2" name="vis:icon"/>
          <p:cNvCxnSpPr/>
          <p:nvPr/>
        </p:nvCxnSpPr>
        <p:spPr>
          <a:xfrm>
            <a:off x="941129" y="4309101"/>
            <a:ext cx="74557"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a:off x="941129" y="4357030"/>
            <a:ext cx="53255"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4"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first-hour checklist</a:t>
            </a:r>
          </a:p>
        </p:txBody>
      </p:sp>
      <p:sp>
        <p:nvSpPr>
          <p:cNvPr id="35"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where, when — written down and reported the same day.</a:t>
            </a:r>
          </a:p>
        </p:txBody>
      </p:sp>
      <p:sp>
        <p:nvSpPr>
          <p:cNvPr id="36"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LINKS THAT WORK</a:t>
            </a:r>
          </a:p>
        </p:txBody>
      </p:sp>
      <p:sp>
        <p:nvSpPr>
          <p:cNvPr id="37"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icon"/>
          <p:cNvSpPr/>
          <p:nvPr/>
        </p:nvSpPr>
        <p:spPr>
          <a:xfrm>
            <a:off x="8339937" y="2300630"/>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8482584" y="2443276"/>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0"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India's data protection framework</a:t>
            </a:r>
          </a:p>
        </p:txBody>
      </p:sp>
      <p:sp>
        <p:nvSpPr>
          <p:cNvPr id="41"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www.meity.gov.in/data-protection-fra…</a:t>
            </a:r>
          </a:p>
        </p:txBody>
      </p:sp>
      <p:sp>
        <p:nvSpPr>
          <p:cNvPr id="42"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icon"/>
          <p:cNvSpPr/>
          <p:nvPr/>
        </p:nvSpPr>
        <p:spPr>
          <a:xfrm>
            <a:off x="8339937" y="2977286"/>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4" name="vis:icon"/>
          <p:cNvCxnSpPr/>
          <p:nvPr/>
        </p:nvCxnSpPr>
        <p:spPr>
          <a:xfrm>
            <a:off x="8482584" y="3119932"/>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5"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UAE data protection laws</a:t>
            </a:r>
          </a:p>
        </p:txBody>
      </p:sp>
      <p:sp>
        <p:nvSpPr>
          <p:cNvPr id="46"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u.ae/en/about-the-uae/digital-uae/dat…</a:t>
            </a:r>
          </a:p>
        </p:txBody>
      </p:sp>
      <p:sp>
        <p:nvSpPr>
          <p:cNvPr id="47"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8" name="vis:icon"/>
          <p:cNvSpPr/>
          <p:nvPr/>
        </p:nvSpPr>
        <p:spPr>
          <a:xfrm>
            <a:off x="8339937" y="3653942"/>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9" name="vis:icon"/>
          <p:cNvCxnSpPr/>
          <p:nvPr/>
        </p:nvCxnSpPr>
        <p:spPr>
          <a:xfrm>
            <a:off x="8482584" y="3796588"/>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50"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Check if your email has leaked</a:t>
            </a:r>
          </a:p>
        </p:txBody>
      </p:sp>
      <p:sp>
        <p:nvSpPr>
          <p:cNvPr id="51"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haveibeenpwned.com</a:t>
            </a:r>
          </a:p>
        </p:txBody>
      </p:sp>
      <p:sp>
        <p:nvSpPr>
          <p:cNvPr id="52"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3"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DO THIS NEXT</a:t>
            </a:r>
          </a:p>
        </p:txBody>
      </p:sp>
      <p:sp>
        <p:nvSpPr>
          <p:cNvPr id="54"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Segoe UI"/>
              </a:rPr>
              <a:t>Companion module: SEC-06, Safe Use of AI at Work. It covers which tools are approved, which settings to switch off, and how to keep a trail you can explain.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SEC-07  ·  What Never to Paste Into AI</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Personal data</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Any information that points to one identifiable person — a name, a phone number, an ID, sometimes an address on its own.</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PII</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Personally Identifiable Information. Another term for personal data, used mostly in US and UAE documents.</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DPDP Act</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India's Digital Personal Data Protection Act. It sets out how personal data must be handled and when a breach must be reported.</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Data breach</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Personal data going somewhere it should not. It does not need a hacker — one paste is enough.</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Approved tool</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tool, account and use the company has actually approved — not just any work login.</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into an AI tool. It leaves your device and is usually stored.</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