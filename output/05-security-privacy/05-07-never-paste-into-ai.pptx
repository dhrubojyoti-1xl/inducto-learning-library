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5.xml"/><Relationship Id="rId3" Type="http://schemas.openxmlformats.org/officeDocument/2006/relationships/slide" Target="slide7.xml"/><Relationship Id="rId4" Type="http://schemas.openxmlformats.org/officeDocument/2006/relationships/slide" Target="slide9.xml"/><Relationship Id="rId5" Type="http://schemas.openxmlformats.org/officeDocument/2006/relationships/slide" Target="slide12.xml"/><Relationship Id="rId6" Type="http://schemas.openxmlformats.org/officeDocument/2006/relationships/slide" Target="slide14.xml"/><Relationship Id="rId7" Type="http://schemas.openxmlformats.org/officeDocument/2006/relationships/slide" Target="slide19.xml"/><Relationship Id="rId8" Type="http://schemas.openxmlformats.org/officeDocument/2006/relationships/slide" Target="slide23.xml"/><Relationship Id="rId9" Type="http://schemas.openxmlformats.org/officeDocument/2006/relationships/slide" Target="slide24.xml"/><Relationship Id="rId10" Type="http://schemas.openxmlformats.org/officeDocument/2006/relationships/slide" Target="slide49.xml"/><Relationship Id="rId11" Type="http://schemas.openxmlformats.org/officeDocument/2006/relationships/slide" Target="slide5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5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5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20.xml"/><Relationship Id="rId4" Type="http://schemas.openxmlformats.org/officeDocument/2006/relationships/slide" Target="slide21.xml"/><Relationship Id="rId5" Type="http://schemas.openxmlformats.org/officeDocument/2006/relationships/slide" Target="slide2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9.xml"/><Relationship Id="rId3" Type="http://schemas.openxmlformats.org/officeDocument/2006/relationships/slide" Target="slide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9.xml"/><Relationship Id="rId3" Type="http://schemas.openxmlformats.org/officeDocument/2006/relationships/slide" Target="slide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9.xml"/><Relationship Id="rId3" Type="http://schemas.openxmlformats.org/officeDocument/2006/relationships/slide" Target="slide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youtube.com/watch?v=57wFvOqzBvg" TargetMode="External"/><Relationship Id="rId3" Type="http://schemas.openxmlformats.org/officeDocument/2006/relationships/slide" Target="slide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25.xml"/><Relationship Id="rId4" Type="http://schemas.openxmlformats.org/officeDocument/2006/relationships/slide" Target="slide26.xml"/><Relationship Id="rId5" Type="http://schemas.openxmlformats.org/officeDocument/2006/relationships/slide" Target="slide27.xml"/><Relationship Id="rId6" Type="http://schemas.openxmlformats.org/officeDocument/2006/relationships/slide" Target="slide2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4.xml"/><Relationship Id="rId3" Type="http://schemas.openxmlformats.org/officeDocument/2006/relationships/slide" Target="slide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9.xml"/><Relationship Id="rId3" Type="http://schemas.openxmlformats.org/officeDocument/2006/relationships/slide" Target="slide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4.xml"/><Relationship Id="rId3" Type="http://schemas.openxmlformats.org/officeDocument/2006/relationships/slide" Target="slide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4.xml"/><Relationship Id="rId3" Type="http://schemas.openxmlformats.org/officeDocument/2006/relationships/slide" Target="slide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30.xml"/><Relationship Id="rId4" Type="http://schemas.openxmlformats.org/officeDocument/2006/relationships/slide" Target="slide31.xml"/><Relationship Id="rId5" Type="http://schemas.openxmlformats.org/officeDocument/2006/relationships/slide" Target="slide32.xml"/><Relationship Id="rId6" Type="http://schemas.openxmlformats.org/officeDocument/2006/relationships/slide" Target="slide3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9.xml"/><Relationship Id="rId3" Type="http://schemas.openxmlformats.org/officeDocument/2006/relationships/slide" Target="slide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4.xml"/><Relationship Id="rId3" Type="http://schemas.openxmlformats.org/officeDocument/2006/relationships/slide" Target="slide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9.xml"/><Relationship Id="rId3" Type="http://schemas.openxmlformats.org/officeDocument/2006/relationships/slide" Target="slide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9.xml"/><Relationship Id="rId3" Type="http://schemas.openxmlformats.org/officeDocument/2006/relationships/slide" Target="slide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35.xml"/><Relationship Id="rId4" Type="http://schemas.openxmlformats.org/officeDocument/2006/relationships/slide" Target="slide36.xml"/><Relationship Id="rId5" Type="http://schemas.openxmlformats.org/officeDocument/2006/relationships/slide" Target="slide37.xml"/><Relationship Id="rId6" Type="http://schemas.openxmlformats.org/officeDocument/2006/relationships/slide" Target="slide3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4.xml"/><Relationship Id="rId3" Type="http://schemas.openxmlformats.org/officeDocument/2006/relationships/slide" Target="slide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4.xml"/><Relationship Id="rId3" Type="http://schemas.openxmlformats.org/officeDocument/2006/relationships/slide" Target="slide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9.xml"/><Relationship Id="rId3" Type="http://schemas.openxmlformats.org/officeDocument/2006/relationships/slide" Target="slide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4.xml"/><Relationship Id="rId3" Type="http://schemas.openxmlformats.org/officeDocument/2006/relationships/slide" Target="slide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40.xml"/><Relationship Id="rId4" Type="http://schemas.openxmlformats.org/officeDocument/2006/relationships/slide" Target="slide41.xml"/><Relationship Id="rId5" Type="http://schemas.openxmlformats.org/officeDocument/2006/relationships/slide" Target="slide42.xml"/><Relationship Id="rId6" Type="http://schemas.openxmlformats.org/officeDocument/2006/relationships/slide" Target="slide4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9.xml"/><Relationship Id="rId3" Type="http://schemas.openxmlformats.org/officeDocument/2006/relationships/slide" Target="slide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4.xml"/><Relationship Id="rId3" Type="http://schemas.openxmlformats.org/officeDocument/2006/relationships/slide" Target="slide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9.xml"/><Relationship Id="rId3" Type="http://schemas.openxmlformats.org/officeDocument/2006/relationships/slide" Target="slide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9.xml"/><Relationship Id="rId3" Type="http://schemas.openxmlformats.org/officeDocument/2006/relationships/slide" Target="slide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45.xml"/><Relationship Id="rId4" Type="http://schemas.openxmlformats.org/officeDocument/2006/relationships/slide" Target="slide46.xml"/><Relationship Id="rId5" Type="http://schemas.openxmlformats.org/officeDocument/2006/relationships/slide" Target="slide47.xml"/><Relationship Id="rId6" Type="http://schemas.openxmlformats.org/officeDocument/2006/relationships/slide" Target="slide4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4.xml"/><Relationship Id="rId3" Type="http://schemas.openxmlformats.org/officeDocument/2006/relationships/slide" Target="slide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9.xml"/><Relationship Id="rId3" Type="http://schemas.openxmlformats.org/officeDocument/2006/relationships/slide" Target="slide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4.xml"/><Relationship Id="rId3" Type="http://schemas.openxmlformats.org/officeDocument/2006/relationships/slide" Target="slide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4.xml"/><Relationship Id="rId3" Type="http://schemas.openxmlformats.org/officeDocument/2006/relationships/slide" Target="slide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meity.gov.in/data-protection-framework" TargetMode="External"/><Relationship Id="rId3" Type="http://schemas.openxmlformats.org/officeDocument/2006/relationships/hyperlink" Target="https://u.ae/en/about-the-uae/digital-uae/data/data-protection-laws" TargetMode="External"/><Relationship Id="rId4" Type="http://schemas.openxmlformats.org/officeDocument/2006/relationships/hyperlink" Target="https://haveibeenpwned.com" TargetMode="External"/><Relationship Id="rId5" Type="http://schemas.openxmlformats.org/officeDocument/2006/relationships/slide" Target="slide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vis:bg"/>
          <p:cNvSpPr/>
          <p:nvPr/>
        </p:nvSpPr>
        <p:spPr>
          <a:xfrm>
            <a:off x="0" y="0"/>
            <a:ext cx="12191695" cy="6858000"/>
          </a:xfrm>
          <a:prstGeom prst="rect">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pic>
        <p:nvPicPr>
          <p:cNvPr id="3" name="vis:coverphoto" descr="hero-safe-ai-use.jpg"/>
          <p:cNvPicPr>
            <a:picLocks noChangeAspect="1"/>
          </p:cNvPicPr>
          <p:nvPr/>
        </p:nvPicPr>
        <p:blipFill>
          <a:blip r:embed="rId2"/>
          <a:srcRect l="22674" r="22674"/>
          <a:stretch>
            <a:fillRect/>
          </a:stretch>
        </p:blipFill>
        <p:spPr>
          <a:xfrm>
            <a:off x="5532120" y="0"/>
            <a:ext cx="6659575" cy="6858000"/>
          </a:xfrm>
          <a:prstGeom prst="rect">
            <a:avLst/>
          </a:prstGeom>
        </p:spPr>
      </p:pic>
      <p:sp>
        <p:nvSpPr>
          <p:cNvPr id="4" name="vis:coverpanel"/>
          <p:cNvSpPr/>
          <p:nvPr/>
        </p:nvSpPr>
        <p:spPr>
          <a:xfrm>
            <a:off x="0" y="0"/>
            <a:ext cx="5532120" cy="6858000"/>
          </a:xfrm>
          <a:prstGeom prst="rect">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 name="vis:coveredge"/>
          <p:cNvSpPr/>
          <p:nvPr/>
        </p:nvSpPr>
        <p:spPr>
          <a:xfrm>
            <a:off x="5532120" y="0"/>
            <a:ext cx="64008" cy="6858000"/>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vis:coverspine"/>
          <p:cNvSpPr/>
          <p:nvPr/>
        </p:nvSpPr>
        <p:spPr>
          <a:xfrm>
            <a:off x="0" y="0"/>
            <a:ext cx="201168" cy="6858000"/>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7" name="seclabel"/>
          <p:cNvSpPr txBox="1"/>
          <p:nvPr/>
        </p:nvSpPr>
        <p:spPr>
          <a:xfrm>
            <a:off x="841248" y="566420"/>
            <a:ext cx="4187952"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B67D84"/>
                </a:solidFill>
                <a:latin typeface="Segoe UI Semibold"/>
              </a:rPr>
              <a:t>SECURITY &amp; DATA PRIVACY</a:t>
            </a:r>
          </a:p>
        </p:txBody>
      </p:sp>
      <p:sp>
        <p:nvSpPr>
          <p:cNvPr id="8" name="title:cover"/>
          <p:cNvSpPr txBox="1"/>
          <p:nvPr/>
        </p:nvSpPr>
        <p:spPr>
          <a:xfrm>
            <a:off x="841248" y="1023620"/>
            <a:ext cx="4187952" cy="1507744"/>
          </a:xfrm>
          <a:prstGeom prst="rect">
            <a:avLst/>
          </a:prstGeom>
          <a:noFill/>
        </p:spPr>
        <p:txBody>
          <a:bodyPr wrap="square" lIns="0" rIns="0" tIns="0" bIns="0" anchor="t">
            <a:spAutoFit/>
          </a:bodyPr>
          <a:lstStyle/>
          <a:p>
            <a:pPr algn="l">
              <a:lnSpc>
                <a:spcPts val="5720"/>
              </a:lnSpc>
              <a:spcBef>
                <a:spcPts val="0"/>
              </a:spcBef>
              <a:spcAft>
                <a:spcPts val="0"/>
              </a:spcAft>
            </a:pPr>
            <a:r>
              <a:rPr sz="4400" b="0">
                <a:solidFill>
                  <a:srgbClr val="FFFFFF"/>
                </a:solidFill>
                <a:latin typeface="Segoe UI Semibold"/>
              </a:rPr>
              <a:t>What Never to Paste Into AI</a:t>
            </a:r>
          </a:p>
        </p:txBody>
      </p:sp>
      <p:cxnSp>
        <p:nvCxnSpPr>
          <p:cNvPr id="9" name="vis:rule"/>
          <p:cNvCxnSpPr/>
          <p:nvPr/>
        </p:nvCxnSpPr>
        <p:spPr>
          <a:xfrm>
            <a:off x="841248" y="2805684"/>
            <a:ext cx="3606698" cy="0"/>
          </a:xfrm>
          <a:prstGeom prst="line">
            <a:avLst/>
          </a:prstGeom>
          <a:ln w="1270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10" name="body:coversub"/>
          <p:cNvSpPr txBox="1"/>
          <p:nvPr/>
        </p:nvSpPr>
        <p:spPr>
          <a:xfrm>
            <a:off x="841248" y="3080004"/>
            <a:ext cx="4187952" cy="1144524"/>
          </a:xfrm>
          <a:prstGeom prst="rect">
            <a:avLst/>
          </a:prstGeom>
          <a:noFill/>
        </p:spPr>
        <p:txBody>
          <a:bodyPr wrap="square" lIns="0" rIns="0" tIns="0" bIns="0" anchor="t">
            <a:spAutoFit/>
          </a:bodyPr>
          <a:lstStyle/>
          <a:p>
            <a:pPr algn="l">
              <a:lnSpc>
                <a:spcPts val="2860"/>
              </a:lnSpc>
              <a:spcBef>
                <a:spcPts val="0"/>
              </a:spcBef>
              <a:spcAft>
                <a:spcPts val="0"/>
              </a:spcAft>
            </a:pPr>
            <a:r>
              <a:rPr sz="2200" b="0">
                <a:solidFill>
                  <a:srgbClr val="C9D1DE"/>
                </a:solidFill>
                <a:latin typeface="Segoe UI"/>
              </a:rPr>
              <a:t>The five red lines, the two-second test, and exactly what to type instead when you are in a hurry.</a:t>
            </a:r>
          </a:p>
        </p:txBody>
      </p:sp>
      <p:sp>
        <p:nvSpPr>
          <p:cNvPr id="11" name="vis:chip"/>
          <p:cNvSpPr/>
          <p:nvPr/>
        </p:nvSpPr>
        <p:spPr>
          <a:xfrm>
            <a:off x="841248" y="4626864"/>
            <a:ext cx="1054989" cy="310896"/>
          </a:xfrm>
          <a:prstGeom prst="roundRect">
            <a:avLst>
              <a:gd name="adj" fmla="val 14705"/>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vis:chiptext"/>
          <p:cNvSpPr txBox="1"/>
          <p:nvPr/>
        </p:nvSpPr>
        <p:spPr>
          <a:xfrm>
            <a:off x="996696" y="4672583"/>
            <a:ext cx="74409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SEC-07</a:t>
            </a:r>
          </a:p>
        </p:txBody>
      </p:sp>
      <p:sp>
        <p:nvSpPr>
          <p:cNvPr id="13" name="vis:chip"/>
          <p:cNvSpPr/>
          <p:nvPr/>
        </p:nvSpPr>
        <p:spPr>
          <a:xfrm>
            <a:off x="2042541" y="4626864"/>
            <a:ext cx="1456309" cy="310896"/>
          </a:xfrm>
          <a:prstGeom prst="roundRect">
            <a:avLst>
              <a:gd name="adj" fmla="val 14705"/>
            </a:avLst>
          </a:prstGeom>
          <a:no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4" name="vis:chiptext"/>
          <p:cNvSpPr txBox="1"/>
          <p:nvPr/>
        </p:nvSpPr>
        <p:spPr>
          <a:xfrm>
            <a:off x="2197989" y="4672583"/>
            <a:ext cx="114541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C9D1DE"/>
                </a:solidFill>
                <a:latin typeface="Segoe UI Semibold"/>
              </a:rPr>
              <a:t>16 MINUTES</a:t>
            </a:r>
          </a:p>
        </p:txBody>
      </p:sp>
      <p:sp>
        <p:nvSpPr>
          <p:cNvPr id="15" name="vis:chip"/>
          <p:cNvSpPr/>
          <p:nvPr/>
        </p:nvSpPr>
        <p:spPr>
          <a:xfrm>
            <a:off x="841248" y="5047488"/>
            <a:ext cx="2788677" cy="310896"/>
          </a:xfrm>
          <a:prstGeom prst="roundRect">
            <a:avLst>
              <a:gd name="adj" fmla="val 14705"/>
            </a:avLst>
          </a:prstGeom>
          <a:no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chiptext"/>
          <p:cNvSpPr txBox="1"/>
          <p:nvPr/>
        </p:nvSpPr>
        <p:spPr>
          <a:xfrm>
            <a:off x="996696" y="5093207"/>
            <a:ext cx="2477781"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C9D1DE"/>
                </a:solidFill>
                <a:latin typeface="Segoe UI Semibold"/>
              </a:rPr>
              <a:t>MANDATORY FOR ALL STAFF</a:t>
            </a:r>
          </a:p>
        </p:txBody>
      </p:sp>
      <p:sp>
        <p:nvSpPr>
          <p:cNvPr id="17" name="cell:coverhint"/>
          <p:cNvSpPr txBox="1"/>
          <p:nvPr/>
        </p:nvSpPr>
        <p:spPr>
          <a:xfrm>
            <a:off x="841248" y="5724144"/>
            <a:ext cx="4187952" cy="43891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48D9A"/>
                </a:solidFill>
                <a:latin typeface="Segoe UI"/>
              </a:rPr>
              <a:t>Start here  →  the next slide shows what this saves you.</a:t>
            </a:r>
          </a:p>
        </p:txBody>
      </p:sp>
      <p:sp>
        <p:nvSpPr>
          <p:cNvPr id="18"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48D9A"/>
                </a:solidFill>
                <a:latin typeface="Segoe UI"/>
              </a:rPr>
              <a:t>SEC-07  ·  What Never to Paste Into AI</a:t>
            </a:r>
          </a:p>
        </p:txBody>
      </p:sp>
      <p:sp>
        <p:nvSpPr>
          <p:cNvPr id="19"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848D9A"/>
                </a:solidFill>
                <a:latin typeface="Segoe UI"/>
              </a:rPr>
              <a:t>Inducto Learning Library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WHY THIS MATTERS TO YOU</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One paste, and it is out of our hands</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SEC-07  ·  What Never to Paste Into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vis:story"/>
          <p:cNvSpPr/>
          <p:nvPr/>
        </p:nvSpPr>
        <p:spPr>
          <a:xfrm>
            <a:off x="502920" y="1719072"/>
            <a:ext cx="6448882" cy="3273552"/>
          </a:xfrm>
          <a:prstGeom prst="roundRect">
            <a:avLst>
              <a:gd name="adj" fmla="val 2793"/>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storyspine"/>
          <p:cNvSpPr/>
          <p:nvPr/>
        </p:nvSpPr>
        <p:spPr>
          <a:xfrm>
            <a:off x="502920" y="1719072"/>
            <a:ext cx="68580" cy="3273552"/>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badge"/>
          <p:cNvSpPr/>
          <p:nvPr/>
        </p:nvSpPr>
        <p:spPr>
          <a:xfrm>
            <a:off x="813816" y="2029967"/>
            <a:ext cx="694944" cy="694944"/>
          </a:xfrm>
          <a:prstGeom prst="roundRect">
            <a:avLst>
              <a:gd name="adj" fmla="val 131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icon"/>
          <p:cNvSpPr/>
          <p:nvPr/>
        </p:nvSpPr>
        <p:spPr>
          <a:xfrm>
            <a:off x="1031194" y="2355757"/>
            <a:ext cx="260187" cy="180685"/>
          </a:xfrm>
          <a:prstGeom prst="roundRect">
            <a:avLst>
              <a:gd name="adj" fmla="val 25303"/>
            </a:avLst>
          </a:prstGeom>
          <a:noFill/>
          <a:ln w="1905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vis:icon"/>
          <p:cNvSpPr/>
          <p:nvPr/>
        </p:nvSpPr>
        <p:spPr>
          <a:xfrm>
            <a:off x="1078172" y="2232891"/>
            <a:ext cx="166230" cy="224049"/>
          </a:xfrm>
          <a:prstGeom prst="arc">
            <a:avLst/>
          </a:prstGeom>
          <a:noFill/>
          <a:ln w="1905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body:scenario"/>
          <p:cNvSpPr txBox="1"/>
          <p:nvPr/>
        </p:nvSpPr>
        <p:spPr>
          <a:xfrm>
            <a:off x="813816" y="2944368"/>
            <a:ext cx="5827090" cy="1792224"/>
          </a:xfrm>
          <a:prstGeom prst="rect">
            <a:avLst/>
          </a:prstGeom>
          <a:noFill/>
        </p:spPr>
        <p:txBody>
          <a:bodyPr wrap="square" lIns="0" rIns="0" tIns="0" bIns="0" anchor="t">
            <a:spAutoFit/>
          </a:bodyPr>
          <a:lstStyle/>
          <a:p>
            <a:pPr algn="l">
              <a:lnSpc>
                <a:spcPts val="2340"/>
              </a:lnSpc>
              <a:spcBef>
                <a:spcPts val="0"/>
              </a:spcBef>
              <a:spcAft>
                <a:spcPts val="0"/>
              </a:spcAft>
            </a:pPr>
            <a:r>
              <a:rPr sz="1800" b="0">
                <a:solidFill>
                  <a:srgbClr val="101826"/>
                </a:solidFill>
                <a:latin typeface="Segoe UI"/>
              </a:rPr>
              <a:t>Farhan in accounts needs a payment-reminder letter. He pastes the customer ageing report — 340 names, phone numbers and outstanding amounts — into a free AI site. The letter that comes back is excellent. The report is now on a server we do not control.</a:t>
            </a:r>
          </a:p>
        </p:txBody>
      </p:sp>
      <p:sp>
        <p:nvSpPr>
          <p:cNvPr id="21" name="vis:cost"/>
          <p:cNvSpPr/>
          <p:nvPr/>
        </p:nvSpPr>
        <p:spPr>
          <a:xfrm>
            <a:off x="502920" y="5230368"/>
            <a:ext cx="6448882" cy="786384"/>
          </a:xfrm>
          <a:prstGeom prst="roundRect">
            <a:avLst>
              <a:gd name="adj" fmla="val 9302"/>
            </a:avLst>
          </a:prstGeom>
          <a:solidFill>
            <a:srgbClr val="FFFFFF"/>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costspine"/>
          <p:cNvSpPr/>
          <p:nvPr/>
        </p:nvSpPr>
        <p:spPr>
          <a:xfrm>
            <a:off x="502920" y="5230368"/>
            <a:ext cx="68580" cy="786384"/>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icon"/>
          <p:cNvSpPr/>
          <p:nvPr/>
        </p:nvSpPr>
        <p:spPr>
          <a:xfrm>
            <a:off x="826983" y="5478719"/>
            <a:ext cx="302849" cy="276514"/>
          </a:xfrm>
          <a:custGeom>
            <a:avLst/>
            <a:gdLst/>
            <a:ahLst/>
            <a:cxnLst/>
            <a:rect l="l" t="t" r="r" b="b"/>
            <a:pathLst>
              <a:path w="302849" h="276514">
                <a:moveTo>
                  <a:pt x="151425" y="0"/>
                </a:moveTo>
                <a:lnTo>
                  <a:pt x="302849" y="276514"/>
                </a:lnTo>
                <a:lnTo>
                  <a:pt x="0" y="276514"/>
                </a:lnTo>
                <a:close/>
              </a:path>
            </a:pathLst>
          </a:custGeom>
          <a:noFill/>
          <a:ln w="1905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4" name="vis:icon"/>
          <p:cNvCxnSpPr/>
          <p:nvPr/>
        </p:nvCxnSpPr>
        <p:spPr>
          <a:xfrm>
            <a:off x="978408" y="5584057"/>
            <a:ext cx="0" cy="82296"/>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25" name="vis:icon"/>
          <p:cNvSpPr/>
          <p:nvPr/>
        </p:nvSpPr>
        <p:spPr>
          <a:xfrm>
            <a:off x="961948" y="5695980"/>
            <a:ext cx="32918" cy="32918"/>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body:cost"/>
          <p:cNvSpPr txBox="1"/>
          <p:nvPr/>
        </p:nvSpPr>
        <p:spPr>
          <a:xfrm>
            <a:off x="1362456" y="5358383"/>
            <a:ext cx="5315026" cy="530352"/>
          </a:xfrm>
          <a:prstGeom prst="rect">
            <a:avLst/>
          </a:prstGeom>
          <a:noFill/>
        </p:spPr>
        <p:txBody>
          <a:bodyPr wrap="square" lIns="0" rIns="0" tIns="0" bIns="0" anchor="ctr">
            <a:spAutoFit/>
          </a:bodyPr>
          <a:lstStyle/>
          <a:p>
            <a:pPr algn="l">
              <a:lnSpc>
                <a:spcPts val="2080"/>
              </a:lnSpc>
              <a:spcBef>
                <a:spcPts val="0"/>
              </a:spcBef>
              <a:spcAft>
                <a:spcPts val="0"/>
              </a:spcAft>
            </a:pPr>
            <a:r>
              <a:rPr sz="1600" b="0">
                <a:solidFill>
                  <a:srgbClr val="C62828"/>
                </a:solidFill>
                <a:latin typeface="Segoe UI Semibold"/>
              </a:rPr>
              <a:t>We cannot retrieve it, cannot delete it, and cannot tell an auditor where it went.</a:t>
            </a:r>
          </a:p>
        </p:txBody>
      </p:sp>
      <p:sp>
        <p:nvSpPr>
          <p:cNvPr id="27" name="vis:fix"/>
          <p:cNvSpPr/>
          <p:nvPr/>
        </p:nvSpPr>
        <p:spPr>
          <a:xfrm>
            <a:off x="8082076" y="1719072"/>
            <a:ext cx="3606698" cy="4297680"/>
          </a:xfrm>
          <a:prstGeom prst="roundRect">
            <a:avLst>
              <a:gd name="adj" fmla="val 253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seclabel"/>
          <p:cNvSpPr txBox="1"/>
          <p:nvPr/>
        </p:nvSpPr>
        <p:spPr>
          <a:xfrm>
            <a:off x="8411260" y="2066543"/>
            <a:ext cx="2948330"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B67D84"/>
                </a:solidFill>
                <a:latin typeface="Segoe UI Semibold"/>
              </a:rPr>
              <a:t>AFTER THIS MODULE</a:t>
            </a:r>
          </a:p>
        </p:txBody>
      </p:sp>
      <p:cxnSp>
        <p:nvCxnSpPr>
          <p:cNvPr id="29" name="vis:rule"/>
          <p:cNvCxnSpPr/>
          <p:nvPr/>
        </p:nvCxnSpPr>
        <p:spPr>
          <a:xfrm>
            <a:off x="8411260" y="2505456"/>
            <a:ext cx="2948331" cy="0"/>
          </a:xfrm>
          <a:prstGeom prst="line">
            <a:avLst/>
          </a:prstGeom>
          <a:ln w="1270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30" name="body:fix"/>
          <p:cNvSpPr txBox="1"/>
          <p:nvPr/>
        </p:nvSpPr>
        <p:spPr>
          <a:xfrm>
            <a:off x="8411260" y="2724912"/>
            <a:ext cx="2948330" cy="2926080"/>
          </a:xfrm>
          <a:prstGeom prst="rect">
            <a:avLst/>
          </a:prstGeom>
          <a:noFill/>
        </p:spPr>
        <p:txBody>
          <a:bodyPr wrap="square" lIns="0" rIns="0" tIns="0" bIns="0" anchor="t">
            <a:spAutoFit/>
          </a:bodyPr>
          <a:lstStyle/>
          <a:p>
            <a:pPr algn="l">
              <a:lnSpc>
                <a:spcPts val="2730"/>
              </a:lnSpc>
              <a:spcBef>
                <a:spcPts val="0"/>
              </a:spcBef>
              <a:spcAft>
                <a:spcPts val="0"/>
              </a:spcAft>
            </a:pPr>
            <a:r>
              <a:rPr sz="2100" b="0">
                <a:solidFill>
                  <a:srgbClr val="FFFFFF"/>
                </a:solidFill>
                <a:latin typeface="Segoe UI Semibold"/>
              </a:rPr>
              <a:t>You will know in two seconds whether something is safe to paste — and exactly what to type instead.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WHAT YOU'LL BE ABLE TO DO</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By the end, you can do these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SEC-07  ·  What Never to Paste Into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vis:outcome"/>
          <p:cNvSpPr/>
          <p:nvPr/>
        </p:nvSpPr>
        <p:spPr>
          <a:xfrm>
            <a:off x="502920" y="1719072"/>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badge"/>
          <p:cNvSpPr/>
          <p:nvPr/>
        </p:nvSpPr>
        <p:spPr>
          <a:xfrm>
            <a:off x="777240" y="1792224"/>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930990" y="1945974"/>
            <a:ext cx="259426" cy="259426"/>
          </a:xfrm>
          <a:prstGeom prst="ellipse">
            <a:avLst/>
          </a:prstGeom>
          <a:noFill/>
          <a:ln w="1905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a:off x="969315" y="1984299"/>
            <a:ext cx="182777" cy="182777"/>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9" name="cell:outcome"/>
          <p:cNvSpPr txBox="1"/>
          <p:nvPr/>
        </p:nvSpPr>
        <p:spPr>
          <a:xfrm>
            <a:off x="1545336" y="1828800"/>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Name the five kinds of information that must never go into an AI tool</a:t>
            </a:r>
          </a:p>
        </p:txBody>
      </p:sp>
      <p:sp>
        <p:nvSpPr>
          <p:cNvPr id="20" name="vis:outcome"/>
          <p:cNvSpPr/>
          <p:nvPr/>
        </p:nvSpPr>
        <p:spPr>
          <a:xfrm>
            <a:off x="502920" y="2615184"/>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badge"/>
          <p:cNvSpPr/>
          <p:nvPr/>
        </p:nvSpPr>
        <p:spPr>
          <a:xfrm>
            <a:off x="777240" y="2688336"/>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icon"/>
          <p:cNvSpPr/>
          <p:nvPr/>
        </p:nvSpPr>
        <p:spPr>
          <a:xfrm>
            <a:off x="933938" y="2839138"/>
            <a:ext cx="253531" cy="265323"/>
          </a:xfrm>
          <a:custGeom>
            <a:avLst/>
            <a:gdLst/>
            <a:ahLst/>
            <a:cxnLst/>
            <a:rect l="l" t="t" r="r" b="b"/>
            <a:pathLst>
              <a:path w="253531" h="265323">
                <a:moveTo>
                  <a:pt x="126766" y="0"/>
                </a:moveTo>
                <a:lnTo>
                  <a:pt x="253531" y="56013"/>
                </a:lnTo>
                <a:lnTo>
                  <a:pt x="232894" y="191622"/>
                </a:lnTo>
                <a:lnTo>
                  <a:pt x="126766" y="265323"/>
                </a:lnTo>
                <a:lnTo>
                  <a:pt x="20637" y="191622"/>
                </a:lnTo>
                <a:lnTo>
                  <a:pt x="0" y="56013"/>
                </a:lnTo>
                <a:close/>
              </a:path>
            </a:pathLst>
          </a:custGeom>
          <a:noFill/>
          <a:ln w="1905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ell:outcome"/>
          <p:cNvSpPr txBox="1"/>
          <p:nvPr/>
        </p:nvSpPr>
        <p:spPr>
          <a:xfrm>
            <a:off x="1545336" y="2724912"/>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Strip a real request down to facts that are safe to share, in under a minute</a:t>
            </a:r>
          </a:p>
        </p:txBody>
      </p:sp>
      <p:sp>
        <p:nvSpPr>
          <p:cNvPr id="24" name="vis:outcome"/>
          <p:cNvSpPr/>
          <p:nvPr/>
        </p:nvSpPr>
        <p:spPr>
          <a:xfrm>
            <a:off x="502920" y="3511296"/>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badge"/>
          <p:cNvSpPr/>
          <p:nvPr/>
        </p:nvSpPr>
        <p:spPr>
          <a:xfrm>
            <a:off x="777240" y="3584448"/>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icon"/>
          <p:cNvSpPr/>
          <p:nvPr/>
        </p:nvSpPr>
        <p:spPr>
          <a:xfrm>
            <a:off x="925094" y="3761783"/>
            <a:ext cx="271219" cy="212257"/>
          </a:xfrm>
          <a:custGeom>
            <a:avLst/>
            <a:gdLst/>
            <a:ahLst/>
            <a:cxnLst/>
            <a:rect l="l" t="t" r="r" b="b"/>
            <a:pathLst>
              <a:path w="271219" h="212257">
                <a:moveTo>
                  <a:pt x="0" y="106128"/>
                </a:moveTo>
                <a:lnTo>
                  <a:pt x="135610" y="0"/>
                </a:lnTo>
                <a:lnTo>
                  <a:pt x="271219" y="106128"/>
                </a:lnTo>
                <a:lnTo>
                  <a:pt x="135610" y="212257"/>
                </a:lnTo>
                <a:close/>
              </a:path>
            </a:pathLst>
          </a:custGeom>
          <a:noFill/>
          <a:ln w="1905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vis:icon"/>
          <p:cNvSpPr/>
          <p:nvPr/>
        </p:nvSpPr>
        <p:spPr>
          <a:xfrm>
            <a:off x="1019431" y="3826639"/>
            <a:ext cx="82544" cy="82544"/>
          </a:xfrm>
          <a:prstGeom prst="ellipse">
            <a:avLst/>
          </a:prstGeom>
          <a:noFill/>
          <a:ln w="1905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cell:outcome"/>
          <p:cNvSpPr txBox="1"/>
          <p:nvPr/>
        </p:nvSpPr>
        <p:spPr>
          <a:xfrm>
            <a:off x="1545336" y="3621024"/>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Tell an approved tool from a personal account at a glance</a:t>
            </a:r>
          </a:p>
        </p:txBody>
      </p:sp>
      <p:sp>
        <p:nvSpPr>
          <p:cNvPr id="29" name="vis:outcome"/>
          <p:cNvSpPr/>
          <p:nvPr/>
        </p:nvSpPr>
        <p:spPr>
          <a:xfrm>
            <a:off x="502920" y="4407408"/>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badge"/>
          <p:cNvSpPr/>
          <p:nvPr/>
        </p:nvSpPr>
        <p:spPr>
          <a:xfrm>
            <a:off x="777240" y="4480560"/>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icon"/>
          <p:cNvSpPr/>
          <p:nvPr/>
        </p:nvSpPr>
        <p:spPr>
          <a:xfrm>
            <a:off x="925094" y="4634310"/>
            <a:ext cx="271219" cy="247635"/>
          </a:xfrm>
          <a:custGeom>
            <a:avLst/>
            <a:gdLst/>
            <a:ahLst/>
            <a:cxnLst/>
            <a:rect l="l" t="t" r="r" b="b"/>
            <a:pathLst>
              <a:path w="271219" h="247635">
                <a:moveTo>
                  <a:pt x="135610" y="0"/>
                </a:moveTo>
                <a:lnTo>
                  <a:pt x="271219" y="247635"/>
                </a:lnTo>
                <a:lnTo>
                  <a:pt x="0" y="247635"/>
                </a:lnTo>
                <a:close/>
              </a:path>
            </a:pathLst>
          </a:custGeom>
          <a:noFill/>
          <a:ln w="1905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2" name="vis:icon"/>
          <p:cNvCxnSpPr/>
          <p:nvPr/>
        </p:nvCxnSpPr>
        <p:spPr>
          <a:xfrm>
            <a:off x="1060704" y="4728647"/>
            <a:ext cx="0" cy="73701"/>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33" name="vis:icon"/>
          <p:cNvSpPr/>
          <p:nvPr/>
        </p:nvSpPr>
        <p:spPr>
          <a:xfrm>
            <a:off x="1045963" y="4828880"/>
            <a:ext cx="29480" cy="29480"/>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cell:outcome"/>
          <p:cNvSpPr txBox="1"/>
          <p:nvPr/>
        </p:nvSpPr>
        <p:spPr>
          <a:xfrm>
            <a:off x="1545336" y="4517136"/>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Explain what actually happens after a bad paste, not just that it is banned</a:t>
            </a:r>
          </a:p>
        </p:txBody>
      </p:sp>
      <p:sp>
        <p:nvSpPr>
          <p:cNvPr id="35" name="vis:outcome"/>
          <p:cNvSpPr/>
          <p:nvPr/>
        </p:nvSpPr>
        <p:spPr>
          <a:xfrm>
            <a:off x="502920" y="5303520"/>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badge"/>
          <p:cNvSpPr/>
          <p:nvPr/>
        </p:nvSpPr>
        <p:spPr>
          <a:xfrm>
            <a:off x="777240" y="5376672"/>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vis:icon"/>
          <p:cNvSpPr/>
          <p:nvPr/>
        </p:nvSpPr>
        <p:spPr>
          <a:xfrm>
            <a:off x="925094" y="5548111"/>
            <a:ext cx="129713" cy="129713"/>
          </a:xfrm>
          <a:prstGeom prst="ellipse">
            <a:avLst/>
          </a:prstGeom>
          <a:noFill/>
          <a:ln w="1905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8" name="vis:icon"/>
          <p:cNvCxnSpPr/>
          <p:nvPr/>
        </p:nvCxnSpPr>
        <p:spPr>
          <a:xfrm>
            <a:off x="1031223" y="5660136"/>
            <a:ext cx="153298" cy="117921"/>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cxnSp>
        <p:nvCxnSpPr>
          <p:cNvPr id="39" name="vis:icon"/>
          <p:cNvCxnSpPr/>
          <p:nvPr/>
        </p:nvCxnSpPr>
        <p:spPr>
          <a:xfrm flipH="1">
            <a:off x="1096080" y="5719096"/>
            <a:ext cx="29480" cy="35376"/>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cxnSp>
        <p:nvCxnSpPr>
          <p:cNvPr id="40" name="vis:icon"/>
          <p:cNvCxnSpPr/>
          <p:nvPr/>
        </p:nvCxnSpPr>
        <p:spPr>
          <a:xfrm flipH="1">
            <a:off x="1131456" y="5754472"/>
            <a:ext cx="29480" cy="35377"/>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41" name="cell:outcome"/>
          <p:cNvSpPr txBox="1"/>
          <p:nvPr/>
        </p:nvSpPr>
        <p:spPr>
          <a:xfrm>
            <a:off x="1545336" y="5413248"/>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Know what to do in the first hour if you have already pasted something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INTERACTIVE MENU</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Tap any line to jump straight there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SEC-07  ·  What Never to Paste Into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cell:menuhint"/>
          <p:cNvSpPr txBox="1"/>
          <p:nvPr/>
        </p:nvSpPr>
        <p:spPr>
          <a:xfrm>
            <a:off x="502920" y="1554480"/>
            <a:ext cx="11185855" cy="219456"/>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Every slide has a Menu button in the top-right corner to bring you back here.</a:t>
            </a:r>
          </a:p>
        </p:txBody>
      </p:sp>
      <p:sp>
        <p:nvSpPr>
          <p:cNvPr id="8" name="nav:menurow">
            <a:hlinkClick action="ppaction://hlinksldjump" r:id="rId2"/>
          </p:cNvPr>
          <p:cNvSpPr/>
          <p:nvPr/>
        </p:nvSpPr>
        <p:spPr>
          <a:xfrm>
            <a:off x="502920" y="1828800"/>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vis:menubar"/>
          <p:cNvSpPr/>
          <p:nvPr/>
        </p:nvSpPr>
        <p:spPr>
          <a:xfrm>
            <a:off x="502920" y="1828800"/>
            <a:ext cx="68580" cy="336499"/>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0" name="vis:menunum"/>
          <p:cNvSpPr txBox="1"/>
          <p:nvPr/>
        </p:nvSpPr>
        <p:spPr>
          <a:xfrm>
            <a:off x="813816" y="1883664"/>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7A1220"/>
                </a:solidFill>
                <a:latin typeface="Segoe UI Semibold"/>
              </a:rPr>
              <a:t>01</a:t>
            </a:r>
          </a:p>
        </p:txBody>
      </p:sp>
      <p:sp>
        <p:nvSpPr>
          <p:cNvPr id="11" name="cell:menulabel"/>
          <p:cNvSpPr txBox="1"/>
          <p:nvPr/>
        </p:nvSpPr>
        <p:spPr>
          <a:xfrm>
            <a:off x="1344168" y="1883664"/>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The five red lines</a:t>
            </a:r>
          </a:p>
        </p:txBody>
      </p:sp>
      <p:sp>
        <p:nvSpPr>
          <p:cNvPr id="12" name="cell:menusub"/>
          <p:cNvSpPr txBox="1"/>
          <p:nvPr/>
        </p:nvSpPr>
        <p:spPr>
          <a:xfrm>
            <a:off x="7134682" y="1883664"/>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What never goes in, and why</a:t>
            </a:r>
          </a:p>
        </p:txBody>
      </p:sp>
      <p:cxnSp>
        <p:nvCxnSpPr>
          <p:cNvPr id="13" name="vis:menuarrow"/>
          <p:cNvCxnSpPr/>
          <p:nvPr/>
        </p:nvCxnSpPr>
        <p:spPr>
          <a:xfrm>
            <a:off x="11213287" y="1997049"/>
            <a:ext cx="219456" cy="0"/>
          </a:xfrm>
          <a:prstGeom prst="line">
            <a:avLst/>
          </a:prstGeom>
          <a:ln w="19050">
            <a:solidFill>
              <a:srgbClr val="7A122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4" name="nav:menurow">
            <a:hlinkClick action="ppaction://hlinksldjump" r:id="rId3"/>
          </p:cNvPr>
          <p:cNvSpPr/>
          <p:nvPr/>
        </p:nvSpPr>
        <p:spPr>
          <a:xfrm>
            <a:off x="502920" y="2256739"/>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vis:menubar"/>
          <p:cNvSpPr/>
          <p:nvPr/>
        </p:nvSpPr>
        <p:spPr>
          <a:xfrm>
            <a:off x="502920" y="2256739"/>
            <a:ext cx="68580" cy="336499"/>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menunum"/>
          <p:cNvSpPr txBox="1"/>
          <p:nvPr/>
        </p:nvSpPr>
        <p:spPr>
          <a:xfrm>
            <a:off x="813816" y="2311603"/>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7A1220"/>
                </a:solidFill>
                <a:latin typeface="Segoe UI Semibold"/>
              </a:rPr>
              <a:t>02</a:t>
            </a:r>
          </a:p>
        </p:txBody>
      </p:sp>
      <p:sp>
        <p:nvSpPr>
          <p:cNvPr id="17" name="cell:menulabel"/>
          <p:cNvSpPr txBox="1"/>
          <p:nvPr/>
        </p:nvSpPr>
        <p:spPr>
          <a:xfrm>
            <a:off x="1344168" y="2311603"/>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What goes wrong</a:t>
            </a:r>
          </a:p>
        </p:txBody>
      </p:sp>
      <p:sp>
        <p:nvSpPr>
          <p:cNvPr id="18" name="cell:menusub"/>
          <p:cNvSpPr txBox="1"/>
          <p:nvPr/>
        </p:nvSpPr>
        <p:spPr>
          <a:xfrm>
            <a:off x="7134682" y="2311603"/>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The part people do not expect</a:t>
            </a:r>
          </a:p>
        </p:txBody>
      </p:sp>
      <p:cxnSp>
        <p:nvCxnSpPr>
          <p:cNvPr id="19" name="vis:menuarrow"/>
          <p:cNvCxnSpPr/>
          <p:nvPr/>
        </p:nvCxnSpPr>
        <p:spPr>
          <a:xfrm>
            <a:off x="11213287" y="2424988"/>
            <a:ext cx="219456" cy="0"/>
          </a:xfrm>
          <a:prstGeom prst="line">
            <a:avLst/>
          </a:prstGeom>
          <a:ln w="19050">
            <a:solidFill>
              <a:srgbClr val="7A122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nav:menurow">
            <a:hlinkClick action="ppaction://hlinksldjump" r:id="rId4"/>
          </p:cNvPr>
          <p:cNvSpPr/>
          <p:nvPr/>
        </p:nvSpPr>
        <p:spPr>
          <a:xfrm>
            <a:off x="502920" y="2684678"/>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menubar"/>
          <p:cNvSpPr/>
          <p:nvPr/>
        </p:nvSpPr>
        <p:spPr>
          <a:xfrm>
            <a:off x="502920" y="2684678"/>
            <a:ext cx="68580" cy="336499"/>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menunum"/>
          <p:cNvSpPr txBox="1"/>
          <p:nvPr/>
        </p:nvSpPr>
        <p:spPr>
          <a:xfrm>
            <a:off x="813816" y="2739542"/>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7A1220"/>
                </a:solidFill>
                <a:latin typeface="Segoe UI Semibold"/>
              </a:rPr>
              <a:t>03</a:t>
            </a:r>
          </a:p>
        </p:txBody>
      </p:sp>
      <p:sp>
        <p:nvSpPr>
          <p:cNvPr id="23" name="cell:menulabel"/>
          <p:cNvSpPr txBox="1"/>
          <p:nvPr/>
        </p:nvSpPr>
        <p:spPr>
          <a:xfrm>
            <a:off x="1344168" y="2739542"/>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Strip it down</a:t>
            </a:r>
          </a:p>
        </p:txBody>
      </p:sp>
      <p:sp>
        <p:nvSpPr>
          <p:cNvPr id="24" name="cell:menusub"/>
          <p:cNvSpPr txBox="1"/>
          <p:nvPr/>
        </p:nvSpPr>
        <p:spPr>
          <a:xfrm>
            <a:off x="7134682" y="2739542"/>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Turn a file into safe facts</a:t>
            </a:r>
          </a:p>
        </p:txBody>
      </p:sp>
      <p:cxnSp>
        <p:nvCxnSpPr>
          <p:cNvPr id="25" name="vis:menuarrow"/>
          <p:cNvCxnSpPr/>
          <p:nvPr/>
        </p:nvCxnSpPr>
        <p:spPr>
          <a:xfrm>
            <a:off x="11213287" y="2852928"/>
            <a:ext cx="219456" cy="0"/>
          </a:xfrm>
          <a:prstGeom prst="line">
            <a:avLst/>
          </a:prstGeom>
          <a:ln w="19050">
            <a:solidFill>
              <a:srgbClr val="7A122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6" name="nav:menurow">
            <a:hlinkClick action="ppaction://hlinksldjump" r:id="rId5"/>
          </p:cNvPr>
          <p:cNvSpPr/>
          <p:nvPr/>
        </p:nvSpPr>
        <p:spPr>
          <a:xfrm>
            <a:off x="502920" y="3112617"/>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menubar"/>
          <p:cNvSpPr/>
          <p:nvPr/>
        </p:nvSpPr>
        <p:spPr>
          <a:xfrm>
            <a:off x="502920" y="3112617"/>
            <a:ext cx="68580" cy="336499"/>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menunum"/>
          <p:cNvSpPr txBox="1"/>
          <p:nvPr/>
        </p:nvSpPr>
        <p:spPr>
          <a:xfrm>
            <a:off x="813816" y="3167481"/>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7A1220"/>
                </a:solidFill>
                <a:latin typeface="Segoe UI Semibold"/>
              </a:rPr>
              <a:t>04</a:t>
            </a:r>
          </a:p>
        </p:txBody>
      </p:sp>
      <p:sp>
        <p:nvSpPr>
          <p:cNvPr id="29" name="cell:menulabel"/>
          <p:cNvSpPr txBox="1"/>
          <p:nvPr/>
        </p:nvSpPr>
        <p:spPr>
          <a:xfrm>
            <a:off x="1344168" y="3167481"/>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Approved or personal?</a:t>
            </a:r>
          </a:p>
        </p:txBody>
      </p:sp>
      <p:sp>
        <p:nvSpPr>
          <p:cNvPr id="30" name="cell:menusub"/>
          <p:cNvSpPr txBox="1"/>
          <p:nvPr/>
        </p:nvSpPr>
        <p:spPr>
          <a:xfrm>
            <a:off x="7134682" y="3167481"/>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The account changes everything</a:t>
            </a:r>
          </a:p>
        </p:txBody>
      </p:sp>
      <p:cxnSp>
        <p:nvCxnSpPr>
          <p:cNvPr id="31" name="vis:menuarrow"/>
          <p:cNvCxnSpPr/>
          <p:nvPr/>
        </p:nvCxnSpPr>
        <p:spPr>
          <a:xfrm>
            <a:off x="11213287" y="3280867"/>
            <a:ext cx="219456" cy="0"/>
          </a:xfrm>
          <a:prstGeom prst="line">
            <a:avLst/>
          </a:prstGeom>
          <a:ln w="19050">
            <a:solidFill>
              <a:srgbClr val="7A122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2" name="nav:menurow">
            <a:hlinkClick action="ppaction://hlinksldjump" r:id="rId6"/>
          </p:cNvPr>
          <p:cNvSpPr/>
          <p:nvPr/>
        </p:nvSpPr>
        <p:spPr>
          <a:xfrm>
            <a:off x="502920" y="3540556"/>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menubar"/>
          <p:cNvSpPr/>
          <p:nvPr/>
        </p:nvSpPr>
        <p:spPr>
          <a:xfrm>
            <a:off x="502920" y="3540556"/>
            <a:ext cx="68580" cy="336499"/>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vis:menunum"/>
          <p:cNvSpPr txBox="1"/>
          <p:nvPr/>
        </p:nvSpPr>
        <p:spPr>
          <a:xfrm>
            <a:off x="813816" y="3595420"/>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7A1220"/>
                </a:solidFill>
                <a:latin typeface="Segoe UI Semibold"/>
              </a:rPr>
              <a:t>05</a:t>
            </a:r>
          </a:p>
        </p:txBody>
      </p:sp>
      <p:sp>
        <p:nvSpPr>
          <p:cNvPr id="35" name="cell:menulabel"/>
          <p:cNvSpPr txBox="1"/>
          <p:nvPr/>
        </p:nvSpPr>
        <p:spPr>
          <a:xfrm>
            <a:off x="1344168" y="3595420"/>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If you already have</a:t>
            </a:r>
          </a:p>
        </p:txBody>
      </p:sp>
      <p:sp>
        <p:nvSpPr>
          <p:cNvPr id="36" name="cell:menusub"/>
          <p:cNvSpPr txBox="1"/>
          <p:nvPr/>
        </p:nvSpPr>
        <p:spPr>
          <a:xfrm>
            <a:off x="7134682" y="3595420"/>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The first hour matters most</a:t>
            </a:r>
          </a:p>
        </p:txBody>
      </p:sp>
      <p:cxnSp>
        <p:nvCxnSpPr>
          <p:cNvPr id="37" name="vis:menuarrow"/>
          <p:cNvCxnSpPr/>
          <p:nvPr/>
        </p:nvCxnSpPr>
        <p:spPr>
          <a:xfrm>
            <a:off x="11213287" y="3708806"/>
            <a:ext cx="219456" cy="0"/>
          </a:xfrm>
          <a:prstGeom prst="line">
            <a:avLst/>
          </a:prstGeom>
          <a:ln w="19050">
            <a:solidFill>
              <a:srgbClr val="7A122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8" name="nav:menurow">
            <a:hlinkClick action="ppaction://hlinksldjump" r:id="rId7"/>
          </p:cNvPr>
          <p:cNvSpPr/>
          <p:nvPr/>
        </p:nvSpPr>
        <p:spPr>
          <a:xfrm>
            <a:off x="502920" y="3968496"/>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9" name="vis:menubar"/>
          <p:cNvSpPr/>
          <p:nvPr/>
        </p:nvSpPr>
        <p:spPr>
          <a:xfrm>
            <a:off x="502920" y="3968496"/>
            <a:ext cx="68580" cy="336499"/>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0" name="vis:menunum"/>
          <p:cNvSpPr txBox="1"/>
          <p:nvPr/>
        </p:nvSpPr>
        <p:spPr>
          <a:xfrm>
            <a:off x="813816" y="4023359"/>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7A1220"/>
                </a:solidFill>
                <a:latin typeface="Segoe UI Semibold"/>
              </a:rPr>
              <a:t>06</a:t>
            </a:r>
          </a:p>
        </p:txBody>
      </p:sp>
      <p:sp>
        <p:nvSpPr>
          <p:cNvPr id="41" name="cell:menulabel"/>
          <p:cNvSpPr txBox="1"/>
          <p:nvPr/>
        </p:nvSpPr>
        <p:spPr>
          <a:xfrm>
            <a:off x="1344168" y="4023359"/>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Choose what you'd do</a:t>
            </a:r>
          </a:p>
        </p:txBody>
      </p:sp>
      <p:sp>
        <p:nvSpPr>
          <p:cNvPr id="42" name="cell:menusub"/>
          <p:cNvSpPr txBox="1"/>
          <p:nvPr/>
        </p:nvSpPr>
        <p:spPr>
          <a:xfrm>
            <a:off x="7134682" y="4023359"/>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A Thursday afternoon deadline</a:t>
            </a:r>
          </a:p>
        </p:txBody>
      </p:sp>
      <p:cxnSp>
        <p:nvCxnSpPr>
          <p:cNvPr id="43" name="vis:menuarrow"/>
          <p:cNvCxnSpPr/>
          <p:nvPr/>
        </p:nvCxnSpPr>
        <p:spPr>
          <a:xfrm>
            <a:off x="11213287" y="4136745"/>
            <a:ext cx="219456" cy="0"/>
          </a:xfrm>
          <a:prstGeom prst="line">
            <a:avLst/>
          </a:prstGeom>
          <a:ln w="19050">
            <a:solidFill>
              <a:srgbClr val="7A122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4" name="nav:menurow">
            <a:hlinkClick action="ppaction://hlinksldjump" r:id="rId8"/>
          </p:cNvPr>
          <p:cNvSpPr/>
          <p:nvPr/>
        </p:nvSpPr>
        <p:spPr>
          <a:xfrm>
            <a:off x="502920" y="4396435"/>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5" name="vis:menubar"/>
          <p:cNvSpPr/>
          <p:nvPr/>
        </p:nvSpPr>
        <p:spPr>
          <a:xfrm>
            <a:off x="502920" y="4396435"/>
            <a:ext cx="68580" cy="336499"/>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6" name="vis:menunum"/>
          <p:cNvSpPr txBox="1"/>
          <p:nvPr/>
        </p:nvSpPr>
        <p:spPr>
          <a:xfrm>
            <a:off x="813816" y="4451299"/>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7A1220"/>
                </a:solidFill>
                <a:latin typeface="Segoe UI Semibold"/>
              </a:rPr>
              <a:t>07</a:t>
            </a:r>
          </a:p>
        </p:txBody>
      </p:sp>
      <p:sp>
        <p:nvSpPr>
          <p:cNvPr id="47" name="cell:menulabel"/>
          <p:cNvSpPr txBox="1"/>
          <p:nvPr/>
        </p:nvSpPr>
        <p:spPr>
          <a:xfrm>
            <a:off x="1344168" y="4451299"/>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Watch this</a:t>
            </a:r>
          </a:p>
        </p:txBody>
      </p:sp>
      <p:sp>
        <p:nvSpPr>
          <p:cNvPr id="48" name="cell:menusub"/>
          <p:cNvSpPr txBox="1"/>
          <p:nvPr/>
        </p:nvSpPr>
        <p:spPr>
          <a:xfrm>
            <a:off x="7134682" y="4451299"/>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A 7-minute outside warning</a:t>
            </a:r>
          </a:p>
        </p:txBody>
      </p:sp>
      <p:cxnSp>
        <p:nvCxnSpPr>
          <p:cNvPr id="49" name="vis:menuarrow"/>
          <p:cNvCxnSpPr/>
          <p:nvPr/>
        </p:nvCxnSpPr>
        <p:spPr>
          <a:xfrm>
            <a:off x="11213287" y="4564684"/>
            <a:ext cx="219456" cy="0"/>
          </a:xfrm>
          <a:prstGeom prst="line">
            <a:avLst/>
          </a:prstGeom>
          <a:ln w="19050">
            <a:solidFill>
              <a:srgbClr val="7A122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0" name="nav:menurow">
            <a:hlinkClick action="ppaction://hlinksldjump" r:id="rId9"/>
          </p:cNvPr>
          <p:cNvSpPr/>
          <p:nvPr/>
        </p:nvSpPr>
        <p:spPr>
          <a:xfrm>
            <a:off x="502920" y="4824374"/>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1" name="vis:menubar"/>
          <p:cNvSpPr/>
          <p:nvPr/>
        </p:nvSpPr>
        <p:spPr>
          <a:xfrm>
            <a:off x="502920" y="4824374"/>
            <a:ext cx="68580" cy="336499"/>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2" name="vis:menunum"/>
          <p:cNvSpPr txBox="1"/>
          <p:nvPr/>
        </p:nvSpPr>
        <p:spPr>
          <a:xfrm>
            <a:off x="813816" y="4879238"/>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7A1220"/>
                </a:solidFill>
                <a:latin typeface="Segoe UI Semibold"/>
              </a:rPr>
              <a:t>08</a:t>
            </a:r>
          </a:p>
        </p:txBody>
      </p:sp>
      <p:sp>
        <p:nvSpPr>
          <p:cNvPr id="53" name="cell:menulabel"/>
          <p:cNvSpPr txBox="1"/>
          <p:nvPr/>
        </p:nvSpPr>
        <p:spPr>
          <a:xfrm>
            <a:off x="1344168" y="4879238"/>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Quiz</a:t>
            </a:r>
          </a:p>
        </p:txBody>
      </p:sp>
      <p:sp>
        <p:nvSpPr>
          <p:cNvPr id="54" name="cell:menusub"/>
          <p:cNvSpPr txBox="1"/>
          <p:nvPr/>
        </p:nvSpPr>
        <p:spPr>
          <a:xfrm>
            <a:off x="7134682" y="4879238"/>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5 questions, instant feedback</a:t>
            </a:r>
          </a:p>
        </p:txBody>
      </p:sp>
      <p:cxnSp>
        <p:nvCxnSpPr>
          <p:cNvPr id="55" name="vis:menuarrow"/>
          <p:cNvCxnSpPr/>
          <p:nvPr/>
        </p:nvCxnSpPr>
        <p:spPr>
          <a:xfrm>
            <a:off x="11213287" y="4992624"/>
            <a:ext cx="219456" cy="0"/>
          </a:xfrm>
          <a:prstGeom prst="line">
            <a:avLst/>
          </a:prstGeom>
          <a:ln w="19050">
            <a:solidFill>
              <a:srgbClr val="7A122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6" name="nav:menurow">
            <a:hlinkClick action="ppaction://hlinksldjump" r:id="rId10"/>
          </p:cNvPr>
          <p:cNvSpPr/>
          <p:nvPr/>
        </p:nvSpPr>
        <p:spPr>
          <a:xfrm>
            <a:off x="502920" y="5252313"/>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7" name="vis:menubar"/>
          <p:cNvSpPr/>
          <p:nvPr/>
        </p:nvSpPr>
        <p:spPr>
          <a:xfrm>
            <a:off x="502920" y="5252313"/>
            <a:ext cx="68580" cy="336499"/>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8" name="vis:menunum"/>
          <p:cNvSpPr txBox="1"/>
          <p:nvPr/>
        </p:nvSpPr>
        <p:spPr>
          <a:xfrm>
            <a:off x="813816" y="5307177"/>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7A1220"/>
                </a:solidFill>
                <a:latin typeface="Segoe UI Semibold"/>
              </a:rPr>
              <a:t>09</a:t>
            </a:r>
          </a:p>
        </p:txBody>
      </p:sp>
      <p:sp>
        <p:nvSpPr>
          <p:cNvPr id="59" name="cell:menulabel"/>
          <p:cNvSpPr txBox="1"/>
          <p:nvPr/>
        </p:nvSpPr>
        <p:spPr>
          <a:xfrm>
            <a:off x="1344168" y="5307177"/>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Recap card</a:t>
            </a:r>
          </a:p>
        </p:txBody>
      </p:sp>
      <p:sp>
        <p:nvSpPr>
          <p:cNvPr id="60" name="cell:menusub"/>
          <p:cNvSpPr txBox="1"/>
          <p:nvPr/>
        </p:nvSpPr>
        <p:spPr>
          <a:xfrm>
            <a:off x="7134682" y="5307177"/>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The whole topic on one screen</a:t>
            </a:r>
          </a:p>
        </p:txBody>
      </p:sp>
      <p:cxnSp>
        <p:nvCxnSpPr>
          <p:cNvPr id="61" name="vis:menuarrow"/>
          <p:cNvCxnSpPr/>
          <p:nvPr/>
        </p:nvCxnSpPr>
        <p:spPr>
          <a:xfrm>
            <a:off x="11213287" y="5420563"/>
            <a:ext cx="219456" cy="0"/>
          </a:xfrm>
          <a:prstGeom prst="line">
            <a:avLst/>
          </a:prstGeom>
          <a:ln w="19050">
            <a:solidFill>
              <a:srgbClr val="7A122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62" name="nav:menurow">
            <a:hlinkClick action="ppaction://hlinksldjump" r:id="rId11"/>
          </p:cNvPr>
          <p:cNvSpPr/>
          <p:nvPr/>
        </p:nvSpPr>
        <p:spPr>
          <a:xfrm>
            <a:off x="502920" y="5680252"/>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3" name="vis:menubar"/>
          <p:cNvSpPr/>
          <p:nvPr/>
        </p:nvSpPr>
        <p:spPr>
          <a:xfrm>
            <a:off x="502920" y="5680252"/>
            <a:ext cx="68580" cy="336499"/>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4" name="vis:menunum"/>
          <p:cNvSpPr txBox="1"/>
          <p:nvPr/>
        </p:nvSpPr>
        <p:spPr>
          <a:xfrm>
            <a:off x="813816" y="5735116"/>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7A1220"/>
                </a:solidFill>
                <a:latin typeface="Segoe UI Semibold"/>
              </a:rPr>
              <a:t>10</a:t>
            </a:r>
          </a:p>
        </p:txBody>
      </p:sp>
      <p:sp>
        <p:nvSpPr>
          <p:cNvPr id="65" name="cell:menulabel"/>
          <p:cNvSpPr txBox="1"/>
          <p:nvPr/>
        </p:nvSpPr>
        <p:spPr>
          <a:xfrm>
            <a:off x="1344168" y="5735116"/>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Your toolkit</a:t>
            </a:r>
          </a:p>
        </p:txBody>
      </p:sp>
      <p:sp>
        <p:nvSpPr>
          <p:cNvPr id="66" name="cell:menusub"/>
          <p:cNvSpPr txBox="1"/>
          <p:nvPr/>
        </p:nvSpPr>
        <p:spPr>
          <a:xfrm>
            <a:off x="7134682" y="5735116"/>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Templates, links, what to do next</a:t>
            </a:r>
          </a:p>
        </p:txBody>
      </p:sp>
      <p:cxnSp>
        <p:nvCxnSpPr>
          <p:cNvPr id="67" name="vis:menuarrow"/>
          <p:cNvCxnSpPr/>
          <p:nvPr/>
        </p:nvCxnSpPr>
        <p:spPr>
          <a:xfrm>
            <a:off x="11213287" y="5848502"/>
            <a:ext cx="219456" cy="0"/>
          </a:xfrm>
          <a:prstGeom prst="line">
            <a:avLst/>
          </a:prstGeom>
          <a:ln w="19050">
            <a:solidFill>
              <a:srgbClr val="7A1220"/>
            </a:solidFill>
            <a:tailEnd type="triangle" w="med" len="med"/>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THE FIVE RED LINES</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Five things that never go in</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SEC-07  ·  What Never to Paste Into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vis:mistake"/>
          <p:cNvSpPr/>
          <p:nvPr/>
        </p:nvSpPr>
        <p:spPr>
          <a:xfrm>
            <a:off x="502920" y="1719072"/>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mistakebar"/>
          <p:cNvSpPr/>
          <p:nvPr/>
        </p:nvSpPr>
        <p:spPr>
          <a:xfrm>
            <a:off x="502920" y="1719072"/>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mistakenum"/>
          <p:cNvSpPr/>
          <p:nvPr/>
        </p:nvSpPr>
        <p:spPr>
          <a:xfrm>
            <a:off x="740664" y="1927555"/>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mistakenumtext"/>
          <p:cNvSpPr txBox="1"/>
          <p:nvPr/>
        </p:nvSpPr>
        <p:spPr>
          <a:xfrm>
            <a:off x="740664" y="1996135"/>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1</a:t>
            </a:r>
          </a:p>
        </p:txBody>
      </p:sp>
      <p:sp>
        <p:nvSpPr>
          <p:cNvPr id="19" name="cell:mistake"/>
          <p:cNvSpPr txBox="1"/>
          <p:nvPr/>
        </p:nvSpPr>
        <p:spPr>
          <a:xfrm>
            <a:off x="1179576" y="1810512"/>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Customer or employee personal data</a:t>
            </a:r>
          </a:p>
        </p:txBody>
      </p:sp>
      <p:cxnSp>
        <p:nvCxnSpPr>
          <p:cNvPr id="20" name="vis:line"/>
          <p:cNvCxnSpPr/>
          <p:nvPr/>
        </p:nvCxnSpPr>
        <p:spPr>
          <a:xfrm>
            <a:off x="6008686" y="1865376"/>
            <a:ext cx="0" cy="43525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1" name="cell:mistakewhy"/>
          <p:cNvSpPr txBox="1"/>
          <p:nvPr/>
        </p:nvSpPr>
        <p:spPr>
          <a:xfrm>
            <a:off x="6173278" y="1810512"/>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Names with phone numbers, addresses, ID numbers, salaries. This is the one regulators count.</a:t>
            </a:r>
          </a:p>
        </p:txBody>
      </p:sp>
      <p:sp>
        <p:nvSpPr>
          <p:cNvPr id="22" name="vis:mistake"/>
          <p:cNvSpPr/>
          <p:nvPr/>
        </p:nvSpPr>
        <p:spPr>
          <a:xfrm>
            <a:off x="502920" y="2611526"/>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mistakebar"/>
          <p:cNvSpPr/>
          <p:nvPr/>
        </p:nvSpPr>
        <p:spPr>
          <a:xfrm>
            <a:off x="502920" y="2611526"/>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mistakenum"/>
          <p:cNvSpPr/>
          <p:nvPr/>
        </p:nvSpPr>
        <p:spPr>
          <a:xfrm>
            <a:off x="740664" y="2820009"/>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mistakenumtext"/>
          <p:cNvSpPr txBox="1"/>
          <p:nvPr/>
        </p:nvSpPr>
        <p:spPr>
          <a:xfrm>
            <a:off x="740664" y="2888589"/>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2</a:t>
            </a:r>
          </a:p>
        </p:txBody>
      </p:sp>
      <p:sp>
        <p:nvSpPr>
          <p:cNvPr id="26" name="cell:mistake"/>
          <p:cNvSpPr txBox="1"/>
          <p:nvPr/>
        </p:nvSpPr>
        <p:spPr>
          <a:xfrm>
            <a:off x="1179576" y="2702966"/>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Anything lifted from a signed contract</a:t>
            </a:r>
          </a:p>
        </p:txBody>
      </p:sp>
      <p:cxnSp>
        <p:nvCxnSpPr>
          <p:cNvPr id="27" name="vis:line"/>
          <p:cNvCxnSpPr/>
          <p:nvPr/>
        </p:nvCxnSpPr>
        <p:spPr>
          <a:xfrm>
            <a:off x="6008686" y="2757830"/>
            <a:ext cx="0" cy="43525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8" name="cell:mistakewhy"/>
          <p:cNvSpPr txBox="1"/>
          <p:nvPr/>
        </p:nvSpPr>
        <p:spPr>
          <a:xfrm>
            <a:off x="6173278" y="2702966"/>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Prices, terms, penalty clauses. The client agreed to share those with us, not with a third party.</a:t>
            </a:r>
          </a:p>
        </p:txBody>
      </p:sp>
      <p:sp>
        <p:nvSpPr>
          <p:cNvPr id="29" name="vis:mistake"/>
          <p:cNvSpPr/>
          <p:nvPr/>
        </p:nvSpPr>
        <p:spPr>
          <a:xfrm>
            <a:off x="502920" y="3503980"/>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mistakebar"/>
          <p:cNvSpPr/>
          <p:nvPr/>
        </p:nvSpPr>
        <p:spPr>
          <a:xfrm>
            <a:off x="502920" y="3503980"/>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mistakenum"/>
          <p:cNvSpPr/>
          <p:nvPr/>
        </p:nvSpPr>
        <p:spPr>
          <a:xfrm>
            <a:off x="740664" y="3712463"/>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mistakenumtext"/>
          <p:cNvSpPr txBox="1"/>
          <p:nvPr/>
        </p:nvSpPr>
        <p:spPr>
          <a:xfrm>
            <a:off x="740664" y="3781044"/>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3</a:t>
            </a:r>
          </a:p>
        </p:txBody>
      </p:sp>
      <p:sp>
        <p:nvSpPr>
          <p:cNvPr id="33" name="cell:mistake"/>
          <p:cNvSpPr txBox="1"/>
          <p:nvPr/>
        </p:nvSpPr>
        <p:spPr>
          <a:xfrm>
            <a:off x="1179576" y="3595420"/>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Financial records and pricing</a:t>
            </a:r>
          </a:p>
        </p:txBody>
      </p:sp>
      <p:cxnSp>
        <p:nvCxnSpPr>
          <p:cNvPr id="34" name="vis:line"/>
          <p:cNvCxnSpPr/>
          <p:nvPr/>
        </p:nvCxnSpPr>
        <p:spPr>
          <a:xfrm>
            <a:off x="6008686" y="3650284"/>
            <a:ext cx="0" cy="435255"/>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35" name="cell:mistakewhy"/>
          <p:cNvSpPr txBox="1"/>
          <p:nvPr/>
        </p:nvSpPr>
        <p:spPr>
          <a:xfrm>
            <a:off x="6173278" y="3595420"/>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Margins, cost sheets, bank details, unpublished results. A competitor would pay for these.</a:t>
            </a:r>
          </a:p>
        </p:txBody>
      </p:sp>
      <p:sp>
        <p:nvSpPr>
          <p:cNvPr id="36" name="vis:mistake"/>
          <p:cNvSpPr/>
          <p:nvPr/>
        </p:nvSpPr>
        <p:spPr>
          <a:xfrm>
            <a:off x="502920" y="4396435"/>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vis:mistakebar"/>
          <p:cNvSpPr/>
          <p:nvPr/>
        </p:nvSpPr>
        <p:spPr>
          <a:xfrm>
            <a:off x="502920" y="4396435"/>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8" name="vis:mistakenum"/>
          <p:cNvSpPr/>
          <p:nvPr/>
        </p:nvSpPr>
        <p:spPr>
          <a:xfrm>
            <a:off x="740664" y="4604918"/>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9" name="vis:mistakenumtext"/>
          <p:cNvSpPr txBox="1"/>
          <p:nvPr/>
        </p:nvSpPr>
        <p:spPr>
          <a:xfrm>
            <a:off x="740664" y="4673498"/>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4</a:t>
            </a:r>
          </a:p>
        </p:txBody>
      </p:sp>
      <p:sp>
        <p:nvSpPr>
          <p:cNvPr id="40" name="cell:mistake"/>
          <p:cNvSpPr txBox="1"/>
          <p:nvPr/>
        </p:nvSpPr>
        <p:spPr>
          <a:xfrm>
            <a:off x="1179576" y="4487875"/>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Login details of any kind</a:t>
            </a:r>
          </a:p>
        </p:txBody>
      </p:sp>
      <p:cxnSp>
        <p:nvCxnSpPr>
          <p:cNvPr id="41" name="vis:line"/>
          <p:cNvCxnSpPr/>
          <p:nvPr/>
        </p:nvCxnSpPr>
        <p:spPr>
          <a:xfrm>
            <a:off x="6008686" y="4542739"/>
            <a:ext cx="0" cy="43525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42" name="cell:mistakewhy"/>
          <p:cNvSpPr txBox="1"/>
          <p:nvPr/>
        </p:nvSpPr>
        <p:spPr>
          <a:xfrm>
            <a:off x="6173278" y="4487875"/>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Passwords, API keys, one-time codes. A prompt box is not a password manager.</a:t>
            </a:r>
          </a:p>
        </p:txBody>
      </p:sp>
      <p:sp>
        <p:nvSpPr>
          <p:cNvPr id="43" name="vis:mistake"/>
          <p:cNvSpPr/>
          <p:nvPr/>
        </p:nvSpPr>
        <p:spPr>
          <a:xfrm>
            <a:off x="502920" y="5288889"/>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4" name="vis:mistakebar"/>
          <p:cNvSpPr/>
          <p:nvPr/>
        </p:nvSpPr>
        <p:spPr>
          <a:xfrm>
            <a:off x="502920" y="5288889"/>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5" name="vis:mistakenum"/>
          <p:cNvSpPr/>
          <p:nvPr/>
        </p:nvSpPr>
        <p:spPr>
          <a:xfrm>
            <a:off x="740664" y="5497372"/>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6" name="vis:mistakenumtext"/>
          <p:cNvSpPr txBox="1"/>
          <p:nvPr/>
        </p:nvSpPr>
        <p:spPr>
          <a:xfrm>
            <a:off x="740664" y="5565952"/>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5</a:t>
            </a:r>
          </a:p>
        </p:txBody>
      </p:sp>
      <p:sp>
        <p:nvSpPr>
          <p:cNvPr id="47" name="cell:mistake"/>
          <p:cNvSpPr txBox="1"/>
          <p:nvPr/>
        </p:nvSpPr>
        <p:spPr>
          <a:xfrm>
            <a:off x="1179576" y="5380329"/>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Anything marked confidential or internal</a:t>
            </a:r>
          </a:p>
        </p:txBody>
      </p:sp>
      <p:cxnSp>
        <p:nvCxnSpPr>
          <p:cNvPr id="48" name="vis:line"/>
          <p:cNvCxnSpPr/>
          <p:nvPr/>
        </p:nvCxnSpPr>
        <p:spPr>
          <a:xfrm>
            <a:off x="6008686" y="5435193"/>
            <a:ext cx="0" cy="435255"/>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49" name="cell:mistakewhy"/>
          <p:cNvSpPr txBox="1"/>
          <p:nvPr/>
        </p:nvSpPr>
        <p:spPr>
          <a:xfrm>
            <a:off x="6173278" y="5380329"/>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Board papers, legal advice, unannounced plans. If it carries a marking, the marking is your answer.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THE FIVE RED LINES</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Why one paste is hard to undo</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SEC-07  ·  What Never to Paste Into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body:lead"/>
          <p:cNvSpPr txBox="1"/>
          <p:nvPr/>
        </p:nvSpPr>
        <p:spPr>
          <a:xfrm>
            <a:off x="502920" y="1719072"/>
            <a:ext cx="8343671" cy="548640"/>
          </a:xfrm>
          <a:prstGeom prst="rect">
            <a:avLst/>
          </a:prstGeom>
          <a:noFill/>
        </p:spPr>
        <p:txBody>
          <a:bodyPr wrap="square" lIns="0" rIns="0" tIns="0" bIns="0" anchor="t">
            <a:spAutoFit/>
          </a:bodyPr>
          <a:lstStyle/>
          <a:p>
            <a:pPr algn="l">
              <a:lnSpc>
                <a:spcPts val="2340"/>
              </a:lnSpc>
              <a:spcBef>
                <a:spcPts val="0"/>
              </a:spcBef>
              <a:spcAft>
                <a:spcPts val="0"/>
              </a:spcAft>
            </a:pPr>
            <a:r>
              <a:rPr sz="1800" b="0">
                <a:solidFill>
                  <a:srgbClr val="2A3547"/>
                </a:solidFill>
                <a:latin typeface="Segoe UI"/>
              </a:rPr>
              <a:t>People expect a paste to behave like a draft email they can unsend. It does not.</a:t>
            </a:r>
          </a:p>
        </p:txBody>
      </p:sp>
      <p:sp>
        <p:nvSpPr>
          <p:cNvPr id="16" name="vis:flowcard"/>
          <p:cNvSpPr/>
          <p:nvPr/>
        </p:nvSpPr>
        <p:spPr>
          <a:xfrm>
            <a:off x="502920" y="2935224"/>
            <a:ext cx="2508427" cy="1920240"/>
          </a:xfrm>
          <a:prstGeom prst="roundRect">
            <a:avLst>
              <a:gd name="adj" fmla="val 476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flownum"/>
          <p:cNvSpPr/>
          <p:nvPr/>
        </p:nvSpPr>
        <p:spPr>
          <a:xfrm>
            <a:off x="685800" y="2752344"/>
            <a:ext cx="384048" cy="384048"/>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flownumtext"/>
          <p:cNvSpPr txBox="1"/>
          <p:nvPr/>
        </p:nvSpPr>
        <p:spPr>
          <a:xfrm>
            <a:off x="685800" y="2830068"/>
            <a:ext cx="384048" cy="237744"/>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1</a:t>
            </a:r>
          </a:p>
        </p:txBody>
      </p:sp>
      <p:sp>
        <p:nvSpPr>
          <p:cNvPr id="19" name="vis:flowtitle"/>
          <p:cNvSpPr txBox="1"/>
          <p:nvPr/>
        </p:nvSpPr>
        <p:spPr>
          <a:xfrm>
            <a:off x="704088" y="3300984"/>
            <a:ext cx="2106091" cy="512064"/>
          </a:xfrm>
          <a:prstGeom prst="rect">
            <a:avLst/>
          </a:prstGeom>
          <a:noFill/>
        </p:spPr>
        <p:txBody>
          <a:bodyPr wrap="square" lIns="0" rIns="0" tIns="0" bIns="0" anchor="t">
            <a:spAutoFit/>
          </a:bodyPr>
          <a:lstStyle/>
          <a:p>
            <a:pPr algn="l">
              <a:lnSpc>
                <a:spcPts val="2080"/>
              </a:lnSpc>
              <a:spcBef>
                <a:spcPts val="0"/>
              </a:spcBef>
              <a:spcAft>
                <a:spcPts val="0"/>
              </a:spcAft>
            </a:pPr>
            <a:r>
              <a:rPr sz="1600" b="0">
                <a:solidFill>
                  <a:srgbClr val="101826"/>
                </a:solidFill>
                <a:latin typeface="Segoe UI Semibold"/>
              </a:rPr>
              <a:t>You paste</a:t>
            </a:r>
          </a:p>
        </p:txBody>
      </p:sp>
      <p:sp>
        <p:nvSpPr>
          <p:cNvPr id="20" name="vis:flowsub"/>
          <p:cNvSpPr txBox="1"/>
          <p:nvPr/>
        </p:nvSpPr>
        <p:spPr>
          <a:xfrm>
            <a:off x="704088" y="3849624"/>
            <a:ext cx="2106091" cy="84124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The text leaves your laptop and travels to the tool's servers.</a:t>
            </a:r>
          </a:p>
        </p:txBody>
      </p:sp>
      <p:cxnSp>
        <p:nvCxnSpPr>
          <p:cNvPr id="21" name="vis:flowarrow"/>
          <p:cNvCxnSpPr/>
          <p:nvPr/>
        </p:nvCxnSpPr>
        <p:spPr>
          <a:xfrm>
            <a:off x="3093643" y="3895344"/>
            <a:ext cx="219456" cy="0"/>
          </a:xfrm>
          <a:prstGeom prst="line">
            <a:avLst/>
          </a:prstGeom>
          <a:ln w="19050">
            <a:solidFill>
              <a:srgbClr val="7A122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2" name="vis:flowcard"/>
          <p:cNvSpPr/>
          <p:nvPr/>
        </p:nvSpPr>
        <p:spPr>
          <a:xfrm>
            <a:off x="3395395" y="2935224"/>
            <a:ext cx="2508427" cy="1920240"/>
          </a:xfrm>
          <a:prstGeom prst="roundRect">
            <a:avLst>
              <a:gd name="adj" fmla="val 476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flownum"/>
          <p:cNvSpPr/>
          <p:nvPr/>
        </p:nvSpPr>
        <p:spPr>
          <a:xfrm>
            <a:off x="3578275" y="2752344"/>
            <a:ext cx="384048" cy="384048"/>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flownumtext"/>
          <p:cNvSpPr txBox="1"/>
          <p:nvPr/>
        </p:nvSpPr>
        <p:spPr>
          <a:xfrm>
            <a:off x="3578275" y="2830068"/>
            <a:ext cx="384048" cy="237744"/>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2</a:t>
            </a:r>
          </a:p>
        </p:txBody>
      </p:sp>
      <p:sp>
        <p:nvSpPr>
          <p:cNvPr id="25" name="vis:flowtitle"/>
          <p:cNvSpPr txBox="1"/>
          <p:nvPr/>
        </p:nvSpPr>
        <p:spPr>
          <a:xfrm>
            <a:off x="3596563" y="3300984"/>
            <a:ext cx="2106091" cy="512064"/>
          </a:xfrm>
          <a:prstGeom prst="rect">
            <a:avLst/>
          </a:prstGeom>
          <a:noFill/>
        </p:spPr>
        <p:txBody>
          <a:bodyPr wrap="square" lIns="0" rIns="0" tIns="0" bIns="0" anchor="t">
            <a:spAutoFit/>
          </a:bodyPr>
          <a:lstStyle/>
          <a:p>
            <a:pPr algn="l">
              <a:lnSpc>
                <a:spcPts val="2080"/>
              </a:lnSpc>
              <a:spcBef>
                <a:spcPts val="0"/>
              </a:spcBef>
              <a:spcAft>
                <a:spcPts val="0"/>
              </a:spcAft>
            </a:pPr>
            <a:r>
              <a:rPr sz="1600" b="0">
                <a:solidFill>
                  <a:srgbClr val="101826"/>
                </a:solidFill>
                <a:latin typeface="Segoe UI Semibold"/>
              </a:rPr>
              <a:t>It is stored</a:t>
            </a:r>
          </a:p>
        </p:txBody>
      </p:sp>
      <p:sp>
        <p:nvSpPr>
          <p:cNvPr id="26" name="vis:flowsub"/>
          <p:cNvSpPr txBox="1"/>
          <p:nvPr/>
        </p:nvSpPr>
        <p:spPr>
          <a:xfrm>
            <a:off x="3596563" y="3849624"/>
            <a:ext cx="2106091" cy="84124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Most services keep the conversation. Free accounts usually keep it longest.</a:t>
            </a:r>
          </a:p>
        </p:txBody>
      </p:sp>
      <p:cxnSp>
        <p:nvCxnSpPr>
          <p:cNvPr id="27" name="vis:flowarrow"/>
          <p:cNvCxnSpPr/>
          <p:nvPr/>
        </p:nvCxnSpPr>
        <p:spPr>
          <a:xfrm>
            <a:off x="5986119" y="3895344"/>
            <a:ext cx="219456" cy="0"/>
          </a:xfrm>
          <a:prstGeom prst="line">
            <a:avLst/>
          </a:prstGeom>
          <a:ln w="19050">
            <a:solidFill>
              <a:srgbClr val="7A122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8" name="vis:flowcard"/>
          <p:cNvSpPr/>
          <p:nvPr/>
        </p:nvSpPr>
        <p:spPr>
          <a:xfrm>
            <a:off x="6287871" y="2935224"/>
            <a:ext cx="2508427" cy="1920240"/>
          </a:xfrm>
          <a:prstGeom prst="roundRect">
            <a:avLst>
              <a:gd name="adj" fmla="val 476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flownum"/>
          <p:cNvSpPr/>
          <p:nvPr/>
        </p:nvSpPr>
        <p:spPr>
          <a:xfrm>
            <a:off x="6470751" y="2752344"/>
            <a:ext cx="384048" cy="384048"/>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flownumtext"/>
          <p:cNvSpPr txBox="1"/>
          <p:nvPr/>
        </p:nvSpPr>
        <p:spPr>
          <a:xfrm>
            <a:off x="6470751" y="2830068"/>
            <a:ext cx="384048" cy="237744"/>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3</a:t>
            </a:r>
          </a:p>
        </p:txBody>
      </p:sp>
      <p:sp>
        <p:nvSpPr>
          <p:cNvPr id="31" name="vis:flowtitle"/>
          <p:cNvSpPr txBox="1"/>
          <p:nvPr/>
        </p:nvSpPr>
        <p:spPr>
          <a:xfrm>
            <a:off x="6489039" y="3300984"/>
            <a:ext cx="2106091" cy="512064"/>
          </a:xfrm>
          <a:prstGeom prst="rect">
            <a:avLst/>
          </a:prstGeom>
          <a:noFill/>
        </p:spPr>
        <p:txBody>
          <a:bodyPr wrap="square" lIns="0" rIns="0" tIns="0" bIns="0" anchor="t">
            <a:spAutoFit/>
          </a:bodyPr>
          <a:lstStyle/>
          <a:p>
            <a:pPr algn="l">
              <a:lnSpc>
                <a:spcPts val="2080"/>
              </a:lnSpc>
              <a:spcBef>
                <a:spcPts val="0"/>
              </a:spcBef>
              <a:spcAft>
                <a:spcPts val="0"/>
              </a:spcAft>
            </a:pPr>
            <a:r>
              <a:rPr sz="1600" b="0">
                <a:solidFill>
                  <a:srgbClr val="101826"/>
                </a:solidFill>
                <a:latin typeface="Segoe UI Semibold"/>
              </a:rPr>
              <a:t>It may be reused</a:t>
            </a:r>
          </a:p>
        </p:txBody>
      </p:sp>
      <p:sp>
        <p:nvSpPr>
          <p:cNvPr id="32" name="vis:flowsub"/>
          <p:cNvSpPr txBox="1"/>
          <p:nvPr/>
        </p:nvSpPr>
        <p:spPr>
          <a:xfrm>
            <a:off x="6489039" y="3849624"/>
            <a:ext cx="2106091" cy="84124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On consumer accounts, chats can be used to improve the service unless you switch that off.</a:t>
            </a:r>
          </a:p>
        </p:txBody>
      </p:sp>
      <p:cxnSp>
        <p:nvCxnSpPr>
          <p:cNvPr id="33" name="vis:flowarrow"/>
          <p:cNvCxnSpPr/>
          <p:nvPr/>
        </p:nvCxnSpPr>
        <p:spPr>
          <a:xfrm>
            <a:off x="8878595" y="3895344"/>
            <a:ext cx="219456" cy="0"/>
          </a:xfrm>
          <a:prstGeom prst="line">
            <a:avLst/>
          </a:prstGeom>
          <a:ln w="19050">
            <a:solidFill>
              <a:srgbClr val="7A122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4" name="vis:flowcard"/>
          <p:cNvSpPr/>
          <p:nvPr/>
        </p:nvSpPr>
        <p:spPr>
          <a:xfrm>
            <a:off x="9180347" y="2935224"/>
            <a:ext cx="2508427" cy="1920240"/>
          </a:xfrm>
          <a:prstGeom prst="roundRect">
            <a:avLst>
              <a:gd name="adj" fmla="val 476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5" name="vis:flownum"/>
          <p:cNvSpPr/>
          <p:nvPr/>
        </p:nvSpPr>
        <p:spPr>
          <a:xfrm>
            <a:off x="9363227" y="2752344"/>
            <a:ext cx="384048" cy="384048"/>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flownumtext"/>
          <p:cNvSpPr txBox="1"/>
          <p:nvPr/>
        </p:nvSpPr>
        <p:spPr>
          <a:xfrm>
            <a:off x="9363227" y="2830068"/>
            <a:ext cx="384048" cy="237744"/>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4</a:t>
            </a:r>
          </a:p>
        </p:txBody>
      </p:sp>
      <p:sp>
        <p:nvSpPr>
          <p:cNvPr id="37" name="vis:flowtitle"/>
          <p:cNvSpPr txBox="1"/>
          <p:nvPr/>
        </p:nvSpPr>
        <p:spPr>
          <a:xfrm>
            <a:off x="9381515" y="3300984"/>
            <a:ext cx="2106091" cy="512064"/>
          </a:xfrm>
          <a:prstGeom prst="rect">
            <a:avLst/>
          </a:prstGeom>
          <a:noFill/>
        </p:spPr>
        <p:txBody>
          <a:bodyPr wrap="square" lIns="0" rIns="0" tIns="0" bIns="0" anchor="t">
            <a:spAutoFit/>
          </a:bodyPr>
          <a:lstStyle/>
          <a:p>
            <a:pPr algn="l">
              <a:lnSpc>
                <a:spcPts val="2080"/>
              </a:lnSpc>
              <a:spcBef>
                <a:spcPts val="0"/>
              </a:spcBef>
              <a:spcAft>
                <a:spcPts val="0"/>
              </a:spcAft>
            </a:pPr>
            <a:r>
              <a:rPr sz="1600" b="0">
                <a:solidFill>
                  <a:srgbClr val="101826"/>
                </a:solidFill>
                <a:latin typeface="Segoe UI Semibold"/>
              </a:rPr>
              <a:t>You cannot recall it</a:t>
            </a:r>
          </a:p>
        </p:txBody>
      </p:sp>
      <p:sp>
        <p:nvSpPr>
          <p:cNvPr id="38" name="vis:flowsub"/>
          <p:cNvSpPr txBox="1"/>
          <p:nvPr/>
        </p:nvSpPr>
        <p:spPr>
          <a:xfrm>
            <a:off x="9381515" y="3849624"/>
            <a:ext cx="2106091" cy="84124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No delete button reaches every copy. This is the part people do not expect.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WHAT GOES WRONG</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What actually goes wrong</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SEC-07  ·  What Never to Paste Into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vis:tile"/>
          <p:cNvSpPr/>
          <p:nvPr/>
        </p:nvSpPr>
        <p:spPr>
          <a:xfrm>
            <a:off x="502920" y="1719072"/>
            <a:ext cx="3545738" cy="2926080"/>
          </a:xfrm>
          <a:prstGeom prst="roundRect">
            <a:avLst>
              <a:gd name="adj" fmla="val 312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badge"/>
          <p:cNvSpPr/>
          <p:nvPr/>
        </p:nvSpPr>
        <p:spPr>
          <a:xfrm>
            <a:off x="777240" y="2011679"/>
            <a:ext cx="658368" cy="658368"/>
          </a:xfrm>
          <a:prstGeom prst="roundRect">
            <a:avLst>
              <a:gd name="adj" fmla="val 1388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948942" y="2190229"/>
            <a:ext cx="314963" cy="287575"/>
          </a:xfrm>
          <a:custGeom>
            <a:avLst/>
            <a:gdLst/>
            <a:ahLst/>
            <a:cxnLst/>
            <a:rect l="l" t="t" r="r" b="b"/>
            <a:pathLst>
              <a:path w="314963" h="287575">
                <a:moveTo>
                  <a:pt x="157482" y="0"/>
                </a:moveTo>
                <a:lnTo>
                  <a:pt x="314963" y="287575"/>
                </a:lnTo>
                <a:lnTo>
                  <a:pt x="0" y="287575"/>
                </a:lnTo>
                <a:close/>
              </a:path>
            </a:pathLst>
          </a:custGeom>
          <a:noFill/>
          <a:ln w="1905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 name="vis:icon"/>
          <p:cNvCxnSpPr/>
          <p:nvPr/>
        </p:nvCxnSpPr>
        <p:spPr>
          <a:xfrm>
            <a:off x="1106424" y="2299781"/>
            <a:ext cx="0" cy="85588"/>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9" name="vis:icon"/>
          <p:cNvSpPr/>
          <p:nvPr/>
        </p:nvSpPr>
        <p:spPr>
          <a:xfrm>
            <a:off x="1089306" y="2416181"/>
            <a:ext cx="34235" cy="34235"/>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cell:tilelabel"/>
          <p:cNvSpPr txBox="1"/>
          <p:nvPr/>
        </p:nvSpPr>
        <p:spPr>
          <a:xfrm>
            <a:off x="777240" y="2852928"/>
            <a:ext cx="2997098"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A reportable incident</a:t>
            </a:r>
          </a:p>
        </p:txBody>
      </p:sp>
      <p:sp>
        <p:nvSpPr>
          <p:cNvPr id="21" name="cell:tilesub"/>
          <p:cNvSpPr txBox="1"/>
          <p:nvPr/>
        </p:nvSpPr>
        <p:spPr>
          <a:xfrm>
            <a:off x="777240" y="3493008"/>
            <a:ext cx="2997098" cy="91440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Under India's DPDP Act and UAE data protection law, personal data leaving our control is an incident we may be required to report.</a:t>
            </a:r>
          </a:p>
        </p:txBody>
      </p:sp>
      <p:sp>
        <p:nvSpPr>
          <p:cNvPr id="22" name="vis:tile"/>
          <p:cNvSpPr/>
          <p:nvPr/>
        </p:nvSpPr>
        <p:spPr>
          <a:xfrm>
            <a:off x="4322978" y="1719072"/>
            <a:ext cx="3545738" cy="2926080"/>
          </a:xfrm>
          <a:prstGeom prst="roundRect">
            <a:avLst>
              <a:gd name="adj" fmla="val 312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badge"/>
          <p:cNvSpPr/>
          <p:nvPr/>
        </p:nvSpPr>
        <p:spPr>
          <a:xfrm>
            <a:off x="4597298" y="2011679"/>
            <a:ext cx="658368" cy="658368"/>
          </a:xfrm>
          <a:prstGeom prst="roundRect">
            <a:avLst>
              <a:gd name="adj" fmla="val 1388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icon"/>
          <p:cNvSpPr/>
          <p:nvPr/>
        </p:nvSpPr>
        <p:spPr>
          <a:xfrm>
            <a:off x="4861435" y="2193652"/>
            <a:ext cx="130093" cy="130093"/>
          </a:xfrm>
          <a:prstGeom prst="ellipse">
            <a:avLst/>
          </a:prstGeom>
          <a:noFill/>
          <a:ln w="1905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icon"/>
          <p:cNvSpPr/>
          <p:nvPr/>
        </p:nvSpPr>
        <p:spPr>
          <a:xfrm>
            <a:off x="4789541" y="2375099"/>
            <a:ext cx="273881" cy="119823"/>
          </a:xfrm>
          <a:custGeom>
            <a:avLst/>
            <a:gdLst/>
            <a:ahLst/>
            <a:cxnLst/>
            <a:rect l="l" t="t" r="r" b="b"/>
            <a:pathLst>
              <a:path w="273881" h="119823">
                <a:moveTo>
                  <a:pt x="0" y="119823"/>
                </a:moveTo>
                <a:lnTo>
                  <a:pt x="20541" y="0"/>
                </a:lnTo>
                <a:lnTo>
                  <a:pt x="253340" y="0"/>
                </a:lnTo>
                <a:lnTo>
                  <a:pt x="273881" y="119823"/>
                </a:lnTo>
              </a:path>
            </a:pathLst>
          </a:custGeom>
          <a:noFill/>
          <a:ln w="1905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cell:tilelabel"/>
          <p:cNvSpPr txBox="1"/>
          <p:nvPr/>
        </p:nvSpPr>
        <p:spPr>
          <a:xfrm>
            <a:off x="4597298" y="2852928"/>
            <a:ext cx="2997098"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A client relationship</a:t>
            </a:r>
          </a:p>
        </p:txBody>
      </p:sp>
      <p:sp>
        <p:nvSpPr>
          <p:cNvPr id="27" name="cell:tilesub"/>
          <p:cNvSpPr txBox="1"/>
          <p:nvPr/>
        </p:nvSpPr>
        <p:spPr>
          <a:xfrm>
            <a:off x="4597298" y="3493008"/>
            <a:ext cx="2997098" cy="91440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Clients ask how their data is handled. "An employee pasted it into a chatbot" is not an answer that survives a renewal meeting.</a:t>
            </a:r>
          </a:p>
        </p:txBody>
      </p:sp>
      <p:sp>
        <p:nvSpPr>
          <p:cNvPr id="28" name="vis:tile"/>
          <p:cNvSpPr/>
          <p:nvPr/>
        </p:nvSpPr>
        <p:spPr>
          <a:xfrm>
            <a:off x="8143036" y="1719072"/>
            <a:ext cx="3545738" cy="2926080"/>
          </a:xfrm>
          <a:prstGeom prst="roundRect">
            <a:avLst>
              <a:gd name="adj" fmla="val 312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badge"/>
          <p:cNvSpPr/>
          <p:nvPr/>
        </p:nvSpPr>
        <p:spPr>
          <a:xfrm>
            <a:off x="8417356" y="2011679"/>
            <a:ext cx="658368" cy="658368"/>
          </a:xfrm>
          <a:prstGeom prst="roundRect">
            <a:avLst>
              <a:gd name="adj" fmla="val 1388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icon"/>
          <p:cNvSpPr/>
          <p:nvPr/>
        </p:nvSpPr>
        <p:spPr>
          <a:xfrm>
            <a:off x="8589059" y="2217617"/>
            <a:ext cx="314963" cy="246493"/>
          </a:xfrm>
          <a:custGeom>
            <a:avLst/>
            <a:gdLst/>
            <a:ahLst/>
            <a:cxnLst/>
            <a:rect l="l" t="t" r="r" b="b"/>
            <a:pathLst>
              <a:path w="314963" h="246493">
                <a:moveTo>
                  <a:pt x="0" y="123246"/>
                </a:moveTo>
                <a:lnTo>
                  <a:pt x="157481" y="0"/>
                </a:lnTo>
                <a:lnTo>
                  <a:pt x="314963" y="123246"/>
                </a:lnTo>
                <a:lnTo>
                  <a:pt x="157481" y="246493"/>
                </a:lnTo>
                <a:close/>
              </a:path>
            </a:pathLst>
          </a:custGeom>
          <a:noFill/>
          <a:ln w="1905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vis:icon"/>
          <p:cNvSpPr/>
          <p:nvPr/>
        </p:nvSpPr>
        <p:spPr>
          <a:xfrm>
            <a:off x="8698611" y="2292934"/>
            <a:ext cx="95858" cy="95858"/>
          </a:xfrm>
          <a:prstGeom prst="ellipse">
            <a:avLst/>
          </a:prstGeom>
          <a:noFill/>
          <a:ln w="1905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cell:tilelabel"/>
          <p:cNvSpPr txBox="1"/>
          <p:nvPr/>
        </p:nvSpPr>
        <p:spPr>
          <a:xfrm>
            <a:off x="8417356" y="2852928"/>
            <a:ext cx="2997098"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It can resurface</a:t>
            </a:r>
          </a:p>
        </p:txBody>
      </p:sp>
      <p:sp>
        <p:nvSpPr>
          <p:cNvPr id="33" name="cell:tilesub"/>
          <p:cNvSpPr txBox="1"/>
          <p:nvPr/>
        </p:nvSpPr>
        <p:spPr>
          <a:xfrm>
            <a:off x="8417356" y="3493008"/>
            <a:ext cx="2997098" cy="91440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Text used for training can, rarely, appear in another user's answer. You have no way to check whether yours did.</a:t>
            </a:r>
          </a:p>
        </p:txBody>
      </p:sp>
      <p:sp>
        <p:nvSpPr>
          <p:cNvPr id="34" name="cell:glosshint"/>
          <p:cNvSpPr txBox="1"/>
          <p:nvPr/>
        </p:nvSpPr>
        <p:spPr>
          <a:xfrm>
            <a:off x="502920" y="5687568"/>
            <a:ext cx="1609344" cy="23774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What does this mean?</a:t>
            </a:r>
          </a:p>
        </p:txBody>
      </p:sp>
      <p:sp>
        <p:nvSpPr>
          <p:cNvPr id="35" name="vis:chip"/>
          <p:cNvSpPr/>
          <p:nvPr/>
        </p:nvSpPr>
        <p:spPr>
          <a:xfrm>
            <a:off x="2221991" y="5660136"/>
            <a:ext cx="1819132" cy="274320"/>
          </a:xfrm>
          <a:prstGeom prst="roundRect">
            <a:avLst>
              <a:gd name="adj" fmla="val 16666"/>
            </a:avLst>
          </a:prstGeom>
          <a:noFill/>
          <a:ln w="12700">
            <a:solidFill>
              <a:srgbClr val="5B677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chiptext"/>
          <p:cNvSpPr txBox="1"/>
          <p:nvPr/>
        </p:nvSpPr>
        <p:spPr>
          <a:xfrm>
            <a:off x="2377439" y="5687568"/>
            <a:ext cx="1508236"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5B6779"/>
                </a:solidFill>
                <a:latin typeface="Segoe UI Semibold"/>
              </a:rPr>
              <a:t>DATA BREACH  ?</a:t>
            </a:r>
          </a:p>
        </p:txBody>
      </p:sp>
      <p:sp>
        <p:nvSpPr>
          <p:cNvPr id="37" name="nav:gloss">
            <a:hlinkClick action="ppaction://hlinksldjump" r:id="rId3"/>
          </p:cNvPr>
          <p:cNvSpPr/>
          <p:nvPr/>
        </p:nvSpPr>
        <p:spPr>
          <a:xfrm>
            <a:off x="2221991" y="5660136"/>
            <a:ext cx="1819132" cy="274320"/>
          </a:xfrm>
          <a:prstGeom prst="roundRect">
            <a:avLst>
              <a:gd name="adj" fmla="val 2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8" name="vis:chip"/>
          <p:cNvSpPr/>
          <p:nvPr/>
        </p:nvSpPr>
        <p:spPr>
          <a:xfrm>
            <a:off x="4169140" y="5660136"/>
            <a:ext cx="1489914" cy="274320"/>
          </a:xfrm>
          <a:prstGeom prst="roundRect">
            <a:avLst>
              <a:gd name="adj" fmla="val 16666"/>
            </a:avLst>
          </a:prstGeom>
          <a:noFill/>
          <a:ln w="12700">
            <a:solidFill>
              <a:srgbClr val="5B677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9" name="vis:chiptext"/>
          <p:cNvSpPr txBox="1"/>
          <p:nvPr/>
        </p:nvSpPr>
        <p:spPr>
          <a:xfrm>
            <a:off x="4324588" y="5687568"/>
            <a:ext cx="1179018"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5B6779"/>
                </a:solidFill>
                <a:latin typeface="Segoe UI Semibold"/>
              </a:rPr>
              <a:t>DPDP ACT  ?</a:t>
            </a:r>
          </a:p>
        </p:txBody>
      </p:sp>
      <p:sp>
        <p:nvSpPr>
          <p:cNvPr id="40" name="nav:gloss">
            <a:hlinkClick action="ppaction://hlinksldjump" r:id="rId3"/>
          </p:cNvPr>
          <p:cNvSpPr/>
          <p:nvPr/>
        </p:nvSpPr>
        <p:spPr>
          <a:xfrm>
            <a:off x="4169140" y="5660136"/>
            <a:ext cx="1489914" cy="274320"/>
          </a:xfrm>
          <a:prstGeom prst="roundRect">
            <a:avLst>
              <a:gd name="adj" fmla="val 2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WHAT GOES WRONG</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The test that takes two seconds</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SEC-07  ·  What Never to Paste Into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vis:treeq"/>
          <p:cNvSpPr/>
          <p:nvPr/>
        </p:nvSpPr>
        <p:spPr>
          <a:xfrm>
            <a:off x="3746818" y="1810512"/>
            <a:ext cx="4698059" cy="841248"/>
          </a:xfrm>
          <a:prstGeom prst="roundRect">
            <a:avLst>
              <a:gd name="adj" fmla="val 10869"/>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treeqtext"/>
          <p:cNvSpPr txBox="1"/>
          <p:nvPr/>
        </p:nvSpPr>
        <p:spPr>
          <a:xfrm>
            <a:off x="3947986" y="1938528"/>
            <a:ext cx="4295723" cy="585216"/>
          </a:xfrm>
          <a:prstGeom prst="rect">
            <a:avLst/>
          </a:prstGeom>
          <a:noFill/>
        </p:spPr>
        <p:txBody>
          <a:bodyPr wrap="square" lIns="0" rIns="0" tIns="0" bIns="0" anchor="ctr">
            <a:spAutoFit/>
          </a:bodyPr>
          <a:lstStyle/>
          <a:p>
            <a:pPr algn="ctr">
              <a:lnSpc>
                <a:spcPts val="1950"/>
              </a:lnSpc>
              <a:spcBef>
                <a:spcPts val="0"/>
              </a:spcBef>
              <a:spcAft>
                <a:spcPts val="0"/>
              </a:spcAft>
            </a:pPr>
            <a:r>
              <a:rPr sz="1500" b="0">
                <a:solidFill>
                  <a:srgbClr val="FFFFFF"/>
                </a:solidFill>
                <a:latin typeface="Segoe UI Semibold"/>
              </a:rPr>
              <a:t>Could this text identify a person or a customer?</a:t>
            </a:r>
          </a:p>
        </p:txBody>
      </p:sp>
      <p:cxnSp>
        <p:nvCxnSpPr>
          <p:cNvPr id="17" name="vis:line"/>
          <p:cNvCxnSpPr/>
          <p:nvPr/>
        </p:nvCxnSpPr>
        <p:spPr>
          <a:xfrm>
            <a:off x="6095847" y="2651760"/>
            <a:ext cx="0" cy="237743"/>
          </a:xfrm>
          <a:prstGeom prst="line">
            <a:avLst/>
          </a:prstGeom>
          <a:ln w="19050">
            <a:solidFill>
              <a:srgbClr val="C9D1DE"/>
            </a:solidFill>
          </a:ln>
          <a:effectLst/>
        </p:spPr>
        <p:style>
          <a:lnRef idx="2">
            <a:schemeClr val="accent1"/>
          </a:lnRef>
          <a:fillRef idx="0">
            <a:schemeClr val="accent1"/>
          </a:fillRef>
          <a:effectRef idx="1">
            <a:schemeClr val="accent1"/>
          </a:effectRef>
          <a:fontRef idx="minor">
            <a:schemeClr val="tx1"/>
          </a:fontRef>
        </p:style>
      </p:cxnSp>
      <p:cxnSp>
        <p:nvCxnSpPr>
          <p:cNvPr id="18" name="vis:line"/>
          <p:cNvCxnSpPr/>
          <p:nvPr/>
        </p:nvCxnSpPr>
        <p:spPr>
          <a:xfrm>
            <a:off x="2516373" y="2889503"/>
            <a:ext cx="7158948" cy="0"/>
          </a:xfrm>
          <a:prstGeom prst="line">
            <a:avLst/>
          </a:prstGeom>
          <a:ln w="19050">
            <a:solidFill>
              <a:srgbClr val="C9D1DE"/>
            </a:solidFill>
          </a:ln>
          <a:effectLst/>
        </p:spPr>
        <p:style>
          <a:lnRef idx="2">
            <a:schemeClr val="accent1"/>
          </a:lnRef>
          <a:fillRef idx="0">
            <a:schemeClr val="accent1"/>
          </a:fillRef>
          <a:effectRef idx="1">
            <a:schemeClr val="accent1"/>
          </a:effectRef>
          <a:fontRef idx="minor">
            <a:schemeClr val="tx1"/>
          </a:fontRef>
        </p:style>
      </p:cxnSp>
      <p:cxnSp>
        <p:nvCxnSpPr>
          <p:cNvPr id="19" name="vis:line"/>
          <p:cNvCxnSpPr/>
          <p:nvPr/>
        </p:nvCxnSpPr>
        <p:spPr>
          <a:xfrm>
            <a:off x="2516373" y="2889503"/>
            <a:ext cx="0" cy="274321"/>
          </a:xfrm>
          <a:prstGeom prst="line">
            <a:avLst/>
          </a:prstGeom>
          <a:ln w="19050">
            <a:solidFill>
              <a:srgbClr val="C9D1D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vis:chip"/>
          <p:cNvSpPr/>
          <p:nvPr/>
        </p:nvSpPr>
        <p:spPr>
          <a:xfrm>
            <a:off x="2138739" y="3026664"/>
            <a:ext cx="755269" cy="274320"/>
          </a:xfrm>
          <a:prstGeom prst="roundRect">
            <a:avLst>
              <a:gd name="adj" fmla="val 16666"/>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iptext"/>
          <p:cNvSpPr txBox="1"/>
          <p:nvPr/>
        </p:nvSpPr>
        <p:spPr>
          <a:xfrm>
            <a:off x="2294187" y="3054096"/>
            <a:ext cx="44437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NO</a:t>
            </a:r>
          </a:p>
        </p:txBody>
      </p:sp>
      <p:sp>
        <p:nvSpPr>
          <p:cNvPr id="22" name="vis:treebox"/>
          <p:cNvSpPr/>
          <p:nvPr/>
        </p:nvSpPr>
        <p:spPr>
          <a:xfrm>
            <a:off x="279202" y="3493008"/>
            <a:ext cx="4474342" cy="2523744"/>
          </a:xfrm>
          <a:prstGeom prst="roundRect">
            <a:avLst>
              <a:gd name="adj" fmla="val 3623"/>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treebar"/>
          <p:cNvSpPr/>
          <p:nvPr/>
        </p:nvSpPr>
        <p:spPr>
          <a:xfrm>
            <a:off x="279202" y="3493008"/>
            <a:ext cx="4474342" cy="6858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4" name="vis:icon"/>
          <p:cNvCxnSpPr/>
          <p:nvPr/>
        </p:nvCxnSpPr>
        <p:spPr>
          <a:xfrm>
            <a:off x="571079" y="3937040"/>
            <a:ext cx="66568" cy="66568"/>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25" name="vis:icon"/>
          <p:cNvCxnSpPr/>
          <p:nvPr/>
        </p:nvCxnSpPr>
        <p:spPr>
          <a:xfrm flipV="1">
            <a:off x="637647" y="3860231"/>
            <a:ext cx="122896" cy="143377"/>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26" name="vis:treelabel"/>
          <p:cNvSpPr txBox="1"/>
          <p:nvPr/>
        </p:nvSpPr>
        <p:spPr>
          <a:xfrm>
            <a:off x="900994" y="3749039"/>
            <a:ext cx="3614806" cy="365760"/>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Safe to paste</a:t>
            </a:r>
          </a:p>
        </p:txBody>
      </p:sp>
      <p:sp>
        <p:nvSpPr>
          <p:cNvPr id="27" name="vis:treedetail"/>
          <p:cNvSpPr txBox="1"/>
          <p:nvPr/>
        </p:nvSpPr>
        <p:spPr>
          <a:xfrm>
            <a:off x="535234" y="4224528"/>
            <a:ext cx="3962278" cy="159105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Dates, quantities, reasons, general descriptions. Everything it needs to write with, and nothing that could harm anyone if it leaked tomorrow.</a:t>
            </a:r>
          </a:p>
        </p:txBody>
      </p:sp>
      <p:cxnSp>
        <p:nvCxnSpPr>
          <p:cNvPr id="28" name="vis:line"/>
          <p:cNvCxnSpPr/>
          <p:nvPr/>
        </p:nvCxnSpPr>
        <p:spPr>
          <a:xfrm>
            <a:off x="9675321" y="2889503"/>
            <a:ext cx="0" cy="274321"/>
          </a:xfrm>
          <a:prstGeom prst="line">
            <a:avLst/>
          </a:prstGeom>
          <a:ln w="19050">
            <a:solidFill>
              <a:srgbClr val="C9D1D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9" name="vis:chip"/>
          <p:cNvSpPr/>
          <p:nvPr/>
        </p:nvSpPr>
        <p:spPr>
          <a:xfrm>
            <a:off x="9282446" y="3026664"/>
            <a:ext cx="785749" cy="274320"/>
          </a:xfrm>
          <a:prstGeom prst="roundRect">
            <a:avLst>
              <a:gd name="adj" fmla="val 16666"/>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chiptext"/>
          <p:cNvSpPr txBox="1"/>
          <p:nvPr/>
        </p:nvSpPr>
        <p:spPr>
          <a:xfrm>
            <a:off x="9437894" y="3054096"/>
            <a:ext cx="474852"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YES</a:t>
            </a:r>
          </a:p>
        </p:txBody>
      </p:sp>
      <p:sp>
        <p:nvSpPr>
          <p:cNvPr id="31" name="vis:treebox"/>
          <p:cNvSpPr/>
          <p:nvPr/>
        </p:nvSpPr>
        <p:spPr>
          <a:xfrm>
            <a:off x="7438150" y="3493008"/>
            <a:ext cx="4474342" cy="2523744"/>
          </a:xfrm>
          <a:prstGeom prst="roundRect">
            <a:avLst>
              <a:gd name="adj" fmla="val 3623"/>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treebar"/>
          <p:cNvSpPr/>
          <p:nvPr/>
        </p:nvSpPr>
        <p:spPr>
          <a:xfrm>
            <a:off x="7438150" y="3493008"/>
            <a:ext cx="4474342" cy="6858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icon"/>
          <p:cNvSpPr/>
          <p:nvPr/>
        </p:nvSpPr>
        <p:spPr>
          <a:xfrm>
            <a:off x="7709544" y="3819265"/>
            <a:ext cx="225308" cy="225308"/>
          </a:xfrm>
          <a:prstGeom prst="ellipse">
            <a:avLst/>
          </a:prstGeom>
          <a:noFill/>
          <a:ln w="1905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4" name="vis:icon"/>
          <p:cNvCxnSpPr/>
          <p:nvPr/>
        </p:nvCxnSpPr>
        <p:spPr>
          <a:xfrm>
            <a:off x="7742828" y="3852550"/>
            <a:ext cx="158740" cy="158739"/>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35" name="vis:treelabel"/>
          <p:cNvSpPr txBox="1"/>
          <p:nvPr/>
        </p:nvSpPr>
        <p:spPr>
          <a:xfrm>
            <a:off x="8059942" y="3749039"/>
            <a:ext cx="3614806" cy="365760"/>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Do not paste it</a:t>
            </a:r>
          </a:p>
        </p:txBody>
      </p:sp>
      <p:sp>
        <p:nvSpPr>
          <p:cNvPr id="36" name="vis:treedetail"/>
          <p:cNvSpPr txBox="1"/>
          <p:nvPr/>
        </p:nvSpPr>
        <p:spPr>
          <a:xfrm>
            <a:off x="7694182" y="4224528"/>
            <a:ext cx="3962278" cy="159105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Take out the names, numbers and addresses first, or describe the situation in your own words instead. The tool does not need to know who it is to write well.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STRIP IT DOWN</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Turn a file into safe facts</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SEC-07  ·  What Never to Paste Into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vis:outcard"/>
          <p:cNvSpPr/>
          <p:nvPr/>
        </p:nvSpPr>
        <p:spPr>
          <a:xfrm>
            <a:off x="502920" y="1719072"/>
            <a:ext cx="5410047" cy="3291840"/>
          </a:xfrm>
          <a:prstGeom prst="roundRect">
            <a:avLst>
              <a:gd name="adj" fmla="val 27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outspine"/>
          <p:cNvSpPr/>
          <p:nvPr/>
        </p:nvSpPr>
        <p:spPr>
          <a:xfrm>
            <a:off x="502920" y="1719072"/>
            <a:ext cx="68580" cy="329184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chip"/>
          <p:cNvSpPr/>
          <p:nvPr/>
        </p:nvSpPr>
        <p:spPr>
          <a:xfrm>
            <a:off x="758952" y="1920240"/>
            <a:ext cx="2375977" cy="274320"/>
          </a:xfrm>
          <a:prstGeom prst="roundRect">
            <a:avLst>
              <a:gd name="adj" fmla="val 16666"/>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chiptext"/>
          <p:cNvSpPr txBox="1"/>
          <p:nvPr/>
        </p:nvSpPr>
        <p:spPr>
          <a:xfrm>
            <a:off x="914400" y="1947672"/>
            <a:ext cx="2065081"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WHAT FARHAN PASTED</a:t>
            </a:r>
          </a:p>
        </p:txBody>
      </p:sp>
      <p:sp>
        <p:nvSpPr>
          <p:cNvPr id="19" name="vis:outbody"/>
          <p:cNvSpPr txBox="1"/>
          <p:nvPr/>
        </p:nvSpPr>
        <p:spPr>
          <a:xfrm>
            <a:off x="758952" y="2359152"/>
            <a:ext cx="4897983" cy="2432304"/>
          </a:xfrm>
          <a:prstGeom prst="rect">
            <a:avLst/>
          </a:prstGeom>
          <a:noFill/>
        </p:spPr>
        <p:txBody>
          <a:bodyPr wrap="square" lIns="0" rIns="0" tIns="0" bIns="0" anchor="t">
            <a:spAutoFit/>
          </a:bodyPr>
          <a:lstStyle/>
          <a:p>
            <a:pPr algn="l">
              <a:lnSpc>
                <a:spcPts val="1690"/>
              </a:lnSpc>
              <a:spcBef>
                <a:spcPts val="0"/>
              </a:spcBef>
              <a:spcAft>
                <a:spcPts val="600"/>
              </a:spcAft>
            </a:pPr>
            <a:r>
              <a:rPr sz="1300" b="0">
                <a:solidFill>
                  <a:srgbClr val="2A3547"/>
                </a:solidFill>
                <a:latin typeface="Segoe UI"/>
              </a:rPr>
              <a:t>The full ageing report: 340 rows with names, phone numbers, credit limits and outstanding amounts.</a:t>
            </a:r>
          </a:p>
          <a:p>
            <a:pPr algn="l">
              <a:lnSpc>
                <a:spcPts val="1690"/>
              </a:lnSpc>
              <a:spcBef>
                <a:spcPts val="0"/>
              </a:spcBef>
              <a:spcAft>
                <a:spcPts val="600"/>
              </a:spcAft>
            </a:pPr>
            <a:r>
              <a:rPr sz="1300" b="0">
                <a:solidFill>
                  <a:srgbClr val="2A3547"/>
                </a:solidFill>
                <a:latin typeface="Segoe UI"/>
              </a:rPr>
              <a:t>Plus the covering note naming the two largest defaulters.</a:t>
            </a:r>
          </a:p>
          <a:p>
            <a:pPr algn="l">
              <a:lnSpc>
                <a:spcPts val="1690"/>
              </a:lnSpc>
              <a:spcBef>
                <a:spcPts val="0"/>
              </a:spcBef>
              <a:spcAft>
                <a:spcPts val="600"/>
              </a:spcAft>
            </a:pPr>
            <a:r>
              <a:rPr sz="1300" b="0">
                <a:solidFill>
                  <a:srgbClr val="2A3547"/>
                </a:solidFill>
                <a:latin typeface="Segoe UI"/>
              </a:rPr>
              <a:t>Every one of those names is now outside the company, permanently.</a:t>
            </a:r>
          </a:p>
        </p:txBody>
      </p:sp>
      <p:sp>
        <p:nvSpPr>
          <p:cNvPr id="20" name="vis:outcard"/>
          <p:cNvSpPr/>
          <p:nvPr/>
        </p:nvSpPr>
        <p:spPr>
          <a:xfrm>
            <a:off x="6278727" y="1719072"/>
            <a:ext cx="5410047" cy="3291840"/>
          </a:xfrm>
          <a:prstGeom prst="roundRect">
            <a:avLst>
              <a:gd name="adj" fmla="val 27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outspine"/>
          <p:cNvSpPr/>
          <p:nvPr/>
        </p:nvSpPr>
        <p:spPr>
          <a:xfrm>
            <a:off x="6278727" y="1719072"/>
            <a:ext cx="68580" cy="329184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chip"/>
          <p:cNvSpPr/>
          <p:nvPr/>
        </p:nvSpPr>
        <p:spPr>
          <a:xfrm>
            <a:off x="6534759" y="1920240"/>
            <a:ext cx="3018160" cy="274320"/>
          </a:xfrm>
          <a:prstGeom prst="roundRect">
            <a:avLst>
              <a:gd name="adj" fmla="val 16666"/>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chiptext"/>
          <p:cNvSpPr txBox="1"/>
          <p:nvPr/>
        </p:nvSpPr>
        <p:spPr>
          <a:xfrm>
            <a:off x="6690207" y="1947672"/>
            <a:ext cx="2707264"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WHAT HE SHOULD HAVE TYPED</a:t>
            </a:r>
          </a:p>
        </p:txBody>
      </p:sp>
      <p:sp>
        <p:nvSpPr>
          <p:cNvPr id="24" name="vis:outbody"/>
          <p:cNvSpPr txBox="1"/>
          <p:nvPr/>
        </p:nvSpPr>
        <p:spPr>
          <a:xfrm>
            <a:off x="6534759" y="2359152"/>
            <a:ext cx="4897983" cy="2432304"/>
          </a:xfrm>
          <a:prstGeom prst="rect">
            <a:avLst/>
          </a:prstGeom>
          <a:noFill/>
        </p:spPr>
        <p:txBody>
          <a:bodyPr wrap="square" lIns="0" rIns="0" tIns="0" bIns="0" anchor="t">
            <a:spAutoFit/>
          </a:bodyPr>
          <a:lstStyle/>
          <a:p>
            <a:pPr algn="l">
              <a:lnSpc>
                <a:spcPts val="1690"/>
              </a:lnSpc>
              <a:spcBef>
                <a:spcPts val="0"/>
              </a:spcBef>
              <a:spcAft>
                <a:spcPts val="600"/>
              </a:spcAft>
            </a:pPr>
            <a:r>
              <a:rPr sz="1300" b="0">
                <a:solidFill>
                  <a:srgbClr val="2A3547"/>
                </a:solidFill>
                <a:latin typeface="Segoe UI"/>
              </a:rPr>
              <a:t>"Write a firm payment-reminder letter for an invoice 45 days overdue."</a:t>
            </a:r>
          </a:p>
          <a:p>
            <a:pPr algn="l">
              <a:lnSpc>
                <a:spcPts val="1690"/>
              </a:lnSpc>
              <a:spcBef>
                <a:spcPts val="0"/>
              </a:spcBef>
              <a:spcAft>
                <a:spcPts val="600"/>
              </a:spcAft>
            </a:pPr>
            <a:r>
              <a:rPr sz="1300" b="0">
                <a:solidFill>
                  <a:srgbClr val="2A3547"/>
                </a:solidFill>
                <a:latin typeface="Segoe UI"/>
              </a:rPr>
              <a:t>"Second reminder. Long-standing client, we want to keep the relationship."</a:t>
            </a:r>
          </a:p>
          <a:p>
            <a:pPr algn="l">
              <a:lnSpc>
                <a:spcPts val="1690"/>
              </a:lnSpc>
              <a:spcBef>
                <a:spcPts val="0"/>
              </a:spcBef>
              <a:spcAft>
                <a:spcPts val="600"/>
              </a:spcAft>
            </a:pPr>
            <a:r>
              <a:rPr sz="1300" b="0">
                <a:solidFill>
                  <a:srgbClr val="2A3547"/>
                </a:solidFill>
                <a:latin typeface="Segoe UI"/>
              </a:rPr>
              <a:t>Nothing identifying anyone — and the letter that comes back is just as good.</a:t>
            </a:r>
          </a:p>
        </p:txBody>
      </p:sp>
      <p:sp>
        <p:nvSpPr>
          <p:cNvPr id="25" name="cell:banote"/>
          <p:cNvSpPr txBox="1"/>
          <p:nvPr/>
        </p:nvSpPr>
        <p:spPr>
          <a:xfrm>
            <a:off x="502920" y="5193792"/>
            <a:ext cx="11185855" cy="34747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The tool never needed the names. It only ever needed the situation.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STRIP IT DOWN</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Do this now: strip a real request</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SEC-07  ·  What Never to Paste Into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vis:stepnum"/>
          <p:cNvSpPr/>
          <p:nvPr/>
        </p:nvSpPr>
        <p:spPr>
          <a:xfrm>
            <a:off x="502920" y="2027681"/>
            <a:ext cx="347472" cy="34747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stepnumtext"/>
          <p:cNvSpPr txBox="1"/>
          <p:nvPr/>
        </p:nvSpPr>
        <p:spPr>
          <a:xfrm>
            <a:off x="502920" y="2105406"/>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1</a:t>
            </a:r>
          </a:p>
        </p:txBody>
      </p:sp>
      <p:cxnSp>
        <p:nvCxnSpPr>
          <p:cNvPr id="17" name="vis:line"/>
          <p:cNvCxnSpPr/>
          <p:nvPr/>
        </p:nvCxnSpPr>
        <p:spPr>
          <a:xfrm>
            <a:off x="676656" y="2375154"/>
            <a:ext cx="0" cy="76352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18" name="cell:step"/>
          <p:cNvSpPr txBox="1"/>
          <p:nvPr/>
        </p:nvSpPr>
        <p:spPr>
          <a:xfrm>
            <a:off x="1051560" y="1719072"/>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Open something you were genuinely about to paste this week.</a:t>
            </a:r>
          </a:p>
        </p:txBody>
      </p:sp>
      <p:sp>
        <p:nvSpPr>
          <p:cNvPr id="19" name="vis:stepnum"/>
          <p:cNvSpPr/>
          <p:nvPr/>
        </p:nvSpPr>
        <p:spPr>
          <a:xfrm>
            <a:off x="502920" y="3138677"/>
            <a:ext cx="347472" cy="34747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stepnumtext"/>
          <p:cNvSpPr txBox="1"/>
          <p:nvPr/>
        </p:nvSpPr>
        <p:spPr>
          <a:xfrm>
            <a:off x="502920" y="3216401"/>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2</a:t>
            </a:r>
          </a:p>
        </p:txBody>
      </p:sp>
      <p:cxnSp>
        <p:nvCxnSpPr>
          <p:cNvPr id="21" name="vis:line"/>
          <p:cNvCxnSpPr/>
          <p:nvPr/>
        </p:nvCxnSpPr>
        <p:spPr>
          <a:xfrm>
            <a:off x="676656" y="3486150"/>
            <a:ext cx="0" cy="76352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2" name="cell:step"/>
          <p:cNvSpPr txBox="1"/>
          <p:nvPr/>
        </p:nvSpPr>
        <p:spPr>
          <a:xfrm>
            <a:off x="1051560" y="2830068"/>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Delete every name, phone number, address and ID number.</a:t>
            </a:r>
          </a:p>
        </p:txBody>
      </p:sp>
      <p:sp>
        <p:nvSpPr>
          <p:cNvPr id="23" name="vis:stepnum"/>
          <p:cNvSpPr/>
          <p:nvPr/>
        </p:nvSpPr>
        <p:spPr>
          <a:xfrm>
            <a:off x="502920" y="4249674"/>
            <a:ext cx="347472" cy="34747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stepnumtext"/>
          <p:cNvSpPr txBox="1"/>
          <p:nvPr/>
        </p:nvSpPr>
        <p:spPr>
          <a:xfrm>
            <a:off x="502920" y="4327398"/>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3</a:t>
            </a:r>
          </a:p>
        </p:txBody>
      </p:sp>
      <p:cxnSp>
        <p:nvCxnSpPr>
          <p:cNvPr id="25" name="vis:line"/>
          <p:cNvCxnSpPr/>
          <p:nvPr/>
        </p:nvCxnSpPr>
        <p:spPr>
          <a:xfrm>
            <a:off x="676656" y="4597146"/>
            <a:ext cx="0" cy="76352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6" name="cell:step"/>
          <p:cNvSpPr txBox="1"/>
          <p:nvPr/>
        </p:nvSpPr>
        <p:spPr>
          <a:xfrm>
            <a:off x="1051560" y="3941064"/>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Replace exact amounts with a range, and exact dates with "45 days overdue".</a:t>
            </a:r>
          </a:p>
        </p:txBody>
      </p:sp>
      <p:sp>
        <p:nvSpPr>
          <p:cNvPr id="27" name="vis:stepnum"/>
          <p:cNvSpPr/>
          <p:nvPr/>
        </p:nvSpPr>
        <p:spPr>
          <a:xfrm>
            <a:off x="502920" y="5360670"/>
            <a:ext cx="347472" cy="34747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stepnumtext"/>
          <p:cNvSpPr txBox="1"/>
          <p:nvPr/>
        </p:nvSpPr>
        <p:spPr>
          <a:xfrm>
            <a:off x="502920" y="5438394"/>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4</a:t>
            </a:r>
          </a:p>
        </p:txBody>
      </p:sp>
      <p:sp>
        <p:nvSpPr>
          <p:cNvPr id="29" name="cell:step"/>
          <p:cNvSpPr txBox="1"/>
          <p:nvPr/>
        </p:nvSpPr>
        <p:spPr>
          <a:xfrm>
            <a:off x="1051560" y="5052060"/>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Paste what is left. Add the real details yourself afterwards, in Outlook.</a:t>
            </a:r>
          </a:p>
        </p:txBody>
      </p:sp>
      <p:sp>
        <p:nvSpPr>
          <p:cNvPr id="30" name="vis:promptcard"/>
          <p:cNvSpPr/>
          <p:nvPr/>
        </p:nvSpPr>
        <p:spPr>
          <a:xfrm>
            <a:off x="6461607" y="1719072"/>
            <a:ext cx="5227167" cy="2807208"/>
          </a:xfrm>
          <a:prstGeom prst="roundRect">
            <a:avLst>
              <a:gd name="adj" fmla="val 3257"/>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promptbar"/>
          <p:cNvSpPr/>
          <p:nvPr/>
        </p:nvSpPr>
        <p:spPr>
          <a:xfrm>
            <a:off x="6461607" y="1719072"/>
            <a:ext cx="5227167" cy="402336"/>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icon"/>
          <p:cNvSpPr/>
          <p:nvPr/>
        </p:nvSpPr>
        <p:spPr>
          <a:xfrm>
            <a:off x="6698620" y="1841235"/>
            <a:ext cx="184343" cy="122895"/>
          </a:xfrm>
          <a:prstGeom prst="roundRect">
            <a:avLst>
              <a:gd name="adj" fmla="val 37202"/>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3" name="vis:icon"/>
          <p:cNvCxnSpPr/>
          <p:nvPr/>
        </p:nvCxnSpPr>
        <p:spPr>
          <a:xfrm flipH="1">
            <a:off x="6733733" y="1964131"/>
            <a:ext cx="8778"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4" name="vis:icon"/>
          <p:cNvCxnSpPr/>
          <p:nvPr/>
        </p:nvCxnSpPr>
        <p:spPr>
          <a:xfrm flipV="1">
            <a:off x="6733733" y="1964131"/>
            <a:ext cx="48280"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5" name="vis:copybtn"/>
          <p:cNvSpPr/>
          <p:nvPr/>
        </p:nvSpPr>
        <p:spPr>
          <a:xfrm>
            <a:off x="9828606" y="1792224"/>
            <a:ext cx="1677289" cy="256032"/>
          </a:xfrm>
          <a:prstGeom prst="roundRect">
            <a:avLst>
              <a:gd name="adj" fmla="val 1785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icon"/>
          <p:cNvSpPr/>
          <p:nvPr/>
        </p:nvSpPr>
        <p:spPr>
          <a:xfrm>
            <a:off x="10012217" y="1858060"/>
            <a:ext cx="80832" cy="130576"/>
          </a:xfrm>
          <a:prstGeom prst="roundRect">
            <a:avLst>
              <a:gd name="adj" fmla="val 50000"/>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7" name="vis:icon"/>
          <p:cNvCxnSpPr/>
          <p:nvPr/>
        </p:nvCxnSpPr>
        <p:spPr>
          <a:xfrm>
            <a:off x="10030871" y="189536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8" name="vis:icon"/>
          <p:cNvCxnSpPr/>
          <p:nvPr/>
        </p:nvCxnSpPr>
        <p:spPr>
          <a:xfrm>
            <a:off x="10030871" y="192334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9" name="vis:icon"/>
          <p:cNvCxnSpPr/>
          <p:nvPr/>
        </p:nvCxnSpPr>
        <p:spPr>
          <a:xfrm>
            <a:off x="10030871" y="1951329"/>
            <a:ext cx="31090"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40" name="vis:copytext"/>
          <p:cNvSpPr txBox="1"/>
          <p:nvPr/>
        </p:nvSpPr>
        <p:spPr>
          <a:xfrm>
            <a:off x="10240086" y="1851660"/>
            <a:ext cx="1064641"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Select + copy</a:t>
            </a:r>
          </a:p>
        </p:txBody>
      </p:sp>
      <p:sp>
        <p:nvSpPr>
          <p:cNvPr id="41" name="vis:prompthdr"/>
          <p:cNvSpPr txBox="1"/>
          <p:nvPr/>
        </p:nvSpPr>
        <p:spPr>
          <a:xfrm>
            <a:off x="7010247" y="1828800"/>
            <a:ext cx="2708630" cy="201168"/>
          </a:xfrm>
          <a:prstGeom prst="rect">
            <a:avLst/>
          </a:prstGeom>
          <a:noFill/>
        </p:spPr>
        <p:txBody>
          <a:bodyPr wrap="square" lIns="0" rIns="0" tIns="0" bIns="0" anchor="t">
            <a:spAutoFit/>
          </a:bodyPr>
          <a:lstStyle/>
          <a:p>
            <a:pPr algn="l">
              <a:lnSpc>
                <a:spcPts val="1560"/>
              </a:lnSpc>
              <a:spcBef>
                <a:spcPts val="0"/>
              </a:spcBef>
              <a:spcAft>
                <a:spcPts val="0"/>
              </a:spcAft>
            </a:pPr>
            <a:r>
              <a:rPr sz="1200" b="0" spc="60">
                <a:solidFill>
                  <a:srgbClr val="FFFFFF"/>
                </a:solidFill>
                <a:latin typeface="Segoe UI Semibold"/>
              </a:rPr>
              <a:t>Copy this prompt</a:t>
            </a:r>
          </a:p>
        </p:txBody>
      </p:sp>
      <p:sp>
        <p:nvSpPr>
          <p:cNvPr id="42" name="card:prompt"/>
          <p:cNvSpPr txBox="1"/>
          <p:nvPr/>
        </p:nvSpPr>
        <p:spPr>
          <a:xfrm>
            <a:off x="6735927" y="2267712"/>
            <a:ext cx="4678527" cy="1386840"/>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Consolas"/>
              </a:rPr>
              <a:t>Write a firm but polite payment reminder for an invoice that is 45 days overdue. This is the second reminder. The client is long-standing and we want to keep the relationship. Under 130 words. Include one clear sentence asking them to confirm a payment date.</a:t>
            </a:r>
          </a:p>
        </p:txBody>
      </p:sp>
      <p:sp>
        <p:nvSpPr>
          <p:cNvPr id="43" name="vis:promptcap"/>
          <p:cNvSpPr txBox="1"/>
          <p:nvPr/>
        </p:nvSpPr>
        <p:spPr>
          <a:xfrm>
            <a:off x="6735927" y="3855719"/>
            <a:ext cx="4678527" cy="45110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C9D1DE"/>
                </a:solidFill>
                <a:latin typeface="Segoe UI"/>
              </a:rPr>
              <a:t>No name, no invoice number, no amount. It still writes the whole letter.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STRIP IT DOWN</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Say it in your own words instead</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SEC-07  ·  What Never to Paste Into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body:lead"/>
          <p:cNvSpPr txBox="1"/>
          <p:nvPr/>
        </p:nvSpPr>
        <p:spPr>
          <a:xfrm>
            <a:off x="502920" y="1719072"/>
            <a:ext cx="8343671" cy="548640"/>
          </a:xfrm>
          <a:prstGeom prst="rect">
            <a:avLst/>
          </a:prstGeom>
          <a:noFill/>
        </p:spPr>
        <p:txBody>
          <a:bodyPr wrap="square" lIns="0" rIns="0" tIns="0" bIns="0" anchor="t">
            <a:spAutoFit/>
          </a:bodyPr>
          <a:lstStyle/>
          <a:p>
            <a:pPr algn="l">
              <a:lnSpc>
                <a:spcPts val="2340"/>
              </a:lnSpc>
              <a:spcBef>
                <a:spcPts val="0"/>
              </a:spcBef>
              <a:spcAft>
                <a:spcPts val="0"/>
              </a:spcAft>
            </a:pPr>
            <a:r>
              <a:rPr sz="1800" b="0">
                <a:solidFill>
                  <a:srgbClr val="2A3547"/>
                </a:solidFill>
                <a:latin typeface="Segoe UI"/>
              </a:rPr>
              <a:t>Describing a situation takes about fifteen seconds and removes the risk entirely.</a:t>
            </a:r>
          </a:p>
        </p:txBody>
      </p:sp>
      <p:sp>
        <p:nvSpPr>
          <p:cNvPr id="16" name="vis:promptcard"/>
          <p:cNvSpPr/>
          <p:nvPr/>
        </p:nvSpPr>
        <p:spPr>
          <a:xfrm>
            <a:off x="502920" y="2432304"/>
            <a:ext cx="5816644" cy="2377947"/>
          </a:xfrm>
          <a:prstGeom prst="roundRect">
            <a:avLst>
              <a:gd name="adj" fmla="val 384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promptbar"/>
          <p:cNvSpPr/>
          <p:nvPr/>
        </p:nvSpPr>
        <p:spPr>
          <a:xfrm>
            <a:off x="502920" y="2432304"/>
            <a:ext cx="5816644" cy="402336"/>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icon"/>
          <p:cNvSpPr/>
          <p:nvPr/>
        </p:nvSpPr>
        <p:spPr>
          <a:xfrm>
            <a:off x="739932" y="2554467"/>
            <a:ext cx="184343" cy="122895"/>
          </a:xfrm>
          <a:prstGeom prst="roundRect">
            <a:avLst>
              <a:gd name="adj" fmla="val 37202"/>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flipH="1">
            <a:off x="775045" y="2677363"/>
            <a:ext cx="8778"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0" name="vis:icon"/>
          <p:cNvCxnSpPr/>
          <p:nvPr/>
        </p:nvCxnSpPr>
        <p:spPr>
          <a:xfrm flipV="1">
            <a:off x="775045" y="2677363"/>
            <a:ext cx="48280"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1" name="vis:copybtn"/>
          <p:cNvSpPr/>
          <p:nvPr/>
        </p:nvSpPr>
        <p:spPr>
          <a:xfrm>
            <a:off x="4459395" y="2505456"/>
            <a:ext cx="1677289" cy="256032"/>
          </a:xfrm>
          <a:prstGeom prst="roundRect">
            <a:avLst>
              <a:gd name="adj" fmla="val 1785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icon"/>
          <p:cNvSpPr/>
          <p:nvPr/>
        </p:nvSpPr>
        <p:spPr>
          <a:xfrm>
            <a:off x="4643007" y="2571292"/>
            <a:ext cx="80832" cy="130576"/>
          </a:xfrm>
          <a:prstGeom prst="roundRect">
            <a:avLst>
              <a:gd name="adj" fmla="val 50000"/>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3" name="vis:icon"/>
          <p:cNvCxnSpPr/>
          <p:nvPr/>
        </p:nvCxnSpPr>
        <p:spPr>
          <a:xfrm>
            <a:off x="4661660" y="2608600"/>
            <a:ext cx="43526"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4" name="vis:icon"/>
          <p:cNvCxnSpPr/>
          <p:nvPr/>
        </p:nvCxnSpPr>
        <p:spPr>
          <a:xfrm>
            <a:off x="4661660" y="2636580"/>
            <a:ext cx="43526"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5" name="vis:icon"/>
          <p:cNvCxnSpPr/>
          <p:nvPr/>
        </p:nvCxnSpPr>
        <p:spPr>
          <a:xfrm>
            <a:off x="4661660" y="2664561"/>
            <a:ext cx="31090"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6" name="vis:copytext"/>
          <p:cNvSpPr txBox="1"/>
          <p:nvPr/>
        </p:nvSpPr>
        <p:spPr>
          <a:xfrm>
            <a:off x="4870875" y="2564892"/>
            <a:ext cx="1064641"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Select + copy</a:t>
            </a:r>
          </a:p>
        </p:txBody>
      </p:sp>
      <p:sp>
        <p:nvSpPr>
          <p:cNvPr id="27" name="vis:prompthdr"/>
          <p:cNvSpPr txBox="1"/>
          <p:nvPr/>
        </p:nvSpPr>
        <p:spPr>
          <a:xfrm>
            <a:off x="1051560" y="2542032"/>
            <a:ext cx="3298107" cy="201168"/>
          </a:xfrm>
          <a:prstGeom prst="rect">
            <a:avLst/>
          </a:prstGeom>
          <a:noFill/>
        </p:spPr>
        <p:txBody>
          <a:bodyPr wrap="square" lIns="0" rIns="0" tIns="0" bIns="0" anchor="t">
            <a:spAutoFit/>
          </a:bodyPr>
          <a:lstStyle/>
          <a:p>
            <a:pPr algn="l">
              <a:lnSpc>
                <a:spcPts val="1560"/>
              </a:lnSpc>
              <a:spcBef>
                <a:spcPts val="0"/>
              </a:spcBef>
              <a:spcAft>
                <a:spcPts val="0"/>
              </a:spcAft>
            </a:pPr>
            <a:r>
              <a:rPr sz="1200" b="0" spc="60">
                <a:solidFill>
                  <a:srgbClr val="FFFFFF"/>
                </a:solidFill>
                <a:latin typeface="Segoe UI Semibold"/>
              </a:rPr>
              <a:t>Copy this prompt</a:t>
            </a:r>
          </a:p>
        </p:txBody>
      </p:sp>
      <p:sp>
        <p:nvSpPr>
          <p:cNvPr id="28" name="card:prompt"/>
          <p:cNvSpPr txBox="1"/>
          <p:nvPr/>
        </p:nvSpPr>
        <p:spPr>
          <a:xfrm>
            <a:off x="777240" y="2980944"/>
            <a:ext cx="5268004" cy="1155699"/>
          </a:xfrm>
          <a:prstGeom prst="rect">
            <a:avLst/>
          </a:prstGeom>
          <a:noFill/>
        </p:spPr>
        <p:txBody>
          <a:bodyPr wrap="square" lIns="0" rIns="0" tIns="0" bIns="0" anchor="t">
            <a:spAutoFit/>
          </a:bodyPr>
          <a:lstStyle/>
          <a:p>
            <a:pPr algn="l">
              <a:lnSpc>
                <a:spcPts val="1755"/>
              </a:lnSpc>
              <a:spcBef>
                <a:spcPts val="0"/>
              </a:spcBef>
              <a:spcAft>
                <a:spcPts val="0"/>
              </a:spcAft>
            </a:pPr>
            <a:r>
              <a:rPr sz="1350" b="0">
                <a:solidFill>
                  <a:srgbClr val="FFFFFF"/>
                </a:solidFill>
                <a:latin typeface="Consolas"/>
              </a:rPr>
              <a:t>I need to reply to a customer complaint. A delivery arrived three days late and two cartons were damaged. We accept the delay. We want to offer a replacement for the damaged cartons but not a discount. Draft a 120-word reply, apologetic but not grovelling.</a:t>
            </a:r>
          </a:p>
        </p:txBody>
      </p:sp>
      <p:sp>
        <p:nvSpPr>
          <p:cNvPr id="29" name="vis:promptcap"/>
          <p:cNvSpPr txBox="1"/>
          <p:nvPr/>
        </p:nvSpPr>
        <p:spPr>
          <a:xfrm>
            <a:off x="777240" y="4337812"/>
            <a:ext cx="5268004" cy="25298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C9D1DE"/>
                </a:solidFill>
                <a:latin typeface="Segoe UI"/>
              </a:rPr>
              <a:t>Everything the tool needs. Nothing it should not have.</a:t>
            </a:r>
          </a:p>
        </p:txBody>
      </p:sp>
      <p:sp>
        <p:nvSpPr>
          <p:cNvPr id="30" name="vis:outcard"/>
          <p:cNvSpPr/>
          <p:nvPr/>
        </p:nvSpPr>
        <p:spPr>
          <a:xfrm>
            <a:off x="6685324" y="2432304"/>
            <a:ext cx="5003450" cy="2377947"/>
          </a:xfrm>
          <a:prstGeom prst="roundRect">
            <a:avLst>
              <a:gd name="adj" fmla="val 38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outspine"/>
          <p:cNvSpPr/>
          <p:nvPr/>
        </p:nvSpPr>
        <p:spPr>
          <a:xfrm>
            <a:off x="6685324" y="2432304"/>
            <a:ext cx="68580" cy="2377947"/>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chip"/>
          <p:cNvSpPr/>
          <p:nvPr/>
        </p:nvSpPr>
        <p:spPr>
          <a:xfrm>
            <a:off x="6941356" y="2633472"/>
            <a:ext cx="2087885" cy="274320"/>
          </a:xfrm>
          <a:prstGeom prst="roundRect">
            <a:avLst>
              <a:gd name="adj" fmla="val 16666"/>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chiptext"/>
          <p:cNvSpPr txBox="1"/>
          <p:nvPr/>
        </p:nvSpPr>
        <p:spPr>
          <a:xfrm>
            <a:off x="7096804" y="2660904"/>
            <a:ext cx="1776989"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WHAT COMES BACK</a:t>
            </a:r>
          </a:p>
        </p:txBody>
      </p:sp>
      <p:sp>
        <p:nvSpPr>
          <p:cNvPr id="34" name="vis:outbody"/>
          <p:cNvSpPr txBox="1"/>
          <p:nvPr/>
        </p:nvSpPr>
        <p:spPr>
          <a:xfrm>
            <a:off x="6941356" y="3072384"/>
            <a:ext cx="4491386" cy="1518411"/>
          </a:xfrm>
          <a:prstGeom prst="rect">
            <a:avLst/>
          </a:prstGeom>
          <a:noFill/>
        </p:spPr>
        <p:txBody>
          <a:bodyPr wrap="square" lIns="0" rIns="0" tIns="0" bIns="0" anchor="t">
            <a:spAutoFit/>
          </a:bodyPr>
          <a:lstStyle/>
          <a:p>
            <a:pPr algn="l">
              <a:lnSpc>
                <a:spcPts val="1690"/>
              </a:lnSpc>
              <a:spcBef>
                <a:spcPts val="0"/>
              </a:spcBef>
              <a:spcAft>
                <a:spcPts val="600"/>
              </a:spcAft>
            </a:pPr>
            <a:r>
              <a:rPr sz="1300" b="0">
                <a:solidFill>
                  <a:srgbClr val="2A3547"/>
                </a:solidFill>
                <a:latin typeface="Segoe UI"/>
              </a:rPr>
              <a:t>A complete reply covering the delay, the damage and the replacement offer.</a:t>
            </a:r>
          </a:p>
          <a:p>
            <a:pPr algn="l">
              <a:lnSpc>
                <a:spcPts val="1690"/>
              </a:lnSpc>
              <a:spcBef>
                <a:spcPts val="0"/>
              </a:spcBef>
              <a:spcAft>
                <a:spcPts val="600"/>
              </a:spcAft>
            </a:pPr>
            <a:r>
              <a:rPr sz="1300" b="0">
                <a:solidFill>
                  <a:srgbClr val="2A3547"/>
                </a:solidFill>
                <a:latin typeface="Segoe UI"/>
              </a:rPr>
              <a:t>No customer name, no invoice number and no address went in — because none of it was needed.</a:t>
            </a:r>
          </a:p>
          <a:p>
            <a:pPr algn="l">
              <a:lnSpc>
                <a:spcPts val="1690"/>
              </a:lnSpc>
              <a:spcBef>
                <a:spcPts val="0"/>
              </a:spcBef>
              <a:spcAft>
                <a:spcPts val="600"/>
              </a:spcAft>
            </a:pPr>
            <a:r>
              <a:rPr sz="1300" b="0">
                <a:solidFill>
                  <a:srgbClr val="2A3547"/>
                </a:solidFill>
                <a:latin typeface="Segoe UI"/>
              </a:rPr>
              <a:t>You add the name yourself, in Outlook, where it belongs.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APPROVED OR PERSONAL?</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Approved account or personal?</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SEC-07  ·  What Never to Paste Into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vis:panel"/>
          <p:cNvSpPr/>
          <p:nvPr/>
        </p:nvSpPr>
        <p:spPr>
          <a:xfrm>
            <a:off x="502920" y="1719072"/>
            <a:ext cx="5437479" cy="3822192"/>
          </a:xfrm>
          <a:prstGeom prst="roundRect">
            <a:avLst>
              <a:gd name="adj" fmla="val 2392"/>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panelspine"/>
          <p:cNvSpPr/>
          <p:nvPr/>
        </p:nvSpPr>
        <p:spPr>
          <a:xfrm>
            <a:off x="502920" y="1719072"/>
            <a:ext cx="68580" cy="382219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chip"/>
          <p:cNvSpPr/>
          <p:nvPr/>
        </p:nvSpPr>
        <p:spPr>
          <a:xfrm>
            <a:off x="777240" y="1956815"/>
            <a:ext cx="2191490" cy="274320"/>
          </a:xfrm>
          <a:prstGeom prst="roundRect">
            <a:avLst>
              <a:gd name="adj" fmla="val 16666"/>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chiptext"/>
          <p:cNvSpPr txBox="1"/>
          <p:nvPr/>
        </p:nvSpPr>
        <p:spPr>
          <a:xfrm>
            <a:off x="932688" y="1984247"/>
            <a:ext cx="1880594"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PERSONAL ACCOUNT</a:t>
            </a:r>
          </a:p>
        </p:txBody>
      </p:sp>
      <p:sp>
        <p:nvSpPr>
          <p:cNvPr id="19" name="vis:paneltitle"/>
          <p:cNvSpPr txBox="1"/>
          <p:nvPr/>
        </p:nvSpPr>
        <p:spPr>
          <a:xfrm>
            <a:off x="777240" y="2377439"/>
            <a:ext cx="4888839"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Your own login on a free AI site</a:t>
            </a:r>
          </a:p>
        </p:txBody>
      </p:sp>
      <p:cxnSp>
        <p:nvCxnSpPr>
          <p:cNvPr id="20" name="vis:icon"/>
          <p:cNvCxnSpPr/>
          <p:nvPr/>
        </p:nvCxnSpPr>
        <p:spPr>
          <a:xfrm>
            <a:off x="819302" y="3091586"/>
            <a:ext cx="117043"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cxnSp>
        <p:nvCxnSpPr>
          <p:cNvPr id="21" name="vis:icon"/>
          <p:cNvCxnSpPr/>
          <p:nvPr/>
        </p:nvCxnSpPr>
        <p:spPr>
          <a:xfrm flipH="1">
            <a:off x="819302" y="3091586"/>
            <a:ext cx="117043"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22" name="vis:panelitem"/>
          <p:cNvSpPr txBox="1"/>
          <p:nvPr/>
        </p:nvSpPr>
        <p:spPr>
          <a:xfrm>
            <a:off x="1078992" y="3017520"/>
            <a:ext cx="4587087" cy="521208"/>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Chats are usually kept, and may be used to improve the service</a:t>
            </a:r>
          </a:p>
        </p:txBody>
      </p:sp>
      <p:cxnSp>
        <p:nvCxnSpPr>
          <p:cNvPr id="23" name="vis:icon"/>
          <p:cNvCxnSpPr/>
          <p:nvPr/>
        </p:nvCxnSpPr>
        <p:spPr>
          <a:xfrm>
            <a:off x="819302" y="3667658"/>
            <a:ext cx="117043"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cxnSp>
        <p:nvCxnSpPr>
          <p:cNvPr id="24" name="vis:icon"/>
          <p:cNvCxnSpPr/>
          <p:nvPr/>
        </p:nvCxnSpPr>
        <p:spPr>
          <a:xfrm flipH="1">
            <a:off x="819302" y="3667658"/>
            <a:ext cx="117043"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25" name="vis:panelitem"/>
          <p:cNvSpPr txBox="1"/>
          <p:nvPr/>
        </p:nvSpPr>
        <p:spPr>
          <a:xfrm>
            <a:off x="1078992" y="3593591"/>
            <a:ext cx="4587087" cy="521208"/>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The company has no record of what was shared</a:t>
            </a:r>
          </a:p>
        </p:txBody>
      </p:sp>
      <p:cxnSp>
        <p:nvCxnSpPr>
          <p:cNvPr id="26" name="vis:icon"/>
          <p:cNvCxnSpPr/>
          <p:nvPr/>
        </p:nvCxnSpPr>
        <p:spPr>
          <a:xfrm>
            <a:off x="819302" y="4243730"/>
            <a:ext cx="117043"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cxnSp>
        <p:nvCxnSpPr>
          <p:cNvPr id="27" name="vis:icon"/>
          <p:cNvCxnSpPr/>
          <p:nvPr/>
        </p:nvCxnSpPr>
        <p:spPr>
          <a:xfrm flipH="1">
            <a:off x="819302" y="4243730"/>
            <a:ext cx="117043"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28" name="vis:panelitem"/>
          <p:cNvSpPr txBox="1"/>
          <p:nvPr/>
        </p:nvSpPr>
        <p:spPr>
          <a:xfrm>
            <a:off x="1078992" y="4169663"/>
            <a:ext cx="4587087" cy="521208"/>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Nobody can delete it on your behalf</a:t>
            </a:r>
          </a:p>
        </p:txBody>
      </p:sp>
      <p:cxnSp>
        <p:nvCxnSpPr>
          <p:cNvPr id="29" name="vis:icon"/>
          <p:cNvCxnSpPr/>
          <p:nvPr/>
        </p:nvCxnSpPr>
        <p:spPr>
          <a:xfrm>
            <a:off x="819302" y="4819802"/>
            <a:ext cx="117043"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cxnSp>
        <p:nvCxnSpPr>
          <p:cNvPr id="30" name="vis:icon"/>
          <p:cNvCxnSpPr/>
          <p:nvPr/>
        </p:nvCxnSpPr>
        <p:spPr>
          <a:xfrm flipH="1">
            <a:off x="819302" y="4819802"/>
            <a:ext cx="117043"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31" name="vis:panelitem"/>
          <p:cNvSpPr txBox="1"/>
          <p:nvPr/>
        </p:nvSpPr>
        <p:spPr>
          <a:xfrm>
            <a:off x="1078992" y="4745736"/>
            <a:ext cx="4587087" cy="521208"/>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If it goes wrong, it traces back to you personally</a:t>
            </a:r>
          </a:p>
        </p:txBody>
      </p:sp>
      <p:sp>
        <p:nvSpPr>
          <p:cNvPr id="32" name="vis:panel"/>
          <p:cNvSpPr/>
          <p:nvPr/>
        </p:nvSpPr>
        <p:spPr>
          <a:xfrm>
            <a:off x="6251295" y="1719072"/>
            <a:ext cx="5437479" cy="3822192"/>
          </a:xfrm>
          <a:prstGeom prst="roundRect">
            <a:avLst>
              <a:gd name="adj" fmla="val 2392"/>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panelspine"/>
          <p:cNvSpPr/>
          <p:nvPr/>
        </p:nvSpPr>
        <p:spPr>
          <a:xfrm>
            <a:off x="6251295" y="1719072"/>
            <a:ext cx="68580" cy="3822192"/>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vis:chip"/>
          <p:cNvSpPr/>
          <p:nvPr/>
        </p:nvSpPr>
        <p:spPr>
          <a:xfrm>
            <a:off x="6525615" y="1956815"/>
            <a:ext cx="2213715" cy="274320"/>
          </a:xfrm>
          <a:prstGeom prst="roundRect">
            <a:avLst>
              <a:gd name="adj" fmla="val 16666"/>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5" name="vis:chiptext"/>
          <p:cNvSpPr txBox="1"/>
          <p:nvPr/>
        </p:nvSpPr>
        <p:spPr>
          <a:xfrm>
            <a:off x="6681063" y="1984247"/>
            <a:ext cx="1902819"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APPROVED ACCOUNT</a:t>
            </a:r>
          </a:p>
        </p:txBody>
      </p:sp>
      <p:sp>
        <p:nvSpPr>
          <p:cNvPr id="36" name="vis:paneltitle"/>
          <p:cNvSpPr txBox="1"/>
          <p:nvPr/>
        </p:nvSpPr>
        <p:spPr>
          <a:xfrm>
            <a:off x="6525615" y="2377439"/>
            <a:ext cx="4888839"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[COMPANY INPUT NEEDED: name of the approved AI tool]</a:t>
            </a:r>
          </a:p>
        </p:txBody>
      </p:sp>
      <p:cxnSp>
        <p:nvCxnSpPr>
          <p:cNvPr id="37" name="vis:icon"/>
          <p:cNvCxnSpPr/>
          <p:nvPr/>
        </p:nvCxnSpPr>
        <p:spPr>
          <a:xfrm>
            <a:off x="6560362" y="3153765"/>
            <a:ext cx="47549" cy="47549"/>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38" name="vis:icon"/>
          <p:cNvCxnSpPr/>
          <p:nvPr/>
        </p:nvCxnSpPr>
        <p:spPr>
          <a:xfrm flipV="1">
            <a:off x="6607911" y="3098901"/>
            <a:ext cx="87783" cy="102413"/>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39" name="vis:panelitem"/>
          <p:cNvSpPr txBox="1"/>
          <p:nvPr/>
        </p:nvSpPr>
        <p:spPr>
          <a:xfrm>
            <a:off x="6827367" y="3017520"/>
            <a:ext cx="4587087" cy="521208"/>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Signed in with your work account, under a company agreement</a:t>
            </a:r>
          </a:p>
        </p:txBody>
      </p:sp>
      <p:cxnSp>
        <p:nvCxnSpPr>
          <p:cNvPr id="40" name="vis:icon"/>
          <p:cNvCxnSpPr/>
          <p:nvPr/>
        </p:nvCxnSpPr>
        <p:spPr>
          <a:xfrm>
            <a:off x="6560362" y="3729837"/>
            <a:ext cx="47549" cy="47549"/>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41" name="vis:icon"/>
          <p:cNvCxnSpPr/>
          <p:nvPr/>
        </p:nvCxnSpPr>
        <p:spPr>
          <a:xfrm flipV="1">
            <a:off x="6607911" y="3674973"/>
            <a:ext cx="87783" cy="102413"/>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42" name="vis:panelitem"/>
          <p:cNvSpPr txBox="1"/>
          <p:nvPr/>
        </p:nvSpPr>
        <p:spPr>
          <a:xfrm>
            <a:off x="6827367" y="3593591"/>
            <a:ext cx="4587087" cy="521208"/>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Covered by terms somebody here has actually read</a:t>
            </a:r>
          </a:p>
        </p:txBody>
      </p:sp>
      <p:cxnSp>
        <p:nvCxnSpPr>
          <p:cNvPr id="43" name="vis:icon"/>
          <p:cNvCxnSpPr/>
          <p:nvPr/>
        </p:nvCxnSpPr>
        <p:spPr>
          <a:xfrm>
            <a:off x="6560362" y="4305909"/>
            <a:ext cx="47549" cy="47549"/>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44" name="vis:icon"/>
          <p:cNvCxnSpPr/>
          <p:nvPr/>
        </p:nvCxnSpPr>
        <p:spPr>
          <a:xfrm flipV="1">
            <a:off x="6607911" y="4251045"/>
            <a:ext cx="87783" cy="102413"/>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45" name="vis:panelitem"/>
          <p:cNvSpPr txBox="1"/>
          <p:nvPr/>
        </p:nvSpPr>
        <p:spPr>
          <a:xfrm>
            <a:off x="6827367" y="4169663"/>
            <a:ext cx="4587087" cy="521208"/>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Data handling is known and can be explained to a client</a:t>
            </a:r>
          </a:p>
        </p:txBody>
      </p:sp>
      <p:cxnSp>
        <p:nvCxnSpPr>
          <p:cNvPr id="46" name="vis:icon"/>
          <p:cNvCxnSpPr/>
          <p:nvPr/>
        </p:nvCxnSpPr>
        <p:spPr>
          <a:xfrm>
            <a:off x="6560362" y="4881981"/>
            <a:ext cx="47549" cy="47549"/>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47" name="vis:icon"/>
          <p:cNvCxnSpPr/>
          <p:nvPr/>
        </p:nvCxnSpPr>
        <p:spPr>
          <a:xfrm flipV="1">
            <a:off x="6607911" y="4827117"/>
            <a:ext cx="87783" cy="102413"/>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48" name="vis:panelitem"/>
          <p:cNvSpPr txBox="1"/>
          <p:nvPr/>
        </p:nvSpPr>
        <p:spPr>
          <a:xfrm>
            <a:off x="6827367" y="4745736"/>
            <a:ext cx="4587087" cy="521208"/>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Real support exists if something is pasted by mistake</a:t>
            </a:r>
          </a:p>
        </p:txBody>
      </p:sp>
      <p:sp>
        <p:nvSpPr>
          <p:cNvPr id="49" name="cell:glosshint"/>
          <p:cNvSpPr txBox="1"/>
          <p:nvPr/>
        </p:nvSpPr>
        <p:spPr>
          <a:xfrm>
            <a:off x="502920" y="5687568"/>
            <a:ext cx="1609344" cy="23774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What does this mean?</a:t>
            </a:r>
          </a:p>
        </p:txBody>
      </p:sp>
      <p:sp>
        <p:nvSpPr>
          <p:cNvPr id="50" name="vis:chip"/>
          <p:cNvSpPr/>
          <p:nvPr/>
        </p:nvSpPr>
        <p:spPr>
          <a:xfrm>
            <a:off x="2221991" y="5660136"/>
            <a:ext cx="2032789" cy="274320"/>
          </a:xfrm>
          <a:prstGeom prst="roundRect">
            <a:avLst>
              <a:gd name="adj" fmla="val 16666"/>
            </a:avLst>
          </a:prstGeom>
          <a:noFill/>
          <a:ln w="12700">
            <a:solidFill>
              <a:srgbClr val="5B677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1" name="vis:chiptext"/>
          <p:cNvSpPr txBox="1"/>
          <p:nvPr/>
        </p:nvSpPr>
        <p:spPr>
          <a:xfrm>
            <a:off x="2377439" y="5687568"/>
            <a:ext cx="172189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5B6779"/>
                </a:solidFill>
                <a:latin typeface="Segoe UI Semibold"/>
              </a:rPr>
              <a:t>APPROVED TOOL  ?</a:t>
            </a:r>
          </a:p>
        </p:txBody>
      </p:sp>
      <p:sp>
        <p:nvSpPr>
          <p:cNvPr id="52" name="nav:gloss">
            <a:hlinkClick action="ppaction://hlinksldjump" r:id="rId3"/>
          </p:cNvPr>
          <p:cNvSpPr/>
          <p:nvPr/>
        </p:nvSpPr>
        <p:spPr>
          <a:xfrm>
            <a:off x="2221991" y="5660136"/>
            <a:ext cx="2032789" cy="274320"/>
          </a:xfrm>
          <a:prstGeom prst="roundRect">
            <a:avLst>
              <a:gd name="adj" fmla="val 2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APPROVED OR PERSONAL?</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Signs you are in the wrong place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SEC-07  ·  What Never to Paste Into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vis:checktile"/>
          <p:cNvSpPr/>
          <p:nvPr/>
        </p:nvSpPr>
        <p:spPr>
          <a:xfrm>
            <a:off x="502920" y="2340864"/>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checkdot"/>
          <p:cNvSpPr/>
          <p:nvPr/>
        </p:nvSpPr>
        <p:spPr>
          <a:xfrm>
            <a:off x="722376" y="2894076"/>
            <a:ext cx="310896" cy="310896"/>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815279" y="3052998"/>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8" name="vis:icon"/>
          <p:cNvCxnSpPr/>
          <p:nvPr/>
        </p:nvCxnSpPr>
        <p:spPr>
          <a:xfrm flipV="1">
            <a:off x="860450" y="3000877"/>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cell:checkitem"/>
          <p:cNvSpPr txBox="1"/>
          <p:nvPr/>
        </p:nvSpPr>
        <p:spPr>
          <a:xfrm>
            <a:off x="1161288" y="2487168"/>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You signed in with a personal email rather than your work address.</a:t>
            </a:r>
          </a:p>
        </p:txBody>
      </p:sp>
      <p:sp>
        <p:nvSpPr>
          <p:cNvPr id="20" name="vis:checktile"/>
          <p:cNvSpPr/>
          <p:nvPr/>
        </p:nvSpPr>
        <p:spPr>
          <a:xfrm>
            <a:off x="6205575" y="2340864"/>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eckdot"/>
          <p:cNvSpPr/>
          <p:nvPr/>
        </p:nvSpPr>
        <p:spPr>
          <a:xfrm>
            <a:off x="6425031" y="2894076"/>
            <a:ext cx="310896" cy="310896"/>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6517934" y="3052998"/>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flipV="1">
            <a:off x="6563106" y="3000877"/>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4" name="cell:checkitem"/>
          <p:cNvSpPr txBox="1"/>
          <p:nvPr/>
        </p:nvSpPr>
        <p:spPr>
          <a:xfrm>
            <a:off x="6863943" y="2487168"/>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There is no company logo and no single sign-on screen.</a:t>
            </a:r>
          </a:p>
        </p:txBody>
      </p:sp>
      <p:sp>
        <p:nvSpPr>
          <p:cNvPr id="25" name="vis:checktile"/>
          <p:cNvSpPr/>
          <p:nvPr/>
        </p:nvSpPr>
        <p:spPr>
          <a:xfrm>
            <a:off x="502920" y="3977639"/>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eckdot"/>
          <p:cNvSpPr/>
          <p:nvPr/>
        </p:nvSpPr>
        <p:spPr>
          <a:xfrm>
            <a:off x="722376" y="4530852"/>
            <a:ext cx="310896" cy="310896"/>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815279" y="4689774"/>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8" name="vis:icon"/>
          <p:cNvCxnSpPr/>
          <p:nvPr/>
        </p:nvCxnSpPr>
        <p:spPr>
          <a:xfrm flipV="1">
            <a:off x="860450" y="463765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9" name="cell:checkitem"/>
          <p:cNvSpPr txBox="1"/>
          <p:nvPr/>
        </p:nvSpPr>
        <p:spPr>
          <a:xfrm>
            <a:off x="1161288" y="412394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The site offered you a free trial, or asked for a card.</a:t>
            </a:r>
          </a:p>
        </p:txBody>
      </p:sp>
      <p:sp>
        <p:nvSpPr>
          <p:cNvPr id="30" name="vis:checktile"/>
          <p:cNvSpPr/>
          <p:nvPr/>
        </p:nvSpPr>
        <p:spPr>
          <a:xfrm>
            <a:off x="6205575" y="3977639"/>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eckdot"/>
          <p:cNvSpPr/>
          <p:nvPr/>
        </p:nvSpPr>
        <p:spPr>
          <a:xfrm>
            <a:off x="6425031" y="4530852"/>
            <a:ext cx="310896" cy="310896"/>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2" name="vis:icon"/>
          <p:cNvCxnSpPr/>
          <p:nvPr/>
        </p:nvCxnSpPr>
        <p:spPr>
          <a:xfrm>
            <a:off x="6517934" y="4689774"/>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flipV="1">
            <a:off x="6563106" y="463765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4" name="cell:checkitem"/>
          <p:cNvSpPr txBox="1"/>
          <p:nvPr/>
        </p:nvSpPr>
        <p:spPr>
          <a:xfrm>
            <a:off x="6863943" y="412394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You found it through a search result or a social media post.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IF YOU ALREADY HAVE</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If you have already pasted</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SEC-07  ·  What Never to Paste Into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body:lead"/>
          <p:cNvSpPr txBox="1"/>
          <p:nvPr/>
        </p:nvSpPr>
        <p:spPr>
          <a:xfrm>
            <a:off x="502920" y="1719072"/>
            <a:ext cx="8343671" cy="548640"/>
          </a:xfrm>
          <a:prstGeom prst="rect">
            <a:avLst/>
          </a:prstGeom>
          <a:noFill/>
        </p:spPr>
        <p:txBody>
          <a:bodyPr wrap="square" lIns="0" rIns="0" tIns="0" bIns="0" anchor="t">
            <a:spAutoFit/>
          </a:bodyPr>
          <a:lstStyle/>
          <a:p>
            <a:pPr algn="l">
              <a:lnSpc>
                <a:spcPts val="2340"/>
              </a:lnSpc>
              <a:spcBef>
                <a:spcPts val="0"/>
              </a:spcBef>
              <a:spcAft>
                <a:spcPts val="0"/>
              </a:spcAft>
            </a:pPr>
            <a:r>
              <a:rPr sz="1800" b="0">
                <a:solidFill>
                  <a:srgbClr val="2A3547"/>
                </a:solidFill>
                <a:latin typeface="Segoe UI"/>
              </a:rPr>
              <a:t>The first hour is worth more than the next month. Here is the whole procedure.</a:t>
            </a:r>
          </a:p>
        </p:txBody>
      </p:sp>
      <p:sp>
        <p:nvSpPr>
          <p:cNvPr id="16" name="vis:stepnum"/>
          <p:cNvSpPr/>
          <p:nvPr/>
        </p:nvSpPr>
        <p:spPr>
          <a:xfrm>
            <a:off x="502920" y="2651760"/>
            <a:ext cx="347472" cy="34747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stepnumtext"/>
          <p:cNvSpPr txBox="1"/>
          <p:nvPr/>
        </p:nvSpPr>
        <p:spPr>
          <a:xfrm>
            <a:off x="502920" y="2729484"/>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1</a:t>
            </a:r>
          </a:p>
        </p:txBody>
      </p:sp>
      <p:cxnSp>
        <p:nvCxnSpPr>
          <p:cNvPr id="18" name="vis:line"/>
          <p:cNvCxnSpPr/>
          <p:nvPr/>
        </p:nvCxnSpPr>
        <p:spPr>
          <a:xfrm>
            <a:off x="676656" y="2999232"/>
            <a:ext cx="0" cy="585216"/>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19" name="cell:step"/>
          <p:cNvSpPr txBox="1"/>
          <p:nvPr/>
        </p:nvSpPr>
        <p:spPr>
          <a:xfrm>
            <a:off x="1051560" y="2432304"/>
            <a:ext cx="5044287" cy="786384"/>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Stop. Do not delete the conversation — it may be needed as a record.</a:t>
            </a:r>
          </a:p>
        </p:txBody>
      </p:sp>
      <p:sp>
        <p:nvSpPr>
          <p:cNvPr id="20" name="vis:stepnum"/>
          <p:cNvSpPr/>
          <p:nvPr/>
        </p:nvSpPr>
        <p:spPr>
          <a:xfrm>
            <a:off x="502920" y="3584448"/>
            <a:ext cx="347472" cy="34747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stepnumtext"/>
          <p:cNvSpPr txBox="1"/>
          <p:nvPr/>
        </p:nvSpPr>
        <p:spPr>
          <a:xfrm>
            <a:off x="502920" y="3662172"/>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2</a:t>
            </a:r>
          </a:p>
        </p:txBody>
      </p:sp>
      <p:cxnSp>
        <p:nvCxnSpPr>
          <p:cNvPr id="22" name="vis:line"/>
          <p:cNvCxnSpPr/>
          <p:nvPr/>
        </p:nvCxnSpPr>
        <p:spPr>
          <a:xfrm>
            <a:off x="676656" y="3931920"/>
            <a:ext cx="0" cy="585216"/>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3" name="cell:step"/>
          <p:cNvSpPr txBox="1"/>
          <p:nvPr/>
        </p:nvSpPr>
        <p:spPr>
          <a:xfrm>
            <a:off x="1051560" y="3364992"/>
            <a:ext cx="5044287" cy="786384"/>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Write down what you pasted, into which tool, and roughly when.</a:t>
            </a:r>
          </a:p>
        </p:txBody>
      </p:sp>
      <p:sp>
        <p:nvSpPr>
          <p:cNvPr id="24" name="vis:stepnum"/>
          <p:cNvSpPr/>
          <p:nvPr/>
        </p:nvSpPr>
        <p:spPr>
          <a:xfrm>
            <a:off x="502920" y="4517136"/>
            <a:ext cx="347472" cy="34747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stepnumtext"/>
          <p:cNvSpPr txBox="1"/>
          <p:nvPr/>
        </p:nvSpPr>
        <p:spPr>
          <a:xfrm>
            <a:off x="502920" y="4594860"/>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3</a:t>
            </a:r>
          </a:p>
        </p:txBody>
      </p:sp>
      <p:cxnSp>
        <p:nvCxnSpPr>
          <p:cNvPr id="26" name="vis:line"/>
          <p:cNvCxnSpPr/>
          <p:nvPr/>
        </p:nvCxnSpPr>
        <p:spPr>
          <a:xfrm>
            <a:off x="676656" y="4864608"/>
            <a:ext cx="0" cy="585216"/>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7" name="cell:step"/>
          <p:cNvSpPr txBox="1"/>
          <p:nvPr/>
        </p:nvSpPr>
        <p:spPr>
          <a:xfrm>
            <a:off x="1051560" y="4297680"/>
            <a:ext cx="5044287" cy="786384"/>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Tell your manager and [COMPANY INPUT NEEDED: who to report a data incident to] the same day.</a:t>
            </a:r>
          </a:p>
        </p:txBody>
      </p:sp>
      <p:sp>
        <p:nvSpPr>
          <p:cNvPr id="28" name="vis:stepnum"/>
          <p:cNvSpPr/>
          <p:nvPr/>
        </p:nvSpPr>
        <p:spPr>
          <a:xfrm>
            <a:off x="502920" y="5449824"/>
            <a:ext cx="347472" cy="34747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stepnumtext"/>
          <p:cNvSpPr txBox="1"/>
          <p:nvPr/>
        </p:nvSpPr>
        <p:spPr>
          <a:xfrm>
            <a:off x="502920" y="5527548"/>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4</a:t>
            </a:r>
          </a:p>
        </p:txBody>
      </p:sp>
      <p:sp>
        <p:nvSpPr>
          <p:cNvPr id="30" name="cell:step"/>
          <p:cNvSpPr txBox="1"/>
          <p:nvPr/>
        </p:nvSpPr>
        <p:spPr>
          <a:xfrm>
            <a:off x="1051560" y="5230368"/>
            <a:ext cx="5044287" cy="786384"/>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If it involved customer or staff data, say so plainly. The reporting clock may already be running.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IF YOU ALREADY HAVE</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Reporting early is not the problem</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SEC-07  ·  What Never to Paste Into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vis:alertband"/>
          <p:cNvSpPr/>
          <p:nvPr/>
        </p:nvSpPr>
        <p:spPr>
          <a:xfrm>
            <a:off x="0" y="1719072"/>
            <a:ext cx="12191695" cy="960120"/>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519744" y="2014057"/>
            <a:ext cx="386975" cy="353324"/>
          </a:xfrm>
          <a:custGeom>
            <a:avLst/>
            <a:gdLst/>
            <a:ahLst/>
            <a:cxnLst/>
            <a:rect l="l" t="t" r="r" b="b"/>
            <a:pathLst>
              <a:path w="386975" h="353324">
                <a:moveTo>
                  <a:pt x="193488" y="0"/>
                </a:moveTo>
                <a:lnTo>
                  <a:pt x="386975" y="353324"/>
                </a:lnTo>
                <a:lnTo>
                  <a:pt x="0" y="353324"/>
                </a:lnTo>
                <a:close/>
              </a:path>
            </a:pathLst>
          </a:cu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vis:icon"/>
          <p:cNvCxnSpPr/>
          <p:nvPr/>
        </p:nvCxnSpPr>
        <p:spPr>
          <a:xfrm>
            <a:off x="713232" y="2148657"/>
            <a:ext cx="0" cy="105156"/>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692200" y="2291669"/>
            <a:ext cx="42062" cy="4206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body:alert"/>
          <p:cNvSpPr txBox="1"/>
          <p:nvPr/>
        </p:nvSpPr>
        <p:spPr>
          <a:xfrm>
            <a:off x="1179576" y="1901952"/>
            <a:ext cx="10509199" cy="594360"/>
          </a:xfrm>
          <a:prstGeom prst="rect">
            <a:avLst/>
          </a:prstGeom>
          <a:noFill/>
        </p:spPr>
        <p:txBody>
          <a:bodyPr wrap="square" lIns="0" rIns="0" tIns="0" bIns="0" anchor="ctr">
            <a:spAutoFit/>
          </a:bodyPr>
          <a:lstStyle/>
          <a:p>
            <a:pPr algn="l">
              <a:lnSpc>
                <a:spcPts val="2470"/>
              </a:lnSpc>
              <a:spcBef>
                <a:spcPts val="0"/>
              </a:spcBef>
              <a:spcAft>
                <a:spcPts val="400"/>
              </a:spcAft>
            </a:pPr>
            <a:r>
              <a:rPr sz="1900" b="0">
                <a:solidFill>
                  <a:srgbClr val="FFFFFF"/>
                </a:solidFill>
                <a:latin typeface="Segoe UI Semibold"/>
              </a:rPr>
              <a:t>Nearly every incident that became serious became serious because somebody waited.</a:t>
            </a:r>
          </a:p>
          <a:p>
            <a:pPr algn="l">
              <a:lnSpc>
                <a:spcPts val="1755"/>
              </a:lnSpc>
              <a:spcBef>
                <a:spcPts val="0"/>
              </a:spcBef>
              <a:spcAft>
                <a:spcPts val="0"/>
              </a:spcAft>
            </a:pPr>
            <a:r>
              <a:rPr sz="1350" b="0">
                <a:solidFill>
                  <a:srgbClr val="FFFFFF"/>
                </a:solidFill>
                <a:latin typeface="Segoe UI"/>
              </a:rPr>
              <a:t>The paste is recoverable. The silence afterwards usually is not.</a:t>
            </a:r>
          </a:p>
        </p:txBody>
      </p:sp>
      <p:sp>
        <p:nvSpPr>
          <p:cNvPr id="20" name="vis:checktile"/>
          <p:cNvSpPr/>
          <p:nvPr/>
        </p:nvSpPr>
        <p:spPr>
          <a:xfrm>
            <a:off x="50292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eckdot"/>
          <p:cNvSpPr/>
          <p:nvPr/>
        </p:nvSpPr>
        <p:spPr>
          <a:xfrm>
            <a:off x="722376" y="3506724"/>
            <a:ext cx="310896" cy="310896"/>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815279" y="3665646"/>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flipV="1">
            <a:off x="860450" y="3613525"/>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4" name="cell:checkitem"/>
          <p:cNvSpPr txBox="1"/>
          <p:nvPr/>
        </p:nvSpPr>
        <p:spPr>
          <a:xfrm>
            <a:off x="116128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An hour after the paste, real options still exist.</a:t>
            </a:r>
          </a:p>
        </p:txBody>
      </p:sp>
      <p:sp>
        <p:nvSpPr>
          <p:cNvPr id="25" name="vis:checktile"/>
          <p:cNvSpPr/>
          <p:nvPr/>
        </p:nvSpPr>
        <p:spPr>
          <a:xfrm>
            <a:off x="430469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eckdot"/>
          <p:cNvSpPr/>
          <p:nvPr/>
        </p:nvSpPr>
        <p:spPr>
          <a:xfrm>
            <a:off x="4524146" y="3506724"/>
            <a:ext cx="310896" cy="310896"/>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4617049" y="3665646"/>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8" name="vis:icon"/>
          <p:cNvCxnSpPr/>
          <p:nvPr/>
        </p:nvCxnSpPr>
        <p:spPr>
          <a:xfrm flipV="1">
            <a:off x="4662220" y="3613525"/>
            <a:ext cx="83394"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9" name="cell:checkitem"/>
          <p:cNvSpPr txBox="1"/>
          <p:nvPr/>
        </p:nvSpPr>
        <p:spPr>
          <a:xfrm>
            <a:off x="496305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A month later, the only option is explaining it to the client.</a:t>
            </a:r>
          </a:p>
        </p:txBody>
      </p:sp>
      <p:sp>
        <p:nvSpPr>
          <p:cNvPr id="30" name="vis:checktile"/>
          <p:cNvSpPr/>
          <p:nvPr/>
        </p:nvSpPr>
        <p:spPr>
          <a:xfrm>
            <a:off x="810646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eckdot"/>
          <p:cNvSpPr/>
          <p:nvPr/>
        </p:nvSpPr>
        <p:spPr>
          <a:xfrm>
            <a:off x="8325916" y="3506724"/>
            <a:ext cx="310896" cy="310896"/>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2" name="vis:icon"/>
          <p:cNvCxnSpPr/>
          <p:nvPr/>
        </p:nvCxnSpPr>
        <p:spPr>
          <a:xfrm>
            <a:off x="8418819" y="3665646"/>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flipV="1">
            <a:off x="8463991" y="3613525"/>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4" name="cell:checkitem"/>
          <p:cNvSpPr txBox="1"/>
          <p:nvPr/>
        </p:nvSpPr>
        <p:spPr>
          <a:xfrm>
            <a:off x="876482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[COMPANY INPUT NEEDED: the company's stated position on reporting your own mistake]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IF YOU ALREADY HAVE</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Four habits that keep you clear</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SEC-07  ·  What Never to Paste Into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vis:checktile"/>
          <p:cNvSpPr/>
          <p:nvPr/>
        </p:nvSpPr>
        <p:spPr>
          <a:xfrm>
            <a:off x="502920" y="2340864"/>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checkdot"/>
          <p:cNvSpPr/>
          <p:nvPr/>
        </p:nvSpPr>
        <p:spPr>
          <a:xfrm>
            <a:off x="722376" y="2894076"/>
            <a:ext cx="310896" cy="310896"/>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815279" y="3052998"/>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8" name="vis:icon"/>
          <p:cNvCxnSpPr/>
          <p:nvPr/>
        </p:nvCxnSpPr>
        <p:spPr>
          <a:xfrm flipV="1">
            <a:off x="860450" y="3000877"/>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cell:checkitem"/>
          <p:cNvSpPr txBox="1"/>
          <p:nvPr/>
        </p:nvSpPr>
        <p:spPr>
          <a:xfrm>
            <a:off x="1161288" y="2487168"/>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Type facts, never paste files. If your hand is reaching for Ctrl+V, stop.</a:t>
            </a:r>
          </a:p>
        </p:txBody>
      </p:sp>
      <p:sp>
        <p:nvSpPr>
          <p:cNvPr id="20" name="vis:checktile"/>
          <p:cNvSpPr/>
          <p:nvPr/>
        </p:nvSpPr>
        <p:spPr>
          <a:xfrm>
            <a:off x="6205575" y="2340864"/>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eckdot"/>
          <p:cNvSpPr/>
          <p:nvPr/>
        </p:nvSpPr>
        <p:spPr>
          <a:xfrm>
            <a:off x="6425031" y="2894076"/>
            <a:ext cx="310896" cy="310896"/>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6517934" y="3052998"/>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flipV="1">
            <a:off x="6563106" y="3000877"/>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4" name="cell:checkitem"/>
          <p:cNvSpPr txBox="1"/>
          <p:nvPr/>
        </p:nvSpPr>
        <p:spPr>
          <a:xfrm>
            <a:off x="6863943" y="2487168"/>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Strip names before anything else. Names are what regulators actually count.</a:t>
            </a:r>
          </a:p>
        </p:txBody>
      </p:sp>
      <p:sp>
        <p:nvSpPr>
          <p:cNvPr id="25" name="vis:checktile"/>
          <p:cNvSpPr/>
          <p:nvPr/>
        </p:nvSpPr>
        <p:spPr>
          <a:xfrm>
            <a:off x="502920" y="3977639"/>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eckdot"/>
          <p:cNvSpPr/>
          <p:nvPr/>
        </p:nvSpPr>
        <p:spPr>
          <a:xfrm>
            <a:off x="722376" y="4530852"/>
            <a:ext cx="310896" cy="310896"/>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815279" y="4689774"/>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8" name="vis:icon"/>
          <p:cNvCxnSpPr/>
          <p:nvPr/>
        </p:nvCxnSpPr>
        <p:spPr>
          <a:xfrm flipV="1">
            <a:off x="860450" y="463765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9" name="cell:checkitem"/>
          <p:cNvSpPr txBox="1"/>
          <p:nvPr/>
        </p:nvSpPr>
        <p:spPr>
          <a:xfrm>
            <a:off x="1161288" y="412394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Use the work account every time, even for a "quick" question.</a:t>
            </a:r>
          </a:p>
        </p:txBody>
      </p:sp>
      <p:sp>
        <p:nvSpPr>
          <p:cNvPr id="30" name="vis:checktile"/>
          <p:cNvSpPr/>
          <p:nvPr/>
        </p:nvSpPr>
        <p:spPr>
          <a:xfrm>
            <a:off x="6205575" y="3977639"/>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eckdot"/>
          <p:cNvSpPr/>
          <p:nvPr/>
        </p:nvSpPr>
        <p:spPr>
          <a:xfrm>
            <a:off x="6425031" y="4530852"/>
            <a:ext cx="310896" cy="310896"/>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2" name="vis:icon"/>
          <p:cNvCxnSpPr/>
          <p:nvPr/>
        </p:nvCxnSpPr>
        <p:spPr>
          <a:xfrm>
            <a:off x="6517934" y="4689774"/>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flipV="1">
            <a:off x="6563106" y="463765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4" name="cell:checkitem"/>
          <p:cNvSpPr txBox="1"/>
          <p:nvPr/>
        </p:nvSpPr>
        <p:spPr>
          <a:xfrm>
            <a:off x="6863943" y="412394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If you would not read it aloud in a client's office, do not paste it.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IF YOU ALREADY HAVE</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What is fine to paste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SEC-07  ·  What Never to Paste Into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body:lead"/>
          <p:cNvSpPr txBox="1"/>
          <p:nvPr/>
        </p:nvSpPr>
        <p:spPr>
          <a:xfrm>
            <a:off x="502920" y="1719072"/>
            <a:ext cx="8343671" cy="822959"/>
          </a:xfrm>
          <a:prstGeom prst="rect">
            <a:avLst/>
          </a:prstGeom>
          <a:noFill/>
        </p:spPr>
        <p:txBody>
          <a:bodyPr wrap="square" lIns="0" rIns="0" tIns="0" bIns="0" anchor="t">
            <a:spAutoFit/>
          </a:bodyPr>
          <a:lstStyle/>
          <a:p>
            <a:pPr algn="l">
              <a:lnSpc>
                <a:spcPts val="2340"/>
              </a:lnSpc>
              <a:spcBef>
                <a:spcPts val="0"/>
              </a:spcBef>
              <a:spcAft>
                <a:spcPts val="0"/>
              </a:spcAft>
            </a:pPr>
            <a:r>
              <a:rPr sz="1800" b="0">
                <a:solidFill>
                  <a:srgbClr val="2A3547"/>
                </a:solidFill>
                <a:latin typeface="Segoe UI"/>
              </a:rPr>
              <a:t>This module is not asking you to stop using AI. Most of what you need help with is perfectly safe.</a:t>
            </a:r>
          </a:p>
        </p:txBody>
      </p:sp>
      <p:sp>
        <p:nvSpPr>
          <p:cNvPr id="16" name="vis:tile"/>
          <p:cNvSpPr/>
          <p:nvPr/>
        </p:nvSpPr>
        <p:spPr>
          <a:xfrm>
            <a:off x="502920" y="2706624"/>
            <a:ext cx="3545738" cy="2926080"/>
          </a:xfrm>
          <a:prstGeom prst="roundRect">
            <a:avLst>
              <a:gd name="adj" fmla="val 312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badge"/>
          <p:cNvSpPr/>
          <p:nvPr/>
        </p:nvSpPr>
        <p:spPr>
          <a:xfrm>
            <a:off x="777240" y="2999232"/>
            <a:ext cx="658368" cy="658368"/>
          </a:xfrm>
          <a:prstGeom prst="roundRect">
            <a:avLst>
              <a:gd name="adj" fmla="val 1388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icon"/>
          <p:cNvSpPr/>
          <p:nvPr/>
        </p:nvSpPr>
        <p:spPr>
          <a:xfrm>
            <a:off x="996871" y="3177781"/>
            <a:ext cx="219104" cy="301269"/>
          </a:xfrm>
          <a:prstGeom prst="roundRect">
            <a:avLst>
              <a:gd name="adj" fmla="val 20866"/>
            </a:avLst>
          </a:prstGeom>
          <a:noFill/>
          <a:ln w="1905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44800" y="3273639"/>
            <a:ext cx="123247"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cxnSp>
        <p:nvCxnSpPr>
          <p:cNvPr id="20" name="vis:icon"/>
          <p:cNvCxnSpPr/>
          <p:nvPr/>
        </p:nvCxnSpPr>
        <p:spPr>
          <a:xfrm>
            <a:off x="1044800" y="3328415"/>
            <a:ext cx="123247"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cxnSp>
        <p:nvCxnSpPr>
          <p:cNvPr id="21" name="vis:icon"/>
          <p:cNvCxnSpPr/>
          <p:nvPr/>
        </p:nvCxnSpPr>
        <p:spPr>
          <a:xfrm>
            <a:off x="1044800" y="3383192"/>
            <a:ext cx="82165"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22" name="cell:tilelabel"/>
          <p:cNvSpPr txBox="1"/>
          <p:nvPr/>
        </p:nvSpPr>
        <p:spPr>
          <a:xfrm>
            <a:off x="777240" y="3840480"/>
            <a:ext cx="2997098"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Your own draft</a:t>
            </a:r>
          </a:p>
        </p:txBody>
      </p:sp>
      <p:sp>
        <p:nvSpPr>
          <p:cNvPr id="23" name="cell:tilesub"/>
          <p:cNvSpPr txBox="1"/>
          <p:nvPr/>
        </p:nvSpPr>
        <p:spPr>
          <a:xfrm>
            <a:off x="777240" y="4480560"/>
            <a:ext cx="2997098" cy="91440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Something you wrote yourself, names removed. Ask it to shorten it, or fix the English.</a:t>
            </a:r>
          </a:p>
        </p:txBody>
      </p:sp>
      <p:sp>
        <p:nvSpPr>
          <p:cNvPr id="24" name="vis:tile"/>
          <p:cNvSpPr/>
          <p:nvPr/>
        </p:nvSpPr>
        <p:spPr>
          <a:xfrm>
            <a:off x="4322978" y="2706624"/>
            <a:ext cx="3545738" cy="2926080"/>
          </a:xfrm>
          <a:prstGeom prst="roundRect">
            <a:avLst>
              <a:gd name="adj" fmla="val 312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badge"/>
          <p:cNvSpPr/>
          <p:nvPr/>
        </p:nvSpPr>
        <p:spPr>
          <a:xfrm>
            <a:off x="4597298" y="2999232"/>
            <a:ext cx="658368" cy="658368"/>
          </a:xfrm>
          <a:prstGeom prst="roundRect">
            <a:avLst>
              <a:gd name="adj" fmla="val 1388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icon"/>
          <p:cNvSpPr/>
          <p:nvPr/>
        </p:nvSpPr>
        <p:spPr>
          <a:xfrm>
            <a:off x="4803235" y="3198322"/>
            <a:ext cx="205410" cy="205410"/>
          </a:xfrm>
          <a:prstGeom prst="ellipse">
            <a:avLst/>
          </a:prstGeom>
          <a:noFill/>
          <a:ln w="1905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4981258" y="3376345"/>
            <a:ext cx="82164" cy="82164"/>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28" name="cell:tilelabel"/>
          <p:cNvSpPr txBox="1"/>
          <p:nvPr/>
        </p:nvSpPr>
        <p:spPr>
          <a:xfrm>
            <a:off x="4597298" y="3840480"/>
            <a:ext cx="2997098"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Public information</a:t>
            </a:r>
          </a:p>
        </p:txBody>
      </p:sp>
      <p:sp>
        <p:nvSpPr>
          <p:cNvPr id="29" name="cell:tilesub"/>
          <p:cNvSpPr txBox="1"/>
          <p:nvPr/>
        </p:nvSpPr>
        <p:spPr>
          <a:xfrm>
            <a:off x="4597298" y="4480560"/>
            <a:ext cx="2997098" cy="91440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A published circular, a public spec sheet, anything already sitting on the open internet.</a:t>
            </a:r>
          </a:p>
        </p:txBody>
      </p:sp>
      <p:sp>
        <p:nvSpPr>
          <p:cNvPr id="30" name="vis:tile"/>
          <p:cNvSpPr/>
          <p:nvPr/>
        </p:nvSpPr>
        <p:spPr>
          <a:xfrm>
            <a:off x="8143036" y="2706624"/>
            <a:ext cx="3545738" cy="2926080"/>
          </a:xfrm>
          <a:prstGeom prst="roundRect">
            <a:avLst>
              <a:gd name="adj" fmla="val 312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badge"/>
          <p:cNvSpPr/>
          <p:nvPr/>
        </p:nvSpPr>
        <p:spPr>
          <a:xfrm>
            <a:off x="8417356" y="2999232"/>
            <a:ext cx="658368" cy="658368"/>
          </a:xfrm>
          <a:prstGeom prst="roundRect">
            <a:avLst>
              <a:gd name="adj" fmla="val 1388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icon"/>
          <p:cNvSpPr/>
          <p:nvPr/>
        </p:nvSpPr>
        <p:spPr>
          <a:xfrm>
            <a:off x="8602753" y="3205169"/>
            <a:ext cx="287575" cy="191716"/>
          </a:xfrm>
          <a:prstGeom prst="roundRect">
            <a:avLst>
              <a:gd name="adj" fmla="val 23847"/>
            </a:avLst>
          </a:prstGeom>
          <a:noFill/>
          <a:ln w="1905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3" name="vis:icon"/>
          <p:cNvCxnSpPr/>
          <p:nvPr/>
        </p:nvCxnSpPr>
        <p:spPr>
          <a:xfrm flipH="1">
            <a:off x="8657529" y="3396886"/>
            <a:ext cx="13694" cy="75317"/>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cxnSp>
        <p:nvCxnSpPr>
          <p:cNvPr id="34" name="vis:icon"/>
          <p:cNvCxnSpPr/>
          <p:nvPr/>
        </p:nvCxnSpPr>
        <p:spPr>
          <a:xfrm flipV="1">
            <a:off x="8657529" y="3396886"/>
            <a:ext cx="75317" cy="75317"/>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35" name="cell:tilelabel"/>
          <p:cNvSpPr txBox="1"/>
          <p:nvPr/>
        </p:nvSpPr>
        <p:spPr>
          <a:xfrm>
            <a:off x="8417356" y="3840480"/>
            <a:ext cx="2997098"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A situation, described</a:t>
            </a:r>
          </a:p>
        </p:txBody>
      </p:sp>
      <p:sp>
        <p:nvSpPr>
          <p:cNvPr id="36" name="cell:tilesub"/>
          <p:cNvSpPr txBox="1"/>
          <p:nvPr/>
        </p:nvSpPr>
        <p:spPr>
          <a:xfrm>
            <a:off x="8417356" y="4480560"/>
            <a:ext cx="2997098" cy="91440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"A delivery was three days late and two cartons were damaged." No names, and no meaning lost.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IF YOU ALREADY HAVE</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The one-line test</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SEC-07  ·  What Never to Paste Into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vis:alertband"/>
          <p:cNvSpPr/>
          <p:nvPr/>
        </p:nvSpPr>
        <p:spPr>
          <a:xfrm>
            <a:off x="0" y="1719072"/>
            <a:ext cx="12191695" cy="9601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519744" y="2014057"/>
            <a:ext cx="386975" cy="353324"/>
          </a:xfrm>
          <a:custGeom>
            <a:avLst/>
            <a:gdLst/>
            <a:ahLst/>
            <a:cxnLst/>
            <a:rect l="l" t="t" r="r" b="b"/>
            <a:pathLst>
              <a:path w="386975" h="353324">
                <a:moveTo>
                  <a:pt x="193488" y="0"/>
                </a:moveTo>
                <a:lnTo>
                  <a:pt x="386975" y="353324"/>
                </a:lnTo>
                <a:lnTo>
                  <a:pt x="0" y="353324"/>
                </a:lnTo>
                <a:close/>
              </a:path>
            </a:pathLst>
          </a:cu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vis:icon"/>
          <p:cNvCxnSpPr/>
          <p:nvPr/>
        </p:nvCxnSpPr>
        <p:spPr>
          <a:xfrm>
            <a:off x="713232" y="2148657"/>
            <a:ext cx="0" cy="105156"/>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692200" y="2291669"/>
            <a:ext cx="42062" cy="4206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body:alert"/>
          <p:cNvSpPr txBox="1"/>
          <p:nvPr/>
        </p:nvSpPr>
        <p:spPr>
          <a:xfrm>
            <a:off x="1179576" y="1901952"/>
            <a:ext cx="10509199" cy="594360"/>
          </a:xfrm>
          <a:prstGeom prst="rect">
            <a:avLst/>
          </a:prstGeom>
          <a:noFill/>
        </p:spPr>
        <p:txBody>
          <a:bodyPr wrap="square" lIns="0" rIns="0" tIns="0" bIns="0" anchor="ctr">
            <a:spAutoFit/>
          </a:bodyPr>
          <a:lstStyle/>
          <a:p>
            <a:pPr algn="l">
              <a:lnSpc>
                <a:spcPts val="2470"/>
              </a:lnSpc>
              <a:spcBef>
                <a:spcPts val="0"/>
              </a:spcBef>
              <a:spcAft>
                <a:spcPts val="400"/>
              </a:spcAft>
            </a:pPr>
            <a:r>
              <a:rPr sz="1900" b="0">
                <a:solidFill>
                  <a:srgbClr val="FFFFFF"/>
                </a:solidFill>
                <a:latin typeface="Segoe UI Semibold"/>
              </a:rPr>
              <a:t>Would I be comfortable if this exact text landed in a competitor's inbox tomorrow?</a:t>
            </a:r>
          </a:p>
          <a:p>
            <a:pPr algn="l">
              <a:lnSpc>
                <a:spcPts val="1755"/>
              </a:lnSpc>
              <a:spcBef>
                <a:spcPts val="0"/>
              </a:spcBef>
              <a:spcAft>
                <a:spcPts val="0"/>
              </a:spcAft>
            </a:pPr>
            <a:r>
              <a:rPr sz="1350" b="0">
                <a:solidFill>
                  <a:srgbClr val="FFFFFF"/>
                </a:solidFill>
                <a:latin typeface="Segoe UI"/>
              </a:rPr>
              <a:t>If the answer is anything other than a clear yes, it does not go in.</a:t>
            </a:r>
          </a:p>
        </p:txBody>
      </p:sp>
      <p:sp>
        <p:nvSpPr>
          <p:cNvPr id="20" name="vis:checktile"/>
          <p:cNvSpPr/>
          <p:nvPr/>
        </p:nvSpPr>
        <p:spPr>
          <a:xfrm>
            <a:off x="50292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eckdot"/>
          <p:cNvSpPr/>
          <p:nvPr/>
        </p:nvSpPr>
        <p:spPr>
          <a:xfrm>
            <a:off x="722376" y="3506724"/>
            <a:ext cx="310896" cy="310896"/>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icon"/>
          <p:cNvSpPr/>
          <p:nvPr/>
        </p:nvSpPr>
        <p:spPr>
          <a:xfrm>
            <a:off x="803117" y="3597889"/>
            <a:ext cx="24323" cy="243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3" name="vis:icon"/>
          <p:cNvCxnSpPr/>
          <p:nvPr/>
        </p:nvCxnSpPr>
        <p:spPr>
          <a:xfrm>
            <a:off x="846551" y="3610051"/>
            <a:ext cx="107716"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4" name="vis:icon"/>
          <p:cNvSpPr/>
          <p:nvPr/>
        </p:nvSpPr>
        <p:spPr>
          <a:xfrm>
            <a:off x="803117" y="3650010"/>
            <a:ext cx="24323" cy="243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5" name="vis:icon"/>
          <p:cNvCxnSpPr/>
          <p:nvPr/>
        </p:nvCxnSpPr>
        <p:spPr>
          <a:xfrm>
            <a:off x="846551" y="3662172"/>
            <a:ext cx="107716"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6" name="vis:icon"/>
          <p:cNvSpPr/>
          <p:nvPr/>
        </p:nvSpPr>
        <p:spPr>
          <a:xfrm>
            <a:off x="803117" y="3702131"/>
            <a:ext cx="24323" cy="243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846551" y="3714292"/>
            <a:ext cx="107716"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8" name="cell:checkitem"/>
          <p:cNvSpPr txBox="1"/>
          <p:nvPr/>
        </p:nvSpPr>
        <p:spPr>
          <a:xfrm>
            <a:off x="116128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A clear yes — paste it and carry on.</a:t>
            </a:r>
          </a:p>
        </p:txBody>
      </p:sp>
      <p:sp>
        <p:nvSpPr>
          <p:cNvPr id="29" name="vis:checktile"/>
          <p:cNvSpPr/>
          <p:nvPr/>
        </p:nvSpPr>
        <p:spPr>
          <a:xfrm>
            <a:off x="430469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checkdot"/>
          <p:cNvSpPr/>
          <p:nvPr/>
        </p:nvSpPr>
        <p:spPr>
          <a:xfrm>
            <a:off x="4524146" y="3506724"/>
            <a:ext cx="310896" cy="310896"/>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icon"/>
          <p:cNvSpPr/>
          <p:nvPr/>
        </p:nvSpPr>
        <p:spPr>
          <a:xfrm>
            <a:off x="4604887" y="3597889"/>
            <a:ext cx="24323" cy="243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2" name="vis:icon"/>
          <p:cNvCxnSpPr/>
          <p:nvPr/>
        </p:nvCxnSpPr>
        <p:spPr>
          <a:xfrm>
            <a:off x="4648321" y="3610051"/>
            <a:ext cx="107717"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3" name="vis:icon"/>
          <p:cNvSpPr/>
          <p:nvPr/>
        </p:nvSpPr>
        <p:spPr>
          <a:xfrm>
            <a:off x="4604887" y="3650010"/>
            <a:ext cx="24323" cy="243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4" name="vis:icon"/>
          <p:cNvCxnSpPr/>
          <p:nvPr/>
        </p:nvCxnSpPr>
        <p:spPr>
          <a:xfrm>
            <a:off x="4648321" y="3662172"/>
            <a:ext cx="107717"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5" name="vis:icon"/>
          <p:cNvSpPr/>
          <p:nvPr/>
        </p:nvSpPr>
        <p:spPr>
          <a:xfrm>
            <a:off x="4604887" y="3702131"/>
            <a:ext cx="24323" cy="243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6" name="vis:icon"/>
          <p:cNvCxnSpPr/>
          <p:nvPr/>
        </p:nvCxnSpPr>
        <p:spPr>
          <a:xfrm>
            <a:off x="4648321" y="3714292"/>
            <a:ext cx="107717"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7" name="cell:checkitem"/>
          <p:cNvSpPr txBox="1"/>
          <p:nvPr/>
        </p:nvSpPr>
        <p:spPr>
          <a:xfrm>
            <a:off x="496305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Not sure — strip the names, then ask yourself again.</a:t>
            </a:r>
          </a:p>
        </p:txBody>
      </p:sp>
      <p:sp>
        <p:nvSpPr>
          <p:cNvPr id="38" name="vis:checktile"/>
          <p:cNvSpPr/>
          <p:nvPr/>
        </p:nvSpPr>
        <p:spPr>
          <a:xfrm>
            <a:off x="810646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9" name="vis:checkdot"/>
          <p:cNvSpPr/>
          <p:nvPr/>
        </p:nvSpPr>
        <p:spPr>
          <a:xfrm>
            <a:off x="8325916" y="3506724"/>
            <a:ext cx="310896" cy="310896"/>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0" name="vis:icon"/>
          <p:cNvSpPr/>
          <p:nvPr/>
        </p:nvSpPr>
        <p:spPr>
          <a:xfrm>
            <a:off x="8406658" y="3597889"/>
            <a:ext cx="24323" cy="243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1" name="vis:icon"/>
          <p:cNvCxnSpPr/>
          <p:nvPr/>
        </p:nvCxnSpPr>
        <p:spPr>
          <a:xfrm>
            <a:off x="8450092" y="3610051"/>
            <a:ext cx="107716"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42" name="vis:icon"/>
          <p:cNvSpPr/>
          <p:nvPr/>
        </p:nvSpPr>
        <p:spPr>
          <a:xfrm>
            <a:off x="8406658" y="3650010"/>
            <a:ext cx="24323" cy="243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3" name="vis:icon"/>
          <p:cNvCxnSpPr/>
          <p:nvPr/>
        </p:nvCxnSpPr>
        <p:spPr>
          <a:xfrm>
            <a:off x="8450092" y="3662172"/>
            <a:ext cx="107716"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44" name="vis:icon"/>
          <p:cNvSpPr/>
          <p:nvPr/>
        </p:nvSpPr>
        <p:spPr>
          <a:xfrm>
            <a:off x="8406658" y="3702131"/>
            <a:ext cx="24323" cy="243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5" name="vis:icon"/>
          <p:cNvCxnSpPr/>
          <p:nvPr/>
        </p:nvCxnSpPr>
        <p:spPr>
          <a:xfrm>
            <a:off x="8450092" y="3714292"/>
            <a:ext cx="107716"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46" name="cell:checkitem"/>
          <p:cNvSpPr txBox="1"/>
          <p:nvPr/>
        </p:nvSpPr>
        <p:spPr>
          <a:xfrm>
            <a:off x="876482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No — describe the situation in your own words instead.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CHOOSE WHAT YOU'D DO</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Thursday, 3:20 pm</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SEC-07  ·  What Never to Paste Into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vis:sccard"/>
          <p:cNvSpPr/>
          <p:nvPr/>
        </p:nvSpPr>
        <p:spPr>
          <a:xfrm>
            <a:off x="502920" y="1719072"/>
            <a:ext cx="11185855" cy="1097280"/>
          </a:xfrm>
          <a:prstGeom prst="roundRect">
            <a:avLst>
              <a:gd name="adj" fmla="val 8333"/>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942929" y="2063252"/>
            <a:ext cx="180685" cy="180685"/>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843076" y="2315260"/>
            <a:ext cx="380391" cy="166421"/>
          </a:xfrm>
          <a:custGeom>
            <a:avLst/>
            <a:gdLst/>
            <a:ahLst/>
            <a:cxnLst/>
            <a:rect l="l" t="t" r="r" b="b"/>
            <a:pathLst>
              <a:path w="380391" h="166421">
                <a:moveTo>
                  <a:pt x="0" y="166421"/>
                </a:moveTo>
                <a:lnTo>
                  <a:pt x="28530" y="0"/>
                </a:lnTo>
                <a:lnTo>
                  <a:pt x="351861" y="0"/>
                </a:lnTo>
                <a:lnTo>
                  <a:pt x="380391" y="166421"/>
                </a:lnTo>
              </a:path>
            </a:pathLst>
          </a:cu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ody:situation"/>
          <p:cNvSpPr txBox="1"/>
          <p:nvPr/>
        </p:nvSpPr>
        <p:spPr>
          <a:xfrm>
            <a:off x="1472184" y="1901952"/>
            <a:ext cx="9905695" cy="731520"/>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FFFFFF"/>
                </a:solidFill>
                <a:latin typeface="Segoe UI"/>
              </a:rPr>
              <a:t>A tender response is due at 6. The approved assistant on your laptop is down. The tender document runs to 40 pages and you need the eligibility criteria summarised.</a:t>
            </a:r>
          </a:p>
        </p:txBody>
      </p:sp>
      <p:sp>
        <p:nvSpPr>
          <p:cNvPr id="19" name="quiz:choice">
            <a:hlinkClick action="ppaction://hlinksldjump" r:id="rId3"/>
          </p:cNvPr>
          <p:cNvSpPr/>
          <p:nvPr/>
        </p:nvSpPr>
        <p:spPr>
          <a:xfrm>
            <a:off x="502920" y="3108960"/>
            <a:ext cx="3570122" cy="2907792"/>
          </a:xfrm>
          <a:prstGeom prst="roundRect">
            <a:avLst>
              <a:gd name="adj" fmla="val 3144"/>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chip"/>
          <p:cNvSpPr/>
          <p:nvPr/>
        </p:nvSpPr>
        <p:spPr>
          <a:xfrm>
            <a:off x="758952" y="3364991"/>
            <a:ext cx="1296924" cy="274320"/>
          </a:xfrm>
          <a:prstGeom prst="roundRect">
            <a:avLst>
              <a:gd name="adj" fmla="val 16666"/>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iptext"/>
          <p:cNvSpPr txBox="1"/>
          <p:nvPr/>
        </p:nvSpPr>
        <p:spPr>
          <a:xfrm>
            <a:off x="914400" y="3392423"/>
            <a:ext cx="986028"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OPTION A</a:t>
            </a:r>
          </a:p>
        </p:txBody>
      </p:sp>
      <p:sp>
        <p:nvSpPr>
          <p:cNvPr id="22" name="cell:choice"/>
          <p:cNvSpPr txBox="1"/>
          <p:nvPr/>
        </p:nvSpPr>
        <p:spPr>
          <a:xfrm>
            <a:off x="758952" y="3913632"/>
            <a:ext cx="3058058" cy="153619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a:rPr>
              <a:t>Open a free AI site on your phone with your personal login and paste the tender in.</a:t>
            </a:r>
          </a:p>
        </p:txBody>
      </p:sp>
      <p:cxnSp>
        <p:nvCxnSpPr>
          <p:cNvPr id="23" name="vis:choicearrow"/>
          <p:cNvCxnSpPr/>
          <p:nvPr/>
        </p:nvCxnSpPr>
        <p:spPr>
          <a:xfrm>
            <a:off x="758952" y="5632704"/>
            <a:ext cx="292608" cy="0"/>
          </a:xfrm>
          <a:prstGeom prst="line">
            <a:avLst/>
          </a:prstGeom>
          <a:ln w="19050">
            <a:solidFill>
              <a:srgbClr val="7A122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4" name="cell:choicego"/>
          <p:cNvSpPr txBox="1"/>
          <p:nvPr/>
        </p:nvSpPr>
        <p:spPr>
          <a:xfrm>
            <a:off x="1161288" y="5504688"/>
            <a:ext cx="2655722"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See what happens</a:t>
            </a:r>
          </a:p>
        </p:txBody>
      </p:sp>
      <p:sp>
        <p:nvSpPr>
          <p:cNvPr id="25" name="quiz:choice">
            <a:hlinkClick action="ppaction://hlinksldjump" r:id="rId4"/>
          </p:cNvPr>
          <p:cNvSpPr/>
          <p:nvPr/>
        </p:nvSpPr>
        <p:spPr>
          <a:xfrm>
            <a:off x="4310786" y="3108960"/>
            <a:ext cx="3570122" cy="2907792"/>
          </a:xfrm>
          <a:prstGeom prst="roundRect">
            <a:avLst>
              <a:gd name="adj" fmla="val 3144"/>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ip"/>
          <p:cNvSpPr/>
          <p:nvPr/>
        </p:nvSpPr>
        <p:spPr>
          <a:xfrm>
            <a:off x="4566818" y="3364991"/>
            <a:ext cx="1287399" cy="274320"/>
          </a:xfrm>
          <a:prstGeom prst="roundRect">
            <a:avLst>
              <a:gd name="adj" fmla="val 16666"/>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chiptext"/>
          <p:cNvSpPr txBox="1"/>
          <p:nvPr/>
        </p:nvSpPr>
        <p:spPr>
          <a:xfrm>
            <a:off x="4722266" y="3392423"/>
            <a:ext cx="97650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OPTION B</a:t>
            </a:r>
          </a:p>
        </p:txBody>
      </p:sp>
      <p:sp>
        <p:nvSpPr>
          <p:cNvPr id="28" name="cell:choice"/>
          <p:cNvSpPr txBox="1"/>
          <p:nvPr/>
        </p:nvSpPr>
        <p:spPr>
          <a:xfrm>
            <a:off x="4566818" y="3913632"/>
            <a:ext cx="3058058" cy="153619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a:rPr>
              <a:t>Read the eligibility section yourself — it is four pages out of forty.</a:t>
            </a:r>
          </a:p>
        </p:txBody>
      </p:sp>
      <p:cxnSp>
        <p:nvCxnSpPr>
          <p:cNvPr id="29" name="vis:choicearrow"/>
          <p:cNvCxnSpPr/>
          <p:nvPr/>
        </p:nvCxnSpPr>
        <p:spPr>
          <a:xfrm>
            <a:off x="4566818" y="5632704"/>
            <a:ext cx="292608" cy="0"/>
          </a:xfrm>
          <a:prstGeom prst="line">
            <a:avLst/>
          </a:prstGeom>
          <a:ln w="19050">
            <a:solidFill>
              <a:srgbClr val="7A122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0" name="cell:choicego"/>
          <p:cNvSpPr txBox="1"/>
          <p:nvPr/>
        </p:nvSpPr>
        <p:spPr>
          <a:xfrm>
            <a:off x="4969154" y="5504688"/>
            <a:ext cx="2655722"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See what happens</a:t>
            </a:r>
          </a:p>
        </p:txBody>
      </p:sp>
      <p:sp>
        <p:nvSpPr>
          <p:cNvPr id="31" name="quiz:choice">
            <a:hlinkClick action="ppaction://hlinksldjump" r:id="rId5"/>
          </p:cNvPr>
          <p:cNvSpPr/>
          <p:nvPr/>
        </p:nvSpPr>
        <p:spPr>
          <a:xfrm>
            <a:off x="8118652" y="3108960"/>
            <a:ext cx="3570122" cy="2907792"/>
          </a:xfrm>
          <a:prstGeom prst="roundRect">
            <a:avLst>
              <a:gd name="adj" fmla="val 3144"/>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chip"/>
          <p:cNvSpPr/>
          <p:nvPr/>
        </p:nvSpPr>
        <p:spPr>
          <a:xfrm>
            <a:off x="8374684" y="3364991"/>
            <a:ext cx="1290574" cy="274320"/>
          </a:xfrm>
          <a:prstGeom prst="roundRect">
            <a:avLst>
              <a:gd name="adj" fmla="val 16666"/>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chiptext"/>
          <p:cNvSpPr txBox="1"/>
          <p:nvPr/>
        </p:nvSpPr>
        <p:spPr>
          <a:xfrm>
            <a:off x="8530132" y="3392423"/>
            <a:ext cx="979677"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OPTION C</a:t>
            </a:r>
          </a:p>
        </p:txBody>
      </p:sp>
      <p:sp>
        <p:nvSpPr>
          <p:cNvPr id="34" name="cell:choice"/>
          <p:cNvSpPr txBox="1"/>
          <p:nvPr/>
        </p:nvSpPr>
        <p:spPr>
          <a:xfrm>
            <a:off x="8374684" y="3913632"/>
            <a:ext cx="3058058" cy="153619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a:rPr>
              <a:t>Ask a colleague to run it through their approved account.</a:t>
            </a:r>
          </a:p>
        </p:txBody>
      </p:sp>
      <p:cxnSp>
        <p:nvCxnSpPr>
          <p:cNvPr id="35" name="vis:choicearrow"/>
          <p:cNvCxnSpPr/>
          <p:nvPr/>
        </p:nvCxnSpPr>
        <p:spPr>
          <a:xfrm>
            <a:off x="8374684" y="5632704"/>
            <a:ext cx="292608" cy="0"/>
          </a:xfrm>
          <a:prstGeom prst="line">
            <a:avLst/>
          </a:prstGeom>
          <a:ln w="19050">
            <a:solidFill>
              <a:srgbClr val="7A122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6" name="cell:choicego"/>
          <p:cNvSpPr txBox="1"/>
          <p:nvPr/>
        </p:nvSpPr>
        <p:spPr>
          <a:xfrm>
            <a:off x="8777020" y="5504688"/>
            <a:ext cx="2655722"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See what happens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The fastest route to a reportable incident</a:t>
            </a:r>
          </a:p>
        </p:txBody>
      </p:sp>
      <p:sp>
        <p:nvSpPr>
          <p:cNvPr id="6" name="body:consequence"/>
          <p:cNvSpPr txBox="1"/>
          <p:nvPr/>
        </p:nvSpPr>
        <p:spPr>
          <a:xfrm>
            <a:off x="502920" y="1517904"/>
            <a:ext cx="6448882" cy="265176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The tender carries our pricing approach, our client references and the authority's terms. It now sits in a personal account, under an agreement nobody here has read, with no record that it happened. The deadline was met. The problem was not.</a:t>
            </a:r>
          </a:p>
        </p:txBody>
      </p:sp>
      <p:sp>
        <p:nvSpPr>
          <p:cNvPr id="7" name="vis:fbcard"/>
          <p:cNvSpPr/>
          <p:nvPr/>
        </p:nvSpPr>
        <p:spPr>
          <a:xfrm>
            <a:off x="8082076" y="1517904"/>
            <a:ext cx="3606698" cy="2194560"/>
          </a:xfrm>
          <a:prstGeom prst="roundRect">
            <a:avLst>
              <a:gd name="adj" fmla="val 4166"/>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seclabel"/>
          <p:cNvSpPr txBox="1"/>
          <p:nvPr/>
        </p:nvSpPr>
        <p:spPr>
          <a:xfrm>
            <a:off x="8356396" y="1755648"/>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THE RULE</a:t>
            </a:r>
          </a:p>
        </p:txBody>
      </p:sp>
      <p:sp>
        <p:nvSpPr>
          <p:cNvPr id="9" name="cell:rule"/>
          <p:cNvSpPr txBox="1"/>
          <p:nvPr/>
        </p:nvSpPr>
        <p:spPr>
          <a:xfrm>
            <a:off x="8356396" y="2121408"/>
            <a:ext cx="3058058" cy="137160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 deadline is not an exception. No deadline has ever been worth an uncontrolled disclosure.</a:t>
            </a:r>
          </a:p>
        </p:txBody>
      </p:sp>
      <p:sp>
        <p:nvSpPr>
          <p:cNvPr id="10" name="nav:scback">
            <a:hlinkClick action="ppaction://hlinksldjump" r:id="rId2"/>
          </p:cNvPr>
          <p:cNvSpPr/>
          <p:nvPr/>
        </p:nvSpPr>
        <p:spPr>
          <a:xfrm>
            <a:off x="502920" y="4718304"/>
            <a:ext cx="3017520" cy="566928"/>
          </a:xfrm>
          <a:prstGeom prst="roundRect">
            <a:avLst>
              <a:gd name="adj" fmla="val 967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1" name="nav:scbacktext"/>
          <p:cNvSpPr txBox="1"/>
          <p:nvPr/>
        </p:nvSpPr>
        <p:spPr>
          <a:xfrm>
            <a:off x="777240" y="4882896"/>
            <a:ext cx="246888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situation  →</a:t>
            </a:r>
          </a:p>
        </p:txBody>
      </p:sp>
      <p:sp>
        <p:nvSpPr>
          <p:cNvPr id="12"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SEC-07  ·  What Never to Paste Into AI</a:t>
            </a:r>
          </a:p>
        </p:txBody>
      </p:sp>
      <p:sp>
        <p:nvSpPr>
          <p:cNvPr id="13"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4"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6"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7"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0"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1"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Twelve minutes, and no exposure at all</a:t>
            </a:r>
          </a:p>
        </p:txBody>
      </p:sp>
      <p:sp>
        <p:nvSpPr>
          <p:cNvPr id="6" name="body:consequence"/>
          <p:cNvSpPr txBox="1"/>
          <p:nvPr/>
        </p:nvSpPr>
        <p:spPr>
          <a:xfrm>
            <a:off x="502920" y="1517904"/>
            <a:ext cx="6448882" cy="265176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Eligibility criteria are almost always one short section. You read four pages, list the six criteria, and use the assistant only to tidy the wording of the six lines you typed yourself. No document ever left your control.</a:t>
            </a:r>
          </a:p>
        </p:txBody>
      </p:sp>
      <p:sp>
        <p:nvSpPr>
          <p:cNvPr id="7" name="vis:fbcard"/>
          <p:cNvSpPr/>
          <p:nvPr/>
        </p:nvSpPr>
        <p:spPr>
          <a:xfrm>
            <a:off x="8082076" y="1517904"/>
            <a:ext cx="3606698" cy="2194560"/>
          </a:xfrm>
          <a:prstGeom prst="roundRect">
            <a:avLst>
              <a:gd name="adj" fmla="val 4166"/>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seclabel"/>
          <p:cNvSpPr txBox="1"/>
          <p:nvPr/>
        </p:nvSpPr>
        <p:spPr>
          <a:xfrm>
            <a:off x="8356396" y="1755648"/>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THE RULE</a:t>
            </a:r>
          </a:p>
        </p:txBody>
      </p:sp>
      <p:sp>
        <p:nvSpPr>
          <p:cNvPr id="9" name="cell:rule"/>
          <p:cNvSpPr txBox="1"/>
          <p:nvPr/>
        </p:nvSpPr>
        <p:spPr>
          <a:xfrm>
            <a:off x="8356396" y="2121408"/>
            <a:ext cx="3058058" cy="137160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Ask the tool for wording. Do the reading yourself.</a:t>
            </a:r>
          </a:p>
        </p:txBody>
      </p:sp>
      <p:sp>
        <p:nvSpPr>
          <p:cNvPr id="10" name="nav:scback">
            <a:hlinkClick action="ppaction://hlinksldjump" r:id="rId2"/>
          </p:cNvPr>
          <p:cNvSpPr/>
          <p:nvPr/>
        </p:nvSpPr>
        <p:spPr>
          <a:xfrm>
            <a:off x="502920" y="4718304"/>
            <a:ext cx="3017520" cy="566928"/>
          </a:xfrm>
          <a:prstGeom prst="roundRect">
            <a:avLst>
              <a:gd name="adj" fmla="val 967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1" name="nav:scbacktext"/>
          <p:cNvSpPr txBox="1"/>
          <p:nvPr/>
        </p:nvSpPr>
        <p:spPr>
          <a:xfrm>
            <a:off x="777240" y="4882896"/>
            <a:ext cx="246888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situation  →</a:t>
            </a:r>
          </a:p>
        </p:txBody>
      </p:sp>
      <p:sp>
        <p:nvSpPr>
          <p:cNvPr id="12"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SEC-07  ·  What Never to Paste Into AI</a:t>
            </a:r>
          </a:p>
        </p:txBody>
      </p:sp>
      <p:sp>
        <p:nvSpPr>
          <p:cNvPr id="13"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4"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6"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7"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0"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1"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vis:icon"/>
          <p:cNvSpPr/>
          <p:nvPr/>
        </p:nvSpPr>
        <p:spPr>
          <a:xfrm>
            <a:off x="519744" y="409285"/>
            <a:ext cx="386975" cy="353324"/>
          </a:xfrm>
          <a:custGeom>
            <a:avLst/>
            <a:gdLst/>
            <a:ahLst/>
            <a:cxnLst/>
            <a:rect l="l" t="t" r="r" b="b"/>
            <a:pathLst>
              <a:path w="386975" h="353324">
                <a:moveTo>
                  <a:pt x="193488" y="0"/>
                </a:moveTo>
                <a:lnTo>
                  <a:pt x="386975" y="353324"/>
                </a:lnTo>
                <a:lnTo>
                  <a:pt x="0" y="353324"/>
                </a:lnTo>
                <a:close/>
              </a:path>
            </a:pathLst>
          </a:cu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vis:icon"/>
          <p:cNvCxnSpPr/>
          <p:nvPr/>
        </p:nvCxnSpPr>
        <p:spPr>
          <a:xfrm>
            <a:off x="713232" y="543885"/>
            <a:ext cx="0" cy="105156"/>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vis:icon"/>
          <p:cNvSpPr/>
          <p:nvPr/>
        </p:nvSpPr>
        <p:spPr>
          <a:xfrm>
            <a:off x="692200" y="686897"/>
            <a:ext cx="42062" cy="4206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Sensible — but check one thing first</a:t>
            </a:r>
          </a:p>
        </p:txBody>
      </p:sp>
      <p:sp>
        <p:nvSpPr>
          <p:cNvPr id="7" name="body:consequence"/>
          <p:cNvSpPr txBox="1"/>
          <p:nvPr/>
        </p:nvSpPr>
        <p:spPr>
          <a:xfrm>
            <a:off x="502920" y="1517904"/>
            <a:ext cx="6448882" cy="265176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This is often the right call. What you have to confirm is that their account really is the approved one, and not their own personal login. Handing a confidential document to a colleague does not make an unapproved tool approved.</a:t>
            </a:r>
          </a:p>
        </p:txBody>
      </p:sp>
      <p:sp>
        <p:nvSpPr>
          <p:cNvPr id="8" name="vis:fbcard"/>
          <p:cNvSpPr/>
          <p:nvPr/>
        </p:nvSpPr>
        <p:spPr>
          <a:xfrm>
            <a:off x="8082076" y="1517904"/>
            <a:ext cx="3606698" cy="2194560"/>
          </a:xfrm>
          <a:prstGeom prst="roundRect">
            <a:avLst>
              <a:gd name="adj" fmla="val 4166"/>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1755648"/>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THE RULE</a:t>
            </a:r>
          </a:p>
        </p:txBody>
      </p:sp>
      <p:sp>
        <p:nvSpPr>
          <p:cNvPr id="10" name="cell:rule"/>
          <p:cNvSpPr txBox="1"/>
          <p:nvPr/>
        </p:nvSpPr>
        <p:spPr>
          <a:xfrm>
            <a:off x="8356396" y="2121408"/>
            <a:ext cx="3058058" cy="137160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Approved means the company's agreement — not a colleague's goodwill.</a:t>
            </a:r>
          </a:p>
        </p:txBody>
      </p:sp>
      <p:sp>
        <p:nvSpPr>
          <p:cNvPr id="11" name="nav:scback">
            <a:hlinkClick action="ppaction://hlinksldjump" r:id="rId2"/>
          </p:cNvPr>
          <p:cNvSpPr/>
          <p:nvPr/>
        </p:nvSpPr>
        <p:spPr>
          <a:xfrm>
            <a:off x="502920" y="4718304"/>
            <a:ext cx="3017520" cy="566928"/>
          </a:xfrm>
          <a:prstGeom prst="roundRect">
            <a:avLst>
              <a:gd name="adj" fmla="val 967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scbacktext"/>
          <p:cNvSpPr txBox="1"/>
          <p:nvPr/>
        </p:nvSpPr>
        <p:spPr>
          <a:xfrm>
            <a:off x="777240" y="4882896"/>
            <a:ext cx="246888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situation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SEC-07  ·  What Never to Paste Into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WATCH THIS</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Seven minutes on what leaks</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SEC-07  ·  What Never to Paste Into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3"/>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nav:video">
            <a:hlinkClick r:id="rId2"/>
          </p:cNvPr>
          <p:cNvSpPr/>
          <p:nvPr/>
        </p:nvSpPr>
        <p:spPr>
          <a:xfrm>
            <a:off x="502920" y="1719072"/>
            <a:ext cx="6448882" cy="4297680"/>
          </a:xfrm>
          <a:prstGeom prst="roundRect">
            <a:avLst>
              <a:gd name="adj" fmla="val 2127"/>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play"/>
          <p:cNvSpPr/>
          <p:nvPr/>
        </p:nvSpPr>
        <p:spPr>
          <a:xfrm>
            <a:off x="1161288" y="2432303"/>
            <a:ext cx="950976" cy="950976"/>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playtri"/>
          <p:cNvSpPr/>
          <p:nvPr/>
        </p:nvSpPr>
        <p:spPr>
          <a:xfrm>
            <a:off x="1499616" y="2679191"/>
            <a:ext cx="384048" cy="457200"/>
          </a:xfrm>
          <a:custGeom>
            <a:avLst/>
            <a:gdLst/>
            <a:ahLst/>
            <a:cxnLst/>
            <a:rect l="l" t="t" r="r" b="b"/>
            <a:pathLst>
              <a:path w="384048" h="457200">
                <a:moveTo>
                  <a:pt x="0" y="0"/>
                </a:moveTo>
                <a:lnTo>
                  <a:pt x="384048" y="228600"/>
                </a:lnTo>
                <a:lnTo>
                  <a:pt x="0" y="457200"/>
                </a:lnTo>
                <a:close/>
              </a:path>
            </a:pathLst>
          </a:cu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ody:videotitle"/>
          <p:cNvSpPr txBox="1"/>
          <p:nvPr/>
        </p:nvSpPr>
        <p:spPr>
          <a:xfrm>
            <a:off x="2514600" y="2231136"/>
            <a:ext cx="4126306" cy="1371600"/>
          </a:xfrm>
          <a:prstGeom prst="rect">
            <a:avLst/>
          </a:prstGeom>
          <a:noFill/>
        </p:spPr>
        <p:txBody>
          <a:bodyPr wrap="square" lIns="0" rIns="0" tIns="0" bIns="0" anchor="t">
            <a:spAutoFit/>
          </a:bodyPr>
          <a:lstStyle/>
          <a:p>
            <a:pPr algn="l">
              <a:lnSpc>
                <a:spcPts val="2730"/>
              </a:lnSpc>
              <a:spcBef>
                <a:spcPts val="0"/>
              </a:spcBef>
              <a:spcAft>
                <a:spcPts val="0"/>
              </a:spcAft>
            </a:pPr>
            <a:r>
              <a:rPr sz="2100" b="0">
                <a:solidFill>
                  <a:srgbClr val="FFFFFF"/>
                </a:solidFill>
                <a:latin typeface="Segoe UI Semibold"/>
              </a:rPr>
              <a:t>Don’t share your SECRETS with ChatGPT, protect your PRIVACY</a:t>
            </a:r>
          </a:p>
        </p:txBody>
      </p:sp>
      <p:sp>
        <p:nvSpPr>
          <p:cNvPr id="19" name="vis:chip"/>
          <p:cNvSpPr/>
          <p:nvPr/>
        </p:nvSpPr>
        <p:spPr>
          <a:xfrm>
            <a:off x="868680" y="3858768"/>
            <a:ext cx="1752020" cy="292608"/>
          </a:xfrm>
          <a:prstGeom prst="roundRect">
            <a:avLst>
              <a:gd name="adj" fmla="val 15625"/>
            </a:avLst>
          </a:prstGeom>
          <a:noFill/>
          <a:ln w="12700">
            <a:solidFill>
              <a:srgbClr val="848D9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chiptext"/>
          <p:cNvSpPr txBox="1"/>
          <p:nvPr/>
        </p:nvSpPr>
        <p:spPr>
          <a:xfrm>
            <a:off x="1024128" y="3895344"/>
            <a:ext cx="1441124"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848D9A"/>
                </a:solidFill>
                <a:latin typeface="Segoe UI Semibold"/>
              </a:rPr>
              <a:t>DAVID BOMBAL</a:t>
            </a:r>
          </a:p>
        </p:txBody>
      </p:sp>
      <p:sp>
        <p:nvSpPr>
          <p:cNvPr id="21" name="vis:chip"/>
          <p:cNvSpPr/>
          <p:nvPr/>
        </p:nvSpPr>
        <p:spPr>
          <a:xfrm>
            <a:off x="2767004" y="3858768"/>
            <a:ext cx="1198499" cy="292608"/>
          </a:xfrm>
          <a:prstGeom prst="roundRect">
            <a:avLst>
              <a:gd name="adj" fmla="val 15625"/>
            </a:avLst>
          </a:prstGeom>
          <a:noFill/>
          <a:ln w="12700">
            <a:solidFill>
              <a:srgbClr val="848D9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chiptext"/>
          <p:cNvSpPr txBox="1"/>
          <p:nvPr/>
        </p:nvSpPr>
        <p:spPr>
          <a:xfrm>
            <a:off x="2922452" y="3895344"/>
            <a:ext cx="88760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848D9A"/>
                </a:solidFill>
                <a:latin typeface="Segoe UI Semibold"/>
              </a:rPr>
              <a:t>7:17 MIN</a:t>
            </a:r>
          </a:p>
        </p:txBody>
      </p:sp>
      <p:cxnSp>
        <p:nvCxnSpPr>
          <p:cNvPr id="23" name="vis:rule"/>
          <p:cNvCxnSpPr/>
          <p:nvPr/>
        </p:nvCxnSpPr>
        <p:spPr>
          <a:xfrm>
            <a:off x="868680" y="4425696"/>
            <a:ext cx="5717362" cy="0"/>
          </a:xfrm>
          <a:prstGeom prst="line">
            <a:avLst/>
          </a:prstGeom>
          <a:ln w="1270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24" name="body:videonote"/>
          <p:cNvSpPr txBox="1"/>
          <p:nvPr/>
        </p:nvSpPr>
        <p:spPr>
          <a:xfrm>
            <a:off x="868680" y="4645152"/>
            <a:ext cx="5717362" cy="548640"/>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848D9A"/>
                </a:solidFill>
                <a:latin typeface="Segoe UI"/>
              </a:rPr>
              <a:t>An outside video, not company material. Where it differs from this module, follow this module.</a:t>
            </a:r>
          </a:p>
        </p:txBody>
      </p:sp>
      <p:sp>
        <p:nvSpPr>
          <p:cNvPr id="25" name="nav:videobtn">
            <a:hlinkClick r:id="rId2"/>
          </p:cNvPr>
          <p:cNvSpPr/>
          <p:nvPr/>
        </p:nvSpPr>
        <p:spPr>
          <a:xfrm>
            <a:off x="868680" y="5230368"/>
            <a:ext cx="3017520" cy="493776"/>
          </a:xfrm>
          <a:prstGeom prst="roundRect">
            <a:avLst>
              <a:gd name="adj" fmla="val 11111"/>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icon"/>
          <p:cNvSpPr/>
          <p:nvPr/>
        </p:nvSpPr>
        <p:spPr>
          <a:xfrm>
            <a:off x="1069116" y="5370819"/>
            <a:ext cx="153619" cy="153619"/>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1202253" y="5503956"/>
            <a:ext cx="61447" cy="61448"/>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8" name="nav:videobtntext"/>
          <p:cNvSpPr txBox="1"/>
          <p:nvPr/>
        </p:nvSpPr>
        <p:spPr>
          <a:xfrm>
            <a:off x="1417320" y="5358384"/>
            <a:ext cx="2286000" cy="23774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Click to open on YouTube</a:t>
            </a:r>
          </a:p>
        </p:txBody>
      </p:sp>
      <p:sp>
        <p:nvSpPr>
          <p:cNvPr id="29" name="vis:videohow"/>
          <p:cNvSpPr/>
          <p:nvPr/>
        </p:nvSpPr>
        <p:spPr>
          <a:xfrm>
            <a:off x="8082076" y="1719072"/>
            <a:ext cx="3606698" cy="4297680"/>
          </a:xfrm>
          <a:prstGeom prst="roundRect">
            <a:avLst>
              <a:gd name="adj" fmla="val 253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videospine"/>
          <p:cNvSpPr/>
          <p:nvPr/>
        </p:nvSpPr>
        <p:spPr>
          <a:xfrm>
            <a:off x="8082076" y="1719072"/>
            <a:ext cx="68580" cy="4297680"/>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seclabel"/>
          <p:cNvSpPr txBox="1"/>
          <p:nvPr/>
        </p:nvSpPr>
        <p:spPr>
          <a:xfrm>
            <a:off x="8392972" y="2029967"/>
            <a:ext cx="2984906"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HOW TO USE IT</a:t>
            </a:r>
          </a:p>
        </p:txBody>
      </p:sp>
      <p:cxnSp>
        <p:nvCxnSpPr>
          <p:cNvPr id="32" name="vis:icon"/>
          <p:cNvCxnSpPr/>
          <p:nvPr/>
        </p:nvCxnSpPr>
        <p:spPr>
          <a:xfrm>
            <a:off x="8439424" y="2628351"/>
            <a:ext cx="52304" cy="52304"/>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flipV="1">
            <a:off x="8491728" y="2568000"/>
            <a:ext cx="96560" cy="112655"/>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34" name="cell:why"/>
          <p:cNvSpPr txBox="1"/>
          <p:nvPr/>
        </p:nvSpPr>
        <p:spPr>
          <a:xfrm>
            <a:off x="8777020" y="2468879"/>
            <a:ext cx="2600858" cy="96926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Optional. Everything you need is already in this deck.</a:t>
            </a:r>
          </a:p>
        </p:txBody>
      </p:sp>
      <p:cxnSp>
        <p:nvCxnSpPr>
          <p:cNvPr id="35" name="vis:icon"/>
          <p:cNvCxnSpPr/>
          <p:nvPr/>
        </p:nvCxnSpPr>
        <p:spPr>
          <a:xfrm>
            <a:off x="8439424" y="3743919"/>
            <a:ext cx="52304" cy="52304"/>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cxnSp>
        <p:nvCxnSpPr>
          <p:cNvPr id="36" name="vis:icon"/>
          <p:cNvCxnSpPr/>
          <p:nvPr/>
        </p:nvCxnSpPr>
        <p:spPr>
          <a:xfrm flipV="1">
            <a:off x="8491728" y="3683568"/>
            <a:ext cx="96560" cy="112655"/>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37" name="cell:why"/>
          <p:cNvSpPr txBox="1"/>
          <p:nvPr/>
        </p:nvSpPr>
        <p:spPr>
          <a:xfrm>
            <a:off x="8777020" y="3584448"/>
            <a:ext cx="2600858" cy="96926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Useful if you prefer watching to reading.</a:t>
            </a:r>
          </a:p>
        </p:txBody>
      </p:sp>
      <p:cxnSp>
        <p:nvCxnSpPr>
          <p:cNvPr id="38" name="vis:icon"/>
          <p:cNvCxnSpPr/>
          <p:nvPr/>
        </p:nvCxnSpPr>
        <p:spPr>
          <a:xfrm>
            <a:off x="8439424" y="4859487"/>
            <a:ext cx="52304" cy="52304"/>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cxnSp>
        <p:nvCxnSpPr>
          <p:cNvPr id="39" name="vis:icon"/>
          <p:cNvCxnSpPr/>
          <p:nvPr/>
        </p:nvCxnSpPr>
        <p:spPr>
          <a:xfrm flipV="1">
            <a:off x="8491728" y="4799136"/>
            <a:ext cx="96560" cy="112655"/>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40" name="cell:why"/>
          <p:cNvSpPr txBox="1"/>
          <p:nvPr/>
        </p:nvSpPr>
        <p:spPr>
          <a:xfrm>
            <a:off x="8777020" y="4700016"/>
            <a:ext cx="2600858" cy="96926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It opens in your browser. Turn the sound 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QUIZ  ·  QUESTION 1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Which of these is safe to paste?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SEC-07  ·  What Never to Paste Into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vis:stem"/>
          <p:cNvSpPr/>
          <p:nvPr/>
        </p:nvSpPr>
        <p:spPr>
          <a:xfrm>
            <a:off x="502920" y="1719072"/>
            <a:ext cx="11185855" cy="713232"/>
          </a:xfrm>
          <a:prstGeom prst="roundRect">
            <a:avLst>
              <a:gd name="adj" fmla="val 10256"/>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780897" y="1976932"/>
            <a:ext cx="230428" cy="153619"/>
          </a:xfrm>
          <a:prstGeom prst="roundRect">
            <a:avLst>
              <a:gd name="adj" fmla="val 29761"/>
            </a:avLst>
          </a:prstGeom>
          <a:noFill/>
          <a:ln w="1905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flipH="1">
            <a:off x="824788" y="2130552"/>
            <a:ext cx="10973" cy="6035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cxnSp>
        <p:nvCxnSpPr>
          <p:cNvPr id="18" name="vis:icon"/>
          <p:cNvCxnSpPr/>
          <p:nvPr/>
        </p:nvCxnSpPr>
        <p:spPr>
          <a:xfrm flipV="1">
            <a:off x="824788" y="2130552"/>
            <a:ext cx="60351" cy="6035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9" name="cell:stem"/>
          <p:cNvSpPr txBox="1"/>
          <p:nvPr/>
        </p:nvSpPr>
        <p:spPr>
          <a:xfrm>
            <a:off x="1197864" y="1828800"/>
            <a:ext cx="10234879" cy="493776"/>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You are drafting a reply to a customer whose order arrived two cartons short.</a:t>
            </a:r>
          </a:p>
        </p:txBody>
      </p:sp>
      <p:sp>
        <p:nvSpPr>
          <p:cNvPr id="20" name="quiz:answer">
            <a:hlinkClick action="ppaction://hlinksldjump" r:id="rId3"/>
          </p:cNvPr>
          <p:cNvSpPr/>
          <p:nvPr/>
        </p:nvSpPr>
        <p:spPr>
          <a:xfrm>
            <a:off x="502920" y="2633472"/>
            <a:ext cx="5501487" cy="1600200"/>
          </a:xfrm>
          <a:prstGeom prst="roundRect">
            <a:avLst>
              <a:gd name="adj" fmla="val 4571"/>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
          <p:cNvSpPr/>
          <p:nvPr/>
        </p:nvSpPr>
        <p:spPr>
          <a:xfrm>
            <a:off x="740664" y="3250691"/>
            <a:ext cx="365760" cy="365760"/>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answerkeytext"/>
          <p:cNvSpPr txBox="1"/>
          <p:nvPr/>
        </p:nvSpPr>
        <p:spPr>
          <a:xfrm>
            <a:off x="740664" y="33284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23" name="cell:answer"/>
          <p:cNvSpPr txBox="1"/>
          <p:nvPr/>
        </p:nvSpPr>
        <p:spPr>
          <a:xfrm>
            <a:off x="1252728" y="2761488"/>
            <a:ext cx="4495647" cy="13441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The customer's email, exactly as they sent it</a:t>
            </a:r>
          </a:p>
        </p:txBody>
      </p:sp>
      <p:sp>
        <p:nvSpPr>
          <p:cNvPr id="24" name="quiz:answer">
            <a:hlinkClick action="ppaction://hlinksldjump" r:id="rId4"/>
          </p:cNvPr>
          <p:cNvSpPr/>
          <p:nvPr/>
        </p:nvSpPr>
        <p:spPr>
          <a:xfrm>
            <a:off x="6187287" y="2633472"/>
            <a:ext cx="5501487" cy="1600200"/>
          </a:xfrm>
          <a:prstGeom prst="roundRect">
            <a:avLst>
              <a:gd name="adj" fmla="val 4571"/>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
          <p:cNvSpPr/>
          <p:nvPr/>
        </p:nvSpPr>
        <p:spPr>
          <a:xfrm>
            <a:off x="6425031" y="3250691"/>
            <a:ext cx="365760" cy="365760"/>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answerkeytext"/>
          <p:cNvSpPr txBox="1"/>
          <p:nvPr/>
        </p:nvSpPr>
        <p:spPr>
          <a:xfrm>
            <a:off x="6425031" y="33284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7" name="cell:answer"/>
          <p:cNvSpPr txBox="1"/>
          <p:nvPr/>
        </p:nvSpPr>
        <p:spPr>
          <a:xfrm>
            <a:off x="6937095" y="2761488"/>
            <a:ext cx="4495647" cy="13441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 description of what happened, with no names</a:t>
            </a:r>
          </a:p>
        </p:txBody>
      </p:sp>
      <p:sp>
        <p:nvSpPr>
          <p:cNvPr id="28" name="quiz:answer">
            <a:hlinkClick action="ppaction://hlinksldjump" r:id="rId5"/>
          </p:cNvPr>
          <p:cNvSpPr/>
          <p:nvPr/>
        </p:nvSpPr>
        <p:spPr>
          <a:xfrm>
            <a:off x="502920" y="4416552"/>
            <a:ext cx="5501487" cy="1600200"/>
          </a:xfrm>
          <a:prstGeom prst="roundRect">
            <a:avLst>
              <a:gd name="adj" fmla="val 4571"/>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
          <p:cNvSpPr/>
          <p:nvPr/>
        </p:nvSpPr>
        <p:spPr>
          <a:xfrm>
            <a:off x="740664" y="5033772"/>
            <a:ext cx="365760" cy="365760"/>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answerkeytext"/>
          <p:cNvSpPr txBox="1"/>
          <p:nvPr/>
        </p:nvSpPr>
        <p:spPr>
          <a:xfrm>
            <a:off x="740664" y="51114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31" name="cell:answer"/>
          <p:cNvSpPr txBox="1"/>
          <p:nvPr/>
        </p:nvSpPr>
        <p:spPr>
          <a:xfrm>
            <a:off x="1252728" y="4544568"/>
            <a:ext cx="4495647" cy="13441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The customer's email with the name deleted</a:t>
            </a:r>
          </a:p>
        </p:txBody>
      </p:sp>
      <p:sp>
        <p:nvSpPr>
          <p:cNvPr id="32" name="quiz:answer">
            <a:hlinkClick action="ppaction://hlinksldjump" r:id="rId6"/>
          </p:cNvPr>
          <p:cNvSpPr/>
          <p:nvPr/>
        </p:nvSpPr>
        <p:spPr>
          <a:xfrm>
            <a:off x="6187287" y="4416552"/>
            <a:ext cx="5501487" cy="1600200"/>
          </a:xfrm>
          <a:prstGeom prst="roundRect">
            <a:avLst>
              <a:gd name="adj" fmla="val 4571"/>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answerkey"/>
          <p:cNvSpPr/>
          <p:nvPr/>
        </p:nvSpPr>
        <p:spPr>
          <a:xfrm>
            <a:off x="6425031" y="5033772"/>
            <a:ext cx="365760" cy="365760"/>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vis:answerkeytext"/>
          <p:cNvSpPr txBox="1"/>
          <p:nvPr/>
        </p:nvSpPr>
        <p:spPr>
          <a:xfrm>
            <a:off x="6425031" y="51114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5" name="cell:answer"/>
          <p:cNvSpPr txBox="1"/>
          <p:nvPr/>
        </p:nvSpPr>
        <p:spPr>
          <a:xfrm>
            <a:off x="6937095" y="4544568"/>
            <a:ext cx="4495647" cy="13441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The full order history, so it has proper context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The customer's email, exactly as they sent it</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Their email carries their name, their signature block and usually a phone number and address. All of it goes outside the company for no benefit — the tool does not need to know who they are to write well.</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Describe the situation. Never forward the document.</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SEC-07  ·  What Never to Paste Into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A description of what happened, with no names</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This is the habit to build. "An order was short by two cartons and the customer wants a credit note." Everything it needs to write, nothing that could harm anyone if it leaked.</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Describe the situation. Never forward the document.</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SEC-07  ·  What Never to Paste Into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The customer's email with the name deleted</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Better, but not enough. Signature blocks, order numbers, addresses and phone numbers survive that edit, and any one of them identifies the customer. Rewriting the situation is faster than sanitising a real email.</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Describe the situation. Never forward the document.</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SEC-07  ·  What Never to Paste Into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The full order history, so it has proper context</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Far more data for no extra quality. Every extra row is more personal information outside our control, and none of it changes the four paragraphs you get back.</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Describe the situation. Never forward the document.</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SEC-07  ·  What Never to Paste Into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QUIZ  ·  QUESTION 2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Why is a personal account worse?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SEC-07  ·  What Never to Paste Into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It gives worse answers</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It gives up the company's contractual, security and audit controls</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It is slower</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There is no real difference if you are careful</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It gives worse answers</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The answers are usually similar — which is exactly why people reach for it. The problem is not the output, it is that nobody can account for what went in.</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The account you use decides who is accountable.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SEC-07  ·  What Never to Paste Into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It gives up the company's contractual, security and audit controls</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That is the real difference. A work account brings an agreement, a record, and somebody who can act when a mistake happens. A personal account may provide none of that, and the trail ends at you.</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The account you use decides who is accountable.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SEC-07  ·  What Never to Paste Into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It is slower</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Speed was never the issue. A personal account is often quicker to open, which is precisely why this mistake is so common on a busy afternoon.</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The account you use decides who is accountable.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SEC-07  ·  What Never to Paste Into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There is no real difference if you are careful</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Care does not create a contract. Even a perfect paste into a personal account leaves the company unable to tell a client or an auditor what happened to their data.</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The account you use decides who is accountable.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SEC-07  ·  What Never to Paste Into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QUIZ  ·  QUESTION 3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You pasted a client list. What now?</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SEC-07  ·  What Never to Paste Into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vis:stem"/>
          <p:cNvSpPr/>
          <p:nvPr/>
        </p:nvSpPr>
        <p:spPr>
          <a:xfrm>
            <a:off x="502920" y="1719072"/>
            <a:ext cx="11185855" cy="713232"/>
          </a:xfrm>
          <a:prstGeom prst="roundRect">
            <a:avLst>
              <a:gd name="adj" fmla="val 10256"/>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780897" y="1976932"/>
            <a:ext cx="230428" cy="153619"/>
          </a:xfrm>
          <a:prstGeom prst="roundRect">
            <a:avLst>
              <a:gd name="adj" fmla="val 29761"/>
            </a:avLst>
          </a:prstGeom>
          <a:noFill/>
          <a:ln w="1905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flipH="1">
            <a:off x="824788" y="2130552"/>
            <a:ext cx="10973" cy="6035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cxnSp>
        <p:nvCxnSpPr>
          <p:cNvPr id="18" name="vis:icon"/>
          <p:cNvCxnSpPr/>
          <p:nvPr/>
        </p:nvCxnSpPr>
        <p:spPr>
          <a:xfrm flipV="1">
            <a:off x="824788" y="2130552"/>
            <a:ext cx="60351" cy="6035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9" name="cell:stem"/>
          <p:cNvSpPr txBox="1"/>
          <p:nvPr/>
        </p:nvSpPr>
        <p:spPr>
          <a:xfrm>
            <a:off x="1197864" y="1828800"/>
            <a:ext cx="10234879" cy="493776"/>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An hour later you realise the file you pasted held about 200 customer names.</a:t>
            </a:r>
          </a:p>
        </p:txBody>
      </p:sp>
      <p:sp>
        <p:nvSpPr>
          <p:cNvPr id="20" name="quiz:answer">
            <a:hlinkClick action="ppaction://hlinksldjump" r:id="rId3"/>
          </p:cNvPr>
          <p:cNvSpPr/>
          <p:nvPr/>
        </p:nvSpPr>
        <p:spPr>
          <a:xfrm>
            <a:off x="502920" y="2633472"/>
            <a:ext cx="5501487" cy="1600200"/>
          </a:xfrm>
          <a:prstGeom prst="roundRect">
            <a:avLst>
              <a:gd name="adj" fmla="val 4571"/>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
          <p:cNvSpPr/>
          <p:nvPr/>
        </p:nvSpPr>
        <p:spPr>
          <a:xfrm>
            <a:off x="740664" y="3250691"/>
            <a:ext cx="365760" cy="365760"/>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answerkeytext"/>
          <p:cNvSpPr txBox="1"/>
          <p:nvPr/>
        </p:nvSpPr>
        <p:spPr>
          <a:xfrm>
            <a:off x="740664" y="33284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23" name="cell:answer"/>
          <p:cNvSpPr txBox="1"/>
          <p:nvPr/>
        </p:nvSpPr>
        <p:spPr>
          <a:xfrm>
            <a:off x="1252728" y="2761488"/>
            <a:ext cx="4495647" cy="13441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Delete the conversation and move on</a:t>
            </a:r>
          </a:p>
        </p:txBody>
      </p:sp>
      <p:sp>
        <p:nvSpPr>
          <p:cNvPr id="24" name="quiz:answer">
            <a:hlinkClick action="ppaction://hlinksldjump" r:id="rId4"/>
          </p:cNvPr>
          <p:cNvSpPr/>
          <p:nvPr/>
        </p:nvSpPr>
        <p:spPr>
          <a:xfrm>
            <a:off x="6187287" y="2633472"/>
            <a:ext cx="5501487" cy="1600200"/>
          </a:xfrm>
          <a:prstGeom prst="roundRect">
            <a:avLst>
              <a:gd name="adj" fmla="val 4571"/>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
          <p:cNvSpPr/>
          <p:nvPr/>
        </p:nvSpPr>
        <p:spPr>
          <a:xfrm>
            <a:off x="6425031" y="3250691"/>
            <a:ext cx="365760" cy="365760"/>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answerkeytext"/>
          <p:cNvSpPr txBox="1"/>
          <p:nvPr/>
        </p:nvSpPr>
        <p:spPr>
          <a:xfrm>
            <a:off x="6425031" y="33284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7" name="cell:answer"/>
          <p:cNvSpPr txBox="1"/>
          <p:nvPr/>
        </p:nvSpPr>
        <p:spPr>
          <a:xfrm>
            <a:off x="6937095" y="2761488"/>
            <a:ext cx="4495647" cy="13441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Wait and see whether anything actually happens</a:t>
            </a:r>
          </a:p>
        </p:txBody>
      </p:sp>
      <p:sp>
        <p:nvSpPr>
          <p:cNvPr id="28" name="quiz:answer">
            <a:hlinkClick action="ppaction://hlinksldjump" r:id="rId5"/>
          </p:cNvPr>
          <p:cNvSpPr/>
          <p:nvPr/>
        </p:nvSpPr>
        <p:spPr>
          <a:xfrm>
            <a:off x="502920" y="4416552"/>
            <a:ext cx="5501487" cy="1600200"/>
          </a:xfrm>
          <a:prstGeom prst="roundRect">
            <a:avLst>
              <a:gd name="adj" fmla="val 4571"/>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
          <p:cNvSpPr/>
          <p:nvPr/>
        </p:nvSpPr>
        <p:spPr>
          <a:xfrm>
            <a:off x="740664" y="5033772"/>
            <a:ext cx="365760" cy="365760"/>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answerkeytext"/>
          <p:cNvSpPr txBox="1"/>
          <p:nvPr/>
        </p:nvSpPr>
        <p:spPr>
          <a:xfrm>
            <a:off x="740664" y="51114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31" name="cell:answer"/>
          <p:cNvSpPr txBox="1"/>
          <p:nvPr/>
        </p:nvSpPr>
        <p:spPr>
          <a:xfrm>
            <a:off x="1252728" y="4544568"/>
            <a:ext cx="4495647" cy="13441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Write down what happened and report it the same day</a:t>
            </a:r>
          </a:p>
        </p:txBody>
      </p:sp>
      <p:sp>
        <p:nvSpPr>
          <p:cNvPr id="32" name="quiz:answer">
            <a:hlinkClick action="ppaction://hlinksldjump" r:id="rId6"/>
          </p:cNvPr>
          <p:cNvSpPr/>
          <p:nvPr/>
        </p:nvSpPr>
        <p:spPr>
          <a:xfrm>
            <a:off x="6187287" y="4416552"/>
            <a:ext cx="5501487" cy="1600200"/>
          </a:xfrm>
          <a:prstGeom prst="roundRect">
            <a:avLst>
              <a:gd name="adj" fmla="val 4571"/>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answerkey"/>
          <p:cNvSpPr/>
          <p:nvPr/>
        </p:nvSpPr>
        <p:spPr>
          <a:xfrm>
            <a:off x="6425031" y="5033772"/>
            <a:ext cx="365760" cy="365760"/>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vis:answerkeytext"/>
          <p:cNvSpPr txBox="1"/>
          <p:nvPr/>
        </p:nvSpPr>
        <p:spPr>
          <a:xfrm>
            <a:off x="6425031" y="51114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5" name="cell:answer"/>
          <p:cNvSpPr txBox="1"/>
          <p:nvPr/>
        </p:nvSpPr>
        <p:spPr>
          <a:xfrm>
            <a:off x="6937095" y="4544568"/>
            <a:ext cx="4495647" cy="13441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Tell a colleague, so at least someone else knows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Delete the conversation and move on</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Deleting the chat removes your evidence, not their copy. The text was transmitted and stored an hour ago. You have made the incident harder to assess and easier to misjudge.</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The clock starts when you know, not when it hurts.</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SEC-07  ·  What Never to Paste Into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Wait and see whether anything actually happens</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Nothing visible will happen, and that is the trap. Reporting windows are counted in days from the moment you knew — not from the moment harm shows up.</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The clock starts when you know, not when it hurts.</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SEC-07  ·  What Never to Paste Into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Write down what happened and report it the same day</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Right. What you pasted, into which tool, roughly when. Reported today there are still options. Reported next month the only option left is explaining it to the client.</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The clock starts when you know, not when it hurts.</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SEC-07  ·  What Never to Paste Into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Tell a colleague, so at least someone else knows</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Kind, but it starts nothing. A colleague cannot notify a regulator, contact the vendor or assess the scope. It has to reach the person who handles incidents.</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The clock starts when you know, not when it hurts.</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SEC-07  ·  What Never to Paste Into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QUIZ  ·  QUESTION 4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Which is not personal data?</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SEC-07  ·  What Never to Paste Into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 customer's mobile number</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 delivery was three days late"</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An employee's payroll number</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 photo of a delivery note showing the address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A customer's mobile number</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A phone number identifies a person on its own. It is personal data in India, in the UAE and almost everywhere else, whether or not a name sits next to it.</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If it points to one person, it is personal data.</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SEC-07  ·  What Never to Paste Into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"A delivery was three days late"</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A fact about an event, not about a person. Nobody can be identified from it, so it carries no privacy risk — and the tool can still write you a full reply.</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If it points to one person, it is personal data.</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SEC-07  ·  What Never to Paste Into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An employee's payroll number</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It points to one named individual in our systems. An identifier does not stop being personal data because it happens to be a number rather than a name.</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If it points to one person, it is personal data.</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SEC-07  ·  What Never to Paste Into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A photo of a delivery note showing the address</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The address identifies a household, and these tools read images as easily as text. Cropping it out is not an optional extra — it is the whole task.</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If it points to one person, it is personal data.</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SEC-07  ·  What Never to Paste Into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QUIZ  ·  QUESTION 5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What is the first thing you do?</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SEC-07  ·  What Never to Paste Into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vis:stem"/>
          <p:cNvSpPr/>
          <p:nvPr/>
        </p:nvSpPr>
        <p:spPr>
          <a:xfrm>
            <a:off x="502920" y="1719072"/>
            <a:ext cx="11185855" cy="713232"/>
          </a:xfrm>
          <a:prstGeom prst="roundRect">
            <a:avLst>
              <a:gd name="adj" fmla="val 10256"/>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780897" y="1976932"/>
            <a:ext cx="230428" cy="153619"/>
          </a:xfrm>
          <a:prstGeom prst="roundRect">
            <a:avLst>
              <a:gd name="adj" fmla="val 29761"/>
            </a:avLst>
          </a:prstGeom>
          <a:noFill/>
          <a:ln w="1905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flipH="1">
            <a:off x="824788" y="2130552"/>
            <a:ext cx="10973" cy="6035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cxnSp>
        <p:nvCxnSpPr>
          <p:cNvPr id="18" name="vis:icon"/>
          <p:cNvCxnSpPr/>
          <p:nvPr/>
        </p:nvCxnSpPr>
        <p:spPr>
          <a:xfrm flipV="1">
            <a:off x="824788" y="2130552"/>
            <a:ext cx="60351" cy="6035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9" name="cell:stem"/>
          <p:cNvSpPr txBox="1"/>
          <p:nvPr/>
        </p:nvSpPr>
        <p:spPr>
          <a:xfrm>
            <a:off x="1197864" y="1828800"/>
            <a:ext cx="10234879" cy="493776"/>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You are about to ask an AI assistant for help with something from work.</a:t>
            </a:r>
          </a:p>
        </p:txBody>
      </p:sp>
      <p:sp>
        <p:nvSpPr>
          <p:cNvPr id="20" name="quiz:answer">
            <a:hlinkClick action="ppaction://hlinksldjump" r:id="rId3"/>
          </p:cNvPr>
          <p:cNvSpPr/>
          <p:nvPr/>
        </p:nvSpPr>
        <p:spPr>
          <a:xfrm>
            <a:off x="502920" y="2633472"/>
            <a:ext cx="5501487" cy="1600200"/>
          </a:xfrm>
          <a:prstGeom prst="roundRect">
            <a:avLst>
              <a:gd name="adj" fmla="val 4571"/>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
          <p:cNvSpPr/>
          <p:nvPr/>
        </p:nvSpPr>
        <p:spPr>
          <a:xfrm>
            <a:off x="740664" y="3250691"/>
            <a:ext cx="365760" cy="365760"/>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answerkeytext"/>
          <p:cNvSpPr txBox="1"/>
          <p:nvPr/>
        </p:nvSpPr>
        <p:spPr>
          <a:xfrm>
            <a:off x="740664" y="33284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23" name="cell:answer"/>
          <p:cNvSpPr txBox="1"/>
          <p:nvPr/>
        </p:nvSpPr>
        <p:spPr>
          <a:xfrm>
            <a:off x="1252728" y="2761488"/>
            <a:ext cx="4495647" cy="13441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Open the tool and start typing</a:t>
            </a:r>
          </a:p>
        </p:txBody>
      </p:sp>
      <p:sp>
        <p:nvSpPr>
          <p:cNvPr id="24" name="quiz:answer">
            <a:hlinkClick action="ppaction://hlinksldjump" r:id="rId4"/>
          </p:cNvPr>
          <p:cNvSpPr/>
          <p:nvPr/>
        </p:nvSpPr>
        <p:spPr>
          <a:xfrm>
            <a:off x="6187287" y="2633472"/>
            <a:ext cx="5501487" cy="1600200"/>
          </a:xfrm>
          <a:prstGeom prst="roundRect">
            <a:avLst>
              <a:gd name="adj" fmla="val 4571"/>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
          <p:cNvSpPr/>
          <p:nvPr/>
        </p:nvSpPr>
        <p:spPr>
          <a:xfrm>
            <a:off x="6425031" y="3250691"/>
            <a:ext cx="365760" cy="365760"/>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answerkeytext"/>
          <p:cNvSpPr txBox="1"/>
          <p:nvPr/>
        </p:nvSpPr>
        <p:spPr>
          <a:xfrm>
            <a:off x="6425031" y="33284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7" name="cell:answer"/>
          <p:cNvSpPr txBox="1"/>
          <p:nvPr/>
        </p:nvSpPr>
        <p:spPr>
          <a:xfrm>
            <a:off x="6937095" y="2761488"/>
            <a:ext cx="4495647" cy="13441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Check you are in the approved tool, on your work account</a:t>
            </a:r>
          </a:p>
        </p:txBody>
      </p:sp>
      <p:sp>
        <p:nvSpPr>
          <p:cNvPr id="28" name="quiz:answer">
            <a:hlinkClick action="ppaction://hlinksldjump" r:id="rId5"/>
          </p:cNvPr>
          <p:cNvSpPr/>
          <p:nvPr/>
        </p:nvSpPr>
        <p:spPr>
          <a:xfrm>
            <a:off x="502920" y="4416552"/>
            <a:ext cx="5501487" cy="1600200"/>
          </a:xfrm>
          <a:prstGeom prst="roundRect">
            <a:avLst>
              <a:gd name="adj" fmla="val 4571"/>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
          <p:cNvSpPr/>
          <p:nvPr/>
        </p:nvSpPr>
        <p:spPr>
          <a:xfrm>
            <a:off x="740664" y="5033772"/>
            <a:ext cx="365760" cy="365760"/>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answerkeytext"/>
          <p:cNvSpPr txBox="1"/>
          <p:nvPr/>
        </p:nvSpPr>
        <p:spPr>
          <a:xfrm>
            <a:off x="740664" y="51114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31" name="cell:answer"/>
          <p:cNvSpPr txBox="1"/>
          <p:nvPr/>
        </p:nvSpPr>
        <p:spPr>
          <a:xfrm>
            <a:off x="1252728" y="4544568"/>
            <a:ext cx="4495647" cy="13441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Paste everything in, so it has full context</a:t>
            </a:r>
          </a:p>
        </p:txBody>
      </p:sp>
      <p:sp>
        <p:nvSpPr>
          <p:cNvPr id="32" name="quiz:answer">
            <a:hlinkClick action="ppaction://hlinksldjump" r:id="rId6"/>
          </p:cNvPr>
          <p:cNvSpPr/>
          <p:nvPr/>
        </p:nvSpPr>
        <p:spPr>
          <a:xfrm>
            <a:off x="6187287" y="4416552"/>
            <a:ext cx="5501487" cy="1600200"/>
          </a:xfrm>
          <a:prstGeom prst="roundRect">
            <a:avLst>
              <a:gd name="adj" fmla="val 4571"/>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answerkey"/>
          <p:cNvSpPr/>
          <p:nvPr/>
        </p:nvSpPr>
        <p:spPr>
          <a:xfrm>
            <a:off x="6425031" y="5033772"/>
            <a:ext cx="365760" cy="365760"/>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vis:answerkeytext"/>
          <p:cNvSpPr txBox="1"/>
          <p:nvPr/>
        </p:nvSpPr>
        <p:spPr>
          <a:xfrm>
            <a:off x="6425031" y="51114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5" name="cell:answer"/>
          <p:cNvSpPr txBox="1"/>
          <p:nvPr/>
        </p:nvSpPr>
        <p:spPr>
          <a:xfrm>
            <a:off x="6937095" y="4544568"/>
            <a:ext cx="4495647" cy="13441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Ask a colleague whether it is allowed</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Open the tool and start typing</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This is how almost every bad paste begins — not with a decision but with the absence of one. Two seconds of checking is what separates a normal Tuesday from an incident report.</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Right tool, right account, then type.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SEC-07  ·  What Never to Paste Into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Check you are in the approved tool, on your work account</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It costs two seconds and it settles everything that follows: whether an agreement exists, whether a record exists, and whether anyone can help you if something goes wrong.</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Right tool, right account, then type.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See the recap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SEC-07  ·  What Never to Paste Into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Paste everything in, so it has full context</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Past a point, more context does not improve the answer — but it always increases exposure. Give it the situation, never the source documents.</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Right tool, right account, then type.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SEC-07  ·  What Never to Paste Into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Ask a colleague whether it is allowed</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Your colleague is guessing too. The rule is in this module, and you never need permission to describe a situation without names in it.</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Right tool, right account, then type.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SEC-07  ·  What Never to Paste Into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RECAP CARD</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Never-paste rules on one screen</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SEC-07  ·  What Never to Paste Into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cell:recaphint"/>
          <p:cNvSpPr txBox="1"/>
          <p:nvPr/>
        </p:nvSpPr>
        <p:spPr>
          <a:xfrm>
            <a:off x="502920" y="1591056"/>
            <a:ext cx="11185855"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Screenshot this slide. It is the whole module in one screen.</a:t>
            </a:r>
          </a:p>
        </p:txBody>
      </p:sp>
      <p:sp>
        <p:nvSpPr>
          <p:cNvPr id="16" name="vis:recaptile"/>
          <p:cNvSpPr/>
          <p:nvPr/>
        </p:nvSpPr>
        <p:spPr>
          <a:xfrm>
            <a:off x="502920" y="190195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recapbar"/>
          <p:cNvSpPr/>
          <p:nvPr/>
        </p:nvSpPr>
        <p:spPr>
          <a:xfrm>
            <a:off x="502920" y="1901952"/>
            <a:ext cx="54864" cy="963168"/>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cell:recaphead"/>
          <p:cNvSpPr txBox="1"/>
          <p:nvPr/>
        </p:nvSpPr>
        <p:spPr>
          <a:xfrm>
            <a:off x="740664" y="201168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Five things never go in</a:t>
            </a:r>
          </a:p>
        </p:txBody>
      </p:sp>
      <p:sp>
        <p:nvSpPr>
          <p:cNvPr id="19" name="cell:recapsub"/>
          <p:cNvSpPr txBox="1"/>
          <p:nvPr/>
        </p:nvSpPr>
        <p:spPr>
          <a:xfrm>
            <a:off x="740664" y="232257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Personal data, contract terms, financials, logins, anything marked confidential.</a:t>
            </a:r>
          </a:p>
        </p:txBody>
      </p:sp>
      <p:sp>
        <p:nvSpPr>
          <p:cNvPr id="20" name="vis:recaptile"/>
          <p:cNvSpPr/>
          <p:nvPr/>
        </p:nvSpPr>
        <p:spPr>
          <a:xfrm>
            <a:off x="6178143" y="190195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recapbar"/>
          <p:cNvSpPr/>
          <p:nvPr/>
        </p:nvSpPr>
        <p:spPr>
          <a:xfrm>
            <a:off x="6178143" y="1901952"/>
            <a:ext cx="54864" cy="963168"/>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cell:recaphead"/>
          <p:cNvSpPr txBox="1"/>
          <p:nvPr/>
        </p:nvSpPr>
        <p:spPr>
          <a:xfrm>
            <a:off x="6415887" y="201168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Facts, not files</a:t>
            </a:r>
          </a:p>
        </p:txBody>
      </p:sp>
      <p:sp>
        <p:nvSpPr>
          <p:cNvPr id="23" name="cell:recapsub"/>
          <p:cNvSpPr txBox="1"/>
          <p:nvPr/>
        </p:nvSpPr>
        <p:spPr>
          <a:xfrm>
            <a:off x="6415887" y="232257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Describe the situation. Do not paste the document the situation came from.</a:t>
            </a:r>
          </a:p>
        </p:txBody>
      </p:sp>
      <p:sp>
        <p:nvSpPr>
          <p:cNvPr id="24" name="vis:recaptile"/>
          <p:cNvSpPr/>
          <p:nvPr/>
        </p:nvSpPr>
        <p:spPr>
          <a:xfrm>
            <a:off x="502920" y="302971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recapbar"/>
          <p:cNvSpPr/>
          <p:nvPr/>
        </p:nvSpPr>
        <p:spPr>
          <a:xfrm>
            <a:off x="502920" y="3029712"/>
            <a:ext cx="54864" cy="963168"/>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cell:recaphead"/>
          <p:cNvSpPr txBox="1"/>
          <p:nvPr/>
        </p:nvSpPr>
        <p:spPr>
          <a:xfrm>
            <a:off x="740664" y="313944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Names come out first</a:t>
            </a:r>
          </a:p>
        </p:txBody>
      </p:sp>
      <p:sp>
        <p:nvSpPr>
          <p:cNvPr id="27" name="cell:recapsub"/>
          <p:cNvSpPr txBox="1"/>
          <p:nvPr/>
        </p:nvSpPr>
        <p:spPr>
          <a:xfrm>
            <a:off x="740664" y="345033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Names, numbers and addresses before anything else. Those are what regulators count.</a:t>
            </a:r>
          </a:p>
        </p:txBody>
      </p:sp>
      <p:sp>
        <p:nvSpPr>
          <p:cNvPr id="28" name="vis:recaptile"/>
          <p:cNvSpPr/>
          <p:nvPr/>
        </p:nvSpPr>
        <p:spPr>
          <a:xfrm>
            <a:off x="6178143" y="302971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recapbar"/>
          <p:cNvSpPr/>
          <p:nvPr/>
        </p:nvSpPr>
        <p:spPr>
          <a:xfrm>
            <a:off x="6178143" y="3029712"/>
            <a:ext cx="54864" cy="963168"/>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cell:recaphead"/>
          <p:cNvSpPr txBox="1"/>
          <p:nvPr/>
        </p:nvSpPr>
        <p:spPr>
          <a:xfrm>
            <a:off x="6415887" y="313944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Approval is more than an account</a:t>
            </a:r>
          </a:p>
        </p:txBody>
      </p:sp>
      <p:sp>
        <p:nvSpPr>
          <p:cNvPr id="31" name="cell:recapsub"/>
          <p:cNvSpPr txBox="1"/>
          <p:nvPr/>
        </p:nvSpPr>
        <p:spPr>
          <a:xfrm>
            <a:off x="6415887" y="345033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The specific tool, account and use all need approval — not just a work login.</a:t>
            </a:r>
          </a:p>
        </p:txBody>
      </p:sp>
      <p:sp>
        <p:nvSpPr>
          <p:cNvPr id="32" name="vis:recaptile"/>
          <p:cNvSpPr/>
          <p:nvPr/>
        </p:nvSpPr>
        <p:spPr>
          <a:xfrm>
            <a:off x="502920" y="415747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recapbar"/>
          <p:cNvSpPr/>
          <p:nvPr/>
        </p:nvSpPr>
        <p:spPr>
          <a:xfrm>
            <a:off x="502920" y="4157472"/>
            <a:ext cx="54864" cy="963168"/>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cell:recaphead"/>
          <p:cNvSpPr txBox="1"/>
          <p:nvPr/>
        </p:nvSpPr>
        <p:spPr>
          <a:xfrm>
            <a:off x="740664" y="42672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You cannot recall a paste</a:t>
            </a:r>
          </a:p>
        </p:txBody>
      </p:sp>
      <p:sp>
        <p:nvSpPr>
          <p:cNvPr id="35" name="cell:recapsub"/>
          <p:cNvSpPr txBox="1"/>
          <p:nvPr/>
        </p:nvSpPr>
        <p:spPr>
          <a:xfrm>
            <a:off x="740664" y="457809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No delete button reaches every copy. Prevention is the only control you have.</a:t>
            </a:r>
          </a:p>
        </p:txBody>
      </p:sp>
      <p:sp>
        <p:nvSpPr>
          <p:cNvPr id="36" name="vis:recaptile"/>
          <p:cNvSpPr/>
          <p:nvPr/>
        </p:nvSpPr>
        <p:spPr>
          <a:xfrm>
            <a:off x="6178143" y="415747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vis:recapbar"/>
          <p:cNvSpPr/>
          <p:nvPr/>
        </p:nvSpPr>
        <p:spPr>
          <a:xfrm>
            <a:off x="6178143" y="4157472"/>
            <a:ext cx="54864" cy="963168"/>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8" name="cell:recaphead"/>
          <p:cNvSpPr txBox="1"/>
          <p:nvPr/>
        </p:nvSpPr>
        <p:spPr>
          <a:xfrm>
            <a:off x="6415887" y="42672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Report it the same day</a:t>
            </a:r>
          </a:p>
        </p:txBody>
      </p:sp>
      <p:sp>
        <p:nvSpPr>
          <p:cNvPr id="39" name="cell:recapsub"/>
          <p:cNvSpPr txBox="1"/>
          <p:nvPr/>
        </p:nvSpPr>
        <p:spPr>
          <a:xfrm>
            <a:off x="6415887" y="457809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An hour later there are options. A month later there is only an apology.</a:t>
            </a:r>
          </a:p>
        </p:txBody>
      </p:sp>
      <p:sp>
        <p:nvSpPr>
          <p:cNvPr id="40" name="vis:recapline"/>
          <p:cNvSpPr/>
          <p:nvPr/>
        </p:nvSpPr>
        <p:spPr>
          <a:xfrm>
            <a:off x="502920" y="5266944"/>
            <a:ext cx="11185855" cy="749808"/>
          </a:xfrm>
          <a:prstGeom prst="roundRect">
            <a:avLst>
              <a:gd name="adj" fmla="val 1219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1" name="vis:icon"/>
          <p:cNvSpPr/>
          <p:nvPr/>
        </p:nvSpPr>
        <p:spPr>
          <a:xfrm>
            <a:off x="875995" y="5464820"/>
            <a:ext cx="241401" cy="241401"/>
          </a:xfrm>
          <a:prstGeom prst="ellipse">
            <a:avLst/>
          </a:prstGeom>
          <a:noFill/>
          <a:ln w="19050">
            <a:solidFill>
              <a:srgbClr val="B67D8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2" name="vis:icon"/>
          <p:cNvCxnSpPr/>
          <p:nvPr/>
        </p:nvCxnSpPr>
        <p:spPr>
          <a:xfrm>
            <a:off x="932322" y="5738408"/>
            <a:ext cx="128747" cy="0"/>
          </a:xfrm>
          <a:prstGeom prst="line">
            <a:avLst/>
          </a:prstGeom>
          <a:ln w="19050">
            <a:solidFill>
              <a:srgbClr val="B67D84"/>
            </a:solidFill>
          </a:ln>
          <a:effectLst/>
        </p:spPr>
        <p:style>
          <a:lnRef idx="2">
            <a:schemeClr val="accent1"/>
          </a:lnRef>
          <a:fillRef idx="0">
            <a:schemeClr val="accent1"/>
          </a:fillRef>
          <a:effectRef idx="1">
            <a:schemeClr val="accent1"/>
          </a:effectRef>
          <a:fontRef idx="minor">
            <a:schemeClr val="tx1"/>
          </a:fontRef>
        </p:style>
      </p:cxnSp>
      <p:cxnSp>
        <p:nvCxnSpPr>
          <p:cNvPr id="43" name="vis:icon"/>
          <p:cNvCxnSpPr/>
          <p:nvPr/>
        </p:nvCxnSpPr>
        <p:spPr>
          <a:xfrm>
            <a:off x="948415" y="5802782"/>
            <a:ext cx="96561" cy="0"/>
          </a:xfrm>
          <a:prstGeom prst="line">
            <a:avLst/>
          </a:prstGeom>
          <a:ln w="19050">
            <a:solidFill>
              <a:srgbClr val="B67D84"/>
            </a:solidFill>
          </a:ln>
          <a:effectLst/>
        </p:spPr>
        <p:style>
          <a:lnRef idx="2">
            <a:schemeClr val="accent1"/>
          </a:lnRef>
          <a:fillRef idx="0">
            <a:schemeClr val="accent1"/>
          </a:fillRef>
          <a:effectRef idx="1">
            <a:schemeClr val="accent1"/>
          </a:effectRef>
          <a:fontRef idx="minor">
            <a:schemeClr val="tx1"/>
          </a:fontRef>
        </p:style>
      </p:cxnSp>
      <p:sp>
        <p:nvSpPr>
          <p:cNvPr id="44" name="cell:recapone"/>
          <p:cNvSpPr txBox="1"/>
          <p:nvPr/>
        </p:nvSpPr>
        <p:spPr>
          <a:xfrm>
            <a:off x="1417320" y="5394959"/>
            <a:ext cx="9960559" cy="493776"/>
          </a:xfrm>
          <a:prstGeom prst="rect">
            <a:avLst/>
          </a:prstGeom>
          <a:noFill/>
        </p:spPr>
        <p:txBody>
          <a:bodyPr wrap="square" lIns="0" rIns="0" tIns="0" bIns="0" anchor="ctr">
            <a:spAutoFit/>
          </a:bodyPr>
          <a:lstStyle/>
          <a:p>
            <a:pPr algn="l">
              <a:lnSpc>
                <a:spcPts val="2145"/>
              </a:lnSpc>
              <a:spcBef>
                <a:spcPts val="0"/>
              </a:spcBef>
              <a:spcAft>
                <a:spcPts val="0"/>
              </a:spcAft>
            </a:pPr>
            <a:r>
              <a:rPr sz="1650" b="0">
                <a:solidFill>
                  <a:srgbClr val="FFFFFF"/>
                </a:solidFill>
                <a:latin typeface="Segoe UI Semibold"/>
              </a:rPr>
              <a:t>Would I be happy for this exact text to arrive in a competitor's inbox tomorrow? If not, it does not go in.</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YOUR TOOLKIT</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Take these three things with you</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SEC-07  ·  What Never to Paste Into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5"/>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seclabel"/>
          <p:cNvSpPr txBox="1"/>
          <p:nvPr/>
        </p:nvSpPr>
        <p:spPr>
          <a:xfrm>
            <a:off x="502920" y="1719072"/>
            <a:ext cx="6448882"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TEMPLATES YOU CAN REUSE TODAY</a:t>
            </a:r>
          </a:p>
        </p:txBody>
      </p:sp>
      <p:sp>
        <p:nvSpPr>
          <p:cNvPr id="16" name="vis:tk"/>
          <p:cNvSpPr/>
          <p:nvPr/>
        </p:nvSpPr>
        <p:spPr>
          <a:xfrm>
            <a:off x="502920" y="2121408"/>
            <a:ext cx="6448882" cy="755904"/>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badge"/>
          <p:cNvSpPr/>
          <p:nvPr/>
        </p:nvSpPr>
        <p:spPr>
          <a:xfrm>
            <a:off x="722376" y="2243328"/>
            <a:ext cx="512064" cy="512064"/>
          </a:xfrm>
          <a:prstGeom prst="roundRect">
            <a:avLst>
              <a:gd name="adj" fmla="val 178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icon"/>
          <p:cNvSpPr/>
          <p:nvPr/>
        </p:nvSpPr>
        <p:spPr>
          <a:xfrm>
            <a:off x="863910" y="2379537"/>
            <a:ext cx="228995" cy="239645"/>
          </a:xfrm>
          <a:custGeom>
            <a:avLst/>
            <a:gdLst/>
            <a:ahLst/>
            <a:cxnLst/>
            <a:rect l="l" t="t" r="r" b="b"/>
            <a:pathLst>
              <a:path w="228995" h="239645">
                <a:moveTo>
                  <a:pt x="114498" y="0"/>
                </a:moveTo>
                <a:lnTo>
                  <a:pt x="228995" y="50591"/>
                </a:lnTo>
                <a:lnTo>
                  <a:pt x="210356" y="173077"/>
                </a:lnTo>
                <a:lnTo>
                  <a:pt x="114498" y="239645"/>
                </a:lnTo>
                <a:lnTo>
                  <a:pt x="18639" y="173077"/>
                </a:lnTo>
                <a:lnTo>
                  <a:pt x="0" y="50591"/>
                </a:lnTo>
                <a:close/>
              </a:path>
            </a:pathLst>
          </a:custGeom>
          <a:noFill/>
          <a:ln w="1905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cell:tkname"/>
          <p:cNvSpPr txBox="1"/>
          <p:nvPr/>
        </p:nvSpPr>
        <p:spPr>
          <a:xfrm>
            <a:off x="1417320" y="2212848"/>
            <a:ext cx="5278450" cy="37795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The two-second test</a:t>
            </a:r>
          </a:p>
        </p:txBody>
      </p:sp>
      <p:sp>
        <p:nvSpPr>
          <p:cNvPr id="20" name="cell:tksub"/>
          <p:cNvSpPr txBox="1"/>
          <p:nvPr/>
        </p:nvSpPr>
        <p:spPr>
          <a:xfrm>
            <a:off x="1417320" y="2517648"/>
            <a:ext cx="5278450" cy="332597"/>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Could this text identify a person or a customer? If yes, strip it before it goes in.</a:t>
            </a:r>
          </a:p>
        </p:txBody>
      </p:sp>
      <p:sp>
        <p:nvSpPr>
          <p:cNvPr id="21" name="vis:tk"/>
          <p:cNvSpPr/>
          <p:nvPr/>
        </p:nvSpPr>
        <p:spPr>
          <a:xfrm>
            <a:off x="502920" y="3023616"/>
            <a:ext cx="6448882" cy="755904"/>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badge"/>
          <p:cNvSpPr/>
          <p:nvPr/>
        </p:nvSpPr>
        <p:spPr>
          <a:xfrm>
            <a:off x="722376" y="3145536"/>
            <a:ext cx="512064" cy="512064"/>
          </a:xfrm>
          <a:prstGeom prst="roundRect">
            <a:avLst>
              <a:gd name="adj" fmla="val 178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icon"/>
          <p:cNvSpPr/>
          <p:nvPr/>
        </p:nvSpPr>
        <p:spPr>
          <a:xfrm>
            <a:off x="861247" y="3321686"/>
            <a:ext cx="234320" cy="159763"/>
          </a:xfrm>
          <a:prstGeom prst="roundRect">
            <a:avLst>
              <a:gd name="adj" fmla="val 28617"/>
            </a:avLst>
          </a:prstGeom>
          <a:noFill/>
          <a:ln w="1905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4" name="vis:icon"/>
          <p:cNvCxnSpPr/>
          <p:nvPr/>
        </p:nvCxnSpPr>
        <p:spPr>
          <a:xfrm>
            <a:off x="861247" y="3332336"/>
            <a:ext cx="117161" cy="85208"/>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cxnSp>
        <p:nvCxnSpPr>
          <p:cNvPr id="25" name="vis:icon"/>
          <p:cNvCxnSpPr/>
          <p:nvPr/>
        </p:nvCxnSpPr>
        <p:spPr>
          <a:xfrm flipV="1">
            <a:off x="978408" y="3332336"/>
            <a:ext cx="117160" cy="85208"/>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26" name="cell:tkname"/>
          <p:cNvSpPr txBox="1"/>
          <p:nvPr/>
        </p:nvSpPr>
        <p:spPr>
          <a:xfrm>
            <a:off x="1417320" y="3115056"/>
            <a:ext cx="5278450" cy="37795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The safe payment-reminder prompt</a:t>
            </a:r>
          </a:p>
        </p:txBody>
      </p:sp>
      <p:sp>
        <p:nvSpPr>
          <p:cNvPr id="27" name="cell:tksub"/>
          <p:cNvSpPr txBox="1"/>
          <p:nvPr/>
        </p:nvSpPr>
        <p:spPr>
          <a:xfrm>
            <a:off x="1417320" y="3419856"/>
            <a:ext cx="5278450" cy="332597"/>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Situation, days overdue, tone. No names, no invoice number, no amount.</a:t>
            </a:r>
          </a:p>
        </p:txBody>
      </p:sp>
      <p:sp>
        <p:nvSpPr>
          <p:cNvPr id="28" name="vis:tk"/>
          <p:cNvSpPr/>
          <p:nvPr/>
        </p:nvSpPr>
        <p:spPr>
          <a:xfrm>
            <a:off x="502920" y="3925823"/>
            <a:ext cx="6448882" cy="755904"/>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badge"/>
          <p:cNvSpPr/>
          <p:nvPr/>
        </p:nvSpPr>
        <p:spPr>
          <a:xfrm>
            <a:off x="722376" y="4047743"/>
            <a:ext cx="512064" cy="512064"/>
          </a:xfrm>
          <a:prstGeom prst="roundRect">
            <a:avLst>
              <a:gd name="adj" fmla="val 178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icon"/>
          <p:cNvSpPr/>
          <p:nvPr/>
        </p:nvSpPr>
        <p:spPr>
          <a:xfrm>
            <a:off x="909176" y="4197266"/>
            <a:ext cx="138462" cy="223669"/>
          </a:xfrm>
          <a:prstGeom prst="roundRect">
            <a:avLst>
              <a:gd name="adj" fmla="val 33019"/>
            </a:avLst>
          </a:prstGeom>
          <a:noFill/>
          <a:ln w="1905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1" name="vis:icon"/>
          <p:cNvCxnSpPr/>
          <p:nvPr/>
        </p:nvCxnSpPr>
        <p:spPr>
          <a:xfrm>
            <a:off x="941129" y="4261172"/>
            <a:ext cx="74557"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cxnSp>
        <p:nvCxnSpPr>
          <p:cNvPr id="32" name="vis:icon"/>
          <p:cNvCxnSpPr/>
          <p:nvPr/>
        </p:nvCxnSpPr>
        <p:spPr>
          <a:xfrm>
            <a:off x="941129" y="4309101"/>
            <a:ext cx="74557"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a:off x="941129" y="4357030"/>
            <a:ext cx="53255"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34" name="cell:tkname"/>
          <p:cNvSpPr txBox="1"/>
          <p:nvPr/>
        </p:nvSpPr>
        <p:spPr>
          <a:xfrm>
            <a:off x="1417320" y="4017263"/>
            <a:ext cx="5278450" cy="37795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The first-hour checklist</a:t>
            </a:r>
          </a:p>
        </p:txBody>
      </p:sp>
      <p:sp>
        <p:nvSpPr>
          <p:cNvPr id="35" name="cell:tksub"/>
          <p:cNvSpPr txBox="1"/>
          <p:nvPr/>
        </p:nvSpPr>
        <p:spPr>
          <a:xfrm>
            <a:off x="1417320" y="4322063"/>
            <a:ext cx="5278450" cy="332597"/>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What, where, when — written down and reported the same day.</a:t>
            </a:r>
          </a:p>
        </p:txBody>
      </p:sp>
      <p:sp>
        <p:nvSpPr>
          <p:cNvPr id="36" name="seclabel"/>
          <p:cNvSpPr txBox="1"/>
          <p:nvPr/>
        </p:nvSpPr>
        <p:spPr>
          <a:xfrm>
            <a:off x="8082076" y="1719072"/>
            <a:ext cx="3606698"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LINKS THAT WORK</a:t>
            </a:r>
          </a:p>
        </p:txBody>
      </p:sp>
      <p:sp>
        <p:nvSpPr>
          <p:cNvPr id="37" name="nav:link">
            <a:hlinkClick r:id="rId2"/>
          </p:cNvPr>
          <p:cNvSpPr/>
          <p:nvPr/>
        </p:nvSpPr>
        <p:spPr>
          <a:xfrm>
            <a:off x="8082076" y="2121408"/>
            <a:ext cx="3606698" cy="566928"/>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8" name="vis:icon"/>
          <p:cNvSpPr/>
          <p:nvPr/>
        </p:nvSpPr>
        <p:spPr>
          <a:xfrm>
            <a:off x="8339937" y="2300630"/>
            <a:ext cx="164592" cy="164592"/>
          </a:xfrm>
          <a:prstGeom prst="ellipse">
            <a:avLst/>
          </a:prstGeom>
          <a:noFill/>
          <a:ln w="1905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9" name="vis:icon"/>
          <p:cNvCxnSpPr/>
          <p:nvPr/>
        </p:nvCxnSpPr>
        <p:spPr>
          <a:xfrm>
            <a:off x="8482584" y="2443276"/>
            <a:ext cx="65836" cy="65837"/>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40" name="cell:linklabel"/>
          <p:cNvSpPr txBox="1"/>
          <p:nvPr/>
        </p:nvSpPr>
        <p:spPr>
          <a:xfrm>
            <a:off x="8703868" y="2203703"/>
            <a:ext cx="2747162" cy="21945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101826"/>
                </a:solidFill>
                <a:latin typeface="Segoe UI Semibold"/>
              </a:rPr>
              <a:t>India's data protection framework</a:t>
            </a:r>
          </a:p>
        </p:txBody>
      </p:sp>
      <p:sp>
        <p:nvSpPr>
          <p:cNvPr id="41" name="cell:linkurl"/>
          <p:cNvSpPr txBox="1"/>
          <p:nvPr/>
        </p:nvSpPr>
        <p:spPr>
          <a:xfrm>
            <a:off x="8703868" y="2423160"/>
            <a:ext cx="2747162"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a:rPr>
              <a:t>www.meity.gov.in/data-protection-fra…</a:t>
            </a:r>
          </a:p>
        </p:txBody>
      </p:sp>
      <p:sp>
        <p:nvSpPr>
          <p:cNvPr id="42" name="nav:link">
            <a:hlinkClick r:id="rId3"/>
          </p:cNvPr>
          <p:cNvSpPr/>
          <p:nvPr/>
        </p:nvSpPr>
        <p:spPr>
          <a:xfrm>
            <a:off x="8082076" y="2798063"/>
            <a:ext cx="3606698" cy="566928"/>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3" name="vis:icon"/>
          <p:cNvSpPr/>
          <p:nvPr/>
        </p:nvSpPr>
        <p:spPr>
          <a:xfrm>
            <a:off x="8339937" y="2977286"/>
            <a:ext cx="164592" cy="164592"/>
          </a:xfrm>
          <a:prstGeom prst="ellipse">
            <a:avLst/>
          </a:prstGeom>
          <a:noFill/>
          <a:ln w="1905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4" name="vis:icon"/>
          <p:cNvCxnSpPr/>
          <p:nvPr/>
        </p:nvCxnSpPr>
        <p:spPr>
          <a:xfrm>
            <a:off x="8482584" y="3119932"/>
            <a:ext cx="65836" cy="65837"/>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45" name="cell:linklabel"/>
          <p:cNvSpPr txBox="1"/>
          <p:nvPr/>
        </p:nvSpPr>
        <p:spPr>
          <a:xfrm>
            <a:off x="8703868" y="2880359"/>
            <a:ext cx="2747162" cy="21945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101826"/>
                </a:solidFill>
                <a:latin typeface="Segoe UI Semibold"/>
              </a:rPr>
              <a:t>UAE data protection laws</a:t>
            </a:r>
          </a:p>
        </p:txBody>
      </p:sp>
      <p:sp>
        <p:nvSpPr>
          <p:cNvPr id="46" name="cell:linkurl"/>
          <p:cNvSpPr txBox="1"/>
          <p:nvPr/>
        </p:nvSpPr>
        <p:spPr>
          <a:xfrm>
            <a:off x="8703868" y="3099815"/>
            <a:ext cx="2747162"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a:rPr>
              <a:t>u.ae/en/about-the-uae/digital-uae/dat…</a:t>
            </a:r>
          </a:p>
        </p:txBody>
      </p:sp>
      <p:sp>
        <p:nvSpPr>
          <p:cNvPr id="47" name="nav:link">
            <a:hlinkClick r:id="rId4"/>
          </p:cNvPr>
          <p:cNvSpPr/>
          <p:nvPr/>
        </p:nvSpPr>
        <p:spPr>
          <a:xfrm>
            <a:off x="8082076" y="3474720"/>
            <a:ext cx="3606698" cy="566928"/>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8" name="vis:icon"/>
          <p:cNvSpPr/>
          <p:nvPr/>
        </p:nvSpPr>
        <p:spPr>
          <a:xfrm>
            <a:off x="8339937" y="3653942"/>
            <a:ext cx="164592" cy="164592"/>
          </a:xfrm>
          <a:prstGeom prst="ellipse">
            <a:avLst/>
          </a:prstGeom>
          <a:noFill/>
          <a:ln w="1905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9" name="vis:icon"/>
          <p:cNvCxnSpPr/>
          <p:nvPr/>
        </p:nvCxnSpPr>
        <p:spPr>
          <a:xfrm>
            <a:off x="8482584" y="3796588"/>
            <a:ext cx="65836" cy="65837"/>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50" name="cell:linklabel"/>
          <p:cNvSpPr txBox="1"/>
          <p:nvPr/>
        </p:nvSpPr>
        <p:spPr>
          <a:xfrm>
            <a:off x="8703868" y="3557015"/>
            <a:ext cx="2747162" cy="21945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101826"/>
                </a:solidFill>
                <a:latin typeface="Segoe UI Semibold"/>
              </a:rPr>
              <a:t>Check if your email has leaked</a:t>
            </a:r>
          </a:p>
        </p:txBody>
      </p:sp>
      <p:sp>
        <p:nvSpPr>
          <p:cNvPr id="51" name="cell:linkurl"/>
          <p:cNvSpPr txBox="1"/>
          <p:nvPr/>
        </p:nvSpPr>
        <p:spPr>
          <a:xfrm>
            <a:off x="8703868" y="3776472"/>
            <a:ext cx="2747162"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a:rPr>
              <a:t>haveibeenpwned.com</a:t>
            </a:r>
          </a:p>
        </p:txBody>
      </p:sp>
      <p:sp>
        <p:nvSpPr>
          <p:cNvPr id="52" name="vis:next"/>
          <p:cNvSpPr/>
          <p:nvPr/>
        </p:nvSpPr>
        <p:spPr>
          <a:xfrm>
            <a:off x="8082076" y="4297680"/>
            <a:ext cx="3606698" cy="1719072"/>
          </a:xfrm>
          <a:prstGeom prst="roundRect">
            <a:avLst>
              <a:gd name="adj" fmla="val 425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3" name="seclabel"/>
          <p:cNvSpPr txBox="1"/>
          <p:nvPr/>
        </p:nvSpPr>
        <p:spPr>
          <a:xfrm>
            <a:off x="8338108" y="4480560"/>
            <a:ext cx="3094634"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B67D84"/>
                </a:solidFill>
                <a:latin typeface="Segoe UI Semibold"/>
              </a:rPr>
              <a:t>DO THIS NEXT</a:t>
            </a:r>
          </a:p>
        </p:txBody>
      </p:sp>
      <p:sp>
        <p:nvSpPr>
          <p:cNvPr id="54" name="cell:next"/>
          <p:cNvSpPr txBox="1"/>
          <p:nvPr/>
        </p:nvSpPr>
        <p:spPr>
          <a:xfrm>
            <a:off x="8338108" y="4809744"/>
            <a:ext cx="3094634" cy="987551"/>
          </a:xfrm>
          <a:prstGeom prst="rect">
            <a:avLst/>
          </a:prstGeom>
          <a:noFill/>
        </p:spPr>
        <p:txBody>
          <a:bodyPr wrap="square" lIns="0" rIns="0" tIns="0" bIns="0" anchor="t">
            <a:spAutoFit/>
          </a:bodyPr>
          <a:lstStyle/>
          <a:p>
            <a:pPr algn="l">
              <a:lnSpc>
                <a:spcPts val="1755"/>
              </a:lnSpc>
              <a:spcBef>
                <a:spcPts val="0"/>
              </a:spcBef>
              <a:spcAft>
                <a:spcPts val="0"/>
              </a:spcAft>
            </a:pPr>
            <a:r>
              <a:rPr sz="1350" b="0">
                <a:solidFill>
                  <a:srgbClr val="FFFFFF"/>
                </a:solidFill>
                <a:latin typeface="Segoe UI"/>
              </a:rPr>
              <a:t>Companion module: SEC-06, Safe Use of AI at Work. It covers which tools are approved, which settings to switch off, and how to keep a trail you can explain.</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GLOSSARY</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Words people use around AI</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SEC-07  ·  What Never to Paste Into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vis:gloss"/>
          <p:cNvSpPr/>
          <p:nvPr/>
        </p:nvSpPr>
        <p:spPr>
          <a:xfrm>
            <a:off x="502920" y="1719072"/>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glossbar"/>
          <p:cNvSpPr/>
          <p:nvPr/>
        </p:nvSpPr>
        <p:spPr>
          <a:xfrm>
            <a:off x="502920" y="1719072"/>
            <a:ext cx="54864" cy="1078992"/>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cell:glossterm"/>
          <p:cNvSpPr txBox="1"/>
          <p:nvPr/>
        </p:nvSpPr>
        <p:spPr>
          <a:xfrm>
            <a:off x="740664" y="18288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Personal data</a:t>
            </a:r>
          </a:p>
        </p:txBody>
      </p:sp>
      <p:sp>
        <p:nvSpPr>
          <p:cNvPr id="18" name="cell:glossdef"/>
          <p:cNvSpPr txBox="1"/>
          <p:nvPr/>
        </p:nvSpPr>
        <p:spPr>
          <a:xfrm>
            <a:off x="740664" y="2139696"/>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Any information that points to one identifiable person — a name, a phone number, an ID, sometimes an address on its own.</a:t>
            </a:r>
          </a:p>
        </p:txBody>
      </p:sp>
      <p:sp>
        <p:nvSpPr>
          <p:cNvPr id="19" name="vis:gloss"/>
          <p:cNvSpPr/>
          <p:nvPr/>
        </p:nvSpPr>
        <p:spPr>
          <a:xfrm>
            <a:off x="6178143" y="1719072"/>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glossbar"/>
          <p:cNvSpPr/>
          <p:nvPr/>
        </p:nvSpPr>
        <p:spPr>
          <a:xfrm>
            <a:off x="6178143" y="1719072"/>
            <a:ext cx="54864" cy="1078992"/>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cell:glossterm"/>
          <p:cNvSpPr txBox="1"/>
          <p:nvPr/>
        </p:nvSpPr>
        <p:spPr>
          <a:xfrm>
            <a:off x="6415887" y="18288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PII</a:t>
            </a:r>
          </a:p>
        </p:txBody>
      </p:sp>
      <p:sp>
        <p:nvSpPr>
          <p:cNvPr id="22" name="cell:glossdef"/>
          <p:cNvSpPr txBox="1"/>
          <p:nvPr/>
        </p:nvSpPr>
        <p:spPr>
          <a:xfrm>
            <a:off x="6415887" y="2139696"/>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Personally Identifiable Information. Another term for personal data, used mostly in US and UAE documents.</a:t>
            </a:r>
          </a:p>
        </p:txBody>
      </p:sp>
      <p:sp>
        <p:nvSpPr>
          <p:cNvPr id="23" name="vis:gloss"/>
          <p:cNvSpPr/>
          <p:nvPr/>
        </p:nvSpPr>
        <p:spPr>
          <a:xfrm>
            <a:off x="502920" y="2962656"/>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glossbar"/>
          <p:cNvSpPr/>
          <p:nvPr/>
        </p:nvSpPr>
        <p:spPr>
          <a:xfrm>
            <a:off x="502920" y="2962656"/>
            <a:ext cx="54864" cy="1078992"/>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cell:glossterm"/>
          <p:cNvSpPr txBox="1"/>
          <p:nvPr/>
        </p:nvSpPr>
        <p:spPr>
          <a:xfrm>
            <a:off x="740664" y="3072384"/>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DPDP Act</a:t>
            </a:r>
          </a:p>
        </p:txBody>
      </p:sp>
      <p:sp>
        <p:nvSpPr>
          <p:cNvPr id="26" name="cell:glossdef"/>
          <p:cNvSpPr txBox="1"/>
          <p:nvPr/>
        </p:nvSpPr>
        <p:spPr>
          <a:xfrm>
            <a:off x="740664" y="3383280"/>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India's Digital Personal Data Protection Act. It sets out how personal data must be handled and when a breach must be reported.</a:t>
            </a:r>
          </a:p>
        </p:txBody>
      </p:sp>
      <p:sp>
        <p:nvSpPr>
          <p:cNvPr id="27" name="vis:gloss"/>
          <p:cNvSpPr/>
          <p:nvPr/>
        </p:nvSpPr>
        <p:spPr>
          <a:xfrm>
            <a:off x="6178143" y="2962656"/>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glossbar"/>
          <p:cNvSpPr/>
          <p:nvPr/>
        </p:nvSpPr>
        <p:spPr>
          <a:xfrm>
            <a:off x="6178143" y="2962656"/>
            <a:ext cx="54864" cy="1078992"/>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cell:glossterm"/>
          <p:cNvSpPr txBox="1"/>
          <p:nvPr/>
        </p:nvSpPr>
        <p:spPr>
          <a:xfrm>
            <a:off x="6415887" y="3072384"/>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Data breach</a:t>
            </a:r>
          </a:p>
        </p:txBody>
      </p:sp>
      <p:sp>
        <p:nvSpPr>
          <p:cNvPr id="30" name="cell:glossdef"/>
          <p:cNvSpPr txBox="1"/>
          <p:nvPr/>
        </p:nvSpPr>
        <p:spPr>
          <a:xfrm>
            <a:off x="6415887" y="3383280"/>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Personal data going somewhere it should not. It does not need a hacker — one paste is enough.</a:t>
            </a:r>
          </a:p>
        </p:txBody>
      </p:sp>
      <p:sp>
        <p:nvSpPr>
          <p:cNvPr id="31" name="vis:gloss"/>
          <p:cNvSpPr/>
          <p:nvPr/>
        </p:nvSpPr>
        <p:spPr>
          <a:xfrm>
            <a:off x="502920" y="4206240"/>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glossbar"/>
          <p:cNvSpPr/>
          <p:nvPr/>
        </p:nvSpPr>
        <p:spPr>
          <a:xfrm>
            <a:off x="502920" y="4206240"/>
            <a:ext cx="54864" cy="1078992"/>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cell:glossterm"/>
          <p:cNvSpPr txBox="1"/>
          <p:nvPr/>
        </p:nvSpPr>
        <p:spPr>
          <a:xfrm>
            <a:off x="740664" y="4315968"/>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Approved tool</a:t>
            </a:r>
          </a:p>
        </p:txBody>
      </p:sp>
      <p:sp>
        <p:nvSpPr>
          <p:cNvPr id="34" name="cell:glossdef"/>
          <p:cNvSpPr txBox="1"/>
          <p:nvPr/>
        </p:nvSpPr>
        <p:spPr>
          <a:xfrm>
            <a:off x="740664" y="4626864"/>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The tool, account and use the company has actually approved — not just any work login.</a:t>
            </a:r>
          </a:p>
        </p:txBody>
      </p:sp>
      <p:sp>
        <p:nvSpPr>
          <p:cNvPr id="35" name="vis:gloss"/>
          <p:cNvSpPr/>
          <p:nvPr/>
        </p:nvSpPr>
        <p:spPr>
          <a:xfrm>
            <a:off x="6178143" y="4206240"/>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glossbar"/>
          <p:cNvSpPr/>
          <p:nvPr/>
        </p:nvSpPr>
        <p:spPr>
          <a:xfrm>
            <a:off x="6178143" y="4206240"/>
            <a:ext cx="54864" cy="1078992"/>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cell:glossterm"/>
          <p:cNvSpPr txBox="1"/>
          <p:nvPr/>
        </p:nvSpPr>
        <p:spPr>
          <a:xfrm>
            <a:off x="6415887" y="4315968"/>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Prompt</a:t>
            </a:r>
          </a:p>
        </p:txBody>
      </p:sp>
      <p:sp>
        <p:nvSpPr>
          <p:cNvPr id="38" name="cell:glossdef"/>
          <p:cNvSpPr txBox="1"/>
          <p:nvPr/>
        </p:nvSpPr>
        <p:spPr>
          <a:xfrm>
            <a:off x="6415887" y="4626864"/>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Everything you type into an AI tool. It leaves your device and is usually stored.</a:t>
            </a:r>
          </a:p>
        </p:txBody>
      </p:sp>
      <p:sp>
        <p:nvSpPr>
          <p:cNvPr id="39" name="nav:glossback">
            <a:hlinkClick action="ppaction://hlinksldjump" r:id="rId2"/>
          </p:cNvPr>
          <p:cNvSpPr/>
          <p:nvPr/>
        </p:nvSpPr>
        <p:spPr>
          <a:xfrm>
            <a:off x="502920" y="5504688"/>
            <a:ext cx="2651760" cy="512064"/>
          </a:xfrm>
          <a:prstGeom prst="roundRect">
            <a:avLst>
              <a:gd name="adj" fmla="val 10714"/>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0" name="nav:glossbacktext"/>
          <p:cNvSpPr txBox="1"/>
          <p:nvPr/>
        </p:nvSpPr>
        <p:spPr>
          <a:xfrm>
            <a:off x="758952" y="5650992"/>
            <a:ext cx="2139696" cy="23774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menu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