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" Target="slide9.xml"/><Relationship Id="rId5" Type="http://schemas.openxmlformats.org/officeDocument/2006/relationships/slide" Target="slide11.xml"/><Relationship Id="rId6" Type="http://schemas.openxmlformats.org/officeDocument/2006/relationships/slide" Target="slide13.xml"/><Relationship Id="rId7" Type="http://schemas.openxmlformats.org/officeDocument/2006/relationships/slide" Target="slide19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49.xml"/><Relationship Id="rId11" Type="http://schemas.openxmlformats.org/officeDocument/2006/relationships/slide" Target="slide5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5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20.xml"/><Relationship Id="rId4" Type="http://schemas.openxmlformats.org/officeDocument/2006/relationships/slide" Target="slide21.xml"/><Relationship Id="rId5" Type="http://schemas.openxmlformats.org/officeDocument/2006/relationships/slide" Target="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3" Type="http://schemas.openxmlformats.org/officeDocument/2006/relationships/slide" Target="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3" Type="http://schemas.openxmlformats.org/officeDocument/2006/relationships/slide" Target="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3" Type="http://schemas.openxmlformats.org/officeDocument/2006/relationships/slide" Target="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watch?v=xUp5S0nBnfc" TargetMode="External"/><Relationship Id="rId3" Type="http://schemas.openxmlformats.org/officeDocument/2006/relationships/slide" Target="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25.xml"/><Relationship Id="rId4" Type="http://schemas.openxmlformats.org/officeDocument/2006/relationships/slide" Target="slide26.xml"/><Relationship Id="rId5" Type="http://schemas.openxmlformats.org/officeDocument/2006/relationships/slide" Target="slide27.xml"/><Relationship Id="rId6" Type="http://schemas.openxmlformats.org/officeDocument/2006/relationships/slide" Target="slide2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4.xml"/><Relationship Id="rId3" Type="http://schemas.openxmlformats.org/officeDocument/2006/relationships/slide" Target="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4.xml"/><Relationship Id="rId3" Type="http://schemas.openxmlformats.org/officeDocument/2006/relationships/slide" Target="slide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4.xml"/><Relationship Id="rId3" Type="http://schemas.openxmlformats.org/officeDocument/2006/relationships/slide" Target="slide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30.xml"/><Relationship Id="rId4" Type="http://schemas.openxmlformats.org/officeDocument/2006/relationships/slide" Target="slide31.xml"/><Relationship Id="rId5" Type="http://schemas.openxmlformats.org/officeDocument/2006/relationships/slide" Target="slide32.xml"/><Relationship Id="rId6" Type="http://schemas.openxmlformats.org/officeDocument/2006/relationships/slide" Target="slide3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Relationship Id="rId3" Type="http://schemas.openxmlformats.org/officeDocument/2006/relationships/slide" Target="slide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35.xml"/><Relationship Id="rId4" Type="http://schemas.openxmlformats.org/officeDocument/2006/relationships/slide" Target="slide36.xml"/><Relationship Id="rId5" Type="http://schemas.openxmlformats.org/officeDocument/2006/relationships/slide" Target="slide37.xml"/><Relationship Id="rId6" Type="http://schemas.openxmlformats.org/officeDocument/2006/relationships/slide" Target="slide3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Relationship Id="rId3" Type="http://schemas.openxmlformats.org/officeDocument/2006/relationships/slide" Target="slide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9.xml"/><Relationship Id="rId3" Type="http://schemas.openxmlformats.org/officeDocument/2006/relationships/slide" Target="slide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Relationship Id="rId3" Type="http://schemas.openxmlformats.org/officeDocument/2006/relationships/slide" Target="slide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Relationship Id="rId3" Type="http://schemas.openxmlformats.org/officeDocument/2006/relationships/slide" Target="slide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40.xml"/><Relationship Id="rId4" Type="http://schemas.openxmlformats.org/officeDocument/2006/relationships/slide" Target="slide41.xml"/><Relationship Id="rId5" Type="http://schemas.openxmlformats.org/officeDocument/2006/relationships/slide" Target="slide42.xml"/><Relationship Id="rId6" Type="http://schemas.openxmlformats.org/officeDocument/2006/relationships/slide" Target="slide4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9.xml"/><Relationship Id="rId3" Type="http://schemas.openxmlformats.org/officeDocument/2006/relationships/slide" Target="slide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slide" Target="slide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9.xml"/><Relationship Id="rId3" Type="http://schemas.openxmlformats.org/officeDocument/2006/relationships/slide" Target="slide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9.xml"/><Relationship Id="rId3" Type="http://schemas.openxmlformats.org/officeDocument/2006/relationships/slide" Target="slide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45.xml"/><Relationship Id="rId4" Type="http://schemas.openxmlformats.org/officeDocument/2006/relationships/slide" Target="slide46.xml"/><Relationship Id="rId5" Type="http://schemas.openxmlformats.org/officeDocument/2006/relationships/slide" Target="slide47.xml"/><Relationship Id="rId6" Type="http://schemas.openxmlformats.org/officeDocument/2006/relationships/slide" Target="slide4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slide" Target="slide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9.xml"/><Relationship Id="rId3" Type="http://schemas.openxmlformats.org/officeDocument/2006/relationships/slide" Target="slide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slide" Target="slide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4.xml"/><Relationship Id="rId3" Type="http://schemas.openxmlformats.org/officeDocument/2006/relationships/slide" Target="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aveibeenpwned.com" TargetMode="External"/><Relationship Id="rId3" Type="http://schemas.openxmlformats.org/officeDocument/2006/relationships/hyperlink" Target="https://www.meity.gov.in/data-protection-framework" TargetMode="External"/><Relationship Id="rId4" Type="http://schemas.openxmlformats.org/officeDocument/2006/relationships/hyperlink" Target="https://u.ae/en/about-the-uae/digital-uae/data/data-protection-laws" TargetMode="External"/><Relationship Id="rId5" Type="http://schemas.openxmlformats.org/officeDocument/2006/relationships/slide" Target="slide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s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vis:coverspine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vis:covershield"/>
          <p:cNvSpPr/>
          <p:nvPr/>
        </p:nvSpPr>
        <p:spPr>
          <a:xfrm>
            <a:off x="8237793" y="1686153"/>
            <a:ext cx="2543933" cy="3028493"/>
          </a:xfrm>
          <a:custGeom>
            <a:avLst/>
            <a:gdLst/>
            <a:ahLst/>
            <a:cxnLst/>
            <a:rect l="l" t="t" r="r" b="b"/>
            <a:pathLst>
              <a:path w="2543933" h="3028493">
                <a:moveTo>
                  <a:pt x="1271967" y="0"/>
                </a:moveTo>
                <a:lnTo>
                  <a:pt x="2543933" y="605699"/>
                </a:lnTo>
                <a:lnTo>
                  <a:pt x="2362224" y="2059375"/>
                </a:lnTo>
                <a:lnTo>
                  <a:pt x="1271967" y="3028493"/>
                </a:lnTo>
                <a:lnTo>
                  <a:pt x="181709" y="2059375"/>
                </a:lnTo>
                <a:lnTo>
                  <a:pt x="0" y="605699"/>
                </a:lnTo>
                <a:close/>
              </a:path>
            </a:pathLst>
          </a:cu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vis:covershield"/>
          <p:cNvSpPr/>
          <p:nvPr/>
        </p:nvSpPr>
        <p:spPr>
          <a:xfrm>
            <a:off x="8661782" y="2170712"/>
            <a:ext cx="1695955" cy="2059375"/>
          </a:xfrm>
          <a:custGeom>
            <a:avLst/>
            <a:gdLst/>
            <a:ahLst/>
            <a:cxnLst/>
            <a:rect l="l" t="t" r="r" b="b"/>
            <a:pathLst>
              <a:path w="1695955" h="2059375">
                <a:moveTo>
                  <a:pt x="847978" y="0"/>
                </a:moveTo>
                <a:lnTo>
                  <a:pt x="1695955" y="423989"/>
                </a:lnTo>
                <a:lnTo>
                  <a:pt x="1574816" y="1393107"/>
                </a:lnTo>
                <a:lnTo>
                  <a:pt x="847978" y="2059375"/>
                </a:lnTo>
                <a:lnTo>
                  <a:pt x="121139" y="1393107"/>
                </a:lnTo>
                <a:lnTo>
                  <a:pt x="0" y="423989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:icon"/>
          <p:cNvSpPr/>
          <p:nvPr/>
        </p:nvSpPr>
        <p:spPr>
          <a:xfrm>
            <a:off x="9136649" y="2827289"/>
            <a:ext cx="746220" cy="74622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7" name="vis:icon"/>
          <p:cNvCxnSpPr/>
          <p:nvPr/>
        </p:nvCxnSpPr>
        <p:spPr>
          <a:xfrm>
            <a:off x="9246886" y="2937526"/>
            <a:ext cx="525747" cy="52574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eclabel"/>
          <p:cNvSpPr txBox="1"/>
          <p:nvPr/>
        </p:nvSpPr>
        <p:spPr>
          <a:xfrm>
            <a:off x="960120" y="1266951"/>
            <a:ext cx="55014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B67D84"/>
                </a:solidFill>
                <a:latin typeface="Segoe UI Semibold"/>
              </a:rPr>
              <a:t>SECURITY &amp; DATA PRIVACY</a:t>
            </a:r>
          </a:p>
        </p:txBody>
      </p:sp>
      <p:sp>
        <p:nvSpPr>
          <p:cNvPr id="9" name="title:cover"/>
          <p:cNvSpPr txBox="1"/>
          <p:nvPr/>
        </p:nvSpPr>
        <p:spPr>
          <a:xfrm>
            <a:off x="960120" y="1724151"/>
            <a:ext cx="5501487" cy="781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72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Segoe UI Semibold"/>
              </a:rPr>
              <a:t>Password Security</a:t>
            </a:r>
          </a:p>
        </p:txBody>
      </p:sp>
      <p:cxnSp>
        <p:nvCxnSpPr>
          <p:cNvPr id="10" name="vis:rule"/>
          <p:cNvCxnSpPr/>
          <p:nvPr/>
        </p:nvCxnSpPr>
        <p:spPr>
          <a:xfrm>
            <a:off x="960120" y="2779776"/>
            <a:ext cx="3606698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body:coversub"/>
          <p:cNvSpPr txBox="1"/>
          <p:nvPr/>
        </p:nvSpPr>
        <p:spPr>
          <a:xfrm>
            <a:off x="960120" y="3054096"/>
            <a:ext cx="5501487" cy="781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Why one reused password is the most likely way this company gets broken into.</a:t>
            </a:r>
          </a:p>
        </p:txBody>
      </p:sp>
      <p:sp>
        <p:nvSpPr>
          <p:cNvPr id="12" name="vis:chip"/>
          <p:cNvSpPr/>
          <p:nvPr/>
        </p:nvSpPr>
        <p:spPr>
          <a:xfrm>
            <a:off x="960120" y="4237736"/>
            <a:ext cx="1032764" cy="310896"/>
          </a:xfrm>
          <a:prstGeom prst="roundRect">
            <a:avLst>
              <a:gd name="adj" fmla="val 14705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vis:chiptext"/>
          <p:cNvSpPr txBox="1"/>
          <p:nvPr/>
        </p:nvSpPr>
        <p:spPr>
          <a:xfrm>
            <a:off x="1115568" y="4283456"/>
            <a:ext cx="7218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SEC-01</a:t>
            </a:r>
          </a:p>
        </p:txBody>
      </p:sp>
      <p:sp>
        <p:nvSpPr>
          <p:cNvPr id="14" name="vis:chip"/>
          <p:cNvSpPr/>
          <p:nvPr/>
        </p:nvSpPr>
        <p:spPr>
          <a:xfrm>
            <a:off x="2139188" y="4237736"/>
            <a:ext cx="1456309" cy="310896"/>
          </a:xfrm>
          <a:prstGeom prst="roundRect">
            <a:avLst>
              <a:gd name="adj" fmla="val 14705"/>
            </a:avLst>
          </a:prstGeom>
          <a:noFill/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chiptext"/>
          <p:cNvSpPr txBox="1"/>
          <p:nvPr/>
        </p:nvSpPr>
        <p:spPr>
          <a:xfrm>
            <a:off x="2294635" y="4283456"/>
            <a:ext cx="11454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C9D1DE"/>
                </a:solidFill>
                <a:latin typeface="Segoe UI Semibold"/>
              </a:rPr>
              <a:t>16 MINUTES</a:t>
            </a:r>
          </a:p>
        </p:txBody>
      </p:sp>
      <p:sp>
        <p:nvSpPr>
          <p:cNvPr id="16" name="vis:chip"/>
          <p:cNvSpPr/>
          <p:nvPr/>
        </p:nvSpPr>
        <p:spPr>
          <a:xfrm>
            <a:off x="960120" y="4658360"/>
            <a:ext cx="2788677" cy="310896"/>
          </a:xfrm>
          <a:prstGeom prst="roundRect">
            <a:avLst>
              <a:gd name="adj" fmla="val 14705"/>
            </a:avLst>
          </a:prstGeom>
          <a:noFill/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chiptext"/>
          <p:cNvSpPr txBox="1"/>
          <p:nvPr/>
        </p:nvSpPr>
        <p:spPr>
          <a:xfrm>
            <a:off x="1115568" y="4704079"/>
            <a:ext cx="247778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C9D1DE"/>
                </a:solidFill>
                <a:latin typeface="Segoe UI Semibold"/>
              </a:rPr>
              <a:t>MANDATORY FOR ALL STAFF</a:t>
            </a:r>
          </a:p>
        </p:txBody>
      </p:sp>
      <p:sp>
        <p:nvSpPr>
          <p:cNvPr id="18" name="cell:coverhint"/>
          <p:cNvSpPr txBox="1"/>
          <p:nvPr/>
        </p:nvSpPr>
        <p:spPr>
          <a:xfrm>
            <a:off x="960120" y="5724144"/>
            <a:ext cx="55014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Start here  →  the next slide shows what this saves you.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48D9A"/>
                </a:solidFill>
                <a:latin typeface="Segoe UI"/>
              </a:rPr>
              <a:t>Inducto Learning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WHY THIS MATTERS TO YOU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Sanjay used the same password twice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tory"/>
          <p:cNvSpPr/>
          <p:nvPr/>
        </p:nvSpPr>
        <p:spPr>
          <a:xfrm>
            <a:off x="502920" y="1719072"/>
            <a:ext cx="6448882" cy="3273552"/>
          </a:xfrm>
          <a:prstGeom prst="roundRect">
            <a:avLst>
              <a:gd name="adj" fmla="val 279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storyspine"/>
          <p:cNvSpPr/>
          <p:nvPr/>
        </p:nvSpPr>
        <p:spPr>
          <a:xfrm>
            <a:off x="502920" y="1719072"/>
            <a:ext cx="68580" cy="327355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badge"/>
          <p:cNvSpPr/>
          <p:nvPr/>
        </p:nvSpPr>
        <p:spPr>
          <a:xfrm>
            <a:off x="813816" y="2029967"/>
            <a:ext cx="694944" cy="694944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icon"/>
          <p:cNvSpPr/>
          <p:nvPr/>
        </p:nvSpPr>
        <p:spPr>
          <a:xfrm>
            <a:off x="995057" y="2240119"/>
            <a:ext cx="159003" cy="159003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125150" y="2377439"/>
            <a:ext cx="187913" cy="144549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s:icon"/>
          <p:cNvCxnSpPr/>
          <p:nvPr/>
        </p:nvCxnSpPr>
        <p:spPr>
          <a:xfrm flipH="1">
            <a:off x="1204652" y="2449714"/>
            <a:ext cx="36137" cy="43364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s:icon"/>
          <p:cNvCxnSpPr/>
          <p:nvPr/>
        </p:nvCxnSpPr>
        <p:spPr>
          <a:xfrm flipH="1">
            <a:off x="1248017" y="2493078"/>
            <a:ext cx="36137" cy="43365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body:scenario"/>
          <p:cNvSpPr txBox="1"/>
          <p:nvPr/>
        </p:nvSpPr>
        <p:spPr>
          <a:xfrm>
            <a:off x="813816" y="2944368"/>
            <a:ext cx="5827090" cy="1792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Sanjay runs stores at a Nashik unit. Six years ago he used one password for a shopping site. He uses the same one at work. The shopping site was breached in 2021. Nobody told him, and the password still works here.</a:t>
            </a:r>
          </a:p>
        </p:txBody>
      </p:sp>
      <p:sp>
        <p:nvSpPr>
          <p:cNvPr id="23" name="vis:cost"/>
          <p:cNvSpPr/>
          <p:nvPr/>
        </p:nvSpPr>
        <p:spPr>
          <a:xfrm>
            <a:off x="502920" y="5230368"/>
            <a:ext cx="644888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costspine"/>
          <p:cNvSpPr/>
          <p:nvPr/>
        </p:nvSpPr>
        <p:spPr>
          <a:xfrm>
            <a:off x="502920" y="5230368"/>
            <a:ext cx="68580" cy="786384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icon"/>
          <p:cNvSpPr/>
          <p:nvPr/>
        </p:nvSpPr>
        <p:spPr>
          <a:xfrm>
            <a:off x="826983" y="5478719"/>
            <a:ext cx="302849" cy="276514"/>
          </a:xfrm>
          <a:custGeom>
            <a:avLst/>
            <a:gdLst/>
            <a:ahLst/>
            <a:cxnLst/>
            <a:rect l="l" t="t" r="r" b="b"/>
            <a:pathLst>
              <a:path w="302849" h="276514">
                <a:moveTo>
                  <a:pt x="151425" y="0"/>
                </a:moveTo>
                <a:lnTo>
                  <a:pt x="302849" y="276514"/>
                </a:lnTo>
                <a:lnTo>
                  <a:pt x="0" y="276514"/>
                </a:lnTo>
                <a:close/>
              </a:path>
            </a:pathLst>
          </a:custGeom>
          <a:noFill/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vis:icon"/>
          <p:cNvCxnSpPr/>
          <p:nvPr/>
        </p:nvCxnSpPr>
        <p:spPr>
          <a:xfrm>
            <a:off x="978408" y="5584057"/>
            <a:ext cx="0" cy="82296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vis:icon"/>
          <p:cNvSpPr/>
          <p:nvPr/>
        </p:nvSpPr>
        <p:spPr>
          <a:xfrm>
            <a:off x="961948" y="5695980"/>
            <a:ext cx="32918" cy="32918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body:cost"/>
          <p:cNvSpPr txBox="1"/>
          <p:nvPr/>
        </p:nvSpPr>
        <p:spPr>
          <a:xfrm>
            <a:off x="1362456" y="5358383"/>
            <a:ext cx="5315026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62828"/>
                </a:solidFill>
                <a:latin typeface="Segoe UI Semibold"/>
              </a:rPr>
              <a:t>An attacker does not need to guess. They already have it.</a:t>
            </a:r>
          </a:p>
        </p:txBody>
      </p:sp>
      <p:sp>
        <p:nvSpPr>
          <p:cNvPr id="29" name="vis:fix"/>
          <p:cNvSpPr/>
          <p:nvPr/>
        </p:nvSpPr>
        <p:spPr>
          <a:xfrm>
            <a:off x="8082076" y="1719072"/>
            <a:ext cx="3606698" cy="4297680"/>
          </a:xfrm>
          <a:prstGeom prst="roundRect">
            <a:avLst>
              <a:gd name="adj" fmla="val 253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seclabel"/>
          <p:cNvSpPr txBox="1"/>
          <p:nvPr/>
        </p:nvSpPr>
        <p:spPr>
          <a:xfrm>
            <a:off x="8411260" y="2066543"/>
            <a:ext cx="29483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B67D84"/>
                </a:solidFill>
                <a:latin typeface="Segoe UI Semibold"/>
              </a:rPr>
              <a:t>AFTER THIS MODULE</a:t>
            </a:r>
          </a:p>
        </p:txBody>
      </p:sp>
      <p:cxnSp>
        <p:nvCxnSpPr>
          <p:cNvPr id="31" name="vis:rule"/>
          <p:cNvCxnSpPr/>
          <p:nvPr/>
        </p:nvCxnSpPr>
        <p:spPr>
          <a:xfrm>
            <a:off x="8411260" y="2505456"/>
            <a:ext cx="2948331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body:fix"/>
          <p:cNvSpPr txBox="1"/>
          <p:nvPr/>
        </p:nvSpPr>
        <p:spPr>
          <a:xfrm>
            <a:off x="8411260" y="2724912"/>
            <a:ext cx="294833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Segoe UI Semibold"/>
              </a:rPr>
              <a:t>Different passwords everywhere, remembered by a manager, not by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WHAT YOU'LL BE ABLE TO DO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By the end, you can do these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outcome"/>
          <p:cNvSpPr/>
          <p:nvPr/>
        </p:nvSpPr>
        <p:spPr>
          <a:xfrm>
            <a:off x="502920" y="1719072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badge"/>
          <p:cNvSpPr/>
          <p:nvPr/>
        </p:nvSpPr>
        <p:spPr>
          <a:xfrm>
            <a:off x="777240" y="179222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925094" y="1963663"/>
            <a:ext cx="129713" cy="129713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31223" y="2075688"/>
            <a:ext cx="153298" cy="117921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icon"/>
          <p:cNvCxnSpPr/>
          <p:nvPr/>
        </p:nvCxnSpPr>
        <p:spPr>
          <a:xfrm flipH="1">
            <a:off x="1096080" y="2134648"/>
            <a:ext cx="29480" cy="35376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s:icon"/>
          <p:cNvCxnSpPr/>
          <p:nvPr/>
        </p:nvCxnSpPr>
        <p:spPr>
          <a:xfrm flipH="1">
            <a:off x="1131456" y="2170024"/>
            <a:ext cx="29480" cy="35377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ell:outcome"/>
          <p:cNvSpPr txBox="1"/>
          <p:nvPr/>
        </p:nvSpPr>
        <p:spPr>
          <a:xfrm>
            <a:off x="1545336" y="1828800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Explain why reuse matters more than complexity</a:t>
            </a:r>
          </a:p>
        </p:txBody>
      </p:sp>
      <p:sp>
        <p:nvSpPr>
          <p:cNvPr id="22" name="vis:outcome"/>
          <p:cNvSpPr/>
          <p:nvPr/>
        </p:nvSpPr>
        <p:spPr>
          <a:xfrm>
            <a:off x="502920" y="2615184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badge"/>
          <p:cNvSpPr/>
          <p:nvPr/>
        </p:nvSpPr>
        <p:spPr>
          <a:xfrm>
            <a:off x="777240" y="268833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icon"/>
          <p:cNvSpPr/>
          <p:nvPr/>
        </p:nvSpPr>
        <p:spPr>
          <a:xfrm>
            <a:off x="925094" y="2865671"/>
            <a:ext cx="271219" cy="212257"/>
          </a:xfrm>
          <a:custGeom>
            <a:avLst/>
            <a:gdLst/>
            <a:ahLst/>
            <a:cxnLst/>
            <a:rect l="l" t="t" r="r" b="b"/>
            <a:pathLst>
              <a:path w="271219" h="212257">
                <a:moveTo>
                  <a:pt x="0" y="106129"/>
                </a:moveTo>
                <a:lnTo>
                  <a:pt x="135610" y="0"/>
                </a:lnTo>
                <a:lnTo>
                  <a:pt x="271219" y="106129"/>
                </a:lnTo>
                <a:lnTo>
                  <a:pt x="135610" y="212257"/>
                </a:lnTo>
                <a:close/>
              </a:path>
            </a:pathLst>
          </a:cu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s:icon"/>
          <p:cNvSpPr/>
          <p:nvPr/>
        </p:nvSpPr>
        <p:spPr>
          <a:xfrm>
            <a:off x="1019431" y="2930527"/>
            <a:ext cx="82544" cy="82544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cell:outcome"/>
          <p:cNvSpPr txBox="1"/>
          <p:nvPr/>
        </p:nvSpPr>
        <p:spPr>
          <a:xfrm>
            <a:off x="1545336" y="2724912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Check in 30 seconds whether your own details have leaked</a:t>
            </a:r>
          </a:p>
        </p:txBody>
      </p:sp>
      <p:sp>
        <p:nvSpPr>
          <p:cNvPr id="27" name="vis:outcome"/>
          <p:cNvSpPr/>
          <p:nvPr/>
        </p:nvSpPr>
        <p:spPr>
          <a:xfrm>
            <a:off x="502920" y="3511296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badge"/>
          <p:cNvSpPr/>
          <p:nvPr/>
        </p:nvSpPr>
        <p:spPr>
          <a:xfrm>
            <a:off x="777240" y="358444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icon"/>
          <p:cNvSpPr/>
          <p:nvPr/>
        </p:nvSpPr>
        <p:spPr>
          <a:xfrm>
            <a:off x="933938" y="3735250"/>
            <a:ext cx="253531" cy="265323"/>
          </a:xfrm>
          <a:custGeom>
            <a:avLst/>
            <a:gdLst/>
            <a:ahLst/>
            <a:cxnLst/>
            <a:rect l="l" t="t" r="r" b="b"/>
            <a:pathLst>
              <a:path w="253531" h="265323">
                <a:moveTo>
                  <a:pt x="126766" y="0"/>
                </a:moveTo>
                <a:lnTo>
                  <a:pt x="253531" y="56013"/>
                </a:lnTo>
                <a:lnTo>
                  <a:pt x="232894" y="191622"/>
                </a:lnTo>
                <a:lnTo>
                  <a:pt x="126766" y="265323"/>
                </a:lnTo>
                <a:lnTo>
                  <a:pt x="20637" y="191622"/>
                </a:lnTo>
                <a:lnTo>
                  <a:pt x="0" y="56013"/>
                </a:lnTo>
                <a:close/>
              </a:path>
            </a:pathLst>
          </a:cu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ell:outcome"/>
          <p:cNvSpPr txBox="1"/>
          <p:nvPr/>
        </p:nvSpPr>
        <p:spPr>
          <a:xfrm>
            <a:off x="1545336" y="3621024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Build a password you can remember and nobody can guess</a:t>
            </a:r>
          </a:p>
        </p:txBody>
      </p:sp>
      <p:sp>
        <p:nvSpPr>
          <p:cNvPr id="31" name="vis:outcome"/>
          <p:cNvSpPr/>
          <p:nvPr/>
        </p:nvSpPr>
        <p:spPr>
          <a:xfrm>
            <a:off x="502920" y="4407408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badge"/>
          <p:cNvSpPr/>
          <p:nvPr/>
        </p:nvSpPr>
        <p:spPr>
          <a:xfrm>
            <a:off x="777240" y="448056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icon"/>
          <p:cNvSpPr/>
          <p:nvPr/>
        </p:nvSpPr>
        <p:spPr>
          <a:xfrm>
            <a:off x="954575" y="4746335"/>
            <a:ext cx="212257" cy="147401"/>
          </a:xfrm>
          <a:prstGeom prst="roundRect">
            <a:avLst>
              <a:gd name="adj" fmla="val 31017"/>
            </a:avLst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icon"/>
          <p:cNvSpPr/>
          <p:nvPr/>
        </p:nvSpPr>
        <p:spPr>
          <a:xfrm>
            <a:off x="992899" y="4646102"/>
            <a:ext cx="135609" cy="182777"/>
          </a:xfrm>
          <a:prstGeom prst="arc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cell:outcome"/>
          <p:cNvSpPr txBox="1"/>
          <p:nvPr/>
        </p:nvSpPr>
        <p:spPr>
          <a:xfrm>
            <a:off x="1545336" y="4517136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Use a password manager without trusting your memory at all</a:t>
            </a:r>
          </a:p>
        </p:txBody>
      </p:sp>
      <p:sp>
        <p:nvSpPr>
          <p:cNvPr id="36" name="vis:outcome"/>
          <p:cNvSpPr/>
          <p:nvPr/>
        </p:nvSpPr>
        <p:spPr>
          <a:xfrm>
            <a:off x="502920" y="5303520"/>
            <a:ext cx="11185855" cy="713232"/>
          </a:xfrm>
          <a:prstGeom prst="roundRect">
            <a:avLst>
              <a:gd name="adj" fmla="val 1282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badge"/>
          <p:cNvSpPr/>
          <p:nvPr/>
        </p:nvSpPr>
        <p:spPr>
          <a:xfrm>
            <a:off x="777240" y="53766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icon"/>
          <p:cNvSpPr/>
          <p:nvPr/>
        </p:nvSpPr>
        <p:spPr>
          <a:xfrm>
            <a:off x="925094" y="5530422"/>
            <a:ext cx="271219" cy="247635"/>
          </a:xfrm>
          <a:custGeom>
            <a:avLst/>
            <a:gdLst/>
            <a:ahLst/>
            <a:cxnLst/>
            <a:rect l="l" t="t" r="r" b="b"/>
            <a:pathLst>
              <a:path w="271219" h="247635">
                <a:moveTo>
                  <a:pt x="135610" y="0"/>
                </a:moveTo>
                <a:lnTo>
                  <a:pt x="271219" y="247635"/>
                </a:lnTo>
                <a:lnTo>
                  <a:pt x="0" y="247635"/>
                </a:lnTo>
                <a:close/>
              </a:path>
            </a:pathLst>
          </a:cu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vis:icon"/>
          <p:cNvCxnSpPr/>
          <p:nvPr/>
        </p:nvCxnSpPr>
        <p:spPr>
          <a:xfrm>
            <a:off x="1060704" y="5624759"/>
            <a:ext cx="0" cy="73701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s:icon"/>
          <p:cNvSpPr/>
          <p:nvPr/>
        </p:nvSpPr>
        <p:spPr>
          <a:xfrm>
            <a:off x="1045963" y="5724992"/>
            <a:ext cx="29480" cy="2948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cell:outcome"/>
          <p:cNvSpPr txBox="1"/>
          <p:nvPr/>
        </p:nvSpPr>
        <p:spPr>
          <a:xfrm>
            <a:off x="1545336" y="5413248"/>
            <a:ext cx="98142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01826"/>
                </a:solidFill>
                <a:latin typeface="Segoe UI"/>
              </a:rPr>
              <a:t>Know what to do in the first hour after a password is exposed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INTERACTIVE MENU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Tap any line to jump straight there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cell:menuhint"/>
          <p:cNvSpPr txBox="1"/>
          <p:nvPr/>
        </p:nvSpPr>
        <p:spPr>
          <a:xfrm>
            <a:off x="502920" y="1554480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Every slide has a Menu button in the top-right corner to bring you back here.</a:t>
            </a:r>
          </a:p>
        </p:txBody>
      </p:sp>
      <p:sp>
        <p:nvSpPr>
          <p:cNvPr id="8" name="nav:menurow">
            <a:hlinkClick action="ppaction://hlinksldjump" r:id="rId2"/>
          </p:cNvPr>
          <p:cNvSpPr/>
          <p:nvPr/>
        </p:nvSpPr>
        <p:spPr>
          <a:xfrm>
            <a:off x="502920" y="1828800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vis:menubar"/>
          <p:cNvSpPr/>
          <p:nvPr/>
        </p:nvSpPr>
        <p:spPr>
          <a:xfrm>
            <a:off x="502920" y="1828800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vis:menunum"/>
          <p:cNvSpPr txBox="1"/>
          <p:nvPr/>
        </p:nvSpPr>
        <p:spPr>
          <a:xfrm>
            <a:off x="813816" y="1883664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01</a:t>
            </a:r>
          </a:p>
        </p:txBody>
      </p:sp>
      <p:sp>
        <p:nvSpPr>
          <p:cNvPr id="11" name="cell:menulabel"/>
          <p:cNvSpPr txBox="1"/>
          <p:nvPr/>
        </p:nvSpPr>
        <p:spPr>
          <a:xfrm>
            <a:off x="1344168" y="1883664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How accounts get taken</a:t>
            </a:r>
          </a:p>
        </p:txBody>
      </p:sp>
      <p:sp>
        <p:nvSpPr>
          <p:cNvPr id="12" name="cell:menusub"/>
          <p:cNvSpPr txBox="1"/>
          <p:nvPr/>
        </p:nvSpPr>
        <p:spPr>
          <a:xfrm>
            <a:off x="7134682" y="1883664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Not by guessing</a:t>
            </a:r>
          </a:p>
        </p:txBody>
      </p:sp>
      <p:cxnSp>
        <p:nvCxnSpPr>
          <p:cNvPr id="13" name="vis:menuarrow"/>
          <p:cNvCxnSpPr/>
          <p:nvPr/>
        </p:nvCxnSpPr>
        <p:spPr>
          <a:xfrm>
            <a:off x="11213287" y="1997049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row">
            <a:hlinkClick action="ppaction://hlinksldjump" r:id="rId3"/>
          </p:cNvPr>
          <p:cNvSpPr/>
          <p:nvPr/>
        </p:nvSpPr>
        <p:spPr>
          <a:xfrm>
            <a:off x="502920" y="2256739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menubar"/>
          <p:cNvSpPr/>
          <p:nvPr/>
        </p:nvSpPr>
        <p:spPr>
          <a:xfrm>
            <a:off x="502920" y="2256739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menunum"/>
          <p:cNvSpPr txBox="1"/>
          <p:nvPr/>
        </p:nvSpPr>
        <p:spPr>
          <a:xfrm>
            <a:off x="813816" y="2311603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02</a:t>
            </a:r>
          </a:p>
        </p:txBody>
      </p:sp>
      <p:sp>
        <p:nvSpPr>
          <p:cNvPr id="17" name="cell:menulabel"/>
          <p:cNvSpPr txBox="1"/>
          <p:nvPr/>
        </p:nvSpPr>
        <p:spPr>
          <a:xfrm>
            <a:off x="1344168" y="2311603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Reuse is the real risk</a:t>
            </a:r>
          </a:p>
        </p:txBody>
      </p:sp>
      <p:sp>
        <p:nvSpPr>
          <p:cNvPr id="18" name="cell:menusub"/>
          <p:cNvSpPr txBox="1"/>
          <p:nvPr/>
        </p:nvSpPr>
        <p:spPr>
          <a:xfrm>
            <a:off x="7134682" y="2311603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One breach, every account</a:t>
            </a:r>
          </a:p>
        </p:txBody>
      </p:sp>
      <p:cxnSp>
        <p:nvCxnSpPr>
          <p:cNvPr id="19" name="vis:menuarrow"/>
          <p:cNvCxnSpPr/>
          <p:nvPr/>
        </p:nvCxnSpPr>
        <p:spPr>
          <a:xfrm>
            <a:off x="11213287" y="2424988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nav:menurow">
            <a:hlinkClick action="ppaction://hlinksldjump" r:id="rId4"/>
          </p:cNvPr>
          <p:cNvSpPr/>
          <p:nvPr/>
        </p:nvSpPr>
        <p:spPr>
          <a:xfrm>
            <a:off x="502920" y="2684678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menubar"/>
          <p:cNvSpPr/>
          <p:nvPr/>
        </p:nvSpPr>
        <p:spPr>
          <a:xfrm>
            <a:off x="502920" y="2684678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menunum"/>
          <p:cNvSpPr txBox="1"/>
          <p:nvPr/>
        </p:nvSpPr>
        <p:spPr>
          <a:xfrm>
            <a:off x="813816" y="2739542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03</a:t>
            </a:r>
          </a:p>
        </p:txBody>
      </p:sp>
      <p:sp>
        <p:nvSpPr>
          <p:cNvPr id="23" name="cell:menulabel"/>
          <p:cNvSpPr txBox="1"/>
          <p:nvPr/>
        </p:nvSpPr>
        <p:spPr>
          <a:xfrm>
            <a:off x="1344168" y="2739542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Building a strong one</a:t>
            </a:r>
          </a:p>
        </p:txBody>
      </p:sp>
      <p:sp>
        <p:nvSpPr>
          <p:cNvPr id="24" name="cell:menusub"/>
          <p:cNvSpPr txBox="1"/>
          <p:nvPr/>
        </p:nvSpPr>
        <p:spPr>
          <a:xfrm>
            <a:off x="7134682" y="2739542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Length beats symbols</a:t>
            </a:r>
          </a:p>
        </p:txBody>
      </p:sp>
      <p:cxnSp>
        <p:nvCxnSpPr>
          <p:cNvPr id="25" name="vis:menuarrow"/>
          <p:cNvCxnSpPr/>
          <p:nvPr/>
        </p:nvCxnSpPr>
        <p:spPr>
          <a:xfrm>
            <a:off x="11213287" y="2852928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nav:menurow">
            <a:hlinkClick action="ppaction://hlinksldjump" r:id="rId5"/>
          </p:cNvPr>
          <p:cNvSpPr/>
          <p:nvPr/>
        </p:nvSpPr>
        <p:spPr>
          <a:xfrm>
            <a:off x="502920" y="3112617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menubar"/>
          <p:cNvSpPr/>
          <p:nvPr/>
        </p:nvSpPr>
        <p:spPr>
          <a:xfrm>
            <a:off x="502920" y="3112617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menunum"/>
          <p:cNvSpPr txBox="1"/>
          <p:nvPr/>
        </p:nvSpPr>
        <p:spPr>
          <a:xfrm>
            <a:off x="813816" y="3167481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04</a:t>
            </a:r>
          </a:p>
        </p:txBody>
      </p:sp>
      <p:sp>
        <p:nvSpPr>
          <p:cNvPr id="29" name="cell:menulabel"/>
          <p:cNvSpPr txBox="1"/>
          <p:nvPr/>
        </p:nvSpPr>
        <p:spPr>
          <a:xfrm>
            <a:off x="1344168" y="3167481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Letting software remember</a:t>
            </a:r>
          </a:p>
        </p:txBody>
      </p:sp>
      <p:sp>
        <p:nvSpPr>
          <p:cNvPr id="30" name="cell:menusub"/>
          <p:cNvSpPr txBox="1"/>
          <p:nvPr/>
        </p:nvSpPr>
        <p:spPr>
          <a:xfrm>
            <a:off x="7134682" y="3167481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Password managers</a:t>
            </a:r>
          </a:p>
        </p:txBody>
      </p:sp>
      <p:cxnSp>
        <p:nvCxnSpPr>
          <p:cNvPr id="31" name="vis:menuarrow"/>
          <p:cNvCxnSpPr/>
          <p:nvPr/>
        </p:nvCxnSpPr>
        <p:spPr>
          <a:xfrm>
            <a:off x="11213287" y="3280867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nav:menurow">
            <a:hlinkClick action="ppaction://hlinksldjump" r:id="rId6"/>
          </p:cNvPr>
          <p:cNvSpPr/>
          <p:nvPr/>
        </p:nvSpPr>
        <p:spPr>
          <a:xfrm>
            <a:off x="502920" y="3540556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menubar"/>
          <p:cNvSpPr/>
          <p:nvPr/>
        </p:nvSpPr>
        <p:spPr>
          <a:xfrm>
            <a:off x="502920" y="3540556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menunum"/>
          <p:cNvSpPr txBox="1"/>
          <p:nvPr/>
        </p:nvSpPr>
        <p:spPr>
          <a:xfrm>
            <a:off x="813816" y="3595420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05</a:t>
            </a:r>
          </a:p>
        </p:txBody>
      </p:sp>
      <p:sp>
        <p:nvSpPr>
          <p:cNvPr id="35" name="cell:menulabel"/>
          <p:cNvSpPr txBox="1"/>
          <p:nvPr/>
        </p:nvSpPr>
        <p:spPr>
          <a:xfrm>
            <a:off x="1344168" y="3595420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Do this now</a:t>
            </a:r>
          </a:p>
        </p:txBody>
      </p:sp>
      <p:sp>
        <p:nvSpPr>
          <p:cNvPr id="36" name="cell:menusub"/>
          <p:cNvSpPr txBox="1"/>
          <p:nvPr/>
        </p:nvSpPr>
        <p:spPr>
          <a:xfrm>
            <a:off x="7134682" y="3595420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Check and change one</a:t>
            </a:r>
          </a:p>
        </p:txBody>
      </p:sp>
      <p:cxnSp>
        <p:nvCxnSpPr>
          <p:cNvPr id="37" name="vis:menuarrow"/>
          <p:cNvCxnSpPr/>
          <p:nvPr/>
        </p:nvCxnSpPr>
        <p:spPr>
          <a:xfrm>
            <a:off x="11213287" y="3708806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nav:menurow">
            <a:hlinkClick action="ppaction://hlinksldjump" r:id="rId7"/>
          </p:cNvPr>
          <p:cNvSpPr/>
          <p:nvPr/>
        </p:nvSpPr>
        <p:spPr>
          <a:xfrm>
            <a:off x="502920" y="3968496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menubar"/>
          <p:cNvSpPr/>
          <p:nvPr/>
        </p:nvSpPr>
        <p:spPr>
          <a:xfrm>
            <a:off x="502920" y="3968496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vis:menunum"/>
          <p:cNvSpPr txBox="1"/>
          <p:nvPr/>
        </p:nvSpPr>
        <p:spPr>
          <a:xfrm>
            <a:off x="813816" y="4023359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06</a:t>
            </a:r>
          </a:p>
        </p:txBody>
      </p:sp>
      <p:sp>
        <p:nvSpPr>
          <p:cNvPr id="41" name="cell:menulabel"/>
          <p:cNvSpPr txBox="1"/>
          <p:nvPr/>
        </p:nvSpPr>
        <p:spPr>
          <a:xfrm>
            <a:off x="1344168" y="4023359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Choose what you'd do</a:t>
            </a:r>
          </a:p>
        </p:txBody>
      </p:sp>
      <p:sp>
        <p:nvSpPr>
          <p:cNvPr id="42" name="cell:menusub"/>
          <p:cNvSpPr txBox="1"/>
          <p:nvPr/>
        </p:nvSpPr>
        <p:spPr>
          <a:xfrm>
            <a:off x="7134682" y="4023359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Tuesday morning decision</a:t>
            </a:r>
          </a:p>
        </p:txBody>
      </p:sp>
      <p:cxnSp>
        <p:nvCxnSpPr>
          <p:cNvPr id="43" name="vis:menuarrow"/>
          <p:cNvCxnSpPr/>
          <p:nvPr/>
        </p:nvCxnSpPr>
        <p:spPr>
          <a:xfrm>
            <a:off x="11213287" y="4136745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nav:menurow">
            <a:hlinkClick action="ppaction://hlinksldjump" r:id="rId8"/>
          </p:cNvPr>
          <p:cNvSpPr/>
          <p:nvPr/>
        </p:nvSpPr>
        <p:spPr>
          <a:xfrm>
            <a:off x="502920" y="4396435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vis:menubar"/>
          <p:cNvSpPr/>
          <p:nvPr/>
        </p:nvSpPr>
        <p:spPr>
          <a:xfrm>
            <a:off x="502920" y="4396435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menunum"/>
          <p:cNvSpPr txBox="1"/>
          <p:nvPr/>
        </p:nvSpPr>
        <p:spPr>
          <a:xfrm>
            <a:off x="813816" y="4451299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07</a:t>
            </a:r>
          </a:p>
        </p:txBody>
      </p:sp>
      <p:sp>
        <p:nvSpPr>
          <p:cNvPr id="47" name="cell:menulabel"/>
          <p:cNvSpPr txBox="1"/>
          <p:nvPr/>
        </p:nvSpPr>
        <p:spPr>
          <a:xfrm>
            <a:off x="1344168" y="4451299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Watch this</a:t>
            </a:r>
          </a:p>
        </p:txBody>
      </p:sp>
      <p:sp>
        <p:nvSpPr>
          <p:cNvPr id="48" name="cell:menusub"/>
          <p:cNvSpPr txBox="1"/>
          <p:nvPr/>
        </p:nvSpPr>
        <p:spPr>
          <a:xfrm>
            <a:off x="7134682" y="4451299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3-minute outside explainer</a:t>
            </a:r>
          </a:p>
        </p:txBody>
      </p:sp>
      <p:cxnSp>
        <p:nvCxnSpPr>
          <p:cNvPr id="49" name="vis:menuarrow"/>
          <p:cNvCxnSpPr/>
          <p:nvPr/>
        </p:nvCxnSpPr>
        <p:spPr>
          <a:xfrm>
            <a:off x="11213287" y="4564684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nav:menurow">
            <a:hlinkClick action="ppaction://hlinksldjump" r:id="rId9"/>
          </p:cNvPr>
          <p:cNvSpPr/>
          <p:nvPr/>
        </p:nvSpPr>
        <p:spPr>
          <a:xfrm>
            <a:off x="502920" y="4824374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1" name="vis:menubar"/>
          <p:cNvSpPr/>
          <p:nvPr/>
        </p:nvSpPr>
        <p:spPr>
          <a:xfrm>
            <a:off x="502920" y="4824374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vis:menunum"/>
          <p:cNvSpPr txBox="1"/>
          <p:nvPr/>
        </p:nvSpPr>
        <p:spPr>
          <a:xfrm>
            <a:off x="813816" y="4879238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08</a:t>
            </a:r>
          </a:p>
        </p:txBody>
      </p:sp>
      <p:sp>
        <p:nvSpPr>
          <p:cNvPr id="53" name="cell:menulabel"/>
          <p:cNvSpPr txBox="1"/>
          <p:nvPr/>
        </p:nvSpPr>
        <p:spPr>
          <a:xfrm>
            <a:off x="1344168" y="4879238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Quiz</a:t>
            </a:r>
          </a:p>
        </p:txBody>
      </p:sp>
      <p:sp>
        <p:nvSpPr>
          <p:cNvPr id="54" name="cell:menusub"/>
          <p:cNvSpPr txBox="1"/>
          <p:nvPr/>
        </p:nvSpPr>
        <p:spPr>
          <a:xfrm>
            <a:off x="7134682" y="4879238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5 questions, instant feedback</a:t>
            </a:r>
          </a:p>
        </p:txBody>
      </p:sp>
      <p:cxnSp>
        <p:nvCxnSpPr>
          <p:cNvPr id="55" name="vis:menuarrow"/>
          <p:cNvCxnSpPr/>
          <p:nvPr/>
        </p:nvCxnSpPr>
        <p:spPr>
          <a:xfrm>
            <a:off x="11213287" y="4992624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nav:menurow">
            <a:hlinkClick action="ppaction://hlinksldjump" r:id="rId10"/>
          </p:cNvPr>
          <p:cNvSpPr/>
          <p:nvPr/>
        </p:nvSpPr>
        <p:spPr>
          <a:xfrm>
            <a:off x="502920" y="5252313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7" name="vis:menubar"/>
          <p:cNvSpPr/>
          <p:nvPr/>
        </p:nvSpPr>
        <p:spPr>
          <a:xfrm>
            <a:off x="502920" y="5252313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8" name="vis:menunum"/>
          <p:cNvSpPr txBox="1"/>
          <p:nvPr/>
        </p:nvSpPr>
        <p:spPr>
          <a:xfrm>
            <a:off x="813816" y="5307177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09</a:t>
            </a:r>
          </a:p>
        </p:txBody>
      </p:sp>
      <p:sp>
        <p:nvSpPr>
          <p:cNvPr id="59" name="cell:menulabel"/>
          <p:cNvSpPr txBox="1"/>
          <p:nvPr/>
        </p:nvSpPr>
        <p:spPr>
          <a:xfrm>
            <a:off x="1344168" y="5307177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Recap card</a:t>
            </a:r>
          </a:p>
        </p:txBody>
      </p:sp>
      <p:sp>
        <p:nvSpPr>
          <p:cNvPr id="60" name="cell:menusub"/>
          <p:cNvSpPr txBox="1"/>
          <p:nvPr/>
        </p:nvSpPr>
        <p:spPr>
          <a:xfrm>
            <a:off x="7134682" y="5307177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whole topic on one screen</a:t>
            </a:r>
          </a:p>
        </p:txBody>
      </p:sp>
      <p:cxnSp>
        <p:nvCxnSpPr>
          <p:cNvPr id="61" name="vis:menuarrow"/>
          <p:cNvCxnSpPr/>
          <p:nvPr/>
        </p:nvCxnSpPr>
        <p:spPr>
          <a:xfrm>
            <a:off x="11213287" y="5420563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nav:menurow">
            <a:hlinkClick action="ppaction://hlinksldjump" r:id="rId11"/>
          </p:cNvPr>
          <p:cNvSpPr/>
          <p:nvPr/>
        </p:nvSpPr>
        <p:spPr>
          <a:xfrm>
            <a:off x="502920" y="5680252"/>
            <a:ext cx="11185855" cy="336499"/>
          </a:xfrm>
          <a:prstGeom prst="roundRect">
            <a:avLst>
              <a:gd name="adj" fmla="val 2173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3" name="vis:menubar"/>
          <p:cNvSpPr/>
          <p:nvPr/>
        </p:nvSpPr>
        <p:spPr>
          <a:xfrm>
            <a:off x="502920" y="5680252"/>
            <a:ext cx="68580" cy="336499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64" name="vis:menunum"/>
          <p:cNvSpPr txBox="1"/>
          <p:nvPr/>
        </p:nvSpPr>
        <p:spPr>
          <a:xfrm>
            <a:off x="813816" y="5735116"/>
            <a:ext cx="402336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1220"/>
                </a:solidFill>
                <a:latin typeface="Segoe UI Semibold"/>
              </a:rPr>
              <a:t>10</a:t>
            </a:r>
          </a:p>
        </p:txBody>
      </p:sp>
      <p:sp>
        <p:nvSpPr>
          <p:cNvPr id="65" name="cell:menulabel"/>
          <p:cNvSpPr txBox="1"/>
          <p:nvPr/>
        </p:nvSpPr>
        <p:spPr>
          <a:xfrm>
            <a:off x="1344168" y="5735116"/>
            <a:ext cx="4554093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01826"/>
                </a:solidFill>
                <a:latin typeface="Segoe UI Semibold"/>
              </a:rPr>
              <a:t>Your toolkit</a:t>
            </a:r>
          </a:p>
        </p:txBody>
      </p:sp>
      <p:sp>
        <p:nvSpPr>
          <p:cNvPr id="66" name="cell:menusub"/>
          <p:cNvSpPr txBox="1"/>
          <p:nvPr/>
        </p:nvSpPr>
        <p:spPr>
          <a:xfrm>
            <a:off x="7134682" y="5735116"/>
            <a:ext cx="3606698" cy="2267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Templates, links, what to do next</a:t>
            </a:r>
          </a:p>
        </p:txBody>
      </p:sp>
      <p:cxnSp>
        <p:nvCxnSpPr>
          <p:cNvPr id="67" name="vis:menuarrow"/>
          <p:cNvCxnSpPr/>
          <p:nvPr/>
        </p:nvCxnSpPr>
        <p:spPr>
          <a:xfrm>
            <a:off x="11213287" y="5848502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HOW ACCOUNTS GET TAKEN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Nobody sits and guesses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body:lead"/>
          <p:cNvSpPr txBox="1"/>
          <p:nvPr/>
        </p:nvSpPr>
        <p:spPr>
          <a:xfrm>
            <a:off x="502920" y="1719072"/>
            <a:ext cx="8343671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A3547"/>
                </a:solidFill>
                <a:latin typeface="Segoe UI"/>
              </a:rPr>
              <a:t>The film version is somebody typing guesses. The real version is a list of passwords that already leaked.</a:t>
            </a:r>
          </a:p>
        </p:txBody>
      </p:sp>
      <p:sp>
        <p:nvSpPr>
          <p:cNvPr id="16" name="vis:flowcard"/>
          <p:cNvSpPr/>
          <p:nvPr/>
        </p:nvSpPr>
        <p:spPr>
          <a:xfrm>
            <a:off x="502920" y="3209544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flownum"/>
          <p:cNvSpPr/>
          <p:nvPr/>
        </p:nvSpPr>
        <p:spPr>
          <a:xfrm>
            <a:off x="685800" y="3026663"/>
            <a:ext cx="384048" cy="384048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flownumtext"/>
          <p:cNvSpPr txBox="1"/>
          <p:nvPr/>
        </p:nvSpPr>
        <p:spPr>
          <a:xfrm>
            <a:off x="685800" y="3104387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vis:flowtitle"/>
          <p:cNvSpPr txBox="1"/>
          <p:nvPr/>
        </p:nvSpPr>
        <p:spPr>
          <a:xfrm>
            <a:off x="704088" y="3575303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A website is breached</a:t>
            </a:r>
          </a:p>
        </p:txBody>
      </p:sp>
      <p:sp>
        <p:nvSpPr>
          <p:cNvPr id="20" name="vis:flowsub"/>
          <p:cNvSpPr txBox="1"/>
          <p:nvPr/>
        </p:nvSpPr>
        <p:spPr>
          <a:xfrm>
            <a:off x="704088" y="4123944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Somewhere you signed up, years ago, possibly forgotten.</a:t>
            </a:r>
          </a:p>
        </p:txBody>
      </p:sp>
      <p:cxnSp>
        <p:nvCxnSpPr>
          <p:cNvPr id="21" name="vis:flowarrow"/>
          <p:cNvCxnSpPr/>
          <p:nvPr/>
        </p:nvCxnSpPr>
        <p:spPr>
          <a:xfrm>
            <a:off x="3093643" y="4169663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s:flowcard"/>
          <p:cNvSpPr/>
          <p:nvPr/>
        </p:nvSpPr>
        <p:spPr>
          <a:xfrm>
            <a:off x="3395395" y="3209544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flownum"/>
          <p:cNvSpPr/>
          <p:nvPr/>
        </p:nvSpPr>
        <p:spPr>
          <a:xfrm>
            <a:off x="3578275" y="3026663"/>
            <a:ext cx="384048" cy="384048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flownumtext"/>
          <p:cNvSpPr txBox="1"/>
          <p:nvPr/>
        </p:nvSpPr>
        <p:spPr>
          <a:xfrm>
            <a:off x="3578275" y="3104387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vis:flowtitle"/>
          <p:cNvSpPr txBox="1"/>
          <p:nvPr/>
        </p:nvSpPr>
        <p:spPr>
          <a:xfrm>
            <a:off x="3596563" y="3575303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The list is sold</a:t>
            </a:r>
          </a:p>
        </p:txBody>
      </p:sp>
      <p:sp>
        <p:nvSpPr>
          <p:cNvPr id="26" name="vis:flowsub"/>
          <p:cNvSpPr txBox="1"/>
          <p:nvPr/>
        </p:nvSpPr>
        <p:spPr>
          <a:xfrm>
            <a:off x="3596563" y="4123944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Email addresses and passwords, millions at a time.</a:t>
            </a:r>
          </a:p>
        </p:txBody>
      </p:sp>
      <p:cxnSp>
        <p:nvCxnSpPr>
          <p:cNvPr id="27" name="vis:flowarrow"/>
          <p:cNvCxnSpPr/>
          <p:nvPr/>
        </p:nvCxnSpPr>
        <p:spPr>
          <a:xfrm>
            <a:off x="5986119" y="4169663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s:flowcard"/>
          <p:cNvSpPr/>
          <p:nvPr/>
        </p:nvSpPr>
        <p:spPr>
          <a:xfrm>
            <a:off x="6287871" y="3209544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flownum"/>
          <p:cNvSpPr/>
          <p:nvPr/>
        </p:nvSpPr>
        <p:spPr>
          <a:xfrm>
            <a:off x="6470751" y="3026663"/>
            <a:ext cx="384048" cy="384048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flownumtext"/>
          <p:cNvSpPr txBox="1"/>
          <p:nvPr/>
        </p:nvSpPr>
        <p:spPr>
          <a:xfrm>
            <a:off x="6470751" y="3104387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1" name="vis:flowtitle"/>
          <p:cNvSpPr txBox="1"/>
          <p:nvPr/>
        </p:nvSpPr>
        <p:spPr>
          <a:xfrm>
            <a:off x="6489039" y="3575303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Software tries them</a:t>
            </a:r>
          </a:p>
        </p:txBody>
      </p:sp>
      <p:sp>
        <p:nvSpPr>
          <p:cNvPr id="32" name="vis:flowsub"/>
          <p:cNvSpPr txBox="1"/>
          <p:nvPr/>
        </p:nvSpPr>
        <p:spPr>
          <a:xfrm>
            <a:off x="6489039" y="4123944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Automatically, against every well-known service.</a:t>
            </a:r>
          </a:p>
        </p:txBody>
      </p:sp>
      <p:cxnSp>
        <p:nvCxnSpPr>
          <p:cNvPr id="33" name="vis:flowarrow"/>
          <p:cNvCxnSpPr/>
          <p:nvPr/>
        </p:nvCxnSpPr>
        <p:spPr>
          <a:xfrm>
            <a:off x="8878595" y="4169663"/>
            <a:ext cx="219456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s:flowcard"/>
          <p:cNvSpPr/>
          <p:nvPr/>
        </p:nvSpPr>
        <p:spPr>
          <a:xfrm>
            <a:off x="9180347" y="3209544"/>
            <a:ext cx="2508427" cy="1920240"/>
          </a:xfrm>
          <a:prstGeom prst="roundRect">
            <a:avLst>
              <a:gd name="adj" fmla="val 476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vis:flownum"/>
          <p:cNvSpPr/>
          <p:nvPr/>
        </p:nvSpPr>
        <p:spPr>
          <a:xfrm>
            <a:off x="9363227" y="3026663"/>
            <a:ext cx="384048" cy="384048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flownumtext"/>
          <p:cNvSpPr txBox="1"/>
          <p:nvPr/>
        </p:nvSpPr>
        <p:spPr>
          <a:xfrm>
            <a:off x="9363227" y="3104387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7" name="vis:flowtitle"/>
          <p:cNvSpPr txBox="1"/>
          <p:nvPr/>
        </p:nvSpPr>
        <p:spPr>
          <a:xfrm>
            <a:off x="9381515" y="3575303"/>
            <a:ext cx="210609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01826"/>
                </a:solidFill>
                <a:latin typeface="Segoe UI Semibold"/>
              </a:rPr>
              <a:t>One of them works</a:t>
            </a:r>
          </a:p>
        </p:txBody>
      </p:sp>
      <p:sp>
        <p:nvSpPr>
          <p:cNvPr id="38" name="vis:flowsub"/>
          <p:cNvSpPr txBox="1"/>
          <p:nvPr/>
        </p:nvSpPr>
        <p:spPr>
          <a:xfrm>
            <a:off x="9381515" y="4123944"/>
            <a:ext cx="2106091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Because it was reused. That is the whole attack.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HOW ACCOUNTS GET TAKEN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What actually gets used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panel"/>
          <p:cNvSpPr/>
          <p:nvPr/>
        </p:nvSpPr>
        <p:spPr>
          <a:xfrm>
            <a:off x="502920" y="1719072"/>
            <a:ext cx="5437479" cy="4297680"/>
          </a:xfrm>
          <a:prstGeom prst="roundRect">
            <a:avLst>
              <a:gd name="adj" fmla="val 212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panelspine"/>
          <p:cNvSpPr/>
          <p:nvPr/>
        </p:nvSpPr>
        <p:spPr>
          <a:xfrm>
            <a:off x="502920" y="1719072"/>
            <a:ext cx="68580" cy="4297680"/>
          </a:xfrm>
          <a:prstGeom prst="rect">
            <a:avLst/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chip"/>
          <p:cNvSpPr/>
          <p:nvPr/>
        </p:nvSpPr>
        <p:spPr>
          <a:xfrm>
            <a:off x="777240" y="1956815"/>
            <a:ext cx="2890575" cy="274320"/>
          </a:xfrm>
          <a:prstGeom prst="roundRect">
            <a:avLst>
              <a:gd name="adj" fmla="val 16666"/>
            </a:avLst>
          </a:prstGeom>
          <a:solidFill>
            <a:srgbClr val="2A35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chiptext"/>
          <p:cNvSpPr txBox="1"/>
          <p:nvPr/>
        </p:nvSpPr>
        <p:spPr>
          <a:xfrm>
            <a:off x="932688" y="1984247"/>
            <a:ext cx="25796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WHAT PEOPLE WORRY ABOUT</a:t>
            </a:r>
          </a:p>
        </p:txBody>
      </p:sp>
      <p:sp>
        <p:nvSpPr>
          <p:cNvPr id="19" name="vis:paneltitle"/>
          <p:cNvSpPr txBox="1"/>
          <p:nvPr/>
        </p:nvSpPr>
        <p:spPr>
          <a:xfrm>
            <a:off x="777240" y="2377439"/>
            <a:ext cx="4888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Guessing your password</a:t>
            </a:r>
          </a:p>
        </p:txBody>
      </p:sp>
      <p:sp>
        <p:nvSpPr>
          <p:cNvPr id="20" name="vis:icon"/>
          <p:cNvSpPr/>
          <p:nvPr/>
        </p:nvSpPr>
        <p:spPr>
          <a:xfrm>
            <a:off x="811987" y="3080613"/>
            <a:ext cx="109728" cy="109728"/>
          </a:xfrm>
          <a:prstGeom prst="ellipse">
            <a:avLst/>
          </a:prstGeom>
          <a:noFill/>
          <a:ln w="19050">
            <a:solidFill>
              <a:srgbClr val="2A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907084" y="3175711"/>
            <a:ext cx="43892" cy="43891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s:panelitem"/>
          <p:cNvSpPr txBox="1"/>
          <p:nvPr/>
        </p:nvSpPr>
        <p:spPr>
          <a:xfrm>
            <a:off x="1078992" y="3017520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Someone trying combinations by hand</a:t>
            </a:r>
          </a:p>
        </p:txBody>
      </p:sp>
      <p:sp>
        <p:nvSpPr>
          <p:cNvPr id="23" name="vis:icon"/>
          <p:cNvSpPr/>
          <p:nvPr/>
        </p:nvSpPr>
        <p:spPr>
          <a:xfrm>
            <a:off x="811987" y="3775557"/>
            <a:ext cx="109728" cy="109728"/>
          </a:xfrm>
          <a:prstGeom prst="ellipse">
            <a:avLst/>
          </a:prstGeom>
          <a:noFill/>
          <a:ln w="19050">
            <a:solidFill>
              <a:srgbClr val="2A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4" name="vis:icon"/>
          <p:cNvCxnSpPr/>
          <p:nvPr/>
        </p:nvCxnSpPr>
        <p:spPr>
          <a:xfrm>
            <a:off x="907084" y="3870655"/>
            <a:ext cx="43892" cy="43891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s:panelitem"/>
          <p:cNvSpPr txBox="1"/>
          <p:nvPr/>
        </p:nvSpPr>
        <p:spPr>
          <a:xfrm>
            <a:off x="1078992" y="3712463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Needing to know your dog's name</a:t>
            </a:r>
          </a:p>
        </p:txBody>
      </p:sp>
      <p:sp>
        <p:nvSpPr>
          <p:cNvPr id="26" name="vis:icon"/>
          <p:cNvSpPr/>
          <p:nvPr/>
        </p:nvSpPr>
        <p:spPr>
          <a:xfrm>
            <a:off x="811987" y="4470501"/>
            <a:ext cx="109728" cy="109728"/>
          </a:xfrm>
          <a:prstGeom prst="ellipse">
            <a:avLst/>
          </a:prstGeom>
          <a:noFill/>
          <a:ln w="19050">
            <a:solidFill>
              <a:srgbClr val="2A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907084" y="4565599"/>
            <a:ext cx="43892" cy="43891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s:panelitem"/>
          <p:cNvSpPr txBox="1"/>
          <p:nvPr/>
        </p:nvSpPr>
        <p:spPr>
          <a:xfrm>
            <a:off x="1078992" y="4407407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Symbols and capitals stopping them</a:t>
            </a:r>
          </a:p>
        </p:txBody>
      </p:sp>
      <p:sp>
        <p:nvSpPr>
          <p:cNvPr id="29" name="vis:icon"/>
          <p:cNvSpPr/>
          <p:nvPr/>
        </p:nvSpPr>
        <p:spPr>
          <a:xfrm>
            <a:off x="811987" y="5165445"/>
            <a:ext cx="109728" cy="109728"/>
          </a:xfrm>
          <a:prstGeom prst="ellipse">
            <a:avLst/>
          </a:prstGeom>
          <a:noFill/>
          <a:ln w="19050">
            <a:solidFill>
              <a:srgbClr val="2A3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0" name="vis:icon"/>
          <p:cNvCxnSpPr/>
          <p:nvPr/>
        </p:nvCxnSpPr>
        <p:spPr>
          <a:xfrm>
            <a:off x="907084" y="5260543"/>
            <a:ext cx="43892" cy="43891"/>
          </a:xfrm>
          <a:prstGeom prst="line">
            <a:avLst/>
          </a:prstGeom>
          <a:ln w="1905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vis:panelitem"/>
          <p:cNvSpPr txBox="1"/>
          <p:nvPr/>
        </p:nvSpPr>
        <p:spPr>
          <a:xfrm>
            <a:off x="1078992" y="5102351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Rare, slow and mostly fictional</a:t>
            </a:r>
          </a:p>
        </p:txBody>
      </p:sp>
      <p:sp>
        <p:nvSpPr>
          <p:cNvPr id="32" name="vis:panel"/>
          <p:cNvSpPr/>
          <p:nvPr/>
        </p:nvSpPr>
        <p:spPr>
          <a:xfrm>
            <a:off x="6251295" y="1719072"/>
            <a:ext cx="5437479" cy="4297680"/>
          </a:xfrm>
          <a:prstGeom prst="roundRect">
            <a:avLst>
              <a:gd name="adj" fmla="val 212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panelspine"/>
          <p:cNvSpPr/>
          <p:nvPr/>
        </p:nvSpPr>
        <p:spPr>
          <a:xfrm>
            <a:off x="6251295" y="1719072"/>
            <a:ext cx="68580" cy="42976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vis:chip"/>
          <p:cNvSpPr/>
          <p:nvPr/>
        </p:nvSpPr>
        <p:spPr>
          <a:xfrm>
            <a:off x="6525615" y="1956815"/>
            <a:ext cx="2657967" cy="274320"/>
          </a:xfrm>
          <a:prstGeom prst="roundRect">
            <a:avLst>
              <a:gd name="adj" fmla="val 1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vis:chiptext"/>
          <p:cNvSpPr txBox="1"/>
          <p:nvPr/>
        </p:nvSpPr>
        <p:spPr>
          <a:xfrm>
            <a:off x="6681063" y="1984247"/>
            <a:ext cx="23470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WHAT ACTUALLY HAPPENS</a:t>
            </a:r>
          </a:p>
        </p:txBody>
      </p:sp>
      <p:sp>
        <p:nvSpPr>
          <p:cNvPr id="36" name="vis:paneltitle"/>
          <p:cNvSpPr txBox="1"/>
          <p:nvPr/>
        </p:nvSpPr>
        <p:spPr>
          <a:xfrm>
            <a:off x="6525615" y="2377439"/>
            <a:ext cx="4888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Trying passwords that leaked</a:t>
            </a:r>
          </a:p>
        </p:txBody>
      </p:sp>
      <p:cxnSp>
        <p:nvCxnSpPr>
          <p:cNvPr id="37" name="vis:icon"/>
          <p:cNvCxnSpPr/>
          <p:nvPr/>
        </p:nvCxnSpPr>
        <p:spPr>
          <a:xfrm>
            <a:off x="6567677" y="3091586"/>
            <a:ext cx="117044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is:icon"/>
          <p:cNvCxnSpPr/>
          <p:nvPr/>
        </p:nvCxnSpPr>
        <p:spPr>
          <a:xfrm flipH="1">
            <a:off x="6567677" y="3091586"/>
            <a:ext cx="117044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vis:panelitem"/>
          <p:cNvSpPr txBox="1"/>
          <p:nvPr/>
        </p:nvSpPr>
        <p:spPr>
          <a:xfrm>
            <a:off x="6827367" y="3017520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Your real password, from another site</a:t>
            </a:r>
          </a:p>
        </p:txBody>
      </p:sp>
      <p:cxnSp>
        <p:nvCxnSpPr>
          <p:cNvPr id="40" name="vis:icon"/>
          <p:cNvCxnSpPr/>
          <p:nvPr/>
        </p:nvCxnSpPr>
        <p:spPr>
          <a:xfrm>
            <a:off x="6567677" y="3786530"/>
            <a:ext cx="117044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vis:icon"/>
          <p:cNvCxnSpPr/>
          <p:nvPr/>
        </p:nvCxnSpPr>
        <p:spPr>
          <a:xfrm flipH="1">
            <a:off x="6567677" y="3786530"/>
            <a:ext cx="117044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vis:panelitem"/>
          <p:cNvSpPr txBox="1"/>
          <p:nvPr/>
        </p:nvSpPr>
        <p:spPr>
          <a:xfrm>
            <a:off x="6827367" y="3712463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Tried automatically against hundreds of services</a:t>
            </a:r>
          </a:p>
        </p:txBody>
      </p:sp>
      <p:cxnSp>
        <p:nvCxnSpPr>
          <p:cNvPr id="43" name="vis:icon"/>
          <p:cNvCxnSpPr/>
          <p:nvPr/>
        </p:nvCxnSpPr>
        <p:spPr>
          <a:xfrm>
            <a:off x="6567677" y="4481474"/>
            <a:ext cx="117044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vis:icon"/>
          <p:cNvCxnSpPr/>
          <p:nvPr/>
        </p:nvCxnSpPr>
        <p:spPr>
          <a:xfrm flipH="1">
            <a:off x="6567677" y="4481474"/>
            <a:ext cx="117044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vis:panelitem"/>
          <p:cNvSpPr txBox="1"/>
          <p:nvPr/>
        </p:nvSpPr>
        <p:spPr>
          <a:xfrm>
            <a:off x="6827367" y="4407407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Symbols and capitals do not help at all</a:t>
            </a:r>
          </a:p>
        </p:txBody>
      </p:sp>
      <p:cxnSp>
        <p:nvCxnSpPr>
          <p:cNvPr id="46" name="vis:icon"/>
          <p:cNvCxnSpPr/>
          <p:nvPr/>
        </p:nvCxnSpPr>
        <p:spPr>
          <a:xfrm>
            <a:off x="6567677" y="5176418"/>
            <a:ext cx="117044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vis:icon"/>
          <p:cNvCxnSpPr/>
          <p:nvPr/>
        </p:nvCxnSpPr>
        <p:spPr>
          <a:xfrm flipH="1">
            <a:off x="6567677" y="5176418"/>
            <a:ext cx="117044" cy="117043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vis:panelitem"/>
          <p:cNvSpPr txBox="1"/>
          <p:nvPr/>
        </p:nvSpPr>
        <p:spPr>
          <a:xfrm>
            <a:off x="6827367" y="5102351"/>
            <a:ext cx="45870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Common, fast and completely routine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REUSE IS THE REAL RISK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One breach, every account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nest"/>
          <p:cNvSpPr/>
          <p:nvPr/>
        </p:nvSpPr>
        <p:spPr>
          <a:xfrm>
            <a:off x="502920" y="1984248"/>
            <a:ext cx="6264078" cy="3291840"/>
          </a:xfrm>
          <a:prstGeom prst="roundRect">
            <a:avLst>
              <a:gd name="adj" fmla="val 2777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nestlabel"/>
          <p:cNvSpPr txBox="1"/>
          <p:nvPr/>
        </p:nvSpPr>
        <p:spPr>
          <a:xfrm>
            <a:off x="722376" y="2130552"/>
            <a:ext cx="582516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One password you reuse</a:t>
            </a:r>
          </a:p>
        </p:txBody>
      </p:sp>
      <p:sp>
        <p:nvSpPr>
          <p:cNvPr id="17" name="vis:nestsub"/>
          <p:cNvSpPr txBox="1"/>
          <p:nvPr/>
        </p:nvSpPr>
        <p:spPr>
          <a:xfrm>
            <a:off x="722376" y="2441448"/>
            <a:ext cx="582516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Chosen once, years ago, still in use.</a:t>
            </a:r>
          </a:p>
        </p:txBody>
      </p:sp>
      <p:sp>
        <p:nvSpPr>
          <p:cNvPr id="18" name="vis:nest"/>
          <p:cNvSpPr/>
          <p:nvPr/>
        </p:nvSpPr>
        <p:spPr>
          <a:xfrm>
            <a:off x="832104" y="2843784"/>
            <a:ext cx="5605710" cy="2157984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vis:nestlabel"/>
          <p:cNvSpPr txBox="1"/>
          <p:nvPr/>
        </p:nvSpPr>
        <p:spPr>
          <a:xfrm>
            <a:off x="1051560" y="2990088"/>
            <a:ext cx="51667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Every site you used it on</a:t>
            </a:r>
          </a:p>
        </p:txBody>
      </p:sp>
      <p:sp>
        <p:nvSpPr>
          <p:cNvPr id="20" name="vis:nestsub"/>
          <p:cNvSpPr txBox="1"/>
          <p:nvPr/>
        </p:nvSpPr>
        <p:spPr>
          <a:xfrm>
            <a:off x="1051560" y="3300984"/>
            <a:ext cx="516679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Shopping, forums, an old email account.</a:t>
            </a:r>
          </a:p>
        </p:txBody>
      </p:sp>
      <p:sp>
        <p:nvSpPr>
          <p:cNvPr id="21" name="vis:nest"/>
          <p:cNvSpPr/>
          <p:nvPr/>
        </p:nvSpPr>
        <p:spPr>
          <a:xfrm>
            <a:off x="1161288" y="3703320"/>
            <a:ext cx="4947342" cy="1024128"/>
          </a:xfrm>
          <a:prstGeom prst="roundRect">
            <a:avLst>
              <a:gd name="adj" fmla="val 8928"/>
            </a:avLst>
          </a:prstGeom>
          <a:solidFill>
            <a:srgbClr val="F3F6FB"/>
          </a:solidFill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nestlabel"/>
          <p:cNvSpPr txBox="1"/>
          <p:nvPr/>
        </p:nvSpPr>
        <p:spPr>
          <a:xfrm>
            <a:off x="1380744" y="3849624"/>
            <a:ext cx="45084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A1220"/>
                </a:solidFill>
                <a:latin typeface="Segoe UI Semibold"/>
              </a:rPr>
              <a:t>Including work</a:t>
            </a:r>
          </a:p>
        </p:txBody>
      </p:sp>
      <p:sp>
        <p:nvSpPr>
          <p:cNvPr id="23" name="vis:nestsub"/>
          <p:cNvSpPr txBox="1"/>
          <p:nvPr/>
        </p:nvSpPr>
        <p:spPr>
          <a:xfrm>
            <a:off x="1380744" y="4160520"/>
            <a:ext cx="450843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The weakest of those sites decides our security.</a:t>
            </a:r>
          </a:p>
        </p:txBody>
      </p:sp>
      <p:sp>
        <p:nvSpPr>
          <p:cNvPr id="24" name="body:nestnote"/>
          <p:cNvSpPr txBox="1"/>
          <p:nvPr/>
        </p:nvSpPr>
        <p:spPr>
          <a:xfrm>
            <a:off x="7438150" y="2130552"/>
            <a:ext cx="4250624" cy="2999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B6779"/>
                </a:solidFill>
                <a:latin typeface="Segoe UI"/>
              </a:rPr>
              <a:t>Your work account is only as safe as the least careful website you ever signed up to. That is what reuse actually means.</a:t>
            </a:r>
          </a:p>
        </p:txBody>
      </p:sp>
      <p:sp>
        <p:nvSpPr>
          <p:cNvPr id="25" name="cell:glosshint"/>
          <p:cNvSpPr txBox="1"/>
          <p:nvPr/>
        </p:nvSpPr>
        <p:spPr>
          <a:xfrm>
            <a:off x="502920" y="5687568"/>
            <a:ext cx="16093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What does this mean?</a:t>
            </a:r>
          </a:p>
        </p:txBody>
      </p:sp>
      <p:sp>
        <p:nvSpPr>
          <p:cNvPr id="26" name="vis:chip"/>
          <p:cNvSpPr/>
          <p:nvPr/>
        </p:nvSpPr>
        <p:spPr>
          <a:xfrm>
            <a:off x="2221991" y="5660136"/>
            <a:ext cx="2511044" cy="274320"/>
          </a:xfrm>
          <a:prstGeom prst="roundRect">
            <a:avLst>
              <a:gd name="adj" fmla="val 16666"/>
            </a:avLst>
          </a:prstGeom>
          <a:noFill/>
          <a:ln w="12700">
            <a:solidFill>
              <a:srgbClr val="5B67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chiptext"/>
          <p:cNvSpPr txBox="1"/>
          <p:nvPr/>
        </p:nvSpPr>
        <p:spPr>
          <a:xfrm>
            <a:off x="2377439" y="5687568"/>
            <a:ext cx="22001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5B6779"/>
                </a:solidFill>
                <a:latin typeface="Segoe UI Semibold"/>
              </a:rPr>
              <a:t>CREDENTIAL STUFFING  ?</a:t>
            </a:r>
          </a:p>
        </p:txBody>
      </p:sp>
      <p:sp>
        <p:nvSpPr>
          <p:cNvPr id="28" name="nav:gloss">
            <a:hlinkClick action="ppaction://hlinksldjump" r:id="rId3"/>
          </p:cNvPr>
          <p:cNvSpPr/>
          <p:nvPr/>
        </p:nvSpPr>
        <p:spPr>
          <a:xfrm>
            <a:off x="2221991" y="5660136"/>
            <a:ext cx="2511044" cy="27432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REUSE IS THE REAL RISK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Small changes do not help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mistake"/>
          <p:cNvSpPr/>
          <p:nvPr/>
        </p:nvSpPr>
        <p:spPr>
          <a:xfrm>
            <a:off x="502920" y="1719072"/>
            <a:ext cx="11185855" cy="950976"/>
          </a:xfrm>
          <a:prstGeom prst="roundRect">
            <a:avLst>
              <a:gd name="adj" fmla="val 769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mistakebar"/>
          <p:cNvSpPr/>
          <p:nvPr/>
        </p:nvSpPr>
        <p:spPr>
          <a:xfrm>
            <a:off x="502920" y="1719072"/>
            <a:ext cx="68580" cy="95097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mistakenum"/>
          <p:cNvSpPr/>
          <p:nvPr/>
        </p:nvSpPr>
        <p:spPr>
          <a:xfrm>
            <a:off x="740664" y="2039112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mistakenumtext"/>
          <p:cNvSpPr txBox="1"/>
          <p:nvPr/>
        </p:nvSpPr>
        <p:spPr>
          <a:xfrm>
            <a:off x="740664" y="2107692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cell:mistake"/>
          <p:cNvSpPr txBox="1"/>
          <p:nvPr/>
        </p:nvSpPr>
        <p:spPr>
          <a:xfrm>
            <a:off x="1179576" y="1810512"/>
            <a:ext cx="468280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Adding a number at the end</a:t>
            </a:r>
          </a:p>
        </p:txBody>
      </p:sp>
      <p:cxnSp>
        <p:nvCxnSpPr>
          <p:cNvPr id="20" name="vis:line"/>
          <p:cNvCxnSpPr/>
          <p:nvPr/>
        </p:nvCxnSpPr>
        <p:spPr>
          <a:xfrm>
            <a:off x="6008686" y="1865376"/>
            <a:ext cx="0" cy="658368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ell:mistakewhy"/>
          <p:cNvSpPr txBox="1"/>
          <p:nvPr/>
        </p:nvSpPr>
        <p:spPr>
          <a:xfrm>
            <a:off x="6173278" y="1810512"/>
            <a:ext cx="529604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Attack software tries the obvious variations automatically. It is the first thing it does.</a:t>
            </a:r>
          </a:p>
        </p:txBody>
      </p:sp>
      <p:sp>
        <p:nvSpPr>
          <p:cNvPr id="22" name="vis:mistake"/>
          <p:cNvSpPr/>
          <p:nvPr/>
        </p:nvSpPr>
        <p:spPr>
          <a:xfrm>
            <a:off x="502920" y="2834639"/>
            <a:ext cx="11185855" cy="950976"/>
          </a:xfrm>
          <a:prstGeom prst="roundRect">
            <a:avLst>
              <a:gd name="adj" fmla="val 769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mistakebar"/>
          <p:cNvSpPr/>
          <p:nvPr/>
        </p:nvSpPr>
        <p:spPr>
          <a:xfrm>
            <a:off x="502920" y="2834639"/>
            <a:ext cx="68580" cy="95097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mistakenum"/>
          <p:cNvSpPr/>
          <p:nvPr/>
        </p:nvSpPr>
        <p:spPr>
          <a:xfrm>
            <a:off x="740664" y="3154679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mistakenumtext"/>
          <p:cNvSpPr txBox="1"/>
          <p:nvPr/>
        </p:nvSpPr>
        <p:spPr>
          <a:xfrm>
            <a:off x="740664" y="3223260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6" name="cell:mistake"/>
          <p:cNvSpPr txBox="1"/>
          <p:nvPr/>
        </p:nvSpPr>
        <p:spPr>
          <a:xfrm>
            <a:off x="1179576" y="2926079"/>
            <a:ext cx="468280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Changing one letter to a symbol</a:t>
            </a:r>
          </a:p>
        </p:txBody>
      </p:sp>
      <p:cxnSp>
        <p:nvCxnSpPr>
          <p:cNvPr id="27" name="vis:line"/>
          <p:cNvCxnSpPr/>
          <p:nvPr/>
        </p:nvCxnSpPr>
        <p:spPr>
          <a:xfrm>
            <a:off x="6008686" y="2980944"/>
            <a:ext cx="0" cy="658367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ell:mistakewhy"/>
          <p:cNvSpPr txBox="1"/>
          <p:nvPr/>
        </p:nvSpPr>
        <p:spPr>
          <a:xfrm>
            <a:off x="6173278" y="2926079"/>
            <a:ext cx="529604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Replacing a with @ has been in every cracking list for twenty years.</a:t>
            </a:r>
          </a:p>
        </p:txBody>
      </p:sp>
      <p:sp>
        <p:nvSpPr>
          <p:cNvPr id="29" name="vis:mistake"/>
          <p:cNvSpPr/>
          <p:nvPr/>
        </p:nvSpPr>
        <p:spPr>
          <a:xfrm>
            <a:off x="502920" y="3950208"/>
            <a:ext cx="11185855" cy="950976"/>
          </a:xfrm>
          <a:prstGeom prst="roundRect">
            <a:avLst>
              <a:gd name="adj" fmla="val 769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mistakebar"/>
          <p:cNvSpPr/>
          <p:nvPr/>
        </p:nvSpPr>
        <p:spPr>
          <a:xfrm>
            <a:off x="502920" y="3950208"/>
            <a:ext cx="68580" cy="95097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mistakenum"/>
          <p:cNvSpPr/>
          <p:nvPr/>
        </p:nvSpPr>
        <p:spPr>
          <a:xfrm>
            <a:off x="740664" y="4270248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mistakenumtext"/>
          <p:cNvSpPr txBox="1"/>
          <p:nvPr/>
        </p:nvSpPr>
        <p:spPr>
          <a:xfrm>
            <a:off x="740664" y="433882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3" name="cell:mistake"/>
          <p:cNvSpPr txBox="1"/>
          <p:nvPr/>
        </p:nvSpPr>
        <p:spPr>
          <a:xfrm>
            <a:off x="1179576" y="4041648"/>
            <a:ext cx="468280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Using the same base word everywhere</a:t>
            </a:r>
          </a:p>
        </p:txBody>
      </p:sp>
      <p:cxnSp>
        <p:nvCxnSpPr>
          <p:cNvPr id="34" name="vis:line"/>
          <p:cNvCxnSpPr/>
          <p:nvPr/>
        </p:nvCxnSpPr>
        <p:spPr>
          <a:xfrm>
            <a:off x="6008686" y="4096512"/>
            <a:ext cx="0" cy="658368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ell:mistakewhy"/>
          <p:cNvSpPr txBox="1"/>
          <p:nvPr/>
        </p:nvSpPr>
        <p:spPr>
          <a:xfrm>
            <a:off x="6173278" y="4041648"/>
            <a:ext cx="529604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Once one is known, the pattern is known, and the rest follow in seconds.</a:t>
            </a:r>
          </a:p>
        </p:txBody>
      </p:sp>
      <p:sp>
        <p:nvSpPr>
          <p:cNvPr id="36" name="vis:mistake"/>
          <p:cNvSpPr/>
          <p:nvPr/>
        </p:nvSpPr>
        <p:spPr>
          <a:xfrm>
            <a:off x="502920" y="5065776"/>
            <a:ext cx="11185855" cy="950976"/>
          </a:xfrm>
          <a:prstGeom prst="roundRect">
            <a:avLst>
              <a:gd name="adj" fmla="val 7692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mistakebar"/>
          <p:cNvSpPr/>
          <p:nvPr/>
        </p:nvSpPr>
        <p:spPr>
          <a:xfrm>
            <a:off x="502920" y="5065776"/>
            <a:ext cx="68580" cy="950976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mistakenum"/>
          <p:cNvSpPr/>
          <p:nvPr/>
        </p:nvSpPr>
        <p:spPr>
          <a:xfrm>
            <a:off x="740664" y="5385816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mistakenumtext"/>
          <p:cNvSpPr txBox="1"/>
          <p:nvPr/>
        </p:nvSpPr>
        <p:spPr>
          <a:xfrm>
            <a:off x="740664" y="5454396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0" name="cell:mistake"/>
          <p:cNvSpPr txBox="1"/>
          <p:nvPr/>
        </p:nvSpPr>
        <p:spPr>
          <a:xfrm>
            <a:off x="1179576" y="5157216"/>
            <a:ext cx="468280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Changing it only when forced to</a:t>
            </a:r>
          </a:p>
        </p:txBody>
      </p:sp>
      <p:cxnSp>
        <p:nvCxnSpPr>
          <p:cNvPr id="41" name="vis:line"/>
          <p:cNvCxnSpPr/>
          <p:nvPr/>
        </p:nvCxnSpPr>
        <p:spPr>
          <a:xfrm>
            <a:off x="6008686" y="5212080"/>
            <a:ext cx="0" cy="658368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ell:mistakewhy"/>
          <p:cNvSpPr txBox="1"/>
          <p:nvPr/>
        </p:nvSpPr>
        <p:spPr>
          <a:xfrm>
            <a:off x="6173278" y="5157216"/>
            <a:ext cx="529604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password that leaked in 2021 stays valid until the day you change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BUILDING A STRONG ONE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Length beats symbols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body:lead"/>
          <p:cNvSpPr txBox="1"/>
          <p:nvPr/>
        </p:nvSpPr>
        <p:spPr>
          <a:xfrm>
            <a:off x="502920" y="1719072"/>
            <a:ext cx="8343671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A3547"/>
                </a:solidFill>
                <a:latin typeface="Segoe UI"/>
              </a:rPr>
              <a:t>Three or four unrelated words are harder to break and far easier to type than eight random characters.</a:t>
            </a:r>
          </a:p>
        </p:txBody>
      </p:sp>
      <p:sp>
        <p:nvSpPr>
          <p:cNvPr id="16" name="vis:checktile"/>
          <p:cNvSpPr/>
          <p:nvPr/>
        </p:nvSpPr>
        <p:spPr>
          <a:xfrm>
            <a:off x="502920" y="2834640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checkdot"/>
          <p:cNvSpPr/>
          <p:nvPr/>
        </p:nvSpPr>
        <p:spPr>
          <a:xfrm>
            <a:off x="722376" y="3387852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815279" y="3546774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icon"/>
          <p:cNvCxnSpPr/>
          <p:nvPr/>
        </p:nvCxnSpPr>
        <p:spPr>
          <a:xfrm flipV="1">
            <a:off x="860450" y="3494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ell:checkitem"/>
          <p:cNvSpPr txBox="1"/>
          <p:nvPr/>
        </p:nvSpPr>
        <p:spPr>
          <a:xfrm>
            <a:off x="1161288" y="2980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THREE OR FOUR WORDS — "copper-lantern-quiet-mango"</a:t>
            </a:r>
          </a:p>
        </p:txBody>
      </p:sp>
      <p:sp>
        <p:nvSpPr>
          <p:cNvPr id="21" name="vis:checktile"/>
          <p:cNvSpPr/>
          <p:nvPr/>
        </p:nvSpPr>
        <p:spPr>
          <a:xfrm>
            <a:off x="6205575" y="2834640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checkdot"/>
          <p:cNvSpPr/>
          <p:nvPr/>
        </p:nvSpPr>
        <p:spPr>
          <a:xfrm>
            <a:off x="6425031" y="3387852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3" name="vis:icon"/>
          <p:cNvCxnSpPr/>
          <p:nvPr/>
        </p:nvCxnSpPr>
        <p:spPr>
          <a:xfrm>
            <a:off x="6517934" y="3546774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s:icon"/>
          <p:cNvCxnSpPr/>
          <p:nvPr/>
        </p:nvCxnSpPr>
        <p:spPr>
          <a:xfrm flipV="1">
            <a:off x="6563106" y="3494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ell:checkitem"/>
          <p:cNvSpPr txBox="1"/>
          <p:nvPr/>
        </p:nvSpPr>
        <p:spPr>
          <a:xfrm>
            <a:off x="6863943" y="2980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UNRELATED — not your city, employer, family or team</a:t>
            </a:r>
          </a:p>
        </p:txBody>
      </p:sp>
      <p:sp>
        <p:nvSpPr>
          <p:cNvPr id="26" name="vis:checktile"/>
          <p:cNvSpPr/>
          <p:nvPr/>
        </p:nvSpPr>
        <p:spPr>
          <a:xfrm>
            <a:off x="502920" y="4471416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checkdot"/>
          <p:cNvSpPr/>
          <p:nvPr/>
        </p:nvSpPr>
        <p:spPr>
          <a:xfrm>
            <a:off x="722376" y="5024628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8" name="vis:icon"/>
          <p:cNvCxnSpPr/>
          <p:nvPr/>
        </p:nvCxnSpPr>
        <p:spPr>
          <a:xfrm>
            <a:off x="815279" y="5183550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vis:icon"/>
          <p:cNvCxnSpPr/>
          <p:nvPr/>
        </p:nvCxnSpPr>
        <p:spPr>
          <a:xfrm flipV="1">
            <a:off x="860450" y="5131429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ell:checkitem"/>
          <p:cNvSpPr txBox="1"/>
          <p:nvPr/>
        </p:nvSpPr>
        <p:spPr>
          <a:xfrm>
            <a:off x="1161288" y="4617720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LONG — aim for sixteen characters or more</a:t>
            </a:r>
          </a:p>
        </p:txBody>
      </p:sp>
      <p:sp>
        <p:nvSpPr>
          <p:cNvPr id="31" name="vis:checktile"/>
          <p:cNvSpPr/>
          <p:nvPr/>
        </p:nvSpPr>
        <p:spPr>
          <a:xfrm>
            <a:off x="6205575" y="4471416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checkdot"/>
          <p:cNvSpPr/>
          <p:nvPr/>
        </p:nvSpPr>
        <p:spPr>
          <a:xfrm>
            <a:off x="6425031" y="5024628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3" name="vis:icon"/>
          <p:cNvCxnSpPr/>
          <p:nvPr/>
        </p:nvCxnSpPr>
        <p:spPr>
          <a:xfrm>
            <a:off x="6517934" y="5183550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is:icon"/>
          <p:cNvCxnSpPr/>
          <p:nvPr/>
        </p:nvCxnSpPr>
        <p:spPr>
          <a:xfrm flipV="1">
            <a:off x="6563106" y="5131429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ell:checkitem"/>
          <p:cNvSpPr txBox="1"/>
          <p:nvPr/>
        </p:nvSpPr>
        <p:spPr>
          <a:xfrm>
            <a:off x="6863943" y="4617720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UNIQUE — used on exactly one account, ever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BUILDING A STRONG ONE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Weak, medium, strong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outcard"/>
          <p:cNvSpPr/>
          <p:nvPr/>
        </p:nvSpPr>
        <p:spPr>
          <a:xfrm>
            <a:off x="502920" y="1719072"/>
            <a:ext cx="5410047" cy="3291840"/>
          </a:xfrm>
          <a:prstGeom prst="roundRect">
            <a:avLst>
              <a:gd name="adj" fmla="val 27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outspine"/>
          <p:cNvSpPr/>
          <p:nvPr/>
        </p:nvSpPr>
        <p:spPr>
          <a:xfrm>
            <a:off x="502920" y="1719072"/>
            <a:ext cx="68580" cy="32918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chip"/>
          <p:cNvSpPr/>
          <p:nvPr/>
        </p:nvSpPr>
        <p:spPr>
          <a:xfrm>
            <a:off x="758952" y="1920240"/>
            <a:ext cx="2319809" cy="274320"/>
          </a:xfrm>
          <a:prstGeom prst="roundRect">
            <a:avLst>
              <a:gd name="adj" fmla="val 1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chiptext"/>
          <p:cNvSpPr txBox="1"/>
          <p:nvPr/>
        </p:nvSpPr>
        <p:spPr>
          <a:xfrm>
            <a:off x="914400" y="1947672"/>
            <a:ext cx="200891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FEELS STRONG, IS NOT</a:t>
            </a:r>
          </a:p>
        </p:txBody>
      </p:sp>
      <p:sp>
        <p:nvSpPr>
          <p:cNvPr id="19" name="vis:outbody"/>
          <p:cNvSpPr txBox="1"/>
          <p:nvPr/>
        </p:nvSpPr>
        <p:spPr>
          <a:xfrm>
            <a:off x="758952" y="2359152"/>
            <a:ext cx="4897983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Nashik@2024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Eleven characters, a capital, a symbol and a number.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It is a place name and a year. Both are in every list.</a:t>
            </a:r>
          </a:p>
        </p:txBody>
      </p:sp>
      <p:sp>
        <p:nvSpPr>
          <p:cNvPr id="20" name="vis:outcard"/>
          <p:cNvSpPr/>
          <p:nvPr/>
        </p:nvSpPr>
        <p:spPr>
          <a:xfrm>
            <a:off x="6278727" y="1719072"/>
            <a:ext cx="5410047" cy="3291840"/>
          </a:xfrm>
          <a:prstGeom prst="roundRect">
            <a:avLst>
              <a:gd name="adj" fmla="val 27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outspine"/>
          <p:cNvSpPr/>
          <p:nvPr/>
        </p:nvSpPr>
        <p:spPr>
          <a:xfrm>
            <a:off x="6278727" y="1719072"/>
            <a:ext cx="68580" cy="329184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chip"/>
          <p:cNvSpPr/>
          <p:nvPr/>
        </p:nvSpPr>
        <p:spPr>
          <a:xfrm>
            <a:off x="6534759" y="1920240"/>
            <a:ext cx="2633549" cy="274320"/>
          </a:xfrm>
          <a:prstGeom prst="roundRect">
            <a:avLst>
              <a:gd name="adj" fmla="val 16666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chiptext"/>
          <p:cNvSpPr txBox="1"/>
          <p:nvPr/>
        </p:nvSpPr>
        <p:spPr>
          <a:xfrm>
            <a:off x="6690207" y="1947672"/>
            <a:ext cx="23226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LOOKS SIMPLE, IS STRONG</a:t>
            </a:r>
          </a:p>
        </p:txBody>
      </p:sp>
      <p:sp>
        <p:nvSpPr>
          <p:cNvPr id="24" name="vis:outbody"/>
          <p:cNvSpPr txBox="1"/>
          <p:nvPr/>
        </p:nvSpPr>
        <p:spPr>
          <a:xfrm>
            <a:off x="6534759" y="2359152"/>
            <a:ext cx="4897983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copper-lantern-quiet-mango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Twenty-six characters, four unrelated words, easy to type.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A3547"/>
                </a:solidFill>
                <a:latin typeface="Segoe UI"/>
              </a:rPr>
              <a:t>Nothing about you appears in it and nothing is guessable.</a:t>
            </a:r>
          </a:p>
        </p:txBody>
      </p:sp>
      <p:sp>
        <p:nvSpPr>
          <p:cNvPr id="25" name="cell:banote"/>
          <p:cNvSpPr txBox="1"/>
          <p:nvPr/>
        </p:nvSpPr>
        <p:spPr>
          <a:xfrm>
            <a:off x="502920" y="5193792"/>
            <a:ext cx="1118585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Complexity rules made passwords hard for humans and barely harder for software. Length is what works.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LETTING SOFTWARE REMEMBER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Stop trying to remember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tile"/>
          <p:cNvSpPr/>
          <p:nvPr/>
        </p:nvSpPr>
        <p:spPr>
          <a:xfrm>
            <a:off x="502920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badge"/>
          <p:cNvSpPr/>
          <p:nvPr/>
        </p:nvSpPr>
        <p:spPr>
          <a:xfrm>
            <a:off x="777240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983177" y="2320322"/>
            <a:ext cx="246492" cy="171175"/>
          </a:xfrm>
          <a:prstGeom prst="roundRect">
            <a:avLst>
              <a:gd name="adj" fmla="val 26709"/>
            </a:avLst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icon"/>
          <p:cNvSpPr/>
          <p:nvPr/>
        </p:nvSpPr>
        <p:spPr>
          <a:xfrm>
            <a:off x="1027683" y="2203923"/>
            <a:ext cx="157481" cy="212257"/>
          </a:xfrm>
          <a:prstGeom prst="arc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cell:tilelabel"/>
          <p:cNvSpPr txBox="1"/>
          <p:nvPr/>
        </p:nvSpPr>
        <p:spPr>
          <a:xfrm>
            <a:off x="777240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One password to learn</a:t>
            </a:r>
          </a:p>
        </p:txBody>
      </p:sp>
      <p:sp>
        <p:nvSpPr>
          <p:cNvPr id="20" name="cell:tilesub"/>
          <p:cNvSpPr txBox="1"/>
          <p:nvPr/>
        </p:nvSpPr>
        <p:spPr>
          <a:xfrm>
            <a:off x="777240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You memorise one long phrase. The manager holds every other password for you.</a:t>
            </a:r>
          </a:p>
        </p:txBody>
      </p:sp>
      <p:sp>
        <p:nvSpPr>
          <p:cNvPr id="21" name="vis:tile"/>
          <p:cNvSpPr/>
          <p:nvPr/>
        </p:nvSpPr>
        <p:spPr>
          <a:xfrm>
            <a:off x="4322978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badge"/>
          <p:cNvSpPr/>
          <p:nvPr/>
        </p:nvSpPr>
        <p:spPr>
          <a:xfrm>
            <a:off x="4597298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icon"/>
          <p:cNvSpPr/>
          <p:nvPr/>
        </p:nvSpPr>
        <p:spPr>
          <a:xfrm>
            <a:off x="4789835" y="2222270"/>
            <a:ext cx="273294" cy="255534"/>
          </a:xfrm>
          <a:custGeom>
            <a:avLst/>
            <a:gdLst/>
            <a:ahLst/>
            <a:cxnLst/>
            <a:rect l="l" t="t" r="r" b="b"/>
            <a:pathLst>
              <a:path w="273294" h="255534">
                <a:moveTo>
                  <a:pt x="205117" y="0"/>
                </a:moveTo>
                <a:lnTo>
                  <a:pt x="239604" y="28302"/>
                </a:lnTo>
                <a:lnTo>
                  <a:pt x="263163" y="66189"/>
                </a:lnTo>
                <a:lnTo>
                  <a:pt x="273294" y="109637"/>
                </a:lnTo>
                <a:lnTo>
                  <a:pt x="268921" y="154036"/>
                </a:lnTo>
                <a:lnTo>
                  <a:pt x="250509" y="194674"/>
                </a:lnTo>
                <a:lnTo>
                  <a:pt x="220011" y="227236"/>
                </a:lnTo>
                <a:lnTo>
                  <a:pt x="180665" y="248267"/>
                </a:lnTo>
                <a:lnTo>
                  <a:pt x="136647" y="255534"/>
                </a:lnTo>
                <a:lnTo>
                  <a:pt x="92629" y="248267"/>
                </a:lnTo>
                <a:lnTo>
                  <a:pt x="53283" y="227236"/>
                </a:lnTo>
                <a:lnTo>
                  <a:pt x="22785" y="194674"/>
                </a:lnTo>
                <a:lnTo>
                  <a:pt x="4372" y="154036"/>
                </a:lnTo>
                <a:lnTo>
                  <a:pt x="0" y="109637"/>
                </a:lnTo>
                <a:lnTo>
                  <a:pt x="10130" y="66189"/>
                </a:lnTo>
                <a:lnTo>
                  <a:pt x="33690" y="28302"/>
                </a:lnTo>
                <a:lnTo>
                  <a:pt x="68177" y="0"/>
                </a:lnTo>
              </a:path>
            </a:pathLst>
          </a:cu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s:icon"/>
          <p:cNvSpPr/>
          <p:nvPr/>
        </p:nvSpPr>
        <p:spPr>
          <a:xfrm>
            <a:off x="4842606" y="2195022"/>
            <a:ext cx="62992" cy="54091"/>
          </a:xfrm>
          <a:custGeom>
            <a:avLst/>
            <a:gdLst/>
            <a:ahLst/>
            <a:cxnLst/>
            <a:rect l="l" t="t" r="r" b="b"/>
            <a:pathLst>
              <a:path w="62992" h="54091">
                <a:moveTo>
                  <a:pt x="62992" y="0"/>
                </a:moveTo>
                <a:lnTo>
                  <a:pt x="30811" y="54091"/>
                </a:lnTo>
                <a:lnTo>
                  <a:pt x="0" y="685"/>
                </a:lnTo>
                <a:close/>
              </a:path>
            </a:pathLst>
          </a:cu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ell:tilelabel"/>
          <p:cNvSpPr txBox="1"/>
          <p:nvPr/>
        </p:nvSpPr>
        <p:spPr>
          <a:xfrm>
            <a:off x="4597298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Different everywhere</a:t>
            </a:r>
          </a:p>
        </p:txBody>
      </p:sp>
      <p:sp>
        <p:nvSpPr>
          <p:cNvPr id="26" name="cell:tilesub"/>
          <p:cNvSpPr txBox="1"/>
          <p:nvPr/>
        </p:nvSpPr>
        <p:spPr>
          <a:xfrm>
            <a:off x="4597298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It generates a unique password per site, so a breach anywhere affects nothing else.</a:t>
            </a:r>
          </a:p>
        </p:txBody>
      </p:sp>
      <p:sp>
        <p:nvSpPr>
          <p:cNvPr id="27" name="vis:tile"/>
          <p:cNvSpPr/>
          <p:nvPr/>
        </p:nvSpPr>
        <p:spPr>
          <a:xfrm>
            <a:off x="8143036" y="1719072"/>
            <a:ext cx="3545738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badge"/>
          <p:cNvSpPr/>
          <p:nvPr/>
        </p:nvSpPr>
        <p:spPr>
          <a:xfrm>
            <a:off x="8417356" y="2011679"/>
            <a:ext cx="658368" cy="658368"/>
          </a:xfrm>
          <a:prstGeom prst="roundRect">
            <a:avLst>
              <a:gd name="adj" fmla="val 138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icon"/>
          <p:cNvSpPr/>
          <p:nvPr/>
        </p:nvSpPr>
        <p:spPr>
          <a:xfrm>
            <a:off x="8589059" y="2217617"/>
            <a:ext cx="314963" cy="246493"/>
          </a:xfrm>
          <a:custGeom>
            <a:avLst/>
            <a:gdLst/>
            <a:ahLst/>
            <a:cxnLst/>
            <a:rect l="l" t="t" r="r" b="b"/>
            <a:pathLst>
              <a:path w="314963" h="246493">
                <a:moveTo>
                  <a:pt x="0" y="123246"/>
                </a:moveTo>
                <a:lnTo>
                  <a:pt x="157481" y="0"/>
                </a:lnTo>
                <a:lnTo>
                  <a:pt x="314963" y="123246"/>
                </a:lnTo>
                <a:lnTo>
                  <a:pt x="157481" y="246493"/>
                </a:lnTo>
                <a:close/>
              </a:path>
            </a:pathLst>
          </a:cu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s:icon"/>
          <p:cNvSpPr/>
          <p:nvPr/>
        </p:nvSpPr>
        <p:spPr>
          <a:xfrm>
            <a:off x="8698611" y="2292934"/>
            <a:ext cx="95858" cy="95858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cell:tilelabel"/>
          <p:cNvSpPr txBox="1"/>
          <p:nvPr/>
        </p:nvSpPr>
        <p:spPr>
          <a:xfrm>
            <a:off x="8417356" y="2852928"/>
            <a:ext cx="299709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It spots fakes</a:t>
            </a:r>
          </a:p>
        </p:txBody>
      </p:sp>
      <p:sp>
        <p:nvSpPr>
          <p:cNvPr id="32" name="cell:tilesub"/>
          <p:cNvSpPr txBox="1"/>
          <p:nvPr/>
        </p:nvSpPr>
        <p:spPr>
          <a:xfrm>
            <a:off x="8417356" y="3493008"/>
            <a:ext cx="299709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It will not fill your password into a lookalike site, because the address does not match.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LETTING SOFTWARE REMEMBER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Where passwords must never live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alertband"/>
          <p:cNvSpPr/>
          <p:nvPr/>
        </p:nvSpPr>
        <p:spPr>
          <a:xfrm>
            <a:off x="0" y="1719072"/>
            <a:ext cx="12191695" cy="9601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519744" y="2014057"/>
            <a:ext cx="386975" cy="353324"/>
          </a:xfrm>
          <a:custGeom>
            <a:avLst/>
            <a:gdLst/>
            <a:ahLst/>
            <a:cxnLst/>
            <a:rect l="l" t="t" r="r" b="b"/>
            <a:pathLst>
              <a:path w="386975" h="353324">
                <a:moveTo>
                  <a:pt x="193488" y="0"/>
                </a:moveTo>
                <a:lnTo>
                  <a:pt x="386975" y="353324"/>
                </a:lnTo>
                <a:lnTo>
                  <a:pt x="0" y="35332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vis:icon"/>
          <p:cNvCxnSpPr/>
          <p:nvPr/>
        </p:nvCxnSpPr>
        <p:spPr>
          <a:xfrm>
            <a:off x="713232" y="2148657"/>
            <a:ext cx="0" cy="10515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692200" y="2291669"/>
            <a:ext cx="42062" cy="420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body:alert"/>
          <p:cNvSpPr txBox="1"/>
          <p:nvPr/>
        </p:nvSpPr>
        <p:spPr>
          <a:xfrm>
            <a:off x="1179576" y="1901952"/>
            <a:ext cx="1050919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If it is written somewhere a colleague can read it, it is not a password any more.</a:t>
            </a: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Use the manager approved here: [COMPANY INPUT NEEDED: approved password manager].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502920" y="2953512"/>
            <a:ext cx="5483199" cy="1417319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722376" y="350672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icon"/>
          <p:cNvSpPr/>
          <p:nvPr/>
        </p:nvSpPr>
        <p:spPr>
          <a:xfrm>
            <a:off x="801380" y="3585728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3" name="vis:icon"/>
          <p:cNvCxnSpPr/>
          <p:nvPr/>
        </p:nvCxnSpPr>
        <p:spPr>
          <a:xfrm>
            <a:off x="823965" y="3608313"/>
            <a:ext cx="107717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1161288" y="3099816"/>
            <a:ext cx="4605375" cy="1124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 note under the keyboard or in a desk drawer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6205575" y="2953512"/>
            <a:ext cx="5483199" cy="1417319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6425031" y="3506724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icon"/>
          <p:cNvSpPr/>
          <p:nvPr/>
        </p:nvSpPr>
        <p:spPr>
          <a:xfrm>
            <a:off x="6504035" y="3585728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8" name="vis:icon"/>
          <p:cNvCxnSpPr/>
          <p:nvPr/>
        </p:nvCxnSpPr>
        <p:spPr>
          <a:xfrm>
            <a:off x="6526621" y="3608313"/>
            <a:ext cx="107716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6863943" y="3099816"/>
            <a:ext cx="4605375" cy="1124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 spreadsheet called passwords, shared or not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502920" y="4590288"/>
            <a:ext cx="5483199" cy="1417319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722376" y="5143499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icon"/>
          <p:cNvSpPr/>
          <p:nvPr/>
        </p:nvSpPr>
        <p:spPr>
          <a:xfrm>
            <a:off x="801380" y="5222504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3" name="vis:icon"/>
          <p:cNvCxnSpPr/>
          <p:nvPr/>
        </p:nvCxnSpPr>
        <p:spPr>
          <a:xfrm>
            <a:off x="823965" y="5245089"/>
            <a:ext cx="107717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1161288" y="4736592"/>
            <a:ext cx="4605375" cy="1124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 WhatsApp message to yourself or a colleague</a:t>
            </a:r>
          </a:p>
        </p:txBody>
      </p:sp>
      <p:sp>
        <p:nvSpPr>
          <p:cNvPr id="35" name="vis:checktile"/>
          <p:cNvSpPr/>
          <p:nvPr/>
        </p:nvSpPr>
        <p:spPr>
          <a:xfrm>
            <a:off x="6205575" y="4590288"/>
            <a:ext cx="5483199" cy="1417319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checkdot"/>
          <p:cNvSpPr/>
          <p:nvPr/>
        </p:nvSpPr>
        <p:spPr>
          <a:xfrm>
            <a:off x="6425031" y="5143499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icon"/>
          <p:cNvSpPr/>
          <p:nvPr/>
        </p:nvSpPr>
        <p:spPr>
          <a:xfrm>
            <a:off x="6504035" y="5222504"/>
            <a:ext cx="152887" cy="152887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8" name="vis:icon"/>
          <p:cNvCxnSpPr/>
          <p:nvPr/>
        </p:nvCxnSpPr>
        <p:spPr>
          <a:xfrm>
            <a:off x="6526621" y="5245089"/>
            <a:ext cx="107716" cy="107717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ell:checkitem"/>
          <p:cNvSpPr txBox="1"/>
          <p:nvPr/>
        </p:nvSpPr>
        <p:spPr>
          <a:xfrm>
            <a:off x="6863943" y="4736592"/>
            <a:ext cx="4605375" cy="11247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An AI chat window, ever, for any reason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Do this now: check and change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tepnum"/>
          <p:cNvSpPr/>
          <p:nvPr/>
        </p:nvSpPr>
        <p:spPr>
          <a:xfrm>
            <a:off x="502920" y="2027681"/>
            <a:ext cx="347472" cy="34747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stepnumtext"/>
          <p:cNvSpPr txBox="1"/>
          <p:nvPr/>
        </p:nvSpPr>
        <p:spPr>
          <a:xfrm>
            <a:off x="502920" y="2105406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cxnSp>
        <p:nvCxnSpPr>
          <p:cNvPr id="17" name="vis:line"/>
          <p:cNvCxnSpPr/>
          <p:nvPr/>
        </p:nvCxnSpPr>
        <p:spPr>
          <a:xfrm>
            <a:off x="676656" y="2375154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ell:step"/>
          <p:cNvSpPr txBox="1"/>
          <p:nvPr/>
        </p:nvSpPr>
        <p:spPr>
          <a:xfrm>
            <a:off x="1051560" y="1719072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Open the breach-check site listed in your toolkit.</a:t>
            </a:r>
          </a:p>
        </p:txBody>
      </p:sp>
      <p:sp>
        <p:nvSpPr>
          <p:cNvPr id="19" name="vis:stepnum"/>
          <p:cNvSpPr/>
          <p:nvPr/>
        </p:nvSpPr>
        <p:spPr>
          <a:xfrm>
            <a:off x="502920" y="3138677"/>
            <a:ext cx="347472" cy="34747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stepnumtext"/>
          <p:cNvSpPr txBox="1"/>
          <p:nvPr/>
        </p:nvSpPr>
        <p:spPr>
          <a:xfrm>
            <a:off x="502920" y="3216401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cxnSp>
        <p:nvCxnSpPr>
          <p:cNvPr id="21" name="vis:line"/>
          <p:cNvCxnSpPr/>
          <p:nvPr/>
        </p:nvCxnSpPr>
        <p:spPr>
          <a:xfrm>
            <a:off x="676656" y="3486150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ell:step"/>
          <p:cNvSpPr txBox="1"/>
          <p:nvPr/>
        </p:nvSpPr>
        <p:spPr>
          <a:xfrm>
            <a:off x="1051560" y="2830068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Type your work email address. It tells you which breaches included it.</a:t>
            </a:r>
          </a:p>
        </p:txBody>
      </p:sp>
      <p:sp>
        <p:nvSpPr>
          <p:cNvPr id="23" name="vis:stepnum"/>
          <p:cNvSpPr/>
          <p:nvPr/>
        </p:nvSpPr>
        <p:spPr>
          <a:xfrm>
            <a:off x="502920" y="4249674"/>
            <a:ext cx="347472" cy="34747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stepnumtext"/>
          <p:cNvSpPr txBox="1"/>
          <p:nvPr/>
        </p:nvSpPr>
        <p:spPr>
          <a:xfrm>
            <a:off x="502920" y="4327398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cxnSp>
        <p:nvCxnSpPr>
          <p:cNvPr id="25" name="vis:line"/>
          <p:cNvCxnSpPr/>
          <p:nvPr/>
        </p:nvCxnSpPr>
        <p:spPr>
          <a:xfrm>
            <a:off x="676656" y="4597146"/>
            <a:ext cx="0" cy="76352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ell:step"/>
          <p:cNvSpPr txBox="1"/>
          <p:nvPr/>
        </p:nvSpPr>
        <p:spPr>
          <a:xfrm>
            <a:off x="1051560" y="3941064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If your work password matches any personal one, change it today.</a:t>
            </a:r>
          </a:p>
        </p:txBody>
      </p:sp>
      <p:sp>
        <p:nvSpPr>
          <p:cNvPr id="27" name="vis:stepnum"/>
          <p:cNvSpPr/>
          <p:nvPr/>
        </p:nvSpPr>
        <p:spPr>
          <a:xfrm>
            <a:off x="502920" y="5360670"/>
            <a:ext cx="347472" cy="34747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stepnumtext"/>
          <p:cNvSpPr txBox="1"/>
          <p:nvPr/>
        </p:nvSpPr>
        <p:spPr>
          <a:xfrm>
            <a:off x="502920" y="5438394"/>
            <a:ext cx="3474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9" name="cell:step"/>
          <p:cNvSpPr txBox="1"/>
          <p:nvPr/>
        </p:nvSpPr>
        <p:spPr>
          <a:xfrm>
            <a:off x="1051560" y="5052060"/>
            <a:ext cx="5044287" cy="964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Set the new one as four unrelated words, generated by your password manager's own generator, not typed by you and never asked of an AI tool.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If a password is exposed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checktile"/>
          <p:cNvSpPr/>
          <p:nvPr/>
        </p:nvSpPr>
        <p:spPr>
          <a:xfrm>
            <a:off x="502920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checkdot"/>
          <p:cNvSpPr/>
          <p:nvPr/>
        </p:nvSpPr>
        <p:spPr>
          <a:xfrm>
            <a:off x="722376" y="2894076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815279" y="3052998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icon"/>
          <p:cNvCxnSpPr/>
          <p:nvPr/>
        </p:nvCxnSpPr>
        <p:spPr>
          <a:xfrm flipV="1">
            <a:off x="860450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checkitem"/>
          <p:cNvSpPr txBox="1"/>
          <p:nvPr/>
        </p:nvSpPr>
        <p:spPr>
          <a:xfrm>
            <a:off x="1161288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Change it on the work account first, then everywhere else it was used.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6205575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6425031" y="2894076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6517934" y="3052998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6563106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6863943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Tell [COMPANY INPUT NEEDED: who to report a security concern to] the same day.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502920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722376" y="4530852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815279" y="4689774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V="1">
            <a:off x="860450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1161288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Check your sent items and rules for anything you did not create.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6205575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6425031" y="4530852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6517934" y="4689774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6563106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6863943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Do not wait to see whether anything happens. It already has.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Five mistakes people really make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mistake"/>
          <p:cNvSpPr/>
          <p:nvPr/>
        </p:nvSpPr>
        <p:spPr>
          <a:xfrm>
            <a:off x="502920" y="1719072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mistakebar"/>
          <p:cNvSpPr/>
          <p:nvPr/>
        </p:nvSpPr>
        <p:spPr>
          <a:xfrm>
            <a:off x="502920" y="1719072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mistakenum"/>
          <p:cNvSpPr/>
          <p:nvPr/>
        </p:nvSpPr>
        <p:spPr>
          <a:xfrm>
            <a:off x="740664" y="1927555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mistakenumtext"/>
          <p:cNvSpPr txBox="1"/>
          <p:nvPr/>
        </p:nvSpPr>
        <p:spPr>
          <a:xfrm>
            <a:off x="740664" y="1996135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9" name="cell:mistake"/>
          <p:cNvSpPr txBox="1"/>
          <p:nvPr/>
        </p:nvSpPr>
        <p:spPr>
          <a:xfrm>
            <a:off x="1179576" y="1810512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Using a work password on a personal site</a:t>
            </a:r>
          </a:p>
        </p:txBody>
      </p:sp>
      <p:cxnSp>
        <p:nvCxnSpPr>
          <p:cNvPr id="20" name="vis:line"/>
          <p:cNvCxnSpPr/>
          <p:nvPr/>
        </p:nvCxnSpPr>
        <p:spPr>
          <a:xfrm>
            <a:off x="6008686" y="1865376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ell:mistakewhy"/>
          <p:cNvSpPr txBox="1"/>
          <p:nvPr/>
        </p:nvSpPr>
        <p:spPr>
          <a:xfrm>
            <a:off x="6173278" y="1810512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That site's security is now our security, and we have no say in it.</a:t>
            </a:r>
          </a:p>
        </p:txBody>
      </p:sp>
      <p:sp>
        <p:nvSpPr>
          <p:cNvPr id="22" name="vis:mistake"/>
          <p:cNvSpPr/>
          <p:nvPr/>
        </p:nvSpPr>
        <p:spPr>
          <a:xfrm>
            <a:off x="502920" y="2611526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mistakebar"/>
          <p:cNvSpPr/>
          <p:nvPr/>
        </p:nvSpPr>
        <p:spPr>
          <a:xfrm>
            <a:off x="502920" y="2611526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mistakenum"/>
          <p:cNvSpPr/>
          <p:nvPr/>
        </p:nvSpPr>
        <p:spPr>
          <a:xfrm>
            <a:off x="740664" y="2820009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mistakenumtext"/>
          <p:cNvSpPr txBox="1"/>
          <p:nvPr/>
        </p:nvSpPr>
        <p:spPr>
          <a:xfrm>
            <a:off x="740664" y="2888589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6" name="cell:mistake"/>
          <p:cNvSpPr txBox="1"/>
          <p:nvPr/>
        </p:nvSpPr>
        <p:spPr>
          <a:xfrm>
            <a:off x="1179576" y="2702966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Sharing a login "just for today"</a:t>
            </a:r>
          </a:p>
        </p:txBody>
      </p:sp>
      <p:cxnSp>
        <p:nvCxnSpPr>
          <p:cNvPr id="27" name="vis:line"/>
          <p:cNvCxnSpPr/>
          <p:nvPr/>
        </p:nvCxnSpPr>
        <p:spPr>
          <a:xfrm>
            <a:off x="6008686" y="2757830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ell:mistakewhy"/>
          <p:cNvSpPr txBox="1"/>
          <p:nvPr/>
        </p:nvSpPr>
        <p:spPr>
          <a:xfrm>
            <a:off x="6173278" y="2702966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Shared logins remove any record of who did what, permanently.</a:t>
            </a:r>
          </a:p>
        </p:txBody>
      </p:sp>
      <p:sp>
        <p:nvSpPr>
          <p:cNvPr id="29" name="vis:mistake"/>
          <p:cNvSpPr/>
          <p:nvPr/>
        </p:nvSpPr>
        <p:spPr>
          <a:xfrm>
            <a:off x="502920" y="3503980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mistakebar"/>
          <p:cNvSpPr/>
          <p:nvPr/>
        </p:nvSpPr>
        <p:spPr>
          <a:xfrm>
            <a:off x="502920" y="3503980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mistakenum"/>
          <p:cNvSpPr/>
          <p:nvPr/>
        </p:nvSpPr>
        <p:spPr>
          <a:xfrm>
            <a:off x="740664" y="3712463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mistakenumtext"/>
          <p:cNvSpPr txBox="1"/>
          <p:nvPr/>
        </p:nvSpPr>
        <p:spPr>
          <a:xfrm>
            <a:off x="740664" y="3781044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3" name="cell:mistake"/>
          <p:cNvSpPr txBox="1"/>
          <p:nvPr/>
        </p:nvSpPr>
        <p:spPr>
          <a:xfrm>
            <a:off x="1179576" y="3595420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Keeping a password because it is strong</a:t>
            </a:r>
          </a:p>
        </p:txBody>
      </p:sp>
      <p:cxnSp>
        <p:nvCxnSpPr>
          <p:cNvPr id="34" name="vis:line"/>
          <p:cNvCxnSpPr/>
          <p:nvPr/>
        </p:nvCxnSpPr>
        <p:spPr>
          <a:xfrm>
            <a:off x="6008686" y="3650284"/>
            <a:ext cx="0" cy="435255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ell:mistakewhy"/>
          <p:cNvSpPr txBox="1"/>
          <p:nvPr/>
        </p:nvSpPr>
        <p:spPr>
          <a:xfrm>
            <a:off x="6173278" y="3595420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Strength is irrelevant once it has leaked. Reuse is the problem, not weakness.</a:t>
            </a:r>
          </a:p>
        </p:txBody>
      </p:sp>
      <p:sp>
        <p:nvSpPr>
          <p:cNvPr id="36" name="vis:mistake"/>
          <p:cNvSpPr/>
          <p:nvPr/>
        </p:nvSpPr>
        <p:spPr>
          <a:xfrm>
            <a:off x="502920" y="4396435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mistakebar"/>
          <p:cNvSpPr/>
          <p:nvPr/>
        </p:nvSpPr>
        <p:spPr>
          <a:xfrm>
            <a:off x="502920" y="4396435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vis:mistakenum"/>
          <p:cNvSpPr/>
          <p:nvPr/>
        </p:nvSpPr>
        <p:spPr>
          <a:xfrm>
            <a:off x="740664" y="4604918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vis:mistakenumtext"/>
          <p:cNvSpPr txBox="1"/>
          <p:nvPr/>
        </p:nvSpPr>
        <p:spPr>
          <a:xfrm>
            <a:off x="740664" y="4673498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0" name="cell:mistake"/>
          <p:cNvSpPr txBox="1"/>
          <p:nvPr/>
        </p:nvSpPr>
        <p:spPr>
          <a:xfrm>
            <a:off x="1179576" y="4487875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Storing passwords in the browser on a shared machine</a:t>
            </a:r>
          </a:p>
        </p:txBody>
      </p:sp>
      <p:cxnSp>
        <p:nvCxnSpPr>
          <p:cNvPr id="41" name="vis:line"/>
          <p:cNvCxnSpPr/>
          <p:nvPr/>
        </p:nvCxnSpPr>
        <p:spPr>
          <a:xfrm>
            <a:off x="6008686" y="4542739"/>
            <a:ext cx="0" cy="435254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ell:mistakewhy"/>
          <p:cNvSpPr txBox="1"/>
          <p:nvPr/>
        </p:nvSpPr>
        <p:spPr>
          <a:xfrm>
            <a:off x="6173278" y="4487875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Anyone who sits at that desk has every account you have saved.</a:t>
            </a:r>
          </a:p>
        </p:txBody>
      </p:sp>
      <p:sp>
        <p:nvSpPr>
          <p:cNvPr id="43" name="vis:mistake"/>
          <p:cNvSpPr/>
          <p:nvPr/>
        </p:nvSpPr>
        <p:spPr>
          <a:xfrm>
            <a:off x="502920" y="5288889"/>
            <a:ext cx="11185855" cy="727862"/>
          </a:xfrm>
          <a:prstGeom prst="roundRect">
            <a:avLst>
              <a:gd name="adj" fmla="val 1005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4" name="vis:mistakebar"/>
          <p:cNvSpPr/>
          <p:nvPr/>
        </p:nvSpPr>
        <p:spPr>
          <a:xfrm>
            <a:off x="502920" y="5288889"/>
            <a:ext cx="68580" cy="72786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vis:mistakenum"/>
          <p:cNvSpPr/>
          <p:nvPr/>
        </p:nvSpPr>
        <p:spPr>
          <a:xfrm>
            <a:off x="740664" y="5497372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6" name="vis:mistakenumtext"/>
          <p:cNvSpPr txBox="1"/>
          <p:nvPr/>
        </p:nvSpPr>
        <p:spPr>
          <a:xfrm>
            <a:off x="740664" y="5565952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7" name="cell:mistake"/>
          <p:cNvSpPr txBox="1"/>
          <p:nvPr/>
        </p:nvSpPr>
        <p:spPr>
          <a:xfrm>
            <a:off x="1179576" y="5380329"/>
            <a:ext cx="4682806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01826"/>
                </a:solidFill>
                <a:latin typeface="Segoe UI Semibold"/>
              </a:rPr>
              <a:t>Assuming an old account does not matter</a:t>
            </a:r>
          </a:p>
        </p:txBody>
      </p:sp>
      <p:cxnSp>
        <p:nvCxnSpPr>
          <p:cNvPr id="48" name="vis:line"/>
          <p:cNvCxnSpPr/>
          <p:nvPr/>
        </p:nvCxnSpPr>
        <p:spPr>
          <a:xfrm>
            <a:off x="6008686" y="5435193"/>
            <a:ext cx="0" cy="435255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ell:mistakewhy"/>
          <p:cNvSpPr txBox="1"/>
          <p:nvPr/>
        </p:nvSpPr>
        <p:spPr>
          <a:xfrm>
            <a:off x="6173278" y="5380329"/>
            <a:ext cx="5296040" cy="5449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 forgotten account is usually the one that leaked and gave up the password.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Sharing an account is never fine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treeq"/>
          <p:cNvSpPr/>
          <p:nvPr/>
        </p:nvSpPr>
        <p:spPr>
          <a:xfrm>
            <a:off x="3746818" y="1810512"/>
            <a:ext cx="4698059" cy="841248"/>
          </a:xfrm>
          <a:prstGeom prst="roundRect">
            <a:avLst>
              <a:gd name="adj" fmla="val 10869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treeqtext"/>
          <p:cNvSpPr txBox="1"/>
          <p:nvPr/>
        </p:nvSpPr>
        <p:spPr>
          <a:xfrm>
            <a:off x="3947986" y="1938528"/>
            <a:ext cx="4295723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Does somebody else need access to this system?</a:t>
            </a:r>
          </a:p>
        </p:txBody>
      </p:sp>
      <p:cxnSp>
        <p:nvCxnSpPr>
          <p:cNvPr id="17" name="vis:line"/>
          <p:cNvCxnSpPr/>
          <p:nvPr/>
        </p:nvCxnSpPr>
        <p:spPr>
          <a:xfrm>
            <a:off x="6095847" y="2651760"/>
            <a:ext cx="0" cy="237743"/>
          </a:xfrm>
          <a:prstGeom prst="line">
            <a:avLst/>
          </a:prstGeom>
          <a:ln w="1905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line"/>
          <p:cNvCxnSpPr/>
          <p:nvPr/>
        </p:nvCxnSpPr>
        <p:spPr>
          <a:xfrm>
            <a:off x="2516373" y="2889503"/>
            <a:ext cx="7158948" cy="0"/>
          </a:xfrm>
          <a:prstGeom prst="line">
            <a:avLst/>
          </a:prstGeom>
          <a:ln w="1905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s:line"/>
          <p:cNvCxnSpPr/>
          <p:nvPr/>
        </p:nvCxnSpPr>
        <p:spPr>
          <a:xfrm>
            <a:off x="2516373" y="2889503"/>
            <a:ext cx="0" cy="274321"/>
          </a:xfrm>
          <a:prstGeom prst="line">
            <a:avLst/>
          </a:prstGeom>
          <a:ln w="19050">
            <a:solidFill>
              <a:srgbClr val="C9D1D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chip"/>
          <p:cNvSpPr/>
          <p:nvPr/>
        </p:nvSpPr>
        <p:spPr>
          <a:xfrm>
            <a:off x="1598061" y="3026664"/>
            <a:ext cx="1836624" cy="274320"/>
          </a:xfrm>
          <a:prstGeom prst="roundRect">
            <a:avLst>
              <a:gd name="adj" fmla="val 16666"/>
            </a:avLst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iptext"/>
          <p:cNvSpPr txBox="1"/>
          <p:nvPr/>
        </p:nvSpPr>
        <p:spPr>
          <a:xfrm>
            <a:off x="1753509" y="3054096"/>
            <a:ext cx="152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SHARING YOURS</a:t>
            </a:r>
          </a:p>
        </p:txBody>
      </p:sp>
      <p:sp>
        <p:nvSpPr>
          <p:cNvPr id="22" name="vis:treebox"/>
          <p:cNvSpPr/>
          <p:nvPr/>
        </p:nvSpPr>
        <p:spPr>
          <a:xfrm>
            <a:off x="279202" y="3493008"/>
            <a:ext cx="4474342" cy="2523744"/>
          </a:xfrm>
          <a:prstGeom prst="roundRect">
            <a:avLst>
              <a:gd name="adj" fmla="val 362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3" name="vis:treebar"/>
          <p:cNvSpPr/>
          <p:nvPr/>
        </p:nvSpPr>
        <p:spPr>
          <a:xfrm>
            <a:off x="279202" y="3493008"/>
            <a:ext cx="4474342" cy="685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icon"/>
          <p:cNvSpPr/>
          <p:nvPr/>
        </p:nvSpPr>
        <p:spPr>
          <a:xfrm>
            <a:off x="550596" y="3819265"/>
            <a:ext cx="225308" cy="225308"/>
          </a:xfrm>
          <a:prstGeom prst="ellipse">
            <a:avLst/>
          </a:prstGeom>
          <a:noFill/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5" name="vis:icon"/>
          <p:cNvCxnSpPr/>
          <p:nvPr/>
        </p:nvCxnSpPr>
        <p:spPr>
          <a:xfrm>
            <a:off x="583880" y="3852550"/>
            <a:ext cx="158740" cy="158739"/>
          </a:xfrm>
          <a:prstGeom prst="line">
            <a:avLst/>
          </a:prstGeom>
          <a:ln w="19050">
            <a:solidFill>
              <a:srgbClr val="C62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s:treelabel"/>
          <p:cNvSpPr txBox="1"/>
          <p:nvPr/>
        </p:nvSpPr>
        <p:spPr>
          <a:xfrm>
            <a:off x="900994" y="3749039"/>
            <a:ext cx="36148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Never do this</a:t>
            </a:r>
          </a:p>
        </p:txBody>
      </p:sp>
      <p:sp>
        <p:nvSpPr>
          <p:cNvPr id="27" name="vis:treedetail"/>
          <p:cNvSpPr txBox="1"/>
          <p:nvPr/>
        </p:nvSpPr>
        <p:spPr>
          <a:xfrm>
            <a:off x="535234" y="4224528"/>
            <a:ext cx="396227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Anything they do appears as you. If money moves or data leaves, the record says you did it, and you cannot prove otherwise.</a:t>
            </a:r>
          </a:p>
        </p:txBody>
      </p:sp>
      <p:cxnSp>
        <p:nvCxnSpPr>
          <p:cNvPr id="28" name="vis:line"/>
          <p:cNvCxnSpPr/>
          <p:nvPr/>
        </p:nvCxnSpPr>
        <p:spPr>
          <a:xfrm>
            <a:off x="9675321" y="2889503"/>
            <a:ext cx="0" cy="274321"/>
          </a:xfrm>
          <a:prstGeom prst="line">
            <a:avLst/>
          </a:prstGeom>
          <a:ln w="19050">
            <a:solidFill>
              <a:srgbClr val="C9D1D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vis:chip"/>
          <p:cNvSpPr/>
          <p:nvPr/>
        </p:nvSpPr>
        <p:spPr>
          <a:xfrm>
            <a:off x="9282446" y="3026664"/>
            <a:ext cx="785749" cy="274320"/>
          </a:xfrm>
          <a:prstGeom prst="roundRect">
            <a:avLst>
              <a:gd name="adj" fmla="val 16666"/>
            </a:avLst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chiptext"/>
          <p:cNvSpPr txBox="1"/>
          <p:nvPr/>
        </p:nvSpPr>
        <p:spPr>
          <a:xfrm>
            <a:off x="9437894" y="3054096"/>
            <a:ext cx="4748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YES</a:t>
            </a:r>
          </a:p>
        </p:txBody>
      </p:sp>
      <p:sp>
        <p:nvSpPr>
          <p:cNvPr id="31" name="vis:treebox"/>
          <p:cNvSpPr/>
          <p:nvPr/>
        </p:nvSpPr>
        <p:spPr>
          <a:xfrm>
            <a:off x="7438150" y="3493008"/>
            <a:ext cx="4474342" cy="2523744"/>
          </a:xfrm>
          <a:prstGeom prst="roundRect">
            <a:avLst>
              <a:gd name="adj" fmla="val 3623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treebar"/>
          <p:cNvSpPr/>
          <p:nvPr/>
        </p:nvSpPr>
        <p:spPr>
          <a:xfrm>
            <a:off x="7438150" y="3493008"/>
            <a:ext cx="4474342" cy="6858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3" name="vis:icon"/>
          <p:cNvCxnSpPr/>
          <p:nvPr/>
        </p:nvCxnSpPr>
        <p:spPr>
          <a:xfrm>
            <a:off x="7730026" y="3937040"/>
            <a:ext cx="66569" cy="66568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vis:icon"/>
          <p:cNvCxnSpPr/>
          <p:nvPr/>
        </p:nvCxnSpPr>
        <p:spPr>
          <a:xfrm flipV="1">
            <a:off x="7796595" y="3860231"/>
            <a:ext cx="122895" cy="143377"/>
          </a:xfrm>
          <a:prstGeom prst="line">
            <a:avLst/>
          </a:prstGeom>
          <a:ln w="19050">
            <a:solidFill>
              <a:srgbClr val="1B7F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vis:treelabel"/>
          <p:cNvSpPr txBox="1"/>
          <p:nvPr/>
        </p:nvSpPr>
        <p:spPr>
          <a:xfrm>
            <a:off x="8059942" y="3749039"/>
            <a:ext cx="36148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1826"/>
                </a:solidFill>
                <a:latin typeface="Segoe UI Semibold"/>
              </a:rPr>
              <a:t>Get them an account</a:t>
            </a:r>
          </a:p>
        </p:txBody>
      </p:sp>
      <p:sp>
        <p:nvSpPr>
          <p:cNvPr id="36" name="vis:treedetail"/>
          <p:cNvSpPr txBox="1"/>
          <p:nvPr/>
        </p:nvSpPr>
        <p:spPr>
          <a:xfrm>
            <a:off x="7694182" y="4224528"/>
            <a:ext cx="3962278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Their own login, their own password. It takes a day and it means every action has a name against it if anything is ever questioned.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Four habits worth having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checktile"/>
          <p:cNvSpPr/>
          <p:nvPr/>
        </p:nvSpPr>
        <p:spPr>
          <a:xfrm>
            <a:off x="502920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checkdot"/>
          <p:cNvSpPr/>
          <p:nvPr/>
        </p:nvSpPr>
        <p:spPr>
          <a:xfrm>
            <a:off x="722376" y="2894076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815279" y="3052998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s:icon"/>
          <p:cNvCxnSpPr/>
          <p:nvPr/>
        </p:nvCxnSpPr>
        <p:spPr>
          <a:xfrm flipV="1">
            <a:off x="860450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ell:checkitem"/>
          <p:cNvSpPr txBox="1"/>
          <p:nvPr/>
        </p:nvSpPr>
        <p:spPr>
          <a:xfrm>
            <a:off x="1161288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One password per account. Never a second use, anywhere.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6205575" y="2340864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6425031" y="2894076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6517934" y="3052998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6563106" y="3000877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6863943" y="2487168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Four unrelated words, not a word plus a number.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502920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722376" y="4530852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815279" y="4689774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V="1">
            <a:off x="860450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1161288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Let the manager remember them. Learn one phrase only.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6205575" y="3977639"/>
            <a:ext cx="5483199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6425031" y="4530852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6517934" y="4689774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6563106" y="4637653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6863943" y="4123944"/>
            <a:ext cx="4605375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Change it the day you hear of a breach, not the month after.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DO THIS NOW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The password rule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alertband"/>
          <p:cNvSpPr/>
          <p:nvPr/>
        </p:nvSpPr>
        <p:spPr>
          <a:xfrm>
            <a:off x="0" y="1719072"/>
            <a:ext cx="12191695" cy="960120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519744" y="2014057"/>
            <a:ext cx="386975" cy="353324"/>
          </a:xfrm>
          <a:custGeom>
            <a:avLst/>
            <a:gdLst/>
            <a:ahLst/>
            <a:cxnLst/>
            <a:rect l="l" t="t" r="r" b="b"/>
            <a:pathLst>
              <a:path w="386975" h="353324">
                <a:moveTo>
                  <a:pt x="193488" y="0"/>
                </a:moveTo>
                <a:lnTo>
                  <a:pt x="386975" y="353324"/>
                </a:lnTo>
                <a:lnTo>
                  <a:pt x="0" y="353324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vis:icon"/>
          <p:cNvCxnSpPr/>
          <p:nvPr/>
        </p:nvCxnSpPr>
        <p:spPr>
          <a:xfrm>
            <a:off x="713232" y="2148657"/>
            <a:ext cx="0" cy="105156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692200" y="2291669"/>
            <a:ext cx="42062" cy="4206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9" name="body:alert"/>
          <p:cNvSpPr txBox="1"/>
          <p:nvPr/>
        </p:nvSpPr>
        <p:spPr>
          <a:xfrm>
            <a:off x="1179576" y="1901952"/>
            <a:ext cx="1050919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7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Segoe UI Semibold"/>
              </a:rPr>
              <a:t>Unique matters far more than complicated.</a:t>
            </a:r>
          </a:p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Segoe UI"/>
              </a:rPr>
              <a:t>A simple password used once is safer than a complex one used twice.</a:t>
            </a:r>
          </a:p>
        </p:txBody>
      </p:sp>
      <p:sp>
        <p:nvSpPr>
          <p:cNvPr id="20" name="vis:checktile"/>
          <p:cNvSpPr/>
          <p:nvPr/>
        </p:nvSpPr>
        <p:spPr>
          <a:xfrm>
            <a:off x="50292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eckdot"/>
          <p:cNvSpPr/>
          <p:nvPr/>
        </p:nvSpPr>
        <p:spPr>
          <a:xfrm>
            <a:off x="722376" y="3506724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2" name="vis:icon"/>
          <p:cNvCxnSpPr/>
          <p:nvPr/>
        </p:nvCxnSpPr>
        <p:spPr>
          <a:xfrm>
            <a:off x="815279" y="3665646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s:icon"/>
          <p:cNvCxnSpPr/>
          <p:nvPr/>
        </p:nvCxnSpPr>
        <p:spPr>
          <a:xfrm flipV="1">
            <a:off x="860450" y="3613525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eckitem"/>
          <p:cNvSpPr txBox="1"/>
          <p:nvPr/>
        </p:nvSpPr>
        <p:spPr>
          <a:xfrm>
            <a:off x="116128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Unique — the only thing that stops reuse attacks.</a:t>
            </a:r>
          </a:p>
        </p:txBody>
      </p:sp>
      <p:sp>
        <p:nvSpPr>
          <p:cNvPr id="25" name="vis:checktile"/>
          <p:cNvSpPr/>
          <p:nvPr/>
        </p:nvSpPr>
        <p:spPr>
          <a:xfrm>
            <a:off x="430469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eckdot"/>
          <p:cNvSpPr/>
          <p:nvPr/>
        </p:nvSpPr>
        <p:spPr>
          <a:xfrm>
            <a:off x="4524146" y="3506724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4617049" y="3665646"/>
            <a:ext cx="45171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is:icon"/>
          <p:cNvCxnSpPr/>
          <p:nvPr/>
        </p:nvCxnSpPr>
        <p:spPr>
          <a:xfrm flipV="1">
            <a:off x="4662220" y="3613525"/>
            <a:ext cx="83394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ell:checkitem"/>
          <p:cNvSpPr txBox="1"/>
          <p:nvPr/>
        </p:nvSpPr>
        <p:spPr>
          <a:xfrm>
            <a:off x="496305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Long — sixteen characters or more.</a:t>
            </a:r>
          </a:p>
        </p:txBody>
      </p:sp>
      <p:sp>
        <p:nvSpPr>
          <p:cNvPr id="30" name="vis:checktile"/>
          <p:cNvSpPr/>
          <p:nvPr/>
        </p:nvSpPr>
        <p:spPr>
          <a:xfrm>
            <a:off x="8106460" y="2953512"/>
            <a:ext cx="3582314" cy="1417320"/>
          </a:xfrm>
          <a:prstGeom prst="roundRect">
            <a:avLst>
              <a:gd name="adj" fmla="val 6451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checkdot"/>
          <p:cNvSpPr/>
          <p:nvPr/>
        </p:nvSpPr>
        <p:spPr>
          <a:xfrm>
            <a:off x="8325916" y="3506724"/>
            <a:ext cx="310896" cy="31089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2" name="vis:icon"/>
          <p:cNvCxnSpPr/>
          <p:nvPr/>
        </p:nvCxnSpPr>
        <p:spPr>
          <a:xfrm>
            <a:off x="8418819" y="3665646"/>
            <a:ext cx="45172" cy="4517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8463991" y="3613525"/>
            <a:ext cx="83393" cy="97293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checkitem"/>
          <p:cNvSpPr txBox="1"/>
          <p:nvPr/>
        </p:nvSpPr>
        <p:spPr>
          <a:xfrm>
            <a:off x="8764828" y="3099816"/>
            <a:ext cx="2704490" cy="11247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Stored — by software, not by memory.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CHOOSE WHAT YOU'D DO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Tuesday, 9:15 am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sccard"/>
          <p:cNvSpPr/>
          <p:nvPr/>
        </p:nvSpPr>
        <p:spPr>
          <a:xfrm>
            <a:off x="502920" y="1719072"/>
            <a:ext cx="11185855" cy="1097280"/>
          </a:xfrm>
          <a:prstGeom prst="roundRect">
            <a:avLst>
              <a:gd name="adj" fmla="val 8333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942929" y="2063252"/>
            <a:ext cx="180685" cy="180685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icon"/>
          <p:cNvSpPr/>
          <p:nvPr/>
        </p:nvSpPr>
        <p:spPr>
          <a:xfrm>
            <a:off x="843076" y="2315260"/>
            <a:ext cx="380391" cy="166421"/>
          </a:xfrm>
          <a:custGeom>
            <a:avLst/>
            <a:gdLst/>
            <a:ahLst/>
            <a:cxnLst/>
            <a:rect l="l" t="t" r="r" b="b"/>
            <a:pathLst>
              <a:path w="380391" h="166421">
                <a:moveTo>
                  <a:pt x="0" y="166421"/>
                </a:moveTo>
                <a:lnTo>
                  <a:pt x="28530" y="0"/>
                </a:lnTo>
                <a:lnTo>
                  <a:pt x="351861" y="0"/>
                </a:lnTo>
                <a:lnTo>
                  <a:pt x="380391" y="166421"/>
                </a:lnTo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situation"/>
          <p:cNvSpPr txBox="1"/>
          <p:nvPr/>
        </p:nvSpPr>
        <p:spPr>
          <a:xfrm>
            <a:off x="1472184" y="1901952"/>
            <a:ext cx="9905695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You get an alert that an old shopping site you used years ago was breached. You are fairly sure you used a similar password at work.</a:t>
            </a:r>
          </a:p>
        </p:txBody>
      </p:sp>
      <p:sp>
        <p:nvSpPr>
          <p:cNvPr id="19" name="quiz:choice">
            <a:hlinkClick action="ppaction://hlinksldjump" r:id="rId3"/>
          </p:cNvPr>
          <p:cNvSpPr/>
          <p:nvPr/>
        </p:nvSpPr>
        <p:spPr>
          <a:xfrm>
            <a:off x="502920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chip"/>
          <p:cNvSpPr/>
          <p:nvPr/>
        </p:nvSpPr>
        <p:spPr>
          <a:xfrm>
            <a:off x="758952" y="3364991"/>
            <a:ext cx="1296924" cy="274320"/>
          </a:xfrm>
          <a:prstGeom prst="roundRect">
            <a:avLst>
              <a:gd name="adj" fmla="val 16666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chiptext"/>
          <p:cNvSpPr txBox="1"/>
          <p:nvPr/>
        </p:nvSpPr>
        <p:spPr>
          <a:xfrm>
            <a:off x="914400" y="3392423"/>
            <a:ext cx="9860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A</a:t>
            </a:r>
          </a:p>
        </p:txBody>
      </p:sp>
      <p:sp>
        <p:nvSpPr>
          <p:cNvPr id="22" name="cell:choice"/>
          <p:cNvSpPr txBox="1"/>
          <p:nvPr/>
        </p:nvSpPr>
        <p:spPr>
          <a:xfrm>
            <a:off x="758952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Ignore it — the site is nothing to do with work.</a:t>
            </a:r>
          </a:p>
        </p:txBody>
      </p:sp>
      <p:cxnSp>
        <p:nvCxnSpPr>
          <p:cNvPr id="23" name="vis:choicearrow"/>
          <p:cNvCxnSpPr/>
          <p:nvPr/>
        </p:nvCxnSpPr>
        <p:spPr>
          <a:xfrm>
            <a:off x="758952" y="5632704"/>
            <a:ext cx="292608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ell:choicego"/>
          <p:cNvSpPr txBox="1"/>
          <p:nvPr/>
        </p:nvSpPr>
        <p:spPr>
          <a:xfrm>
            <a:off x="1161288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See what happens</a:t>
            </a:r>
          </a:p>
        </p:txBody>
      </p:sp>
      <p:sp>
        <p:nvSpPr>
          <p:cNvPr id="25" name="quiz:choice">
            <a:hlinkClick action="ppaction://hlinksldjump" r:id="rId4"/>
          </p:cNvPr>
          <p:cNvSpPr/>
          <p:nvPr/>
        </p:nvSpPr>
        <p:spPr>
          <a:xfrm>
            <a:off x="4310786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chip"/>
          <p:cNvSpPr/>
          <p:nvPr/>
        </p:nvSpPr>
        <p:spPr>
          <a:xfrm>
            <a:off x="4566818" y="3364991"/>
            <a:ext cx="1287399" cy="274320"/>
          </a:xfrm>
          <a:prstGeom prst="roundRect">
            <a:avLst>
              <a:gd name="adj" fmla="val 16666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vis:chiptext"/>
          <p:cNvSpPr txBox="1"/>
          <p:nvPr/>
        </p:nvSpPr>
        <p:spPr>
          <a:xfrm>
            <a:off x="4722266" y="3392423"/>
            <a:ext cx="9765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B</a:t>
            </a:r>
          </a:p>
        </p:txBody>
      </p:sp>
      <p:sp>
        <p:nvSpPr>
          <p:cNvPr id="28" name="cell:choice"/>
          <p:cNvSpPr txBox="1"/>
          <p:nvPr/>
        </p:nvSpPr>
        <p:spPr>
          <a:xfrm>
            <a:off x="4566818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Change the work password today and report it.</a:t>
            </a:r>
          </a:p>
        </p:txBody>
      </p:sp>
      <p:cxnSp>
        <p:nvCxnSpPr>
          <p:cNvPr id="29" name="vis:choicearrow"/>
          <p:cNvCxnSpPr/>
          <p:nvPr/>
        </p:nvCxnSpPr>
        <p:spPr>
          <a:xfrm>
            <a:off x="4566818" y="5632704"/>
            <a:ext cx="292608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ell:choicego"/>
          <p:cNvSpPr txBox="1"/>
          <p:nvPr/>
        </p:nvSpPr>
        <p:spPr>
          <a:xfrm>
            <a:off x="4969154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See what happens</a:t>
            </a:r>
          </a:p>
        </p:txBody>
      </p:sp>
      <p:sp>
        <p:nvSpPr>
          <p:cNvPr id="31" name="quiz:choice">
            <a:hlinkClick action="ppaction://hlinksldjump" r:id="rId5"/>
          </p:cNvPr>
          <p:cNvSpPr/>
          <p:nvPr/>
        </p:nvSpPr>
        <p:spPr>
          <a:xfrm>
            <a:off x="8118652" y="3108960"/>
            <a:ext cx="3570122" cy="2907792"/>
          </a:xfrm>
          <a:prstGeom prst="roundRect">
            <a:avLst>
              <a:gd name="adj" fmla="val 3144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chip"/>
          <p:cNvSpPr/>
          <p:nvPr/>
        </p:nvSpPr>
        <p:spPr>
          <a:xfrm>
            <a:off x="8374684" y="3364991"/>
            <a:ext cx="1290574" cy="274320"/>
          </a:xfrm>
          <a:prstGeom prst="roundRect">
            <a:avLst>
              <a:gd name="adj" fmla="val 16666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chiptext"/>
          <p:cNvSpPr txBox="1"/>
          <p:nvPr/>
        </p:nvSpPr>
        <p:spPr>
          <a:xfrm>
            <a:off x="8530132" y="3392423"/>
            <a:ext cx="97967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FFFFFF"/>
                </a:solidFill>
                <a:latin typeface="Segoe UI Semibold"/>
              </a:rPr>
              <a:t>OPTION C</a:t>
            </a:r>
          </a:p>
        </p:txBody>
      </p:sp>
      <p:sp>
        <p:nvSpPr>
          <p:cNvPr id="34" name="cell:choice"/>
          <p:cNvSpPr txBox="1"/>
          <p:nvPr/>
        </p:nvSpPr>
        <p:spPr>
          <a:xfrm>
            <a:off x="8374684" y="3913632"/>
            <a:ext cx="3058058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Change it, but add a number to the end of the old one.</a:t>
            </a:r>
          </a:p>
        </p:txBody>
      </p:sp>
      <p:cxnSp>
        <p:nvCxnSpPr>
          <p:cNvPr id="35" name="vis:choicearrow"/>
          <p:cNvCxnSpPr/>
          <p:nvPr/>
        </p:nvCxnSpPr>
        <p:spPr>
          <a:xfrm>
            <a:off x="8374684" y="5632704"/>
            <a:ext cx="292608" cy="0"/>
          </a:xfrm>
          <a:prstGeom prst="line">
            <a:avLst/>
          </a:prstGeom>
          <a:ln w="19050">
            <a:solidFill>
              <a:srgbClr val="7A122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ell:choicego"/>
          <p:cNvSpPr txBox="1"/>
          <p:nvPr/>
        </p:nvSpPr>
        <p:spPr>
          <a:xfrm>
            <a:off x="8777020" y="5504688"/>
            <a:ext cx="265572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See what happens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The attacker does not care whose site it was</a:t>
            </a:r>
          </a:p>
        </p:txBody>
      </p:sp>
      <p:sp>
        <p:nvSpPr>
          <p:cNvPr id="6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The leaked list contains your email address and password. Software tries that pair against hundreds of well-known services within days. Your work login is one of them, and it is still valid because nothing was changed.</a:t>
            </a:r>
          </a:p>
        </p:txBody>
      </p:sp>
      <p:sp>
        <p:nvSpPr>
          <p:cNvPr id="7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THE RULE</a:t>
            </a:r>
          </a:p>
        </p:txBody>
      </p:sp>
      <p:sp>
        <p:nvSpPr>
          <p:cNvPr id="9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 breach anywhere is a breach here, if the password was reused.</a:t>
            </a:r>
          </a:p>
        </p:txBody>
      </p:sp>
      <p:sp>
        <p:nvSpPr>
          <p:cNvPr id="10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4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6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0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Ten minutes, and the risk is closed</a:t>
            </a:r>
          </a:p>
        </p:txBody>
      </p:sp>
      <p:sp>
        <p:nvSpPr>
          <p:cNvPr id="6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You change the work password to four unrelated words and store it in the manager. You tell the security contact so they can watch for unusual sign-ins. Nothing further happens, which is exactly the point.</a:t>
            </a:r>
          </a:p>
        </p:txBody>
      </p:sp>
      <p:sp>
        <p:nvSpPr>
          <p:cNvPr id="7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THE RULE</a:t>
            </a:r>
          </a:p>
        </p:txBody>
      </p:sp>
      <p:sp>
        <p:nvSpPr>
          <p:cNvPr id="9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Change it first, then report it. Both, the same day.</a:t>
            </a:r>
          </a:p>
        </p:txBody>
      </p:sp>
      <p:sp>
        <p:nvSpPr>
          <p:cNvPr id="10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4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6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0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You changed almost nothing</a:t>
            </a:r>
          </a:p>
        </p:txBody>
      </p:sp>
      <p:sp>
        <p:nvSpPr>
          <p:cNvPr id="6" name="body:consequence"/>
          <p:cNvSpPr txBox="1"/>
          <p:nvPr/>
        </p:nvSpPr>
        <p:spPr>
          <a:xfrm>
            <a:off x="502920" y="1517904"/>
            <a:ext cx="6448882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The obvious variations are the first thing attack software tries. Adding a digit or swapping a letter for a symbol has been standard in cracking tools for two decades. The account is essentially as exposed as it was.</a:t>
            </a:r>
          </a:p>
        </p:txBody>
      </p:sp>
      <p:sp>
        <p:nvSpPr>
          <p:cNvPr id="7" name="vis:fbcard"/>
          <p:cNvSpPr/>
          <p:nvPr/>
        </p:nvSpPr>
        <p:spPr>
          <a:xfrm>
            <a:off x="8082076" y="1517904"/>
            <a:ext cx="3606698" cy="2194560"/>
          </a:xfrm>
          <a:prstGeom prst="roundRect">
            <a:avLst>
              <a:gd name="adj" fmla="val 41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seclabel"/>
          <p:cNvSpPr txBox="1"/>
          <p:nvPr/>
        </p:nvSpPr>
        <p:spPr>
          <a:xfrm>
            <a:off x="8356396" y="1755648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THE RULE</a:t>
            </a:r>
          </a:p>
        </p:txBody>
      </p:sp>
      <p:sp>
        <p:nvSpPr>
          <p:cNvPr id="9" name="cell:rule"/>
          <p:cNvSpPr txBox="1"/>
          <p:nvPr/>
        </p:nvSpPr>
        <p:spPr>
          <a:xfrm>
            <a:off x="8356396" y="2121408"/>
            <a:ext cx="305805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 new password means new words, not a new ending.</a:t>
            </a:r>
          </a:p>
        </p:txBody>
      </p:sp>
      <p:sp>
        <p:nvSpPr>
          <p:cNvPr id="10" name="nav:scback">
            <a:hlinkClick action="ppaction://hlinksldjump" r:id="rId2"/>
          </p:cNvPr>
          <p:cNvSpPr/>
          <p:nvPr/>
        </p:nvSpPr>
        <p:spPr>
          <a:xfrm>
            <a:off x="502920" y="4718304"/>
            <a:ext cx="301752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nav:scbacktext"/>
          <p:cNvSpPr txBox="1"/>
          <p:nvPr/>
        </p:nvSpPr>
        <p:spPr>
          <a:xfrm>
            <a:off x="777240" y="4882896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situation  →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4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6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8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0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WATCH THIS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Three minutes on stronger passwords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nav:video">
            <a:hlinkClick r:id="rId2"/>
          </p:cNvPr>
          <p:cNvSpPr/>
          <p:nvPr/>
        </p:nvSpPr>
        <p:spPr>
          <a:xfrm>
            <a:off x="502920" y="1719072"/>
            <a:ext cx="6448882" cy="4297680"/>
          </a:xfrm>
          <a:prstGeom prst="roundRect">
            <a:avLst>
              <a:gd name="adj" fmla="val 2127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play"/>
          <p:cNvSpPr/>
          <p:nvPr/>
        </p:nvSpPr>
        <p:spPr>
          <a:xfrm>
            <a:off x="1161288" y="2432303"/>
            <a:ext cx="950976" cy="950976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playtri"/>
          <p:cNvSpPr/>
          <p:nvPr/>
        </p:nvSpPr>
        <p:spPr>
          <a:xfrm>
            <a:off x="1499616" y="2679191"/>
            <a:ext cx="384048" cy="457200"/>
          </a:xfrm>
          <a:custGeom>
            <a:avLst/>
            <a:gdLst/>
            <a:ahLst/>
            <a:cxnLst/>
            <a:rect l="l" t="t" r="r" b="b"/>
            <a:pathLst>
              <a:path w="384048" h="457200">
                <a:moveTo>
                  <a:pt x="0" y="0"/>
                </a:moveTo>
                <a:lnTo>
                  <a:pt x="384048" y="2286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ody:videotitle"/>
          <p:cNvSpPr txBox="1"/>
          <p:nvPr/>
        </p:nvSpPr>
        <p:spPr>
          <a:xfrm>
            <a:off x="2514600" y="2231136"/>
            <a:ext cx="412630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Segoe UI Semibold"/>
              </a:rPr>
              <a:t>How to make passwords more secure</a:t>
            </a:r>
          </a:p>
        </p:txBody>
      </p:sp>
      <p:sp>
        <p:nvSpPr>
          <p:cNvPr id="19" name="vis:chip"/>
          <p:cNvSpPr/>
          <p:nvPr/>
        </p:nvSpPr>
        <p:spPr>
          <a:xfrm>
            <a:off x="868680" y="3858768"/>
            <a:ext cx="1959179" cy="292608"/>
          </a:xfrm>
          <a:prstGeom prst="roundRect">
            <a:avLst>
              <a:gd name="adj" fmla="val 15625"/>
            </a:avLst>
          </a:prstGeom>
          <a:noFill/>
          <a:ln w="12700">
            <a:solidFill>
              <a:srgbClr val="848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chiptext"/>
          <p:cNvSpPr txBox="1"/>
          <p:nvPr/>
        </p:nvSpPr>
        <p:spPr>
          <a:xfrm>
            <a:off x="1024128" y="3895344"/>
            <a:ext cx="164828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848D9A"/>
                </a:solidFill>
                <a:latin typeface="Segoe UI Semibold"/>
              </a:rPr>
              <a:t>IBM TECHNOLOGY</a:t>
            </a:r>
          </a:p>
        </p:txBody>
      </p:sp>
      <p:sp>
        <p:nvSpPr>
          <p:cNvPr id="21" name="vis:chip"/>
          <p:cNvSpPr/>
          <p:nvPr/>
        </p:nvSpPr>
        <p:spPr>
          <a:xfrm>
            <a:off x="2974163" y="3858768"/>
            <a:ext cx="1230249" cy="292608"/>
          </a:xfrm>
          <a:prstGeom prst="roundRect">
            <a:avLst>
              <a:gd name="adj" fmla="val 15625"/>
            </a:avLst>
          </a:prstGeom>
          <a:noFill/>
          <a:ln w="12700">
            <a:solidFill>
              <a:srgbClr val="848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vis:chiptext"/>
          <p:cNvSpPr txBox="1"/>
          <p:nvPr/>
        </p:nvSpPr>
        <p:spPr>
          <a:xfrm>
            <a:off x="3129611" y="3895344"/>
            <a:ext cx="91935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spc="90">
                <a:solidFill>
                  <a:srgbClr val="848D9A"/>
                </a:solidFill>
                <a:latin typeface="Segoe UI Semibold"/>
              </a:rPr>
              <a:t>2:56 MIN</a:t>
            </a:r>
          </a:p>
        </p:txBody>
      </p:sp>
      <p:cxnSp>
        <p:nvCxnSpPr>
          <p:cNvPr id="23" name="vis:rule"/>
          <p:cNvCxnSpPr/>
          <p:nvPr/>
        </p:nvCxnSpPr>
        <p:spPr>
          <a:xfrm>
            <a:off x="868680" y="4425696"/>
            <a:ext cx="5717362" cy="0"/>
          </a:xfrm>
          <a:prstGeom prst="line">
            <a:avLst/>
          </a:prstGeom>
          <a:ln w="12700">
            <a:solidFill>
              <a:srgbClr val="2A35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body:videonote"/>
          <p:cNvSpPr txBox="1"/>
          <p:nvPr/>
        </p:nvSpPr>
        <p:spPr>
          <a:xfrm>
            <a:off x="868680" y="4645152"/>
            <a:ext cx="571736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48D9A"/>
                </a:solidFill>
                <a:latin typeface="Segoe UI"/>
              </a:rPr>
              <a:t>An outside video, not company material. Where it differs from this module, follow this module.</a:t>
            </a:r>
          </a:p>
        </p:txBody>
      </p:sp>
      <p:sp>
        <p:nvSpPr>
          <p:cNvPr id="25" name="nav:videobtn">
            <a:hlinkClick r:id="rId2"/>
          </p:cNvPr>
          <p:cNvSpPr/>
          <p:nvPr/>
        </p:nvSpPr>
        <p:spPr>
          <a:xfrm>
            <a:off x="868680" y="5230368"/>
            <a:ext cx="3017520" cy="493776"/>
          </a:xfrm>
          <a:prstGeom prst="roundRect">
            <a:avLst>
              <a:gd name="adj" fmla="val 11111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icon"/>
          <p:cNvSpPr/>
          <p:nvPr/>
        </p:nvSpPr>
        <p:spPr>
          <a:xfrm>
            <a:off x="1069116" y="5370819"/>
            <a:ext cx="153619" cy="153619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7" name="vis:icon"/>
          <p:cNvCxnSpPr/>
          <p:nvPr/>
        </p:nvCxnSpPr>
        <p:spPr>
          <a:xfrm>
            <a:off x="1202253" y="5503956"/>
            <a:ext cx="61447" cy="61448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nav:videobtntext"/>
          <p:cNvSpPr txBox="1"/>
          <p:nvPr/>
        </p:nvSpPr>
        <p:spPr>
          <a:xfrm>
            <a:off x="1417320" y="5358384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Click to open on YouTube</a:t>
            </a:r>
          </a:p>
        </p:txBody>
      </p:sp>
      <p:sp>
        <p:nvSpPr>
          <p:cNvPr id="29" name="vis:videohow"/>
          <p:cNvSpPr/>
          <p:nvPr/>
        </p:nvSpPr>
        <p:spPr>
          <a:xfrm>
            <a:off x="8082076" y="1719072"/>
            <a:ext cx="3606698" cy="4297680"/>
          </a:xfrm>
          <a:prstGeom prst="roundRect">
            <a:avLst>
              <a:gd name="adj" fmla="val 253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vis:videospine"/>
          <p:cNvSpPr/>
          <p:nvPr/>
        </p:nvSpPr>
        <p:spPr>
          <a:xfrm>
            <a:off x="8082076" y="1719072"/>
            <a:ext cx="68580" cy="4297680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seclabel"/>
          <p:cNvSpPr txBox="1"/>
          <p:nvPr/>
        </p:nvSpPr>
        <p:spPr>
          <a:xfrm>
            <a:off x="8392972" y="2029967"/>
            <a:ext cx="298490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HOW TO USE IT</a:t>
            </a:r>
          </a:p>
        </p:txBody>
      </p:sp>
      <p:cxnSp>
        <p:nvCxnSpPr>
          <p:cNvPr id="32" name="vis:icon"/>
          <p:cNvCxnSpPr/>
          <p:nvPr/>
        </p:nvCxnSpPr>
        <p:spPr>
          <a:xfrm>
            <a:off x="8439424" y="2628351"/>
            <a:ext cx="52304" cy="52304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s:icon"/>
          <p:cNvCxnSpPr/>
          <p:nvPr/>
        </p:nvCxnSpPr>
        <p:spPr>
          <a:xfrm flipV="1">
            <a:off x="8491728" y="2568000"/>
            <a:ext cx="96560" cy="112655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ell:why"/>
          <p:cNvSpPr txBox="1"/>
          <p:nvPr/>
        </p:nvSpPr>
        <p:spPr>
          <a:xfrm>
            <a:off x="8777020" y="2468879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Optional. The rules in this deck are what you need.</a:t>
            </a:r>
          </a:p>
        </p:txBody>
      </p:sp>
      <p:cxnSp>
        <p:nvCxnSpPr>
          <p:cNvPr id="35" name="vis:icon"/>
          <p:cNvCxnSpPr/>
          <p:nvPr/>
        </p:nvCxnSpPr>
        <p:spPr>
          <a:xfrm>
            <a:off x="8439424" y="3743919"/>
            <a:ext cx="52304" cy="52304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vis:icon"/>
          <p:cNvCxnSpPr/>
          <p:nvPr/>
        </p:nvCxnSpPr>
        <p:spPr>
          <a:xfrm flipV="1">
            <a:off x="8491728" y="3683568"/>
            <a:ext cx="96560" cy="112655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ell:why"/>
          <p:cNvSpPr txBox="1"/>
          <p:nvPr/>
        </p:nvSpPr>
        <p:spPr>
          <a:xfrm>
            <a:off x="8777020" y="3584448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Useful for background on how attacks actually work.</a:t>
            </a:r>
          </a:p>
        </p:txBody>
      </p:sp>
      <p:cxnSp>
        <p:nvCxnSpPr>
          <p:cNvPr id="38" name="vis:icon"/>
          <p:cNvCxnSpPr/>
          <p:nvPr/>
        </p:nvCxnSpPr>
        <p:spPr>
          <a:xfrm>
            <a:off x="8439424" y="4859487"/>
            <a:ext cx="52304" cy="52304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s:icon"/>
          <p:cNvCxnSpPr/>
          <p:nvPr/>
        </p:nvCxnSpPr>
        <p:spPr>
          <a:xfrm flipV="1">
            <a:off x="8491728" y="4799136"/>
            <a:ext cx="96560" cy="112655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ell:why"/>
          <p:cNvSpPr txBox="1"/>
          <p:nvPr/>
        </p:nvSpPr>
        <p:spPr>
          <a:xfrm>
            <a:off x="8777020" y="4700016"/>
            <a:ext cx="260085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547"/>
                </a:solidFill>
                <a:latin typeface="Segoe UI"/>
              </a:rPr>
              <a:t>It opens in your browser. Turn the sound 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QUIZ  ·  QUESTION 1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How do accounts usually get taken?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Someone guesses the password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A password leaked elsewhere is tried here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The password was too short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Someone watched you type 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Someone guesses the password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Guessing is slow, is usually blocked after a few failed attempts, and is unnecessary once millions of real passwords are already sitting in leaked lists.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Reused passwords from other breaches.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A password leaked elsewhere is tried here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This is one of the most common ways accounts are actually taken. Your email and password from a breached site are tried automatically against hundreds of services. If you reused it, one of them works.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Reused passwords from other breaches.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The password was too short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Length matters against guessing, which is not how most real takeovers happen. A twenty-character password that leaked is just as usable to an attacker as a short one.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Reused passwords from other breaches.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Someone watched you type it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happens, and it needs the attacker physically near you — a real limit that credential stuffing from a leaked list does not have.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Reused passwords from other breaches.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QUIZ  ·  QUESTION 2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Which password is strongest?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Nashik@2024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copper-lantern-quiet-mango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P@ssw0rd!23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Xk9#mQ2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Nashik@2024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A place name and a year, with the two most predictable decorations. Every element of it appears in standard cracking lists.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Length and unrelated words beat symbols.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copper-lantern-quiet-mango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Twenty-six characters of unrelated words. Nothing connects to you, nothing follows a pattern, and it is far easier to type than eight random characters.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Length and unrelated words beat symbols.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P@ssw0rd!23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The most substituted word in the world with the most predictable substitutions. This is tried in the first second of any attack.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Length and unrelated words beat symbols.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Xk9#mQ2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Random but far too short, and impossible to remember, so it ends up written down somewhere. Seven characters is not enough regardless of what they are.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Length and unrelated words beat symbols.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QUIZ  ·  QUESTION 3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Why is reuse worse than weakness?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Reused passwords are usually shorter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One breach anywhere hands over every account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Reuse makes passwords easier to guess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It breaches company policy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Reused passwords are usually shorter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Length is unrelated to reuse. A long, complex password used on two sites carries exactly the same risk as a short one.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 leak elsewhere becomes a key here.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One breach anywhere hands over every account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Your work account becomes only as secure as the least careful website you ever signed up to. You have no visibility of their security and no control over it.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 leak elsewhere becomes a key here.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Reuse makes passwords easier to guess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Guessing is not involved. The attacker already has the exact password — reuse simply means it opens more than one door.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 leak elsewhere becomes a key here.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It breaches company policy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usually does, and that is a consequence rather than the reason. The reason is that it genuinely hands your work account to whoever breached that other site.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A leak elsewhere becomes a key here.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QUIZ  ·  QUESTION 4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Where should passwords be stored?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In your memory, so nothing is written down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In an approved password manager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In a spreadsheet only you can open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In your browser on any machine you use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In your memory, so nothing is written down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Memory forces reuse, because nobody remembers thirty unique long passwords. The result is one password everywhere, which is the actual risk.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In a manager, not in your memory or a note.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In an approved password manager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You learn one long phrase and it holds a unique password for every account. It also refuses to fill your password into a lookalike site, which stops a whole class of phishing.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In a manager, not in your memory or a note.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Next question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In a spreadsheet only you can open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A file on a shared drive or laptop is readable by anyone with access to that machine or backup, and it gives no protection against fake sites.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In a manager, not in your memory or a note.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In your browser on any machine you use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Acceptable on a personal device you alone use. On a shared machine it hands every saved account to whoever sits down next.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In a manager, not in your memory or a note.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QUIZ  ·  QUESTION 5 OF 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A colleague needs access today.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quiz:answer">
            <a:hlinkClick action="ppaction://hlinksldjump" r:id="rId3"/>
          </p:cNvPr>
          <p:cNvSpPr/>
          <p:nvPr/>
        </p:nvSpPr>
        <p:spPr>
          <a:xfrm>
            <a:off x="502920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answerkey"/>
          <p:cNvSpPr/>
          <p:nvPr/>
        </p:nvSpPr>
        <p:spPr>
          <a:xfrm>
            <a:off x="740664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answerkeytext"/>
          <p:cNvSpPr txBox="1"/>
          <p:nvPr/>
        </p:nvSpPr>
        <p:spPr>
          <a:xfrm>
            <a:off x="740664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8" name="cell:answer"/>
          <p:cNvSpPr txBox="1"/>
          <p:nvPr/>
        </p:nvSpPr>
        <p:spPr>
          <a:xfrm>
            <a:off x="1252728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Share your password just for today</a:t>
            </a:r>
          </a:p>
        </p:txBody>
      </p:sp>
      <p:sp>
        <p:nvSpPr>
          <p:cNvPr id="19" name="quiz:answer">
            <a:hlinkClick action="ppaction://hlinksldjump" r:id="rId4"/>
          </p:cNvPr>
          <p:cNvSpPr/>
          <p:nvPr/>
        </p:nvSpPr>
        <p:spPr>
          <a:xfrm>
            <a:off x="6187287" y="171907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answerkey"/>
          <p:cNvSpPr/>
          <p:nvPr/>
        </p:nvSpPr>
        <p:spPr>
          <a:xfrm>
            <a:off x="6425031" y="2564891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answerkeytext"/>
          <p:cNvSpPr txBox="1"/>
          <p:nvPr/>
        </p:nvSpPr>
        <p:spPr>
          <a:xfrm>
            <a:off x="6425031" y="264261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22" name="cell:answer"/>
          <p:cNvSpPr txBox="1"/>
          <p:nvPr/>
        </p:nvSpPr>
        <p:spPr>
          <a:xfrm>
            <a:off x="6937095" y="184708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Request an account for them</a:t>
            </a:r>
          </a:p>
        </p:txBody>
      </p:sp>
      <p:sp>
        <p:nvSpPr>
          <p:cNvPr id="23" name="quiz:answer">
            <a:hlinkClick action="ppaction://hlinksldjump" r:id="rId5"/>
          </p:cNvPr>
          <p:cNvSpPr/>
          <p:nvPr/>
        </p:nvSpPr>
        <p:spPr>
          <a:xfrm>
            <a:off x="502920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answerkey"/>
          <p:cNvSpPr/>
          <p:nvPr/>
        </p:nvSpPr>
        <p:spPr>
          <a:xfrm>
            <a:off x="740664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answerkeytext"/>
          <p:cNvSpPr txBox="1"/>
          <p:nvPr/>
        </p:nvSpPr>
        <p:spPr>
          <a:xfrm>
            <a:off x="740664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6" name="cell:answer"/>
          <p:cNvSpPr txBox="1"/>
          <p:nvPr/>
        </p:nvSpPr>
        <p:spPr>
          <a:xfrm>
            <a:off x="1252728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Share it and change it afterwards</a:t>
            </a:r>
          </a:p>
        </p:txBody>
      </p:sp>
      <p:sp>
        <p:nvSpPr>
          <p:cNvPr id="27" name="quiz:answer">
            <a:hlinkClick action="ppaction://hlinksldjump" r:id="rId6"/>
          </p:cNvPr>
          <p:cNvSpPr/>
          <p:nvPr/>
        </p:nvSpPr>
        <p:spPr>
          <a:xfrm>
            <a:off x="6187287" y="3959352"/>
            <a:ext cx="5501487" cy="2057400"/>
          </a:xfrm>
          <a:prstGeom prst="roundRect">
            <a:avLst>
              <a:gd name="adj" fmla="val 3555"/>
            </a:avLst>
          </a:prstGeom>
          <a:solidFill>
            <a:srgbClr val="F3F6FB"/>
          </a:solidFill>
          <a:ln w="12700">
            <a:solidFill>
              <a:srgbClr val="C9D1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answerkey"/>
          <p:cNvSpPr/>
          <p:nvPr/>
        </p:nvSpPr>
        <p:spPr>
          <a:xfrm>
            <a:off x="6425031" y="4805172"/>
            <a:ext cx="365760" cy="365760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answerkeytext"/>
          <p:cNvSpPr txBox="1"/>
          <p:nvPr/>
        </p:nvSpPr>
        <p:spPr>
          <a:xfrm>
            <a:off x="6425031" y="48828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30" name="cell:answer"/>
          <p:cNvSpPr txBox="1"/>
          <p:nvPr/>
        </p:nvSpPr>
        <p:spPr>
          <a:xfrm>
            <a:off x="6937095" y="4087368"/>
            <a:ext cx="4495647" cy="1801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"/>
              </a:rPr>
              <a:t>Log in for them and leave the session open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A.  Share your password just for today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Everything they do is recorded as you. If data leaves or money moves, the record names you, and you have no way to show it was somebody else.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Their own account, never yours.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7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61807" y="602772"/>
            <a:ext cx="109362" cy="109362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V="1">
            <a:off x="671169" y="476585"/>
            <a:ext cx="201900" cy="23554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Correct — here's why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B.  Request an account for them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It takes a day and it keeps every action traceable to a person. That traceability is the entire reason individual accounts exist.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Their own account, never yours.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See the recap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C.  Share it and change it afterwards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The window may be short and the record is still wrong. Anything done during that period is attributed to you permanently.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Their own account, never yours.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vis:fbband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" name="vis:icon"/>
          <p:cNvCxnSpPr/>
          <p:nvPr/>
        </p:nvCxnSpPr>
        <p:spPr>
          <a:xfrm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vis:icon"/>
          <p:cNvCxnSpPr/>
          <p:nvPr/>
        </p:nvCxnSpPr>
        <p:spPr>
          <a:xfrm flipH="1">
            <a:off x="578632" y="459760"/>
            <a:ext cx="269199" cy="269199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:banner"/>
          <p:cNvSpPr txBox="1"/>
          <p:nvPr/>
        </p:nvSpPr>
        <p:spPr>
          <a:xfrm>
            <a:off x="1179576" y="365760"/>
            <a:ext cx="834367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Segoe UI Semibold"/>
              </a:rPr>
              <a:t>Not quite — here's what actually happens</a:t>
            </a:r>
          </a:p>
        </p:txBody>
      </p:sp>
      <p:sp>
        <p:nvSpPr>
          <p:cNvPr id="6" name="seclabel"/>
          <p:cNvSpPr txBox="1"/>
          <p:nvPr/>
        </p:nvSpPr>
        <p:spPr>
          <a:xfrm>
            <a:off x="502920" y="1481328"/>
            <a:ext cx="73962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20">
                <a:solidFill>
                  <a:srgbClr val="5B6779"/>
                </a:solidFill>
                <a:latin typeface="Segoe UI Semibold"/>
              </a:rPr>
              <a:t>YOU CHOSE  D.  Log in for them and leave the session open</a:t>
            </a:r>
          </a:p>
        </p:txBody>
      </p:sp>
      <p:sp>
        <p:nvSpPr>
          <p:cNvPr id="7" name="body:fbwhy"/>
          <p:cNvSpPr txBox="1"/>
          <p:nvPr/>
        </p:nvSpPr>
        <p:spPr>
          <a:xfrm>
            <a:off x="502920" y="1920240"/>
            <a:ext cx="644888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01826"/>
                </a:solidFill>
                <a:latin typeface="Segoe UI"/>
              </a:rPr>
              <a:t>Identical problem with an extra risk: an unattended logged-in session is available to anyone who walks past that desk.</a:t>
            </a:r>
          </a:p>
        </p:txBody>
      </p:sp>
      <p:sp>
        <p:nvSpPr>
          <p:cNvPr id="8" name="vis:fbcard"/>
          <p:cNvSpPr/>
          <p:nvPr/>
        </p:nvSpPr>
        <p:spPr>
          <a:xfrm>
            <a:off x="8082076" y="1920240"/>
            <a:ext cx="3606698" cy="2011680"/>
          </a:xfrm>
          <a:prstGeom prst="roundRect">
            <a:avLst>
              <a:gd name="adj" fmla="val 4545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seclabel"/>
          <p:cNvSpPr txBox="1"/>
          <p:nvPr/>
        </p:nvSpPr>
        <p:spPr>
          <a:xfrm>
            <a:off x="8356396" y="2157984"/>
            <a:ext cx="305805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REMEMBER</a:t>
            </a:r>
          </a:p>
        </p:txBody>
      </p:sp>
      <p:sp>
        <p:nvSpPr>
          <p:cNvPr id="10" name="cell:fbremember"/>
          <p:cNvSpPr txBox="1"/>
          <p:nvPr/>
        </p:nvSpPr>
        <p:spPr>
          <a:xfrm>
            <a:off x="8356396" y="2523744"/>
            <a:ext cx="3058058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A3547"/>
                </a:solidFill>
                <a:latin typeface="Segoe UI"/>
              </a:rPr>
              <a:t>Their own account, never yours.</a:t>
            </a:r>
          </a:p>
        </p:txBody>
      </p:sp>
      <p:sp>
        <p:nvSpPr>
          <p:cNvPr id="11" name="nav:fbnext">
            <a:hlinkClick action="ppaction://hlinksldjump" r:id="rId2"/>
          </p:cNvPr>
          <p:cNvSpPr/>
          <p:nvPr/>
        </p:nvSpPr>
        <p:spPr>
          <a:xfrm>
            <a:off x="502920" y="4846320"/>
            <a:ext cx="2834640" cy="566928"/>
          </a:xfrm>
          <a:prstGeom prst="roundRect">
            <a:avLst>
              <a:gd name="adj" fmla="val 9677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nav:fbnexttext"/>
          <p:cNvSpPr txBox="1"/>
          <p:nvPr/>
        </p:nvSpPr>
        <p:spPr>
          <a:xfrm>
            <a:off x="777240" y="50109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Try this question again  →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15" name="nav:menu">
            <a:hlinkClick action="ppaction://hlinksldjump" r:id="rId3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7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21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Segoe UI Semibold"/>
              </a:rPr>
              <a:t>Menu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RECAP CARD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Password security on one screen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cell:recaphint"/>
          <p:cNvSpPr txBox="1"/>
          <p:nvPr/>
        </p:nvSpPr>
        <p:spPr>
          <a:xfrm>
            <a:off x="502920" y="1591056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Screenshot this slide. It is the whole module in one screen.</a:t>
            </a:r>
          </a:p>
        </p:txBody>
      </p:sp>
      <p:sp>
        <p:nvSpPr>
          <p:cNvPr id="16" name="vis:recaptile"/>
          <p:cNvSpPr/>
          <p:nvPr/>
        </p:nvSpPr>
        <p:spPr>
          <a:xfrm>
            <a:off x="502920" y="190195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recapbar"/>
          <p:cNvSpPr/>
          <p:nvPr/>
        </p:nvSpPr>
        <p:spPr>
          <a:xfrm>
            <a:off x="502920" y="1901952"/>
            <a:ext cx="54864" cy="963168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cell:recaphead"/>
          <p:cNvSpPr txBox="1"/>
          <p:nvPr/>
        </p:nvSpPr>
        <p:spPr>
          <a:xfrm>
            <a:off x="740664" y="201168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Nobody guesses</a:t>
            </a:r>
          </a:p>
        </p:txBody>
      </p:sp>
      <p:sp>
        <p:nvSpPr>
          <p:cNvPr id="19" name="cell:recapsub"/>
          <p:cNvSpPr txBox="1"/>
          <p:nvPr/>
        </p:nvSpPr>
        <p:spPr>
          <a:xfrm>
            <a:off x="740664" y="232257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They use passwords that already leaked from other sites, tried automatically.</a:t>
            </a:r>
          </a:p>
        </p:txBody>
      </p:sp>
      <p:sp>
        <p:nvSpPr>
          <p:cNvPr id="20" name="vis:recaptile"/>
          <p:cNvSpPr/>
          <p:nvPr/>
        </p:nvSpPr>
        <p:spPr>
          <a:xfrm>
            <a:off x="6178143" y="190195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vis:recapbar"/>
          <p:cNvSpPr/>
          <p:nvPr/>
        </p:nvSpPr>
        <p:spPr>
          <a:xfrm>
            <a:off x="6178143" y="1901952"/>
            <a:ext cx="54864" cy="963168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cell:recaphead"/>
          <p:cNvSpPr txBox="1"/>
          <p:nvPr/>
        </p:nvSpPr>
        <p:spPr>
          <a:xfrm>
            <a:off x="6415887" y="201168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Reuse is the whole risk</a:t>
            </a:r>
          </a:p>
        </p:txBody>
      </p:sp>
      <p:sp>
        <p:nvSpPr>
          <p:cNvPr id="23" name="cell:recapsub"/>
          <p:cNvSpPr txBox="1"/>
          <p:nvPr/>
        </p:nvSpPr>
        <p:spPr>
          <a:xfrm>
            <a:off x="6415887" y="232257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Your work account is as safe as the least careful site you ever joined.</a:t>
            </a:r>
          </a:p>
        </p:txBody>
      </p:sp>
      <p:sp>
        <p:nvSpPr>
          <p:cNvPr id="24" name="vis:recaptile"/>
          <p:cNvSpPr/>
          <p:nvPr/>
        </p:nvSpPr>
        <p:spPr>
          <a:xfrm>
            <a:off x="502920" y="302971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recapbar"/>
          <p:cNvSpPr/>
          <p:nvPr/>
        </p:nvSpPr>
        <p:spPr>
          <a:xfrm>
            <a:off x="502920" y="3029712"/>
            <a:ext cx="54864" cy="963168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cell:recaphead"/>
          <p:cNvSpPr txBox="1"/>
          <p:nvPr/>
        </p:nvSpPr>
        <p:spPr>
          <a:xfrm>
            <a:off x="740664" y="313944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Length beats symbols</a:t>
            </a:r>
          </a:p>
        </p:txBody>
      </p:sp>
      <p:sp>
        <p:nvSpPr>
          <p:cNvPr id="27" name="cell:recapsub"/>
          <p:cNvSpPr txBox="1"/>
          <p:nvPr/>
        </p:nvSpPr>
        <p:spPr>
          <a:xfrm>
            <a:off x="740664" y="345033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Four unrelated words beat eight clever characters, every time.</a:t>
            </a:r>
          </a:p>
        </p:txBody>
      </p:sp>
      <p:sp>
        <p:nvSpPr>
          <p:cNvPr id="28" name="vis:recaptile"/>
          <p:cNvSpPr/>
          <p:nvPr/>
        </p:nvSpPr>
        <p:spPr>
          <a:xfrm>
            <a:off x="6178143" y="302971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vis:recapbar"/>
          <p:cNvSpPr/>
          <p:nvPr/>
        </p:nvSpPr>
        <p:spPr>
          <a:xfrm>
            <a:off x="6178143" y="3029712"/>
            <a:ext cx="54864" cy="963168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cell:recaphead"/>
          <p:cNvSpPr txBox="1"/>
          <p:nvPr/>
        </p:nvSpPr>
        <p:spPr>
          <a:xfrm>
            <a:off x="6415887" y="313944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Small changes are not changes</a:t>
            </a:r>
          </a:p>
        </p:txBody>
      </p:sp>
      <p:sp>
        <p:nvSpPr>
          <p:cNvPr id="31" name="cell:recapsub"/>
          <p:cNvSpPr txBox="1"/>
          <p:nvPr/>
        </p:nvSpPr>
        <p:spPr>
          <a:xfrm>
            <a:off x="6415887" y="345033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Adding a digit or swapping a letter is the first thing attackers try.</a:t>
            </a:r>
          </a:p>
        </p:txBody>
      </p:sp>
      <p:sp>
        <p:nvSpPr>
          <p:cNvPr id="32" name="vis:recaptile"/>
          <p:cNvSpPr/>
          <p:nvPr/>
        </p:nvSpPr>
        <p:spPr>
          <a:xfrm>
            <a:off x="502920" y="415747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vis:recapbar"/>
          <p:cNvSpPr/>
          <p:nvPr/>
        </p:nvSpPr>
        <p:spPr>
          <a:xfrm>
            <a:off x="502920" y="4157472"/>
            <a:ext cx="54864" cy="963168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4" name="cell:recaphead"/>
          <p:cNvSpPr txBox="1"/>
          <p:nvPr/>
        </p:nvSpPr>
        <p:spPr>
          <a:xfrm>
            <a:off x="740664" y="42672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Let software remember</a:t>
            </a:r>
          </a:p>
        </p:txBody>
      </p:sp>
      <p:sp>
        <p:nvSpPr>
          <p:cNvPr id="35" name="cell:recapsub"/>
          <p:cNvSpPr txBox="1"/>
          <p:nvPr/>
        </p:nvSpPr>
        <p:spPr>
          <a:xfrm>
            <a:off x="740664" y="457809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One phrase you learn, and a unique password for everything else.</a:t>
            </a:r>
          </a:p>
        </p:txBody>
      </p:sp>
      <p:sp>
        <p:nvSpPr>
          <p:cNvPr id="36" name="vis:recaptile"/>
          <p:cNvSpPr/>
          <p:nvPr/>
        </p:nvSpPr>
        <p:spPr>
          <a:xfrm>
            <a:off x="6178143" y="4157472"/>
            <a:ext cx="5510631" cy="963168"/>
          </a:xfrm>
          <a:prstGeom prst="roundRect">
            <a:avLst>
              <a:gd name="adj" fmla="val 759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recapbar"/>
          <p:cNvSpPr/>
          <p:nvPr/>
        </p:nvSpPr>
        <p:spPr>
          <a:xfrm>
            <a:off x="6178143" y="4157472"/>
            <a:ext cx="54864" cy="963168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cell:recaphead"/>
          <p:cNvSpPr txBox="1"/>
          <p:nvPr/>
        </p:nvSpPr>
        <p:spPr>
          <a:xfrm>
            <a:off x="6415887" y="42672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Never share a login</a:t>
            </a:r>
          </a:p>
        </p:txBody>
      </p:sp>
      <p:sp>
        <p:nvSpPr>
          <p:cNvPr id="39" name="cell:recapsub"/>
          <p:cNvSpPr txBox="1"/>
          <p:nvPr/>
        </p:nvSpPr>
        <p:spPr>
          <a:xfrm>
            <a:off x="6415887" y="4578096"/>
            <a:ext cx="5035143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Their actions become your record, and you cannot prove otherwise.</a:t>
            </a:r>
          </a:p>
        </p:txBody>
      </p:sp>
      <p:sp>
        <p:nvSpPr>
          <p:cNvPr id="40" name="vis:recapline"/>
          <p:cNvSpPr/>
          <p:nvPr/>
        </p:nvSpPr>
        <p:spPr>
          <a:xfrm>
            <a:off x="502920" y="5266944"/>
            <a:ext cx="11185855" cy="749808"/>
          </a:xfrm>
          <a:prstGeom prst="roundRect">
            <a:avLst>
              <a:gd name="adj" fmla="val 1219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vis:icon"/>
          <p:cNvSpPr/>
          <p:nvPr/>
        </p:nvSpPr>
        <p:spPr>
          <a:xfrm>
            <a:off x="875995" y="5464820"/>
            <a:ext cx="241401" cy="241401"/>
          </a:xfrm>
          <a:prstGeom prst="ellipse">
            <a:avLst/>
          </a:prstGeom>
          <a:noFill/>
          <a:ln w="19050">
            <a:solidFill>
              <a:srgbClr val="B67D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2" name="vis:icon"/>
          <p:cNvCxnSpPr/>
          <p:nvPr/>
        </p:nvCxnSpPr>
        <p:spPr>
          <a:xfrm>
            <a:off x="932322" y="5738408"/>
            <a:ext cx="128747" cy="0"/>
          </a:xfrm>
          <a:prstGeom prst="line">
            <a:avLst/>
          </a:prstGeom>
          <a:ln w="19050">
            <a:solidFill>
              <a:srgbClr val="B67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vis:icon"/>
          <p:cNvCxnSpPr/>
          <p:nvPr/>
        </p:nvCxnSpPr>
        <p:spPr>
          <a:xfrm>
            <a:off x="948415" y="5802782"/>
            <a:ext cx="96561" cy="0"/>
          </a:xfrm>
          <a:prstGeom prst="line">
            <a:avLst/>
          </a:prstGeom>
          <a:ln w="19050">
            <a:solidFill>
              <a:srgbClr val="B67D8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ell:recapone"/>
          <p:cNvSpPr txBox="1"/>
          <p:nvPr/>
        </p:nvSpPr>
        <p:spPr>
          <a:xfrm>
            <a:off x="1417320" y="5394959"/>
            <a:ext cx="996055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Segoe UI Semibold"/>
              </a:rPr>
              <a:t>Unique matters far more than complicated. A simple password used once beats a complex one used twice.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YOUR TOOLKIT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Take these three things with you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5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seclabel"/>
          <p:cNvSpPr txBox="1"/>
          <p:nvPr/>
        </p:nvSpPr>
        <p:spPr>
          <a:xfrm>
            <a:off x="502920" y="1719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TEMPLATES YOU CAN REUSE TODAY</a:t>
            </a:r>
          </a:p>
        </p:txBody>
      </p:sp>
      <p:sp>
        <p:nvSpPr>
          <p:cNvPr id="16" name="vis:tk"/>
          <p:cNvSpPr/>
          <p:nvPr/>
        </p:nvSpPr>
        <p:spPr>
          <a:xfrm>
            <a:off x="502920" y="2121408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vis:badge"/>
          <p:cNvSpPr/>
          <p:nvPr/>
        </p:nvSpPr>
        <p:spPr>
          <a:xfrm>
            <a:off x="722376" y="2243328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8" name="vis:icon"/>
          <p:cNvSpPr/>
          <p:nvPr/>
        </p:nvSpPr>
        <p:spPr>
          <a:xfrm>
            <a:off x="855922" y="2398176"/>
            <a:ext cx="117160" cy="117160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9" name="vis:icon"/>
          <p:cNvCxnSpPr/>
          <p:nvPr/>
        </p:nvCxnSpPr>
        <p:spPr>
          <a:xfrm>
            <a:off x="951780" y="2499359"/>
            <a:ext cx="138462" cy="10651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vis:icon"/>
          <p:cNvCxnSpPr/>
          <p:nvPr/>
        </p:nvCxnSpPr>
        <p:spPr>
          <a:xfrm flipH="1">
            <a:off x="1010360" y="2552614"/>
            <a:ext cx="26628" cy="31953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s:icon"/>
          <p:cNvCxnSpPr/>
          <p:nvPr/>
        </p:nvCxnSpPr>
        <p:spPr>
          <a:xfrm flipH="1">
            <a:off x="1042313" y="2584567"/>
            <a:ext cx="26627" cy="31953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ell:tkname"/>
          <p:cNvSpPr txBox="1"/>
          <p:nvPr/>
        </p:nvSpPr>
        <p:spPr>
          <a:xfrm>
            <a:off x="1417320" y="2212848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generate-and-store habit</a:t>
            </a:r>
          </a:p>
        </p:txBody>
      </p:sp>
      <p:sp>
        <p:nvSpPr>
          <p:cNvPr id="23" name="cell:tksub"/>
          <p:cNvSpPr txBox="1"/>
          <p:nvPr/>
        </p:nvSpPr>
        <p:spPr>
          <a:xfrm>
            <a:off x="1417320" y="2517648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Your password manager's own generator — never an AI tool.</a:t>
            </a:r>
          </a:p>
        </p:txBody>
      </p:sp>
      <p:sp>
        <p:nvSpPr>
          <p:cNvPr id="24" name="vis:tk"/>
          <p:cNvSpPr/>
          <p:nvPr/>
        </p:nvSpPr>
        <p:spPr>
          <a:xfrm>
            <a:off x="502920" y="3023616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vis:badge"/>
          <p:cNvSpPr/>
          <p:nvPr/>
        </p:nvSpPr>
        <p:spPr>
          <a:xfrm>
            <a:off x="722376" y="3145536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vis:icon"/>
          <p:cNvSpPr/>
          <p:nvPr/>
        </p:nvSpPr>
        <p:spPr>
          <a:xfrm>
            <a:off x="855922" y="3305709"/>
            <a:ext cx="244971" cy="191717"/>
          </a:xfrm>
          <a:custGeom>
            <a:avLst/>
            <a:gdLst/>
            <a:ahLst/>
            <a:cxnLst/>
            <a:rect l="l" t="t" r="r" b="b"/>
            <a:pathLst>
              <a:path w="244971" h="191717">
                <a:moveTo>
                  <a:pt x="0" y="95859"/>
                </a:moveTo>
                <a:lnTo>
                  <a:pt x="122486" y="0"/>
                </a:lnTo>
                <a:lnTo>
                  <a:pt x="244971" y="95859"/>
                </a:lnTo>
                <a:lnTo>
                  <a:pt x="122486" y="191717"/>
                </a:lnTo>
                <a:close/>
              </a:path>
            </a:pathLst>
          </a:cu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s:icon"/>
          <p:cNvSpPr/>
          <p:nvPr/>
        </p:nvSpPr>
        <p:spPr>
          <a:xfrm>
            <a:off x="941129" y="3364289"/>
            <a:ext cx="74556" cy="74556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cell:tkname"/>
          <p:cNvSpPr txBox="1"/>
          <p:nvPr/>
        </p:nvSpPr>
        <p:spPr>
          <a:xfrm>
            <a:off x="1417320" y="3115056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breach check</a:t>
            </a:r>
          </a:p>
        </p:txBody>
      </p:sp>
      <p:sp>
        <p:nvSpPr>
          <p:cNvPr id="29" name="cell:tksub"/>
          <p:cNvSpPr txBox="1"/>
          <p:nvPr/>
        </p:nvSpPr>
        <p:spPr>
          <a:xfrm>
            <a:off x="1417320" y="3419856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Type your address and see which leaks included it.</a:t>
            </a:r>
          </a:p>
        </p:txBody>
      </p:sp>
      <p:sp>
        <p:nvSpPr>
          <p:cNvPr id="30" name="vis:tk"/>
          <p:cNvSpPr/>
          <p:nvPr/>
        </p:nvSpPr>
        <p:spPr>
          <a:xfrm>
            <a:off x="502920" y="3925823"/>
            <a:ext cx="6448882" cy="755904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1" name="vis:badge"/>
          <p:cNvSpPr/>
          <p:nvPr/>
        </p:nvSpPr>
        <p:spPr>
          <a:xfrm>
            <a:off x="722376" y="4047743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icon"/>
          <p:cNvSpPr/>
          <p:nvPr/>
        </p:nvSpPr>
        <p:spPr>
          <a:xfrm>
            <a:off x="863910" y="4183953"/>
            <a:ext cx="228995" cy="239645"/>
          </a:xfrm>
          <a:custGeom>
            <a:avLst/>
            <a:gdLst/>
            <a:ahLst/>
            <a:cxnLst/>
            <a:rect l="l" t="t" r="r" b="b"/>
            <a:pathLst>
              <a:path w="228995" h="239645">
                <a:moveTo>
                  <a:pt x="114498" y="0"/>
                </a:moveTo>
                <a:lnTo>
                  <a:pt x="228995" y="50591"/>
                </a:lnTo>
                <a:lnTo>
                  <a:pt x="210356" y="173077"/>
                </a:lnTo>
                <a:lnTo>
                  <a:pt x="114498" y="239645"/>
                </a:lnTo>
                <a:lnTo>
                  <a:pt x="18639" y="173077"/>
                </a:lnTo>
                <a:lnTo>
                  <a:pt x="0" y="50591"/>
                </a:lnTo>
                <a:close/>
              </a:path>
            </a:pathLst>
          </a:cu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ell:tkname"/>
          <p:cNvSpPr txBox="1"/>
          <p:nvPr/>
        </p:nvSpPr>
        <p:spPr>
          <a:xfrm>
            <a:off x="1417320" y="4017263"/>
            <a:ext cx="5278450" cy="377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The exposure checklist</a:t>
            </a:r>
          </a:p>
        </p:txBody>
      </p:sp>
      <p:sp>
        <p:nvSpPr>
          <p:cNvPr id="34" name="cell:tksub"/>
          <p:cNvSpPr txBox="1"/>
          <p:nvPr/>
        </p:nvSpPr>
        <p:spPr>
          <a:xfrm>
            <a:off x="1417320" y="4322063"/>
            <a:ext cx="5278450" cy="332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Change work first, report the same day, check your rules.</a:t>
            </a:r>
          </a:p>
        </p:txBody>
      </p:sp>
      <p:sp>
        <p:nvSpPr>
          <p:cNvPr id="35" name="seclabel"/>
          <p:cNvSpPr txBox="1"/>
          <p:nvPr/>
        </p:nvSpPr>
        <p:spPr>
          <a:xfrm>
            <a:off x="8082076" y="1719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LINKS THAT WORK</a:t>
            </a:r>
          </a:p>
        </p:txBody>
      </p:sp>
      <p:sp>
        <p:nvSpPr>
          <p:cNvPr id="36" name="nav:link">
            <a:hlinkClick r:id="rId2"/>
          </p:cNvPr>
          <p:cNvSpPr/>
          <p:nvPr/>
        </p:nvSpPr>
        <p:spPr>
          <a:xfrm>
            <a:off x="8082076" y="2121408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vis:icon"/>
          <p:cNvSpPr/>
          <p:nvPr/>
        </p:nvSpPr>
        <p:spPr>
          <a:xfrm>
            <a:off x="8339937" y="2300630"/>
            <a:ext cx="164592" cy="164592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38" name="vis:icon"/>
          <p:cNvCxnSpPr/>
          <p:nvPr/>
        </p:nvCxnSpPr>
        <p:spPr>
          <a:xfrm>
            <a:off x="8482584" y="2443276"/>
            <a:ext cx="65836" cy="65837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ell:linklabel"/>
          <p:cNvSpPr txBox="1"/>
          <p:nvPr/>
        </p:nvSpPr>
        <p:spPr>
          <a:xfrm>
            <a:off x="8703868" y="2203703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Check if your email has leaked</a:t>
            </a:r>
          </a:p>
        </p:txBody>
      </p:sp>
      <p:sp>
        <p:nvSpPr>
          <p:cNvPr id="40" name="cell:linkurl"/>
          <p:cNvSpPr txBox="1"/>
          <p:nvPr/>
        </p:nvSpPr>
        <p:spPr>
          <a:xfrm>
            <a:off x="8703868" y="2423160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"/>
              </a:rPr>
              <a:t>haveibeenpwned.com</a:t>
            </a:r>
          </a:p>
        </p:txBody>
      </p:sp>
      <p:sp>
        <p:nvSpPr>
          <p:cNvPr id="41" name="nav:link">
            <a:hlinkClick r:id="rId3"/>
          </p:cNvPr>
          <p:cNvSpPr/>
          <p:nvPr/>
        </p:nvSpPr>
        <p:spPr>
          <a:xfrm>
            <a:off x="8082076" y="2798063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2" name="vis:icon"/>
          <p:cNvSpPr/>
          <p:nvPr/>
        </p:nvSpPr>
        <p:spPr>
          <a:xfrm>
            <a:off x="8339937" y="2977286"/>
            <a:ext cx="164592" cy="164592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3" name="vis:icon"/>
          <p:cNvCxnSpPr/>
          <p:nvPr/>
        </p:nvCxnSpPr>
        <p:spPr>
          <a:xfrm>
            <a:off x="8482584" y="3119932"/>
            <a:ext cx="65836" cy="65837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ell:linklabel"/>
          <p:cNvSpPr txBox="1"/>
          <p:nvPr/>
        </p:nvSpPr>
        <p:spPr>
          <a:xfrm>
            <a:off x="8703868" y="2880359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India's data protection framework</a:t>
            </a:r>
          </a:p>
        </p:txBody>
      </p:sp>
      <p:sp>
        <p:nvSpPr>
          <p:cNvPr id="45" name="cell:linkurl"/>
          <p:cNvSpPr txBox="1"/>
          <p:nvPr/>
        </p:nvSpPr>
        <p:spPr>
          <a:xfrm>
            <a:off x="8703868" y="3099815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"/>
              </a:rPr>
              <a:t>www.meity.gov.in/data-protection-fra…</a:t>
            </a:r>
          </a:p>
        </p:txBody>
      </p:sp>
      <p:sp>
        <p:nvSpPr>
          <p:cNvPr id="46" name="nav:link">
            <a:hlinkClick r:id="rId4"/>
          </p:cNvPr>
          <p:cNvSpPr/>
          <p:nvPr/>
        </p:nvSpPr>
        <p:spPr>
          <a:xfrm>
            <a:off x="8082076" y="3474720"/>
            <a:ext cx="3606698" cy="566928"/>
          </a:xfrm>
          <a:prstGeom prst="roundRect">
            <a:avLst>
              <a:gd name="adj" fmla="val 9677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vis:icon"/>
          <p:cNvSpPr/>
          <p:nvPr/>
        </p:nvSpPr>
        <p:spPr>
          <a:xfrm>
            <a:off x="8339937" y="3653942"/>
            <a:ext cx="164592" cy="164592"/>
          </a:xfrm>
          <a:prstGeom prst="ellipse">
            <a:avLst/>
          </a:prstGeom>
          <a:noFill/>
          <a:ln w="1905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48" name="vis:icon"/>
          <p:cNvCxnSpPr/>
          <p:nvPr/>
        </p:nvCxnSpPr>
        <p:spPr>
          <a:xfrm>
            <a:off x="8482584" y="3796588"/>
            <a:ext cx="65836" cy="65837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ell:linklabel"/>
          <p:cNvSpPr txBox="1"/>
          <p:nvPr/>
        </p:nvSpPr>
        <p:spPr>
          <a:xfrm>
            <a:off x="8703868" y="3557015"/>
            <a:ext cx="274716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01826"/>
                </a:solidFill>
                <a:latin typeface="Segoe UI Semibold"/>
              </a:rPr>
              <a:t>UAE data protection laws</a:t>
            </a:r>
          </a:p>
        </p:txBody>
      </p:sp>
      <p:sp>
        <p:nvSpPr>
          <p:cNvPr id="50" name="cell:linkurl"/>
          <p:cNvSpPr txBox="1"/>
          <p:nvPr/>
        </p:nvSpPr>
        <p:spPr>
          <a:xfrm>
            <a:off x="8703868" y="3776472"/>
            <a:ext cx="274716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"/>
              </a:rPr>
              <a:t>u.ae/en/about-the-uae/digital-uae/dat…</a:t>
            </a:r>
          </a:p>
        </p:txBody>
      </p:sp>
      <p:sp>
        <p:nvSpPr>
          <p:cNvPr id="51" name="vis:next"/>
          <p:cNvSpPr/>
          <p:nvPr/>
        </p:nvSpPr>
        <p:spPr>
          <a:xfrm>
            <a:off x="8082076" y="4297680"/>
            <a:ext cx="3606698" cy="1719072"/>
          </a:xfrm>
          <a:prstGeom prst="roundRect">
            <a:avLst>
              <a:gd name="adj" fmla="val 4255"/>
            </a:avLst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2" name="seclabel"/>
          <p:cNvSpPr txBox="1"/>
          <p:nvPr/>
        </p:nvSpPr>
        <p:spPr>
          <a:xfrm>
            <a:off x="8338108" y="4480560"/>
            <a:ext cx="309463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B67D84"/>
                </a:solidFill>
                <a:latin typeface="Segoe UI Semibold"/>
              </a:rPr>
              <a:t>DO THIS NEXT</a:t>
            </a:r>
          </a:p>
        </p:txBody>
      </p:sp>
      <p:sp>
        <p:nvSpPr>
          <p:cNvPr id="53" name="cell:next"/>
          <p:cNvSpPr txBox="1"/>
          <p:nvPr/>
        </p:nvSpPr>
        <p:spPr>
          <a:xfrm>
            <a:off x="8338108" y="4809744"/>
            <a:ext cx="3094634" cy="9875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FFFFFF"/>
                </a:solidFill>
                <a:latin typeface="Segoe UI"/>
              </a:rPr>
              <a:t>Next module: SEC-02, Phishing &amp; Social Engineering. How people get talked into handing over the password in the first place.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seclabel"/>
          <p:cNvSpPr txBox="1"/>
          <p:nvPr/>
        </p:nvSpPr>
        <p:spPr>
          <a:xfrm>
            <a:off x="502920" y="365760"/>
            <a:ext cx="739627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40">
                <a:solidFill>
                  <a:srgbClr val="7A1220"/>
                </a:solidFill>
                <a:latin typeface="Segoe UI Semibold"/>
              </a:rPr>
              <a:t>GLOSSARY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2920" y="658368"/>
            <a:ext cx="9291066" cy="7498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ts val="442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101826"/>
                </a:solidFill>
                <a:latin typeface="Segoe UI Semibold"/>
              </a:rPr>
              <a:t>Words people use around AI</a:t>
            </a:r>
          </a:p>
        </p:txBody>
      </p:sp>
      <p:cxnSp>
        <p:nvCxnSpPr>
          <p:cNvPr id="4" name="vis:rule"/>
          <p:cNvCxnSpPr/>
          <p:nvPr/>
        </p:nvCxnSpPr>
        <p:spPr>
          <a:xfrm>
            <a:off x="502920" y="1499616"/>
            <a:ext cx="11185855" cy="0"/>
          </a:xfrm>
          <a:prstGeom prst="line">
            <a:avLst/>
          </a:prstGeom>
          <a:ln w="12700">
            <a:solidFill>
              <a:srgbClr val="C9D1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er"/>
          <p:cNvSpPr txBox="1"/>
          <p:nvPr/>
        </p:nvSpPr>
        <p:spPr>
          <a:xfrm>
            <a:off x="502920" y="6291072"/>
            <a:ext cx="644888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SEC-01  ·  Password Security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82076" y="6291072"/>
            <a:ext cx="360669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779"/>
                </a:solidFill>
                <a:latin typeface="Segoe UI"/>
              </a:rPr>
              <a:t>Inducto Learning Library</a:t>
            </a:r>
          </a:p>
        </p:txBody>
      </p:sp>
      <p:sp>
        <p:nvSpPr>
          <p:cNvPr id="7" name="nav:menu">
            <a:hlinkClick action="ppaction://hlinksldjump" r:id="rId2"/>
          </p:cNvPr>
          <p:cNvSpPr/>
          <p:nvPr/>
        </p:nvSpPr>
        <p:spPr>
          <a:xfrm>
            <a:off x="10682935" y="347472"/>
            <a:ext cx="1005840" cy="329184"/>
          </a:xfrm>
          <a:prstGeom prst="roundRect">
            <a:avLst>
              <a:gd name="adj" fmla="val 13888"/>
            </a:avLst>
          </a:prstGeom>
          <a:noFill/>
          <a:ln w="12700">
            <a:solidFill>
              <a:srgbClr val="7A1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8" name="vis:icon"/>
          <p:cNvSpPr/>
          <p:nvPr/>
        </p:nvSpPr>
        <p:spPr>
          <a:xfrm>
            <a:off x="10839160" y="461909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9" name="vis:icon"/>
          <p:cNvCxnSpPr/>
          <p:nvPr/>
        </p:nvCxnSpPr>
        <p:spPr>
          <a:xfrm>
            <a:off x="10874593" y="47183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is:icon"/>
          <p:cNvSpPr/>
          <p:nvPr/>
        </p:nvSpPr>
        <p:spPr>
          <a:xfrm>
            <a:off x="10839160" y="50442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1" name="vis:icon"/>
          <p:cNvCxnSpPr/>
          <p:nvPr/>
        </p:nvCxnSpPr>
        <p:spPr>
          <a:xfrm>
            <a:off x="10874593" y="514350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:icon"/>
          <p:cNvSpPr/>
          <p:nvPr/>
        </p:nvSpPr>
        <p:spPr>
          <a:xfrm>
            <a:off x="10839160" y="546948"/>
            <a:ext cx="19842" cy="19842"/>
          </a:xfrm>
          <a:prstGeom prst="ellipse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cxnSp>
        <p:nvCxnSpPr>
          <p:cNvPr id="13" name="vis:icon"/>
          <p:cNvCxnSpPr/>
          <p:nvPr/>
        </p:nvCxnSpPr>
        <p:spPr>
          <a:xfrm>
            <a:off x="10874593" y="556869"/>
            <a:ext cx="87874" cy="0"/>
          </a:xfrm>
          <a:prstGeom prst="line">
            <a:avLst/>
          </a:prstGeom>
          <a:ln w="19050">
            <a:solidFill>
              <a:srgbClr val="7A12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nav:menutext"/>
          <p:cNvSpPr txBox="1"/>
          <p:nvPr/>
        </p:nvSpPr>
        <p:spPr>
          <a:xfrm>
            <a:off x="11066983" y="425196"/>
            <a:ext cx="493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A1220"/>
                </a:solidFill>
                <a:latin typeface="Segoe UI Semibold"/>
              </a:rPr>
              <a:t>Menu</a:t>
            </a:r>
          </a:p>
        </p:txBody>
      </p:sp>
      <p:sp>
        <p:nvSpPr>
          <p:cNvPr id="15" name="vis:gloss"/>
          <p:cNvSpPr/>
          <p:nvPr/>
        </p:nvSpPr>
        <p:spPr>
          <a:xfrm>
            <a:off x="502920" y="1719072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vis:glossbar"/>
          <p:cNvSpPr/>
          <p:nvPr/>
        </p:nvSpPr>
        <p:spPr>
          <a:xfrm>
            <a:off x="502920" y="1719072"/>
            <a:ext cx="54864" cy="10789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cell:glossterm"/>
          <p:cNvSpPr txBox="1"/>
          <p:nvPr/>
        </p:nvSpPr>
        <p:spPr>
          <a:xfrm>
            <a:off x="740664" y="18288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Credential stuffing</a:t>
            </a:r>
          </a:p>
        </p:txBody>
      </p:sp>
      <p:sp>
        <p:nvSpPr>
          <p:cNvPr id="18" name="cell:glossdef"/>
          <p:cNvSpPr txBox="1"/>
          <p:nvPr/>
        </p:nvSpPr>
        <p:spPr>
          <a:xfrm>
            <a:off x="740664" y="2139696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Trying leaked email and password pairs automatically against many services at once.</a:t>
            </a:r>
          </a:p>
        </p:txBody>
      </p:sp>
      <p:sp>
        <p:nvSpPr>
          <p:cNvPr id="19" name="vis:gloss"/>
          <p:cNvSpPr/>
          <p:nvPr/>
        </p:nvSpPr>
        <p:spPr>
          <a:xfrm>
            <a:off x="6178143" y="1719072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vis:glossbar"/>
          <p:cNvSpPr/>
          <p:nvPr/>
        </p:nvSpPr>
        <p:spPr>
          <a:xfrm>
            <a:off x="6178143" y="1719072"/>
            <a:ext cx="54864" cy="10789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cell:glossterm"/>
          <p:cNvSpPr txBox="1"/>
          <p:nvPr/>
        </p:nvSpPr>
        <p:spPr>
          <a:xfrm>
            <a:off x="6415887" y="1828800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Breach</a:t>
            </a:r>
          </a:p>
        </p:txBody>
      </p:sp>
      <p:sp>
        <p:nvSpPr>
          <p:cNvPr id="22" name="cell:glossdef"/>
          <p:cNvSpPr txBox="1"/>
          <p:nvPr/>
        </p:nvSpPr>
        <p:spPr>
          <a:xfrm>
            <a:off x="6415887" y="2139696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site losing its user list, usually including email addresses and passwords.</a:t>
            </a:r>
          </a:p>
        </p:txBody>
      </p:sp>
      <p:sp>
        <p:nvSpPr>
          <p:cNvPr id="23" name="vis:gloss"/>
          <p:cNvSpPr/>
          <p:nvPr/>
        </p:nvSpPr>
        <p:spPr>
          <a:xfrm>
            <a:off x="502920" y="2962656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4" name="vis:glossbar"/>
          <p:cNvSpPr/>
          <p:nvPr/>
        </p:nvSpPr>
        <p:spPr>
          <a:xfrm>
            <a:off x="502920" y="2962656"/>
            <a:ext cx="54864" cy="10789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cell:glossterm"/>
          <p:cNvSpPr txBox="1"/>
          <p:nvPr/>
        </p:nvSpPr>
        <p:spPr>
          <a:xfrm>
            <a:off x="740664" y="3072384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Passphrase</a:t>
            </a:r>
          </a:p>
        </p:txBody>
      </p:sp>
      <p:sp>
        <p:nvSpPr>
          <p:cNvPr id="26" name="cell:glossdef"/>
          <p:cNvSpPr txBox="1"/>
          <p:nvPr/>
        </p:nvSpPr>
        <p:spPr>
          <a:xfrm>
            <a:off x="740664" y="3383280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password made of several unrelated words. Long, memorable and hard to break.</a:t>
            </a:r>
          </a:p>
        </p:txBody>
      </p:sp>
      <p:sp>
        <p:nvSpPr>
          <p:cNvPr id="27" name="vis:gloss"/>
          <p:cNvSpPr/>
          <p:nvPr/>
        </p:nvSpPr>
        <p:spPr>
          <a:xfrm>
            <a:off x="6178143" y="2962656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8" name="vis:glossbar"/>
          <p:cNvSpPr/>
          <p:nvPr/>
        </p:nvSpPr>
        <p:spPr>
          <a:xfrm>
            <a:off x="6178143" y="2962656"/>
            <a:ext cx="54864" cy="10789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9" name="cell:glossterm"/>
          <p:cNvSpPr txBox="1"/>
          <p:nvPr/>
        </p:nvSpPr>
        <p:spPr>
          <a:xfrm>
            <a:off x="6415887" y="3072384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Password manager</a:t>
            </a:r>
          </a:p>
        </p:txBody>
      </p:sp>
      <p:sp>
        <p:nvSpPr>
          <p:cNvPr id="30" name="cell:glossdef"/>
          <p:cNvSpPr txBox="1"/>
          <p:nvPr/>
        </p:nvSpPr>
        <p:spPr>
          <a:xfrm>
            <a:off x="6415887" y="3383280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Software that stores a unique password for every account, behind one phrase you learn.</a:t>
            </a:r>
          </a:p>
        </p:txBody>
      </p:sp>
      <p:sp>
        <p:nvSpPr>
          <p:cNvPr id="31" name="vis:gloss"/>
          <p:cNvSpPr/>
          <p:nvPr/>
        </p:nvSpPr>
        <p:spPr>
          <a:xfrm>
            <a:off x="502920" y="4206240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vis:glossbar"/>
          <p:cNvSpPr/>
          <p:nvPr/>
        </p:nvSpPr>
        <p:spPr>
          <a:xfrm>
            <a:off x="502920" y="4206240"/>
            <a:ext cx="54864" cy="10789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3" name="cell:glossterm"/>
          <p:cNvSpPr txBox="1"/>
          <p:nvPr/>
        </p:nvSpPr>
        <p:spPr>
          <a:xfrm>
            <a:off x="740664" y="4315968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Shared account</a:t>
            </a:r>
          </a:p>
        </p:txBody>
      </p:sp>
      <p:sp>
        <p:nvSpPr>
          <p:cNvPr id="34" name="cell:glossdef"/>
          <p:cNvSpPr txBox="1"/>
          <p:nvPr/>
        </p:nvSpPr>
        <p:spPr>
          <a:xfrm>
            <a:off x="740664" y="4626864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One login used by several people. It destroys any record of who did what.</a:t>
            </a:r>
          </a:p>
        </p:txBody>
      </p:sp>
      <p:sp>
        <p:nvSpPr>
          <p:cNvPr id="35" name="vis:gloss"/>
          <p:cNvSpPr/>
          <p:nvPr/>
        </p:nvSpPr>
        <p:spPr>
          <a:xfrm>
            <a:off x="6178143" y="4206240"/>
            <a:ext cx="5510631" cy="1078992"/>
          </a:xfrm>
          <a:prstGeom prst="roundRect">
            <a:avLst>
              <a:gd name="adj" fmla="val 67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6" name="vis:glossbar"/>
          <p:cNvSpPr/>
          <p:nvPr/>
        </p:nvSpPr>
        <p:spPr>
          <a:xfrm>
            <a:off x="6178143" y="4206240"/>
            <a:ext cx="54864" cy="1078992"/>
          </a:xfrm>
          <a:prstGeom prst="rect">
            <a:avLst/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7" name="cell:glossterm"/>
          <p:cNvSpPr txBox="1"/>
          <p:nvPr/>
        </p:nvSpPr>
        <p:spPr>
          <a:xfrm>
            <a:off x="6415887" y="4315968"/>
            <a:ext cx="50351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01826"/>
                </a:solidFill>
                <a:latin typeface="Segoe UI Semibold"/>
              </a:rPr>
              <a:t>Multi-factor</a:t>
            </a:r>
          </a:p>
        </p:txBody>
      </p:sp>
      <p:sp>
        <p:nvSpPr>
          <p:cNvPr id="38" name="cell:glossdef"/>
          <p:cNvSpPr txBox="1"/>
          <p:nvPr/>
        </p:nvSpPr>
        <p:spPr>
          <a:xfrm>
            <a:off x="6415887" y="4626864"/>
            <a:ext cx="503514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B6779"/>
                </a:solidFill>
                <a:latin typeface="Segoe UI"/>
              </a:rPr>
              <a:t>A second proof of identity beyond the password. Covered in SEC-03.</a:t>
            </a:r>
          </a:p>
        </p:txBody>
      </p:sp>
      <p:sp>
        <p:nvSpPr>
          <p:cNvPr id="39" name="nav:glossback">
            <a:hlinkClick action="ppaction://hlinksldjump" r:id="rId2"/>
          </p:cNvPr>
          <p:cNvSpPr/>
          <p:nvPr/>
        </p:nvSpPr>
        <p:spPr>
          <a:xfrm>
            <a:off x="502920" y="5504688"/>
            <a:ext cx="2651760" cy="512064"/>
          </a:xfrm>
          <a:prstGeom prst="roundRect">
            <a:avLst>
              <a:gd name="adj" fmla="val 10714"/>
            </a:avLst>
          </a:prstGeom>
          <a:solidFill>
            <a:srgbClr val="7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0" name="nav:glossbacktext"/>
          <p:cNvSpPr txBox="1"/>
          <p:nvPr/>
        </p:nvSpPr>
        <p:spPr>
          <a:xfrm>
            <a:off x="758952" y="5650992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Segoe UI Semibold"/>
              </a:rPr>
              <a:t>Back to the menu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