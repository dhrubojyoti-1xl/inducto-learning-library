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8.xml"/><Relationship Id="rId8" Type="http://schemas.openxmlformats.org/officeDocument/2006/relationships/slide" Target="slide22.xml"/><Relationship Id="rId9" Type="http://schemas.openxmlformats.org/officeDocument/2006/relationships/slide" Target="slide23.xml"/><Relationship Id="rId10" Type="http://schemas.openxmlformats.org/officeDocument/2006/relationships/slide" Target="slide48.xml"/><Relationship Id="rId11"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19.xml"/><Relationship Id="rId4" Type="http://schemas.openxmlformats.org/officeDocument/2006/relationships/slide" Target="slide20.xml"/><Relationship Id="rId5" Type="http://schemas.openxmlformats.org/officeDocument/2006/relationships/slide" Target="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8.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YJInlE99vSs" TargetMode="Externa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6" Type="http://schemas.openxmlformats.org/officeDocument/2006/relationships/slide" Target="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9.xml"/><Relationship Id="rId4" Type="http://schemas.openxmlformats.org/officeDocument/2006/relationships/slide" Target="slide30.xml"/><Relationship Id="rId5" Type="http://schemas.openxmlformats.org/officeDocument/2006/relationships/slide" Target="slide31.xml"/><Relationship Id="rId6" Type="http://schemas.openxmlformats.org/officeDocument/2006/relationships/slide" Target="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 Target="slide36.xml"/><Relationship Id="rId6" Type="http://schemas.openxmlformats.org/officeDocument/2006/relationships/slide" Target="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3.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9.xml"/><Relationship Id="rId4" Type="http://schemas.openxmlformats.org/officeDocument/2006/relationships/slide" Target="slide40.xml"/><Relationship Id="rId5" Type="http://schemas.openxmlformats.org/officeDocument/2006/relationships/slide" Target="slide41.xml"/><Relationship Id="rId6" Type="http://schemas.openxmlformats.org/officeDocument/2006/relationships/slide" Target="slide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8.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4.xml"/><Relationship Id="rId4" Type="http://schemas.openxmlformats.org/officeDocument/2006/relationships/slide" Target="slide45.xml"/><Relationship Id="rId5" Type="http://schemas.openxmlformats.org/officeDocument/2006/relationships/slide" Target="slide46.xml"/><Relationship Id="rId6" Type="http://schemas.openxmlformats.org/officeDocument/2006/relationships/slide" Target="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3.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eity.gov.in/data-protection-framework" TargetMode="External"/><Relationship Id="rId3" Type="http://schemas.openxmlformats.org/officeDocument/2006/relationships/hyperlink" Target="https://u.ae/en/about-the-uae/digital-uae/data/data-protection-laws" TargetMode="External"/><Relationship Id="rId4" Type="http://schemas.openxmlformats.org/officeDocument/2006/relationships/hyperlink" Target="https://haveibeenpwned.com" TargetMode="External"/><Relationship Id="rId5"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data-protection.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20320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SECURITY &amp; DATA PRIVACY</a:t>
            </a:r>
          </a:p>
        </p:txBody>
      </p:sp>
      <p:sp>
        <p:nvSpPr>
          <p:cNvPr id="8" name="title:cover"/>
          <p:cNvSpPr txBox="1"/>
          <p:nvPr/>
        </p:nvSpPr>
        <p:spPr>
          <a:xfrm>
            <a:off x="841248" y="66040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Data Protection Basics</a:t>
            </a:r>
          </a:p>
        </p:txBody>
      </p:sp>
      <p:cxnSp>
        <p:nvCxnSpPr>
          <p:cNvPr id="9" name="vis:rule"/>
          <p:cNvCxnSpPr/>
          <p:nvPr/>
        </p:nvCxnSpPr>
        <p:spPr>
          <a:xfrm>
            <a:off x="841248" y="244246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2716784"/>
            <a:ext cx="4187952" cy="150774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What counts as personal data, what the law expects, and what that means for your inbox on an ordinary Tuesday.</a:t>
            </a:r>
          </a:p>
        </p:txBody>
      </p:sp>
      <p:sp>
        <p:nvSpPr>
          <p:cNvPr id="11" name="vis:chip"/>
          <p:cNvSpPr/>
          <p:nvPr/>
        </p:nvSpPr>
        <p:spPr>
          <a:xfrm>
            <a:off x="841248" y="4626864"/>
            <a:ext cx="1061339" cy="310896"/>
          </a:xfrm>
          <a:prstGeom prst="roundRect">
            <a:avLst>
              <a:gd name="adj" fmla="val 14705"/>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4"/>
            <a:ext cx="75044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SEC-04</a:t>
            </a:r>
          </a:p>
        </p:txBody>
      </p:sp>
      <p:sp>
        <p:nvSpPr>
          <p:cNvPr id="13" name="vis:chip"/>
          <p:cNvSpPr/>
          <p:nvPr/>
        </p:nvSpPr>
        <p:spPr>
          <a:xfrm>
            <a:off x="2048891"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204339" y="4672584"/>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5" name="vis:chip"/>
          <p:cNvSpPr/>
          <p:nvPr/>
        </p:nvSpPr>
        <p:spPr>
          <a:xfrm>
            <a:off x="841248" y="5047488"/>
            <a:ext cx="2788677"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8"/>
            <a:ext cx="2477781"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MANDATORY FOR ALL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SEC-04  ·  Data Protection Basics</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Manoj forwards a list to his own email</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69028"/>
            <a:ext cx="318006" cy="216822"/>
          </a:xfrm>
          <a:prstGeom prst="roundRect">
            <a:avLst>
              <a:gd name="adj" fmla="val 21086"/>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02284" y="2283483"/>
            <a:ext cx="159004" cy="115639"/>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1161288" y="2283483"/>
            <a:ext cx="159003" cy="115639"/>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1"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Manoj handles sales admin in Kochi. He wants to finish a report at home, so he forwards the customer contact list to his personal email. Nothing bad happens. It is still a reportable transfer of personal data out of the company.</a:t>
            </a:r>
          </a:p>
        </p:txBody>
      </p:sp>
      <p:sp>
        <p:nvSpPr>
          <p:cNvPr id="22"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A breach on paper, with no attacker and no bad intention.</a:t>
            </a:r>
          </a:p>
        </p:txBody>
      </p:sp>
      <p:sp>
        <p:nvSpPr>
          <p:cNvPr id="28"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AFTER THIS MODULE</a:t>
            </a:r>
          </a:p>
        </p:txBody>
      </p:sp>
      <p:cxnSp>
        <p:nvCxnSpPr>
          <p:cNvPr id="30"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Four rules that cover almost every decision you will face.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1004691" y="1948922"/>
            <a:ext cx="112024" cy="112024"/>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42782" y="2105168"/>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Say what counts as personal data, including the surprising cases</a:t>
            </a:r>
          </a:p>
        </p:txBody>
      </p:sp>
      <p:sp>
        <p:nvSpPr>
          <p:cNvPr id="20"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933938" y="2862723"/>
            <a:ext cx="41272" cy="412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1007639" y="2883359"/>
            <a:ext cx="182778"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4" name="vis:icon"/>
          <p:cNvSpPr/>
          <p:nvPr/>
        </p:nvSpPr>
        <p:spPr>
          <a:xfrm>
            <a:off x="933938" y="2951163"/>
            <a:ext cx="41272" cy="412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1007639" y="2971800"/>
            <a:ext cx="182778"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33938" y="3039604"/>
            <a:ext cx="41272" cy="412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007639" y="3060240"/>
            <a:ext cx="182778"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8"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Apply four rules that settle most day-to-day decisions</a:t>
            </a:r>
          </a:p>
        </p:txBody>
      </p:sp>
      <p:sp>
        <p:nvSpPr>
          <p:cNvPr id="29"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930990" y="3738198"/>
            <a:ext cx="259426" cy="259426"/>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969315" y="3776523"/>
            <a:ext cx="182777" cy="18277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3"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Recognise the everyday habits that are technically breaches</a:t>
            </a:r>
          </a:p>
        </p:txBody>
      </p:sp>
      <p:sp>
        <p:nvSpPr>
          <p:cNvPr id="34"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925094" y="4634310"/>
            <a:ext cx="271219" cy="247635"/>
          </a:xfrm>
          <a:custGeom>
            <a:avLst/>
            <a:gdLst/>
            <a:ahLst/>
            <a:cxnLst/>
            <a:rect l="l" t="t" r="r" b="b"/>
            <a:pathLst>
              <a:path w="271219" h="247635">
                <a:moveTo>
                  <a:pt x="135610" y="0"/>
                </a:moveTo>
                <a:lnTo>
                  <a:pt x="271219" y="247635"/>
                </a:lnTo>
                <a:lnTo>
                  <a:pt x="0" y="247635"/>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vis:icon"/>
          <p:cNvCxnSpPr/>
          <p:nvPr/>
        </p:nvCxnSpPr>
        <p:spPr>
          <a:xfrm>
            <a:off x="1060704" y="4728647"/>
            <a:ext cx="0" cy="7370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8" name="vis:icon"/>
          <p:cNvSpPr/>
          <p:nvPr/>
        </p:nvSpPr>
        <p:spPr>
          <a:xfrm>
            <a:off x="1045963" y="4828880"/>
            <a:ext cx="29480" cy="2948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Know what triggers a reporting obligation, and how fast</a:t>
            </a:r>
          </a:p>
        </p:txBody>
      </p:sp>
      <p:sp>
        <p:nvSpPr>
          <p:cNvPr id="40"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icon"/>
          <p:cNvSpPr/>
          <p:nvPr/>
        </p:nvSpPr>
        <p:spPr>
          <a:xfrm>
            <a:off x="933938" y="5527474"/>
            <a:ext cx="253531" cy="265323"/>
          </a:xfrm>
          <a:custGeom>
            <a:avLst/>
            <a:gdLst/>
            <a:ahLst/>
            <a:cxnLst/>
            <a:rect l="l" t="t" r="r" b="b"/>
            <a:pathLst>
              <a:path w="253531" h="265323">
                <a:moveTo>
                  <a:pt x="126766" y="0"/>
                </a:moveTo>
                <a:lnTo>
                  <a:pt x="253531" y="56013"/>
                </a:lnTo>
                <a:lnTo>
                  <a:pt x="232894" y="191622"/>
                </a:lnTo>
                <a:lnTo>
                  <a:pt x="126766" y="265323"/>
                </a:lnTo>
                <a:lnTo>
                  <a:pt x="20637" y="191622"/>
                </a:lnTo>
                <a:lnTo>
                  <a:pt x="0" y="56013"/>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Handle a customer asking what data we hold on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What counts as personal data</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Wider than you think</a:t>
            </a:r>
          </a:p>
        </p:txBody>
      </p:sp>
      <p:cxnSp>
        <p:nvCxnSpPr>
          <p:cNvPr id="13" name="vis:menuarrow"/>
          <p:cNvCxnSpPr/>
          <p:nvPr/>
        </p:nvCxnSpPr>
        <p:spPr>
          <a:xfrm>
            <a:off x="11213287" y="1997049"/>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four rules</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Enough for most decisions</a:t>
            </a:r>
          </a:p>
        </p:txBody>
      </p:sp>
      <p:cxnSp>
        <p:nvCxnSpPr>
          <p:cNvPr id="19" name="vis:menuarrow"/>
          <p:cNvCxnSpPr/>
          <p:nvPr/>
        </p:nvCxnSpPr>
        <p:spPr>
          <a:xfrm>
            <a:off x="11213287" y="242498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Everyday breaches</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No attacker required</a:t>
            </a:r>
          </a:p>
        </p:txBody>
      </p:sp>
      <p:cxnSp>
        <p:nvCxnSpPr>
          <p:cNvPr id="25" name="vis:menuarrow"/>
          <p:cNvCxnSpPr/>
          <p:nvPr/>
        </p:nvCxnSpPr>
        <p:spPr>
          <a:xfrm>
            <a:off x="11213287" y="2852928"/>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When it goes wrong</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Reporting and the clock</a:t>
            </a:r>
          </a:p>
        </p:txBody>
      </p:sp>
      <p:cxnSp>
        <p:nvCxnSpPr>
          <p:cNvPr id="31" name="vis:menuarrow"/>
          <p:cNvCxnSpPr/>
          <p:nvPr/>
        </p:nvCxnSpPr>
        <p:spPr>
          <a:xfrm>
            <a:off x="11213287" y="3280867"/>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Audit your own inbox</a:t>
            </a:r>
          </a:p>
        </p:txBody>
      </p:sp>
      <p:cxnSp>
        <p:nvCxnSpPr>
          <p:cNvPr id="37" name="vis:menuarrow"/>
          <p:cNvCxnSpPr/>
          <p:nvPr/>
        </p:nvCxnSpPr>
        <p:spPr>
          <a:xfrm>
            <a:off x="11213287" y="3708806"/>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Friday evening decision</a:t>
            </a:r>
          </a:p>
        </p:txBody>
      </p:sp>
      <p:cxnSp>
        <p:nvCxnSpPr>
          <p:cNvPr id="43" name="vis:menuarrow"/>
          <p:cNvCxnSpPr/>
          <p:nvPr/>
        </p:nvCxnSpPr>
        <p:spPr>
          <a:xfrm>
            <a:off x="11213287" y="4136745"/>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3-minute regulator explainer</a:t>
            </a:r>
          </a:p>
        </p:txBody>
      </p:sp>
      <p:cxnSp>
        <p:nvCxnSpPr>
          <p:cNvPr id="49" name="vis:menuarrow"/>
          <p:cNvCxnSpPr/>
          <p:nvPr/>
        </p:nvCxnSpPr>
        <p:spPr>
          <a:xfrm>
            <a:off x="11213287" y="456468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7A122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COUNTS AS PERSONAL DATA</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Wider than most people think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If it points to one identifiable person, it is personal data. A name is not required.</a:t>
            </a:r>
          </a:p>
        </p:txBody>
      </p:sp>
      <p:sp>
        <p:nvSpPr>
          <p:cNvPr id="16" name="vis:panel"/>
          <p:cNvSpPr/>
          <p:nvPr/>
        </p:nvSpPr>
        <p:spPr>
          <a:xfrm>
            <a:off x="502920" y="2432304"/>
            <a:ext cx="5437479" cy="3108960"/>
          </a:xfrm>
          <a:prstGeom prst="roundRect">
            <a:avLst>
              <a:gd name="adj" fmla="val 294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anelspine"/>
          <p:cNvSpPr/>
          <p:nvPr/>
        </p:nvSpPr>
        <p:spPr>
          <a:xfrm>
            <a:off x="502920" y="2432304"/>
            <a:ext cx="68580" cy="310896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
          <p:cNvSpPr/>
          <p:nvPr/>
        </p:nvSpPr>
        <p:spPr>
          <a:xfrm>
            <a:off x="777240" y="2670048"/>
            <a:ext cx="2315950"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chiptext"/>
          <p:cNvSpPr txBox="1"/>
          <p:nvPr/>
        </p:nvSpPr>
        <p:spPr>
          <a:xfrm>
            <a:off x="932688" y="2697479"/>
            <a:ext cx="200505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OBVIOUSLY PERSONAL</a:t>
            </a:r>
          </a:p>
        </p:txBody>
      </p:sp>
      <p:sp>
        <p:nvSpPr>
          <p:cNvPr id="20" name="vis:paneltitle"/>
          <p:cNvSpPr txBox="1"/>
          <p:nvPr/>
        </p:nvSpPr>
        <p:spPr>
          <a:xfrm>
            <a:off x="777240" y="3090672"/>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Everyone gets these right</a:t>
            </a:r>
          </a:p>
        </p:txBody>
      </p:sp>
      <p:sp>
        <p:nvSpPr>
          <p:cNvPr id="21" name="vis:icon"/>
          <p:cNvSpPr/>
          <p:nvPr/>
        </p:nvSpPr>
        <p:spPr>
          <a:xfrm>
            <a:off x="843076" y="3784701"/>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4672" y="3881628"/>
            <a:ext cx="146304" cy="64008"/>
          </a:xfrm>
          <a:custGeom>
            <a:avLst/>
            <a:gdLst/>
            <a:ahLst/>
            <a:cxnLst/>
            <a:rect l="l" t="t" r="r" b="b"/>
            <a:pathLst>
              <a:path w="146304" h="64008">
                <a:moveTo>
                  <a:pt x="0" y="64008"/>
                </a:moveTo>
                <a:lnTo>
                  <a:pt x="10972" y="0"/>
                </a:lnTo>
                <a:lnTo>
                  <a:pt x="135331" y="0"/>
                </a:lnTo>
                <a:lnTo>
                  <a:pt x="146304" y="64008"/>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vis:panelitem"/>
          <p:cNvSpPr txBox="1"/>
          <p:nvPr/>
        </p:nvSpPr>
        <p:spPr>
          <a:xfrm>
            <a:off x="1078992" y="3730752"/>
            <a:ext cx="4587087" cy="3429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Name, address and phone number</a:t>
            </a:r>
          </a:p>
        </p:txBody>
      </p:sp>
      <p:sp>
        <p:nvSpPr>
          <p:cNvPr id="24" name="vis:icon"/>
          <p:cNvSpPr/>
          <p:nvPr/>
        </p:nvSpPr>
        <p:spPr>
          <a:xfrm>
            <a:off x="843076" y="4182465"/>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04672" y="4279392"/>
            <a:ext cx="146304" cy="64008"/>
          </a:xfrm>
          <a:custGeom>
            <a:avLst/>
            <a:gdLst/>
            <a:ahLst/>
            <a:cxnLst/>
            <a:rect l="l" t="t" r="r" b="b"/>
            <a:pathLst>
              <a:path w="146304" h="64008">
                <a:moveTo>
                  <a:pt x="0" y="64008"/>
                </a:moveTo>
                <a:lnTo>
                  <a:pt x="10972" y="0"/>
                </a:lnTo>
                <a:lnTo>
                  <a:pt x="135331" y="0"/>
                </a:lnTo>
                <a:lnTo>
                  <a:pt x="146304" y="64008"/>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vis:panelitem"/>
          <p:cNvSpPr txBox="1"/>
          <p:nvPr/>
        </p:nvSpPr>
        <p:spPr>
          <a:xfrm>
            <a:off x="1078992" y="4128516"/>
            <a:ext cx="4587087" cy="3429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Email address and date of birth</a:t>
            </a:r>
          </a:p>
        </p:txBody>
      </p:sp>
      <p:sp>
        <p:nvSpPr>
          <p:cNvPr id="27" name="vis:icon"/>
          <p:cNvSpPr/>
          <p:nvPr/>
        </p:nvSpPr>
        <p:spPr>
          <a:xfrm>
            <a:off x="843076" y="4580229"/>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icon"/>
          <p:cNvSpPr/>
          <p:nvPr/>
        </p:nvSpPr>
        <p:spPr>
          <a:xfrm>
            <a:off x="804672" y="4677156"/>
            <a:ext cx="146304" cy="64008"/>
          </a:xfrm>
          <a:custGeom>
            <a:avLst/>
            <a:gdLst/>
            <a:ahLst/>
            <a:cxnLst/>
            <a:rect l="l" t="t" r="r" b="b"/>
            <a:pathLst>
              <a:path w="146304" h="64008">
                <a:moveTo>
                  <a:pt x="0" y="64008"/>
                </a:moveTo>
                <a:lnTo>
                  <a:pt x="10972" y="0"/>
                </a:lnTo>
                <a:lnTo>
                  <a:pt x="135331" y="0"/>
                </a:lnTo>
                <a:lnTo>
                  <a:pt x="146304" y="64008"/>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vis:panelitem"/>
          <p:cNvSpPr txBox="1"/>
          <p:nvPr/>
        </p:nvSpPr>
        <p:spPr>
          <a:xfrm>
            <a:off x="1078992" y="4526280"/>
            <a:ext cx="4587087" cy="3429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Passport, Emirates ID or Aadhaar number</a:t>
            </a:r>
          </a:p>
        </p:txBody>
      </p:sp>
      <p:sp>
        <p:nvSpPr>
          <p:cNvPr id="30" name="vis:icon"/>
          <p:cNvSpPr/>
          <p:nvPr/>
        </p:nvSpPr>
        <p:spPr>
          <a:xfrm>
            <a:off x="843076" y="4977993"/>
            <a:ext cx="69494" cy="69494"/>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804672" y="5074920"/>
            <a:ext cx="146304" cy="64008"/>
          </a:xfrm>
          <a:custGeom>
            <a:avLst/>
            <a:gdLst/>
            <a:ahLst/>
            <a:cxnLst/>
            <a:rect l="l" t="t" r="r" b="b"/>
            <a:pathLst>
              <a:path w="146304" h="64008">
                <a:moveTo>
                  <a:pt x="0" y="64008"/>
                </a:moveTo>
                <a:lnTo>
                  <a:pt x="10972" y="0"/>
                </a:lnTo>
                <a:lnTo>
                  <a:pt x="135331" y="0"/>
                </a:lnTo>
                <a:lnTo>
                  <a:pt x="146304" y="64008"/>
                </a:lnTo>
              </a:path>
            </a:pathLst>
          </a:cu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vis:panelitem"/>
          <p:cNvSpPr txBox="1"/>
          <p:nvPr/>
        </p:nvSpPr>
        <p:spPr>
          <a:xfrm>
            <a:off x="1078992" y="4924044"/>
            <a:ext cx="4587087" cy="3429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Salary, bank details and appraisal notes</a:t>
            </a:r>
          </a:p>
        </p:txBody>
      </p:sp>
      <p:sp>
        <p:nvSpPr>
          <p:cNvPr id="33" name="vis:panel"/>
          <p:cNvSpPr/>
          <p:nvPr/>
        </p:nvSpPr>
        <p:spPr>
          <a:xfrm>
            <a:off x="6251295" y="2432304"/>
            <a:ext cx="5437479" cy="3108960"/>
          </a:xfrm>
          <a:prstGeom prst="roundRect">
            <a:avLst>
              <a:gd name="adj" fmla="val 294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panelspine"/>
          <p:cNvSpPr/>
          <p:nvPr/>
        </p:nvSpPr>
        <p:spPr>
          <a:xfrm>
            <a:off x="6251295" y="2432304"/>
            <a:ext cx="68580" cy="310896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chip"/>
          <p:cNvSpPr/>
          <p:nvPr/>
        </p:nvSpPr>
        <p:spPr>
          <a:xfrm>
            <a:off x="6525615" y="2670048"/>
            <a:ext cx="181444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iptext"/>
          <p:cNvSpPr txBox="1"/>
          <p:nvPr/>
        </p:nvSpPr>
        <p:spPr>
          <a:xfrm>
            <a:off x="6681063" y="2697479"/>
            <a:ext cx="150355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ALSO PERSONAL</a:t>
            </a:r>
          </a:p>
        </p:txBody>
      </p:sp>
      <p:sp>
        <p:nvSpPr>
          <p:cNvPr id="37" name="vis:paneltitle"/>
          <p:cNvSpPr txBox="1"/>
          <p:nvPr/>
        </p:nvSpPr>
        <p:spPr>
          <a:xfrm>
            <a:off x="6525615" y="3090672"/>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The ones people miss</a:t>
            </a:r>
          </a:p>
        </p:txBody>
      </p:sp>
      <p:cxnSp>
        <p:nvCxnSpPr>
          <p:cNvPr id="38" name="vis:icon"/>
          <p:cNvCxnSpPr/>
          <p:nvPr/>
        </p:nvCxnSpPr>
        <p:spPr>
          <a:xfrm>
            <a:off x="6567677" y="38048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H="1">
            <a:off x="6567677" y="3804818"/>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6827367" y="3730752"/>
            <a:ext cx="4587087" cy="3429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vehicle number plate on a gate pass</a:t>
            </a:r>
          </a:p>
        </p:txBody>
      </p:sp>
      <p:cxnSp>
        <p:nvCxnSpPr>
          <p:cNvPr id="41" name="vis:icon"/>
          <p:cNvCxnSpPr/>
          <p:nvPr/>
        </p:nvCxnSpPr>
        <p:spPr>
          <a:xfrm>
            <a:off x="6567677" y="4202582"/>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2" name="vis:icon"/>
          <p:cNvCxnSpPr/>
          <p:nvPr/>
        </p:nvCxnSpPr>
        <p:spPr>
          <a:xfrm flipH="1">
            <a:off x="6567677" y="4202582"/>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3" name="vis:panelitem"/>
          <p:cNvSpPr txBox="1"/>
          <p:nvPr/>
        </p:nvSpPr>
        <p:spPr>
          <a:xfrm>
            <a:off x="6827367" y="4128516"/>
            <a:ext cx="4587087" cy="3429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photo of a person, or CCTV footage</a:t>
            </a:r>
          </a:p>
        </p:txBody>
      </p:sp>
      <p:cxnSp>
        <p:nvCxnSpPr>
          <p:cNvPr id="44" name="vis:icon"/>
          <p:cNvCxnSpPr/>
          <p:nvPr/>
        </p:nvCxnSpPr>
        <p:spPr>
          <a:xfrm>
            <a:off x="6567677" y="460034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5" name="vis:icon"/>
          <p:cNvCxnSpPr/>
          <p:nvPr/>
        </p:nvCxnSpPr>
        <p:spPr>
          <a:xfrm flipH="1">
            <a:off x="6567677" y="4600346"/>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6" name="vis:panelitem"/>
          <p:cNvSpPr txBox="1"/>
          <p:nvPr/>
        </p:nvSpPr>
        <p:spPr>
          <a:xfrm>
            <a:off x="6827367" y="4526280"/>
            <a:ext cx="4587087" cy="3429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An employee number with no name attached</a:t>
            </a:r>
          </a:p>
        </p:txBody>
      </p:sp>
      <p:cxnSp>
        <p:nvCxnSpPr>
          <p:cNvPr id="47" name="vis:icon"/>
          <p:cNvCxnSpPr/>
          <p:nvPr/>
        </p:nvCxnSpPr>
        <p:spPr>
          <a:xfrm>
            <a:off x="6567677" y="499811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cxnSp>
        <p:nvCxnSpPr>
          <p:cNvPr id="48" name="vis:icon"/>
          <p:cNvCxnSpPr/>
          <p:nvPr/>
        </p:nvCxnSpPr>
        <p:spPr>
          <a:xfrm flipH="1">
            <a:off x="6567677" y="4998110"/>
            <a:ext cx="117044" cy="117043"/>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49" name="vis:panelitem"/>
          <p:cNvSpPr txBox="1"/>
          <p:nvPr/>
        </p:nvSpPr>
        <p:spPr>
          <a:xfrm>
            <a:off x="6827367" y="4924044"/>
            <a:ext cx="4587087" cy="3429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A delivery address on its own</a:t>
            </a:r>
          </a:p>
        </p:txBody>
      </p:sp>
      <p:sp>
        <p:nvSpPr>
          <p:cNvPr id="50"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51" name="vis:chip"/>
          <p:cNvSpPr/>
          <p:nvPr/>
        </p:nvSpPr>
        <p:spPr>
          <a:xfrm>
            <a:off x="2221991" y="5660136"/>
            <a:ext cx="2019841"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chiptext"/>
          <p:cNvSpPr txBox="1"/>
          <p:nvPr/>
        </p:nvSpPr>
        <p:spPr>
          <a:xfrm>
            <a:off x="2377439" y="5687568"/>
            <a:ext cx="170894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PERSONAL DATA  ?</a:t>
            </a:r>
          </a:p>
        </p:txBody>
      </p:sp>
      <p:sp>
        <p:nvSpPr>
          <p:cNvPr id="53" name="nav:gloss">
            <a:hlinkClick action="ppaction://hlinksldjump" r:id="rId3"/>
          </p:cNvPr>
          <p:cNvSpPr/>
          <p:nvPr/>
        </p:nvSpPr>
        <p:spPr>
          <a:xfrm>
            <a:off x="2221991" y="5660136"/>
            <a:ext cx="2019841"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WHAT COUNTS AS PERSONAL DATA</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Two laws, one habit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nest"/>
          <p:cNvSpPr/>
          <p:nvPr/>
        </p:nvSpPr>
        <p:spPr>
          <a:xfrm>
            <a:off x="502920" y="1984248"/>
            <a:ext cx="6264078" cy="3291840"/>
          </a:xfrm>
          <a:prstGeom prst="roundRect">
            <a:avLst>
              <a:gd name="adj" fmla="val 2777"/>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nestlabel"/>
          <p:cNvSpPr txBox="1"/>
          <p:nvPr/>
        </p:nvSpPr>
        <p:spPr>
          <a:xfrm>
            <a:off x="722376" y="2130552"/>
            <a:ext cx="5825166"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India — the DPDP Act</a:t>
            </a:r>
          </a:p>
        </p:txBody>
      </p:sp>
      <p:sp>
        <p:nvSpPr>
          <p:cNvPr id="17" name="vis:nestsub"/>
          <p:cNvSpPr txBox="1"/>
          <p:nvPr/>
        </p:nvSpPr>
        <p:spPr>
          <a:xfrm>
            <a:off x="722376" y="2441448"/>
            <a:ext cx="5825166"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Consent, purpose limits, and breach notification.</a:t>
            </a:r>
          </a:p>
        </p:txBody>
      </p:sp>
      <p:sp>
        <p:nvSpPr>
          <p:cNvPr id="18" name="vis:nest"/>
          <p:cNvSpPr/>
          <p:nvPr/>
        </p:nvSpPr>
        <p:spPr>
          <a:xfrm>
            <a:off x="832104" y="2843784"/>
            <a:ext cx="5605710" cy="2157984"/>
          </a:xfrm>
          <a:prstGeom prst="roundRect">
            <a:avLst>
              <a:gd name="adj" fmla="val 4237"/>
            </a:avLst>
          </a:prstGeom>
          <a:solidFill>
            <a:srgbClr val="FFFFFF"/>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vis:nestlabel"/>
          <p:cNvSpPr txBox="1"/>
          <p:nvPr/>
        </p:nvSpPr>
        <p:spPr>
          <a:xfrm>
            <a:off x="1051560" y="2990088"/>
            <a:ext cx="5166798"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UAE — federal data protection law</a:t>
            </a:r>
          </a:p>
        </p:txBody>
      </p:sp>
      <p:sp>
        <p:nvSpPr>
          <p:cNvPr id="20" name="vis:nestsub"/>
          <p:cNvSpPr txBox="1"/>
          <p:nvPr/>
        </p:nvSpPr>
        <p:spPr>
          <a:xfrm>
            <a:off x="1051560" y="3300984"/>
            <a:ext cx="5166798"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Similar principles, similar obligations on us.</a:t>
            </a:r>
          </a:p>
        </p:txBody>
      </p:sp>
      <p:sp>
        <p:nvSpPr>
          <p:cNvPr id="21" name="vis:nest"/>
          <p:cNvSpPr/>
          <p:nvPr/>
        </p:nvSpPr>
        <p:spPr>
          <a:xfrm>
            <a:off x="1161288" y="3703320"/>
            <a:ext cx="4947342" cy="1024128"/>
          </a:xfrm>
          <a:prstGeom prst="roundRect">
            <a:avLst>
              <a:gd name="adj" fmla="val 8928"/>
            </a:avLst>
          </a:prstGeom>
          <a:solidFill>
            <a:srgbClr val="F3F6FB"/>
          </a:solid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nestlabel"/>
          <p:cNvSpPr txBox="1"/>
          <p:nvPr/>
        </p:nvSpPr>
        <p:spPr>
          <a:xfrm>
            <a:off x="1380744" y="3849624"/>
            <a:ext cx="4508430"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7A1220"/>
                </a:solidFill>
                <a:latin typeface="Segoe UI Semibold"/>
              </a:rPr>
              <a:t>What it means at your desk</a:t>
            </a:r>
          </a:p>
        </p:txBody>
      </p:sp>
      <p:sp>
        <p:nvSpPr>
          <p:cNvPr id="23" name="vis:nestsub"/>
          <p:cNvSpPr txBox="1"/>
          <p:nvPr/>
        </p:nvSpPr>
        <p:spPr>
          <a:xfrm>
            <a:off x="1380744" y="4160520"/>
            <a:ext cx="4508430" cy="29260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Collect less, keep it inside, report fast.</a:t>
            </a:r>
          </a:p>
        </p:txBody>
      </p:sp>
      <p:sp>
        <p:nvSpPr>
          <p:cNvPr id="24" name="body:nestnote"/>
          <p:cNvSpPr txBox="1"/>
          <p:nvPr/>
        </p:nvSpPr>
        <p:spPr>
          <a:xfrm>
            <a:off x="7438150" y="2130552"/>
            <a:ext cx="4250624" cy="299923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5B6779"/>
                </a:solidFill>
                <a:latin typeface="Segoe UI"/>
              </a:rPr>
              <a:t>You do not need to know the law in detail. You need the four rules on the next slide, which is what both of them come down to in practice.</a:t>
            </a:r>
          </a:p>
        </p:txBody>
      </p:sp>
      <p:sp>
        <p:nvSpPr>
          <p:cNvPr id="25"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26" name="vis:chip"/>
          <p:cNvSpPr/>
          <p:nvPr/>
        </p:nvSpPr>
        <p:spPr>
          <a:xfrm>
            <a:off x="2221991" y="5660136"/>
            <a:ext cx="1489914"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2377439" y="5687568"/>
            <a:ext cx="117901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DPDP ACT  ?</a:t>
            </a:r>
          </a:p>
        </p:txBody>
      </p:sp>
      <p:sp>
        <p:nvSpPr>
          <p:cNvPr id="28" name="nav:gloss">
            <a:hlinkClick action="ppaction://hlinksldjump" r:id="rId3"/>
          </p:cNvPr>
          <p:cNvSpPr/>
          <p:nvPr/>
        </p:nvSpPr>
        <p:spPr>
          <a:xfrm>
            <a:off x="2221991" y="5660136"/>
            <a:ext cx="1489914"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FOUR RULES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rules, most decisions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COLLECT LESS — if you do not need a field, do not ask for it</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USE IT FOR THE STATED PURPOSE — not for a new idea later</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KEEP IT INSIDE — company systems only, never personal accounts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DELETE IT WHEN DONE — old copies are the ones that leak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FOUR RULES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Collect less is the strongest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256306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22521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COLLECTING EVERYTHING</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visitor form asking for address, ID number and vehicle details.</a:t>
            </a:r>
          </a:p>
          <a:p>
            <a:pPr algn="l">
              <a:lnSpc>
                <a:spcPts val="1690"/>
              </a:lnSpc>
              <a:spcBef>
                <a:spcPts val="0"/>
              </a:spcBef>
              <a:spcAft>
                <a:spcPts val="600"/>
              </a:spcAft>
            </a:pPr>
            <a:r>
              <a:rPr sz="1300" b="0">
                <a:solidFill>
                  <a:srgbClr val="2A3547"/>
                </a:solidFill>
                <a:latin typeface="Segoe UI"/>
              </a:rPr>
              <a:t>Kept in a folder for three years "in case".</a:t>
            </a:r>
          </a:p>
          <a:p>
            <a:pPr algn="l">
              <a:lnSpc>
                <a:spcPts val="1690"/>
              </a:lnSpc>
              <a:spcBef>
                <a:spcPts val="0"/>
              </a:spcBef>
              <a:spcAft>
                <a:spcPts val="600"/>
              </a:spcAft>
            </a:pPr>
            <a:r>
              <a:rPr sz="1300" b="0">
                <a:solidFill>
                  <a:srgbClr val="2A3547"/>
                </a:solidFill>
                <a:latin typeface="Segoe UI"/>
              </a:rPr>
              <a:t>Every one of those records is a liability with no purpose.</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2929310"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2618414"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COLLECTING WHAT IS NEEDED</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Name, company, who they are visiting, time in and out.</a:t>
            </a:r>
          </a:p>
          <a:p>
            <a:pPr algn="l">
              <a:lnSpc>
                <a:spcPts val="1690"/>
              </a:lnSpc>
              <a:spcBef>
                <a:spcPts val="0"/>
              </a:spcBef>
              <a:spcAft>
                <a:spcPts val="600"/>
              </a:spcAft>
            </a:pPr>
            <a:r>
              <a:rPr sz="1300" b="0">
                <a:solidFill>
                  <a:srgbClr val="2A3547"/>
                </a:solidFill>
                <a:latin typeface="Segoe UI"/>
              </a:rPr>
              <a:t>Kept for the period we actually need, then destroyed.</a:t>
            </a:r>
          </a:p>
          <a:p>
            <a:pPr algn="l">
              <a:lnSpc>
                <a:spcPts val="1690"/>
              </a:lnSpc>
              <a:spcBef>
                <a:spcPts val="0"/>
              </a:spcBef>
              <a:spcAft>
                <a:spcPts val="600"/>
              </a:spcAft>
            </a:pPr>
            <a:r>
              <a:rPr sz="1300" b="0">
                <a:solidFill>
                  <a:srgbClr val="2A3547"/>
                </a:solidFill>
                <a:latin typeface="Segoe UI"/>
              </a:rPr>
              <a:t>Nothing held that we could not explain a reason for.</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Data you never collected cannot leak, cannot be requested and cannot be stolen. It is the only perfect protection there 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EVERYDAY BREACHES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No attacker required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Forwarding a list to your personal email</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Personal data has left our systems for one we cannot audit, secure or delete.</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Using CC instead of BCC on a customer mailout</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Every recipient now has every other customer's email address.</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Leaving a printout on the shared printer</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Anyone walking past has it. This is one of the most common reported incidents.</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Keeping a spreadsheet from a project that ended in 2023</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Still personal data, still our responsibility, and nobody remembers it exists.</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Sending a file to the wrong Rajesh</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Autocomplete picks the wrong contact. It happens weekly somewhere in every company.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EVERYDAY BREACHES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BCC habit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One CC field on one mailout exposes every customer address to every other customer.</a:t>
            </a:r>
          </a:p>
          <a:p>
            <a:pPr algn="l">
              <a:lnSpc>
                <a:spcPts val="1755"/>
              </a:lnSpc>
              <a:spcBef>
                <a:spcPts val="0"/>
              </a:spcBef>
              <a:spcAft>
                <a:spcPts val="0"/>
              </a:spcAft>
            </a:pPr>
            <a:r>
              <a:rPr sz="1350" b="0">
                <a:solidFill>
                  <a:srgbClr val="FFFFFF"/>
                </a:solidFill>
                <a:latin typeface="Segoe UI"/>
              </a:rPr>
              <a:t>It is the single most common accidental disclosure there is.</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More than one external recipient — use BCC.</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460315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462573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Check the field before every send.</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40492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427506"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If in doubt, send them separately.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WHEN IT GOES WRONG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clock starts when you know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Notification deadlines are measured from the moment somebody in the company becomes aware. Not from when harm appears.</a:t>
            </a:r>
          </a:p>
        </p:txBody>
      </p:sp>
      <p:sp>
        <p:nvSpPr>
          <p:cNvPr id="16" name="vis:flowcard"/>
          <p:cNvSpPr/>
          <p:nvPr/>
        </p:nvSpPr>
        <p:spPr>
          <a:xfrm>
            <a:off x="502920"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3026663"/>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575303"/>
            <a:ext cx="2106091" cy="512064"/>
          </a:xfrm>
          <a:prstGeom prst="rect">
            <a:avLst/>
          </a:prstGeom>
          <a:noFill/>
        </p:spPr>
        <p:txBody>
          <a:bodyPr wrap="square" lIns="0" rIns="0" tIns="0" bIns="0" anchor="t">
            <a:spAutoFit/>
          </a:bodyPr>
          <a:lstStyle/>
          <a:p>
            <a:pPr algn="l">
              <a:lnSpc>
                <a:spcPts val="2015"/>
              </a:lnSpc>
              <a:spcBef>
                <a:spcPts val="0"/>
              </a:spcBef>
              <a:spcAft>
                <a:spcPts val="0"/>
              </a:spcAft>
            </a:pPr>
            <a:r>
              <a:rPr sz="1550" b="0">
                <a:solidFill>
                  <a:srgbClr val="101826"/>
                </a:solidFill>
                <a:latin typeface="Segoe UI Semibold"/>
              </a:rPr>
              <a:t>Something goes wrong</a:t>
            </a:r>
          </a:p>
        </p:txBody>
      </p:sp>
      <p:sp>
        <p:nvSpPr>
          <p:cNvPr id="20" name="vis:flowsub"/>
          <p:cNvSpPr txBox="1"/>
          <p:nvPr/>
        </p:nvSpPr>
        <p:spPr>
          <a:xfrm>
            <a:off x="704088"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 wrong recipient, a lost laptop, a bad paste.</a:t>
            </a:r>
          </a:p>
        </p:txBody>
      </p:sp>
      <p:cxnSp>
        <p:nvCxnSpPr>
          <p:cNvPr id="21" name="vis:flowarrow"/>
          <p:cNvCxnSpPr/>
          <p:nvPr/>
        </p:nvCxnSpPr>
        <p:spPr>
          <a:xfrm>
            <a:off x="3093643" y="41696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3026663"/>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become aware</a:t>
            </a:r>
          </a:p>
        </p:txBody>
      </p:sp>
      <p:sp>
        <p:nvSpPr>
          <p:cNvPr id="26" name="vis:flowsub"/>
          <p:cNvSpPr txBox="1"/>
          <p:nvPr/>
        </p:nvSpPr>
        <p:spPr>
          <a:xfrm>
            <a:off x="3596563"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clock starts here, at this moment.</a:t>
            </a:r>
          </a:p>
        </p:txBody>
      </p:sp>
      <p:cxnSp>
        <p:nvCxnSpPr>
          <p:cNvPr id="27" name="vis:flowarrow"/>
          <p:cNvCxnSpPr/>
          <p:nvPr/>
        </p:nvCxnSpPr>
        <p:spPr>
          <a:xfrm>
            <a:off x="5986119" y="41696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3026663"/>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report it</a:t>
            </a:r>
          </a:p>
        </p:txBody>
      </p:sp>
      <p:sp>
        <p:nvSpPr>
          <p:cNvPr id="32" name="vis:flowsub"/>
          <p:cNvSpPr txBox="1"/>
          <p:nvPr/>
        </p:nvSpPr>
        <p:spPr>
          <a:xfrm>
            <a:off x="6489039"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Same day, to the named contact, with what you know.</a:t>
            </a:r>
          </a:p>
        </p:txBody>
      </p:sp>
      <p:cxnSp>
        <p:nvCxnSpPr>
          <p:cNvPr id="33" name="vis:flowarrow"/>
          <p:cNvCxnSpPr/>
          <p:nvPr/>
        </p:nvCxnSpPr>
        <p:spPr>
          <a:xfrm>
            <a:off x="8878595" y="4169663"/>
            <a:ext cx="219456"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320954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3026663"/>
            <a:ext cx="384048" cy="38404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3104387"/>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575303"/>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They assess and notify</a:t>
            </a:r>
          </a:p>
        </p:txBody>
      </p:sp>
      <p:sp>
        <p:nvSpPr>
          <p:cNvPr id="38" name="vis:flowsub"/>
          <p:cNvSpPr txBox="1"/>
          <p:nvPr/>
        </p:nvSpPr>
        <p:spPr>
          <a:xfrm>
            <a:off x="9381515" y="412394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Within the statutory window, if it qualifies.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WHEN IT GOES WRONG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report, ready to send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wording</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need to report a possible data incident. What happened: [one sentence]. When: [date and approximate time]. What data was involved: [type and rough number of people]. Who else knows: [names]. I have not deleted anything. Please tell me what you need from me next.</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Send it the same day. Incomplete and fast beats complete and late.</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 have not deleted anything" matters — evidence is needed.</a:t>
            </a:r>
          </a:p>
        </p:txBody>
      </p:sp>
      <p:cxnSp>
        <p:nvCxnSpPr>
          <p:cNvPr id="33" name="vis:icon"/>
          <p:cNvCxnSpPr/>
          <p:nvPr/>
        </p:nvCxnSpPr>
        <p:spPr>
          <a:xfrm>
            <a:off x="7850361" y="3250143"/>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 rough number is enough to start an assessment.</a:t>
            </a:r>
          </a:p>
        </p:txBody>
      </p:sp>
      <p:cxnSp>
        <p:nvCxnSpPr>
          <p:cNvPr id="36" name="vis:icon"/>
          <p:cNvCxnSpPr/>
          <p:nvPr/>
        </p:nvCxnSpPr>
        <p:spPr>
          <a:xfrm>
            <a:off x="7850361" y="418283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ends with a question, so somebody has to respond.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audit your inbox</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tepnum"/>
          <p:cNvSpPr/>
          <p:nvPr/>
        </p:nvSpPr>
        <p:spPr>
          <a:xfrm>
            <a:off x="502920" y="2027681"/>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Search your sent items for attachments sent outside the company.</a:t>
            </a:r>
          </a:p>
        </p:txBody>
      </p:sp>
      <p:sp>
        <p:nvSpPr>
          <p:cNvPr id="19" name="vis:stepnum"/>
          <p:cNvSpPr/>
          <p:nvPr/>
        </p:nvSpPr>
        <p:spPr>
          <a:xfrm>
            <a:off x="502920" y="3138677"/>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Search your personal email for anything work-related.</a:t>
            </a:r>
          </a:p>
        </p:txBody>
      </p:sp>
      <p:sp>
        <p:nvSpPr>
          <p:cNvPr id="23" name="vis:stepnum"/>
          <p:cNvSpPr/>
          <p:nvPr/>
        </p:nvSpPr>
        <p:spPr>
          <a:xfrm>
            <a:off x="502920" y="4249674"/>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Delete work files from any personal account you find them in.</a:t>
            </a:r>
          </a:p>
        </p:txBody>
      </p:sp>
      <p:sp>
        <p:nvSpPr>
          <p:cNvPr id="27" name="vis:stepnum"/>
          <p:cNvSpPr/>
          <p:nvPr/>
        </p:nvSpPr>
        <p:spPr>
          <a:xfrm>
            <a:off x="502920" y="5360670"/>
            <a:ext cx="347472" cy="34747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Find one old spreadsheet of personal data and ask whether we still need it.</a:t>
            </a:r>
          </a:p>
        </p:txBody>
      </p:sp>
      <p:sp>
        <p:nvSpPr>
          <p:cNvPr id="30" name="vis:promptcard"/>
          <p:cNvSpPr/>
          <p:nvPr/>
        </p:nvSpPr>
        <p:spPr>
          <a:xfrm>
            <a:off x="6461607" y="1719072"/>
            <a:ext cx="5227167"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I want to check whether a task involves personal data. Ask me five short questions, one at a time, then tell me whether it does and which of the four handling rules apply. Do not ask me to paste any actual data.</a:t>
            </a:r>
          </a:p>
        </p:txBody>
      </p:sp>
      <p:sp>
        <p:nvSpPr>
          <p:cNvPr id="43" name="vis:promptcap"/>
          <p:cNvSpPr txBox="1"/>
          <p:nvPr/>
        </p:nvSpPr>
        <p:spPr>
          <a:xfrm>
            <a:off x="6735927" y="362457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Describe the task. Never paste the records themselves.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a customer asks what we hold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Do not answer from memory, and do not delete anything.</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Pass it to [COMPANY INPUT NEEDED: who handles data requests] the same day.</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Tell the customer it has been passed on and will be answered.</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Note the date they asked. The response clock has already started.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data is allowed to live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Is this a company system somebody administers?</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50596" y="3819265"/>
            <a:ext cx="225308" cy="225308"/>
          </a:xfrm>
          <a:prstGeom prst="ellipse">
            <a:avLst/>
          </a:pr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583880" y="3852550"/>
            <a:ext cx="158740" cy="158739"/>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Not allowed</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Personal email, a personal cloud drive, a USB stick, WhatsApp, an AI chat window. We cannot secure it, audit it or delete it.</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Fine</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Company email, the approved drive, the ERP, the CRM. Backed up, access-controlled, and deletable if we are ever asked.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worth having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Check the To and CC fields before every external send.</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Collect the minimum, and question any field you do not use.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Never move work data to a personal account, for any reason.</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Delete old copies. They are the ones that leak.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data protection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alertband"/>
          <p:cNvSpPr/>
          <p:nvPr/>
        </p:nvSpPr>
        <p:spPr>
          <a:xfrm>
            <a:off x="0" y="1719072"/>
            <a:ext cx="12191695" cy="96012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Collect less, keep it inside, delete it when the job is done.</a:t>
            </a:r>
          </a:p>
          <a:p>
            <a:pPr algn="l">
              <a:lnSpc>
                <a:spcPts val="1755"/>
              </a:lnSpc>
              <a:spcBef>
                <a:spcPts val="0"/>
              </a:spcBef>
              <a:spcAft>
                <a:spcPts val="0"/>
              </a:spcAft>
            </a:pPr>
            <a:r>
              <a:rPr sz="1350" b="0">
                <a:solidFill>
                  <a:srgbClr val="FFFFFF"/>
                </a:solidFill>
                <a:latin typeface="Segoe UI"/>
              </a:rPr>
              <a:t>Three habits that cover the overwhelming majority of what either law expects of you.</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Not collected — cannot leak.</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Inside our systems — can be protected.</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Deleted when done — no longer a risk.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Friday, 6:15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want to finish a customer report at home over the weekend. The file has 300 customer names, phone numbers and order values in it.</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Email it to your personal address so you can open it at home.</a:t>
            </a:r>
          </a:p>
        </p:txBody>
      </p:sp>
      <p:cxnSp>
        <p:nvCxnSpPr>
          <p:cNvPr id="23" name="vis:choicearrow"/>
          <p:cNvCxnSpPr/>
          <p:nvPr/>
        </p:nvCxnSpPr>
        <p:spPr>
          <a:xfrm>
            <a:off x="758952"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Use the company's approved remote access from your own laptop.</a:t>
            </a:r>
          </a:p>
        </p:txBody>
      </p:sp>
      <p:cxnSp>
        <p:nvCxnSpPr>
          <p:cNvPr id="29" name="vis:choicearrow"/>
          <p:cNvCxnSpPr/>
          <p:nvPr/>
        </p:nvCxnSpPr>
        <p:spPr>
          <a:xfrm>
            <a:off x="4566818"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Copy it to a USB stick and take that home instead.</a:t>
            </a:r>
          </a:p>
        </p:txBody>
      </p:sp>
      <p:cxnSp>
        <p:nvCxnSpPr>
          <p:cNvPr id="35" name="vis:choicearrow"/>
          <p:cNvCxnSpPr/>
          <p:nvPr/>
        </p:nvCxnSpPr>
        <p:spPr>
          <a:xfrm>
            <a:off x="8374684" y="5632704"/>
            <a:ext cx="292608" cy="0"/>
          </a:xfrm>
          <a:prstGeom prst="line">
            <a:avLst/>
          </a:prstGeom>
          <a:ln w="19050">
            <a:solidFill>
              <a:srgbClr val="7A122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See what happens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A reportable transfer, with the best intentions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Three hundred people's details are now in an account the company cannot secure, audit or delete. If your personal email is ever breached, so were they. Nothing bad has to happen for this to be an incident.</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Good intentions do not change where the data ended up.</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Same work, and the file never moves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connect to the company system and work on the file where it lives. Nothing is copied, nothing leaves, and if a customer asks what we hold on them next year, the answer is still accurate.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Move yourself to the data. Never move the data to yourself.</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The same breach, in a more losable form</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USB stick is a company system that fits in a pocket and has no password, no audit trail and no backup. Lost sticks are among the most common causes of reported data incidents anywhere.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copy is a copy, whatever it is copied onto.</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Three minutes from a regulator</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Data protection explained in three minutes</a:t>
            </a:r>
          </a:p>
        </p:txBody>
      </p:sp>
      <p:sp>
        <p:nvSpPr>
          <p:cNvPr id="19" name="vis:chip"/>
          <p:cNvSpPr/>
          <p:nvPr/>
        </p:nvSpPr>
        <p:spPr>
          <a:xfrm>
            <a:off x="868680" y="3858768"/>
            <a:ext cx="4229105"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391820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INFORMATION COMMISSIONER'S OFFICE (ICO)</a:t>
            </a:r>
          </a:p>
        </p:txBody>
      </p:sp>
      <p:sp>
        <p:nvSpPr>
          <p:cNvPr id="21" name="vis:chip"/>
          <p:cNvSpPr/>
          <p:nvPr/>
        </p:nvSpPr>
        <p:spPr>
          <a:xfrm>
            <a:off x="5244089" y="3858768"/>
            <a:ext cx="123342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5399537" y="3895344"/>
            <a:ext cx="92252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2:54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From the UK's data protection regulator. The principles match India's DPDP Act and UAE law closely.</a:t>
            </a:r>
          </a:p>
        </p:txBody>
      </p:sp>
      <p:sp>
        <p:nvSpPr>
          <p:cNvPr id="25" name="nav:videobtn">
            <a:hlinkClick r:id="rId2"/>
          </p:cNvPr>
          <p:cNvSpPr/>
          <p:nvPr/>
        </p:nvSpPr>
        <p:spPr>
          <a:xfrm>
            <a:off x="868680" y="5230368"/>
            <a:ext cx="3017520" cy="493776"/>
          </a:xfrm>
          <a:prstGeom prst="roundRect">
            <a:avLst>
              <a:gd name="adj" fmla="val 11111"/>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of these is personal data?</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vehicle number plate on a gate pass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total number of visitors last month</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Our published price list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name of a supplier company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vehicle number plate on a gate pass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identifies a vehicle, which identifies its keeper. Number plates, employee numbers and delivery addresses are all personal data even with no name attached.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pointing to one identifiable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total number of visitors last month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An aggregate figure with nobody identifiable in it. Counts and totals are exactly what you should use when you need to share something.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pointing to one identifiable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Our published price list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Commercial information, not personal data. It may be confidential for other reasons, but no individual is identifiable from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pointing to one identifiable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 name of a supplier company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company is not a person. A named contact at that company, with their direct line, certainly is.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Anything pointing to one identifiable person.</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Which rule prevents the most harm?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Encrypt everything</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Collect less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Train everybody annually</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Keep backups of everything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Encrypt everything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Valuable and it protects data you are still holding. It does nothing about the records you did not need to collect in the first place.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Data you never collected cannot leak.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Collect less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the only perfect protection. A field you never asked for cannot leak, cannot be requested, cannot be stolen and never needs deleting.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Data you never collected cannot leak.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Train everybody annually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Necessary and insufficient on its own. Training reduces mistakes; it does not reduce the amount of data sitting there to be mistaken with.</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Data you never collected cannot leak.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Keep backups of everything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Backups protect against loss and increase your exposure, because old copies of personal data are exactly what leaks years later.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Data you never collected cannot leak.</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When does the reporting clock start?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harm is confirmed</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somebody in the company becomes aware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the security team finishes investigating</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When a customer complains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When harm is confirmed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Harm often never becomes visible, and waiting for it is how deadlines get missed. The obligation does not depend on anything actually going wrong.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you become aware.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When somebody in the company becomes aware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moment you know is the moment the clock starts. That is why reporting the same day matters, even when you cannot answer every question yet.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you become aware.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When the security team finishes investigating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cannot start investigating until you tell them. Delaying the report delays everything and eats the window.</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you become aware.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When a customer complains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Most incidents are never noticed by the people affected. Waiting for a complaint means waiting for the worst possible version of finding out.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When you become aware.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mailout to 200 customers. What field?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CC, so everyone can see who else received it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BCC, so nobody sees any other address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To, with all 200 addresses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does not matter for existing customers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CC, so everyone can see who else received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discloses every customer's email address to every other customer, including competitors. It is the most common accidental disclosure there is.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BCC, every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BCC, so nobody sees any other address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Each recipient sees only their own. Check the field before you press send — this mistake is almost always made in a hurry, not in ignorance.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BCC, every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To, with all 200 addresses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Identical exposure to CC, and it also looks careless. Two hundred customers each receive a list of the other 199.</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BCC, every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does not matter for existing customers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Their email address is still their personal data, and they did not consent to it being shared with your other customers.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BCC, every time.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 customer asks what data we hold.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Answer from memory to be helpful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Pass it to the right person the same day</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Tidy up their record first, then respond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Ask them why they want it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Answer from memory to be helpful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will be incomplete, and your answer becomes the company's formal response. These requests have a defined process for good reason.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Pass it on the same day. Delete nothing.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Pass it to the right person the same day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There is a statutory response period and it started when they asked. Note the date, tell the customer it has been passed on, and change nothing.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Pass it on the same day. Delete nothing.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Tidy up their record first, then respond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Deleting or altering records after a request is a serious matter in its own right, quite separate from the original question.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Pass it on the same day. Delete nothing.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Ask them why they want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do not have to say. Asking looks obstructive and delays a clock that is already running.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Pass it on the same day. Delete nothing.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Data protection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Personal data is wider than names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Number plates, photos, employee numbers and addresses all count.</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Collect less</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only perfect protection. A field you never asked for cannot leak.</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Keep it inside</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Company systems only. Never personal email, USB sticks or chat windows.</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Delete when done</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Old copies from finished projects are what leak years later.</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BCC, always</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One CC field exposes every customer address to every other customer.</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Report the day you know</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clock starts on awareness, not on harm. Incomplete and fast wins.</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B67D8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B67D84"/>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Collect less, keep it inside, delete it when the job is done.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55922" y="2382199"/>
            <a:ext cx="244971" cy="223670"/>
          </a:xfrm>
          <a:custGeom>
            <a:avLst/>
            <a:gdLst/>
            <a:ahLst/>
            <a:cxnLst/>
            <a:rect l="l" t="t" r="r" b="b"/>
            <a:pathLst>
              <a:path w="244971" h="223670">
                <a:moveTo>
                  <a:pt x="122486" y="0"/>
                </a:moveTo>
                <a:lnTo>
                  <a:pt x="244971" y="223670"/>
                </a:lnTo>
                <a:lnTo>
                  <a:pt x="0" y="223670"/>
                </a:lnTo>
                <a:close/>
              </a:path>
            </a:pathLst>
          </a:cu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vis:icon"/>
          <p:cNvCxnSpPr/>
          <p:nvPr/>
        </p:nvCxnSpPr>
        <p:spPr>
          <a:xfrm>
            <a:off x="978408" y="2467407"/>
            <a:ext cx="0" cy="66568"/>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965094" y="2557940"/>
            <a:ext cx="26627" cy="26627"/>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incident report wording</a:t>
            </a:r>
          </a:p>
        </p:txBody>
      </p:sp>
      <p:sp>
        <p:nvSpPr>
          <p:cNvPr id="22"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when, how many, who knows, nothing deleted.</a:t>
            </a:r>
          </a:p>
        </p:txBody>
      </p:sp>
      <p:sp>
        <p:nvSpPr>
          <p:cNvPr id="23"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63910" y="3303046"/>
            <a:ext cx="37278" cy="3727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6" name="vis:icon"/>
          <p:cNvCxnSpPr/>
          <p:nvPr/>
        </p:nvCxnSpPr>
        <p:spPr>
          <a:xfrm>
            <a:off x="930478" y="3321686"/>
            <a:ext cx="165090"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863910" y="3382928"/>
            <a:ext cx="37278" cy="3727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930478" y="3401568"/>
            <a:ext cx="165090"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863910" y="3462810"/>
            <a:ext cx="37278" cy="37278"/>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930478" y="3481449"/>
            <a:ext cx="165090"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1"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four handling rules</a:t>
            </a:r>
          </a:p>
        </p:txBody>
      </p:sp>
      <p:sp>
        <p:nvSpPr>
          <p:cNvPr id="32"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Collect less, stated purpose, keep inside, delete when done.</a:t>
            </a:r>
          </a:p>
        </p:txBody>
      </p:sp>
      <p:sp>
        <p:nvSpPr>
          <p:cNvPr id="33"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882549" y="4309101"/>
            <a:ext cx="69231" cy="69231"/>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951780" y="4229219"/>
            <a:ext cx="127811" cy="149113"/>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37"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inbox audit</a:t>
            </a:r>
          </a:p>
        </p:txBody>
      </p:sp>
      <p:sp>
        <p:nvSpPr>
          <p:cNvPr id="38"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Sent items, personal email, old spreadsheets.</a:t>
            </a:r>
          </a:p>
        </p:txBody>
      </p:sp>
      <p:sp>
        <p:nvSpPr>
          <p:cNvPr id="39"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LINKS THAT WORK</a:t>
            </a:r>
          </a:p>
        </p:txBody>
      </p:sp>
      <p:sp>
        <p:nvSpPr>
          <p:cNvPr id="40"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339937" y="2300630"/>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82584" y="2443276"/>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3"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India's data protection framework</a:t>
            </a:r>
          </a:p>
        </p:txBody>
      </p:sp>
      <p:sp>
        <p:nvSpPr>
          <p:cNvPr id="44"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www.meity.gov.in/data-protection-fra…</a:t>
            </a:r>
          </a:p>
        </p:txBody>
      </p:sp>
      <p:sp>
        <p:nvSpPr>
          <p:cNvPr id="45"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icon"/>
          <p:cNvSpPr/>
          <p:nvPr/>
        </p:nvSpPr>
        <p:spPr>
          <a:xfrm>
            <a:off x="8339937" y="2977286"/>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vis:icon"/>
          <p:cNvCxnSpPr/>
          <p:nvPr/>
        </p:nvCxnSpPr>
        <p:spPr>
          <a:xfrm>
            <a:off x="8482584" y="3119932"/>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48"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UAE data protection laws</a:t>
            </a:r>
          </a:p>
        </p:txBody>
      </p:sp>
      <p:sp>
        <p:nvSpPr>
          <p:cNvPr id="49"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u.ae/en/about-the-uae/digital-uae/dat…</a:t>
            </a:r>
          </a:p>
        </p:txBody>
      </p:sp>
      <p:sp>
        <p:nvSpPr>
          <p:cNvPr id="50"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icon"/>
          <p:cNvSpPr/>
          <p:nvPr/>
        </p:nvSpPr>
        <p:spPr>
          <a:xfrm>
            <a:off x="8339937" y="3653942"/>
            <a:ext cx="164592" cy="164592"/>
          </a:xfrm>
          <a:prstGeom prst="ellipse">
            <a:avLst/>
          </a:prstGeom>
          <a:noFill/>
          <a:ln w="1905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2" name="vis:icon"/>
          <p:cNvCxnSpPr/>
          <p:nvPr/>
        </p:nvCxnSpPr>
        <p:spPr>
          <a:xfrm>
            <a:off x="8482584" y="3796588"/>
            <a:ext cx="65836" cy="65837"/>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53"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Check if your email has leaked</a:t>
            </a:r>
          </a:p>
        </p:txBody>
      </p:sp>
      <p:sp>
        <p:nvSpPr>
          <p:cNvPr id="54"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a:rPr>
              <a:t>haveibeenpwned.com</a:t>
            </a:r>
          </a:p>
        </p:txBody>
      </p:sp>
      <p:sp>
        <p:nvSpPr>
          <p:cNvPr id="55"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6"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B67D84"/>
                </a:solidFill>
                <a:latin typeface="Segoe UI Semibold"/>
              </a:rPr>
              <a:t>DO THIS NEXT</a:t>
            </a:r>
          </a:p>
        </p:txBody>
      </p:sp>
      <p:sp>
        <p:nvSpPr>
          <p:cNvPr id="57"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SEC-05, Handling Confidential Information. The commercial material that is not personal data and still must not leave.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7A122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SEC-04  ·  Data Protection Basics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7A122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7A122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7A122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Personal data</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Any information pointing to one identifiable person, with or without a name attached.</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DPDP Act</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India's Digital Personal Data Protection Act, covering consent, purpose and breach notification.</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Data minimisation</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Collecting only what you actually need. The strongest protection available.</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Data breach</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Personal data going somewhere it should not. No attacker is required.</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Subject access request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person asking what data we hold about them. It has a legal response period.</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Retention</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How long we keep something. Old copies are the ones that cause incidents.</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7A12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