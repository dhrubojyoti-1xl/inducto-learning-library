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8.xml"/><Relationship Id="rId8" Type="http://schemas.openxmlformats.org/officeDocument/2006/relationships/slide" Target="slide22.xml"/><Relationship Id="rId9" Type="http://schemas.openxmlformats.org/officeDocument/2006/relationships/slide" Target="slide23.xml"/><Relationship Id="rId10" Type="http://schemas.openxmlformats.org/officeDocument/2006/relationships/slide" Target="slide48.xml"/><Relationship Id="rId11" Type="http://schemas.openxmlformats.org/officeDocument/2006/relationships/slide" Target="slide4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19.xml"/><Relationship Id="rId4" Type="http://schemas.openxmlformats.org/officeDocument/2006/relationships/slide" Target="slide20.xml"/><Relationship Id="rId5" Type="http://schemas.openxmlformats.org/officeDocument/2006/relationships/slide" Target="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YJInlE99vSs" TargetMode="Externa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4.xml"/><Relationship Id="rId4" Type="http://schemas.openxmlformats.org/officeDocument/2006/relationships/slide" Target="slide25.xml"/><Relationship Id="rId5" Type="http://schemas.openxmlformats.org/officeDocument/2006/relationships/slide" Target="slide26.xml"/><Relationship Id="rId6" Type="http://schemas.openxmlformats.org/officeDocument/2006/relationships/slide" Target="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3.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9.xml"/><Relationship Id="rId4" Type="http://schemas.openxmlformats.org/officeDocument/2006/relationships/slide" Target="slide30.xml"/><Relationship Id="rId5" Type="http://schemas.openxmlformats.org/officeDocument/2006/relationships/slide" Target="slide31.xml"/><Relationship Id="rId6" Type="http://schemas.openxmlformats.org/officeDocument/2006/relationships/slide" Target="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8.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4.xml"/><Relationship Id="rId4" Type="http://schemas.openxmlformats.org/officeDocument/2006/relationships/slide" Target="slide35.xml"/><Relationship Id="rId5" Type="http://schemas.openxmlformats.org/officeDocument/2006/relationships/slide" Target="slide36.xml"/><Relationship Id="rId6" Type="http://schemas.openxmlformats.org/officeDocument/2006/relationships/slide" Target="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9.xml"/><Relationship Id="rId4" Type="http://schemas.openxmlformats.org/officeDocument/2006/relationships/slide" Target="slide40.xml"/><Relationship Id="rId5" Type="http://schemas.openxmlformats.org/officeDocument/2006/relationships/slide" Target="slide41.xml"/><Relationship Id="rId6" Type="http://schemas.openxmlformats.org/officeDocument/2006/relationships/slide" Target="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4.xml"/><Relationship Id="rId4" Type="http://schemas.openxmlformats.org/officeDocument/2006/relationships/slide" Target="slide45.xml"/><Relationship Id="rId5" Type="http://schemas.openxmlformats.org/officeDocument/2006/relationships/slide" Target="slide46.xml"/><Relationship Id="rId6" Type="http://schemas.openxmlformats.org/officeDocument/2006/relationships/slide" Target="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3.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ity.gov.in/data-protection-framework" TargetMode="External"/><Relationship Id="rId3" Type="http://schemas.openxmlformats.org/officeDocument/2006/relationships/hyperlink" Target="https://u.ae/en/about-the-uae/digital-uae/data/data-protection-laws" TargetMode="External"/><Relationship Id="rId4" Type="http://schemas.openxmlformats.org/officeDocument/2006/relationships/hyperlink" Target="https://haveibeenpwned.com" TargetMode="External"/><Relationship Id="rId5"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data-protection.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Data Protection Basics</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What counts as personal data, what the law expects, and what that means for your inbox on an ordinary Tuesday.</a:t>
            </a:r>
          </a:p>
        </p:txBody>
      </p:sp>
      <p:sp>
        <p:nvSpPr>
          <p:cNvPr id="11" name="vis:chip"/>
          <p:cNvSpPr/>
          <p:nvPr/>
        </p:nvSpPr>
        <p:spPr>
          <a:xfrm>
            <a:off x="841248" y="4626864"/>
            <a:ext cx="1061339"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75044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SEC-04</a:t>
            </a:r>
          </a:p>
        </p:txBody>
      </p:sp>
      <p:sp>
        <p:nvSpPr>
          <p:cNvPr id="13" name="vis:chip"/>
          <p:cNvSpPr/>
          <p:nvPr/>
        </p:nvSpPr>
        <p:spPr>
          <a:xfrm>
            <a:off x="204889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204339"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SEC-04  ·  Data Protection Basics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Manoj forwards a list to his own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69028"/>
            <a:ext cx="318006" cy="216822"/>
          </a:xfrm>
          <a:prstGeom prst="roundRect">
            <a:avLst>
              <a:gd name="adj" fmla="val 21086"/>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283483"/>
            <a:ext cx="159004" cy="11563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161288" y="2283483"/>
            <a:ext cx="159003" cy="11563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Manoj handles sales admin in Kochi. He wants to finish a report at home, so he forwards the customer contact list to his personal email. Nothing bad happens. It is still a reportable transfer of personal data out of the company.</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breach on paper, with no attacker and no bad intention.</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rules that cover almost every decision you will face.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1004691" y="1948922"/>
            <a:ext cx="112024" cy="11202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42782" y="2105168"/>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Say what counts as personal data, including the surprising cases</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3938" y="2862723"/>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1007639" y="2883359"/>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933938" y="2951163"/>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1007639" y="2971800"/>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33938" y="3039604"/>
            <a:ext cx="41272" cy="412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007639" y="3060240"/>
            <a:ext cx="182778"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8"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Apply four rules that settle most day-to-day decisions</a:t>
            </a:r>
          </a:p>
        </p:txBody>
      </p:sp>
      <p:sp>
        <p:nvSpPr>
          <p:cNvPr id="29"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30990" y="3738198"/>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969315" y="3776523"/>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3"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the everyday habits that are technically breaches</a:t>
            </a:r>
          </a:p>
        </p:txBody>
      </p:sp>
      <p:sp>
        <p:nvSpPr>
          <p:cNvPr id="34"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925094" y="4634310"/>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vis:icon"/>
          <p:cNvCxnSpPr/>
          <p:nvPr/>
        </p:nvCxnSpPr>
        <p:spPr>
          <a:xfrm>
            <a:off x="1060704" y="4728647"/>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vis:icon"/>
          <p:cNvSpPr/>
          <p:nvPr/>
        </p:nvSpPr>
        <p:spPr>
          <a:xfrm>
            <a:off x="1045963" y="4828880"/>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triggers a reporting obligation, and how fast</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Handle a customer asking what data we hold on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counts as personal data</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Wider than you think</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rules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Enough for most decisions</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Everyday breaches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 attacker required</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When it goes wrong</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Reporting and the clock</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Audit your own inbox</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Friday evening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3-minute regulator explainer</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COUNTS AS PERSONAL DATA</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Wider than most people think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it points to one identifiable person, it is personal data. A name is not required.</a:t>
            </a:r>
          </a:p>
        </p:txBody>
      </p:sp>
      <p:sp>
        <p:nvSpPr>
          <p:cNvPr id="16" name="vis:panel"/>
          <p:cNvSpPr/>
          <p:nvPr/>
        </p:nvSpPr>
        <p:spPr>
          <a:xfrm>
            <a:off x="502920" y="2432304"/>
            <a:ext cx="5437479" cy="3108960"/>
          </a:xfrm>
          <a:prstGeom prst="roundRect">
            <a:avLst>
              <a:gd name="adj" fmla="val 29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432304"/>
            <a:ext cx="68580" cy="310896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670048"/>
            <a:ext cx="2315950"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697479"/>
            <a:ext cx="200505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OBVIOUSLY PERSONAL</a:t>
            </a:r>
          </a:p>
        </p:txBody>
      </p:sp>
      <p:sp>
        <p:nvSpPr>
          <p:cNvPr id="20" name="vis:paneltitle"/>
          <p:cNvSpPr txBox="1"/>
          <p:nvPr/>
        </p:nvSpPr>
        <p:spPr>
          <a:xfrm>
            <a:off x="777240" y="3090672"/>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Everyone gets these right</a:t>
            </a:r>
          </a:p>
        </p:txBody>
      </p:sp>
      <p:sp>
        <p:nvSpPr>
          <p:cNvPr id="21" name="vis:icon"/>
          <p:cNvSpPr/>
          <p:nvPr/>
        </p:nvSpPr>
        <p:spPr>
          <a:xfrm>
            <a:off x="843076" y="3784701"/>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4672" y="3881628"/>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panelitem"/>
          <p:cNvSpPr txBox="1"/>
          <p:nvPr/>
        </p:nvSpPr>
        <p:spPr>
          <a:xfrm>
            <a:off x="1078992" y="3730752"/>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Name, address and phone number</a:t>
            </a:r>
          </a:p>
        </p:txBody>
      </p:sp>
      <p:sp>
        <p:nvSpPr>
          <p:cNvPr id="24" name="vis:icon"/>
          <p:cNvSpPr/>
          <p:nvPr/>
        </p:nvSpPr>
        <p:spPr>
          <a:xfrm>
            <a:off x="843076" y="4182465"/>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04672" y="4279392"/>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s:panelitem"/>
          <p:cNvSpPr txBox="1"/>
          <p:nvPr/>
        </p:nvSpPr>
        <p:spPr>
          <a:xfrm>
            <a:off x="1078992" y="4128516"/>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Email address and date of birth</a:t>
            </a:r>
          </a:p>
        </p:txBody>
      </p:sp>
      <p:sp>
        <p:nvSpPr>
          <p:cNvPr id="27" name="vis:icon"/>
          <p:cNvSpPr/>
          <p:nvPr/>
        </p:nvSpPr>
        <p:spPr>
          <a:xfrm>
            <a:off x="843076" y="4580229"/>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04672" y="4677156"/>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s:panelitem"/>
          <p:cNvSpPr txBox="1"/>
          <p:nvPr/>
        </p:nvSpPr>
        <p:spPr>
          <a:xfrm>
            <a:off x="1078992" y="4526280"/>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Passport, Emirates ID or Aadhaar number</a:t>
            </a:r>
          </a:p>
        </p:txBody>
      </p:sp>
      <p:sp>
        <p:nvSpPr>
          <p:cNvPr id="30" name="vis:icon"/>
          <p:cNvSpPr/>
          <p:nvPr/>
        </p:nvSpPr>
        <p:spPr>
          <a:xfrm>
            <a:off x="843076" y="4977993"/>
            <a:ext cx="69494" cy="69494"/>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804672" y="5074920"/>
            <a:ext cx="146304" cy="64008"/>
          </a:xfrm>
          <a:custGeom>
            <a:avLst/>
            <a:gdLst/>
            <a:ahLst/>
            <a:cxnLst/>
            <a:rect l="l" t="t" r="r" b="b"/>
            <a:pathLst>
              <a:path w="146304" h="64008">
                <a:moveTo>
                  <a:pt x="0" y="64008"/>
                </a:moveTo>
                <a:lnTo>
                  <a:pt x="10972" y="0"/>
                </a:lnTo>
                <a:lnTo>
                  <a:pt x="135331" y="0"/>
                </a:lnTo>
                <a:lnTo>
                  <a:pt x="146304" y="64008"/>
                </a:lnTo>
              </a:path>
            </a:pathLst>
          </a:cu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s:panelitem"/>
          <p:cNvSpPr txBox="1"/>
          <p:nvPr/>
        </p:nvSpPr>
        <p:spPr>
          <a:xfrm>
            <a:off x="1078992" y="4924044"/>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Salary, bank details and appraisal notes</a:t>
            </a:r>
          </a:p>
        </p:txBody>
      </p:sp>
      <p:sp>
        <p:nvSpPr>
          <p:cNvPr id="33" name="vis:panel"/>
          <p:cNvSpPr/>
          <p:nvPr/>
        </p:nvSpPr>
        <p:spPr>
          <a:xfrm>
            <a:off x="6251295" y="2432304"/>
            <a:ext cx="5437479" cy="3108960"/>
          </a:xfrm>
          <a:prstGeom prst="roundRect">
            <a:avLst>
              <a:gd name="adj" fmla="val 294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432304"/>
            <a:ext cx="68580" cy="310896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670048"/>
            <a:ext cx="18144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697479"/>
            <a:ext cx="15035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ALSO PERSONAL</a:t>
            </a:r>
          </a:p>
        </p:txBody>
      </p:sp>
      <p:sp>
        <p:nvSpPr>
          <p:cNvPr id="37" name="vis:paneltitle"/>
          <p:cNvSpPr txBox="1"/>
          <p:nvPr/>
        </p:nvSpPr>
        <p:spPr>
          <a:xfrm>
            <a:off x="6525615" y="3090672"/>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The ones people miss</a:t>
            </a:r>
          </a:p>
        </p:txBody>
      </p:sp>
      <p:cxnSp>
        <p:nvCxnSpPr>
          <p:cNvPr id="38" name="vis:icon"/>
          <p:cNvCxnSpPr/>
          <p:nvPr/>
        </p:nvCxnSpPr>
        <p:spPr>
          <a:xfrm>
            <a:off x="6567677" y="38048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6567677" y="38048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3730752"/>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vehicle number plate on a gate pass</a:t>
            </a:r>
          </a:p>
        </p:txBody>
      </p:sp>
      <p:cxnSp>
        <p:nvCxnSpPr>
          <p:cNvPr id="41" name="vis:icon"/>
          <p:cNvCxnSpPr/>
          <p:nvPr/>
        </p:nvCxnSpPr>
        <p:spPr>
          <a:xfrm>
            <a:off x="6567677" y="4202582"/>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H="1">
            <a:off x="6567677" y="4202582"/>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128516"/>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photo of a person, or CCTV footage</a:t>
            </a:r>
          </a:p>
        </p:txBody>
      </p:sp>
      <p:cxnSp>
        <p:nvCxnSpPr>
          <p:cNvPr id="44" name="vis:icon"/>
          <p:cNvCxnSpPr/>
          <p:nvPr/>
        </p:nvCxnSpPr>
        <p:spPr>
          <a:xfrm>
            <a:off x="6567677" y="460034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H="1">
            <a:off x="6567677" y="460034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526280"/>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 employee number with no name attached</a:t>
            </a:r>
          </a:p>
        </p:txBody>
      </p:sp>
      <p:cxnSp>
        <p:nvCxnSpPr>
          <p:cNvPr id="47" name="vis:icon"/>
          <p:cNvCxnSpPr/>
          <p:nvPr/>
        </p:nvCxnSpPr>
        <p:spPr>
          <a:xfrm>
            <a:off x="6567677" y="499811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H="1">
            <a:off x="6567677" y="499811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4924044"/>
            <a:ext cx="4587087" cy="3429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delivery address on its own</a:t>
            </a:r>
          </a:p>
        </p:txBody>
      </p:sp>
      <p:sp>
        <p:nvSpPr>
          <p:cNvPr id="50"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51" name="vis:chip"/>
          <p:cNvSpPr/>
          <p:nvPr/>
        </p:nvSpPr>
        <p:spPr>
          <a:xfrm>
            <a:off x="2221991" y="5660136"/>
            <a:ext cx="2019841"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chiptext"/>
          <p:cNvSpPr txBox="1"/>
          <p:nvPr/>
        </p:nvSpPr>
        <p:spPr>
          <a:xfrm>
            <a:off x="2377439" y="5687568"/>
            <a:ext cx="170894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PERSONAL DATA  ?</a:t>
            </a:r>
          </a:p>
        </p:txBody>
      </p:sp>
      <p:sp>
        <p:nvSpPr>
          <p:cNvPr id="53" name="nav:gloss">
            <a:hlinkClick action="ppaction://hlinksldjump" r:id="rId3"/>
          </p:cNvPr>
          <p:cNvSpPr/>
          <p:nvPr/>
        </p:nvSpPr>
        <p:spPr>
          <a:xfrm>
            <a:off x="2221991" y="5660136"/>
            <a:ext cx="2019841"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COUNTS AS PERSONAL DATA</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Two laws, one habit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nest"/>
          <p:cNvSpPr/>
          <p:nvPr/>
        </p:nvSpPr>
        <p:spPr>
          <a:xfrm>
            <a:off x="502920" y="1984248"/>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130552"/>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India — the DPDP Act</a:t>
            </a:r>
          </a:p>
        </p:txBody>
      </p:sp>
      <p:sp>
        <p:nvSpPr>
          <p:cNvPr id="17" name="vis:nestsub"/>
          <p:cNvSpPr txBox="1"/>
          <p:nvPr/>
        </p:nvSpPr>
        <p:spPr>
          <a:xfrm>
            <a:off x="722376" y="2441448"/>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Consent, purpose limits, and breach notification.</a:t>
            </a:r>
          </a:p>
        </p:txBody>
      </p:sp>
      <p:sp>
        <p:nvSpPr>
          <p:cNvPr id="18" name="vis:nest"/>
          <p:cNvSpPr/>
          <p:nvPr/>
        </p:nvSpPr>
        <p:spPr>
          <a:xfrm>
            <a:off x="832104" y="2843784"/>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2990088"/>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UAE — federal data protection law</a:t>
            </a:r>
          </a:p>
        </p:txBody>
      </p:sp>
      <p:sp>
        <p:nvSpPr>
          <p:cNvPr id="20" name="vis:nestsub"/>
          <p:cNvSpPr txBox="1"/>
          <p:nvPr/>
        </p:nvSpPr>
        <p:spPr>
          <a:xfrm>
            <a:off x="1051560" y="3300984"/>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Similar principles, similar obligations on us.</a:t>
            </a:r>
          </a:p>
        </p:txBody>
      </p:sp>
      <p:sp>
        <p:nvSpPr>
          <p:cNvPr id="21" name="vis:nest"/>
          <p:cNvSpPr/>
          <p:nvPr/>
        </p:nvSpPr>
        <p:spPr>
          <a:xfrm>
            <a:off x="1161288" y="3703320"/>
            <a:ext cx="4947342" cy="1024128"/>
          </a:xfrm>
          <a:prstGeom prst="roundRect">
            <a:avLst>
              <a:gd name="adj" fmla="val 8928"/>
            </a:avLst>
          </a:prstGeom>
          <a:solidFill>
            <a:srgbClr val="F3F6FB"/>
          </a:solid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3849624"/>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7A1220"/>
                </a:solidFill>
                <a:latin typeface="Segoe UI Semibold"/>
              </a:rPr>
              <a:t>What it means at your desk</a:t>
            </a:r>
          </a:p>
        </p:txBody>
      </p:sp>
      <p:sp>
        <p:nvSpPr>
          <p:cNvPr id="23" name="vis:nestsub"/>
          <p:cNvSpPr txBox="1"/>
          <p:nvPr/>
        </p:nvSpPr>
        <p:spPr>
          <a:xfrm>
            <a:off x="1380744" y="4160520"/>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Collect less, keep it inside, report fast.</a:t>
            </a:r>
          </a:p>
        </p:txBody>
      </p:sp>
      <p:sp>
        <p:nvSpPr>
          <p:cNvPr id="24" name="body:nestnote"/>
          <p:cNvSpPr txBox="1"/>
          <p:nvPr/>
        </p:nvSpPr>
        <p:spPr>
          <a:xfrm>
            <a:off x="7438150" y="2130552"/>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You do not need to know the law in detail. You need the four rules on the next slide, which is what both of them come down to in practice.</a:t>
            </a:r>
          </a:p>
        </p:txBody>
      </p:sp>
      <p:sp>
        <p:nvSpPr>
          <p:cNvPr id="2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26" name="vis:chip"/>
          <p:cNvSpPr/>
          <p:nvPr/>
        </p:nvSpPr>
        <p:spPr>
          <a:xfrm>
            <a:off x="2221991" y="5660136"/>
            <a:ext cx="148991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2377439" y="5687568"/>
            <a:ext cx="11790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DPDP ACT  ?</a:t>
            </a:r>
          </a:p>
        </p:txBody>
      </p:sp>
      <p:sp>
        <p:nvSpPr>
          <p:cNvPr id="28" name="nav:gloss">
            <a:hlinkClick action="ppaction://hlinksldjump" r:id="rId3"/>
          </p:cNvPr>
          <p:cNvSpPr/>
          <p:nvPr/>
        </p:nvSpPr>
        <p:spPr>
          <a:xfrm>
            <a:off x="2221991" y="5660136"/>
            <a:ext cx="148991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RULES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rules, most decisions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COLLECT LESS — if you do not need a field, do not ask for it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IT FOR THE STATED PURPOSE — not for a new idea later</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IT INSIDE — company systems only, never personal accounts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IT WHEN DONE — old copies are the ones that leak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FOUR RULES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Collect less is the strongest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56306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2521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COLLECTING EVERYTHING</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visitor form asking for address, ID number and vehicle details.</a:t>
            </a:r>
          </a:p>
          <a:p>
            <a:pPr algn="l">
              <a:lnSpc>
                <a:spcPts val="1690"/>
              </a:lnSpc>
              <a:spcBef>
                <a:spcPts val="0"/>
              </a:spcBef>
              <a:spcAft>
                <a:spcPts val="600"/>
              </a:spcAft>
            </a:pPr>
            <a:r>
              <a:rPr sz="1300" b="0">
                <a:solidFill>
                  <a:srgbClr val="2A3547"/>
                </a:solidFill>
                <a:latin typeface="Segoe UI"/>
              </a:rPr>
              <a:t>Kept in a folder for three years "in case".</a:t>
            </a:r>
          </a:p>
          <a:p>
            <a:pPr algn="l">
              <a:lnSpc>
                <a:spcPts val="1690"/>
              </a:lnSpc>
              <a:spcBef>
                <a:spcPts val="0"/>
              </a:spcBef>
              <a:spcAft>
                <a:spcPts val="600"/>
              </a:spcAft>
            </a:pPr>
            <a:r>
              <a:rPr sz="1300" b="0">
                <a:solidFill>
                  <a:srgbClr val="2A3547"/>
                </a:solidFill>
                <a:latin typeface="Segoe UI"/>
              </a:rPr>
              <a:t>Every one of those records is a liability with no purpose.</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292931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6184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COLLECTING WHAT IS NEEDED</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Name, company, who they are visiting, time in and out.</a:t>
            </a:r>
          </a:p>
          <a:p>
            <a:pPr algn="l">
              <a:lnSpc>
                <a:spcPts val="1690"/>
              </a:lnSpc>
              <a:spcBef>
                <a:spcPts val="0"/>
              </a:spcBef>
              <a:spcAft>
                <a:spcPts val="600"/>
              </a:spcAft>
            </a:pPr>
            <a:r>
              <a:rPr sz="1300" b="0">
                <a:solidFill>
                  <a:srgbClr val="2A3547"/>
                </a:solidFill>
                <a:latin typeface="Segoe UI"/>
              </a:rPr>
              <a:t>Kept for the period we actually need, then destroyed.</a:t>
            </a:r>
          </a:p>
          <a:p>
            <a:pPr algn="l">
              <a:lnSpc>
                <a:spcPts val="1690"/>
              </a:lnSpc>
              <a:spcBef>
                <a:spcPts val="0"/>
              </a:spcBef>
              <a:spcAft>
                <a:spcPts val="600"/>
              </a:spcAft>
            </a:pPr>
            <a:r>
              <a:rPr sz="1300" b="0">
                <a:solidFill>
                  <a:srgbClr val="2A3547"/>
                </a:solidFill>
                <a:latin typeface="Segoe UI"/>
              </a:rPr>
              <a:t>Nothing held that we could not explain a reason for.</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you never collected cannot leak, cannot be requested and cannot be stolen. It is the only perfect protection there 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EVERYDAY BREACHES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 attacker required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Forwarding a list to your personal email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Personal data has left our systems for one we cannot audit, secure or delete.</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CC instead of BCC on a customer mailout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Every recipient now has every other customer's email address.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Leaving a printout on the shared printer</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Anyone walking past has it. This is one of the most common reported incidents.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a spreadsheet from a project that ended in 2023</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Still personal data, still our responsibility, and nobody remembers it exists.</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a file to the wrong Rajesh</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Autocomplete picks the wrong contact. It happens weekly somewhere in every company.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EVERYDAY BREACHES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BCC habit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One CC field on one mailout exposes every customer address to every other customer.</a:t>
            </a:r>
          </a:p>
          <a:p>
            <a:pPr algn="l">
              <a:lnSpc>
                <a:spcPts val="1755"/>
              </a:lnSpc>
              <a:spcBef>
                <a:spcPts val="0"/>
              </a:spcBef>
              <a:spcAft>
                <a:spcPts val="0"/>
              </a:spcAft>
            </a:pPr>
            <a:r>
              <a:rPr sz="1350" b="0">
                <a:solidFill>
                  <a:srgbClr val="FFFFFF"/>
                </a:solidFill>
                <a:latin typeface="Segoe UI"/>
              </a:rPr>
              <a:t>It is the single most common accidental disclosure there is.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More than one external recipient — use BCC.</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the field before every send.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in doubt, send them separately.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WHEN IT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clock starts when you know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Notification deadlines are measured from the moment somebody in the company becomes aware. Not from when harm appears.</a:t>
            </a:r>
          </a:p>
        </p:txBody>
      </p:sp>
      <p:sp>
        <p:nvSpPr>
          <p:cNvPr id="16" name="vis:flowcard"/>
          <p:cNvSpPr/>
          <p:nvPr/>
        </p:nvSpPr>
        <p:spPr>
          <a:xfrm>
            <a:off x="502920"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75303"/>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Something goes wrong</a:t>
            </a:r>
          </a:p>
        </p:txBody>
      </p:sp>
      <p:sp>
        <p:nvSpPr>
          <p:cNvPr id="20" name="vis:flowsub"/>
          <p:cNvSpPr txBox="1"/>
          <p:nvPr/>
        </p:nvSpPr>
        <p:spPr>
          <a:xfrm>
            <a:off x="704088"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wrong recipient, a lost laptop, a bad paste.</a:t>
            </a:r>
          </a:p>
        </p:txBody>
      </p:sp>
      <p:cxnSp>
        <p:nvCxnSpPr>
          <p:cNvPr id="21" name="vis:flowarrow"/>
          <p:cNvCxnSpPr/>
          <p:nvPr/>
        </p:nvCxnSpPr>
        <p:spPr>
          <a:xfrm>
            <a:off x="3093643"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become aware</a:t>
            </a:r>
          </a:p>
        </p:txBody>
      </p:sp>
      <p:sp>
        <p:nvSpPr>
          <p:cNvPr id="26" name="vis:flowsub"/>
          <p:cNvSpPr txBox="1"/>
          <p:nvPr/>
        </p:nvSpPr>
        <p:spPr>
          <a:xfrm>
            <a:off x="3596563"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clock starts here, at this moment.</a:t>
            </a:r>
          </a:p>
        </p:txBody>
      </p:sp>
      <p:cxnSp>
        <p:nvCxnSpPr>
          <p:cNvPr id="27" name="vis:flowarrow"/>
          <p:cNvCxnSpPr/>
          <p:nvPr/>
        </p:nvCxnSpPr>
        <p:spPr>
          <a:xfrm>
            <a:off x="5986119"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report it</a:t>
            </a:r>
          </a:p>
        </p:txBody>
      </p:sp>
      <p:sp>
        <p:nvSpPr>
          <p:cNvPr id="32" name="vis:flowsub"/>
          <p:cNvSpPr txBox="1"/>
          <p:nvPr/>
        </p:nvSpPr>
        <p:spPr>
          <a:xfrm>
            <a:off x="6489039"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Same day, to the named contact, with what you know.</a:t>
            </a:r>
          </a:p>
        </p:txBody>
      </p:sp>
      <p:cxnSp>
        <p:nvCxnSpPr>
          <p:cNvPr id="33" name="vis:flowarrow"/>
          <p:cNvCxnSpPr/>
          <p:nvPr/>
        </p:nvCxnSpPr>
        <p:spPr>
          <a:xfrm>
            <a:off x="8878595" y="41696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2095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026663"/>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1043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75303"/>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They assess and notify</a:t>
            </a:r>
          </a:p>
        </p:txBody>
      </p:sp>
      <p:sp>
        <p:nvSpPr>
          <p:cNvPr id="38" name="vis:flowsub"/>
          <p:cNvSpPr txBox="1"/>
          <p:nvPr/>
        </p:nvSpPr>
        <p:spPr>
          <a:xfrm>
            <a:off x="9381515" y="41239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Within the statutory window, if it qualifies.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WHEN IT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report, ready to send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need to report a possible data incident. What happened: [one sentence]. When: [date and approximate time]. What data was involved: [type and rough number of people]. Who else knows: [names]. I have not deleted anything. Please tell me what you need from me next.</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Send it the same day. Incomplete and fast beats complete and late.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 have not deleted anything" matters — evidence is needed.</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rough number is enough to start an assessment.</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ends with a question, so somebody has to respond.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audit your inbox</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Search your sent items for attachments sent outside the company.</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Search your personal email for anything work-related.</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work files from any personal account you find them in.</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one old spreadsheet of personal data and ask whether we still need it.</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want to check whether a task involves personal data. Ask me five short questions, one at a time, then tell me whether it does and which of the four handling rules apply. Do not ask me to paste any actual data.</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Describe the task. Never paste the records themselves.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a customer asks what we hold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 not answer from memory, and do not delete anything.</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Pass it to [COMPANY INPUT NEEDED: who handles data requests] the same day.</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Tell the customer it has been passed on and will be answered.</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Note the date they asked. The response clock has already started.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data is allowed to live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this a company system somebody administers?</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Not allowed</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Personal email, a personal cloud drive, a USB stick, WhatsApp, an AI chat window. We cannot secure it, audit it or delete it.</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Fine</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Company email, the approved drive, the ERP, the CRM. Backed up, access-controlled, and deletable if we are ever asked.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the To and CC fields before every external send.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Collect the minimum, and question any field you do not use.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move work data to a personal account, for any reason.</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old copies. They are the ones that leak.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data protection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Collect less, keep it inside, delete it when the job is done.</a:t>
            </a:r>
          </a:p>
          <a:p>
            <a:pPr algn="l">
              <a:lnSpc>
                <a:spcPts val="1755"/>
              </a:lnSpc>
              <a:spcBef>
                <a:spcPts val="0"/>
              </a:spcBef>
              <a:spcAft>
                <a:spcPts val="0"/>
              </a:spcAft>
            </a:pPr>
            <a:r>
              <a:rPr sz="1350" b="0">
                <a:solidFill>
                  <a:srgbClr val="FFFFFF"/>
                </a:solidFill>
                <a:latin typeface="Segoe UI"/>
              </a:rPr>
              <a:t>Three habits that cover the overwhelming majority of what either law expects of you.</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 collected — cannot leak.</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Inside our systems — can be protected.</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Deleted when done — no longer a risk.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Friday, 6:15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want to finish a customer report at home over the weekend. The file has 300 customer names, phone numbers and order values in it.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Email it to your personal address so you can open it at home.</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Use the company's approved remote access from your own laptop.</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Copy it to a USB stick and take that home instead.</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 reportable transfer, with the best intentions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hundred people's details are now in an account the company cannot secure, audit or delete. If your personal email is ever breached, so were they. Nothing bad has to happen for this to be an incident.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Good intentions do not change where the data ended up.</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Same work, and the file never moves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connect to the company system and work on the file where it lives. Nothing is copied, nothing leaves, and if a customer asks what we hold on them next year, the answer is still accurate.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Move yourself to the data. Never move the data to yourself.</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same breach, in a more losable form</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USB stick is a company system that fits in a pocket and has no password, no audit trail and no backup. Lost sticks are among the most common causes of reported data incidents anywhere.</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copy is a copy, whatever it is copied onto.</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minutes from a regulator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Data protection explained in three minutes</a:t>
            </a:r>
          </a:p>
        </p:txBody>
      </p:sp>
      <p:sp>
        <p:nvSpPr>
          <p:cNvPr id="19" name="vis:chip"/>
          <p:cNvSpPr/>
          <p:nvPr/>
        </p:nvSpPr>
        <p:spPr>
          <a:xfrm>
            <a:off x="868680" y="3858768"/>
            <a:ext cx="4229105"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391820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INFORMATION COMMISSIONER'S OFFICE (ICO)</a:t>
            </a:r>
          </a:p>
        </p:txBody>
      </p:sp>
      <p:sp>
        <p:nvSpPr>
          <p:cNvPr id="21" name="vis:chip"/>
          <p:cNvSpPr/>
          <p:nvPr/>
        </p:nvSpPr>
        <p:spPr>
          <a:xfrm>
            <a:off x="5244089"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5399537"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2:54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From the UK's data protection regulator. The principles match India's DPDP Act and UAE law closely.</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personal data?</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vehicle number plate on a gate pass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total number of visitors last month</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Our published price list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name of a supplier company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vehicle number plate on a gate pass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identifies a vehicle, which identifies its keeper. Number plates, employee numbers and delivery addresses are all personal data even with no name attached.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total number of visitors last month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aggregate figure with nobody identifiable in it. Counts and totals are exactly what you should use when you need to share something.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Our published price list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Commercial information, not personal data. It may be confidential for other reasons, but no individual is identifiable from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name of a supplier company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company is not a person. A named contact at that company, with their direct line, certainly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pointing to one identifiable person.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rule prevents the most harm?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Encrypt everything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Collect less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Train everybody annually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Keep backups of everything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Encrypt everything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Valuable and it protects data you are still holding. It does nothing about the records you did not need to collect in the first place.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Collect less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the only perfect protection. A field you never asked for cannot leak, cannot be requested, cannot be stolen and never needs deleting.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Train everybody annually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Necessary and insufficient on its own. Training reduces mistakes; it does not reduce the amount of data sitting there to be mistaken with.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Keep backups of everything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Backups protect against loss and increase your exposure, because old copies of personal data are exactly what leaks years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Data you never collected cannot leak.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does the reporting clock start?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harm is confirmed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somebody in the company becomes aware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security team finishes investigating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a customer complains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harm is confirmed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Harm often never becomes visible, and waiting for it is how deadlines get missed. The obligation does not depend on anything actually going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somebody in the company becomes aware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moment you know is the moment the clock starts. That is why reporting the same day matters, even when you cannot answer every question yet.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the security team finishes investigating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cannot start investigating until you tell them. Delaying the report delays everything and eats the window.</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a customer complains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Most incidents are never noticed by the people affected. Waiting for a complaint means waiting for the worst possible version of finding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When you become aware.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mailout to 200 customers. What field?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CC, so everyone can see who else received it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BCC, so nobody sees any other address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with all 200 addresses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does not matter for existing customers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CC, so everyone can see who else received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discloses every customer's email address to every other customer, including competitors. It is the most common accidental disclosure there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BCC, so nobody sees any other address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Each recipient sees only their own. Check the field before you press send — this mistake is almost always made in a hurry, not in ignorance.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To, with all 200 addresses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Identical exposure to CC, and it also looks careless. Two hundred customers each receive a list of the other 199.</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It does not matter for existing customers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email address is still their personal data, and they did not consent to it being shared with your other customers.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BCC, every time.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customer asks what data we hold.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Answer from memory to be helpful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Pass it to the right person the same day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Tidy up their record first, then respond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them why they want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Answer from memory to be helpful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be incomplete, and your answer becomes the company's formal response. These requests have a defined process for good reason.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Pass it to the right person the same 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a statutory response period and it started when they asked. Note the date, tell the customer it has been passed on, and change nothing.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Tidy up their record first, then respond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Deleting or altering records after a request is a serious matter in its own right, quite separate from the original question.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them why they want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do not have to say. Asking looks obstructive and delays a clock that is already running.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Pass it on the same day. Delete nothing.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Data protection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 is wider than names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Number plates, photos, employee numbers and addresses all count.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Collect less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only perfect protection. A field you never asked for cannot leak.</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it inside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Company systems only. Never personal email, USB sticks or chat windows.</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Delete when done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Old copies from finished projects are what leak years later.</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BCC, always</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CC field exposes every customer address to every other customer.</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Report the day you know</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clock starts on awareness, not on harm. Incomplete and fast wins.</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Collect less, keep it inside, delete it when the job is done.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55922" y="2382199"/>
            <a:ext cx="244971" cy="223670"/>
          </a:xfrm>
          <a:custGeom>
            <a:avLst/>
            <a:gdLst/>
            <a:ahLst/>
            <a:cxnLst/>
            <a:rect l="l" t="t" r="r" b="b"/>
            <a:pathLst>
              <a:path w="244971" h="223670">
                <a:moveTo>
                  <a:pt x="122486" y="0"/>
                </a:moveTo>
                <a:lnTo>
                  <a:pt x="244971" y="223670"/>
                </a:lnTo>
                <a:lnTo>
                  <a:pt x="0" y="223670"/>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978408" y="2467407"/>
            <a:ext cx="0" cy="6656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965094" y="2557940"/>
            <a:ext cx="26627" cy="26627"/>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incident report wording</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when, how many, who knows, nothing deleted.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63910" y="3303046"/>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21686"/>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7" name="vis:icon"/>
          <p:cNvSpPr/>
          <p:nvPr/>
        </p:nvSpPr>
        <p:spPr>
          <a:xfrm>
            <a:off x="863910" y="3382928"/>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30478" y="3401568"/>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863910" y="3462810"/>
            <a:ext cx="37278" cy="3727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30478" y="3481449"/>
            <a:ext cx="165090"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 handling rules</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Collect less, stated purpose, keep inside, delete when done.</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882549" y="4309101"/>
            <a:ext cx="69231" cy="6923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951780" y="4229219"/>
            <a:ext cx="127811" cy="14911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inbox audit</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Sent items, personal email, old spreadsheets.</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SEC-05, Handling Confidential Information. The commercial material that is not personal data and still must not leave.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SEC-04  ·  Data Protection Basics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 information pointing to one identifiable person, with or without a name attached.</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DPDP Act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India's Digital Personal Data Protection Act, covering consent, purpose and breach notification.</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minimisation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Collecting only what you actually need. The strongest protection available.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breach</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 data going somewhere it should not. No attacker is required.</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Subject access request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person asking what data we hold about them. It has a legal response period.</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Retention</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How long we keep something. Old copies are the ones that cause incidents.</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