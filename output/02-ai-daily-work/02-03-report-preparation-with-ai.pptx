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1QY5HtuvTaw"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layer"/>
          <p:cNvSpPr/>
          <p:nvPr/>
        </p:nvSpPr>
        <p:spPr>
          <a:xfrm>
            <a:off x="7589520" y="3595420"/>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layer"/>
          <p:cNvSpPr/>
          <p:nvPr/>
        </p:nvSpPr>
        <p:spPr>
          <a:xfrm>
            <a:off x="7900416" y="3028492"/>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layer"/>
          <p:cNvSpPr/>
          <p:nvPr/>
        </p:nvSpPr>
        <p:spPr>
          <a:xfrm>
            <a:off x="8211312" y="2461564"/>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vis:coverlayer"/>
          <p:cNvSpPr/>
          <p:nvPr/>
        </p:nvSpPr>
        <p:spPr>
          <a:xfrm>
            <a:off x="8522208" y="1894636"/>
            <a:ext cx="2765145" cy="790041"/>
          </a:xfrm>
          <a:prstGeom prst="roundRect">
            <a:avLst>
              <a:gd name="adj" fmla="val 1157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960120" y="1114044"/>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9" name="title:cover"/>
          <p:cNvSpPr txBox="1"/>
          <p:nvPr/>
        </p:nvSpPr>
        <p:spPr>
          <a:xfrm>
            <a:off x="960120" y="1571244"/>
            <a:ext cx="5501487"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Report Preparation with AI</a:t>
            </a:r>
          </a:p>
        </p:txBody>
      </p:sp>
      <p:cxnSp>
        <p:nvCxnSpPr>
          <p:cNvPr id="10" name="vis:rule"/>
          <p:cNvCxnSpPr/>
          <p:nvPr/>
        </p:nvCxnSpPr>
        <p:spPr>
          <a:xfrm>
            <a:off x="960120" y="335330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1" name="body:coversub"/>
          <p:cNvSpPr txBox="1"/>
          <p:nvPr/>
        </p:nvSpPr>
        <p:spPr>
          <a:xfrm>
            <a:off x="960120" y="3627628"/>
            <a:ext cx="5501487" cy="78130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Turning what you already know into a report somebody actually reads to the end.</a:t>
            </a:r>
          </a:p>
        </p:txBody>
      </p:sp>
      <p:sp>
        <p:nvSpPr>
          <p:cNvPr id="12" name="vis:chip"/>
          <p:cNvSpPr/>
          <p:nvPr/>
        </p:nvSpPr>
        <p:spPr>
          <a:xfrm>
            <a:off x="960120" y="4811268"/>
            <a:ext cx="1043559"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vis:chiptext"/>
          <p:cNvSpPr txBox="1"/>
          <p:nvPr/>
        </p:nvSpPr>
        <p:spPr>
          <a:xfrm>
            <a:off x="1115568" y="4856988"/>
            <a:ext cx="73266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DW-03</a:t>
            </a:r>
          </a:p>
        </p:txBody>
      </p:sp>
      <p:sp>
        <p:nvSpPr>
          <p:cNvPr id="14" name="vis:chip"/>
          <p:cNvSpPr/>
          <p:nvPr/>
        </p:nvSpPr>
        <p:spPr>
          <a:xfrm>
            <a:off x="2149983" y="4811268"/>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chiptext"/>
          <p:cNvSpPr txBox="1"/>
          <p:nvPr/>
        </p:nvSpPr>
        <p:spPr>
          <a:xfrm>
            <a:off x="2305431" y="4856988"/>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6" name="vis:chip"/>
          <p:cNvSpPr/>
          <p:nvPr/>
        </p:nvSpPr>
        <p:spPr>
          <a:xfrm>
            <a:off x="3752596" y="481126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text"/>
          <p:cNvSpPr txBox="1"/>
          <p:nvPr/>
        </p:nvSpPr>
        <p:spPr>
          <a:xfrm>
            <a:off x="3908044" y="485698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8"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9"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DW-03  ·  Report Preparation with AI</a:t>
            </a:r>
          </a:p>
        </p:txBody>
      </p:sp>
      <p:sp>
        <p:nvSpPr>
          <p:cNvPr id="20"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Ravi writes reports nobody finishes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45649" y="2218436"/>
            <a:ext cx="231277" cy="318006"/>
          </a:xfrm>
          <a:prstGeom prst="roundRect">
            <a:avLst>
              <a:gd name="adj" fmla="val 19768"/>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96241" y="2319620"/>
            <a:ext cx="13009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96241" y="2377439"/>
            <a:ext cx="13009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1096241" y="2435259"/>
            <a:ext cx="867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Ravi is a site engineer covering three plants near Pune. His visit reports are thorough and eleven pages long. His manager reads the first page and rings him for the rest, every single time.</a:t>
            </a:r>
          </a:p>
        </p:txBody>
      </p:sp>
      <p:sp>
        <p:nvSpPr>
          <p:cNvPr id="23"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Six hours of writing, and the same phone call anyway.</a:t>
            </a:r>
          </a:p>
        </p:txBody>
      </p:sp>
      <p:sp>
        <p:nvSpPr>
          <p:cNvPr id="29"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31"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2"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The answer first, in one paragraph. The detail underneath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3938" y="196661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1987247"/>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33938" y="205505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07639" y="207568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33938" y="2143492"/>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07639" y="216412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3"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Put the answer in the first paragraph, every time</a:t>
            </a:r>
          </a:p>
        </p:txBody>
      </p:sp>
      <p:sp>
        <p:nvSpPr>
          <p:cNvPr id="24"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66367" y="2842086"/>
            <a:ext cx="188673" cy="259426"/>
          </a:xfrm>
          <a:prstGeom prst="roundRect">
            <a:avLst>
              <a:gd name="adj" fmla="val 24232"/>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007639" y="2924631"/>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a:off x="1007639" y="2971800"/>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a:off x="1007639" y="3018968"/>
            <a:ext cx="7075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0"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Turn rough site notes into a readable report in ten minutes</a:t>
            </a:r>
          </a:p>
        </p:txBody>
      </p:sp>
      <p:sp>
        <p:nvSpPr>
          <p:cNvPr id="31"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30990" y="3755887"/>
            <a:ext cx="259426" cy="224049"/>
          </a:xfrm>
          <a:prstGeom prst="roundRect">
            <a:avLst>
              <a:gd name="adj" fmla="val 20406"/>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930990" y="3826639"/>
            <a:ext cx="25942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a:off x="1031223" y="3755887"/>
            <a:ext cx="0" cy="22404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930990" y="3903288"/>
            <a:ext cx="25942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Keep one report structure your team recognises on sight</a:t>
            </a:r>
          </a:p>
        </p:txBody>
      </p:sp>
      <p:sp>
        <p:nvSpPr>
          <p:cNvPr id="38"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925094" y="4657895"/>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vis:icon"/>
          <p:cNvSpPr/>
          <p:nvPr/>
        </p:nvSpPr>
        <p:spPr>
          <a:xfrm>
            <a:off x="1019431" y="4722751"/>
            <a:ext cx="82544" cy="82544"/>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Cut a report in half without losing anything that matters</a:t>
            </a:r>
          </a:p>
        </p:txBody>
      </p:sp>
      <p:sp>
        <p:nvSpPr>
          <p:cNvPr id="43"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5" name="vis:icon"/>
          <p:cNvCxnSpPr/>
          <p:nvPr/>
        </p:nvCxnSpPr>
        <p:spPr>
          <a:xfrm>
            <a:off x="954575" y="5666032"/>
            <a:ext cx="76648" cy="76648"/>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46" name="vis:icon"/>
          <p:cNvCxnSpPr/>
          <p:nvPr/>
        </p:nvCxnSpPr>
        <p:spPr>
          <a:xfrm flipV="1">
            <a:off x="1031223" y="5577591"/>
            <a:ext cx="141505" cy="16508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7"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Make sure every number in it traces to something real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Answer first</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Why page eleven is too late</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five-part shape</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One structure, every report</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Notes into report</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Ten minutes, grounded</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Cutting it in half</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Without losing substance</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Rewrite one real report</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month-end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9-minute outside walkthrough</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ANSWER FIRST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Page eleven is too late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Most work reports are written in the order the work happened. Nobody reads in that order.</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2067863"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175696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WRITTEN IN ORDER</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How the work happened</a:t>
            </a:r>
          </a:p>
        </p:txBody>
      </p:sp>
      <p:cxnSp>
        <p:nvCxnSpPr>
          <p:cNvPr id="21" name="vis:icon"/>
          <p:cNvCxnSpPr/>
          <p:nvPr/>
        </p:nvCxnSpPr>
        <p:spPr>
          <a:xfrm>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2" name="vis:icon"/>
          <p:cNvCxnSpPr/>
          <p:nvPr/>
        </p:nvCxnSpPr>
        <p:spPr>
          <a:xfrm flipH="1">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Background and scope of the visit</a:t>
            </a:r>
          </a:p>
        </p:txBody>
      </p:sp>
      <p:cxnSp>
        <p:nvCxnSpPr>
          <p:cNvPr id="24" name="vis:icon"/>
          <p:cNvCxnSpPr/>
          <p:nvPr/>
        </p:nvCxnSpPr>
        <p:spPr>
          <a:xfrm>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H="1">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was inspected, area by area</a:t>
            </a:r>
          </a:p>
        </p:txBody>
      </p:sp>
      <p:cxnSp>
        <p:nvCxnSpPr>
          <p:cNvPr id="27" name="vis:icon"/>
          <p:cNvCxnSpPr/>
          <p:nvPr/>
        </p:nvCxnSpPr>
        <p:spPr>
          <a:xfrm>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H="1">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Observations in the sequence found</a:t>
            </a:r>
          </a:p>
        </p:txBody>
      </p:sp>
      <p:cxnSp>
        <p:nvCxnSpPr>
          <p:cNvPr id="30" name="vis:icon"/>
          <p:cNvCxnSpPr/>
          <p:nvPr/>
        </p:nvCxnSpPr>
        <p:spPr>
          <a:xfrm>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H="1">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Conclusion and recommendation, page eleven</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16823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13714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ANSWER FIRST</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How it gets read</a:t>
            </a:r>
          </a:p>
        </p:txBody>
      </p:sp>
      <p:cxnSp>
        <p:nvCxnSpPr>
          <p:cNvPr id="38" name="vis:icon"/>
          <p:cNvCxnSpPr/>
          <p:nvPr/>
        </p:nvCxnSpPr>
        <p:spPr>
          <a:xfrm>
            <a:off x="6560362" y="414131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6607911" y="408645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recommendation, in one paragraph</a:t>
            </a:r>
          </a:p>
        </p:txBody>
      </p:sp>
      <p:cxnSp>
        <p:nvCxnSpPr>
          <p:cNvPr id="41" name="vis:icon"/>
          <p:cNvCxnSpPr/>
          <p:nvPr/>
        </p:nvCxnSpPr>
        <p:spPr>
          <a:xfrm>
            <a:off x="6560362" y="458937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V="1">
            <a:off x="6607911" y="453450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three findings behind it</a:t>
            </a:r>
          </a:p>
        </p:txBody>
      </p:sp>
      <p:cxnSp>
        <p:nvCxnSpPr>
          <p:cNvPr id="44" name="vis:icon"/>
          <p:cNvCxnSpPr/>
          <p:nvPr/>
        </p:nvCxnSpPr>
        <p:spPr>
          <a:xfrm>
            <a:off x="6560362" y="503742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V="1">
            <a:off x="6607911" y="498256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happens next, and who does it</a:t>
            </a:r>
          </a:p>
        </p:txBody>
      </p:sp>
      <p:cxnSp>
        <p:nvCxnSpPr>
          <p:cNvPr id="47" name="vis:icon"/>
          <p:cNvCxnSpPr/>
          <p:nvPr/>
        </p:nvCxnSpPr>
        <p:spPr>
          <a:xfrm>
            <a:off x="6560362" y="548548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V="1">
            <a:off x="6607911" y="543062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Everything else, for whoever wants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ANSWER FIRST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one paragraph that matters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opening-paragraph prompt</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Write the opening paragraph of a report, under 80 words. It must state the conclusion, the single most important reason for it, and what I am asking the reader to do. Use only the facts below. Do not add background, and do not describe what the report contains.</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If your reader stops after this paragraph, they still know what to do.</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"Do not describe what the report contains" kills the usual filler.</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Conclusion, reason, ask — the three things a manager needs.</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Eighty words forces a real decision about what matters.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FIVE-PART SHAPE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One shape for every report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I FOUND — the conclusion, in one paragraph</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WHY IT MATTERS — the impact, in numbers where possible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I RECOMMEND — one clear action, with an owner</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I SAW — the evidence, as long as it needs to be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FIVE-PART SHAPE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a fixed shape helps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190229"/>
            <a:ext cx="301269" cy="301269"/>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106424" y="2251852"/>
            <a:ext cx="0" cy="8901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106424" y="2340863"/>
            <a:ext cx="75317" cy="2738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Faster to write</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structure stops being a decision, so you spend your time on content instead.</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769000" y="2217617"/>
            <a:ext cx="314964" cy="246493"/>
          </a:xfrm>
          <a:custGeom>
            <a:avLst/>
            <a:gdLst/>
            <a:ahLst/>
            <a:cxnLst/>
            <a:rect l="l" t="t" r="r" b="b"/>
            <a:pathLst>
              <a:path w="314964" h="246493">
                <a:moveTo>
                  <a:pt x="0" y="123246"/>
                </a:moveTo>
                <a:lnTo>
                  <a:pt x="157482" y="0"/>
                </a:lnTo>
                <a:lnTo>
                  <a:pt x="314964" y="123246"/>
                </a:lnTo>
                <a:lnTo>
                  <a:pt x="157482" y="246493"/>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vis:icon"/>
          <p:cNvSpPr/>
          <p:nvPr/>
        </p:nvSpPr>
        <p:spPr>
          <a:xfrm>
            <a:off x="4878553" y="2292934"/>
            <a:ext cx="95858" cy="95858"/>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Faster to read</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Your manager learns where things live and stops hunting for the recommendation.</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595906" y="2210770"/>
            <a:ext cx="301269" cy="260187"/>
          </a:xfrm>
          <a:prstGeom prst="roundRect">
            <a:avLst>
              <a:gd name="adj" fmla="val 17571"/>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8595906" y="2292934"/>
            <a:ext cx="30126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a:off x="8712305" y="2210770"/>
            <a:ext cx="0" cy="26018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a:off x="8595906" y="2381946"/>
            <a:ext cx="30126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Comparable</a:t>
            </a:r>
          </a:p>
        </p:txBody>
      </p:sp>
      <p:sp>
        <p:nvSpPr>
          <p:cNvPr id="35"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Six site reports in the same shape can be read side by side. Six freeform ones cannot.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NOTES INTO REPORT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Rough notes into a report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5816644"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these site notes into a report using this exact structure: WHAT I FOUND, WHY IT MATTERS, WHAT I RECOMMEND, WHAT I SAW. Use only my notes. Add no causes, no numbers and no recommendations I have not written. Where something is missing, write [CHECK]. Under 400 words.</a:t>
            </a:r>
          </a:p>
        </p:txBody>
      </p:sp>
      <p:sp>
        <p:nvSpPr>
          <p:cNvPr id="28" name="vis:promptcap"/>
          <p:cNvSpPr txBox="1"/>
          <p:nvPr/>
        </p:nvSpPr>
        <p:spPr>
          <a:xfrm>
            <a:off x="777240" y="385571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Then paste your notes underneath, however rough they are.</a:t>
            </a:r>
          </a:p>
        </p:txBody>
      </p:sp>
      <p:sp>
        <p:nvSpPr>
          <p:cNvPr id="29" name="vis:outcard"/>
          <p:cNvSpPr/>
          <p:nvPr/>
        </p:nvSpPr>
        <p:spPr>
          <a:xfrm>
            <a:off x="6685324" y="1719072"/>
            <a:ext cx="5003450" cy="2609087"/>
          </a:xfrm>
          <a:prstGeom prst="roundRect">
            <a:avLst>
              <a:gd name="adj" fmla="val 350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60908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74955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four-part report in the shape your team already recognises.</a:t>
            </a:r>
          </a:p>
          <a:p>
            <a:pPr algn="l">
              <a:lnSpc>
                <a:spcPts val="1690"/>
              </a:lnSpc>
              <a:spcBef>
                <a:spcPts val="0"/>
              </a:spcBef>
              <a:spcAft>
                <a:spcPts val="600"/>
              </a:spcAft>
            </a:pPr>
            <a:r>
              <a:rPr sz="1300" b="0">
                <a:solidFill>
                  <a:srgbClr val="2A3547"/>
                </a:solidFill>
                <a:latin typeface="Segoe UI"/>
              </a:rPr>
              <a:t>[CHECK] wherever your notes were thin, instead of an invented cause.</a:t>
            </a:r>
          </a:p>
          <a:p>
            <a:pPr algn="l">
              <a:lnSpc>
                <a:spcPts val="1690"/>
              </a:lnSpc>
              <a:spcBef>
                <a:spcPts val="0"/>
              </a:spcBef>
              <a:spcAft>
                <a:spcPts val="600"/>
              </a:spcAft>
            </a:pPr>
            <a:r>
              <a:rPr sz="1300" b="0">
                <a:solidFill>
                  <a:srgbClr val="2A3547"/>
                </a:solidFill>
                <a:latin typeface="Segoe UI"/>
              </a:rPr>
              <a:t>Six hours of writing becomes twenty minutes of checking and editing.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NOTES INTO REPORT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line that protects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"Add no causes I have not written" is the most important line in a report prompt.</a:t>
            </a:r>
          </a:p>
          <a:p>
            <a:pPr algn="l">
              <a:lnSpc>
                <a:spcPts val="1755"/>
              </a:lnSpc>
              <a:spcBef>
                <a:spcPts val="0"/>
              </a:spcBef>
              <a:spcAft>
                <a:spcPts val="0"/>
              </a:spcAft>
            </a:pPr>
            <a:r>
              <a:rPr sz="1350" b="0">
                <a:solidFill>
                  <a:srgbClr val="FFFFFF"/>
                </a:solidFill>
                <a:latin typeface="Segoe UI"/>
              </a:rPr>
              <a:t>Reports are where invented explanations do the most damage, because people act on them.</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will suggest a cause if you let it.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 cause will sound reasonable.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Somebody will fix the wrong thing.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CUTTING IT IN HALF</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Cut it without losing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cutting prompt</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Cut this report to half its length. Keep every number, date, name of a location and recommendation exactly as written. Remove background, repetition and anything that describes the report itself. Do not rewrite the conclusions.</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Naming what to protect is what makes cutting safe.</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Without the protection list it cuts numbers first.</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Background and self-description are usually a third of it.</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conclusions stay in your words, not its paraphrase.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CUTTING IT IN HALF</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to cut, what to keep</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663120"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35222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ELEVEN PAGES</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Two pages of background the reader already knows.</a:t>
            </a:r>
          </a:p>
          <a:p>
            <a:pPr algn="l">
              <a:lnSpc>
                <a:spcPts val="1690"/>
              </a:lnSpc>
              <a:spcBef>
                <a:spcPts val="0"/>
              </a:spcBef>
              <a:spcAft>
                <a:spcPts val="600"/>
              </a:spcAft>
            </a:pPr>
            <a:r>
              <a:rPr sz="1300" b="0">
                <a:solidFill>
                  <a:srgbClr val="2A3547"/>
                </a:solidFill>
                <a:latin typeface="Segoe UI"/>
              </a:rPr>
              <a:t>Every area inspected, including the ones with nothing to report.</a:t>
            </a:r>
          </a:p>
          <a:p>
            <a:pPr algn="l">
              <a:lnSpc>
                <a:spcPts val="1690"/>
              </a:lnSpc>
              <a:spcBef>
                <a:spcPts val="0"/>
              </a:spcBef>
              <a:spcAft>
                <a:spcPts val="600"/>
              </a:spcAft>
            </a:pPr>
            <a:r>
              <a:rPr sz="1300" b="0">
                <a:solidFill>
                  <a:srgbClr val="2A3547"/>
                </a:solidFill>
                <a:latin typeface="Segoe UI"/>
              </a:rPr>
              <a:t>The recommendation on page eleven, in a paragraph about next steps.</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50691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19601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FOUR PAGES</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Recommendation in the first eighty words.</a:t>
            </a:r>
          </a:p>
          <a:p>
            <a:pPr algn="l">
              <a:lnSpc>
                <a:spcPts val="1690"/>
              </a:lnSpc>
              <a:spcBef>
                <a:spcPts val="0"/>
              </a:spcBef>
              <a:spcAft>
                <a:spcPts val="600"/>
              </a:spcAft>
            </a:pPr>
            <a:r>
              <a:rPr sz="1300" b="0">
                <a:solidFill>
                  <a:srgbClr val="2A3547"/>
                </a:solidFill>
                <a:latin typeface="Segoe UI"/>
              </a:rPr>
              <a:t>Three findings that actually changed something.</a:t>
            </a:r>
          </a:p>
          <a:p>
            <a:pPr algn="l">
              <a:lnSpc>
                <a:spcPts val="1690"/>
              </a:lnSpc>
              <a:spcBef>
                <a:spcPts val="0"/>
              </a:spcBef>
              <a:spcAft>
                <a:spcPts val="600"/>
              </a:spcAft>
            </a:pPr>
            <a:r>
              <a:rPr sz="1300" b="0">
                <a:solidFill>
                  <a:srgbClr val="2A3547"/>
                </a:solidFill>
                <a:latin typeface="Segoe UI"/>
              </a:rPr>
              <a:t>Full evidence still there, at the back, for whoever wants it.</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Nothing was lost. It was reordered so that stopping early still leaves the reader informed.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rewrite 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the last report you wrote that got a phone call back.</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your recommendation and move it to the top.</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it in with the cutting prompt and a word limit.</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Compare the two. Send the short one next time.</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Rewrite this report so the conclusion and recommendation come first, in under 80 words, followed by the three findings that support them, then everything else. Keep all numbers and dates exactly. Change no conclusions. Mark anything unclear as [CHECK].</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The fastest improvement most people can make to their writing.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Before it leaves your desk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Every number traces to a note, a system or a photo.</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cause is stated that you did not personally establish.</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 recommendation names one owner and one date.</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Someone reading only the first paragraph knows what to 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Letting it explain why something happened</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was not there. A plausible cause sends somebody to fix the wrong machine.</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Writing in the order the work happened</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Your reader is not retracing your day. They want the answer and then the proof.</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for "a professional report"</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get headings, filler and an executive summary that summarises nothing.</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Cutting without protecting the numbers</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Told simply to shorten, it drops figures before it drops adjectives.</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Keeping the self-describing paragraph</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"This report sets out the findings of..." is fifty words that inform nobody.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Reports you should not automate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Does this report make a judgement about a person?</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Draft it with AI</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Site visits, monthly summaries, project updates, technical findings. You supply the observations and it supplies the structure and the sentences.</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7730026"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7863163" y="3967764"/>
            <a:ext cx="61448"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Write it yourself</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Performance, conduct, capability, incident reports involving individuals. Your judgement, in your words. Use AI to check clarity afterwards at most.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a good report does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First paragraph</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reader knows what to do, and can stop here.</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Next half page</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They know why, and can defend it to someone else.</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0E6E75"/>
                </a:solidFill>
                <a:latin typeface="Segoe UI Semibold"/>
              </a:rPr>
              <a:t>The rest</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Evidence, available if anyone challenges it.</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Almost nobody reads a report end to end. Writing for the reader who stops early is not dumbing down — it is the whole craft.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report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You supply the findings. It supplies the structure. Nobody supplies the causes but you.</a:t>
            </a:r>
          </a:p>
          <a:p>
            <a:pPr algn="l">
              <a:lnSpc>
                <a:spcPts val="1755"/>
              </a:lnSpc>
              <a:spcBef>
                <a:spcPts val="0"/>
              </a:spcBef>
              <a:spcAft>
                <a:spcPts val="0"/>
              </a:spcAft>
            </a:pPr>
            <a:r>
              <a:rPr sz="1350" b="0">
                <a:solidFill>
                  <a:srgbClr val="FFFFFF"/>
                </a:solidFill>
                <a:latin typeface="Segoe UI"/>
              </a:rPr>
              <a:t>Findings and causes are different things, and only one of them can be observed.</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Observations — yours.</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Structure and wording — its job.</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Causes — only what you established.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Month-end, 6:20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Your site report is due tonight. You have four pages of rough notes, two photographs and a manager who reads only the first page.</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it to write the report and explain the rejection trend.</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for the four-part structure, using only your notes, with [CHECK] for gaps.</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Type the whole report yourself, as usual.</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It will explain something it never saw</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report is well written and confidently attributes the trend to operator changeover. Your notes say nothing about changeover. Maintenance spend two days on the wrong line, citing your report.</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can order your observations. It cannot know why they happened.</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Twenty minutes, and it says only what you saw</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get the report in the shape your manager recognises, with three [CHECK] markers where your notes were thin. You fill two from memory and flag the third as needing a follow-up visit. Sent at 6:45.</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marked gap is worth more than a smooth invention.</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Accurate, and you will be here until nine</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Everything in it is true, because you wrote every word. It is also eleven pages in the order the day happened, so your manager reads page one and rings you tomorrow, exactly as always.</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Writing it yourself protects accuracy, not readability.</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Nine minutes on report writing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 Effortless report writing with AI! 🚀</a:t>
            </a:r>
          </a:p>
        </p:txBody>
      </p:sp>
      <p:sp>
        <p:nvSpPr>
          <p:cNvPr id="19" name="vis:chip"/>
          <p:cNvSpPr/>
          <p:nvPr/>
        </p:nvSpPr>
        <p:spPr>
          <a:xfrm>
            <a:off x="868680" y="3858768"/>
            <a:ext cx="130009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98920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ASTRANTI</a:t>
            </a:r>
          </a:p>
        </p:txBody>
      </p:sp>
      <p:sp>
        <p:nvSpPr>
          <p:cNvPr id="21" name="vis:chip"/>
          <p:cNvSpPr/>
          <p:nvPr/>
        </p:nvSpPr>
        <p:spPr>
          <a:xfrm>
            <a:off x="2315083" y="3858768"/>
            <a:ext cx="120167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470531" y="3895344"/>
            <a:ext cx="8907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9:17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does the recommendation go?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At the end, after the evidence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first paragraph, with the reason and the ask</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a separate covering email</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middle, after the context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At the end, after the evidence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order the work happened, not the order it gets read. Your reader reaches page one and rings you for the answer.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First paragraph, always.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In the first paragraph, with the reason and the ask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they stop after eighty words they still know what you found, why it matters and what you want them to do. Everything after that is supporting evidence.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First paragraph, always.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In a separate covering email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Then the report and its conclusion get separated the first time either is forwarded, and the report on its own reads as inconclusive.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First paragraph, always.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In the middle, after the context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middle is where attention is lowest. It is the worst place for the one paragraph that has to survive a skim.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First paragraph, always.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line protects a report most?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"Make it professional"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"Add no causes I have not written"</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"Keep it under 400 words"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"Use formal language"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"Make it professional"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produces headings and filler. It does nothing about the one real risk, which is an invented explanation people then act 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"Add no causes I have not written."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"Add no causes I have not written"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Reports are where invented causes do real damage, because somebody schedules work against them. This line turns a smooth explanation into an honest gap.</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"Add no causes I have not written."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"Keep it under 400 words"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Useful for readability, and it does nothing about accuracy. A short report can carry an invented cause just as easily as a long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"Add no causes I have not written."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"Use formal language"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Style only. Formal language arguably makes an invented cause more convincing, not less.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"Add no causes I have not written."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do you cut a report safely?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it to shorten the report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Say what to protect: numbers, dates, recommendations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Cut it yourself, line by line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for bullet points instead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Ask it to shorten the report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Told only to shorten, it drops specifics before it drops adjectives. You lose figures and dates and keep the background.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what must survive.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Say what to protect: numbers, dates, recommendations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protection list changes what gets cut. Background, repetition and self-description go, and everything load-bearing stays exactly as you wrote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what must survive.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Cut it yourself, line by line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Reliable and slow. Worth doing for a board paper; unnecessary for a routine report where a protection list does the same job in seconds.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what must survive.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 for bullet points instead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changes the format rather than the length, and bullets often lose the reasoning that connected the findings.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what must survive.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report should you write alone?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monthly production summary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conduct report about a named employee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site visit report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project status update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monthly production summary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Repeated, factual and structured. The ideal case for a stored prompt, as long as you supply every figure.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judging a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conduct report about a named employee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concerns a person, it may be read in a formal process, and it must carry your judgement in your words. Their name should also never be typed into the tool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judging a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site visit report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Observations you made, structured by the tool. Just make sure it adds no causes you did not personally establish.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judging a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project status update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Routine and repeated. A fixed structure makes six months of updates comparable, which is worth more than freeform prose.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judging a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[CHECK] achieve in a draft?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tells the tool to research the point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marks where your notes were thin, instead of filling it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hides incomplete sections from the reader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shortens the report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tells the tool to research the point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cannot research anything. The marker is an instruction to stop and flag, not to go and find.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visible gap instead of a smooth invention.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marks where your notes were thin, instead of filling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Without it, a gap in your notes is closed with something plausible and you never see it happen. With it, you get a marker you can resolve properly or flag for a follow-up.</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visible gap instead of a smooth invention.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hides incomplete sections from the reader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opposite. It makes them visible, to you first and then to your reader if you choose to leave it 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visible gap instead of a smooth invention.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shortens the report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Marginally, and that is not the point. The value is honesty about what you actually established.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visible gap instead of a smooth invention.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Report writing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Answer first, always</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Conclusion, reason and ask in the first eighty words.</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 shape every time</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Found, matters, recommend, saw. Faster to write and to read.</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let it supply causes</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was not there. An invented cause sends people to fix the wrong thing.</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Mark gaps with [CHECK]</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visible gap is worth far more than a smooth invention.</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Protect before you cut</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Name the numbers, dates and recommendations that must survive.</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Write for the reader who stops</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Almost nobody reaches the end. Design for the first page.</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535"/>
              </a:lnSpc>
              <a:spcBef>
                <a:spcPts val="0"/>
              </a:spcBef>
              <a:spcAft>
                <a:spcPts val="0"/>
              </a:spcAft>
            </a:pPr>
            <a:r>
              <a:rPr sz="1950" b="0">
                <a:solidFill>
                  <a:srgbClr val="FFFFFF"/>
                </a:solidFill>
                <a:latin typeface="Segoe UI Semibold"/>
              </a:rPr>
              <a:t>You supply the findings. It supplies the structure. Nobody supplies the causes but you.</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93200" y="2382199"/>
            <a:ext cx="170414" cy="234320"/>
          </a:xfrm>
          <a:prstGeom prst="roundRect">
            <a:avLst>
              <a:gd name="adj" fmla="val 26828"/>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0478" y="2456756"/>
            <a:ext cx="9585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30478" y="2499359"/>
            <a:ext cx="9585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930478" y="2541963"/>
            <a:ext cx="63906"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notes-into-report prompt</a:t>
            </a:r>
          </a:p>
        </p:txBody>
      </p:sp>
      <p:sp>
        <p:nvSpPr>
          <p:cNvPr id="23"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Four-part structure, no invented causes, [CHECK] for gaps.</a:t>
            </a:r>
          </a:p>
        </p:txBody>
      </p:sp>
      <p:sp>
        <p:nvSpPr>
          <p:cNvPr id="24"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863910" y="3303046"/>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930478" y="3321686"/>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8" name="vis:icon"/>
          <p:cNvSpPr/>
          <p:nvPr/>
        </p:nvSpPr>
        <p:spPr>
          <a:xfrm>
            <a:off x="863910" y="3382928"/>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930478" y="3401568"/>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0" name="vis:icon"/>
          <p:cNvSpPr/>
          <p:nvPr/>
        </p:nvSpPr>
        <p:spPr>
          <a:xfrm>
            <a:off x="863910" y="3462810"/>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930478" y="3481449"/>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opening-paragraph prompt</a:t>
            </a:r>
          </a:p>
        </p:txBody>
      </p:sp>
      <p:sp>
        <p:nvSpPr>
          <p:cNvPr id="33"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Conclusion, reason and ask in under eighty words.</a:t>
            </a:r>
          </a:p>
        </p:txBody>
      </p:sp>
      <p:sp>
        <p:nvSpPr>
          <p:cNvPr id="34"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872126" y="4211536"/>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vis:icon"/>
          <p:cNvSpPr/>
          <p:nvPr/>
        </p:nvSpPr>
        <p:spPr>
          <a:xfrm>
            <a:off x="913171" y="4190343"/>
            <a:ext cx="48994" cy="42071"/>
          </a:xfrm>
          <a:custGeom>
            <a:avLst/>
            <a:gdLst/>
            <a:ahLst/>
            <a:cxnLst/>
            <a:rect l="l" t="t" r="r" b="b"/>
            <a:pathLst>
              <a:path w="48994" h="42071">
                <a:moveTo>
                  <a:pt x="48994" y="0"/>
                </a:moveTo>
                <a:lnTo>
                  <a:pt x="23964" y="42071"/>
                </a:lnTo>
                <a:lnTo>
                  <a:pt x="0" y="533"/>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safe-cutting prompt</a:t>
            </a:r>
          </a:p>
        </p:txBody>
      </p:sp>
      <p:sp>
        <p:nvSpPr>
          <p:cNvPr id="39"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Half the length, with numbers and dates protected.</a:t>
            </a:r>
          </a:p>
        </p:txBody>
      </p:sp>
      <p:sp>
        <p:nvSpPr>
          <p:cNvPr id="40"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41"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4"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5"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46"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8"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9"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50"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51"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3"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54"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5"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6"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8"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DW-04, Data Analysis with AI. Getting a straight answer out of a spreadsheet without letting it invent the arithmetic.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DW-03  ·  Report Preparation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Executive summary</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opening paragraph carrying the conclusion, the reason and the ask.</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Finding</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Something you observed. Different from a cause, which is an explanation of it.</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Cause</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Why something happened. Only you can establish this, and only if you checked.</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[CHECK]</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marker the tool writes where a fact is missing, instead of inventing one.</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notes, the structure and the constraints.</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