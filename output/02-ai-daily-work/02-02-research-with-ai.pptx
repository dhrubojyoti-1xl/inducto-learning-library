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8.xml"/><Relationship Id="rId8" Type="http://schemas.openxmlformats.org/officeDocument/2006/relationships/slide" Target="slide22.xml"/><Relationship Id="rId9" Type="http://schemas.openxmlformats.org/officeDocument/2006/relationships/slide" Target="slide23.xml"/><Relationship Id="rId10" Type="http://schemas.openxmlformats.org/officeDocument/2006/relationships/slide" Target="slide48.xml"/><Relationship Id="rId11" Type="http://schemas.openxmlformats.org/officeDocument/2006/relationships/slide" Target="slide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 Target="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ld3XMuXwLcE" TargetMode="Externa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4.xml"/><Relationship Id="rId4" Type="http://schemas.openxmlformats.org/officeDocument/2006/relationships/slide" Target="slide25.xml"/><Relationship Id="rId5" Type="http://schemas.openxmlformats.org/officeDocument/2006/relationships/slide" Target="slide26.xml"/><Relationship Id="rId6" Type="http://schemas.openxmlformats.org/officeDocument/2006/relationships/slide" Target="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9.xml"/><Relationship Id="rId4" Type="http://schemas.openxmlformats.org/officeDocument/2006/relationships/slide" Target="slide30.xml"/><Relationship Id="rId5" Type="http://schemas.openxmlformats.org/officeDocument/2006/relationships/slide" Target="slide31.xml"/><Relationship Id="rId6"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 Target="slide36.xml"/><Relationship Id="rId6" Type="http://schemas.openxmlformats.org/officeDocument/2006/relationships/slide" Target="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9.xml"/><Relationship Id="rId4" Type="http://schemas.openxmlformats.org/officeDocument/2006/relationships/slide" Target="slide40.xml"/><Relationship Id="rId5" Type="http://schemas.openxmlformats.org/officeDocument/2006/relationships/slide" Target="slide41.xml"/><Relationship Id="rId6" Type="http://schemas.openxmlformats.org/officeDocument/2006/relationships/slide" Target="slide4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 Id="rId6" Type="http://schemas.openxmlformats.org/officeDocument/2006/relationships/slide" Target="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8.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block"/>
          <p:cNvSpPr/>
          <p:nvPr/>
        </p:nvSpPr>
        <p:spPr>
          <a:xfrm>
            <a:off x="7589520"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 name="vis:coverline"/>
          <p:cNvCxnSpPr/>
          <p:nvPr/>
        </p:nvCxnSpPr>
        <p:spPr>
          <a:xfrm flipV="1">
            <a:off x="8355787"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vis:coverblock"/>
          <p:cNvSpPr/>
          <p:nvPr/>
        </p:nvSpPr>
        <p:spPr>
          <a:xfrm>
            <a:off x="8626449" y="2838297"/>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7" name="vis:coverline"/>
          <p:cNvCxnSpPr/>
          <p:nvPr/>
        </p:nvCxnSpPr>
        <p:spPr>
          <a:xfrm>
            <a:off x="9392716" y="3152064"/>
            <a:ext cx="234087"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vis:coverblock"/>
          <p:cNvSpPr/>
          <p:nvPr/>
        </p:nvSpPr>
        <p:spPr>
          <a:xfrm>
            <a:off x="9663379"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coverline"/>
          <p:cNvCxnSpPr/>
          <p:nvPr/>
        </p:nvCxnSpPr>
        <p:spPr>
          <a:xfrm flipV="1">
            <a:off x="10429646"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vis:coverblock"/>
          <p:cNvSpPr/>
          <p:nvPr/>
        </p:nvSpPr>
        <p:spPr>
          <a:xfrm>
            <a:off x="10700308" y="2838297"/>
            <a:ext cx="729691" cy="627534"/>
          </a:xfrm>
          <a:prstGeom prst="roundRect">
            <a:avLst>
              <a:gd name="adj" fmla="val 1457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seclabel"/>
          <p:cNvSpPr txBox="1"/>
          <p:nvPr/>
        </p:nvSpPr>
        <p:spPr>
          <a:xfrm>
            <a:off x="960120" y="1477263"/>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12" name="title:cover"/>
          <p:cNvSpPr txBox="1"/>
          <p:nvPr/>
        </p:nvSpPr>
        <p:spPr>
          <a:xfrm>
            <a:off x="960120" y="1934463"/>
            <a:ext cx="5501487" cy="78130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Research with AI</a:t>
            </a:r>
          </a:p>
        </p:txBody>
      </p:sp>
      <p:cxnSp>
        <p:nvCxnSpPr>
          <p:cNvPr id="13" name="vis:rule"/>
          <p:cNvCxnSpPr/>
          <p:nvPr/>
        </p:nvCxnSpPr>
        <p:spPr>
          <a:xfrm>
            <a:off x="960120" y="299008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4" name="body:coversub"/>
          <p:cNvSpPr txBox="1"/>
          <p:nvPr/>
        </p:nvSpPr>
        <p:spPr>
          <a:xfrm>
            <a:off x="960120" y="3264408"/>
            <a:ext cx="5501487" cy="78130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Using it to find the right questions fast — without letting it invent the answers.</a:t>
            </a:r>
          </a:p>
        </p:txBody>
      </p:sp>
      <p:sp>
        <p:nvSpPr>
          <p:cNvPr id="15" name="vis:chip"/>
          <p:cNvSpPr/>
          <p:nvPr/>
        </p:nvSpPr>
        <p:spPr>
          <a:xfrm>
            <a:off x="960120" y="4448048"/>
            <a:ext cx="1043559"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1115568" y="4493768"/>
            <a:ext cx="73266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DW-02</a:t>
            </a:r>
          </a:p>
        </p:txBody>
      </p:sp>
      <p:sp>
        <p:nvSpPr>
          <p:cNvPr id="17" name="vis:chip"/>
          <p:cNvSpPr/>
          <p:nvPr/>
        </p:nvSpPr>
        <p:spPr>
          <a:xfrm>
            <a:off x="2149983" y="4448048"/>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2305431" y="4493768"/>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9" name="vis:chip"/>
          <p:cNvSpPr/>
          <p:nvPr/>
        </p:nvSpPr>
        <p:spPr>
          <a:xfrm>
            <a:off x="3752596" y="444804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3908044" y="449376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21"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2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DW-02  ·  Research with AI</a:t>
            </a:r>
          </a:p>
        </p:txBody>
      </p:sp>
      <p:sp>
        <p:nvSpPr>
          <p:cNvPr id="2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Vikram has two hours to prepare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31194" y="2240119"/>
            <a:ext cx="216822" cy="21682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219107" y="2428031"/>
            <a:ext cx="86729" cy="8672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Vikram sells industrial fasteners from Ahmedabad. A meeting with a pharmaceutical client is at four. He knows nothing about pharma cleanroom requirements and does not know what he does not know.</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Two hours of reading, and still the wrong questions in the room.</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Ten minutes to map the subject. Then real sources for the facts.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3938" y="1966611"/>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1987247"/>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33938" y="2055051"/>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07639" y="2075688"/>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33938" y="2143492"/>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07639" y="2164128"/>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3"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Map an unfamiliar subject in ten minutes, not two hours</a:t>
            </a:r>
          </a:p>
        </p:txBody>
      </p:sp>
      <p:sp>
        <p:nvSpPr>
          <p:cNvPr id="24"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936886" y="2865671"/>
            <a:ext cx="247634" cy="165089"/>
          </a:xfrm>
          <a:prstGeom prst="roundRect">
            <a:avLst>
              <a:gd name="adj" fmla="val 27694"/>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flipH="1">
            <a:off x="984055" y="3030760"/>
            <a:ext cx="11792" cy="6485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984055" y="3030760"/>
            <a:ext cx="64856" cy="6485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9"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Get the questions worth asking, instead of invented answers</a:t>
            </a:r>
          </a:p>
        </p:txBody>
      </p:sp>
      <p:sp>
        <p:nvSpPr>
          <p:cNvPr id="30"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954575" y="3755887"/>
            <a:ext cx="176881" cy="176881"/>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1107872" y="3909184"/>
            <a:ext cx="70753" cy="70752"/>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Know which half of research AI can do and which it cannot</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925094" y="4657895"/>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vis:icon"/>
          <p:cNvSpPr/>
          <p:nvPr/>
        </p:nvSpPr>
        <p:spPr>
          <a:xfrm>
            <a:off x="1019431" y="4722751"/>
            <a:ext cx="82544" cy="8254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Spot a confident answer that has no source behind it</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966367" y="5530422"/>
            <a:ext cx="188673" cy="259426"/>
          </a:xfrm>
          <a:prstGeom prst="roundRect">
            <a:avLst>
              <a:gd name="adj" fmla="val 24232"/>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1007639" y="5612967"/>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a:off x="1007639" y="5660136"/>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a:off x="1007639" y="5707304"/>
            <a:ext cx="7075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6"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Turn a real document into notes without reading every page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Two halves of research</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Mapping and verifying</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Mapping a new subject</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Ten minutes, no facts needed</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Where facts come from</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Never from the model</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Reading a long document</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Grounded and safe</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Map something real</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Thursday afternoon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14-minute outside walkthrough</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TWO HALVES OF RESEARCH</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Research has two halves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AI is genuinely excellent at one of them and actively dangerous at the other.</a:t>
            </a:r>
          </a:p>
        </p:txBody>
      </p:sp>
      <p:sp>
        <p:nvSpPr>
          <p:cNvPr id="16" name="vis:panel"/>
          <p:cNvSpPr/>
          <p:nvPr/>
        </p:nvSpPr>
        <p:spPr>
          <a:xfrm>
            <a:off x="502920" y="2432304"/>
            <a:ext cx="5437479" cy="3584448"/>
          </a:xfrm>
          <a:prstGeom prst="roundRect">
            <a:avLst>
              <a:gd name="adj" fmla="val 25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432304"/>
            <a:ext cx="68580" cy="358444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670048"/>
            <a:ext cx="126644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697479"/>
            <a:ext cx="95554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MAPPING</a:t>
            </a:r>
          </a:p>
        </p:txBody>
      </p:sp>
      <p:sp>
        <p:nvSpPr>
          <p:cNvPr id="20" name="vis:paneltitle"/>
          <p:cNvSpPr txBox="1"/>
          <p:nvPr/>
        </p:nvSpPr>
        <p:spPr>
          <a:xfrm>
            <a:off x="777240" y="3090672"/>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AI does this well</a:t>
            </a:r>
          </a:p>
        </p:txBody>
      </p:sp>
      <p:cxnSp>
        <p:nvCxnSpPr>
          <p:cNvPr id="21" name="vis:icon"/>
          <p:cNvCxnSpPr/>
          <p:nvPr/>
        </p:nvCxnSpPr>
        <p:spPr>
          <a:xfrm>
            <a:off x="811987" y="38669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2" name="vis:icon"/>
          <p:cNvCxnSpPr/>
          <p:nvPr/>
        </p:nvCxnSpPr>
        <p:spPr>
          <a:xfrm flipV="1">
            <a:off x="859536" y="3812133"/>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3" name="vis:panelitem"/>
          <p:cNvSpPr txBox="1"/>
          <p:nvPr/>
        </p:nvSpPr>
        <p:spPr>
          <a:xfrm>
            <a:off x="1078992" y="3730752"/>
            <a:ext cx="4587087" cy="461771"/>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are the main concepts here?</a:t>
            </a:r>
          </a:p>
        </p:txBody>
      </p:sp>
      <p:cxnSp>
        <p:nvCxnSpPr>
          <p:cNvPr id="24" name="vis:icon"/>
          <p:cNvCxnSpPr/>
          <p:nvPr/>
        </p:nvCxnSpPr>
        <p:spPr>
          <a:xfrm>
            <a:off x="811987" y="438363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859536" y="4328769"/>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4247388"/>
            <a:ext cx="4587087" cy="461771"/>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questions should I be asking?</a:t>
            </a:r>
          </a:p>
        </p:txBody>
      </p:sp>
      <p:cxnSp>
        <p:nvCxnSpPr>
          <p:cNvPr id="27" name="vis:icon"/>
          <p:cNvCxnSpPr/>
          <p:nvPr/>
        </p:nvCxnSpPr>
        <p:spPr>
          <a:xfrm>
            <a:off x="811987" y="490026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59536" y="4845405"/>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9" name="vis:panelitem"/>
          <p:cNvSpPr txBox="1"/>
          <p:nvPr/>
        </p:nvSpPr>
        <p:spPr>
          <a:xfrm>
            <a:off x="1078992" y="4764023"/>
            <a:ext cx="4587087" cy="461771"/>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usually goes wrong in this area?</a:t>
            </a:r>
          </a:p>
        </p:txBody>
      </p:sp>
      <p:cxnSp>
        <p:nvCxnSpPr>
          <p:cNvPr id="30" name="vis:icon"/>
          <p:cNvCxnSpPr/>
          <p:nvPr/>
        </p:nvCxnSpPr>
        <p:spPr>
          <a:xfrm>
            <a:off x="811987" y="541690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859536" y="5362041"/>
            <a:ext cx="87782"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2" name="vis:panelitem"/>
          <p:cNvSpPr txBox="1"/>
          <p:nvPr/>
        </p:nvSpPr>
        <p:spPr>
          <a:xfrm>
            <a:off x="1078992" y="5280659"/>
            <a:ext cx="4587087" cy="461771"/>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would an expert want to know first?</a:t>
            </a:r>
          </a:p>
        </p:txBody>
      </p:sp>
      <p:sp>
        <p:nvSpPr>
          <p:cNvPr id="33" name="vis:panel"/>
          <p:cNvSpPr/>
          <p:nvPr/>
        </p:nvSpPr>
        <p:spPr>
          <a:xfrm>
            <a:off x="6251295" y="2432304"/>
            <a:ext cx="5437479" cy="3584448"/>
          </a:xfrm>
          <a:prstGeom prst="roundRect">
            <a:avLst>
              <a:gd name="adj" fmla="val 25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432304"/>
            <a:ext cx="68580" cy="35844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670048"/>
            <a:ext cx="135280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697479"/>
            <a:ext cx="104190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VERIFYING</a:t>
            </a:r>
          </a:p>
        </p:txBody>
      </p:sp>
      <p:sp>
        <p:nvSpPr>
          <p:cNvPr id="37" name="vis:paneltitle"/>
          <p:cNvSpPr txBox="1"/>
          <p:nvPr/>
        </p:nvSpPr>
        <p:spPr>
          <a:xfrm>
            <a:off x="6525615" y="3090672"/>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AI cannot do this</a:t>
            </a:r>
          </a:p>
        </p:txBody>
      </p:sp>
      <p:cxnSp>
        <p:nvCxnSpPr>
          <p:cNvPr id="38" name="vis:icon"/>
          <p:cNvCxnSpPr/>
          <p:nvPr/>
        </p:nvCxnSpPr>
        <p:spPr>
          <a:xfrm>
            <a:off x="6567677" y="380481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H="1">
            <a:off x="6567677" y="380481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3730752"/>
            <a:ext cx="4587087" cy="461771"/>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is the current standard number?</a:t>
            </a:r>
          </a:p>
        </p:txBody>
      </p:sp>
      <p:cxnSp>
        <p:nvCxnSpPr>
          <p:cNvPr id="41" name="vis:icon"/>
          <p:cNvCxnSpPr/>
          <p:nvPr/>
        </p:nvCxnSpPr>
        <p:spPr>
          <a:xfrm>
            <a:off x="6567677" y="432145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H="1">
            <a:off x="6567677" y="432145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247388"/>
            <a:ext cx="4587087" cy="461771"/>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did the regulator say last month?</a:t>
            </a:r>
          </a:p>
        </p:txBody>
      </p:sp>
      <p:cxnSp>
        <p:nvCxnSpPr>
          <p:cNvPr id="44" name="vis:icon"/>
          <p:cNvCxnSpPr/>
          <p:nvPr/>
        </p:nvCxnSpPr>
        <p:spPr>
          <a:xfrm>
            <a:off x="6567677" y="483809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H="1">
            <a:off x="6567677" y="483809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764023"/>
            <a:ext cx="4587087" cy="461771"/>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does this supplier actually charge?</a:t>
            </a:r>
          </a:p>
        </p:txBody>
      </p:sp>
      <p:cxnSp>
        <p:nvCxnSpPr>
          <p:cNvPr id="47" name="vis:icon"/>
          <p:cNvCxnSpPr/>
          <p:nvPr/>
        </p:nvCxnSpPr>
        <p:spPr>
          <a:xfrm>
            <a:off x="6567677" y="535472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H="1">
            <a:off x="6567677" y="535472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5280659"/>
            <a:ext cx="4587087" cy="461771"/>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Which of these claims is true today?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TWO HALVES OF RESEARCH</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mapping is safe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ask for questions</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Not for answers, and not for numbers.</a:t>
            </a:r>
          </a:p>
        </p:txBody>
      </p:sp>
      <p:cxnSp>
        <p:nvCxnSpPr>
          <p:cNvPr id="20" name="vis:flowarrow"/>
          <p:cNvCxnSpPr/>
          <p:nvPr/>
        </p:nvCxnSpPr>
        <p:spPr>
          <a:xfrm>
            <a:off x="3093643"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lists concepts</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Drawn from very common patterns, so broadly reliable.</a:t>
            </a:r>
          </a:p>
        </p:txBody>
      </p:sp>
      <p:cxnSp>
        <p:nvCxnSpPr>
          <p:cNvPr id="26" name="vis:flowarrow"/>
          <p:cNvCxnSpPr/>
          <p:nvPr/>
        </p:nvCxnSpPr>
        <p:spPr>
          <a:xfrm>
            <a:off x="5986119"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recognise gaps</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 have never heard of that" is the useful output.</a:t>
            </a:r>
          </a:p>
        </p:txBody>
      </p:sp>
      <p:cxnSp>
        <p:nvCxnSpPr>
          <p:cNvPr id="32" name="vis:flowarrow"/>
          <p:cNvCxnSpPr/>
          <p:nvPr/>
        </p:nvCxnSpPr>
        <p:spPr>
          <a:xfrm>
            <a:off x="8878595"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go and verify</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With sources, in the half hour you just saved.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MAPPING A NEW SUBJECT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Ten minutes to map a subject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6386590"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am meeting a customer in an industry I do not know: pharmaceutical manufacturing. Give me three things. One: the eight terms I will hear and what each means in one line. Two: the five questions a buyer there would expect a supplier to ask. Three: the three things suppliers usually get wrong. No numbers, no standards, no prices.</a:t>
            </a:r>
          </a:p>
        </p:txBody>
      </p:sp>
      <p:sp>
        <p:nvSpPr>
          <p:cNvPr id="28" name="vis:promptcap"/>
          <p:cNvSpPr txBox="1"/>
          <p:nvPr/>
        </p:nvSpPr>
        <p:spPr>
          <a:xfrm>
            <a:off x="777240" y="385571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"No numbers, no standards" is what keeps this safe.</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Terms and questions are stable, common knowledge.</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Banning numbers removes the part it would invent.</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You walk in able to ask, not pretending to know.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MAPPING A NEW SUBJECT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Ask for questions, not answers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32244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0115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ASKING FOR ANSWERS</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"What cleanroom standard applies to this customer?"</a:t>
            </a:r>
          </a:p>
          <a:p>
            <a:pPr algn="l">
              <a:lnSpc>
                <a:spcPts val="1690"/>
              </a:lnSpc>
              <a:spcBef>
                <a:spcPts val="0"/>
              </a:spcBef>
              <a:spcAft>
                <a:spcPts val="600"/>
              </a:spcAft>
            </a:pPr>
            <a:r>
              <a:rPr sz="1300" b="0">
                <a:solidFill>
                  <a:srgbClr val="2A3547"/>
                </a:solidFill>
                <a:latin typeface="Segoe UI"/>
              </a:rPr>
              <a:t>You get a specific standard number, stated plainly.</a:t>
            </a:r>
          </a:p>
          <a:p>
            <a:pPr algn="l">
              <a:lnSpc>
                <a:spcPts val="1690"/>
              </a:lnSpc>
              <a:spcBef>
                <a:spcPts val="0"/>
              </a:spcBef>
              <a:spcAft>
                <a:spcPts val="600"/>
              </a:spcAft>
            </a:pPr>
            <a:r>
              <a:rPr sz="1300" b="0">
                <a:solidFill>
                  <a:srgbClr val="2A3547"/>
                </a:solidFill>
                <a:latin typeface="Segoe UI"/>
              </a:rPr>
              <a:t>You repeat it in the meeting. It is the wrong one.</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46595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215506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ASKING FOR QUESTIONS</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"What should I ask this customer about their cleanroom requirements?"</a:t>
            </a:r>
          </a:p>
          <a:p>
            <a:pPr algn="l">
              <a:lnSpc>
                <a:spcPts val="1690"/>
              </a:lnSpc>
              <a:spcBef>
                <a:spcPts val="0"/>
              </a:spcBef>
              <a:spcAft>
                <a:spcPts val="600"/>
              </a:spcAft>
            </a:pPr>
            <a:r>
              <a:rPr sz="1300" b="0">
                <a:solidFill>
                  <a:srgbClr val="2A3547"/>
                </a:solidFill>
                <a:latin typeface="Segoe UI"/>
              </a:rPr>
              <a:t>You get six questions, three of which you would never have thought of.</a:t>
            </a:r>
          </a:p>
          <a:p>
            <a:pPr algn="l">
              <a:lnSpc>
                <a:spcPts val="1690"/>
              </a:lnSpc>
              <a:spcBef>
                <a:spcPts val="0"/>
              </a:spcBef>
              <a:spcAft>
                <a:spcPts val="600"/>
              </a:spcAft>
            </a:pPr>
            <a:r>
              <a:rPr sz="1300" b="0">
                <a:solidFill>
                  <a:srgbClr val="2A3547"/>
                </a:solidFill>
                <a:latin typeface="Segoe UI"/>
              </a:rPr>
              <a:t>You ask them. The customer tells you the real answer.</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person in the room knows. Your job was to know what to ask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WHERE FACTS COME FROM</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Facts come from sources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10312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65633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281525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276313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24942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number or rate — the official site, dated today</a:t>
            </a:r>
          </a:p>
        </p:txBody>
      </p:sp>
      <p:sp>
        <p:nvSpPr>
          <p:cNvPr id="20" name="vis:checktile"/>
          <p:cNvSpPr/>
          <p:nvPr/>
        </p:nvSpPr>
        <p:spPr>
          <a:xfrm>
            <a:off x="6205575" y="210312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65633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281525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276313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24942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standard or regulation — the published document itself</a:t>
            </a:r>
          </a:p>
        </p:txBody>
      </p:sp>
      <p:sp>
        <p:nvSpPr>
          <p:cNvPr id="25" name="vis:checktile"/>
          <p:cNvSpPr/>
          <p:nvPr/>
        </p:nvSpPr>
        <p:spPr>
          <a:xfrm>
            <a:off x="502920" y="373989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293108"/>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45203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39990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388620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supplier's capability — ask the supplier, in writing</a:t>
            </a:r>
          </a:p>
        </p:txBody>
      </p:sp>
      <p:sp>
        <p:nvSpPr>
          <p:cNvPr id="30" name="vis:checktile"/>
          <p:cNvSpPr/>
          <p:nvPr/>
        </p:nvSpPr>
        <p:spPr>
          <a:xfrm>
            <a:off x="6205575" y="373989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293108"/>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45203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39990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388620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market claim — a named report you can actually open</a:t>
            </a:r>
          </a:p>
        </p:txBody>
      </p:sp>
      <p:sp>
        <p:nvSpPr>
          <p:cNvPr id="35"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36" name="vis:chip"/>
          <p:cNvSpPr/>
          <p:nvPr/>
        </p:nvSpPr>
        <p:spPr>
          <a:xfrm>
            <a:off x="2221991" y="5660136"/>
            <a:ext cx="1701419"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chiptext"/>
          <p:cNvSpPr txBox="1"/>
          <p:nvPr/>
        </p:nvSpPr>
        <p:spPr>
          <a:xfrm>
            <a:off x="2377439" y="5687568"/>
            <a:ext cx="139052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GROUNDING  ?</a:t>
            </a:r>
          </a:p>
        </p:txBody>
      </p:sp>
      <p:sp>
        <p:nvSpPr>
          <p:cNvPr id="38" name="nav:gloss">
            <a:hlinkClick action="ppaction://hlinksldjump" r:id="rId3"/>
          </p:cNvPr>
          <p:cNvSpPr/>
          <p:nvPr/>
        </p:nvSpPr>
        <p:spPr>
          <a:xfrm>
            <a:off x="2221991" y="5660136"/>
            <a:ext cx="1701419"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WHERE FACTS COME FROM</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invented citation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It will produce a reference that looks perfect and does not exist.</a:t>
            </a:r>
          </a:p>
          <a:p>
            <a:pPr algn="l">
              <a:lnSpc>
                <a:spcPts val="1755"/>
              </a:lnSpc>
              <a:spcBef>
                <a:spcPts val="0"/>
              </a:spcBef>
              <a:spcAft>
                <a:spcPts val="0"/>
              </a:spcAft>
            </a:pPr>
            <a:r>
              <a:rPr sz="1350" b="0">
                <a:solidFill>
                  <a:srgbClr val="FFFFFF"/>
                </a:solidFill>
                <a:latin typeface="Segoe UI"/>
              </a:rPr>
              <a:t>Report titles, section numbers, author names and years are all easy patterns to generate.</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study title with a plausible year attached</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section number in a real regulation</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 industry body that sounds entirely real</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statistic quoted to one decimal place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READING A LONG DOCUMENT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Forty pages, four minutes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This is grounded research: it can only describe text you actually gave it.</a:t>
            </a:r>
          </a:p>
        </p:txBody>
      </p:sp>
      <p:sp>
        <p:nvSpPr>
          <p:cNvPr id="16" name="vis:promptcard"/>
          <p:cNvSpPr/>
          <p:nvPr/>
        </p:nvSpPr>
        <p:spPr>
          <a:xfrm>
            <a:off x="502920" y="2432304"/>
            <a:ext cx="5816644"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432304"/>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55446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67736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67736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4459395" y="2505456"/>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4643007" y="257129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4661660" y="260860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263658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4661660" y="266456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4870875" y="256489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542032"/>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8" name="card:prompt"/>
          <p:cNvSpPr txBox="1"/>
          <p:nvPr/>
        </p:nvSpPr>
        <p:spPr>
          <a:xfrm>
            <a:off x="777240" y="2980944"/>
            <a:ext cx="5268004"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Using only the document below, answer three questions. What does it require us to do? What deadlines does it set? What does it leave unclear? Quote the exact wording for anything you say it requires. If something is not in the document, say "not stated".</a:t>
            </a:r>
          </a:p>
        </p:txBody>
      </p:sp>
      <p:sp>
        <p:nvSpPr>
          <p:cNvPr id="29" name="vis:promptcap"/>
          <p:cNvSpPr txBox="1"/>
          <p:nvPr/>
        </p:nvSpPr>
        <p:spPr>
          <a:xfrm>
            <a:off x="777240" y="456895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"Quote the exact wording" is the line that makes this checkable.</a:t>
            </a:r>
          </a:p>
        </p:txBody>
      </p:sp>
      <p:sp>
        <p:nvSpPr>
          <p:cNvPr id="30" name="vis:outcard"/>
          <p:cNvSpPr/>
          <p:nvPr/>
        </p:nvSpPr>
        <p:spPr>
          <a:xfrm>
            <a:off x="6685324" y="2432304"/>
            <a:ext cx="5003450" cy="2609087"/>
          </a:xfrm>
          <a:prstGeom prst="roundRect">
            <a:avLst>
              <a:gd name="adj" fmla="val 350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outspine"/>
          <p:cNvSpPr/>
          <p:nvPr/>
        </p:nvSpPr>
        <p:spPr>
          <a:xfrm>
            <a:off x="6685324" y="2432304"/>
            <a:ext cx="68580" cy="260908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6941356" y="2633472"/>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7096804" y="2660904"/>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4" name="vis:outbody"/>
          <p:cNvSpPr txBox="1"/>
          <p:nvPr/>
        </p:nvSpPr>
        <p:spPr>
          <a:xfrm>
            <a:off x="6941356" y="3072384"/>
            <a:ext cx="4491386" cy="174955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Three short answers with quoted phrases you can search for in the original.</a:t>
            </a:r>
          </a:p>
          <a:p>
            <a:pPr algn="l">
              <a:lnSpc>
                <a:spcPts val="1690"/>
              </a:lnSpc>
              <a:spcBef>
                <a:spcPts val="0"/>
              </a:spcBef>
              <a:spcAft>
                <a:spcPts val="600"/>
              </a:spcAft>
            </a:pPr>
            <a:r>
              <a:rPr sz="1300" b="0">
                <a:solidFill>
                  <a:srgbClr val="2A3547"/>
                </a:solidFill>
                <a:latin typeface="Segoe UI"/>
              </a:rPr>
              <a:t>"Not stated" against the things you assumed were covered.</a:t>
            </a:r>
          </a:p>
          <a:p>
            <a:pPr algn="l">
              <a:lnSpc>
                <a:spcPts val="1690"/>
              </a:lnSpc>
              <a:spcBef>
                <a:spcPts val="0"/>
              </a:spcBef>
              <a:spcAft>
                <a:spcPts val="600"/>
              </a:spcAft>
            </a:pPr>
            <a:r>
              <a:rPr sz="1300" b="0">
                <a:solidFill>
                  <a:srgbClr val="2A3547"/>
                </a:solidFill>
                <a:latin typeface="Segoe UI"/>
              </a:rPr>
              <a:t>Forty pages reduced to the six lines that affect you.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READING A LONG DOCUMENT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Check the document is yours to paste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Is this document public, or ours to keep private?</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1930925" y="3026664"/>
            <a:ext cx="1170896"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086373" y="3054096"/>
            <a:ext cx="860000"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PRIVATE</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Do not paste</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contract, a customer's specification, an internal policy, anything marked confidential. Read it yourself and describe what you need.</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139889" y="3026664"/>
            <a:ext cx="107086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295337" y="3054096"/>
            <a:ext cx="7599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PUBLIC</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Paste 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published circular, a standard, a public tender, a manufacturer's datasheet. It is already on the open internet.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map something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Pick a subject you will need to sound competent in this month.</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the prompt on the right with that subject in it.</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Mark every term you did not already know.</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Look up two of them properly, from a real source.</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need to get up to speed on [SUBJECT] for a [MEETING / REPORT] next week. Give me: eight terms and one-line definitions, five questions I should ask, and three common mistakes outsiders make. No numbers, no standards, no prices, no company names.</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The last sentence is what stops it inventing.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for research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Ask for questions before you ask for answers.</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Ban numbers and citations in any mapping prompt.</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Paste real documents rather than asking about them.</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Verify anything you will repeat out loud in a meeting.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Repeating a statistic from an AI answer</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sounds researched, it convinces the room, and nobody can find the source afterwards.</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what a regulation says</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has never read your regulation. It describes a regulation that sounds like it.</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Trusting a citation because it has a year on it</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Titles, authors and years are extremely easy patterns to generate convincingly.</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Pasting a customer's specification in</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That is their confidential document, shared with us and nobody else.</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Stopping once the answer sounds complete</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Completeness is the default. It is not a signal that anything was verified.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good research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9212" y="2214193"/>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44800" y="2238158"/>
            <a:ext cx="21225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59212" y="2316899"/>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44800" y="2340863"/>
            <a:ext cx="21225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59212" y="2419604"/>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44800" y="2443569"/>
            <a:ext cx="21225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3"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Questions first</a:t>
            </a:r>
          </a:p>
        </p:txBody>
      </p:sp>
      <p:sp>
        <p:nvSpPr>
          <p:cNvPr id="24"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You walk into the meeting able to ask well, not pretending to know already.</a:t>
            </a:r>
          </a:p>
        </p:txBody>
      </p:sp>
      <p:sp>
        <p:nvSpPr>
          <p:cNvPr id="25"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816929" y="2190229"/>
            <a:ext cx="219104" cy="301269"/>
          </a:xfrm>
          <a:prstGeom prst="roundRect">
            <a:avLst>
              <a:gd name="adj" fmla="val 20866"/>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864859" y="2286087"/>
            <a:ext cx="123246"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a:off x="4864859" y="2340863"/>
            <a:ext cx="123246"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a:off x="4864859" y="2395640"/>
            <a:ext cx="8216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1"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Documents pasted</a:t>
            </a:r>
          </a:p>
        </p:txBody>
      </p:sp>
      <p:sp>
        <p:nvSpPr>
          <p:cNvPr id="32"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Anything it says about a public document can be searched for in the original.</a:t>
            </a:r>
          </a:p>
        </p:txBody>
      </p:sp>
      <p:sp>
        <p:nvSpPr>
          <p:cNvPr id="33"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8623294" y="2347711"/>
            <a:ext cx="89011" cy="8901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712305" y="2245005"/>
            <a:ext cx="164329" cy="19171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Facts from sources</a:t>
            </a:r>
          </a:p>
        </p:txBody>
      </p:sp>
      <p:sp>
        <p:nvSpPr>
          <p:cNvPr id="38"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 number you repeat came from a page you opened, not a sentence it produced.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research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Use it to find out what to ask. Never to find out what is true.</a:t>
            </a:r>
          </a:p>
          <a:p>
            <a:pPr algn="l">
              <a:lnSpc>
                <a:spcPts val="1755"/>
              </a:lnSpc>
              <a:spcBef>
                <a:spcPts val="0"/>
              </a:spcBef>
              <a:spcAft>
                <a:spcPts val="0"/>
              </a:spcAft>
            </a:pPr>
            <a:r>
              <a:rPr sz="1350" b="0">
                <a:solidFill>
                  <a:srgbClr val="FFFFFF"/>
                </a:solidFill>
                <a:latin typeface="Segoe UI"/>
              </a:rPr>
              <a:t>That division makes AI the fastest research assistant you have, and a safe one.</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Questions and concepts — ask it.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Numbers and rules — open the source.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Private documents — read them yourself.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Thursday, 2:00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A meeting with a pharmaceutical buyer is at four. You have never sold into pharma. You have two hours and a product catalogue.</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the AI what standards apply and quote them in the meeting.</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for the terms, the questions and the common mistakes, with no numbers.</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Read industry websites for two hours instead.</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will be corrected in front of the buyer</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gives you a standard number that sounds right and belongs to a different application. You quote it at 4:15. The buyer, who works with these daily, corrects you. Everything you say afterwards is discounted.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repeat a number you have not seen on a real page.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walk in able to have the conversation</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Ten minutes gives you eight terms, five buyer questions and three supplier mistakes. You spend the remaining time on the catalogue. At four you ask good questions and let the buyer supply the specifics, which is what they expected anyway.</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Map the territory. Let the expert in the room fill in the detail.</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Thorough, and you may still miss the point</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learn a lot, unevenly. Without knowing which questions matter you read whatever comes up first, and arrive with detail on one topic and nothing on the four the buyer actually cares about.</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Map first, then read. It makes the reading far more efficient.</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Fourteen minutes on deep research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How to Use ChatGPT’s Deep Research to Save HOURS on Research</a:t>
            </a:r>
          </a:p>
        </p:txBody>
      </p:sp>
      <p:sp>
        <p:nvSpPr>
          <p:cNvPr id="19" name="vis:chip"/>
          <p:cNvSpPr/>
          <p:nvPr/>
        </p:nvSpPr>
        <p:spPr>
          <a:xfrm>
            <a:off x="868680" y="3858768"/>
            <a:ext cx="1939930"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62903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ANDY STAPLETON</a:t>
            </a:r>
          </a:p>
        </p:txBody>
      </p:sp>
      <p:sp>
        <p:nvSpPr>
          <p:cNvPr id="21" name="vis:chip"/>
          <p:cNvSpPr/>
          <p:nvPr/>
        </p:nvSpPr>
        <p:spPr>
          <a:xfrm>
            <a:off x="2954914" y="3858768"/>
            <a:ext cx="130200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110362" y="3895344"/>
            <a:ext cx="99110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13:59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Aimed at academic research. The habits transfer; our rules on what you may paste do not change.</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mapping prompt above is the core.</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your tool has a deep-research mode.</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research task fits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is the current standard for this?"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should I ask a buyer in this industry?"</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does this supplier charge?"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"Summarise last month's regulatory update"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"What is the current standard for this?"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specific, checkable fact it has no access to. You will get a standard number that looks entirely plausible and may belong to a different application or a superseded version.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Questions and concepts, never facts.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"What should I ask a buyer in this industry?"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Questions are stable, general and low-risk. Even an imperfect list makes you better prepared, and the person in the meeting supplies the real answers.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Questions and concepts, never facts.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"What does this supplier charge?"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has no visibility of any supplier's pricing. Any figure is invented, and pricing is exactly the sort of number people repeat without checking.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Questions and concepts, never facts.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"Summarise last month's regulatory update"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Last month is after its cut-off. It will produce a fluent summary of an update it has never seen.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Questions and concepts, never facts.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ban numbers in a mapping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Numbers make the answer longer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Numbers are the part most likely to be invented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tool refuses to give numbers anyway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Numbers are usually irrelevant to research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Numbers make the answer longer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is not the issue. The issue is that a number is the single most repeatable and most damaging thing in the answer.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Remove the part it would invent.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Numbers are the part most likely to be invented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Terms and questions are broadly stable patterns. Specific figures and standard references are not, and they are exactly what people quote out loud afterwards.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Remove the part it would invent.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tool refuses to give numbers anyway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will give you numbers readily and confidently. Nothing stops it, which is precisely why the instruction has to come from you.</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Remove the part it would invent.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Numbers are usually irrelevant to research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are often the most relevant part. That is why they must come from a real source rather than from a sentence the tool produced.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Remove the part it would invent.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document is safe to paste?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customer's technical specification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published government circular</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Our internal pricing policy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signed contract, with names removed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customer's technical specification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Their confidential document, shared with us under an expectation of confidence. Pasting it moves it onto a system neither we nor they control.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Public, yes. Private, never.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published government circular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Already public, already indexed, and nothing about pasting it exposes anyone. This is the ideal grounded research case.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Public, yes. Private, never.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Our internal pricing policy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Internal by definition. Even if the answer would be useful, the policy itself is exactly what should never leave the company.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Public, yes. Private, never.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signed contract, with names removed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Removing names does not make commercial terms public. Prices, penalties and obligations still belong to a relationship, not to a chat window.</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Public, yes. Private, never.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 citation suspicious?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more than five years old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 cannot find it when you search for it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has a very specific section number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tool mentioned it without being asked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is more than five years old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Age says nothing about whether a source exists. Plenty of genuine standards and studies are decades old and still current.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cannot open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You cannot find it when you search for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whole test. A real reference can be opened in thirty seconds. An invented one has a plausible title, a plausible author and no page behind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cannot open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has a very specific section number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Real references usually do. Specificity makes an invention more convincing, but it is not by itself evidence either way — opening it is.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cannot open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tool mentioned it without being asked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Volunteered references are no less reliable than requested ones. Both need the same thirty-second check before you repeat them.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cannot open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should you do before quoting?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the tool if it is sure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Open the actual source and read the line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Check it against a second AI tool</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Rephrase it so it sounds less specific</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Ask the tool if it is sure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will get confident reassurance produced exactly the way the original claim was. Two generations are not a check on each other.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Open the page it came from.</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Open the actual source and read the 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takes under a minute and it is the only thing that converts an answer into a fact. Anything you say out loud in a meeting should have survived this.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Open the page it came from.</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Check it against a second AI tool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Better than nothing, but still two generations rather than a source. Common patterns produce the same convincing inventions across different tools.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Open the page it came from.</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Rephrase it so it sounds less specific</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hides the problem rather than solving it. A vaguely stated invention is still an invention, and harder for anyone else to catch.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Open the page it came from.</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Research with AI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Research has two halves</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Mapping a subject, and verifying facts. AI does the first well and the second never.</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Ask for questions, not answers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person in the meeting knows. Your job is knowing what to ask them.</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Ban numbers in mapping prompts</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"No numbers, no standards, no prices" removes what it would invent.</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Paste public documents</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Grounded reading of a real circular is safe, fast and checkable.</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paste private ones</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Contracts, customer specifications and internal policy stay where they are.</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Open the source before quoting</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Anything you will repeat out loud has to survive a thirty-second check.</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Use it to find out what to ask. Never to find out what is true.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82549" y="2398176"/>
            <a:ext cx="159763" cy="159763"/>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21011" y="2536638"/>
            <a:ext cx="63906" cy="6390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subject-mapping prompt</a:t>
            </a:r>
          </a:p>
        </p:txBody>
      </p:sp>
      <p:sp>
        <p:nvSpPr>
          <p:cNvPr id="21"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Eight terms, five questions, three mistakes, no numbers.</a:t>
            </a:r>
          </a:p>
        </p:txBody>
      </p:sp>
      <p:sp>
        <p:nvSpPr>
          <p:cNvPr id="22"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93200" y="3284407"/>
            <a:ext cx="170414" cy="234320"/>
          </a:xfrm>
          <a:prstGeom prst="roundRect">
            <a:avLst>
              <a:gd name="adj" fmla="val 26828"/>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930478" y="3358964"/>
            <a:ext cx="9585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a:off x="930478" y="3401568"/>
            <a:ext cx="9585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930478" y="3444171"/>
            <a:ext cx="63906"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8"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document-reading prompt</a:t>
            </a:r>
          </a:p>
        </p:txBody>
      </p:sp>
      <p:sp>
        <p:nvSpPr>
          <p:cNvPr id="29"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Requires, deadlines, unclear — with exact wording quoted.</a:t>
            </a:r>
          </a:p>
        </p:txBody>
      </p:sp>
      <p:sp>
        <p:nvSpPr>
          <p:cNvPr id="30"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63910" y="4183953"/>
            <a:ext cx="228995" cy="239645"/>
          </a:xfrm>
          <a:custGeom>
            <a:avLst/>
            <a:gdLst/>
            <a:ahLst/>
            <a:cxnLst/>
            <a:rect l="l" t="t" r="r" b="b"/>
            <a:pathLst>
              <a:path w="228995" h="239645">
                <a:moveTo>
                  <a:pt x="114498" y="0"/>
                </a:moveTo>
                <a:lnTo>
                  <a:pt x="228995" y="50591"/>
                </a:lnTo>
                <a:lnTo>
                  <a:pt x="210356" y="173077"/>
                </a:lnTo>
                <a:lnTo>
                  <a:pt x="114498" y="239645"/>
                </a:lnTo>
                <a:lnTo>
                  <a:pt x="18639" y="173077"/>
                </a:lnTo>
                <a:lnTo>
                  <a:pt x="0" y="50591"/>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public-or-private test</a:t>
            </a:r>
          </a:p>
        </p:txBody>
      </p:sp>
      <p:sp>
        <p:nvSpPr>
          <p:cNvPr id="34"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Published document, paste it. Ours, read it yourself.</a:t>
            </a:r>
          </a:p>
        </p:txBody>
      </p:sp>
      <p:sp>
        <p:nvSpPr>
          <p:cNvPr id="35"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36"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9"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0"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41"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4"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5"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46"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8"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9"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0"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1"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3"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DW-03, Report Preparation with AI. Turning what you already know into a report somebody will actually read.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DW-02  ·  Research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Grounding</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Giving the tool the actual source text so its answer has something real to stand on.</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Citation</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reference to a real document. AI produces convincing ones that do not exist.</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Mapping</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Learning the shape of a subject: its terms, its questions, its usual mistakes.</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Cut-off date</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point where a model's training text stops. Nothing after it was ever seen.</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Hallucination</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confident, invented answer. Citations and statistics are the classic cases.</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Source</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document, system or person you can point at. A model is never one.</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