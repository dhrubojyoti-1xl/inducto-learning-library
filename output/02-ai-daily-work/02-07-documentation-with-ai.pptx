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3.xml"/><Relationship Id="rId7" Type="http://schemas.openxmlformats.org/officeDocument/2006/relationships/slide" Target="slide19.xml"/><Relationship Id="rId8" Type="http://schemas.openxmlformats.org/officeDocument/2006/relationships/slide" Target="slide23.xml"/><Relationship Id="rId9" Type="http://schemas.openxmlformats.org/officeDocument/2006/relationships/slide" Target="slide24.xml"/><Relationship Id="rId10" Type="http://schemas.openxmlformats.org/officeDocument/2006/relationships/slide" Target="slide49.xml"/><Relationship Id="rId11" Type="http://schemas.openxmlformats.org/officeDocument/2006/relationships/slide" Target="slide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0.xml"/><Relationship Id="rId4" Type="http://schemas.openxmlformats.org/officeDocument/2006/relationships/slide" Target="slide21.xml"/><Relationship Id="rId5" Type="http://schemas.openxmlformats.org/officeDocument/2006/relationships/slide" Target="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xPAQEEYzOH0" TargetMode="External"/><Relationship Id="rId3" Type="http://schemas.openxmlformats.org/officeDocument/2006/relationships/slide" Target="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5.xml"/><Relationship Id="rId4" Type="http://schemas.openxmlformats.org/officeDocument/2006/relationships/slide" Target="slide26.xml"/><Relationship Id="rId5" Type="http://schemas.openxmlformats.org/officeDocument/2006/relationships/slide" Target="slide27.xml"/><Relationship Id="rId6" Type="http://schemas.openxmlformats.org/officeDocument/2006/relationships/slide" Target="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0.xml"/><Relationship Id="rId4" Type="http://schemas.openxmlformats.org/officeDocument/2006/relationships/slide" Target="slide31.xml"/><Relationship Id="rId5" Type="http://schemas.openxmlformats.org/officeDocument/2006/relationships/slide" Target="slide32.xml"/><Relationship Id="rId6" Type="http://schemas.openxmlformats.org/officeDocument/2006/relationships/slide" Target="slide3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5.xml"/><Relationship Id="rId4" Type="http://schemas.openxmlformats.org/officeDocument/2006/relationships/slide" Target="slide36.xml"/><Relationship Id="rId5" Type="http://schemas.openxmlformats.org/officeDocument/2006/relationships/slide" Target="slide37.xml"/><Relationship Id="rId6" Type="http://schemas.openxmlformats.org/officeDocument/2006/relationships/slide" Target="slide3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0.xml"/><Relationship Id="rId4" Type="http://schemas.openxmlformats.org/officeDocument/2006/relationships/slide" Target="slide41.xml"/><Relationship Id="rId5" Type="http://schemas.openxmlformats.org/officeDocument/2006/relationships/slide" Target="slide42.xml"/><Relationship Id="rId6" Type="http://schemas.openxmlformats.org/officeDocument/2006/relationships/slide" Target="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5.xml"/><Relationship Id="rId4" Type="http://schemas.openxmlformats.org/officeDocument/2006/relationships/slide" Target="slide46.xml"/><Relationship Id="rId5" Type="http://schemas.openxmlformats.org/officeDocument/2006/relationships/slide" Target="slide47.xml"/><Relationship Id="rId6" Type="http://schemas.openxmlformats.org/officeDocument/2006/relationships/slide" Target="slide4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9.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pilot.microsoft.com" TargetMode="External"/><Relationship Id="rId3" Type="http://schemas.openxmlformats.org/officeDocument/2006/relationships/hyperlink" Target="https://chatgpt.com" TargetMode="External"/><Relationship Id="rId4" Type="http://schemas.openxmlformats.org/officeDocument/2006/relationships/hyperlink" Target="https://gemini.google.com" TargetMode="External"/><Relationship Id="rId5" Type="http://schemas.openxmlformats.org/officeDocument/2006/relationships/slide" Target="slide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pic>
        <p:nvPicPr>
          <p:cNvPr id="3" name="vis:coverphoto" descr="hero-documentation.jpg"/>
          <p:cNvPicPr>
            <a:picLocks noChangeAspect="1"/>
          </p:cNvPicPr>
          <p:nvPr/>
        </p:nvPicPr>
        <p:blipFill>
          <a:blip r:embed="rId2"/>
          <a:srcRect l="22674" r="22674"/>
          <a:stretch>
            <a:fillRect/>
          </a:stretch>
        </p:blipFill>
        <p:spPr>
          <a:xfrm>
            <a:off x="5532120" y="0"/>
            <a:ext cx="6659575" cy="6858000"/>
          </a:xfrm>
          <a:prstGeom prst="rect">
            <a:avLst/>
          </a:prstGeom>
        </p:spPr>
      </p:pic>
      <p:sp>
        <p:nvSpPr>
          <p:cNvPr id="4" name="vis:coverpanel"/>
          <p:cNvSpPr/>
          <p:nvPr/>
        </p:nvSpPr>
        <p:spPr>
          <a:xfrm>
            <a:off x="0" y="0"/>
            <a:ext cx="5532120"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vis:coveredge"/>
          <p:cNvSpPr/>
          <p:nvPr/>
        </p:nvSpPr>
        <p:spPr>
          <a:xfrm>
            <a:off x="5532120" y="0"/>
            <a:ext cx="64008" cy="685800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vis:coverspine"/>
          <p:cNvSpPr/>
          <p:nvPr/>
        </p:nvSpPr>
        <p:spPr>
          <a:xfrm>
            <a:off x="0" y="0"/>
            <a:ext cx="201168" cy="685800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seclabel"/>
          <p:cNvSpPr txBox="1"/>
          <p:nvPr/>
        </p:nvSpPr>
        <p:spPr>
          <a:xfrm>
            <a:off x="841248" y="203200"/>
            <a:ext cx="418795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51979C"/>
                </a:solidFill>
                <a:latin typeface="Segoe UI Semibold"/>
              </a:rPr>
              <a:t>AI FOR DAY-TO-DAY WORK</a:t>
            </a:r>
          </a:p>
        </p:txBody>
      </p:sp>
      <p:sp>
        <p:nvSpPr>
          <p:cNvPr id="8" name="title:cover"/>
          <p:cNvSpPr txBox="1"/>
          <p:nvPr/>
        </p:nvSpPr>
        <p:spPr>
          <a:xfrm>
            <a:off x="841248" y="660400"/>
            <a:ext cx="4187952" cy="1507744"/>
          </a:xfrm>
          <a:prstGeom prst="rect">
            <a:avLst/>
          </a:prstGeom>
          <a:noFill/>
        </p:spPr>
        <p:txBody>
          <a:bodyPr wrap="square" lIns="0" rIns="0" tIns="0" bIns="0" anchor="t">
            <a:spAutoFit/>
          </a:bodyPr>
          <a:lstStyle/>
          <a:p>
            <a:pPr algn="l">
              <a:lnSpc>
                <a:spcPts val="5720"/>
              </a:lnSpc>
              <a:spcBef>
                <a:spcPts val="0"/>
              </a:spcBef>
              <a:spcAft>
                <a:spcPts val="0"/>
              </a:spcAft>
            </a:pPr>
            <a:r>
              <a:rPr sz="4400" b="0">
                <a:solidFill>
                  <a:srgbClr val="FFFFFF"/>
                </a:solidFill>
                <a:latin typeface="Segoe UI Semibold"/>
              </a:rPr>
              <a:t>Documentation with AI</a:t>
            </a:r>
          </a:p>
        </p:txBody>
      </p:sp>
      <p:cxnSp>
        <p:nvCxnSpPr>
          <p:cNvPr id="9" name="vis:rule"/>
          <p:cNvCxnSpPr/>
          <p:nvPr/>
        </p:nvCxnSpPr>
        <p:spPr>
          <a:xfrm>
            <a:off x="841248" y="2442464"/>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0" name="body:coversub"/>
          <p:cNvSpPr txBox="1"/>
          <p:nvPr/>
        </p:nvSpPr>
        <p:spPr>
          <a:xfrm>
            <a:off x="841248" y="2716784"/>
            <a:ext cx="4187952" cy="150774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SOPs, process notes and handovers somebody can follow without ringing you to ask what you meant.</a:t>
            </a:r>
          </a:p>
        </p:txBody>
      </p:sp>
      <p:sp>
        <p:nvSpPr>
          <p:cNvPr id="11" name="vis:chip"/>
          <p:cNvSpPr/>
          <p:nvPr/>
        </p:nvSpPr>
        <p:spPr>
          <a:xfrm>
            <a:off x="841248" y="4626864"/>
            <a:ext cx="1040384" cy="310896"/>
          </a:xfrm>
          <a:prstGeom prst="roundRect">
            <a:avLst>
              <a:gd name="adj" fmla="val 14705"/>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vis:chiptext"/>
          <p:cNvSpPr txBox="1"/>
          <p:nvPr/>
        </p:nvSpPr>
        <p:spPr>
          <a:xfrm>
            <a:off x="996696" y="4672584"/>
            <a:ext cx="72948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DW-07</a:t>
            </a:r>
          </a:p>
        </p:txBody>
      </p:sp>
      <p:sp>
        <p:nvSpPr>
          <p:cNvPr id="13" name="vis:chip"/>
          <p:cNvSpPr/>
          <p:nvPr/>
        </p:nvSpPr>
        <p:spPr>
          <a:xfrm>
            <a:off x="2027936" y="4626864"/>
            <a:ext cx="145630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4" name="vis:chiptext"/>
          <p:cNvSpPr txBox="1"/>
          <p:nvPr/>
        </p:nvSpPr>
        <p:spPr>
          <a:xfrm>
            <a:off x="2183384" y="4672584"/>
            <a:ext cx="114541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18 MINUTES</a:t>
            </a:r>
          </a:p>
        </p:txBody>
      </p:sp>
      <p:sp>
        <p:nvSpPr>
          <p:cNvPr id="15" name="vis:chip"/>
          <p:cNvSpPr/>
          <p:nvPr/>
        </p:nvSpPr>
        <p:spPr>
          <a:xfrm>
            <a:off x="841248" y="5047488"/>
            <a:ext cx="230202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iptext"/>
          <p:cNvSpPr txBox="1"/>
          <p:nvPr/>
        </p:nvSpPr>
        <p:spPr>
          <a:xfrm>
            <a:off x="996696" y="5093208"/>
            <a:ext cx="19911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NEW JOINERS + STAFF</a:t>
            </a:r>
          </a:p>
        </p:txBody>
      </p:sp>
      <p:sp>
        <p:nvSpPr>
          <p:cNvPr id="17" name="cell:coverhint"/>
          <p:cNvSpPr txBox="1"/>
          <p:nvPr/>
        </p:nvSpPr>
        <p:spPr>
          <a:xfrm>
            <a:off x="841248" y="5724144"/>
            <a:ext cx="4187952"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18"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DW-07  ·  Documentation with AI</a:t>
            </a:r>
          </a:p>
        </p:txBody>
      </p:sp>
      <p:sp>
        <p:nvSpPr>
          <p:cNvPr id="19"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Fatima is the only one who knows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1045649" y="2218436"/>
            <a:ext cx="231277" cy="318006"/>
          </a:xfrm>
          <a:prstGeom prst="roundRect">
            <a:avLst>
              <a:gd name="adj" fmla="val 19768"/>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96241" y="2319620"/>
            <a:ext cx="130093"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1096241" y="2377439"/>
            <a:ext cx="130093"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1" name="vis:icon"/>
          <p:cNvCxnSpPr/>
          <p:nvPr/>
        </p:nvCxnSpPr>
        <p:spPr>
          <a:xfrm>
            <a:off x="1096241" y="2435259"/>
            <a:ext cx="8672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2"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Fatima handles vendor onboarding for a Dubai office. She has done it for four years and it lives entirely in her head. When she took two weeks' leave, three onboardings stalled and her phone rang eleven times.</a:t>
            </a:r>
          </a:p>
        </p:txBody>
      </p:sp>
      <p:sp>
        <p:nvSpPr>
          <p:cNvPr id="23"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7"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Eleven calls on annual leave, and three vendors kept waiting.</a:t>
            </a:r>
          </a:p>
        </p:txBody>
      </p:sp>
      <p:sp>
        <p:nvSpPr>
          <p:cNvPr id="29"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51979C"/>
                </a:solidFill>
                <a:latin typeface="Segoe UI Semibold"/>
              </a:rPr>
              <a:t>AFTER THIS MODULE</a:t>
            </a:r>
          </a:p>
        </p:txBody>
      </p:sp>
      <p:cxnSp>
        <p:nvCxnSpPr>
          <p:cNvPr id="31"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2"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Two hours of talking it through, and a process anyone can follow.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66367" y="1945974"/>
            <a:ext cx="188673" cy="259426"/>
          </a:xfrm>
          <a:prstGeom prst="roundRect">
            <a:avLst>
              <a:gd name="adj" fmla="val 24232"/>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07639" y="2028519"/>
            <a:ext cx="10612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a:off x="1007639" y="2075688"/>
            <a:ext cx="10612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1007639" y="2122856"/>
            <a:ext cx="70753"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1"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Turn what you know into a written process in under an hour</a:t>
            </a:r>
          </a:p>
        </p:txBody>
      </p:sp>
      <p:sp>
        <p:nvSpPr>
          <p:cNvPr id="22"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933938" y="2862723"/>
            <a:ext cx="41272" cy="412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1007639" y="2883359"/>
            <a:ext cx="182778"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6" name="vis:icon"/>
          <p:cNvSpPr/>
          <p:nvPr/>
        </p:nvSpPr>
        <p:spPr>
          <a:xfrm>
            <a:off x="933938" y="2951163"/>
            <a:ext cx="41272" cy="412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007639" y="2971800"/>
            <a:ext cx="182778"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8" name="vis:icon"/>
          <p:cNvSpPr/>
          <p:nvPr/>
        </p:nvSpPr>
        <p:spPr>
          <a:xfrm>
            <a:off x="933938" y="3039604"/>
            <a:ext cx="41272" cy="412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9" name="vis:icon"/>
          <p:cNvCxnSpPr/>
          <p:nvPr/>
        </p:nvCxnSpPr>
        <p:spPr>
          <a:xfrm>
            <a:off x="1007639" y="3060240"/>
            <a:ext cx="182778"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0"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Write steps somebody can follow without asking questions</a:t>
            </a:r>
          </a:p>
        </p:txBody>
      </p:sp>
      <p:sp>
        <p:nvSpPr>
          <p:cNvPr id="31"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icon"/>
          <p:cNvSpPr/>
          <p:nvPr/>
        </p:nvSpPr>
        <p:spPr>
          <a:xfrm>
            <a:off x="925094" y="3761783"/>
            <a:ext cx="271219" cy="212257"/>
          </a:xfrm>
          <a:custGeom>
            <a:avLst/>
            <a:gdLst/>
            <a:ahLst/>
            <a:cxnLst/>
            <a:rect l="l" t="t" r="r" b="b"/>
            <a:pathLst>
              <a:path w="271219" h="212257">
                <a:moveTo>
                  <a:pt x="0" y="106128"/>
                </a:moveTo>
                <a:lnTo>
                  <a:pt x="135610" y="0"/>
                </a:lnTo>
                <a:lnTo>
                  <a:pt x="271219" y="106128"/>
                </a:lnTo>
                <a:lnTo>
                  <a:pt x="135610" y="212257"/>
                </a:lnTo>
                <a:close/>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vis:icon"/>
          <p:cNvSpPr/>
          <p:nvPr/>
        </p:nvSpPr>
        <p:spPr>
          <a:xfrm>
            <a:off x="1019431" y="3826639"/>
            <a:ext cx="82544" cy="82544"/>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Spot the step you left out because it is obvious to you</a:t>
            </a:r>
          </a:p>
        </p:txBody>
      </p:sp>
      <p:sp>
        <p:nvSpPr>
          <p:cNvPr id="36"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icon"/>
          <p:cNvSpPr/>
          <p:nvPr/>
        </p:nvSpPr>
        <p:spPr>
          <a:xfrm>
            <a:off x="943035" y="4661901"/>
            <a:ext cx="235337" cy="220044"/>
          </a:xfrm>
          <a:custGeom>
            <a:avLst/>
            <a:gdLst/>
            <a:ahLst/>
            <a:cxnLst/>
            <a:rect l="l" t="t" r="r" b="b"/>
            <a:pathLst>
              <a:path w="235337" h="220044">
                <a:moveTo>
                  <a:pt x="176629" y="0"/>
                </a:moveTo>
                <a:lnTo>
                  <a:pt x="206326" y="24372"/>
                </a:lnTo>
                <a:lnTo>
                  <a:pt x="226613" y="56996"/>
                </a:lnTo>
                <a:lnTo>
                  <a:pt x="235337" y="94410"/>
                </a:lnTo>
                <a:lnTo>
                  <a:pt x="231571" y="132643"/>
                </a:lnTo>
                <a:lnTo>
                  <a:pt x="215716" y="167636"/>
                </a:lnTo>
                <a:lnTo>
                  <a:pt x="189454" y="195676"/>
                </a:lnTo>
                <a:lnTo>
                  <a:pt x="155573" y="213785"/>
                </a:lnTo>
                <a:lnTo>
                  <a:pt x="117669" y="220044"/>
                </a:lnTo>
                <a:lnTo>
                  <a:pt x="79764" y="213785"/>
                </a:lnTo>
                <a:lnTo>
                  <a:pt x="45883" y="195676"/>
                </a:lnTo>
                <a:lnTo>
                  <a:pt x="19621" y="167636"/>
                </a:lnTo>
                <a:lnTo>
                  <a:pt x="3766" y="132643"/>
                </a:lnTo>
                <a:lnTo>
                  <a:pt x="0" y="94410"/>
                </a:lnTo>
                <a:lnTo>
                  <a:pt x="8724" y="56996"/>
                </a:lnTo>
                <a:lnTo>
                  <a:pt x="29011" y="24372"/>
                </a:lnTo>
                <a:lnTo>
                  <a:pt x="58708" y="0"/>
                </a:lnTo>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vis:icon"/>
          <p:cNvSpPr/>
          <p:nvPr/>
        </p:nvSpPr>
        <p:spPr>
          <a:xfrm>
            <a:off x="988477" y="4638438"/>
            <a:ext cx="54244" cy="46578"/>
          </a:xfrm>
          <a:custGeom>
            <a:avLst/>
            <a:gdLst/>
            <a:ahLst/>
            <a:cxnLst/>
            <a:rect l="l" t="t" r="r" b="b"/>
            <a:pathLst>
              <a:path w="54244" h="46578">
                <a:moveTo>
                  <a:pt x="54244" y="0"/>
                </a:moveTo>
                <a:lnTo>
                  <a:pt x="26532" y="46578"/>
                </a:lnTo>
                <a:lnTo>
                  <a:pt x="0" y="589"/>
                </a:lnTo>
                <a:close/>
              </a:path>
            </a:pathLst>
          </a:cu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Keep a document current instead of letting it rot</a:t>
            </a:r>
          </a:p>
        </p:txBody>
      </p:sp>
      <p:sp>
        <p:nvSpPr>
          <p:cNvPr id="41"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2"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3" name="vis:icon"/>
          <p:cNvSpPr/>
          <p:nvPr/>
        </p:nvSpPr>
        <p:spPr>
          <a:xfrm>
            <a:off x="1004691" y="5533370"/>
            <a:ext cx="112024" cy="112024"/>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icon"/>
          <p:cNvSpPr/>
          <p:nvPr/>
        </p:nvSpPr>
        <p:spPr>
          <a:xfrm>
            <a:off x="942782" y="5689616"/>
            <a:ext cx="235843" cy="103181"/>
          </a:xfrm>
          <a:custGeom>
            <a:avLst/>
            <a:gdLst/>
            <a:ahLst/>
            <a:cxnLst/>
            <a:rect l="l" t="t" r="r" b="b"/>
            <a:pathLst>
              <a:path w="235843" h="103181">
                <a:moveTo>
                  <a:pt x="0" y="103181"/>
                </a:moveTo>
                <a:lnTo>
                  <a:pt x="17689" y="0"/>
                </a:lnTo>
                <a:lnTo>
                  <a:pt x="218154" y="0"/>
                </a:lnTo>
                <a:lnTo>
                  <a:pt x="235843" y="103181"/>
                </a:lnTo>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Write a handover that actually survives your absence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The curse of knowing</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Why experts write bad steps</a:t>
            </a:r>
          </a:p>
        </p:txBody>
      </p:sp>
      <p:cxnSp>
        <p:nvCxnSpPr>
          <p:cNvPr id="13" name="vis:menuarrow"/>
          <p:cNvCxnSpPr/>
          <p:nvPr/>
        </p:nvCxnSpPr>
        <p:spPr>
          <a:xfrm>
            <a:off x="11213287" y="1997049"/>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Talk it, then shape it</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Dictate, do not compose</a:t>
            </a:r>
          </a:p>
        </p:txBody>
      </p:sp>
      <p:cxnSp>
        <p:nvCxnSpPr>
          <p:cNvPr id="19" name="vis:menuarrow"/>
          <p:cNvCxnSpPr/>
          <p:nvPr/>
        </p:nvCxnSpPr>
        <p:spPr>
          <a:xfrm>
            <a:off x="11213287" y="2424988"/>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Testing a procedure</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new-joiner test</a:t>
            </a:r>
          </a:p>
        </p:txBody>
      </p:sp>
      <p:cxnSp>
        <p:nvCxnSpPr>
          <p:cNvPr id="25" name="vis:menuarrow"/>
          <p:cNvCxnSpPr/>
          <p:nvPr/>
        </p:nvCxnSpPr>
        <p:spPr>
          <a:xfrm>
            <a:off x="11213287" y="2852928"/>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Keeping it current</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Documents that rot</a:t>
            </a:r>
          </a:p>
        </p:txBody>
      </p:sp>
      <p:cxnSp>
        <p:nvCxnSpPr>
          <p:cNvPr id="31" name="vis:menuarrow"/>
          <p:cNvCxnSpPr/>
          <p:nvPr/>
        </p:nvCxnSpPr>
        <p:spPr>
          <a:xfrm>
            <a:off x="11213287" y="3280867"/>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Do this now</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Document one real process</a:t>
            </a:r>
          </a:p>
        </p:txBody>
      </p:sp>
      <p:cxnSp>
        <p:nvCxnSpPr>
          <p:cNvPr id="37" name="vis:menuarrow"/>
          <p:cNvCxnSpPr/>
          <p:nvPr/>
        </p:nvCxnSpPr>
        <p:spPr>
          <a:xfrm>
            <a:off x="11213287" y="3708806"/>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pre-holiday decision</a:t>
            </a:r>
          </a:p>
        </p:txBody>
      </p:sp>
      <p:cxnSp>
        <p:nvCxnSpPr>
          <p:cNvPr id="43" name="vis:menuarrow"/>
          <p:cNvCxnSpPr/>
          <p:nvPr/>
        </p:nvCxnSpPr>
        <p:spPr>
          <a:xfrm>
            <a:off x="11213287" y="4136745"/>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5-minute outside walkthrough</a:t>
            </a:r>
          </a:p>
        </p:txBody>
      </p:sp>
      <p:cxnSp>
        <p:nvCxnSpPr>
          <p:cNvPr id="49" name="vis:menuarrow"/>
          <p:cNvCxnSpPr/>
          <p:nvPr/>
        </p:nvCxnSpPr>
        <p:spPr>
          <a:xfrm>
            <a:off x="11213287" y="4564684"/>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0E6E75"/>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CURSE OF KNOWING</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Experts write the worst steps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body:lead"/>
          <p:cNvSpPr txBox="1"/>
          <p:nvPr/>
        </p:nvSpPr>
        <p:spPr>
          <a:xfrm>
            <a:off x="502920" y="1719072"/>
            <a:ext cx="8343671" cy="548640"/>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The steps you leave out are exactly the ones you stopped noticing years ago.</a:t>
            </a:r>
          </a:p>
        </p:txBody>
      </p:sp>
      <p:sp>
        <p:nvSpPr>
          <p:cNvPr id="16" name="vis:flowcard"/>
          <p:cNvSpPr/>
          <p:nvPr/>
        </p:nvSpPr>
        <p:spPr>
          <a:xfrm>
            <a:off x="502920" y="293522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flownum"/>
          <p:cNvSpPr/>
          <p:nvPr/>
        </p:nvSpPr>
        <p:spPr>
          <a:xfrm>
            <a:off x="685800" y="2752344"/>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flownumtext"/>
          <p:cNvSpPr txBox="1"/>
          <p:nvPr/>
        </p:nvSpPr>
        <p:spPr>
          <a:xfrm>
            <a:off x="685800" y="2830068"/>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sp>
        <p:nvSpPr>
          <p:cNvPr id="19" name="vis:flowtitle"/>
          <p:cNvSpPr txBox="1"/>
          <p:nvPr/>
        </p:nvSpPr>
        <p:spPr>
          <a:xfrm>
            <a:off x="704088" y="3300984"/>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You know it cold</a:t>
            </a:r>
          </a:p>
        </p:txBody>
      </p:sp>
      <p:sp>
        <p:nvSpPr>
          <p:cNvPr id="20" name="vis:flowsub"/>
          <p:cNvSpPr txBox="1"/>
          <p:nvPr/>
        </p:nvSpPr>
        <p:spPr>
          <a:xfrm>
            <a:off x="704088" y="384962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Four years of doing it without thinking.</a:t>
            </a:r>
          </a:p>
        </p:txBody>
      </p:sp>
      <p:cxnSp>
        <p:nvCxnSpPr>
          <p:cNvPr id="21" name="vis:flowarrow"/>
          <p:cNvCxnSpPr/>
          <p:nvPr/>
        </p:nvCxnSpPr>
        <p:spPr>
          <a:xfrm>
            <a:off x="3093643" y="3895344"/>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vis:flowcard"/>
          <p:cNvSpPr/>
          <p:nvPr/>
        </p:nvSpPr>
        <p:spPr>
          <a:xfrm>
            <a:off x="3395395" y="293522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flownum"/>
          <p:cNvSpPr/>
          <p:nvPr/>
        </p:nvSpPr>
        <p:spPr>
          <a:xfrm>
            <a:off x="3578275" y="2752344"/>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flownumtext"/>
          <p:cNvSpPr txBox="1"/>
          <p:nvPr/>
        </p:nvSpPr>
        <p:spPr>
          <a:xfrm>
            <a:off x="3578275" y="2830068"/>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sp>
        <p:nvSpPr>
          <p:cNvPr id="25" name="vis:flowtitle"/>
          <p:cNvSpPr txBox="1"/>
          <p:nvPr/>
        </p:nvSpPr>
        <p:spPr>
          <a:xfrm>
            <a:off x="3596563" y="3300984"/>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The obvious vanishes</a:t>
            </a:r>
          </a:p>
        </p:txBody>
      </p:sp>
      <p:sp>
        <p:nvSpPr>
          <p:cNvPr id="26" name="vis:flowsub"/>
          <p:cNvSpPr txBox="1"/>
          <p:nvPr/>
        </p:nvSpPr>
        <p:spPr>
          <a:xfrm>
            <a:off x="3596563" y="384962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Which system, which tab, whose approval.</a:t>
            </a:r>
          </a:p>
        </p:txBody>
      </p:sp>
      <p:cxnSp>
        <p:nvCxnSpPr>
          <p:cNvPr id="27" name="vis:flowarrow"/>
          <p:cNvCxnSpPr/>
          <p:nvPr/>
        </p:nvCxnSpPr>
        <p:spPr>
          <a:xfrm>
            <a:off x="5986119" y="3895344"/>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vis:flowcard"/>
          <p:cNvSpPr/>
          <p:nvPr/>
        </p:nvSpPr>
        <p:spPr>
          <a:xfrm>
            <a:off x="6287871" y="293522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flownum"/>
          <p:cNvSpPr/>
          <p:nvPr/>
        </p:nvSpPr>
        <p:spPr>
          <a:xfrm>
            <a:off x="6470751" y="2752344"/>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flownumtext"/>
          <p:cNvSpPr txBox="1"/>
          <p:nvPr/>
        </p:nvSpPr>
        <p:spPr>
          <a:xfrm>
            <a:off x="6470751" y="2830068"/>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sp>
        <p:nvSpPr>
          <p:cNvPr id="31" name="vis:flowtitle"/>
          <p:cNvSpPr txBox="1"/>
          <p:nvPr/>
        </p:nvSpPr>
        <p:spPr>
          <a:xfrm>
            <a:off x="6489039" y="3300984"/>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You write six steps</a:t>
            </a:r>
          </a:p>
        </p:txBody>
      </p:sp>
      <p:sp>
        <p:nvSpPr>
          <p:cNvPr id="32" name="vis:flowsub"/>
          <p:cNvSpPr txBox="1"/>
          <p:nvPr/>
        </p:nvSpPr>
        <p:spPr>
          <a:xfrm>
            <a:off x="6489039" y="384962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Where a new joiner needs fourteen.</a:t>
            </a:r>
          </a:p>
        </p:txBody>
      </p:sp>
      <p:cxnSp>
        <p:nvCxnSpPr>
          <p:cNvPr id="33" name="vis:flowarrow"/>
          <p:cNvCxnSpPr/>
          <p:nvPr/>
        </p:nvCxnSpPr>
        <p:spPr>
          <a:xfrm>
            <a:off x="8878595" y="3895344"/>
            <a:ext cx="219456"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vis:flowcard"/>
          <p:cNvSpPr/>
          <p:nvPr/>
        </p:nvSpPr>
        <p:spPr>
          <a:xfrm>
            <a:off x="9180347" y="293522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flownum"/>
          <p:cNvSpPr/>
          <p:nvPr/>
        </p:nvSpPr>
        <p:spPr>
          <a:xfrm>
            <a:off x="9363227" y="2752344"/>
            <a:ext cx="384048" cy="384048"/>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flownumtext"/>
          <p:cNvSpPr txBox="1"/>
          <p:nvPr/>
        </p:nvSpPr>
        <p:spPr>
          <a:xfrm>
            <a:off x="9363227" y="2830068"/>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37" name="vis:flowtitle"/>
          <p:cNvSpPr txBox="1"/>
          <p:nvPr/>
        </p:nvSpPr>
        <p:spPr>
          <a:xfrm>
            <a:off x="9381515" y="3300984"/>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They ring you</a:t>
            </a:r>
          </a:p>
        </p:txBody>
      </p:sp>
      <p:sp>
        <p:nvSpPr>
          <p:cNvPr id="38" name="vis:flowsub"/>
          <p:cNvSpPr txBox="1"/>
          <p:nvPr/>
        </p:nvSpPr>
        <p:spPr>
          <a:xfrm>
            <a:off x="9381515" y="384962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At every gap you could not see.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CURSE OF KNOWING</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gets left out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panel"/>
          <p:cNvSpPr/>
          <p:nvPr/>
        </p:nvSpPr>
        <p:spPr>
          <a:xfrm>
            <a:off x="502920"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anelspine"/>
          <p:cNvSpPr/>
          <p:nvPr/>
        </p:nvSpPr>
        <p:spPr>
          <a:xfrm>
            <a:off x="502920" y="1719072"/>
            <a:ext cx="68580" cy="4297680"/>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77240" y="1956815"/>
            <a:ext cx="1473305" cy="274320"/>
          </a:xfrm>
          <a:prstGeom prst="roundRect">
            <a:avLst>
              <a:gd name="adj" fmla="val 16666"/>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32688" y="1984247"/>
            <a:ext cx="116240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YOU WROTE</a:t>
            </a:r>
          </a:p>
        </p:txBody>
      </p:sp>
      <p:sp>
        <p:nvSpPr>
          <p:cNvPr id="19" name="vis:paneltitle"/>
          <p:cNvSpPr txBox="1"/>
          <p:nvPr/>
        </p:nvSpPr>
        <p:spPr>
          <a:xfrm>
            <a:off x="777240"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"Raise the vendor record"</a:t>
            </a:r>
          </a:p>
        </p:txBody>
      </p:sp>
      <p:sp>
        <p:nvSpPr>
          <p:cNvPr id="20" name="vis:icon"/>
          <p:cNvSpPr/>
          <p:nvPr/>
        </p:nvSpPr>
        <p:spPr>
          <a:xfrm>
            <a:off x="799185" y="3082442"/>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844905" y="3095244"/>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2" name="vis:icon"/>
          <p:cNvSpPr/>
          <p:nvPr/>
        </p:nvSpPr>
        <p:spPr>
          <a:xfrm>
            <a:off x="799185" y="3137306"/>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844905" y="3150108"/>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vis:icon"/>
          <p:cNvSpPr/>
          <p:nvPr/>
        </p:nvSpPr>
        <p:spPr>
          <a:xfrm>
            <a:off x="799185" y="3192170"/>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844905" y="3204972"/>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6" name="vis:panelitem"/>
          <p:cNvSpPr txBox="1"/>
          <p:nvPr/>
        </p:nvSpPr>
        <p:spPr>
          <a:xfrm>
            <a:off x="1078992"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One line that feels complete</a:t>
            </a:r>
          </a:p>
        </p:txBody>
      </p:sp>
      <p:sp>
        <p:nvSpPr>
          <p:cNvPr id="27" name="vis:icon"/>
          <p:cNvSpPr/>
          <p:nvPr/>
        </p:nvSpPr>
        <p:spPr>
          <a:xfrm>
            <a:off x="799185" y="3777386"/>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844905" y="3790187"/>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9" name="vis:icon"/>
          <p:cNvSpPr/>
          <p:nvPr/>
        </p:nvSpPr>
        <p:spPr>
          <a:xfrm>
            <a:off x="799185" y="3832250"/>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0" name="vis:icon"/>
          <p:cNvCxnSpPr/>
          <p:nvPr/>
        </p:nvCxnSpPr>
        <p:spPr>
          <a:xfrm>
            <a:off x="844905" y="3845051"/>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1" name="vis:icon"/>
          <p:cNvSpPr/>
          <p:nvPr/>
        </p:nvSpPr>
        <p:spPr>
          <a:xfrm>
            <a:off x="799185" y="3887114"/>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4905" y="3899915"/>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3" name="vis:panelitem"/>
          <p:cNvSpPr txBox="1"/>
          <p:nvPr/>
        </p:nvSpPr>
        <p:spPr>
          <a:xfrm>
            <a:off x="1078992"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Obvious to anyone who has done it</a:t>
            </a:r>
          </a:p>
        </p:txBody>
      </p:sp>
      <p:sp>
        <p:nvSpPr>
          <p:cNvPr id="34" name="vis:icon"/>
          <p:cNvSpPr/>
          <p:nvPr/>
        </p:nvSpPr>
        <p:spPr>
          <a:xfrm>
            <a:off x="799185" y="4472330"/>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5" name="vis:icon"/>
          <p:cNvCxnSpPr/>
          <p:nvPr/>
        </p:nvCxnSpPr>
        <p:spPr>
          <a:xfrm>
            <a:off x="844905" y="4485131"/>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6" name="vis:icon"/>
          <p:cNvSpPr/>
          <p:nvPr/>
        </p:nvSpPr>
        <p:spPr>
          <a:xfrm>
            <a:off x="799185" y="4527194"/>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844905" y="4539995"/>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8" name="vis:icon"/>
          <p:cNvSpPr/>
          <p:nvPr/>
        </p:nvSpPr>
        <p:spPr>
          <a:xfrm>
            <a:off x="799185" y="4582058"/>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9" name="vis:icon"/>
          <p:cNvCxnSpPr/>
          <p:nvPr/>
        </p:nvCxnSpPr>
        <p:spPr>
          <a:xfrm>
            <a:off x="844905" y="4594859"/>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40" name="vis:panelitem"/>
          <p:cNvSpPr txBox="1"/>
          <p:nvPr/>
        </p:nvSpPr>
        <p:spPr>
          <a:xfrm>
            <a:off x="1078992"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Six words covering four minutes of work</a:t>
            </a:r>
          </a:p>
        </p:txBody>
      </p:sp>
      <p:sp>
        <p:nvSpPr>
          <p:cNvPr id="41" name="vis:icon"/>
          <p:cNvSpPr/>
          <p:nvPr/>
        </p:nvSpPr>
        <p:spPr>
          <a:xfrm>
            <a:off x="799185" y="5167274"/>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844905" y="5180075"/>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43" name="vis:icon"/>
          <p:cNvSpPr/>
          <p:nvPr/>
        </p:nvSpPr>
        <p:spPr>
          <a:xfrm>
            <a:off x="799185" y="5222138"/>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4" name="vis:icon"/>
          <p:cNvCxnSpPr/>
          <p:nvPr/>
        </p:nvCxnSpPr>
        <p:spPr>
          <a:xfrm>
            <a:off x="844905" y="5234939"/>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45" name="vis:icon"/>
          <p:cNvSpPr/>
          <p:nvPr/>
        </p:nvSpPr>
        <p:spPr>
          <a:xfrm>
            <a:off x="799185" y="5277002"/>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6" name="vis:icon"/>
          <p:cNvCxnSpPr/>
          <p:nvPr/>
        </p:nvCxnSpPr>
        <p:spPr>
          <a:xfrm>
            <a:off x="844905" y="5289803"/>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47" name="vis:panelitem"/>
          <p:cNvSpPr txBox="1"/>
          <p:nvPr/>
        </p:nvSpPr>
        <p:spPr>
          <a:xfrm>
            <a:off x="1078992"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No system, no field, no approval named</a:t>
            </a:r>
          </a:p>
        </p:txBody>
      </p:sp>
      <p:sp>
        <p:nvSpPr>
          <p:cNvPr id="48" name="vis:panel"/>
          <p:cNvSpPr/>
          <p:nvPr/>
        </p:nvSpPr>
        <p:spPr>
          <a:xfrm>
            <a:off x="6251295"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9" name="vis:panelspine"/>
          <p:cNvSpPr/>
          <p:nvPr/>
        </p:nvSpPr>
        <p:spPr>
          <a:xfrm>
            <a:off x="6251295" y="1719072"/>
            <a:ext cx="68580" cy="42976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0" name="vis:chip"/>
          <p:cNvSpPr/>
          <p:nvPr/>
        </p:nvSpPr>
        <p:spPr>
          <a:xfrm>
            <a:off x="6525615" y="1956815"/>
            <a:ext cx="1390904"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chiptext"/>
          <p:cNvSpPr txBox="1"/>
          <p:nvPr/>
        </p:nvSpPr>
        <p:spPr>
          <a:xfrm>
            <a:off x="6681063" y="1984247"/>
            <a:ext cx="108000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THEY NEED</a:t>
            </a:r>
          </a:p>
        </p:txBody>
      </p:sp>
      <p:sp>
        <p:nvSpPr>
          <p:cNvPr id="52" name="vis:paneltitle"/>
          <p:cNvSpPr txBox="1"/>
          <p:nvPr/>
        </p:nvSpPr>
        <p:spPr>
          <a:xfrm>
            <a:off x="6525615"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Four separate steps</a:t>
            </a:r>
          </a:p>
        </p:txBody>
      </p:sp>
      <p:cxnSp>
        <p:nvCxnSpPr>
          <p:cNvPr id="53" name="vis:icon"/>
          <p:cNvCxnSpPr/>
          <p:nvPr/>
        </p:nvCxnSpPr>
        <p:spPr>
          <a:xfrm>
            <a:off x="6560362" y="3153765"/>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54" name="vis:icon"/>
          <p:cNvCxnSpPr/>
          <p:nvPr/>
        </p:nvCxnSpPr>
        <p:spPr>
          <a:xfrm flipV="1">
            <a:off x="6607911" y="3098901"/>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55" name="vis:panelitem"/>
          <p:cNvSpPr txBox="1"/>
          <p:nvPr/>
        </p:nvSpPr>
        <p:spPr>
          <a:xfrm>
            <a:off x="6827367"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Which system, and how to reach it</a:t>
            </a:r>
          </a:p>
        </p:txBody>
      </p:sp>
      <p:cxnSp>
        <p:nvCxnSpPr>
          <p:cNvPr id="56" name="vis:icon"/>
          <p:cNvCxnSpPr/>
          <p:nvPr/>
        </p:nvCxnSpPr>
        <p:spPr>
          <a:xfrm>
            <a:off x="6560362" y="3848709"/>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57" name="vis:icon"/>
          <p:cNvCxnSpPr/>
          <p:nvPr/>
        </p:nvCxnSpPr>
        <p:spPr>
          <a:xfrm flipV="1">
            <a:off x="6607911" y="3793845"/>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58" name="vis:panelitem"/>
          <p:cNvSpPr txBox="1"/>
          <p:nvPr/>
        </p:nvSpPr>
        <p:spPr>
          <a:xfrm>
            <a:off x="6827367"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Which fields are mandatory, and what goes in them</a:t>
            </a:r>
          </a:p>
        </p:txBody>
      </p:sp>
      <p:cxnSp>
        <p:nvCxnSpPr>
          <p:cNvPr id="59" name="vis:icon"/>
          <p:cNvCxnSpPr/>
          <p:nvPr/>
        </p:nvCxnSpPr>
        <p:spPr>
          <a:xfrm>
            <a:off x="6560362" y="4543653"/>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60" name="vis:icon"/>
          <p:cNvCxnSpPr/>
          <p:nvPr/>
        </p:nvCxnSpPr>
        <p:spPr>
          <a:xfrm flipV="1">
            <a:off x="6607911" y="4488789"/>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61" name="vis:panelitem"/>
          <p:cNvSpPr txBox="1"/>
          <p:nvPr/>
        </p:nvSpPr>
        <p:spPr>
          <a:xfrm>
            <a:off x="6827367"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Who approves it, and how long they take</a:t>
            </a:r>
          </a:p>
        </p:txBody>
      </p:sp>
      <p:cxnSp>
        <p:nvCxnSpPr>
          <p:cNvPr id="62" name="vis:icon"/>
          <p:cNvCxnSpPr/>
          <p:nvPr/>
        </p:nvCxnSpPr>
        <p:spPr>
          <a:xfrm>
            <a:off x="6560362" y="5238597"/>
            <a:ext cx="47549" cy="47549"/>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63" name="vis:icon"/>
          <p:cNvCxnSpPr/>
          <p:nvPr/>
        </p:nvCxnSpPr>
        <p:spPr>
          <a:xfrm flipV="1">
            <a:off x="6607911" y="5183733"/>
            <a:ext cx="87783" cy="102413"/>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64" name="vis:panelitem"/>
          <p:cNvSpPr txBox="1"/>
          <p:nvPr/>
        </p:nvSpPr>
        <p:spPr>
          <a:xfrm>
            <a:off x="6827367"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What to do when the code already exists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TALK IT, THEN SHAPE 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Talk it through, do not compose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body:lead"/>
          <p:cNvSpPr txBox="1"/>
          <p:nvPr/>
        </p:nvSpPr>
        <p:spPr>
          <a:xfrm>
            <a:off x="502920" y="1719072"/>
            <a:ext cx="8343671" cy="822959"/>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Explaining it out loud to an imaginary new joiner produces far better raw material than writing does.</a:t>
            </a:r>
          </a:p>
        </p:txBody>
      </p:sp>
      <p:sp>
        <p:nvSpPr>
          <p:cNvPr id="16" name="vis:promptcard"/>
          <p:cNvSpPr/>
          <p:nvPr/>
        </p:nvSpPr>
        <p:spPr>
          <a:xfrm>
            <a:off x="502920" y="2706624"/>
            <a:ext cx="6935230"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romptbar"/>
          <p:cNvSpPr/>
          <p:nvPr/>
        </p:nvSpPr>
        <p:spPr>
          <a:xfrm>
            <a:off x="502920" y="2706624"/>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739932" y="2828787"/>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flipH="1">
            <a:off x="775045" y="2951683"/>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flipV="1">
            <a:off x="775045" y="2951683"/>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vis:copybtn"/>
          <p:cNvSpPr/>
          <p:nvPr/>
        </p:nvSpPr>
        <p:spPr>
          <a:xfrm>
            <a:off x="5577981" y="2779776"/>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5761592" y="2845612"/>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5780246" y="2882920"/>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2910900"/>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a:off x="5780246" y="2938881"/>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6" name="vis:copytext"/>
          <p:cNvSpPr txBox="1"/>
          <p:nvPr/>
        </p:nvSpPr>
        <p:spPr>
          <a:xfrm>
            <a:off x="5989461" y="2839212"/>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7" name="vis:prompthdr"/>
          <p:cNvSpPr txBox="1"/>
          <p:nvPr/>
        </p:nvSpPr>
        <p:spPr>
          <a:xfrm>
            <a:off x="1051560" y="2816352"/>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shaping prompt</a:t>
            </a:r>
          </a:p>
        </p:txBody>
      </p:sp>
      <p:sp>
        <p:nvSpPr>
          <p:cNvPr id="28" name="card:prompt"/>
          <p:cNvSpPr txBox="1"/>
          <p:nvPr/>
        </p:nvSpPr>
        <p:spPr>
          <a:xfrm>
            <a:off x="777240" y="3255264"/>
            <a:ext cx="6386590"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Below is me explaining a process in my own words, in no particular order. Turn it into numbered steps. Each step must be one action a person can complete. Use only what I said. Where I have skipped something a beginner would need, write [GAP: what is missing] instead of guessing.</a:t>
            </a:r>
          </a:p>
        </p:txBody>
      </p:sp>
      <p:sp>
        <p:nvSpPr>
          <p:cNvPr id="29" name="vis:promptcap"/>
          <p:cNvSpPr txBox="1"/>
          <p:nvPr/>
        </p:nvSpPr>
        <p:spPr>
          <a:xfrm>
            <a:off x="777240" y="4612132"/>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Type or dictate however you like. Order does not matter.</a:t>
            </a:r>
          </a:p>
        </p:txBody>
      </p:sp>
      <p:sp>
        <p:nvSpPr>
          <p:cNvPr id="30" name="seclabel"/>
          <p:cNvSpPr txBox="1"/>
          <p:nvPr/>
        </p:nvSpPr>
        <p:spPr>
          <a:xfrm>
            <a:off x="7803910" y="2761488"/>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WHY THIS WORKS</a:t>
            </a:r>
          </a:p>
        </p:txBody>
      </p:sp>
      <p:cxnSp>
        <p:nvCxnSpPr>
          <p:cNvPr id="31" name="vis:icon"/>
          <p:cNvCxnSpPr/>
          <p:nvPr/>
        </p:nvCxnSpPr>
        <p:spPr>
          <a:xfrm>
            <a:off x="7850361" y="3305007"/>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2" name="vis:icon"/>
          <p:cNvCxnSpPr/>
          <p:nvPr/>
        </p:nvCxnSpPr>
        <p:spPr>
          <a:xfrm flipV="1">
            <a:off x="7902665" y="3244656"/>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3" name="cell:why"/>
          <p:cNvSpPr txBox="1"/>
          <p:nvPr/>
        </p:nvSpPr>
        <p:spPr>
          <a:xfrm>
            <a:off x="8187958" y="3145536"/>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[GAP] finds the steps you stopped noticing years ago.</a:t>
            </a:r>
          </a:p>
        </p:txBody>
      </p:sp>
      <p:cxnSp>
        <p:nvCxnSpPr>
          <p:cNvPr id="34" name="vis:icon"/>
          <p:cNvCxnSpPr/>
          <p:nvPr/>
        </p:nvCxnSpPr>
        <p:spPr>
          <a:xfrm>
            <a:off x="7850361" y="4237695"/>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5" name="vis:icon"/>
          <p:cNvCxnSpPr/>
          <p:nvPr/>
        </p:nvCxnSpPr>
        <p:spPr>
          <a:xfrm flipV="1">
            <a:off x="7902665" y="4177344"/>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6" name="cell:why"/>
          <p:cNvSpPr txBox="1"/>
          <p:nvPr/>
        </p:nvSpPr>
        <p:spPr>
          <a:xfrm>
            <a:off x="8187958" y="407822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"One action per step" stops four jobs hiding in one line.</a:t>
            </a:r>
          </a:p>
        </p:txBody>
      </p:sp>
      <p:cxnSp>
        <p:nvCxnSpPr>
          <p:cNvPr id="37" name="vis:icon"/>
          <p:cNvCxnSpPr/>
          <p:nvPr/>
        </p:nvCxnSpPr>
        <p:spPr>
          <a:xfrm>
            <a:off x="7850361" y="5170383"/>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flipV="1">
            <a:off x="7902665" y="5110032"/>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9" name="cell:why"/>
          <p:cNvSpPr txBox="1"/>
          <p:nvPr/>
        </p:nvSpPr>
        <p:spPr>
          <a:xfrm>
            <a:off x="8187958" y="501091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You can ramble. Reordering is exactly what it is good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TALK IT, THEN SHAPE 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a good step looks like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STARTS WITH A VERB — "Open", "Enter", "Send", "Check"</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NAMES THE PLACE — which system, which screen, which field</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ONE ACTION ONLY — if it needs "and", it is two steps</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SAYS WHAT SUCCESS LOOKS LIKE — "the code turns green"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TESTING A PROCEDURE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new-joiner test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promptcard"/>
          <p:cNvSpPr/>
          <p:nvPr/>
        </p:nvSpPr>
        <p:spPr>
          <a:xfrm>
            <a:off x="502920" y="1719072"/>
            <a:ext cx="5816644"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5816644"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4459395"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464300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4661660" y="189536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4661660" y="1923348"/>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4661660"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4870875"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3298107"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7" name="card:prompt"/>
          <p:cNvSpPr txBox="1"/>
          <p:nvPr/>
        </p:nvSpPr>
        <p:spPr>
          <a:xfrm>
            <a:off x="777240" y="2267712"/>
            <a:ext cx="5268004"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Read these steps as somebody who joined the company yesterday and has never seen this system. List every point where you would have to stop and ask a question. Do not rewrite the steps and do not answer your own questions.</a:t>
            </a:r>
          </a:p>
        </p:txBody>
      </p:sp>
      <p:sp>
        <p:nvSpPr>
          <p:cNvPr id="28" name="vis:promptcap"/>
          <p:cNvSpPr txBox="1"/>
          <p:nvPr/>
        </p:nvSpPr>
        <p:spPr>
          <a:xfrm>
            <a:off x="777240" y="3624579"/>
            <a:ext cx="5268004"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The questions are the value. Ignore any urge to have it fix them.</a:t>
            </a:r>
          </a:p>
        </p:txBody>
      </p:sp>
      <p:sp>
        <p:nvSpPr>
          <p:cNvPr id="29" name="vis:outcard"/>
          <p:cNvSpPr/>
          <p:nvPr/>
        </p:nvSpPr>
        <p:spPr>
          <a:xfrm>
            <a:off x="6685324" y="1719072"/>
            <a:ext cx="5003450" cy="2377947"/>
          </a:xfrm>
          <a:prstGeom prst="roundRect">
            <a:avLst>
              <a:gd name="adj" fmla="val 38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outspine"/>
          <p:cNvSpPr/>
          <p:nvPr/>
        </p:nvSpPr>
        <p:spPr>
          <a:xfrm>
            <a:off x="6685324" y="1719072"/>
            <a:ext cx="68580" cy="2377947"/>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ip"/>
          <p:cNvSpPr/>
          <p:nvPr/>
        </p:nvSpPr>
        <p:spPr>
          <a:xfrm>
            <a:off x="6941356" y="1920240"/>
            <a:ext cx="2087885"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text"/>
          <p:cNvSpPr txBox="1"/>
          <p:nvPr/>
        </p:nvSpPr>
        <p:spPr>
          <a:xfrm>
            <a:off x="7096804" y="1947672"/>
            <a:ext cx="177698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COMES BACK</a:t>
            </a:r>
          </a:p>
        </p:txBody>
      </p:sp>
      <p:sp>
        <p:nvSpPr>
          <p:cNvPr id="33" name="vis:outbody"/>
          <p:cNvSpPr txBox="1"/>
          <p:nvPr/>
        </p:nvSpPr>
        <p:spPr>
          <a:xfrm>
            <a:off x="6941356" y="2359152"/>
            <a:ext cx="4491386" cy="1518411"/>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Six to ten questions, most of which you would never have predicted.</a:t>
            </a:r>
          </a:p>
          <a:p>
            <a:pPr algn="l">
              <a:lnSpc>
                <a:spcPts val="1690"/>
              </a:lnSpc>
              <a:spcBef>
                <a:spcPts val="0"/>
              </a:spcBef>
              <a:spcAft>
                <a:spcPts val="600"/>
              </a:spcAft>
            </a:pPr>
            <a:r>
              <a:rPr sz="1300" b="0">
                <a:solidFill>
                  <a:srgbClr val="2A3547"/>
                </a:solidFill>
                <a:latin typeface="Segoe UI"/>
              </a:rPr>
              <a:t>Usually one about an approval you forgot anyone needed.</a:t>
            </a:r>
          </a:p>
          <a:p>
            <a:pPr algn="l">
              <a:lnSpc>
                <a:spcPts val="1690"/>
              </a:lnSpc>
              <a:spcBef>
                <a:spcPts val="0"/>
              </a:spcBef>
              <a:spcAft>
                <a:spcPts val="600"/>
              </a:spcAft>
            </a:pPr>
            <a:r>
              <a:rPr sz="1300" b="0">
                <a:solidFill>
                  <a:srgbClr val="2A3547"/>
                </a:solidFill>
                <a:latin typeface="Segoe UI"/>
              </a:rPr>
              <a:t>You answer them in the document, and the phone stops ringing.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TESTING A PROCEDURE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Then test it on a person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outcard"/>
          <p:cNvSpPr/>
          <p:nvPr/>
        </p:nvSpPr>
        <p:spPr>
          <a:xfrm>
            <a:off x="502920"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outspine"/>
          <p:cNvSpPr/>
          <p:nvPr/>
        </p:nvSpPr>
        <p:spPr>
          <a:xfrm>
            <a:off x="502920" y="1719072"/>
            <a:ext cx="68580" cy="32918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58952" y="1920240"/>
            <a:ext cx="1704594"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14400" y="1947672"/>
            <a:ext cx="139369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UNTESTED SOP</a:t>
            </a:r>
          </a:p>
        </p:txBody>
      </p:sp>
      <p:sp>
        <p:nvSpPr>
          <p:cNvPr id="19" name="vis:outbody"/>
          <p:cNvSpPr txBox="1"/>
          <p:nvPr/>
        </p:nvSpPr>
        <p:spPr>
          <a:xfrm>
            <a:off x="758952"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Written by the expert, reviewed by the expert.</a:t>
            </a:r>
          </a:p>
          <a:p>
            <a:pPr algn="l">
              <a:lnSpc>
                <a:spcPts val="1690"/>
              </a:lnSpc>
              <a:spcBef>
                <a:spcPts val="0"/>
              </a:spcBef>
              <a:spcAft>
                <a:spcPts val="600"/>
              </a:spcAft>
            </a:pPr>
            <a:r>
              <a:rPr sz="1300" b="0">
                <a:solidFill>
                  <a:srgbClr val="2A3547"/>
                </a:solidFill>
                <a:latin typeface="Segoe UI"/>
              </a:rPr>
              <a:t>Reads perfectly to anyone who already knows the process.</a:t>
            </a:r>
          </a:p>
          <a:p>
            <a:pPr algn="l">
              <a:lnSpc>
                <a:spcPts val="1690"/>
              </a:lnSpc>
              <a:spcBef>
                <a:spcPts val="0"/>
              </a:spcBef>
              <a:spcAft>
                <a:spcPts val="600"/>
              </a:spcAft>
            </a:pPr>
            <a:r>
              <a:rPr sz="1300" b="0">
                <a:solidFill>
                  <a:srgbClr val="2A3547"/>
                </a:solidFill>
                <a:latin typeface="Segoe UI"/>
              </a:rPr>
              <a:t>First new joiner rings on step three.</a:t>
            </a:r>
          </a:p>
        </p:txBody>
      </p:sp>
      <p:sp>
        <p:nvSpPr>
          <p:cNvPr id="20" name="vis:outcard"/>
          <p:cNvSpPr/>
          <p:nvPr/>
        </p:nvSpPr>
        <p:spPr>
          <a:xfrm>
            <a:off x="6278727"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outspine"/>
          <p:cNvSpPr/>
          <p:nvPr/>
        </p:nvSpPr>
        <p:spPr>
          <a:xfrm>
            <a:off x="6278727" y="1719072"/>
            <a:ext cx="68580" cy="32918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
          <p:cNvSpPr/>
          <p:nvPr/>
        </p:nvSpPr>
        <p:spPr>
          <a:xfrm>
            <a:off x="6534759" y="1920240"/>
            <a:ext cx="145630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text"/>
          <p:cNvSpPr txBox="1"/>
          <p:nvPr/>
        </p:nvSpPr>
        <p:spPr>
          <a:xfrm>
            <a:off x="6690207" y="1947672"/>
            <a:ext cx="114541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TESTED SOP</a:t>
            </a:r>
          </a:p>
        </p:txBody>
      </p:sp>
      <p:sp>
        <p:nvSpPr>
          <p:cNvPr id="24" name="vis:outbody"/>
          <p:cNvSpPr txBox="1"/>
          <p:nvPr/>
        </p:nvSpPr>
        <p:spPr>
          <a:xfrm>
            <a:off x="6534759"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Given to somebody who has never done it, with no help.</a:t>
            </a:r>
          </a:p>
          <a:p>
            <a:pPr algn="l">
              <a:lnSpc>
                <a:spcPts val="1690"/>
              </a:lnSpc>
              <a:spcBef>
                <a:spcPts val="0"/>
              </a:spcBef>
              <a:spcAft>
                <a:spcPts val="600"/>
              </a:spcAft>
            </a:pPr>
            <a:r>
              <a:rPr sz="1300" b="0">
                <a:solidFill>
                  <a:srgbClr val="2A3547"/>
                </a:solidFill>
                <a:latin typeface="Segoe UI"/>
              </a:rPr>
              <a:t>You watch and write down every place they hesitate.</a:t>
            </a:r>
          </a:p>
          <a:p>
            <a:pPr algn="l">
              <a:lnSpc>
                <a:spcPts val="1690"/>
              </a:lnSpc>
              <a:spcBef>
                <a:spcPts val="0"/>
              </a:spcBef>
              <a:spcAft>
                <a:spcPts val="600"/>
              </a:spcAft>
            </a:pPr>
            <a:r>
              <a:rPr sz="1300" b="0">
                <a:solidFill>
                  <a:srgbClr val="2A3547"/>
                </a:solidFill>
                <a:latin typeface="Segoe UI"/>
              </a:rPr>
              <a:t>Ten minutes of watching removes a year of phone calls.</a:t>
            </a:r>
          </a:p>
        </p:txBody>
      </p:sp>
      <p:sp>
        <p:nvSpPr>
          <p:cNvPr id="25" name="cell:banote"/>
          <p:cNvSpPr txBox="1"/>
          <p:nvPr/>
        </p:nvSpPr>
        <p:spPr>
          <a:xfrm>
            <a:off x="502920" y="5193792"/>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AI test finds the obvious gaps. A real person finds the ones neither of you expected.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KEEPING IT CURRENT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Documents rot quietly</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55789" y="2190229"/>
            <a:ext cx="301269" cy="301269"/>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V="1">
            <a:off x="1106424" y="2251852"/>
            <a:ext cx="0" cy="89011"/>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a:off x="1106424" y="2340863"/>
            <a:ext cx="75317" cy="27389"/>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0"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Date it</a:t>
            </a:r>
          </a:p>
        </p:txBody>
      </p:sp>
      <p:sp>
        <p:nvSpPr>
          <p:cNvPr id="21"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"Last checked March 2026" tells a reader whether to trust it or ring you.</a:t>
            </a:r>
          </a:p>
        </p:txBody>
      </p:sp>
      <p:sp>
        <p:nvSpPr>
          <p:cNvPr id="22"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4861435" y="2193652"/>
            <a:ext cx="130093" cy="130093"/>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4789541" y="2375099"/>
            <a:ext cx="273881" cy="119823"/>
          </a:xfrm>
          <a:custGeom>
            <a:avLst/>
            <a:gdLst/>
            <a:ahLst/>
            <a:cxnLst/>
            <a:rect l="l" t="t" r="r" b="b"/>
            <a:pathLst>
              <a:path w="273881" h="119823">
                <a:moveTo>
                  <a:pt x="0" y="119823"/>
                </a:moveTo>
                <a:lnTo>
                  <a:pt x="20541" y="0"/>
                </a:lnTo>
                <a:lnTo>
                  <a:pt x="253340" y="0"/>
                </a:lnTo>
                <a:lnTo>
                  <a:pt x="273881" y="119823"/>
                </a:lnTo>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Own it</a:t>
            </a:r>
          </a:p>
        </p:txBody>
      </p:sp>
      <p:sp>
        <p:nvSpPr>
          <p:cNvPr id="27"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One named role, not a team. Documents with no owner are never updated.</a:t>
            </a:r>
          </a:p>
        </p:txBody>
      </p:sp>
      <p:sp>
        <p:nvSpPr>
          <p:cNvPr id="28"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icon"/>
          <p:cNvSpPr/>
          <p:nvPr/>
        </p:nvSpPr>
        <p:spPr>
          <a:xfrm>
            <a:off x="8609893" y="2222270"/>
            <a:ext cx="273295" cy="255534"/>
          </a:xfrm>
          <a:custGeom>
            <a:avLst/>
            <a:gdLst/>
            <a:ahLst/>
            <a:cxnLst/>
            <a:rect l="l" t="t" r="r" b="b"/>
            <a:pathLst>
              <a:path w="273295" h="255534">
                <a:moveTo>
                  <a:pt x="205118" y="0"/>
                </a:moveTo>
                <a:lnTo>
                  <a:pt x="239605" y="28302"/>
                </a:lnTo>
                <a:lnTo>
                  <a:pt x="263164" y="66189"/>
                </a:lnTo>
                <a:lnTo>
                  <a:pt x="273295" y="109637"/>
                </a:lnTo>
                <a:lnTo>
                  <a:pt x="268922" y="154036"/>
                </a:lnTo>
                <a:lnTo>
                  <a:pt x="250509" y="194674"/>
                </a:lnTo>
                <a:lnTo>
                  <a:pt x="220011" y="227236"/>
                </a:lnTo>
                <a:lnTo>
                  <a:pt x="180665" y="248267"/>
                </a:lnTo>
                <a:lnTo>
                  <a:pt x="136647" y="255534"/>
                </a:lnTo>
                <a:lnTo>
                  <a:pt x="92629" y="248267"/>
                </a:lnTo>
                <a:lnTo>
                  <a:pt x="53283" y="227236"/>
                </a:lnTo>
                <a:lnTo>
                  <a:pt x="22785" y="194674"/>
                </a:lnTo>
                <a:lnTo>
                  <a:pt x="4373" y="154036"/>
                </a:lnTo>
                <a:lnTo>
                  <a:pt x="0" y="109637"/>
                </a:lnTo>
                <a:lnTo>
                  <a:pt x="10131" y="66189"/>
                </a:lnTo>
                <a:lnTo>
                  <a:pt x="33690" y="28302"/>
                </a:lnTo>
                <a:lnTo>
                  <a:pt x="68177" y="0"/>
                </a:lnTo>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vis:icon"/>
          <p:cNvSpPr/>
          <p:nvPr/>
        </p:nvSpPr>
        <p:spPr>
          <a:xfrm>
            <a:off x="8662664" y="2195022"/>
            <a:ext cx="62993" cy="54091"/>
          </a:xfrm>
          <a:custGeom>
            <a:avLst/>
            <a:gdLst/>
            <a:ahLst/>
            <a:cxnLst/>
            <a:rect l="l" t="t" r="r" b="b"/>
            <a:pathLst>
              <a:path w="62993" h="54091">
                <a:moveTo>
                  <a:pt x="62993" y="0"/>
                </a:moveTo>
                <a:lnTo>
                  <a:pt x="30812" y="54091"/>
                </a:lnTo>
                <a:lnTo>
                  <a:pt x="0" y="685"/>
                </a:lnTo>
                <a:close/>
              </a:path>
            </a:pathLst>
          </a:cu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Fix on use</a:t>
            </a:r>
          </a:p>
        </p:txBody>
      </p:sp>
      <p:sp>
        <p:nvSpPr>
          <p:cNvPr id="33"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moment somebody hits a wrong step, correct the document, not just the person.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KEEPING IT CURRENT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update prompt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promptcard"/>
          <p:cNvSpPr/>
          <p:nvPr/>
        </p:nvSpPr>
        <p:spPr>
          <a:xfrm>
            <a:off x="502920" y="1719072"/>
            <a:ext cx="6935230" cy="2146807"/>
          </a:xfrm>
          <a:prstGeom prst="roundRect">
            <a:avLst>
              <a:gd name="adj" fmla="val 425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update prompt</a:t>
            </a:r>
          </a:p>
        </p:txBody>
      </p:sp>
      <p:sp>
        <p:nvSpPr>
          <p:cNvPr id="27" name="card:prompt"/>
          <p:cNvSpPr txBox="1"/>
          <p:nvPr/>
        </p:nvSpPr>
        <p:spPr>
          <a:xfrm>
            <a:off x="777240" y="2267712"/>
            <a:ext cx="6386590" cy="92455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Here is an existing procedure and a description of what has changed. Update only the steps affected by the change. Leave every other step exactly as written, including the wording. List at the end which step numbers you changed.</a:t>
            </a:r>
          </a:p>
        </p:txBody>
      </p:sp>
      <p:sp>
        <p:nvSpPr>
          <p:cNvPr id="28" name="vis:promptcap"/>
          <p:cNvSpPr txBox="1"/>
          <p:nvPr/>
        </p:nvSpPr>
        <p:spPr>
          <a:xfrm>
            <a:off x="777240" y="3393440"/>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"List which steps you changed" makes review take seconds.</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Untouched steps stay untouched, so nothing drifts.</a:t>
            </a:r>
          </a:p>
        </p:txBody>
      </p:sp>
      <p:cxnSp>
        <p:nvCxnSpPr>
          <p:cNvPr id="33" name="vis:icon"/>
          <p:cNvCxnSpPr/>
          <p:nvPr/>
        </p:nvCxnSpPr>
        <p:spPr>
          <a:xfrm>
            <a:off x="7850361" y="3250143"/>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The change list is what you review, not the whole document.</a:t>
            </a:r>
          </a:p>
        </p:txBody>
      </p:sp>
      <p:cxnSp>
        <p:nvCxnSpPr>
          <p:cNvPr id="36" name="vis:icon"/>
          <p:cNvCxnSpPr/>
          <p:nvPr/>
        </p:nvCxnSpPr>
        <p:spPr>
          <a:xfrm>
            <a:off x="7850361" y="4182831"/>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Updating becomes a two-minute job, so it actually happens.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 this now: document one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tepnum"/>
          <p:cNvSpPr/>
          <p:nvPr/>
        </p:nvSpPr>
        <p:spPr>
          <a:xfrm>
            <a:off x="502920" y="2027681"/>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Pick the process only you know how to do.</a:t>
            </a:r>
          </a:p>
        </p:txBody>
      </p:sp>
      <p:sp>
        <p:nvSpPr>
          <p:cNvPr id="19" name="vis:stepnum"/>
          <p:cNvSpPr/>
          <p:nvPr/>
        </p:nvSpPr>
        <p:spPr>
          <a:xfrm>
            <a:off x="502920" y="3138677"/>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Explain it out loud into a document for ten minutes.</a:t>
            </a:r>
          </a:p>
        </p:txBody>
      </p:sp>
      <p:sp>
        <p:nvSpPr>
          <p:cNvPr id="23" name="vis:stepnum"/>
          <p:cNvSpPr/>
          <p:nvPr/>
        </p:nvSpPr>
        <p:spPr>
          <a:xfrm>
            <a:off x="502920" y="4249674"/>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Run the shaping prompt, then the new-joiner test prompt.</a:t>
            </a:r>
          </a:p>
        </p:txBody>
      </p:sp>
      <p:sp>
        <p:nvSpPr>
          <p:cNvPr id="27" name="vis:stepnum"/>
          <p:cNvSpPr/>
          <p:nvPr/>
        </p:nvSpPr>
        <p:spPr>
          <a:xfrm>
            <a:off x="502920" y="5360670"/>
            <a:ext cx="347472" cy="34747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Answer every [GAP] and every question it raises.</a:t>
            </a:r>
          </a:p>
        </p:txBody>
      </p:sp>
      <p:sp>
        <p:nvSpPr>
          <p:cNvPr id="30" name="vis:promptcard"/>
          <p:cNvSpPr/>
          <p:nvPr/>
        </p:nvSpPr>
        <p:spPr>
          <a:xfrm>
            <a:off x="6461607" y="1719072"/>
            <a:ext cx="5227167" cy="2609087"/>
          </a:xfrm>
          <a:prstGeom prst="roundRect">
            <a:avLst>
              <a:gd name="adj" fmla="val 3504"/>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38683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Turn my explanation below into numbered steps. One action per step, starting with a verb, naming the system and screen. Use only what I said. Write [GAP: what is missing] wherever a beginner would need something I have not mentioned.</a:t>
            </a:r>
          </a:p>
        </p:txBody>
      </p:sp>
      <p:sp>
        <p:nvSpPr>
          <p:cNvPr id="43" name="vis:promptcap"/>
          <p:cNvSpPr txBox="1"/>
          <p:nvPr/>
        </p:nvSpPr>
        <p:spPr>
          <a:xfrm>
            <a:off x="6735927" y="3855719"/>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Two prompts and forty minutes replaces a year of interruptions.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not to put in a procedure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alertband"/>
          <p:cNvSpPr/>
          <p:nvPr/>
        </p:nvSpPr>
        <p:spPr>
          <a:xfrm>
            <a:off x="0" y="1719072"/>
            <a:ext cx="12191695" cy="9601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An SOP gets shared widely and lives for years. Write it accordingly.</a:t>
            </a:r>
          </a:p>
          <a:p>
            <a:pPr algn="l">
              <a:lnSpc>
                <a:spcPts val="1755"/>
              </a:lnSpc>
              <a:spcBef>
                <a:spcPts val="0"/>
              </a:spcBef>
              <a:spcAft>
                <a:spcPts val="0"/>
              </a:spcAft>
            </a:pPr>
            <a:r>
              <a:rPr sz="1350" b="0">
                <a:solidFill>
                  <a:srgbClr val="FFFFFF"/>
                </a:solidFill>
                <a:latin typeface="Segoe UI"/>
              </a:rPr>
              <a:t>Name roles and systems, never people and credentials.</a:t>
            </a:r>
          </a:p>
        </p:txBody>
      </p:sp>
      <p:sp>
        <p:nvSpPr>
          <p:cNvPr id="20" name="vis:checktile"/>
          <p:cNvSpPr/>
          <p:nvPr/>
        </p:nvSpPr>
        <p:spPr>
          <a:xfrm>
            <a:off x="502920" y="2953512"/>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80138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823965" y="3608313"/>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Passwords, PINs or shared login details</a:t>
            </a:r>
          </a:p>
        </p:txBody>
      </p:sp>
      <p:sp>
        <p:nvSpPr>
          <p:cNvPr id="25" name="vis:checktile"/>
          <p:cNvSpPr/>
          <p:nvPr/>
        </p:nvSpPr>
        <p:spPr>
          <a:xfrm>
            <a:off x="6205575" y="2953512"/>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6425031"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6504035"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6526621"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6863943" y="3099816"/>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 named individual where a role would do</a:t>
            </a:r>
          </a:p>
        </p:txBody>
      </p:sp>
      <p:sp>
        <p:nvSpPr>
          <p:cNvPr id="30" name="vis:checktile"/>
          <p:cNvSpPr/>
          <p:nvPr/>
        </p:nvSpPr>
        <p:spPr>
          <a:xfrm>
            <a:off x="502920" y="4590288"/>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722376" y="514349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01380" y="5222504"/>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823965" y="5245089"/>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1161288" y="4736592"/>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Real customer records used as the worked example</a:t>
            </a:r>
          </a:p>
        </p:txBody>
      </p:sp>
      <p:sp>
        <p:nvSpPr>
          <p:cNvPr id="35" name="vis:checktile"/>
          <p:cNvSpPr/>
          <p:nvPr/>
        </p:nvSpPr>
        <p:spPr>
          <a:xfrm>
            <a:off x="6205575" y="4590288"/>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checkdot"/>
          <p:cNvSpPr/>
          <p:nvPr/>
        </p:nvSpPr>
        <p:spPr>
          <a:xfrm>
            <a:off x="6425031" y="514349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icon"/>
          <p:cNvSpPr/>
          <p:nvPr/>
        </p:nvSpPr>
        <p:spPr>
          <a:xfrm>
            <a:off x="6504035" y="5222504"/>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8" name="vis:icon"/>
          <p:cNvCxnSpPr/>
          <p:nvPr/>
        </p:nvCxnSpPr>
        <p:spPr>
          <a:xfrm>
            <a:off x="6526621" y="5245089"/>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9" name="cell:checkitem"/>
          <p:cNvSpPr txBox="1"/>
          <p:nvPr/>
        </p:nvSpPr>
        <p:spPr>
          <a:xfrm>
            <a:off x="6863943" y="4736592"/>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Internal system addresses posted outside the company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mistakes people really make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Writing steps from memory, in order</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You write what you remember doing, not what a beginner has to do.</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Putting four actions in one step</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"Raise and approve the record and notify the vendor" is three steps and one guess.</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Naming a person instead of a role</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document breaks the day they change job, and nobody notices for months.</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Never testing it on a real beginner</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expert review confirms only that experts can follow it.</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Leaving it undated</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reader cannot tell whether it is current, so they ring you to check anyway.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How much detail is right?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Could somebody do this wrong and not realise?</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2138739" y="3026664"/>
            <a:ext cx="755269" cy="274320"/>
          </a:xfrm>
          <a:prstGeom prst="roundRect">
            <a:avLst>
              <a:gd name="adj" fmla="val 16666"/>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2294187" y="3054096"/>
            <a:ext cx="4443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NO</a:t>
            </a:r>
          </a:p>
        </p:txBody>
      </p:sp>
      <p:sp>
        <p:nvSpPr>
          <p:cNvPr id="22" name="vis:treebox"/>
          <p:cNvSpPr/>
          <p:nvPr/>
        </p:nvSpPr>
        <p:spPr>
          <a:xfrm>
            <a:off x="279202"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571079" y="3834627"/>
            <a:ext cx="153619" cy="153619"/>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704216" y="3967764"/>
            <a:ext cx="61447" cy="61448"/>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Keep it short</a:t>
            </a:r>
          </a:p>
        </p:txBody>
      </p:sp>
      <p:sp>
        <p:nvSpPr>
          <p:cNvPr id="27" name="vis:treedetail"/>
          <p:cNvSpPr txBox="1"/>
          <p:nvPr/>
        </p:nvSpPr>
        <p:spPr>
          <a:xfrm>
            <a:off x="535234"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If a mistake is immediately obvious, one line is enough. Over-documenting the obvious is how SOPs become unreadable.</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9282446" y="3026664"/>
            <a:ext cx="78574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9437894" y="3054096"/>
            <a:ext cx="47485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YES</a:t>
            </a:r>
          </a:p>
        </p:txBody>
      </p:sp>
      <p:sp>
        <p:nvSpPr>
          <p:cNvPr id="31" name="vis:treebox"/>
          <p:cNvSpPr/>
          <p:nvPr/>
        </p:nvSpPr>
        <p:spPr>
          <a:xfrm>
            <a:off x="7438150"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7730026" y="3937040"/>
            <a:ext cx="66569"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796595" y="3860231"/>
            <a:ext cx="122895"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Add the check</a:t>
            </a:r>
          </a:p>
        </p:txBody>
      </p:sp>
      <p:sp>
        <p:nvSpPr>
          <p:cNvPr id="36" name="vis:treedetail"/>
          <p:cNvSpPr txBox="1"/>
          <p:nvPr/>
        </p:nvSpPr>
        <p:spPr>
          <a:xfrm>
            <a:off x="7694182"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Name what success looks like at that step. "The status turns green" or "you receive a confirmation email within ten minutes".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handover document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What I do daily, weekly and monthly, with the deadlines</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Who to ring for each thing, by role and by name</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The three things most likely to go wrong while I am away</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Where every document, login route and template lives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documentation rule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alertband"/>
          <p:cNvSpPr/>
          <p:nvPr/>
        </p:nvSpPr>
        <p:spPr>
          <a:xfrm>
            <a:off x="0" y="1719072"/>
            <a:ext cx="12191695" cy="96012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Write it for the person who has never done it, not for the person who already can.</a:t>
            </a:r>
          </a:p>
          <a:p>
            <a:pPr algn="l">
              <a:lnSpc>
                <a:spcPts val="1755"/>
              </a:lnSpc>
              <a:spcBef>
                <a:spcPts val="0"/>
              </a:spcBef>
              <a:spcAft>
                <a:spcPts val="0"/>
              </a:spcAft>
            </a:pPr>
            <a:r>
              <a:rPr sz="1350" b="0">
                <a:solidFill>
                  <a:srgbClr val="FFFFFF"/>
                </a:solidFill>
                <a:latin typeface="Segoe UI"/>
              </a:rPr>
              <a:t>Every phone call you get is a step you left out because it was obvious to you.</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Talk it, then shape it.</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61704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662220" y="3613525"/>
            <a:ext cx="83394"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Answer every [GAP].</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18819" y="3665646"/>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63991"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Test it on a beginner.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Two days before annual leave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You are away for a fortnight. Vendor onboarding is entirely yours and nothing is written down. You have about two hours spare.</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Write the steps from memory as a quick bullet list.</a:t>
            </a:r>
          </a:p>
        </p:txBody>
      </p:sp>
      <p:cxnSp>
        <p:nvCxnSpPr>
          <p:cNvPr id="23" name="vis:choicearrow"/>
          <p:cNvCxnSpPr/>
          <p:nvPr/>
        </p:nvCxnSpPr>
        <p:spPr>
          <a:xfrm>
            <a:off x="758952" y="5632704"/>
            <a:ext cx="292608"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Talk it through into a document, shape it, then run the new-joiner test.</a:t>
            </a:r>
          </a:p>
        </p:txBody>
      </p:sp>
      <p:cxnSp>
        <p:nvCxnSpPr>
          <p:cNvPr id="29" name="vis:choicearrow"/>
          <p:cNvCxnSpPr/>
          <p:nvPr/>
        </p:nvCxnSpPr>
        <p:spPr>
          <a:xfrm>
            <a:off x="4566818" y="5632704"/>
            <a:ext cx="292608"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Record a video walkthrough and leave it for the team.</a:t>
            </a:r>
          </a:p>
        </p:txBody>
      </p:sp>
      <p:cxnSp>
        <p:nvCxnSpPr>
          <p:cNvPr id="35" name="vis:choicearrow"/>
          <p:cNvCxnSpPr/>
          <p:nvPr/>
        </p:nvCxnSpPr>
        <p:spPr>
          <a:xfrm>
            <a:off x="8374684" y="5632704"/>
            <a:ext cx="292608" cy="0"/>
          </a:xfrm>
          <a:prstGeom prst="line">
            <a:avLst/>
          </a:prstGeom>
          <a:ln w="19050">
            <a:solidFill>
              <a:srgbClr val="0E6E75"/>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See what happens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icon"/>
          <p:cNvSpPr/>
          <p:nvPr/>
        </p:nvSpPr>
        <p:spPr>
          <a:xfrm>
            <a:off x="519744" y="409285"/>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vis:icon"/>
          <p:cNvCxnSpPr/>
          <p:nvPr/>
        </p:nvCxnSpPr>
        <p:spPr>
          <a:xfrm>
            <a:off x="713232" y="543885"/>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vis:icon"/>
          <p:cNvSpPr/>
          <p:nvPr/>
        </p:nvSpPr>
        <p:spPr>
          <a:xfrm>
            <a:off x="692200" y="686897"/>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Better than nothing, and the phone still rings</a:t>
            </a:r>
          </a:p>
        </p:txBody>
      </p:sp>
      <p:sp>
        <p:nvSpPr>
          <p:cNvPr id="7"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produce six confident bullets covering what you remember doing. They are all correct and none of them names the approval route or what to do when a vendor code already exists. You get six calls instead of eleven.</a:t>
            </a:r>
          </a:p>
        </p:txBody>
      </p:sp>
      <p:sp>
        <p:nvSpPr>
          <p:cNvPr id="8"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RULE</a:t>
            </a:r>
          </a:p>
        </p:txBody>
      </p:sp>
      <p:sp>
        <p:nvSpPr>
          <p:cNvPr id="10"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Memory writes what you do, not what a beginner needs.</a:t>
            </a:r>
          </a:p>
        </p:txBody>
      </p:sp>
      <p:sp>
        <p:nvSpPr>
          <p:cNvPr id="11" name="nav:scback">
            <a:hlinkClick action="ppaction://hlinksldjump" r:id="rId2"/>
          </p:cNvPr>
          <p:cNvSpPr/>
          <p:nvPr/>
        </p:nvSpPr>
        <p:spPr>
          <a:xfrm>
            <a:off x="502920" y="4718304"/>
            <a:ext cx="301752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Ninety minutes, and the phone stays quiet</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Ten minutes of talking gives you raw material. The shaping prompt produces fourteen steps and four [GAP] markers. The new-joiner test adds seven questions, including one about an approval you had forgotten existed. You answer them all.</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The gaps you cannot see are exactly what these two prompts are for.</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icon"/>
          <p:cNvSpPr/>
          <p:nvPr/>
        </p:nvSpPr>
        <p:spPr>
          <a:xfrm>
            <a:off x="519744" y="409285"/>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vis:icon"/>
          <p:cNvCxnSpPr/>
          <p:nvPr/>
        </p:nvCxnSpPr>
        <p:spPr>
          <a:xfrm>
            <a:off x="713232" y="543885"/>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vis:icon"/>
          <p:cNvSpPr/>
          <p:nvPr/>
        </p:nvSpPr>
        <p:spPr>
          <a:xfrm>
            <a:off x="692200" y="686897"/>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Useful, and nobody can search it</a:t>
            </a:r>
          </a:p>
        </p:txBody>
      </p:sp>
      <p:sp>
        <p:nvSpPr>
          <p:cNvPr id="7"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twenty-minute video captures everything, including the things you would have forgotten to write. It also cannot be searched, scanned or updated, so in six months it is out of date and nobody knows which part.</a:t>
            </a:r>
          </a:p>
        </p:txBody>
      </p:sp>
      <p:sp>
        <p:nvSpPr>
          <p:cNvPr id="8"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THE RULE</a:t>
            </a:r>
          </a:p>
        </p:txBody>
      </p:sp>
      <p:sp>
        <p:nvSpPr>
          <p:cNvPr id="10"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Record it if you like, then use it as the raw material for a written procedure.</a:t>
            </a:r>
          </a:p>
        </p:txBody>
      </p:sp>
      <p:sp>
        <p:nvSpPr>
          <p:cNvPr id="11" name="nav:scback">
            <a:hlinkClick action="ppaction://hlinksldjump" r:id="rId2"/>
          </p:cNvPr>
          <p:cNvSpPr/>
          <p:nvPr/>
        </p:nvSpPr>
        <p:spPr>
          <a:xfrm>
            <a:off x="502920" y="4718304"/>
            <a:ext cx="301752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minutes on writing SOPs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How to Write SOPs With AI that ACTUALLY Work</a:t>
            </a:r>
          </a:p>
        </p:txBody>
      </p:sp>
      <p:sp>
        <p:nvSpPr>
          <p:cNvPr id="19" name="vis:chip"/>
          <p:cNvSpPr/>
          <p:nvPr/>
        </p:nvSpPr>
        <p:spPr>
          <a:xfrm>
            <a:off x="868680" y="3858768"/>
            <a:ext cx="2637795"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232689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LAYLA AT PROCESSDRIVEN</a:t>
            </a:r>
          </a:p>
        </p:txBody>
      </p:sp>
      <p:sp>
        <p:nvSpPr>
          <p:cNvPr id="21" name="vis:chip"/>
          <p:cNvSpPr/>
          <p:nvPr/>
        </p:nvSpPr>
        <p:spPr>
          <a:xfrm>
            <a:off x="3652779" y="3858768"/>
            <a:ext cx="1204849"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3808227" y="3895344"/>
            <a:ext cx="89395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5:16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An outside video, not company material. Where it differs from this module, follow this module.</a:t>
            </a:r>
          </a:p>
        </p:txBody>
      </p:sp>
      <p:sp>
        <p:nvSpPr>
          <p:cNvPr id="25" name="nav:videobtn">
            <a:hlinkClick r:id="rId2"/>
          </p:cNvPr>
          <p:cNvSpPr/>
          <p:nvPr/>
        </p:nvSpPr>
        <p:spPr>
          <a:xfrm>
            <a:off x="868680" y="5230368"/>
            <a:ext cx="3017520" cy="493776"/>
          </a:xfrm>
          <a:prstGeom prst="roundRect">
            <a:avLst>
              <a:gd name="adj" fmla="val 11111"/>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Everything you need is already in this deck.</a:t>
            </a:r>
          </a:p>
        </p:txBody>
      </p:sp>
      <p:cxnSp>
        <p:nvCxnSpPr>
          <p:cNvPr id="35" name="vis:icon"/>
          <p:cNvCxnSpPr/>
          <p:nvPr/>
        </p:nvCxnSpPr>
        <p:spPr>
          <a:xfrm>
            <a:off x="8439424" y="3743919"/>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Useful if you prefer watching to reading.</a:t>
            </a:r>
          </a:p>
        </p:txBody>
      </p:sp>
      <p:cxnSp>
        <p:nvCxnSpPr>
          <p:cNvPr id="38" name="vis:icon"/>
          <p:cNvCxnSpPr/>
          <p:nvPr/>
        </p:nvCxnSpPr>
        <p:spPr>
          <a:xfrm>
            <a:off x="8439424" y="4859487"/>
            <a:ext cx="52304" cy="52304"/>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do experts write bad procedures?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They write too much detail</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steps they stopped noticing get left out</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They use too much jargon</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They write in the wrong order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They write too much detail</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Usually the opposite. Experts write too little, because four minutes of automatic work collapses into a single six-word line.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You stop seeing the obvious steps.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The steps they stopped noticing get left out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After four years, which system, which tab and whose approval are invisible to you. They are the first four questions a new joiner has.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You stop seeing the obvious steps.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They use too much jargon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Jargon is a real problem and an easy one to fix on review. Missing steps are harder, because you cannot see the hole.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You stop seeing the obvious steps.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They write in the wrong order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Order is usually the one thing experts get right. It is completeness that suffers.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You stop seeing the obvious steps.</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makes a step followable?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explains why the step exists</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One action, a verb, and the system named</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is under ten words</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matches the system's own terminology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It explains why the step exists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Useful context sometimes, but it does not make the step doable. Someone can understand why and still not know where to click.</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One action, starting with a verb, naming the place.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One action, a verb, and the system named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"Open the vendor master in SAP and enter the tax code in field 4" can be done. "Raise the vendor record" cannot, by anyone new.</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One action, starting with a verb, naming the place.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It is under ten words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Brevity is not the goal. A fifteen-word step that names the screen beats a six-word one that assumes you know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One action, starting with a verb, naming the place.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It matches the system's own terminology</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Helpful, and not sufficient. Correct terminology in a step that bundles three actions together is still unfollowable.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One action, starting with a verb, naming the place.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does the [GAP] marker find?</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Grammar problems in your explanation</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Information a beginner needs that you did not give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Steps that are in the wrong order</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Steps that could be automated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Grammar problems in your explanation</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is not a language check. It marks places where a beginner would need information your explanation never contained.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Steps you never knew you were skipping.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Information a beginner needs that you did not give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Exactly the blind spot experts have. Without the marker the tool fills the gap with a plausible step, and a plausible wrong step is worse than a missing one.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Steps you never knew you were skipping.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Steps that are in the wrong order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Reordering is a separate job it does well. [GAP] is specifically about missing information, not sequence.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Steps you never knew you were skipping.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Steps that could be automated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 different and later question. First get the process written down accurately, then look at what could be automated.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Steps you never knew you were skipping.</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Who should test the procedure?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person who wrote it</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Somebody who has never done the task</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manager who owns the process</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Nobody — the AI test is enough</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The person who wrote it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They will follow it perfectly, because they are filling every gap from memory without noticing they are doing it.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Somebody who has never done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Somebody who has never done the task</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Every place they hesitate is a defect in the document. Watch without helping and write down each pause — ten minutes of this is worth more than any review.</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Somebody who has never done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The manager who owns the process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They know it too well to test it, and they usually know a slightly different version, which produces confusing feedback.</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Somebody who has never done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Nobody — the AI test is enough</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AI test finds the predictable gaps and it is genuinely useful. A real beginner finds the ones neither of you anticipated.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Somebody who has never done it.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keeps a document alive?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formal annual review</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Correcting it the moment somebody hits a wrong step</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Locking it so only one person can edit</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Keeping it short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 formal annual review</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Annual reviews catch a year of drift at once, badly, and are usually skipped. Documents rot continuously, not once a year.</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date, an owner, and fixing it on use.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Correcting it the moment somebody hits a wrong step</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error is in front of you and the fix takes two minutes. Correcting the person and not the document guarantees the next person hits the same wall.</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date, an owner, and fixing it on use.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Locking it so only one person can edit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That makes updating slow, so updating stops. A named owner who welcomes corrections beats a locked file.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date, an owner, and fixing it on use.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Keeping it short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Length has little to do with rot. A short document goes out of date exactly as fast as a long one.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date, an owner, and fixing it on use.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Documentation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Experts leave out the obvious</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steps you stopped noticing are the first four questions a beginner has.</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Talk it, then shape it</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Explaining out loud produces better raw material than writing does.</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One action per step</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Start with a verb, name the system, say what success looks like.</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Answer every [GAP]</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marker exists so a missing step is visible rather than invented.</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Test it on a beginner</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Every hesitation is a defect. Watch, do not help, write it down.</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Date it and own it</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Undated documents get ignored. Unowned documents never get fixed.</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51979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51979C"/>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51979C"/>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2600"/>
              </a:lnSpc>
              <a:spcBef>
                <a:spcPts val="0"/>
              </a:spcBef>
              <a:spcAft>
                <a:spcPts val="0"/>
              </a:spcAft>
            </a:pPr>
            <a:r>
              <a:rPr sz="2000" b="0">
                <a:solidFill>
                  <a:srgbClr val="FFFFFF"/>
                </a:solidFill>
                <a:latin typeface="Segoe UI Semibold"/>
              </a:rPr>
              <a:t>Write it for the person who has never done it, not for the person who already can.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893200" y="2382199"/>
            <a:ext cx="170414" cy="234320"/>
          </a:xfrm>
          <a:prstGeom prst="roundRect">
            <a:avLst>
              <a:gd name="adj" fmla="val 26828"/>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930478" y="2456756"/>
            <a:ext cx="9585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930478" y="2499359"/>
            <a:ext cx="95859"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cxnSp>
        <p:nvCxnSpPr>
          <p:cNvPr id="21" name="vis:icon"/>
          <p:cNvCxnSpPr/>
          <p:nvPr/>
        </p:nvCxnSpPr>
        <p:spPr>
          <a:xfrm>
            <a:off x="930478" y="2541963"/>
            <a:ext cx="63906"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22"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shaping prompt</a:t>
            </a:r>
          </a:p>
        </p:txBody>
      </p:sp>
      <p:sp>
        <p:nvSpPr>
          <p:cNvPr id="23"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Rambling explanation in, numbered steps and [GAP] markers out.</a:t>
            </a:r>
          </a:p>
        </p:txBody>
      </p:sp>
      <p:sp>
        <p:nvSpPr>
          <p:cNvPr id="24"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927816" y="3287070"/>
            <a:ext cx="101183" cy="101183"/>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871898" y="3428195"/>
            <a:ext cx="213019" cy="93195"/>
          </a:xfrm>
          <a:custGeom>
            <a:avLst/>
            <a:gdLst/>
            <a:ahLst/>
            <a:cxnLst/>
            <a:rect l="l" t="t" r="r" b="b"/>
            <a:pathLst>
              <a:path w="213019" h="93195">
                <a:moveTo>
                  <a:pt x="0" y="93195"/>
                </a:moveTo>
                <a:lnTo>
                  <a:pt x="15977" y="0"/>
                </a:lnTo>
                <a:lnTo>
                  <a:pt x="197042" y="0"/>
                </a:lnTo>
                <a:lnTo>
                  <a:pt x="213019" y="93195"/>
                </a:lnTo>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new-joiner test prompt</a:t>
            </a:r>
          </a:p>
        </p:txBody>
      </p:sp>
      <p:sp>
        <p:nvSpPr>
          <p:cNvPr id="29"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point a beginner would stop and ask.</a:t>
            </a:r>
          </a:p>
        </p:txBody>
      </p:sp>
      <p:sp>
        <p:nvSpPr>
          <p:cNvPr id="30"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72126" y="4211536"/>
            <a:ext cx="212563" cy="198749"/>
          </a:xfrm>
          <a:custGeom>
            <a:avLst/>
            <a:gdLst/>
            <a:ahLst/>
            <a:cxnLst/>
            <a:rect l="l" t="t" r="r" b="b"/>
            <a:pathLst>
              <a:path w="212563" h="198749">
                <a:moveTo>
                  <a:pt x="159536" y="0"/>
                </a:moveTo>
                <a:lnTo>
                  <a:pt x="186359" y="22013"/>
                </a:lnTo>
                <a:lnTo>
                  <a:pt x="204683" y="51480"/>
                </a:lnTo>
                <a:lnTo>
                  <a:pt x="212563" y="85273"/>
                </a:lnTo>
                <a:lnTo>
                  <a:pt x="209162" y="119806"/>
                </a:lnTo>
                <a:lnTo>
                  <a:pt x="194841" y="151413"/>
                </a:lnTo>
                <a:lnTo>
                  <a:pt x="171120" y="176739"/>
                </a:lnTo>
                <a:lnTo>
                  <a:pt x="140518" y="193096"/>
                </a:lnTo>
                <a:lnTo>
                  <a:pt x="106282" y="198749"/>
                </a:lnTo>
                <a:lnTo>
                  <a:pt x="72045" y="193096"/>
                </a:lnTo>
                <a:lnTo>
                  <a:pt x="41443" y="176739"/>
                </a:lnTo>
                <a:lnTo>
                  <a:pt x="17722" y="151413"/>
                </a:lnTo>
                <a:lnTo>
                  <a:pt x="3401" y="119806"/>
                </a:lnTo>
                <a:lnTo>
                  <a:pt x="0" y="85273"/>
                </a:lnTo>
                <a:lnTo>
                  <a:pt x="7880" y="51480"/>
                </a:lnTo>
                <a:lnTo>
                  <a:pt x="26204" y="22013"/>
                </a:lnTo>
                <a:lnTo>
                  <a:pt x="53027" y="0"/>
                </a:lnTo>
              </a:path>
            </a:pathLst>
          </a:cu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vis:icon"/>
          <p:cNvSpPr/>
          <p:nvPr/>
        </p:nvSpPr>
        <p:spPr>
          <a:xfrm>
            <a:off x="913171" y="4190343"/>
            <a:ext cx="48994" cy="42071"/>
          </a:xfrm>
          <a:custGeom>
            <a:avLst/>
            <a:gdLst/>
            <a:ahLst/>
            <a:cxnLst/>
            <a:rect l="l" t="t" r="r" b="b"/>
            <a:pathLst>
              <a:path w="48994" h="42071">
                <a:moveTo>
                  <a:pt x="48994" y="0"/>
                </a:moveTo>
                <a:lnTo>
                  <a:pt x="23964" y="42071"/>
                </a:lnTo>
                <a:lnTo>
                  <a:pt x="0" y="533"/>
                </a:lnTo>
                <a:close/>
              </a:path>
            </a:pathLst>
          </a:cu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update prompt</a:t>
            </a:r>
          </a:p>
        </p:txBody>
      </p:sp>
      <p:sp>
        <p:nvSpPr>
          <p:cNvPr id="35"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Change only affected steps, and list which ones.</a:t>
            </a:r>
          </a:p>
        </p:txBody>
      </p:sp>
      <p:sp>
        <p:nvSpPr>
          <p:cNvPr id="36"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LINKS THAT WORK</a:t>
            </a:r>
          </a:p>
        </p:txBody>
      </p:sp>
      <p:sp>
        <p:nvSpPr>
          <p:cNvPr id="37"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icon"/>
          <p:cNvSpPr/>
          <p:nvPr/>
        </p:nvSpPr>
        <p:spPr>
          <a:xfrm>
            <a:off x="8339937" y="2300630"/>
            <a:ext cx="164592" cy="16459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9" name="vis:icon"/>
          <p:cNvCxnSpPr/>
          <p:nvPr/>
        </p:nvCxnSpPr>
        <p:spPr>
          <a:xfrm>
            <a:off x="8482584" y="2443276"/>
            <a:ext cx="65836" cy="658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0"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Microsoft Copilot</a:t>
            </a:r>
          </a:p>
        </p:txBody>
      </p:sp>
      <p:sp>
        <p:nvSpPr>
          <p:cNvPr id="41"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a:rPr>
              <a:t>copilot.microsoft.com</a:t>
            </a:r>
          </a:p>
        </p:txBody>
      </p:sp>
      <p:sp>
        <p:nvSpPr>
          <p:cNvPr id="42"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3" name="vis:icon"/>
          <p:cNvSpPr/>
          <p:nvPr/>
        </p:nvSpPr>
        <p:spPr>
          <a:xfrm>
            <a:off x="8339937" y="2977286"/>
            <a:ext cx="164592" cy="16459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4" name="vis:icon"/>
          <p:cNvCxnSpPr/>
          <p:nvPr/>
        </p:nvCxnSpPr>
        <p:spPr>
          <a:xfrm>
            <a:off x="8482584" y="3119932"/>
            <a:ext cx="65836" cy="658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45"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ChatGPT</a:t>
            </a:r>
          </a:p>
        </p:txBody>
      </p:sp>
      <p:sp>
        <p:nvSpPr>
          <p:cNvPr id="46"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a:rPr>
              <a:t>chatgpt.com</a:t>
            </a:r>
          </a:p>
        </p:txBody>
      </p:sp>
      <p:sp>
        <p:nvSpPr>
          <p:cNvPr id="47"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8" name="vis:icon"/>
          <p:cNvSpPr/>
          <p:nvPr/>
        </p:nvSpPr>
        <p:spPr>
          <a:xfrm>
            <a:off x="8339937" y="3653942"/>
            <a:ext cx="164592" cy="164592"/>
          </a:xfrm>
          <a:prstGeom prst="ellipse">
            <a:avLst/>
          </a:prstGeom>
          <a:noFill/>
          <a:ln w="1905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9" name="vis:icon"/>
          <p:cNvCxnSpPr/>
          <p:nvPr/>
        </p:nvCxnSpPr>
        <p:spPr>
          <a:xfrm>
            <a:off x="8482584" y="3796588"/>
            <a:ext cx="65836" cy="65837"/>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50"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Google Gemini</a:t>
            </a:r>
          </a:p>
        </p:txBody>
      </p:sp>
      <p:sp>
        <p:nvSpPr>
          <p:cNvPr id="51"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a:rPr>
              <a:t>gemini.google.com</a:t>
            </a:r>
          </a:p>
        </p:txBody>
      </p:sp>
      <p:sp>
        <p:nvSpPr>
          <p:cNvPr id="52"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3"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51979C"/>
                </a:solidFill>
                <a:latin typeface="Segoe UI Semibold"/>
              </a:rPr>
              <a:t>DO THIS NEXT</a:t>
            </a:r>
          </a:p>
        </p:txBody>
      </p:sp>
      <p:sp>
        <p:nvSpPr>
          <p:cNvPr id="54"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885"/>
              </a:lnSpc>
              <a:spcBef>
                <a:spcPts val="0"/>
              </a:spcBef>
              <a:spcAft>
                <a:spcPts val="0"/>
              </a:spcAft>
            </a:pPr>
            <a:r>
              <a:rPr sz="1450" b="0">
                <a:solidFill>
                  <a:srgbClr val="FFFFFF"/>
                </a:solidFill>
                <a:latin typeface="Segoe UI"/>
              </a:rPr>
              <a:t>Next module: DW-08, Meeting Notes &amp; Follow-ups. Turning an hour of discussion into decisions and owners, before you leave the room.</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0E6E75"/>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DW-07  ·  Documentation with AI</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0E6E7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0E6E75"/>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0E6E75"/>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SOP</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Standard Operating Procedure. A written process somebody can follow without asking questions.</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[GAP]</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marker the tool writes where a beginner would need information you did not supply.</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Handover</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document covering what you do, who to call, and what usually goes wrong while you are away.</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Curse of knowledge</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habit of leaving out steps that have become invisible to you through practice.</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Prompt</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Everything you type in: your explanation and the constraints on shaping it.</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Output</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What comes back. Your draft, which you are responsible for checking.</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0E6E7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