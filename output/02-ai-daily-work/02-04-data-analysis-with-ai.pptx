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FKLr3ft8ea0"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data-analysis.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Data Analysis with AI</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Getting a straight answer out of your numbers, without letting it do the arithmetic.</a:t>
            </a:r>
          </a:p>
        </p:txBody>
      </p:sp>
      <p:sp>
        <p:nvSpPr>
          <p:cNvPr id="11" name="vis:chip"/>
          <p:cNvSpPr/>
          <p:nvPr/>
        </p:nvSpPr>
        <p:spPr>
          <a:xfrm>
            <a:off x="841248" y="4626864"/>
            <a:ext cx="1046734"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7358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DW-04</a:t>
            </a:r>
          </a:p>
        </p:txBody>
      </p:sp>
      <p:sp>
        <p:nvSpPr>
          <p:cNvPr id="13" name="vis:chip"/>
          <p:cNvSpPr/>
          <p:nvPr/>
        </p:nvSpPr>
        <p:spPr>
          <a:xfrm>
            <a:off x="2034286"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89734" y="4672583"/>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DW-04  ·  Data Analysis with AI</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Deepa's total is out by nine lakh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40119"/>
            <a:ext cx="318006" cy="274641"/>
          </a:xfrm>
          <a:prstGeom prst="roundRect">
            <a:avLst>
              <a:gd name="adj" fmla="val 16647"/>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02284" y="2326848"/>
            <a:ext cx="31800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125150" y="2240119"/>
            <a:ext cx="0" cy="27464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1002284" y="2420804"/>
            <a:ext cx="31800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Deepa pastes forty rows of dispatch values into an AI tool and asks for the total and the top five customers. The answer is instant, formatted beautifully, and the total is wrong by about nine lakh rupees.</a:t>
            </a:r>
          </a:p>
        </p:txBody>
      </p:sp>
      <p:sp>
        <p:nvSpPr>
          <p:cNvPr id="23"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 number that reached the MIS pack before anyone re-added it.</a:t>
            </a:r>
          </a:p>
        </p:txBody>
      </p:sp>
      <p:sp>
        <p:nvSpPr>
          <p:cNvPr id="29"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31"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Let it describe and structure. Let Excel do the arithmetic.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0990" y="1963663"/>
            <a:ext cx="259426" cy="224049"/>
          </a:xfrm>
          <a:prstGeom prst="roundRect">
            <a:avLst>
              <a:gd name="adj" fmla="val 20406"/>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930990" y="2034415"/>
            <a:ext cx="25942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31223" y="1963663"/>
            <a:ext cx="0" cy="22404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30990" y="2111064"/>
            <a:ext cx="25942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Split a task into the arithmetic part and the language part</a:t>
            </a:r>
          </a:p>
        </p:txBody>
      </p:sp>
      <p:sp>
        <p:nvSpPr>
          <p:cNvPr id="22"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954575" y="2977696"/>
            <a:ext cx="76648" cy="7664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1031223" y="2889255"/>
            <a:ext cx="141505" cy="16508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6"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Never let a model add up a column again</a:t>
            </a:r>
          </a:p>
        </p:txBody>
      </p:sp>
      <p:sp>
        <p:nvSpPr>
          <p:cNvPr id="27"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925094" y="3761783"/>
            <a:ext cx="271219" cy="212257"/>
          </a:xfrm>
          <a:custGeom>
            <a:avLst/>
            <a:gdLst/>
            <a:ahLst/>
            <a:cxnLst/>
            <a:rect l="l" t="t" r="r" b="b"/>
            <a:pathLst>
              <a:path w="271219" h="212257">
                <a:moveTo>
                  <a:pt x="0" y="106128"/>
                </a:moveTo>
                <a:lnTo>
                  <a:pt x="135610" y="0"/>
                </a:lnTo>
                <a:lnTo>
                  <a:pt x="271219" y="106128"/>
                </a:lnTo>
                <a:lnTo>
                  <a:pt x="135610" y="212257"/>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vis:icon"/>
          <p:cNvSpPr/>
          <p:nvPr/>
        </p:nvSpPr>
        <p:spPr>
          <a:xfrm>
            <a:off x="1019431" y="3826639"/>
            <a:ext cx="82544" cy="8254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Ask questions of data that AI can genuinely answer</a:t>
            </a:r>
          </a:p>
        </p:txBody>
      </p:sp>
      <p:sp>
        <p:nvSpPr>
          <p:cNvPr id="32"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966367" y="4634310"/>
            <a:ext cx="188673" cy="259426"/>
          </a:xfrm>
          <a:prstGeom prst="roundRect">
            <a:avLst>
              <a:gd name="adj" fmla="val 2423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1007639" y="4716855"/>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1007639" y="4764024"/>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a:off x="1007639" y="4811192"/>
            <a:ext cx="7075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a set of figures into a summary that states no causes</a:t>
            </a:r>
          </a:p>
        </p:txBody>
      </p:sp>
      <p:sp>
        <p:nvSpPr>
          <p:cNvPr id="39"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933938" y="5527474"/>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Analyse company numbers without exposing customers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Why totals go wrong</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predicts, it does not calculate</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safe split</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Excel calculates, AI explains</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Questions it can answer</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About shape, not about truth</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Describing without explaining</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Movements, never causes</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Summarise a real set of figures</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Monday morning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12-minute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TOTALS GO WRONG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It predicts, it does not add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 total is text to it, produced the same way as a sentence. Short sums usually work. Long ones drift.</a:t>
            </a:r>
          </a:p>
        </p:txBody>
      </p:sp>
      <p:sp>
        <p:nvSpPr>
          <p:cNvPr id="16" name="vis:flowcard"/>
          <p:cNvSpPr/>
          <p:nvPr/>
        </p:nvSpPr>
        <p:spPr>
          <a:xfrm>
            <a:off x="502920"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3026663"/>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paste forty rows</a:t>
            </a:r>
          </a:p>
        </p:txBody>
      </p:sp>
      <p:sp>
        <p:nvSpPr>
          <p:cNvPr id="20" name="vis:flowsub"/>
          <p:cNvSpPr txBox="1"/>
          <p:nvPr/>
        </p:nvSpPr>
        <p:spPr>
          <a:xfrm>
            <a:off x="704088"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 reads them as text, not as a column.</a:t>
            </a:r>
          </a:p>
        </p:txBody>
      </p:sp>
      <p:cxnSp>
        <p:nvCxnSpPr>
          <p:cNvPr id="21" name="vis:flowarrow"/>
          <p:cNvCxnSpPr/>
          <p:nvPr/>
        </p:nvCxnSpPr>
        <p:spPr>
          <a:xfrm>
            <a:off x="3093643" y="41696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3026663"/>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produces a total</a:t>
            </a:r>
          </a:p>
        </p:txBody>
      </p:sp>
      <p:sp>
        <p:nvSpPr>
          <p:cNvPr id="26" name="vis:flowsub"/>
          <p:cNvSpPr txBox="1"/>
          <p:nvPr/>
        </p:nvSpPr>
        <p:spPr>
          <a:xfrm>
            <a:off x="3596563"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most likely number-shaped answer.</a:t>
            </a:r>
          </a:p>
        </p:txBody>
      </p:sp>
      <p:cxnSp>
        <p:nvCxnSpPr>
          <p:cNvPr id="27" name="vis:flowarrow"/>
          <p:cNvCxnSpPr/>
          <p:nvPr/>
        </p:nvCxnSpPr>
        <p:spPr>
          <a:xfrm>
            <a:off x="5986119" y="41696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3026663"/>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looks exactly right</a:t>
            </a:r>
          </a:p>
        </p:txBody>
      </p:sp>
      <p:sp>
        <p:nvSpPr>
          <p:cNvPr id="32" name="vis:flowsub"/>
          <p:cNvSpPr txBox="1"/>
          <p:nvPr/>
        </p:nvSpPr>
        <p:spPr>
          <a:xfrm>
            <a:off x="6489039"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Correct digit count, sensible magnitude.</a:t>
            </a:r>
          </a:p>
        </p:txBody>
      </p:sp>
      <p:cxnSp>
        <p:nvCxnSpPr>
          <p:cNvPr id="33" name="vis:flowarrow"/>
          <p:cNvCxnSpPr/>
          <p:nvPr/>
        </p:nvCxnSpPr>
        <p:spPr>
          <a:xfrm>
            <a:off x="8878595" y="41696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3026663"/>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Nobody re-adds it</a:t>
            </a:r>
          </a:p>
        </p:txBody>
      </p:sp>
      <p:sp>
        <p:nvSpPr>
          <p:cNvPr id="38" name="vis:flowsub"/>
          <p:cNvSpPr txBox="1"/>
          <p:nvPr/>
        </p:nvSpPr>
        <p:spPr>
          <a:xfrm>
            <a:off x="9381515"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Because it came back formatted and confident.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TOTALS GO WRONG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the arithmetic breaks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631370"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32047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USUALLY FINE</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Small and simple</a:t>
            </a:r>
          </a:p>
        </p:txBody>
      </p:sp>
      <p:cxnSp>
        <p:nvCxnSpPr>
          <p:cNvPr id="20" name="vis:icon"/>
          <p:cNvCxnSpPr/>
          <p:nvPr/>
        </p:nvCxnSpPr>
        <p:spPr>
          <a:xfrm>
            <a:off x="811987" y="3153765"/>
            <a:ext cx="47549" cy="47549"/>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V="1">
            <a:off x="859536" y="3098901"/>
            <a:ext cx="87782" cy="10241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Adding four or five numbers</a:t>
            </a:r>
          </a:p>
        </p:txBody>
      </p:sp>
      <p:cxnSp>
        <p:nvCxnSpPr>
          <p:cNvPr id="23" name="vis:icon"/>
          <p:cNvCxnSpPr/>
          <p:nvPr/>
        </p:nvCxnSpPr>
        <p:spPr>
          <a:xfrm>
            <a:off x="811987" y="3848709"/>
            <a:ext cx="47549" cy="47549"/>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859536" y="3793845"/>
            <a:ext cx="87782" cy="10241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percentage of one figure</a:t>
            </a:r>
          </a:p>
        </p:txBody>
      </p:sp>
      <p:cxnSp>
        <p:nvCxnSpPr>
          <p:cNvPr id="26" name="vis:icon"/>
          <p:cNvCxnSpPr/>
          <p:nvPr/>
        </p:nvCxnSpPr>
        <p:spPr>
          <a:xfrm>
            <a:off x="811987" y="4543653"/>
            <a:ext cx="47549" cy="47549"/>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V="1">
            <a:off x="859536" y="4488789"/>
            <a:ext cx="87782" cy="10241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Comparing two values</a:t>
            </a:r>
          </a:p>
        </p:txBody>
      </p:sp>
      <p:cxnSp>
        <p:nvCxnSpPr>
          <p:cNvPr id="29" name="vis:icon"/>
          <p:cNvCxnSpPr/>
          <p:nvPr/>
        </p:nvCxnSpPr>
        <p:spPr>
          <a:xfrm>
            <a:off x="811987" y="5238597"/>
            <a:ext cx="47549" cy="47549"/>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V="1">
            <a:off x="859536" y="5183733"/>
            <a:ext cx="87782" cy="102413"/>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Converting one unit to another</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7076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3967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DO NOT TRUST</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Long or layered</a:t>
            </a:r>
          </a:p>
        </p:txBody>
      </p:sp>
      <p:cxnSp>
        <p:nvCxnSpPr>
          <p:cNvPr id="37" name="vis:icon"/>
          <p:cNvCxnSpPr/>
          <p:nvPr/>
        </p:nvCxnSpPr>
        <p:spPr>
          <a:xfrm>
            <a:off x="6567677" y="309158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H="1">
            <a:off x="6567677" y="309158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Totalling a column of forty rows</a:t>
            </a:r>
          </a:p>
        </p:txBody>
      </p:sp>
      <p:cxnSp>
        <p:nvCxnSpPr>
          <p:cNvPr id="40" name="vis:icon"/>
          <p:cNvCxnSpPr/>
          <p:nvPr/>
        </p:nvCxnSpPr>
        <p:spPr>
          <a:xfrm>
            <a:off x="6567677" y="378653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H="1">
            <a:off x="6567677" y="378653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Averages across grouped categories</a:t>
            </a:r>
          </a:p>
        </p:txBody>
      </p:sp>
      <p:cxnSp>
        <p:nvCxnSpPr>
          <p:cNvPr id="43" name="vis:icon"/>
          <p:cNvCxnSpPr/>
          <p:nvPr/>
        </p:nvCxnSpPr>
        <p:spPr>
          <a:xfrm>
            <a:off x="6567677" y="448147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H="1">
            <a:off x="6567677" y="448147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Percentage change across many periods</a:t>
            </a:r>
          </a:p>
        </p:txBody>
      </p:sp>
      <p:cxnSp>
        <p:nvCxnSpPr>
          <p:cNvPr id="46" name="vis:icon"/>
          <p:cNvCxnSpPr/>
          <p:nvPr/>
        </p:nvCxnSpPr>
        <p:spPr>
          <a:xfrm>
            <a:off x="6567677" y="51764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H="1">
            <a:off x="6567677" y="51764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Anything that feeds a report or an invoice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SAFE SPLIT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Excel calculates, AI explains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TOTALS AND AVERAGES — Excel, every single time</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SORTING AND RANKING — Excel, then paste the top five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DESCRIBING MOVEMENTS — AI, using your calculated figures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WRITING THE SUMMARY — AI, with no causes added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SAFE SPLIT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two-minute workflow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Do the sums in Excel. SUM, AVERAGE, a pivot if you need one.</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Copy out only the handful of results that matter.</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those results into the tool, not the raw rows.</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Ask for the summary, with no causes and no extra figures.</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Below are calculated figures from our monthly pack. Write a 150-word summary naming the three largest movements and nothing else. Do not calculate anything. Do not suggest causes. Do not add any figure that is not in my list.</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"Do not calculate anything" is the line that keeps this safe.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QUESTIONS IT CAN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Questions it answers well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Anything about the shape of the data, once you have supplied the numbers.</a:t>
            </a:r>
          </a:p>
        </p:txBody>
      </p:sp>
      <p:sp>
        <p:nvSpPr>
          <p:cNvPr id="16" name="vis:tile"/>
          <p:cNvSpPr/>
          <p:nvPr/>
        </p:nvSpPr>
        <p:spPr>
          <a:xfrm>
            <a:off x="502920" y="243230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77240" y="272491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62636" y="2930849"/>
            <a:ext cx="287575" cy="191716"/>
          </a:xfrm>
          <a:prstGeom prst="roundRect">
            <a:avLst>
              <a:gd name="adj" fmla="val 23847"/>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1017412" y="3122566"/>
            <a:ext cx="13694" cy="753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1017412" y="3122566"/>
            <a:ext cx="75317" cy="753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cell:tilelabel"/>
          <p:cNvSpPr txBox="1"/>
          <p:nvPr/>
        </p:nvSpPr>
        <p:spPr>
          <a:xfrm>
            <a:off x="777240" y="356616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How do I say this?</a:t>
            </a:r>
          </a:p>
        </p:txBody>
      </p:sp>
      <p:sp>
        <p:nvSpPr>
          <p:cNvPr id="22" name="cell:tilesub"/>
          <p:cNvSpPr txBox="1"/>
          <p:nvPr/>
        </p:nvSpPr>
        <p:spPr>
          <a:xfrm>
            <a:off x="777240" y="420624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"Describe a fall from 1.4 to 2.1 per cent without sounding alarmist."</a:t>
            </a:r>
          </a:p>
        </p:txBody>
      </p:sp>
      <p:sp>
        <p:nvSpPr>
          <p:cNvPr id="23" name="vis:tile"/>
          <p:cNvSpPr/>
          <p:nvPr/>
        </p:nvSpPr>
        <p:spPr>
          <a:xfrm>
            <a:off x="4322978" y="243230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4597298" y="272491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79271" y="2927425"/>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4864859" y="2951390"/>
            <a:ext cx="21225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4779271" y="3030131"/>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864859" y="3054096"/>
            <a:ext cx="21225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4779271" y="3132836"/>
            <a:ext cx="47929" cy="47929"/>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4864859" y="3156801"/>
            <a:ext cx="212257"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1" name="cell:tilelabel"/>
          <p:cNvSpPr txBox="1"/>
          <p:nvPr/>
        </p:nvSpPr>
        <p:spPr>
          <a:xfrm>
            <a:off x="4597298" y="356616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What should I check?</a:t>
            </a:r>
          </a:p>
        </p:txBody>
      </p:sp>
      <p:sp>
        <p:nvSpPr>
          <p:cNvPr id="32" name="cell:tilesub"/>
          <p:cNvSpPr txBox="1"/>
          <p:nvPr/>
        </p:nvSpPr>
        <p:spPr>
          <a:xfrm>
            <a:off x="4597298" y="420624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would you want to see before accepting this trend as real?"</a:t>
            </a:r>
          </a:p>
        </p:txBody>
      </p:sp>
      <p:sp>
        <p:nvSpPr>
          <p:cNvPr id="33" name="vis:tile"/>
          <p:cNvSpPr/>
          <p:nvPr/>
        </p:nvSpPr>
        <p:spPr>
          <a:xfrm>
            <a:off x="8143036" y="2432304"/>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8417356" y="2724912"/>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8595906" y="2924002"/>
            <a:ext cx="301269" cy="260187"/>
          </a:xfrm>
          <a:prstGeom prst="roundRect">
            <a:avLst>
              <a:gd name="adj" fmla="val 17571"/>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8595906" y="3006166"/>
            <a:ext cx="30126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a:off x="8712305" y="2924002"/>
            <a:ext cx="0" cy="26018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8595906" y="3095178"/>
            <a:ext cx="30126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9" name="cell:tilelabel"/>
          <p:cNvSpPr txBox="1"/>
          <p:nvPr/>
        </p:nvSpPr>
        <p:spPr>
          <a:xfrm>
            <a:off x="8417356" y="3566160"/>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What shape is this?</a:t>
            </a:r>
          </a:p>
        </p:txBody>
      </p:sp>
      <p:sp>
        <p:nvSpPr>
          <p:cNvPr id="40" name="cell:tilesub"/>
          <p:cNvSpPr txBox="1"/>
          <p:nvPr/>
        </p:nvSpPr>
        <p:spPr>
          <a:xfrm>
            <a:off x="8417356" y="4206240"/>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"Turn these eight results into a table with three columns and no commentary."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QUESTIONS IT CAN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questions-to-check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Here are the figures and the conclusion I have drawn from them. List the five questions a sceptical manager would ask before accepting this conclusion. Do not answer them and do not comment on whether my conclusion is right.</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It cannot verify your data. It is very good at predicting the questions.</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Five questions, usually including one about sample size or period.</a:t>
            </a:r>
          </a:p>
          <a:p>
            <a:pPr algn="l">
              <a:lnSpc>
                <a:spcPts val="1690"/>
              </a:lnSpc>
              <a:spcBef>
                <a:spcPts val="0"/>
              </a:spcBef>
              <a:spcAft>
                <a:spcPts val="600"/>
              </a:spcAft>
            </a:pPr>
            <a:r>
              <a:rPr sz="1300" b="0">
                <a:solidFill>
                  <a:srgbClr val="2A3547"/>
                </a:solidFill>
                <a:latin typeface="Segoe UI"/>
              </a:rPr>
              <a:t>No opinion on your conclusion, because you ruled that out.</a:t>
            </a:r>
          </a:p>
          <a:p>
            <a:pPr algn="l">
              <a:lnSpc>
                <a:spcPts val="1690"/>
              </a:lnSpc>
              <a:spcBef>
                <a:spcPts val="0"/>
              </a:spcBef>
              <a:spcAft>
                <a:spcPts val="600"/>
              </a:spcAft>
            </a:pPr>
            <a:r>
              <a:rPr sz="1300" b="0">
                <a:solidFill>
                  <a:srgbClr val="2A3547"/>
                </a:solidFill>
                <a:latin typeface="Segoe UI"/>
              </a:rPr>
              <a:t>You go and answer two of them before the meeting, not during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DESCRIBING WITHOUT EXPLAINING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Movements, never causes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705328"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39443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LET IT EXPLAIN</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"Rejections rose to 2.1 per cent, likely due to operator changeover during the shift pattern change."</a:t>
            </a:r>
          </a:p>
          <a:p>
            <a:pPr algn="l">
              <a:lnSpc>
                <a:spcPts val="1690"/>
              </a:lnSpc>
              <a:spcBef>
                <a:spcPts val="0"/>
              </a:spcBef>
              <a:spcAft>
                <a:spcPts val="600"/>
              </a:spcAft>
            </a:pPr>
            <a:r>
              <a:rPr sz="1300" b="0">
                <a:solidFill>
                  <a:srgbClr val="2A3547"/>
                </a:solidFill>
                <a:latin typeface="Segoe UI"/>
              </a:rPr>
              <a:t>Your data contains no shift information at all.</a:t>
            </a:r>
          </a:p>
          <a:p>
            <a:pPr algn="l">
              <a:lnSpc>
                <a:spcPts val="1690"/>
              </a:lnSpc>
              <a:spcBef>
                <a:spcPts val="0"/>
              </a:spcBef>
              <a:spcAft>
                <a:spcPts val="600"/>
              </a:spcAft>
            </a:pPr>
            <a:r>
              <a:rPr sz="1300" b="0">
                <a:solidFill>
                  <a:srgbClr val="2A3547"/>
                </a:solidFill>
                <a:latin typeface="Segoe UI"/>
              </a:rPr>
              <a:t>Maintenance investigate changeover for two days.</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760325"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44942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DESCRIBE ONLY</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"Rejections rose from 1.4 to 2.1 per cent, the largest movement in the pack."</a:t>
            </a:r>
          </a:p>
          <a:p>
            <a:pPr algn="l">
              <a:lnSpc>
                <a:spcPts val="1690"/>
              </a:lnSpc>
              <a:spcBef>
                <a:spcPts val="0"/>
              </a:spcBef>
              <a:spcAft>
                <a:spcPts val="600"/>
              </a:spcAft>
            </a:pPr>
            <a:r>
              <a:rPr sz="1300" b="0">
                <a:solidFill>
                  <a:srgbClr val="2A3547"/>
                </a:solidFill>
                <a:latin typeface="Segoe UI"/>
              </a:rPr>
              <a:t>Every word traces to a figure you calculated.</a:t>
            </a:r>
          </a:p>
          <a:p>
            <a:pPr algn="l">
              <a:lnSpc>
                <a:spcPts val="1690"/>
              </a:lnSpc>
              <a:spcBef>
                <a:spcPts val="0"/>
              </a:spcBef>
              <a:spcAft>
                <a:spcPts val="600"/>
              </a:spcAft>
            </a:pPr>
            <a:r>
              <a:rPr sz="1300" b="0">
                <a:solidFill>
                  <a:srgbClr val="2A3547"/>
                </a:solidFill>
                <a:latin typeface="Segoe UI"/>
              </a:rPr>
              <a:t>You then ring the line supervisor and find the real cause.</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Describing is arithmetic you already did. Explaining is a claim about the world, and it was not there.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DESCRIBING WITHOUT EXPLAINING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never be pasted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data extract usually carries customers, not just numbers.</a:t>
            </a:r>
          </a:p>
          <a:p>
            <a:pPr algn="l">
              <a:lnSpc>
                <a:spcPts val="1755"/>
              </a:lnSpc>
              <a:spcBef>
                <a:spcPts val="0"/>
              </a:spcBef>
              <a:spcAft>
                <a:spcPts val="0"/>
              </a:spcAft>
            </a:pPr>
            <a:r>
              <a:rPr sz="1350" b="0">
                <a:solidFill>
                  <a:srgbClr val="FFFFFF"/>
                </a:solidFill>
                <a:latin typeface="Segoe UI"/>
              </a:rPr>
              <a:t>Aggregate first. Paste the summary, never the raw table.</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Customer or account names against values</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Employee names against output or attendance</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Anything with a phone number, address or ID column</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Unpublished financial results or margins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summarise figures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the last set of numbers you had to write about.</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In Excel, produce the six results that actually mattered.</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Replace any customer names with "Customer A, B, C".</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those six lines with the prompt on the right.</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Here are six calculated results. Write a 120-word summary for a manager. Name the three biggest movements in order of size. Do not calculate, do not suggest causes, do not add any figure I have not given you. Plain sentences, no bullet points.</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Six lines in, a usable paragraph out, nothing identifying anyone.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checks before it goes out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Every figure in the text matches my spreadsheet exactly.</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cause is stated that I did not establish myself.</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 customer or employee is identifiable in the summary.</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tool calculated nothing — I did all the arithmetic.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Pasting the raw table and asking for a total</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number comes back formatted and wrong, and it looks exactly like a real total.</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Letting it name a cause</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will offer one confidently. Somebody then spends two days on the wrong line.</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Pasting customer names with values</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That is a customer list with commercial data attached, leaving the company.</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Trusting a percentage it produced</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Percentages are calculations. If you did not work it out, do not print it.</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it to "analyse this data"</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Vague in, vague out. You get an essay about the general shape of numbers.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to use a chart tool instead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Do I need a number, or a sentence about a number?</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1832986" y="3026664"/>
            <a:ext cx="136677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1988434" y="3054096"/>
            <a:ext cx="10558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 NUMBER</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Use Excel</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Totals, averages, percentages, rankings, variances. Anything that will be printed, invoiced or reported as a figure.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8929704" y="3026664"/>
            <a:ext cx="149123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085152" y="3054096"/>
            <a:ext cx="118033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 SENTENCE</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Use AI</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Describing a movement, drafting the commentary, shaping a table, listing what a sceptic would ask. All language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good analysis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spreadsheet</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figure calculated, checkable and yours.</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six results</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Aggregated, anonymised, pasted in.</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0E6E75"/>
                </a:solidFill>
                <a:latin typeface="Segoe UI Semibold"/>
              </a:rPr>
              <a:t>The paragraph</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Written by the tool, describing only those six.</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Each layer is smaller and safer than the one before it. By the time anything reaches the tool, there is nothing left to get wrong or to leak.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data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If it will be printed as a number, a spreadsheet must have produced it.</a:t>
            </a:r>
          </a:p>
          <a:p>
            <a:pPr algn="l">
              <a:lnSpc>
                <a:spcPts val="1755"/>
              </a:lnSpc>
              <a:spcBef>
                <a:spcPts val="0"/>
              </a:spcBef>
              <a:spcAft>
                <a:spcPts val="0"/>
              </a:spcAft>
            </a:pPr>
            <a:r>
              <a:rPr sz="1350" b="0">
                <a:solidFill>
                  <a:srgbClr val="FFFFFF"/>
                </a:solidFill>
                <a:latin typeface="Segoe UI"/>
              </a:rPr>
              <a:t>AI writes the sentence around the number. It never produces the number.</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Arithmetic — Excel.</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Wording — the tool.</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Causes — you, having checked.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Monday, 9:30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The MIS pack needs a commentary by eleven. You have a forty-row dispatch table with customer names and values, and no commentary written.</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the whole table and ask for totals and a summary.</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Total it in Excel, anonymise, then ask for the commentary.</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the commentary yourself from the Excel totals.</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problems in one paste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total comes back wrong by nine lakh, beautifully formatted, and nobody re-adds it. At the same time, forty customer names with their monthly values have left the company in a single message.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paste a raw table. Never accept a total you did not calculate.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Ten minutes, and both problems disappear</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Excel gives you the total, the top five and the movements. You replace names with Customer A to E and paste six lines. The commentary comes back in 120 words, describing only what you gave it. Sent at 10:15.</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Aggregate, anonymise, then ask for language.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and slower than it needs to be</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 figure is right because you calculated them. The writing takes forty minutes, and the part that took forty minutes was the part a tool does safely in twenty seconds once the numbers are settled.</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Keep the arithmetic. Hand over the sentences.</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Twelve minutes, shown on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Master Data Analysis with ChatGPT (in just 12 minutes)</a:t>
            </a:r>
          </a:p>
        </p:txBody>
      </p:sp>
      <p:sp>
        <p:nvSpPr>
          <p:cNvPr id="19" name="vis:chip"/>
          <p:cNvSpPr/>
          <p:nvPr/>
        </p:nvSpPr>
        <p:spPr>
          <a:xfrm>
            <a:off x="868680" y="3858768"/>
            <a:ext cx="110451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79362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JEFF SU</a:t>
            </a:r>
          </a:p>
        </p:txBody>
      </p:sp>
      <p:sp>
        <p:nvSpPr>
          <p:cNvPr id="21" name="vis:chip"/>
          <p:cNvSpPr/>
          <p:nvPr/>
        </p:nvSpPr>
        <p:spPr>
          <a:xfrm>
            <a:off x="2119503" y="3858768"/>
            <a:ext cx="12797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274951" y="3895344"/>
            <a:ext cx="9688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11:54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Follow this module's rule on aggregating and anonymising before you paste.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Excel still does the arithmetic.</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for seeing the workflow demonstrated.</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is a long total unreliable?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rounds aggressively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produces a likely number, not a computed one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Long columns exceed its input limit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sorts before adding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tool rounds aggressively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Rounding is not what happens. The number is produced as text, in the same way a sentence is, and over forty rows that process drifts.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predicts text. It does not calculate.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produces a likely number, not a computed one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Exactly. There is no addition happening. The result has the right shape and magnitude, which is precisely why nobody re-adds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predicts text. It does not calculate.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Long columns exceed its input limit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Forty rows is well within any modern limit. The problem is not that it cannot see the numbers, it is that it does not add them.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predicts text. It does not calculate.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sorts before adding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not performing operations in any order. Nothing resembling a calculation takes place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predicts text. It does not calculate.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task belongs in Excel?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Describing a movement in plain English</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top five customers by value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Listing what a sceptic would ask</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Turning six results into a table layout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Describing a movement in plain English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language work, and it is the part worth handing over once the numbers are settled.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will be printed as a figure.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top five customers by value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ranking is a calculation. Sort in Excel, then paste the five results if you need commentary on them — with the names replaced.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will be printed as a figure.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Listing what a sceptic would ask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 arithmetic involved. Predicting the likely questions is something these tools do genuinely well.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will be printed as a figure.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Turning six results into a table layout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Formatting, not calculation. As long as you supply the six numbers, reshaping them is safe.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that will be printed as a figure.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you never let it add?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order of the movements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explanation of why a number moved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plain-English description of the change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heading for the summary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order of the movements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Ordering figures you supplied by size is safe, and easy for you to check at a glance.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Causes are claims about the world.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An explanation of why a number moved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was not there and your figures contain no causes. A plausible explanation gets acted on, and people spend days fixing something that was never the problem.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Causes are claims about the world.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plain-English description of the change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Describing what you already calculated is the whole point of using it here. Just check the figures match your sheet.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Causes are claims about the world.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heading for the summary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Harmless formatting. Read it, as you would read any line, but there is no risk peculiar to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Causes are claims about the world.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do you paste data safely?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Paste the table but remove the header row</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Paste only calculated results, with names replaced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Paste it all — the numbers are meaningless without context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Paste it into a personal account instead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Paste the table but remove the header row</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header was never the problem. The customer names in the first column are, and they are still there.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Aggregate first, anonymise second.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Paste only calculated results, with names replaced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Six aggregated lines with Customer A to E carry everything the tool needs to write a commentary and nothing that identifies anyone.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Aggregate first, anonymise second.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Paste it all — the numbers are meaningless without context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are not meaningless. A customer list with monthly values attached is commercially sensitive and personal data in most jurisdictions we operate in.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Aggregate first, anonymise second.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Paste it into a personal account instead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makes it worse, not better. The account is the part that removes any record, control or ability to delete.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Aggregate first, anonymise second.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question suits AI best?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is the total of this column?"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would a sceptical manager ask about this?"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"Is this trend statistically significant?"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"What caused this variance?"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"What is the total of this column?"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Arithmetic. It will answer, the answer will look right, and over forty rows it will frequently be wrong.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About shape and language, not about truth.</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"What would a sceptical manager ask about this?"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Predicting likely objections is language work drawn from very common patterns. Even an imperfect list makes you better prepared for the meeting.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About shape and language, not about truth.</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"Is this trend statistically significant?"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calculation requiring your full dataset and a method. It will produce a confident verdict with no computation behind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About shape and language, not about truth.</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"What caused this variance?"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has no access to anything that would explain your variance. You will get a plausible cause that somebody then investigates.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About shape and language, not about truth.</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Data analysis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It does not calculate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total is produced as text. Over a long column it drifts, and looks fine.</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Excel first, always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Totals, averages, percentages and rankings before anything is pasted.</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Paste results, not raw rows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Six aggregated lines instead of forty rows with customers attached.</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Describe, never explain</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can word a movement. It cannot know why the movement happened.</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Anonymise before pasting</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Customer A to E works perfectly well and exposes nobody.</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Check every figure back</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Each number in the text must match your spreadsheet exactly.</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If it will be printed as a number, a spreadsheet must have produced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1247" y="2398176"/>
            <a:ext cx="234320" cy="202367"/>
          </a:xfrm>
          <a:prstGeom prst="roundRect">
            <a:avLst>
              <a:gd name="adj" fmla="val 2259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861247" y="2462081"/>
            <a:ext cx="234321"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51780" y="2398176"/>
            <a:ext cx="0" cy="20236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861247" y="2531312"/>
            <a:ext cx="234321"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results-into-summary prompt</a:t>
            </a:r>
          </a:p>
        </p:txBody>
      </p:sp>
      <p:sp>
        <p:nvSpPr>
          <p:cNvPr id="23"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Three movements, no calculating, no causes.</a:t>
            </a:r>
          </a:p>
        </p:txBody>
      </p:sp>
      <p:sp>
        <p:nvSpPr>
          <p:cNvPr id="24"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855922" y="3305709"/>
            <a:ext cx="244971" cy="191717"/>
          </a:xfrm>
          <a:custGeom>
            <a:avLst/>
            <a:gdLst/>
            <a:ahLst/>
            <a:cxnLst/>
            <a:rect l="l" t="t" r="r" b="b"/>
            <a:pathLst>
              <a:path w="244971" h="191717">
                <a:moveTo>
                  <a:pt x="0" y="95859"/>
                </a:moveTo>
                <a:lnTo>
                  <a:pt x="122486" y="0"/>
                </a:lnTo>
                <a:lnTo>
                  <a:pt x="244971" y="95859"/>
                </a:lnTo>
                <a:lnTo>
                  <a:pt x="122486" y="191717"/>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vis:icon"/>
          <p:cNvSpPr/>
          <p:nvPr/>
        </p:nvSpPr>
        <p:spPr>
          <a:xfrm>
            <a:off x="941129" y="3364289"/>
            <a:ext cx="74556" cy="74556"/>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sceptical-manager prompt</a:t>
            </a:r>
          </a:p>
        </p:txBody>
      </p:sp>
      <p:sp>
        <p:nvSpPr>
          <p:cNvPr id="29"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Five questions they would ask, unanswered.</a:t>
            </a:r>
          </a:p>
        </p:txBody>
      </p:sp>
      <p:sp>
        <p:nvSpPr>
          <p:cNvPr id="30"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63910" y="4183953"/>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aggregate-and-anonymise habit</a:t>
            </a:r>
          </a:p>
        </p:txBody>
      </p:sp>
      <p:sp>
        <p:nvSpPr>
          <p:cNvPr id="34"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Excel first, Customer A to E, then paste.</a:t>
            </a:r>
          </a:p>
        </p:txBody>
      </p:sp>
      <p:sp>
        <p:nvSpPr>
          <p:cNvPr id="35"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36"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9"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0"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1"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5"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46"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0"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1"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3"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DW-05, Excel with AI. Getting the formula written for you, and testing it on one row before you trust the column.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DW-04  ·  Data Analysis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Aggregate</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calculated summary — a total, an average, a top five — rather than the underlying rows.</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Anonymise</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Replacing names and identifiers with labels like Customer A, so nobody can be identified.</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Movement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change between two periods. Something you calculate and the tool describes.</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Cause</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Why something changed. Only established by you, never by the tool.</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calculated figures and the constraints.</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