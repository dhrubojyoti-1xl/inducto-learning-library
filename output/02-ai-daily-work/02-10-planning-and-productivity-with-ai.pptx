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EG4rVXK3XQU"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coverspine"/>
          <p:cNvSpPr/>
          <p:nvPr/>
        </p:nvSpPr>
        <p:spPr>
          <a:xfrm>
            <a:off x="0" y="0"/>
            <a:ext cx="201168" cy="685800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vis:coverblock"/>
          <p:cNvSpPr/>
          <p:nvPr/>
        </p:nvSpPr>
        <p:spPr>
          <a:xfrm>
            <a:off x="7589520" y="2509113"/>
            <a:ext cx="729691" cy="627534"/>
          </a:xfrm>
          <a:prstGeom prst="roundRect">
            <a:avLst>
              <a:gd name="adj" fmla="val 14571"/>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 name="vis:coverline"/>
          <p:cNvCxnSpPr/>
          <p:nvPr/>
        </p:nvCxnSpPr>
        <p:spPr>
          <a:xfrm flipV="1">
            <a:off x="8355787" y="2493696"/>
            <a:ext cx="234086" cy="329184"/>
          </a:xfrm>
          <a:prstGeom prst="line">
            <a:avLst/>
          </a:prstGeom>
          <a:ln w="12700">
            <a:solidFill>
              <a:srgbClr val="5B67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 name="vis:coverblock"/>
          <p:cNvSpPr/>
          <p:nvPr/>
        </p:nvSpPr>
        <p:spPr>
          <a:xfrm>
            <a:off x="8626449" y="2838297"/>
            <a:ext cx="729691" cy="627534"/>
          </a:xfrm>
          <a:prstGeom prst="roundRect">
            <a:avLst>
              <a:gd name="adj" fmla="val 14571"/>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7" name="vis:coverline"/>
          <p:cNvCxnSpPr/>
          <p:nvPr/>
        </p:nvCxnSpPr>
        <p:spPr>
          <a:xfrm>
            <a:off x="9392716" y="3152064"/>
            <a:ext cx="234087" cy="329184"/>
          </a:xfrm>
          <a:prstGeom prst="line">
            <a:avLst/>
          </a:prstGeom>
          <a:ln w="12700">
            <a:solidFill>
              <a:srgbClr val="5B67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vis:coverblock"/>
          <p:cNvSpPr/>
          <p:nvPr/>
        </p:nvSpPr>
        <p:spPr>
          <a:xfrm>
            <a:off x="9663379" y="2509113"/>
            <a:ext cx="729691" cy="627534"/>
          </a:xfrm>
          <a:prstGeom prst="roundRect">
            <a:avLst>
              <a:gd name="adj" fmla="val 14571"/>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coverline"/>
          <p:cNvCxnSpPr/>
          <p:nvPr/>
        </p:nvCxnSpPr>
        <p:spPr>
          <a:xfrm flipV="1">
            <a:off x="10429646" y="2493696"/>
            <a:ext cx="234086" cy="329184"/>
          </a:xfrm>
          <a:prstGeom prst="line">
            <a:avLst/>
          </a:prstGeom>
          <a:ln w="12700">
            <a:solidFill>
              <a:srgbClr val="5B67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vis:coverblock"/>
          <p:cNvSpPr/>
          <p:nvPr/>
        </p:nvSpPr>
        <p:spPr>
          <a:xfrm>
            <a:off x="10700308" y="2838297"/>
            <a:ext cx="729691" cy="627534"/>
          </a:xfrm>
          <a:prstGeom prst="roundRect">
            <a:avLst>
              <a:gd name="adj" fmla="val 14571"/>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seclabel"/>
          <p:cNvSpPr txBox="1"/>
          <p:nvPr/>
        </p:nvSpPr>
        <p:spPr>
          <a:xfrm>
            <a:off x="960120" y="1477263"/>
            <a:ext cx="5501487"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AI FOR DAY-TO-DAY WORK</a:t>
            </a:r>
          </a:p>
        </p:txBody>
      </p:sp>
      <p:sp>
        <p:nvSpPr>
          <p:cNvPr id="12" name="title:cover"/>
          <p:cNvSpPr txBox="1"/>
          <p:nvPr/>
        </p:nvSpPr>
        <p:spPr>
          <a:xfrm>
            <a:off x="960120" y="1934463"/>
            <a:ext cx="5501487" cy="78130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Planning with AI</a:t>
            </a:r>
          </a:p>
        </p:txBody>
      </p:sp>
      <p:cxnSp>
        <p:nvCxnSpPr>
          <p:cNvPr id="13" name="vis:rule"/>
          <p:cNvCxnSpPr/>
          <p:nvPr/>
        </p:nvCxnSpPr>
        <p:spPr>
          <a:xfrm>
            <a:off x="960120" y="2990088"/>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4" name="body:coversub"/>
          <p:cNvSpPr txBox="1"/>
          <p:nvPr/>
        </p:nvSpPr>
        <p:spPr>
          <a:xfrm>
            <a:off x="960120" y="3264408"/>
            <a:ext cx="5501487" cy="78130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Turning a long list of intentions into a week you can actually finish.</a:t>
            </a:r>
          </a:p>
        </p:txBody>
      </p:sp>
      <p:sp>
        <p:nvSpPr>
          <p:cNvPr id="15" name="vis:chip"/>
          <p:cNvSpPr/>
          <p:nvPr/>
        </p:nvSpPr>
        <p:spPr>
          <a:xfrm>
            <a:off x="960120" y="4448048"/>
            <a:ext cx="1018159" cy="310896"/>
          </a:xfrm>
          <a:prstGeom prst="roundRect">
            <a:avLst>
              <a:gd name="adj" fmla="val 14705"/>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1115568" y="4493768"/>
            <a:ext cx="70726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DW-10</a:t>
            </a:r>
          </a:p>
        </p:txBody>
      </p:sp>
      <p:sp>
        <p:nvSpPr>
          <p:cNvPr id="17" name="vis:chip"/>
          <p:cNvSpPr/>
          <p:nvPr/>
        </p:nvSpPr>
        <p:spPr>
          <a:xfrm>
            <a:off x="2124583" y="4448048"/>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2280031" y="4493768"/>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16 MINUTES</a:t>
            </a:r>
          </a:p>
        </p:txBody>
      </p:sp>
      <p:sp>
        <p:nvSpPr>
          <p:cNvPr id="19" name="vis:chip"/>
          <p:cNvSpPr/>
          <p:nvPr/>
        </p:nvSpPr>
        <p:spPr>
          <a:xfrm>
            <a:off x="3727195" y="444804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3882643" y="4493768"/>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21" name="cell:coverhint"/>
          <p:cNvSpPr txBox="1"/>
          <p:nvPr/>
        </p:nvSpPr>
        <p:spPr>
          <a:xfrm>
            <a:off x="960120" y="5724144"/>
            <a:ext cx="5501487"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2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DW-10  ·  Planning with AI</a:t>
            </a:r>
          </a:p>
        </p:txBody>
      </p:sp>
      <p:sp>
        <p:nvSpPr>
          <p:cNvPr id="2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Arun's list gets longer every week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02284" y="2218436"/>
            <a:ext cx="318006" cy="318006"/>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V="1">
            <a:off x="1161288" y="2283483"/>
            <a:ext cx="0" cy="93956"/>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161288" y="2377439"/>
            <a:ext cx="79501" cy="2891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1"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Arun runs production planning near Coimbatore. His to-do list has 47 items. Every Friday he adds six and closes four. He is working hard and falling behind, and he cannot see which of the 47 actually matter.</a:t>
            </a:r>
          </a:p>
        </p:txBody>
      </p:sp>
      <p:sp>
        <p:nvSpPr>
          <p:cNvPr id="22"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A list that grows faster than it shrinks, indefinitely.</a:t>
            </a:r>
          </a:p>
        </p:txBody>
      </p:sp>
      <p:sp>
        <p:nvSpPr>
          <p:cNvPr id="28"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AFTER THIS MODULE</a:t>
            </a:r>
          </a:p>
        </p:txBody>
      </p:sp>
      <p:cxnSp>
        <p:nvCxnSpPr>
          <p:cNvPr id="30"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1"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Sort by what breaks if it slips. Then plan only three days ahead.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3938" y="1966611"/>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07639" y="1987247"/>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933938" y="2055051"/>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07639" y="2075688"/>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1" name="vis:icon"/>
          <p:cNvSpPr/>
          <p:nvPr/>
        </p:nvSpPr>
        <p:spPr>
          <a:xfrm>
            <a:off x="933938" y="2143492"/>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1007639" y="2164128"/>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3"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Sort a long list by consequence instead of by feeling</a:t>
            </a:r>
          </a:p>
        </p:txBody>
      </p:sp>
      <p:sp>
        <p:nvSpPr>
          <p:cNvPr id="24"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930990" y="2842086"/>
            <a:ext cx="259426" cy="259426"/>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flipV="1">
            <a:off x="1060704" y="2895151"/>
            <a:ext cx="0" cy="76649"/>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a:off x="1060704" y="2971800"/>
            <a:ext cx="64856" cy="2358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9"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Plan a realistic day instead of an optimistic one</a:t>
            </a:r>
          </a:p>
        </p:txBody>
      </p:sp>
      <p:sp>
        <p:nvSpPr>
          <p:cNvPr id="30"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930990" y="3738198"/>
            <a:ext cx="259426" cy="259426"/>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969315" y="3776523"/>
            <a:ext cx="182777" cy="18277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4"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Identify the tasks worth deliberately not doing</a:t>
            </a:r>
          </a:p>
        </p:txBody>
      </p:sp>
      <p:sp>
        <p:nvSpPr>
          <p:cNvPr id="35"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943035" y="4661901"/>
            <a:ext cx="235337" cy="220044"/>
          </a:xfrm>
          <a:custGeom>
            <a:avLst/>
            <a:gdLst/>
            <a:ahLst/>
            <a:cxnLst/>
            <a:rect l="l" t="t" r="r" b="b"/>
            <a:pathLst>
              <a:path w="235337" h="220044">
                <a:moveTo>
                  <a:pt x="176629" y="0"/>
                </a:moveTo>
                <a:lnTo>
                  <a:pt x="206326" y="24372"/>
                </a:lnTo>
                <a:lnTo>
                  <a:pt x="226613" y="56996"/>
                </a:lnTo>
                <a:lnTo>
                  <a:pt x="235337" y="94410"/>
                </a:lnTo>
                <a:lnTo>
                  <a:pt x="231571" y="132643"/>
                </a:lnTo>
                <a:lnTo>
                  <a:pt x="215716" y="167636"/>
                </a:lnTo>
                <a:lnTo>
                  <a:pt x="189454" y="195676"/>
                </a:lnTo>
                <a:lnTo>
                  <a:pt x="155573" y="213785"/>
                </a:lnTo>
                <a:lnTo>
                  <a:pt x="117669" y="220044"/>
                </a:lnTo>
                <a:lnTo>
                  <a:pt x="79764" y="213785"/>
                </a:lnTo>
                <a:lnTo>
                  <a:pt x="45883" y="195676"/>
                </a:lnTo>
                <a:lnTo>
                  <a:pt x="19621" y="167636"/>
                </a:lnTo>
                <a:lnTo>
                  <a:pt x="3766" y="132643"/>
                </a:lnTo>
                <a:lnTo>
                  <a:pt x="0" y="94410"/>
                </a:lnTo>
                <a:lnTo>
                  <a:pt x="8724" y="56996"/>
                </a:lnTo>
                <a:lnTo>
                  <a:pt x="29011" y="24372"/>
                </a:lnTo>
                <a:lnTo>
                  <a:pt x="58708" y="0"/>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vis:icon"/>
          <p:cNvSpPr/>
          <p:nvPr/>
        </p:nvSpPr>
        <p:spPr>
          <a:xfrm>
            <a:off x="988477" y="4638438"/>
            <a:ext cx="54244" cy="46578"/>
          </a:xfrm>
          <a:custGeom>
            <a:avLst/>
            <a:gdLst/>
            <a:ahLst/>
            <a:cxnLst/>
            <a:rect l="l" t="t" r="r" b="b"/>
            <a:pathLst>
              <a:path w="54244" h="46578">
                <a:moveTo>
                  <a:pt x="54244" y="0"/>
                </a:moveTo>
                <a:lnTo>
                  <a:pt x="26532" y="46578"/>
                </a:lnTo>
                <a:lnTo>
                  <a:pt x="0" y="589"/>
                </a:lnTo>
                <a:close/>
              </a:path>
            </a:pathLst>
          </a:cu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Break a stuck task into a first step you can start today</a:t>
            </a:r>
          </a:p>
        </p:txBody>
      </p:sp>
      <p:sp>
        <p:nvSpPr>
          <p:cNvPr id="40"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54575" y="5666032"/>
            <a:ext cx="76648" cy="76648"/>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flipV="1">
            <a:off x="1031223" y="5577591"/>
            <a:ext cx="141505" cy="165089"/>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4"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Run a five-minute weekly review that actually changes things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Sorting by consequence</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Not by urgency or feeling</a:t>
            </a:r>
          </a:p>
        </p:txBody>
      </p:sp>
      <p:cxnSp>
        <p:nvCxnSpPr>
          <p:cNvPr id="13" name="vis:menuarrow"/>
          <p:cNvCxnSpPr/>
          <p:nvPr/>
        </p:nvCxnSpPr>
        <p:spPr>
          <a:xfrm>
            <a:off x="11213287" y="1997049"/>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Planning three days</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Not five, and never a month</a:t>
            </a:r>
          </a:p>
        </p:txBody>
      </p:sp>
      <p:cxnSp>
        <p:nvCxnSpPr>
          <p:cNvPr id="19" name="vis:menuarrow"/>
          <p:cNvCxnSpPr/>
          <p:nvPr/>
        </p:nvCxnSpPr>
        <p:spPr>
          <a:xfrm>
            <a:off x="11213287" y="242498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stuck task</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Breaking it into a first step</a:t>
            </a:r>
          </a:p>
        </p:txBody>
      </p:sp>
      <p:cxnSp>
        <p:nvCxnSpPr>
          <p:cNvPr id="25" name="vis:menuarrow"/>
          <p:cNvCxnSpPr/>
          <p:nvPr/>
        </p:nvCxnSpPr>
        <p:spPr>
          <a:xfrm>
            <a:off x="11213287" y="285292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Deciding not to do things</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list you keep separately</a:t>
            </a:r>
          </a:p>
        </p:txBody>
      </p:sp>
      <p:cxnSp>
        <p:nvCxnSpPr>
          <p:cNvPr id="31" name="vis:menuarrow"/>
          <p:cNvCxnSpPr/>
          <p:nvPr/>
        </p:nvCxnSpPr>
        <p:spPr>
          <a:xfrm>
            <a:off x="11213287" y="3280867"/>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Sort your real list</a:t>
            </a:r>
          </a:p>
        </p:txBody>
      </p:sp>
      <p:cxnSp>
        <p:nvCxnSpPr>
          <p:cNvPr id="37" name="vis:menuarrow"/>
          <p:cNvCxnSpPr/>
          <p:nvPr/>
        </p:nvCxnSpPr>
        <p:spPr>
          <a:xfrm>
            <a:off x="11213287" y="3708806"/>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Monday morning decision</a:t>
            </a:r>
          </a:p>
        </p:txBody>
      </p:sp>
      <p:cxnSp>
        <p:nvCxnSpPr>
          <p:cNvPr id="43" name="vis:menuarrow"/>
          <p:cNvCxnSpPr/>
          <p:nvPr/>
        </p:nvCxnSpPr>
        <p:spPr>
          <a:xfrm>
            <a:off x="11213287" y="4136745"/>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6-minute outside walkthrough</a:t>
            </a:r>
          </a:p>
        </p:txBody>
      </p:sp>
      <p:cxnSp>
        <p:nvCxnSpPr>
          <p:cNvPr id="49" name="vis:menuarrow"/>
          <p:cNvCxnSpPr/>
          <p:nvPr/>
        </p:nvCxnSpPr>
        <p:spPr>
          <a:xfrm>
            <a:off x="11213287" y="456468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SORTING BY CONSEQUENCE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Sort by what breaks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Urgency is a feeling and it is usually somebody else's. Consequence is a fact you can check.</a:t>
            </a:r>
          </a:p>
        </p:txBody>
      </p:sp>
      <p:sp>
        <p:nvSpPr>
          <p:cNvPr id="16" name="vis:panel"/>
          <p:cNvSpPr/>
          <p:nvPr/>
        </p:nvSpPr>
        <p:spPr>
          <a:xfrm>
            <a:off x="502920"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anelspine"/>
          <p:cNvSpPr/>
          <p:nvPr/>
        </p:nvSpPr>
        <p:spPr>
          <a:xfrm>
            <a:off x="502920" y="2706624"/>
            <a:ext cx="68580" cy="33101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
          <p:cNvSpPr/>
          <p:nvPr/>
        </p:nvSpPr>
        <p:spPr>
          <a:xfrm>
            <a:off x="777240" y="2944368"/>
            <a:ext cx="2300075"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chiptext"/>
          <p:cNvSpPr txBox="1"/>
          <p:nvPr/>
        </p:nvSpPr>
        <p:spPr>
          <a:xfrm>
            <a:off x="932688" y="2971799"/>
            <a:ext cx="198917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SORTING BY URGENCY</a:t>
            </a:r>
          </a:p>
        </p:txBody>
      </p:sp>
      <p:sp>
        <p:nvSpPr>
          <p:cNvPr id="20" name="vis:paneltitle"/>
          <p:cNvSpPr txBox="1"/>
          <p:nvPr/>
        </p:nvSpPr>
        <p:spPr>
          <a:xfrm>
            <a:off x="777240"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How lists usually get done</a:t>
            </a:r>
          </a:p>
        </p:txBody>
      </p:sp>
      <p:cxnSp>
        <p:nvCxnSpPr>
          <p:cNvPr id="21" name="vis:icon"/>
          <p:cNvCxnSpPr/>
          <p:nvPr/>
        </p:nvCxnSpPr>
        <p:spPr>
          <a:xfrm>
            <a:off x="819302" y="407913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2" name="vis:icon"/>
          <p:cNvCxnSpPr/>
          <p:nvPr/>
        </p:nvCxnSpPr>
        <p:spPr>
          <a:xfrm flipH="1">
            <a:off x="819302" y="407913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3" name="vis:panelitem"/>
          <p:cNvSpPr txBox="1"/>
          <p:nvPr/>
        </p:nvSpPr>
        <p:spPr>
          <a:xfrm>
            <a:off x="1078992"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Whoever asked most recently wins</a:t>
            </a:r>
          </a:p>
        </p:txBody>
      </p:sp>
      <p:cxnSp>
        <p:nvCxnSpPr>
          <p:cNvPr id="24" name="vis:icon"/>
          <p:cNvCxnSpPr/>
          <p:nvPr/>
        </p:nvCxnSpPr>
        <p:spPr>
          <a:xfrm>
            <a:off x="819302" y="452719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H="1">
            <a:off x="819302" y="452719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panelitem"/>
          <p:cNvSpPr txBox="1"/>
          <p:nvPr/>
        </p:nvSpPr>
        <p:spPr>
          <a:xfrm>
            <a:off x="1078992"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Loud requests beat important ones</a:t>
            </a:r>
          </a:p>
        </p:txBody>
      </p:sp>
      <p:cxnSp>
        <p:nvCxnSpPr>
          <p:cNvPr id="27" name="vis:icon"/>
          <p:cNvCxnSpPr/>
          <p:nvPr/>
        </p:nvCxnSpPr>
        <p:spPr>
          <a:xfrm>
            <a:off x="819302" y="497525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H="1">
            <a:off x="819302" y="497525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9" name="vis:panelitem"/>
          <p:cNvSpPr txBox="1"/>
          <p:nvPr/>
        </p:nvSpPr>
        <p:spPr>
          <a:xfrm>
            <a:off x="1078992"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Quick wins get done to feel productive</a:t>
            </a:r>
          </a:p>
        </p:txBody>
      </p:sp>
      <p:cxnSp>
        <p:nvCxnSpPr>
          <p:cNvPr id="30" name="vis:icon"/>
          <p:cNvCxnSpPr/>
          <p:nvPr/>
        </p:nvCxnSpPr>
        <p:spPr>
          <a:xfrm>
            <a:off x="819302" y="542330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H="1">
            <a:off x="819302" y="542330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2" name="vis:panelitem"/>
          <p:cNvSpPr txBox="1"/>
          <p:nvPr/>
        </p:nvSpPr>
        <p:spPr>
          <a:xfrm>
            <a:off x="1078992"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one that matters most has no deadline yet</a:t>
            </a:r>
          </a:p>
        </p:txBody>
      </p:sp>
      <p:sp>
        <p:nvSpPr>
          <p:cNvPr id="33" name="vis:panel"/>
          <p:cNvSpPr/>
          <p:nvPr/>
        </p:nvSpPr>
        <p:spPr>
          <a:xfrm>
            <a:off x="6251295"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panelspine"/>
          <p:cNvSpPr/>
          <p:nvPr/>
        </p:nvSpPr>
        <p:spPr>
          <a:xfrm>
            <a:off x="6251295" y="2706624"/>
            <a:ext cx="68580" cy="3310128"/>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
          <p:cNvSpPr/>
          <p:nvPr/>
        </p:nvSpPr>
        <p:spPr>
          <a:xfrm>
            <a:off x="6525615" y="2944368"/>
            <a:ext cx="2739495"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iptext"/>
          <p:cNvSpPr txBox="1"/>
          <p:nvPr/>
        </p:nvSpPr>
        <p:spPr>
          <a:xfrm>
            <a:off x="6681063" y="2971799"/>
            <a:ext cx="242859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SORTING BY CONSEQUENCE</a:t>
            </a:r>
          </a:p>
        </p:txBody>
      </p:sp>
      <p:sp>
        <p:nvSpPr>
          <p:cNvPr id="37" name="vis:paneltitle"/>
          <p:cNvSpPr txBox="1"/>
          <p:nvPr/>
        </p:nvSpPr>
        <p:spPr>
          <a:xfrm>
            <a:off x="6525615"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What actually breaks</a:t>
            </a:r>
          </a:p>
        </p:txBody>
      </p:sp>
      <p:cxnSp>
        <p:nvCxnSpPr>
          <p:cNvPr id="38" name="vis:icon"/>
          <p:cNvCxnSpPr/>
          <p:nvPr/>
        </p:nvCxnSpPr>
        <p:spPr>
          <a:xfrm>
            <a:off x="6560362" y="414131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6607911" y="4086453"/>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0" name="vis:panelitem"/>
          <p:cNvSpPr txBox="1"/>
          <p:nvPr/>
        </p:nvSpPr>
        <p:spPr>
          <a:xfrm>
            <a:off x="6827367"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line stops if this slips</a:t>
            </a:r>
          </a:p>
        </p:txBody>
      </p:sp>
      <p:cxnSp>
        <p:nvCxnSpPr>
          <p:cNvPr id="41" name="vis:icon"/>
          <p:cNvCxnSpPr/>
          <p:nvPr/>
        </p:nvCxnSpPr>
        <p:spPr>
          <a:xfrm>
            <a:off x="6560362" y="458937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2" name="vis:icon"/>
          <p:cNvCxnSpPr/>
          <p:nvPr/>
        </p:nvCxnSpPr>
        <p:spPr>
          <a:xfrm flipV="1">
            <a:off x="6607911" y="4534509"/>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3" name="vis:panelitem"/>
          <p:cNvSpPr txBox="1"/>
          <p:nvPr/>
        </p:nvSpPr>
        <p:spPr>
          <a:xfrm>
            <a:off x="6827367"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customer notices if this slips</a:t>
            </a:r>
          </a:p>
        </p:txBody>
      </p:sp>
      <p:cxnSp>
        <p:nvCxnSpPr>
          <p:cNvPr id="44" name="vis:icon"/>
          <p:cNvCxnSpPr/>
          <p:nvPr/>
        </p:nvCxnSpPr>
        <p:spPr>
          <a:xfrm>
            <a:off x="6560362" y="503742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5" name="vis:icon"/>
          <p:cNvCxnSpPr/>
          <p:nvPr/>
        </p:nvCxnSpPr>
        <p:spPr>
          <a:xfrm flipV="1">
            <a:off x="6607911" y="4982565"/>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6" name="vis:panelitem"/>
          <p:cNvSpPr txBox="1"/>
          <p:nvPr/>
        </p:nvSpPr>
        <p:spPr>
          <a:xfrm>
            <a:off x="6827367"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colleague is blocked until this is done</a:t>
            </a:r>
          </a:p>
        </p:txBody>
      </p:sp>
      <p:cxnSp>
        <p:nvCxnSpPr>
          <p:cNvPr id="47" name="vis:icon"/>
          <p:cNvCxnSpPr/>
          <p:nvPr/>
        </p:nvCxnSpPr>
        <p:spPr>
          <a:xfrm>
            <a:off x="6560362" y="548548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8" name="vis:icon"/>
          <p:cNvCxnSpPr/>
          <p:nvPr/>
        </p:nvCxnSpPr>
        <p:spPr>
          <a:xfrm flipV="1">
            <a:off x="6607911" y="5430621"/>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9" name="vis:panelitem"/>
          <p:cNvSpPr txBox="1"/>
          <p:nvPr/>
        </p:nvSpPr>
        <p:spPr>
          <a:xfrm>
            <a:off x="6827367"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Nothing happens at all if this slips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SORTING BY CONSEQUENCE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consequence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6935230"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6386590"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Below is my task list. Sort every item into four groups. STOPS SOMETHING: work halts if this slips. CUSTOMER NOTICES: someone outside sees the delay. BLOCKS A COLLEAGUE: somebody is waiting on me. NO CONSEQUENCE: nothing happens this month if it slips. Put each item in exactly one group. No commentary.</a:t>
            </a:r>
          </a:p>
        </p:txBody>
      </p:sp>
      <p:sp>
        <p:nvSpPr>
          <p:cNvPr id="28" name="vis:promptcap"/>
          <p:cNvSpPr txBox="1"/>
          <p:nvPr/>
        </p:nvSpPr>
        <p:spPr>
          <a:xfrm>
            <a:off x="777240" y="3624579"/>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Paste your real list underneath. It can be as messy as it is.</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Four groups is enough to decide and few enough to scan.</a:t>
            </a:r>
          </a:p>
        </p:txBody>
      </p:sp>
      <p:cxnSp>
        <p:nvCxnSpPr>
          <p:cNvPr id="33" name="vis:icon"/>
          <p:cNvCxnSpPr/>
          <p:nvPr/>
        </p:nvCxnSpPr>
        <p:spPr>
          <a:xfrm>
            <a:off x="7850361" y="3250143"/>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"No consequence" is usually a third of any long list.</a:t>
            </a:r>
          </a:p>
        </p:txBody>
      </p:sp>
      <p:cxnSp>
        <p:nvCxnSpPr>
          <p:cNvPr id="36" name="vis:icon"/>
          <p:cNvCxnSpPr/>
          <p:nvPr/>
        </p:nvCxnSpPr>
        <p:spPr>
          <a:xfrm>
            <a:off x="7850361" y="418283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sorts without knowing your job, because you named the tests.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PLANNING THREE DAYS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Plan three days, not five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flowcard"/>
          <p:cNvSpPr/>
          <p:nvPr/>
        </p:nvSpPr>
        <p:spPr>
          <a:xfrm>
            <a:off x="502920"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flownum"/>
          <p:cNvSpPr/>
          <p:nvPr/>
        </p:nvSpPr>
        <p:spPr>
          <a:xfrm>
            <a:off x="685800" y="2039111"/>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text"/>
          <p:cNvSpPr txBox="1"/>
          <p:nvPr/>
        </p:nvSpPr>
        <p:spPr>
          <a:xfrm>
            <a:off x="685800"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8" name="vis:flowtitle"/>
          <p:cNvSpPr txBox="1"/>
          <p:nvPr/>
        </p:nvSpPr>
        <p:spPr>
          <a:xfrm>
            <a:off x="704088"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Monday is knowable</a:t>
            </a:r>
          </a:p>
        </p:txBody>
      </p:sp>
      <p:sp>
        <p:nvSpPr>
          <p:cNvPr id="19" name="vis:flowsub"/>
          <p:cNvSpPr txBox="1"/>
          <p:nvPr/>
        </p:nvSpPr>
        <p:spPr>
          <a:xfrm>
            <a:off x="704088"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You know roughly what will land.</a:t>
            </a:r>
          </a:p>
        </p:txBody>
      </p:sp>
      <p:cxnSp>
        <p:nvCxnSpPr>
          <p:cNvPr id="20" name="vis:flowarrow"/>
          <p:cNvCxnSpPr/>
          <p:nvPr/>
        </p:nvCxnSpPr>
        <p:spPr>
          <a:xfrm>
            <a:off x="3093643" y="3182111"/>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vis:flowcard"/>
          <p:cNvSpPr/>
          <p:nvPr/>
        </p:nvSpPr>
        <p:spPr>
          <a:xfrm>
            <a:off x="3395395"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flownum"/>
          <p:cNvSpPr/>
          <p:nvPr/>
        </p:nvSpPr>
        <p:spPr>
          <a:xfrm>
            <a:off x="3578275" y="2039111"/>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text"/>
          <p:cNvSpPr txBox="1"/>
          <p:nvPr/>
        </p:nvSpPr>
        <p:spPr>
          <a:xfrm>
            <a:off x="3578275"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4" name="vis:flowtitle"/>
          <p:cNvSpPr txBox="1"/>
          <p:nvPr/>
        </p:nvSpPr>
        <p:spPr>
          <a:xfrm>
            <a:off x="3596563"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Wednesday is a guess</a:t>
            </a:r>
          </a:p>
        </p:txBody>
      </p:sp>
      <p:sp>
        <p:nvSpPr>
          <p:cNvPr id="25" name="vis:flowsub"/>
          <p:cNvSpPr txBox="1"/>
          <p:nvPr/>
        </p:nvSpPr>
        <p:spPr>
          <a:xfrm>
            <a:off x="3596563"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Half of it will be replaced by something new.</a:t>
            </a:r>
          </a:p>
        </p:txBody>
      </p:sp>
      <p:cxnSp>
        <p:nvCxnSpPr>
          <p:cNvPr id="26" name="vis:flowarrow"/>
          <p:cNvCxnSpPr/>
          <p:nvPr/>
        </p:nvCxnSpPr>
        <p:spPr>
          <a:xfrm>
            <a:off x="5986119" y="3182111"/>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vis:flowcard"/>
          <p:cNvSpPr/>
          <p:nvPr/>
        </p:nvSpPr>
        <p:spPr>
          <a:xfrm>
            <a:off x="6287871"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flownum"/>
          <p:cNvSpPr/>
          <p:nvPr/>
        </p:nvSpPr>
        <p:spPr>
          <a:xfrm>
            <a:off x="6470751" y="2039111"/>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text"/>
          <p:cNvSpPr txBox="1"/>
          <p:nvPr/>
        </p:nvSpPr>
        <p:spPr>
          <a:xfrm>
            <a:off x="6470751"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0" name="vis:flowtitle"/>
          <p:cNvSpPr txBox="1"/>
          <p:nvPr/>
        </p:nvSpPr>
        <p:spPr>
          <a:xfrm>
            <a:off x="6489039"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Friday is fiction</a:t>
            </a:r>
          </a:p>
        </p:txBody>
      </p:sp>
      <p:sp>
        <p:nvSpPr>
          <p:cNvPr id="31" name="vis:flowsub"/>
          <p:cNvSpPr txBox="1"/>
          <p:nvPr/>
        </p:nvSpPr>
        <p:spPr>
          <a:xfrm>
            <a:off x="6489039"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Nothing planned on Monday survives to Friday intact.</a:t>
            </a:r>
          </a:p>
        </p:txBody>
      </p:sp>
      <p:cxnSp>
        <p:nvCxnSpPr>
          <p:cNvPr id="32" name="vis:flowarrow"/>
          <p:cNvCxnSpPr/>
          <p:nvPr/>
        </p:nvCxnSpPr>
        <p:spPr>
          <a:xfrm>
            <a:off x="8878595" y="3182111"/>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vis:flowcard"/>
          <p:cNvSpPr/>
          <p:nvPr/>
        </p:nvSpPr>
        <p:spPr>
          <a:xfrm>
            <a:off x="9180347"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flownum"/>
          <p:cNvSpPr/>
          <p:nvPr/>
        </p:nvSpPr>
        <p:spPr>
          <a:xfrm>
            <a:off x="9363227" y="2039111"/>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text"/>
          <p:cNvSpPr txBox="1"/>
          <p:nvPr/>
        </p:nvSpPr>
        <p:spPr>
          <a:xfrm>
            <a:off x="9363227"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6" name="vis:flowtitle"/>
          <p:cNvSpPr txBox="1"/>
          <p:nvPr/>
        </p:nvSpPr>
        <p:spPr>
          <a:xfrm>
            <a:off x="9381515"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So plan three</a:t>
            </a:r>
          </a:p>
        </p:txBody>
      </p:sp>
      <p:sp>
        <p:nvSpPr>
          <p:cNvPr id="37" name="vis:flowsub"/>
          <p:cNvSpPr txBox="1"/>
          <p:nvPr/>
        </p:nvSpPr>
        <p:spPr>
          <a:xfrm>
            <a:off x="9381515"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And re-plan on Wednesday, in five minutes.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PLANNING THREE DAYS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 realistic day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5816644"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Here are my tasks for tomorrow with rough time estimates. I have six working hours after meetings. Tell me which of these fit, in what order, and which do not fit at all. Assume every estimate is 50 per cent optimistic. Do not suggest working longer.</a:t>
            </a:r>
          </a:p>
        </p:txBody>
      </p:sp>
      <p:sp>
        <p:nvSpPr>
          <p:cNvPr id="28" name="vis:promptcap"/>
          <p:cNvSpPr txBox="1"/>
          <p:nvPr/>
        </p:nvSpPr>
        <p:spPr>
          <a:xfrm>
            <a:off x="777240" y="3624579"/>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"Assume estimates are 50 per cent optimistic" is the useful line.</a:t>
            </a:r>
          </a:p>
        </p:txBody>
      </p:sp>
      <p:sp>
        <p:nvSpPr>
          <p:cNvPr id="29" name="vis:outcard"/>
          <p:cNvSpPr/>
          <p:nvPr/>
        </p:nvSpPr>
        <p:spPr>
          <a:xfrm>
            <a:off x="6685324" y="1719072"/>
            <a:ext cx="5003450" cy="2377947"/>
          </a:xfrm>
          <a:prstGeom prst="roundRect">
            <a:avLst>
              <a:gd name="adj" fmla="val 38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377947"/>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2087885"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3" name="vis:outbody"/>
          <p:cNvSpPr txBox="1"/>
          <p:nvPr/>
        </p:nvSpPr>
        <p:spPr>
          <a:xfrm>
            <a:off x="6941356" y="2359152"/>
            <a:ext cx="4491386" cy="151841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A realistic order for three or four tasks, not nine.</a:t>
            </a:r>
          </a:p>
          <a:p>
            <a:pPr algn="l">
              <a:lnSpc>
                <a:spcPts val="1690"/>
              </a:lnSpc>
              <a:spcBef>
                <a:spcPts val="0"/>
              </a:spcBef>
              <a:spcAft>
                <a:spcPts val="600"/>
              </a:spcAft>
            </a:pPr>
            <a:r>
              <a:rPr sz="1300" b="0">
                <a:solidFill>
                  <a:srgbClr val="2A3547"/>
                </a:solidFill>
                <a:latin typeface="Segoe UI"/>
              </a:rPr>
              <a:t>An explicit list of what will not happen tomorrow.</a:t>
            </a:r>
          </a:p>
          <a:p>
            <a:pPr algn="l">
              <a:lnSpc>
                <a:spcPts val="1690"/>
              </a:lnSpc>
              <a:spcBef>
                <a:spcPts val="0"/>
              </a:spcBef>
              <a:spcAft>
                <a:spcPts val="600"/>
              </a:spcAft>
            </a:pPr>
            <a:r>
              <a:rPr sz="1300" b="0">
                <a:solidFill>
                  <a:srgbClr val="2A3547"/>
                </a:solidFill>
                <a:latin typeface="Segoe UI"/>
              </a:rPr>
              <a:t>The uncomfortable but accurate answer you would not have written yourself.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STUCK TASK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task that never starts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Tasks that sit on a list for weeks are almost always unclear rather than hard.</a:t>
            </a:r>
          </a:p>
        </p:txBody>
      </p:sp>
      <p:sp>
        <p:nvSpPr>
          <p:cNvPr id="16" name="vis:promptcard"/>
          <p:cNvSpPr/>
          <p:nvPr/>
        </p:nvSpPr>
        <p:spPr>
          <a:xfrm>
            <a:off x="502920" y="2432304"/>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romptbar"/>
          <p:cNvSpPr/>
          <p:nvPr/>
        </p:nvSpPr>
        <p:spPr>
          <a:xfrm>
            <a:off x="502920" y="2432304"/>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739932" y="2554467"/>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775045" y="2677363"/>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775045" y="2677363"/>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vis:copybtn"/>
          <p:cNvSpPr/>
          <p:nvPr/>
        </p:nvSpPr>
        <p:spPr>
          <a:xfrm>
            <a:off x="5577981" y="2505456"/>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5761592" y="2571292"/>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5780246" y="260860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263658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5780246" y="2664561"/>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6" name="vis:copytext"/>
          <p:cNvSpPr txBox="1"/>
          <p:nvPr/>
        </p:nvSpPr>
        <p:spPr>
          <a:xfrm>
            <a:off x="5989461" y="2564892"/>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7" name="vis:prompthdr"/>
          <p:cNvSpPr txBox="1"/>
          <p:nvPr/>
        </p:nvSpPr>
        <p:spPr>
          <a:xfrm>
            <a:off x="1051560" y="2542032"/>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unsticking prompt</a:t>
            </a:r>
          </a:p>
        </p:txBody>
      </p:sp>
      <p:sp>
        <p:nvSpPr>
          <p:cNvPr id="28" name="card:prompt"/>
          <p:cNvSpPr txBox="1"/>
          <p:nvPr/>
        </p:nvSpPr>
        <p:spPr>
          <a:xfrm>
            <a:off x="777240" y="2980944"/>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This task has been on my list for three weeks and I keep not starting it: [describe the task in one line]. Give me the first five minutes of it as a single concrete action, and tell me what information I would need before I could finish it.</a:t>
            </a:r>
          </a:p>
        </p:txBody>
      </p:sp>
      <p:sp>
        <p:nvSpPr>
          <p:cNvPr id="29" name="vis:promptcap"/>
          <p:cNvSpPr txBox="1"/>
          <p:nvPr/>
        </p:nvSpPr>
        <p:spPr>
          <a:xfrm>
            <a:off x="777240" y="4106671"/>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Five minutes, one action, no plan.</a:t>
            </a:r>
          </a:p>
        </p:txBody>
      </p:sp>
      <p:sp>
        <p:nvSpPr>
          <p:cNvPr id="30" name="seclabel"/>
          <p:cNvSpPr txBox="1"/>
          <p:nvPr/>
        </p:nvSpPr>
        <p:spPr>
          <a:xfrm>
            <a:off x="7803910" y="2487168"/>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WORKS</a:t>
            </a:r>
          </a:p>
        </p:txBody>
      </p:sp>
      <p:cxnSp>
        <p:nvCxnSpPr>
          <p:cNvPr id="31" name="vis:icon"/>
          <p:cNvCxnSpPr/>
          <p:nvPr/>
        </p:nvCxnSpPr>
        <p:spPr>
          <a:xfrm>
            <a:off x="7850361" y="3030687"/>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flipV="1">
            <a:off x="7902665" y="2970336"/>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3" name="cell:why"/>
          <p:cNvSpPr txBox="1"/>
          <p:nvPr/>
        </p:nvSpPr>
        <p:spPr>
          <a:xfrm>
            <a:off x="8187958" y="2871216"/>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A three-week-old task usually has a missing input, not a size problem.</a:t>
            </a:r>
          </a:p>
        </p:txBody>
      </p:sp>
      <p:cxnSp>
        <p:nvCxnSpPr>
          <p:cNvPr id="34" name="vis:icon"/>
          <p:cNvCxnSpPr/>
          <p:nvPr/>
        </p:nvCxnSpPr>
        <p:spPr>
          <a:xfrm>
            <a:off x="7850361" y="3963375"/>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V="1">
            <a:off x="7902665" y="3903024"/>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6" name="cell:why"/>
          <p:cNvSpPr txBox="1"/>
          <p:nvPr/>
        </p:nvSpPr>
        <p:spPr>
          <a:xfrm>
            <a:off x="8187958" y="380390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A five-minute first step is small enough to actually begin.</a:t>
            </a:r>
          </a:p>
        </p:txBody>
      </p:sp>
      <p:cxnSp>
        <p:nvCxnSpPr>
          <p:cNvPr id="37" name="vis:icon"/>
          <p:cNvCxnSpPr/>
          <p:nvPr/>
        </p:nvCxnSpPr>
        <p:spPr>
          <a:xfrm>
            <a:off x="7850361" y="4896063"/>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7902665" y="4835712"/>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9" name="cell:why"/>
          <p:cNvSpPr txBox="1"/>
          <p:nvPr/>
        </p:nvSpPr>
        <p:spPr>
          <a:xfrm>
            <a:off x="8187958" y="473659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Naming the missing information often reveals it belongs to somebody else.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STUCK TASK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tasks stick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62636" y="2217617"/>
            <a:ext cx="287575" cy="191716"/>
          </a:xfrm>
          <a:prstGeom prst="roundRect">
            <a:avLst>
              <a:gd name="adj" fmla="val 23847"/>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1017412" y="2409334"/>
            <a:ext cx="13694" cy="7531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1017412" y="2409334"/>
            <a:ext cx="75317" cy="7531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0"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It is not a task</a:t>
            </a:r>
          </a:p>
        </p:txBody>
      </p:sp>
      <p:sp>
        <p:nvSpPr>
          <p:cNvPr id="21"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"Sort out the vendor issue" is a project. Nothing starts because nothing is defined.</a:t>
            </a:r>
          </a:p>
        </p:txBody>
      </p:sp>
      <p:sp>
        <p:nvSpPr>
          <p:cNvPr id="22"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4861435" y="2193652"/>
            <a:ext cx="130093" cy="130093"/>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4789541"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It needs somebody else</a:t>
            </a:r>
          </a:p>
        </p:txBody>
      </p:sp>
      <p:sp>
        <p:nvSpPr>
          <p:cNvPr id="27"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You are waiting for information and have not asked for it. Ask today.</a:t>
            </a:r>
          </a:p>
        </p:txBody>
      </p:sp>
      <p:sp>
        <p:nvSpPr>
          <p:cNvPr id="28"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8589059" y="2190229"/>
            <a:ext cx="314963" cy="287575"/>
          </a:xfrm>
          <a:custGeom>
            <a:avLst/>
            <a:gdLst/>
            <a:ahLst/>
            <a:cxnLst/>
            <a:rect l="l" t="t" r="r" b="b"/>
            <a:pathLst>
              <a:path w="314963" h="287575">
                <a:moveTo>
                  <a:pt x="157481" y="0"/>
                </a:moveTo>
                <a:lnTo>
                  <a:pt x="314963" y="287575"/>
                </a:lnTo>
                <a:lnTo>
                  <a:pt x="0" y="287575"/>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vis:icon"/>
          <p:cNvCxnSpPr/>
          <p:nvPr/>
        </p:nvCxnSpPr>
        <p:spPr>
          <a:xfrm>
            <a:off x="8746540" y="2299781"/>
            <a:ext cx="0" cy="85588"/>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2" name="vis:icon"/>
          <p:cNvSpPr/>
          <p:nvPr/>
        </p:nvSpPr>
        <p:spPr>
          <a:xfrm>
            <a:off x="8729423" y="2416181"/>
            <a:ext cx="34235" cy="34235"/>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You do not want to</a:t>
            </a:r>
          </a:p>
        </p:txBody>
      </p:sp>
      <p:sp>
        <p:nvSpPr>
          <p:cNvPr id="34"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difficult conversation. The five-minute step is usually writing the first sentence.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DECIDING NOT TO DO THINGS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not-doing list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Anything in NO CONSEQUENCE that is over a month old</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Anything you have rescheduled more than three times</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Anything somebody else could do adequately</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Anything you only kept because you felt guilty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DECIDING NOT TO DO THINGS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Moved, not deleted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174015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142925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ONE LIST OF 47</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Every item you have ever thought of, in one place.</a:t>
            </a:r>
          </a:p>
          <a:p>
            <a:pPr algn="l">
              <a:lnSpc>
                <a:spcPts val="1690"/>
              </a:lnSpc>
              <a:spcBef>
                <a:spcPts val="0"/>
              </a:spcBef>
              <a:spcAft>
                <a:spcPts val="600"/>
              </a:spcAft>
            </a:pPr>
            <a:r>
              <a:rPr sz="1300" b="0">
                <a:solidFill>
                  <a:srgbClr val="2A3547"/>
                </a:solidFill>
                <a:latin typeface="Segoe UI"/>
              </a:rPr>
              <a:t>You reread all 47 every morning to find the four that matter.</a:t>
            </a:r>
          </a:p>
          <a:p>
            <a:pPr algn="l">
              <a:lnSpc>
                <a:spcPts val="1690"/>
              </a:lnSpc>
              <a:spcBef>
                <a:spcPts val="0"/>
              </a:spcBef>
              <a:spcAft>
                <a:spcPts val="600"/>
              </a:spcAft>
            </a:pPr>
            <a:r>
              <a:rPr sz="1300" b="0">
                <a:solidFill>
                  <a:srgbClr val="2A3547"/>
                </a:solidFill>
                <a:latin typeface="Segoe UI"/>
              </a:rPr>
              <a:t>The list is a source of guilt rather than a tool.</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1352853"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04195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TWO LISTS</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Nine active items, sorted by consequence.</a:t>
            </a:r>
          </a:p>
          <a:p>
            <a:pPr algn="l">
              <a:lnSpc>
                <a:spcPts val="1690"/>
              </a:lnSpc>
              <a:spcBef>
                <a:spcPts val="0"/>
              </a:spcBef>
              <a:spcAft>
                <a:spcPts val="600"/>
              </a:spcAft>
            </a:pPr>
            <a:r>
              <a:rPr sz="1300" b="0">
                <a:solidFill>
                  <a:srgbClr val="2A3547"/>
                </a:solidFill>
                <a:latin typeface="Segoe UI"/>
              </a:rPr>
              <a:t>Thirty-eight in a "not now" file you look at monthly.</a:t>
            </a:r>
          </a:p>
          <a:p>
            <a:pPr algn="l">
              <a:lnSpc>
                <a:spcPts val="1690"/>
              </a:lnSpc>
              <a:spcBef>
                <a:spcPts val="0"/>
              </a:spcBef>
              <a:spcAft>
                <a:spcPts val="600"/>
              </a:spcAft>
            </a:pPr>
            <a:r>
              <a:rPr sz="1300" b="0">
                <a:solidFill>
                  <a:srgbClr val="2A3547"/>
                </a:solidFill>
                <a:latin typeface="Segoe UI"/>
              </a:rPr>
              <a:t>Nothing was deleted, and the morning takes ninety seconds.</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Moving something to "not now" is a decision. Leaving it on the main list is avoiding 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sort your list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epnum"/>
          <p:cNvSpPr/>
          <p:nvPr/>
        </p:nvSpPr>
        <p:spPr>
          <a:xfrm>
            <a:off x="502920" y="2027681"/>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Copy your actual task list into a blank document.</a:t>
            </a:r>
          </a:p>
        </p:txBody>
      </p:sp>
      <p:sp>
        <p:nvSpPr>
          <p:cNvPr id="19" name="vis:stepnum"/>
          <p:cNvSpPr/>
          <p:nvPr/>
        </p:nvSpPr>
        <p:spPr>
          <a:xfrm>
            <a:off x="502920" y="3138677"/>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Remove customer names and replace them with roles.</a:t>
            </a:r>
          </a:p>
        </p:txBody>
      </p:sp>
      <p:sp>
        <p:nvSpPr>
          <p:cNvPr id="23" name="vis:stepnum"/>
          <p:cNvSpPr/>
          <p:nvPr/>
        </p:nvSpPr>
        <p:spPr>
          <a:xfrm>
            <a:off x="502920" y="4249674"/>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Run the consequence prompt on it.</a:t>
            </a:r>
          </a:p>
        </p:txBody>
      </p:sp>
      <p:sp>
        <p:nvSpPr>
          <p:cNvPr id="27" name="vis:stepnum"/>
          <p:cNvSpPr/>
          <p:nvPr/>
        </p:nvSpPr>
        <p:spPr>
          <a:xfrm>
            <a:off x="502920" y="5360670"/>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Move everything in NO CONSEQUENCE to a separate file.</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Sort my list into four groups: STOPS SOMETHING, CUSTOMER NOTICES, BLOCKS A COLLEAGUE, NO CONSEQUENCE. Each item in exactly one group. Then tell me the three items I should do first and why, in one line each. No other commentary.</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Two minutes, and most lists shrink by a third.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five-minute weekly review</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What did I plan on Monday that did not happen, and why?</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What arrived this week that was not on any list?</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What has moved three times and should go to "not now"?</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What are the three things that must happen next week?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Planning a full week in detail</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By Wednesday half of it is obsolete, so the whole plan gets abandoned rather than adjusted.</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Sorting by urgency</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Urgency belongs to whoever shouted last. Consequence belongs to the work.</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Keeping one list of everything</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reread forty items every morning to find the four that matter.</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Trusting your own time estimates</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Almost everyone is around fifty per cent optimistic, consistently.</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Letting a task sit unstarted for weeks</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is not hard, it is undefined. Ask for the first five minutes.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not to paste into a planner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A task list is a surprisingly detailed picture of what the company is doing.</a:t>
            </a:r>
          </a:p>
          <a:p>
            <a:pPr algn="l">
              <a:lnSpc>
                <a:spcPts val="1755"/>
              </a:lnSpc>
              <a:spcBef>
                <a:spcPts val="0"/>
              </a:spcBef>
              <a:spcAft>
                <a:spcPts val="0"/>
              </a:spcAft>
            </a:pPr>
            <a:r>
              <a:rPr sz="1350" b="0">
                <a:solidFill>
                  <a:srgbClr val="FFFFFF"/>
                </a:solidFill>
                <a:latin typeface="Segoe UI"/>
              </a:rPr>
              <a:t>Sorting works just as well with roles instead of names.</a:t>
            </a:r>
          </a:p>
        </p:txBody>
      </p:sp>
      <p:sp>
        <p:nvSpPr>
          <p:cNvPr id="20" name="vis:checktile"/>
          <p:cNvSpPr/>
          <p:nvPr/>
        </p:nvSpPr>
        <p:spPr>
          <a:xfrm>
            <a:off x="502920"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Customer names against deals or complaints</a:t>
            </a:r>
          </a:p>
        </p:txBody>
      </p:sp>
      <p:sp>
        <p:nvSpPr>
          <p:cNvPr id="25" name="vis:checktile"/>
          <p:cNvSpPr/>
          <p:nvPr/>
        </p:nvSpPr>
        <p:spPr>
          <a:xfrm>
            <a:off x="6205575"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6425031"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6504035"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6526621"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6863943"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Colleague names against performance issues</a:t>
            </a:r>
          </a:p>
        </p:txBody>
      </p:sp>
      <p:sp>
        <p:nvSpPr>
          <p:cNvPr id="30" name="vis:checktile"/>
          <p:cNvSpPr/>
          <p:nvPr/>
        </p:nvSpPr>
        <p:spPr>
          <a:xfrm>
            <a:off x="502920"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722376"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01380"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23965" y="5245089"/>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1161288"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Unannounced projects, sites or product plans</a:t>
            </a:r>
          </a:p>
        </p:txBody>
      </p:sp>
      <p:sp>
        <p:nvSpPr>
          <p:cNvPr id="35" name="vis:checktile"/>
          <p:cNvSpPr/>
          <p:nvPr/>
        </p:nvSpPr>
        <p:spPr>
          <a:xfrm>
            <a:off x="6205575"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eckdot"/>
          <p:cNvSpPr/>
          <p:nvPr/>
        </p:nvSpPr>
        <p:spPr>
          <a:xfrm>
            <a:off x="6425031"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6504035"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6526621" y="5245089"/>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9" name="cell:checkitem"/>
          <p:cNvSpPr txBox="1"/>
          <p:nvPr/>
        </p:nvSpPr>
        <p:spPr>
          <a:xfrm>
            <a:off x="6863943"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Anything from a contract, tender or board paper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Planning is not the work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Have I re-planned this week more than twice?</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571079" y="3937040"/>
            <a:ext cx="66568"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V="1">
            <a:off x="637647" y="3860231"/>
            <a:ext cx="122896"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Plan and go</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Five minutes on Monday, five on Wednesday. That is the whole system, and anything more is usually avoidance.</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7709544" y="3819265"/>
            <a:ext cx="225308" cy="225308"/>
          </a:xfrm>
          <a:prstGeom prst="ellipse">
            <a:avLst/>
          </a:pr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7742828" y="3852550"/>
            <a:ext cx="158740" cy="158739"/>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Stop planning</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Re-planning feels productive and produces nothing. If the list is sorted and the first task is clear, the problem is starting, not planning.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planning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Sort by what breaks. Plan three days. Decide what you will not do.</a:t>
            </a:r>
          </a:p>
          <a:p>
            <a:pPr algn="l">
              <a:lnSpc>
                <a:spcPts val="1755"/>
              </a:lnSpc>
              <a:spcBef>
                <a:spcPts val="0"/>
              </a:spcBef>
              <a:spcAft>
                <a:spcPts val="0"/>
              </a:spcAft>
            </a:pPr>
            <a:r>
              <a:rPr sz="1350" b="0">
                <a:solidFill>
                  <a:srgbClr val="FFFFFF"/>
                </a:solidFill>
                <a:latin typeface="Segoe UI"/>
              </a:rPr>
              <a:t>Three habits, about ten minutes a week, and the list stops growing faster than it shrinks.</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Consequence, not urgency.</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Three days, not five.</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Not-now, not never.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Monday, 8:30 am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Forty-seven items on your list, six hours of actual working time today after meetings, and three people already waiting on you.</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Work down the list from the top, as fast as you can.</a:t>
            </a:r>
          </a:p>
        </p:txBody>
      </p:sp>
      <p:cxnSp>
        <p:nvCxnSpPr>
          <p:cNvPr id="23" name="vis:choicearrow"/>
          <p:cNvCxnSpPr/>
          <p:nvPr/>
        </p:nvCxnSpPr>
        <p:spPr>
          <a:xfrm>
            <a:off x="758952"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Sort by consequence first, then plan three days.</a:t>
            </a:r>
          </a:p>
        </p:txBody>
      </p:sp>
      <p:cxnSp>
        <p:nvCxnSpPr>
          <p:cNvPr id="29" name="vis:choicearrow"/>
          <p:cNvCxnSpPr/>
          <p:nvPr/>
        </p:nvCxnSpPr>
        <p:spPr>
          <a:xfrm>
            <a:off x="4566818"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Block out the whole week in your calendar in detail.</a:t>
            </a:r>
          </a:p>
        </p:txBody>
      </p:sp>
      <p:cxnSp>
        <p:nvCxnSpPr>
          <p:cNvPr id="35" name="vis:choicearrow"/>
          <p:cNvCxnSpPr/>
          <p:nvPr/>
        </p:nvCxnSpPr>
        <p:spPr>
          <a:xfrm>
            <a:off x="8374684"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Busy all day, and the line still stops on Friday</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close nine small items and feel productive. The material release that stops the packing line on Friday was item 31, and it is still item 31 tomorrow. On Friday the line stops.</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List order is history, not priority.</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Ten minutes, and the right four things get done</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Sorting takes two minutes and puts four items in STOPS SOMETHING, including the material release. Nineteen fall into NO CONSEQUENCE and move to a separate file. You plan three days and finish the four that mattered.</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Sorting is faster than working, and it decides whether the work counts.</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A good plan, obsolete by Wednesday</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Ninety minutes of careful scheduling. On Tuesday a customer escalation takes half a day, and by Wednesday the plan no longer matches reality. Most people then abandon the plan entirely rather than adjust it.</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Plan three days and re-plan midweek. Detailed weeks do not survive contact.</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Six minutes on planning a week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How to Plan Your Entire Week in 5 Minutes Using ChatGPT</a:t>
            </a:r>
          </a:p>
        </p:txBody>
      </p:sp>
      <p:sp>
        <p:nvSpPr>
          <p:cNvPr id="19" name="vis:chip"/>
          <p:cNvSpPr/>
          <p:nvPr/>
        </p:nvSpPr>
        <p:spPr>
          <a:xfrm>
            <a:off x="868680" y="3858768"/>
            <a:ext cx="150710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1962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DEL DENNEY</a:t>
            </a:r>
          </a:p>
        </p:txBody>
      </p:sp>
      <p:sp>
        <p:nvSpPr>
          <p:cNvPr id="21" name="vis:chip"/>
          <p:cNvSpPr/>
          <p:nvPr/>
        </p:nvSpPr>
        <p:spPr>
          <a:xfrm>
            <a:off x="2522093" y="3858768"/>
            <a:ext cx="123024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2677541" y="3895344"/>
            <a:ext cx="91935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6:22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Everything you need is already in this deck.</a:t>
            </a:r>
          </a:p>
        </p:txBody>
      </p:sp>
      <p:cxnSp>
        <p:nvCxnSpPr>
          <p:cNvPr id="35" name="vis:icon"/>
          <p:cNvCxnSpPr/>
          <p:nvPr/>
        </p:nvCxnSpPr>
        <p:spPr>
          <a:xfrm>
            <a:off x="8439424" y="3743919"/>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watching to reading.</a:t>
            </a:r>
          </a:p>
        </p:txBody>
      </p:sp>
      <p:cxnSp>
        <p:nvCxnSpPr>
          <p:cNvPr id="38" name="vis:icon"/>
          <p:cNvCxnSpPr/>
          <p:nvPr/>
        </p:nvCxnSpPr>
        <p:spPr>
          <a:xfrm>
            <a:off x="8439424" y="4859487"/>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should you sort a list by?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Urgency</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What breaks if it slips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How long each will take</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order they arrived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Urgency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Urgency reflects who asked most recently and most loudly. The task that stops a line on Friday is rarely the one anybody is shouting about on Monday.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What breaks if it slips.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What breaks if it slips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consequence is a fact you can check, and it does not change with mood or with who is in your inbox. It is also the only test that finds the quiet critical item.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What breaks if it slips.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How long each will take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Useful for scheduling once you have decided what matters. Sorting by duration means doing the quick things regardless of whether they count.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What breaks if it slips.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 order they arrived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what an unsorted list already does, and it is why the important item sits at number 31 for a fortnight.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What breaks if it slips.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How far ahead should you plan?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full week, in detail</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About three days, then re-plan midweek</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Just today</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month, so nothing is a surprise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full week, in detail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By Wednesday half of it is obsolete, and most people respond by abandoning the plan rather than adjusting it. Ninety minutes of scheduling, wasted.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Three days, then re-plan.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About three days, then re-plan midweek</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Three days is roughly how far ahead you can predict in most operational jobs. Re-planning on Wednesday takes five minutes and keeps the plan real.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Three days, then re-plan.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Just today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Too short to protect anything with a lead time. You will keep discovering on Thursday that something needed starting on Tuesday.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Three days, then re-plan.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 month, so nothing is a surprise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month of detailed personal planning is fiction. Monthly horizons are useful for commitments and deadlines, not for daily task order.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Three days, then re-plan.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 task has sat for three weeks. Why?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too difficult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unclear, or waiting on somebody else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not important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You are disorganised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is too difficult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Difficult tasks usually get started and then stall. Tasks that never begin at all are almost always unclear rather than hard.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Usually undefined, not hard.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 is unclear, or waiting on somebody else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"Sort out the vendor issue" is a project with no first action. Ask for the first five minutes and the missing input, and it usually turns out somebody else owes you something.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Usually undefined, not hard.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is not important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Sometimes true, and worth testing with the consequence sort. But plenty of genuinely critical tasks sit for weeks purely because nobody defined the first step.</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Usually undefined, not hard.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You are disorganised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An unhelpful diagnosis that leads nowhere. The practical question is what the first concrete five minutes would be.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Usually undefined, not hard.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goes on the not-now list?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Anything you dislike doing</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Items with no consequence that keep being moved</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Anything older than a week</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Everything you cannot finish today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Anything you dislike doing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Disliking something says nothing about whether it matters. Several of the tasks that stop a line are unpleasant conversations.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 consequence, and rescheduled repeatedly.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Items with no consequence that keep being moved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If nothing happens this month when it slips, and you have already moved it three times, you have already decided not to do it. Writing that down makes it a decision instead of a background guilt.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 consequence, and rescheduled repeatedly.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Anything older than a week</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Age alone is not a test. Some long-standing items are genuinely important and simply need a defined first step.</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 consequence, and rescheduled repeatedly.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Everything you cannot finish today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would empty the list every evening and lose everything with a lead time. Not-now is for things with no consequence, not things with no time today.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 consequence, and rescheduled repeatedly.</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assume estimates are optimistic?</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To create slack for emergencies</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Because most people underestimate by roughly half</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To make the plan easier to achieve</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Because interruptions are unpredictable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To create slack for emergencies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Slack is a good side effect, but the reason is simpler: the original estimates were wrong, consistently and in the same direction.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Almost everyone is about half out.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Because most people underestimate by roughly half</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one of the most reliable patterns in how people plan work. Applying the correction gives you a day with three or four real tasks instead of nine imaginary ones.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Almost everyone is about half out.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To make the plan easier to achieve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not about feeling successful. It is about the plan matching what will actually happen, so you can tell people the truth about what is not getting done.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Almost everyone is about half out.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Because interruptions are unpredictable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Interruptions are a separate problem and worth planning around too. The optimism correction applies even to uninterrupted work.</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Almost everyone is about half out.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Planning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Sort by consequence</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breaks if it slips. Urgency belongs to whoever shouted last.</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Plan three days</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Friday is fiction on Monday. Re-plan midweek in five minutes.</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Halve your estimates</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Almost everyone is about fifty per cent optimistic, consistently.</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Stuck means undefined</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Ask for the first five minutes and the information you are missing.</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Keep a not-now list</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Moved, not deleted. It turns background guilt into a decision.</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Re-planning is not working</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Twice a week is a system. Four times is avoidance.</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51979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Sort by what breaks, plan three days, and decide what you are not going to do.</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3910" y="2400838"/>
            <a:ext cx="37278" cy="3727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930478" y="2419478"/>
            <a:ext cx="16509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863910" y="2480720"/>
            <a:ext cx="37278" cy="3727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930478" y="2499359"/>
            <a:ext cx="16509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2" name="vis:icon"/>
          <p:cNvSpPr/>
          <p:nvPr/>
        </p:nvSpPr>
        <p:spPr>
          <a:xfrm>
            <a:off x="863910" y="2560602"/>
            <a:ext cx="37278" cy="3727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930478" y="2579241"/>
            <a:ext cx="16509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4"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consequence sort</a:t>
            </a:r>
          </a:p>
        </p:txBody>
      </p:sp>
      <p:sp>
        <p:nvSpPr>
          <p:cNvPr id="25"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Stops something, customer notices, blocks a colleague, no consequence.</a:t>
            </a:r>
          </a:p>
        </p:txBody>
      </p:sp>
      <p:sp>
        <p:nvSpPr>
          <p:cNvPr id="26"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icon"/>
          <p:cNvSpPr/>
          <p:nvPr/>
        </p:nvSpPr>
        <p:spPr>
          <a:xfrm>
            <a:off x="861247" y="3284407"/>
            <a:ext cx="234320" cy="234320"/>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9" name="vis:icon"/>
          <p:cNvCxnSpPr/>
          <p:nvPr/>
        </p:nvCxnSpPr>
        <p:spPr>
          <a:xfrm flipV="1">
            <a:off x="978408" y="3332336"/>
            <a:ext cx="0" cy="69232"/>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a:off x="978408" y="3401568"/>
            <a:ext cx="58580" cy="21301"/>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1"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realistic day prompt</a:t>
            </a:r>
          </a:p>
        </p:txBody>
      </p:sp>
      <p:sp>
        <p:nvSpPr>
          <p:cNvPr id="32"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Six hours, estimates halved, and what will not fit.</a:t>
            </a:r>
          </a:p>
        </p:txBody>
      </p:sp>
      <p:sp>
        <p:nvSpPr>
          <p:cNvPr id="33"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icon"/>
          <p:cNvSpPr/>
          <p:nvPr/>
        </p:nvSpPr>
        <p:spPr>
          <a:xfrm>
            <a:off x="872126" y="4211536"/>
            <a:ext cx="212563" cy="198749"/>
          </a:xfrm>
          <a:custGeom>
            <a:avLst/>
            <a:gdLst/>
            <a:ahLst/>
            <a:cxnLst/>
            <a:rect l="l" t="t" r="r" b="b"/>
            <a:pathLst>
              <a:path w="212563" h="198749">
                <a:moveTo>
                  <a:pt x="159536" y="0"/>
                </a:moveTo>
                <a:lnTo>
                  <a:pt x="186359" y="22013"/>
                </a:lnTo>
                <a:lnTo>
                  <a:pt x="204683" y="51480"/>
                </a:lnTo>
                <a:lnTo>
                  <a:pt x="212563" y="85273"/>
                </a:lnTo>
                <a:lnTo>
                  <a:pt x="209162" y="119806"/>
                </a:lnTo>
                <a:lnTo>
                  <a:pt x="194841" y="151413"/>
                </a:lnTo>
                <a:lnTo>
                  <a:pt x="171120" y="176739"/>
                </a:lnTo>
                <a:lnTo>
                  <a:pt x="140518" y="193096"/>
                </a:lnTo>
                <a:lnTo>
                  <a:pt x="106282" y="198749"/>
                </a:lnTo>
                <a:lnTo>
                  <a:pt x="72045" y="193096"/>
                </a:lnTo>
                <a:lnTo>
                  <a:pt x="41443" y="176739"/>
                </a:lnTo>
                <a:lnTo>
                  <a:pt x="17722" y="151413"/>
                </a:lnTo>
                <a:lnTo>
                  <a:pt x="3401" y="119806"/>
                </a:lnTo>
                <a:lnTo>
                  <a:pt x="0" y="85273"/>
                </a:lnTo>
                <a:lnTo>
                  <a:pt x="7880" y="51480"/>
                </a:lnTo>
                <a:lnTo>
                  <a:pt x="26204" y="22013"/>
                </a:lnTo>
                <a:lnTo>
                  <a:pt x="53027" y="0"/>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vis:icon"/>
          <p:cNvSpPr/>
          <p:nvPr/>
        </p:nvSpPr>
        <p:spPr>
          <a:xfrm>
            <a:off x="913171" y="4190343"/>
            <a:ext cx="48994" cy="42071"/>
          </a:xfrm>
          <a:custGeom>
            <a:avLst/>
            <a:gdLst/>
            <a:ahLst/>
            <a:cxnLst/>
            <a:rect l="l" t="t" r="r" b="b"/>
            <a:pathLst>
              <a:path w="48994" h="42071">
                <a:moveTo>
                  <a:pt x="48994" y="0"/>
                </a:moveTo>
                <a:lnTo>
                  <a:pt x="23964" y="42071"/>
                </a:lnTo>
                <a:lnTo>
                  <a:pt x="0" y="533"/>
                </a:lnTo>
                <a:close/>
              </a:path>
            </a:pathLst>
          </a:cu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unsticking prompt</a:t>
            </a:r>
          </a:p>
        </p:txBody>
      </p:sp>
      <p:sp>
        <p:nvSpPr>
          <p:cNvPr id="38"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First five minutes, and the input you are missing.</a:t>
            </a:r>
          </a:p>
        </p:txBody>
      </p:sp>
      <p:sp>
        <p:nvSpPr>
          <p:cNvPr id="39"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LINKS THAT WORK</a:t>
            </a:r>
          </a:p>
        </p:txBody>
      </p:sp>
      <p:sp>
        <p:nvSpPr>
          <p:cNvPr id="40"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339937" y="2300630"/>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8482584" y="2443276"/>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3"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4"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copilot.microsoft.com</a:t>
            </a:r>
          </a:p>
        </p:txBody>
      </p:sp>
      <p:sp>
        <p:nvSpPr>
          <p:cNvPr id="45"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icon"/>
          <p:cNvSpPr/>
          <p:nvPr/>
        </p:nvSpPr>
        <p:spPr>
          <a:xfrm>
            <a:off x="8339937" y="2977286"/>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7" name="vis:icon"/>
          <p:cNvCxnSpPr/>
          <p:nvPr/>
        </p:nvCxnSpPr>
        <p:spPr>
          <a:xfrm>
            <a:off x="8482584" y="3119932"/>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8"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9"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chatgpt.com</a:t>
            </a:r>
          </a:p>
        </p:txBody>
      </p:sp>
      <p:sp>
        <p:nvSpPr>
          <p:cNvPr id="50"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icon"/>
          <p:cNvSpPr/>
          <p:nvPr/>
        </p:nvSpPr>
        <p:spPr>
          <a:xfrm>
            <a:off x="8339937" y="3653942"/>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2" name="vis:icon"/>
          <p:cNvCxnSpPr/>
          <p:nvPr/>
        </p:nvCxnSpPr>
        <p:spPr>
          <a:xfrm>
            <a:off x="8482584" y="3796588"/>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53"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4"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gemini.google.com</a:t>
            </a:r>
          </a:p>
        </p:txBody>
      </p:sp>
      <p:sp>
        <p:nvSpPr>
          <p:cNvPr id="55"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6"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DO THIS NEXT</a:t>
            </a:r>
          </a:p>
        </p:txBody>
      </p:sp>
      <p:sp>
        <p:nvSpPr>
          <p:cNvPr id="57"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a:rPr>
              <a:t>Next module: DW-11, Automation Basics. Spotting the jobs worth automating, and describing one clearly enough for somebody to build it.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DW-10  ·  Planning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Consequence</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actually happens if a task slips. The only reliable way to sort a long list.</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Not-now list</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separate file for items with no consequence, reviewed monthly rather than daily.</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Planning horizon</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How far ahead you can usefully plan. Around three days for most operational roles.</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First action</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concrete five minutes that starts a stuck task.</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your list and the sorting tests you want applied.</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Output</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comes back. A suggested order, which you still decide on.</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