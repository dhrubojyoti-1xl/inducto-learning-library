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ZpXN9M0WLQ4"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layer"/>
          <p:cNvSpPr/>
          <p:nvPr/>
        </p:nvSpPr>
        <p:spPr>
          <a:xfrm>
            <a:off x="7589520" y="3595420"/>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layer"/>
          <p:cNvSpPr/>
          <p:nvPr/>
        </p:nvSpPr>
        <p:spPr>
          <a:xfrm>
            <a:off x="7900416" y="3028492"/>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layer"/>
          <p:cNvSpPr/>
          <p:nvPr/>
        </p:nvSpPr>
        <p:spPr>
          <a:xfrm>
            <a:off x="8211312" y="2461564"/>
            <a:ext cx="2765145" cy="790041"/>
          </a:xfrm>
          <a:prstGeom prst="roundRect">
            <a:avLst>
              <a:gd name="adj" fmla="val 1157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vis:coverlayer"/>
          <p:cNvSpPr/>
          <p:nvPr/>
        </p:nvSpPr>
        <p:spPr>
          <a:xfrm>
            <a:off x="8522208" y="1894636"/>
            <a:ext cx="2765145" cy="790041"/>
          </a:xfrm>
          <a:prstGeom prst="roundRect">
            <a:avLst>
              <a:gd name="adj" fmla="val 1157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960120" y="1477263"/>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9" name="title:cover"/>
          <p:cNvSpPr txBox="1"/>
          <p:nvPr/>
        </p:nvSpPr>
        <p:spPr>
          <a:xfrm>
            <a:off x="960120" y="1934463"/>
            <a:ext cx="5501487" cy="78130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Presentations with AI</a:t>
            </a:r>
          </a:p>
        </p:txBody>
      </p:sp>
      <p:cxnSp>
        <p:nvCxnSpPr>
          <p:cNvPr id="10" name="vis:rule"/>
          <p:cNvCxnSpPr/>
          <p:nvPr/>
        </p:nvCxnSpPr>
        <p:spPr>
          <a:xfrm>
            <a:off x="960120" y="299008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1" name="body:coversub"/>
          <p:cNvSpPr txBox="1"/>
          <p:nvPr/>
        </p:nvSpPr>
        <p:spPr>
          <a:xfrm>
            <a:off x="960120" y="3264408"/>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Get the argument straight before you open PowerPoint. The slides are the easy part.</a:t>
            </a:r>
          </a:p>
        </p:txBody>
      </p:sp>
      <p:sp>
        <p:nvSpPr>
          <p:cNvPr id="12" name="vis:chip"/>
          <p:cNvSpPr/>
          <p:nvPr/>
        </p:nvSpPr>
        <p:spPr>
          <a:xfrm>
            <a:off x="960120" y="4448048"/>
            <a:ext cx="1043559"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vis:chiptext"/>
          <p:cNvSpPr txBox="1"/>
          <p:nvPr/>
        </p:nvSpPr>
        <p:spPr>
          <a:xfrm>
            <a:off x="1115568" y="4493768"/>
            <a:ext cx="7326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DW-06</a:t>
            </a:r>
          </a:p>
        </p:txBody>
      </p:sp>
      <p:sp>
        <p:nvSpPr>
          <p:cNvPr id="14" name="vis:chip"/>
          <p:cNvSpPr/>
          <p:nvPr/>
        </p:nvSpPr>
        <p:spPr>
          <a:xfrm>
            <a:off x="2149983" y="4448048"/>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chiptext"/>
          <p:cNvSpPr txBox="1"/>
          <p:nvPr/>
        </p:nvSpPr>
        <p:spPr>
          <a:xfrm>
            <a:off x="2305431" y="4493768"/>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6" name="vis:chip"/>
          <p:cNvSpPr/>
          <p:nvPr/>
        </p:nvSpPr>
        <p:spPr>
          <a:xfrm>
            <a:off x="3749421" y="444804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text"/>
          <p:cNvSpPr txBox="1"/>
          <p:nvPr/>
        </p:nvSpPr>
        <p:spPr>
          <a:xfrm>
            <a:off x="3904869" y="449376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8"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9"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DW-06  ·  Presentations with AI</a:t>
            </a:r>
          </a:p>
        </p:txBody>
      </p:sp>
      <p:sp>
        <p:nvSpPr>
          <p:cNvPr id="20"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Tanvi builds 34 slides nobody needs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45649" y="2218436"/>
            <a:ext cx="231277" cy="318006"/>
          </a:xfrm>
          <a:prstGeom prst="roundRect">
            <a:avLst>
              <a:gd name="adj" fmla="val 19768"/>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96241" y="2319620"/>
            <a:ext cx="13009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96241" y="2377439"/>
            <a:ext cx="13009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1096241" y="2435259"/>
            <a:ext cx="867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Tanvi prepares a quarterly review for a Mumbai group office. She opens PowerPoint first and builds 34 slides over two evenings. In the meeting she is stopped on slide four and asked the one question the deck never answers.</a:t>
            </a:r>
          </a:p>
        </p:txBody>
      </p:sp>
      <p:sp>
        <p:nvSpPr>
          <p:cNvPr id="23"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Two evenings, and the question still unanswered.</a:t>
            </a:r>
          </a:p>
        </p:txBody>
      </p:sp>
      <p:sp>
        <p:nvSpPr>
          <p:cNvPr id="29"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31"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2"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Settle the argument in ten lines. Then build only what supports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3938" y="196661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1987247"/>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33938" y="205505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07639" y="207568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33938" y="2143492"/>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07639" y="216412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3"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the argument before you open any slide software</a:t>
            </a:r>
          </a:p>
        </p:txBody>
      </p:sp>
      <p:sp>
        <p:nvSpPr>
          <p:cNvPr id="24"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36886" y="2865671"/>
            <a:ext cx="247634" cy="165089"/>
          </a:xfrm>
          <a:prstGeom prst="roundRect">
            <a:avLst>
              <a:gd name="adj" fmla="val 27694"/>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flipH="1">
            <a:off x="984055" y="3030760"/>
            <a:ext cx="11792" cy="6485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984055" y="3030760"/>
            <a:ext cx="64856" cy="6485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9"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a rough argument into a slide-by-slide outline</a:t>
            </a:r>
          </a:p>
        </p:txBody>
      </p:sp>
      <p:sp>
        <p:nvSpPr>
          <p:cNvPr id="30"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925094" y="3761783"/>
            <a:ext cx="271219" cy="212257"/>
          </a:xfrm>
          <a:custGeom>
            <a:avLst/>
            <a:gdLst/>
            <a:ahLst/>
            <a:cxnLst/>
            <a:rect l="l" t="t" r="r" b="b"/>
            <a:pathLst>
              <a:path w="271219" h="212257">
                <a:moveTo>
                  <a:pt x="0" y="106128"/>
                </a:moveTo>
                <a:lnTo>
                  <a:pt x="135610" y="0"/>
                </a:lnTo>
                <a:lnTo>
                  <a:pt x="271219" y="106128"/>
                </a:lnTo>
                <a:lnTo>
                  <a:pt x="135610" y="212257"/>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vis:icon"/>
          <p:cNvSpPr/>
          <p:nvPr/>
        </p:nvSpPr>
        <p:spPr>
          <a:xfrm>
            <a:off x="1019431" y="3826639"/>
            <a:ext cx="82544" cy="8254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Cut a deck to the slides that carry the point</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1004691" y="4637258"/>
            <a:ext cx="112024" cy="11202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942782" y="4793504"/>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Predict the three questions you will actually be asked</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66367" y="5530422"/>
            <a:ext cx="188673" cy="259426"/>
          </a:xfrm>
          <a:prstGeom prst="roundRect">
            <a:avLst>
              <a:gd name="adj" fmla="val 2423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1007639" y="5612967"/>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a:off x="1007639" y="5660136"/>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a:off x="1007639" y="5707304"/>
            <a:ext cx="7075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6"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speaker notes you can genuinely say out loud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Argument before slides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ten-line test</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Outline, then build</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One slide, one point</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Cutting the deck</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Half the slides, same message</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Preparing for questions</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Before you are asked</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Outline a real deck</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review-week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13-minute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ARGUMENT BEFORE SLIDES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Write the argument first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If you cannot say it in ten lines, thirty slides will not rescue it.</a:t>
            </a:r>
          </a:p>
        </p:txBody>
      </p:sp>
      <p:sp>
        <p:nvSpPr>
          <p:cNvPr id="16" name="vis:flowcard"/>
          <p:cNvSpPr/>
          <p:nvPr/>
        </p:nvSpPr>
        <p:spPr>
          <a:xfrm>
            <a:off x="502920"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point</a:t>
            </a:r>
          </a:p>
        </p:txBody>
      </p:sp>
      <p:sp>
        <p:nvSpPr>
          <p:cNvPr id="20" name="vis:flowsub"/>
          <p:cNvSpPr txBox="1"/>
          <p:nvPr/>
        </p:nvSpPr>
        <p:spPr>
          <a:xfrm>
            <a:off x="704088"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One sentence. What you want them to agree with.</a:t>
            </a:r>
          </a:p>
        </p:txBody>
      </p:sp>
      <p:cxnSp>
        <p:nvCxnSpPr>
          <p:cNvPr id="21" name="vis:flowarrow"/>
          <p:cNvCxnSpPr/>
          <p:nvPr/>
        </p:nvCxnSpPr>
        <p:spPr>
          <a:xfrm>
            <a:off x="3093643" y="389534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reasons</a:t>
            </a:r>
          </a:p>
        </p:txBody>
      </p:sp>
      <p:sp>
        <p:nvSpPr>
          <p:cNvPr id="26" name="vis:flowsub"/>
          <p:cNvSpPr txBox="1"/>
          <p:nvPr/>
        </p:nvSpPr>
        <p:spPr>
          <a:xfrm>
            <a:off x="3596563"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Three, no more. Each one defensible.</a:t>
            </a:r>
          </a:p>
        </p:txBody>
      </p:sp>
      <p:cxnSp>
        <p:nvCxnSpPr>
          <p:cNvPr id="27" name="vis:flowarrow"/>
          <p:cNvCxnSpPr/>
          <p:nvPr/>
        </p:nvCxnSpPr>
        <p:spPr>
          <a:xfrm>
            <a:off x="5986119" y="389534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evidence</a:t>
            </a:r>
          </a:p>
        </p:txBody>
      </p:sp>
      <p:sp>
        <p:nvSpPr>
          <p:cNvPr id="32" name="vis:flowsub"/>
          <p:cNvSpPr txBox="1"/>
          <p:nvPr/>
        </p:nvSpPr>
        <p:spPr>
          <a:xfrm>
            <a:off x="6489039"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One figure or example per reason.</a:t>
            </a:r>
          </a:p>
        </p:txBody>
      </p:sp>
      <p:cxnSp>
        <p:nvCxnSpPr>
          <p:cNvPr id="33" name="vis:flowarrow"/>
          <p:cNvCxnSpPr/>
          <p:nvPr/>
        </p:nvCxnSpPr>
        <p:spPr>
          <a:xfrm>
            <a:off x="8878595" y="389534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ask</a:t>
            </a:r>
          </a:p>
        </p:txBody>
      </p:sp>
      <p:sp>
        <p:nvSpPr>
          <p:cNvPr id="38" name="vis:flowsub"/>
          <p:cNvSpPr txBox="1"/>
          <p:nvPr/>
        </p:nvSpPr>
        <p:spPr>
          <a:xfrm>
            <a:off x="9381515"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you want them to decide or 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ARGUMENT BEFORE SLIDES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ten-line test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argument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Below are my rough notes for a presentation. Turn them into an argument in exactly this shape: THE POINT, one sentence. THREE REASONS, one line each. EVIDENCE, one line under each reason. THE ASK, one sentence. Use only my notes. Write [WEAK] beside any reason I have not evidenced.</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Ten lines. If they do not convince you, the deck will not convince anyone.</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[WEAK] shows you which reason will get you stopped.</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Three reasons is a limit, and limits force choices.</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find the hole at your desk, not in the room.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OUTLINE, THEN BUILD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One slide, one point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this argument into a slide outline. One slide per point, maximum eight slides. For each, give me a title that states the point as a full sentence, and one line saying what the visual should show. Do not write slide content and do not suggest stock images.</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A title that states the point is worth more than any layout.</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Eight slide titles that each say something, rather than naming a topic.</a:t>
            </a:r>
          </a:p>
          <a:p>
            <a:pPr algn="l">
              <a:lnSpc>
                <a:spcPts val="1690"/>
              </a:lnSpc>
              <a:spcBef>
                <a:spcPts val="0"/>
              </a:spcBef>
              <a:spcAft>
                <a:spcPts val="600"/>
              </a:spcAft>
            </a:pPr>
            <a:r>
              <a:rPr sz="1300" b="0">
                <a:solidFill>
                  <a:srgbClr val="2A3547"/>
                </a:solidFill>
                <a:latin typeface="Segoe UI"/>
              </a:rPr>
              <a:t>One line per slide telling you what to actually draw or chart.</a:t>
            </a:r>
          </a:p>
          <a:p>
            <a:pPr algn="l">
              <a:lnSpc>
                <a:spcPts val="1690"/>
              </a:lnSpc>
              <a:spcBef>
                <a:spcPts val="0"/>
              </a:spcBef>
              <a:spcAft>
                <a:spcPts val="600"/>
              </a:spcAft>
            </a:pPr>
            <a:r>
              <a:rPr sz="1300" b="0">
                <a:solidFill>
                  <a:srgbClr val="2A3547"/>
                </a:solidFill>
                <a:latin typeface="Segoe UI"/>
              </a:rPr>
              <a:t>A deck you can build in an hour because every decision is made.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OUTLINE, THEN BUILD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Titles that say something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54891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23802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TOPIC TITLES</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"Q3 Performance"</a:t>
            </a:r>
          </a:p>
          <a:p>
            <a:pPr algn="l">
              <a:lnSpc>
                <a:spcPts val="1690"/>
              </a:lnSpc>
              <a:spcBef>
                <a:spcPts val="0"/>
              </a:spcBef>
              <a:spcAft>
                <a:spcPts val="600"/>
              </a:spcAft>
            </a:pPr>
            <a:r>
              <a:rPr sz="1300" b="0">
                <a:solidFill>
                  <a:srgbClr val="2A3547"/>
                </a:solidFill>
                <a:latin typeface="Segoe UI"/>
              </a:rPr>
              <a:t>"Challenges"</a:t>
            </a:r>
          </a:p>
          <a:p>
            <a:pPr algn="l">
              <a:lnSpc>
                <a:spcPts val="1690"/>
              </a:lnSpc>
              <a:spcBef>
                <a:spcPts val="0"/>
              </a:spcBef>
              <a:spcAft>
                <a:spcPts val="600"/>
              </a:spcAft>
            </a:pPr>
            <a:r>
              <a:rPr sz="1300" b="0">
                <a:solidFill>
                  <a:srgbClr val="2A3547"/>
                </a:solidFill>
                <a:latin typeface="Segoe UI"/>
              </a:rPr>
              <a:t>The reader has to work out your point from the chart underneath.</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89128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58038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SENTENCE TITLES</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"Dispatch volumes held, but rejections doubled"</a:t>
            </a:r>
          </a:p>
          <a:p>
            <a:pPr algn="l">
              <a:lnSpc>
                <a:spcPts val="1690"/>
              </a:lnSpc>
              <a:spcBef>
                <a:spcPts val="0"/>
              </a:spcBef>
              <a:spcAft>
                <a:spcPts val="600"/>
              </a:spcAft>
            </a:pPr>
            <a:r>
              <a:rPr sz="1300" b="0">
                <a:solidFill>
                  <a:srgbClr val="2A3547"/>
                </a:solidFill>
                <a:latin typeface="Segoe UI"/>
              </a:rPr>
              <a:t>"Two of six machines are idle waiting for one part"</a:t>
            </a:r>
          </a:p>
          <a:p>
            <a:pPr algn="l">
              <a:lnSpc>
                <a:spcPts val="1690"/>
              </a:lnSpc>
              <a:spcBef>
                <a:spcPts val="0"/>
              </a:spcBef>
              <a:spcAft>
                <a:spcPts val="600"/>
              </a:spcAft>
            </a:pPr>
            <a:r>
              <a:rPr sz="1300" b="0">
                <a:solidFill>
                  <a:srgbClr val="2A3547"/>
                </a:solidFill>
                <a:latin typeface="Segoe UI"/>
              </a:rPr>
              <a:t>Someone reading only the titles understands the whole argument.</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If your titles alone tell the story, the deck works even when it is forwarded without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CUTTING THE DECK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Half the slides, same message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Cut any slide that does not support one of your three reasons.</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Cut the agenda slide. Nobody has ever needed one.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Move anything you would only use if asked into an appendix.</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Merge two slides whenever the second only adds detail.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CUTTING THE DECK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appendix is your friend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96871" y="2190229"/>
            <a:ext cx="219104" cy="301269"/>
          </a:xfrm>
          <a:prstGeom prst="roundRect">
            <a:avLst>
              <a:gd name="adj" fmla="val 20866"/>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44800" y="2286087"/>
            <a:ext cx="12324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44800" y="2340863"/>
            <a:ext cx="12324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44800" y="2395640"/>
            <a:ext cx="82165"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Main deck</a:t>
            </a:r>
          </a:p>
        </p:txBody>
      </p:sp>
      <p:sp>
        <p:nvSpPr>
          <p:cNvPr id="22"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Only what carries the argument. Usually six to eight slides for a routine review.</a:t>
            </a:r>
          </a:p>
        </p:txBody>
      </p:sp>
      <p:sp>
        <p:nvSpPr>
          <p:cNvPr id="23"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837471" y="2203923"/>
            <a:ext cx="178022" cy="287575"/>
          </a:xfrm>
          <a:prstGeom prst="roundRect">
            <a:avLst>
              <a:gd name="adj" fmla="val 2568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4878553" y="2286087"/>
            <a:ext cx="9585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4878553" y="2347711"/>
            <a:ext cx="9585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a:off x="4878553" y="2409334"/>
            <a:ext cx="6847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9"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Appendix</a:t>
            </a:r>
          </a:p>
        </p:txBody>
      </p:sp>
      <p:sp>
        <p:nvSpPr>
          <p:cNvPr id="30"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might be asked for. Nobody penalises you for having it ready.</a:t>
            </a:r>
          </a:p>
        </p:txBody>
      </p:sp>
      <p:sp>
        <p:nvSpPr>
          <p:cNvPr id="31"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589059" y="2217617"/>
            <a:ext cx="314963" cy="246493"/>
          </a:xfrm>
          <a:custGeom>
            <a:avLst/>
            <a:gdLst/>
            <a:ahLst/>
            <a:cxnLst/>
            <a:rect l="l" t="t" r="r" b="b"/>
            <a:pathLst>
              <a:path w="314963" h="246493">
                <a:moveTo>
                  <a:pt x="0" y="123246"/>
                </a:moveTo>
                <a:lnTo>
                  <a:pt x="157481" y="0"/>
                </a:lnTo>
                <a:lnTo>
                  <a:pt x="314963" y="123246"/>
                </a:lnTo>
                <a:lnTo>
                  <a:pt x="157481" y="246493"/>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vis:icon"/>
          <p:cNvSpPr/>
          <p:nvPr/>
        </p:nvSpPr>
        <p:spPr>
          <a:xfrm>
            <a:off x="8698611" y="2292934"/>
            <a:ext cx="95858" cy="95858"/>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Nothing deleted</a:t>
            </a:r>
          </a:p>
        </p:txBody>
      </p:sp>
      <p:sp>
        <p:nvSpPr>
          <p:cNvPr id="36"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Cutting is reordering, not throwing away. That makes it much easier to 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PREPARING FOR QUESTIONS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Know the questions first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Being stopped on slide four is normal. Being unprepared for it is a choice.</a:t>
            </a:r>
          </a:p>
        </p:txBody>
      </p:sp>
      <p:sp>
        <p:nvSpPr>
          <p:cNvPr id="16" name="vis:promptcard"/>
          <p:cNvSpPr/>
          <p:nvPr/>
        </p:nvSpPr>
        <p:spPr>
          <a:xfrm>
            <a:off x="502920" y="2432304"/>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43230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55446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67736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67736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505456"/>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57129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6086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63658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66456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56489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54203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question prompt</a:t>
            </a:r>
          </a:p>
        </p:txBody>
      </p:sp>
      <p:sp>
        <p:nvSpPr>
          <p:cNvPr id="28" name="card:prompt"/>
          <p:cNvSpPr txBox="1"/>
          <p:nvPr/>
        </p:nvSpPr>
        <p:spPr>
          <a:xfrm>
            <a:off x="777240" y="2980944"/>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Here is my argument and the evidence behind it. List the five questions a sceptical senior manager would ask, hardest first. For each, say in one line what evidence would answer it. Do not answer the questions and do not soften them.</a:t>
            </a:r>
          </a:p>
        </p:txBody>
      </p:sp>
      <p:sp>
        <p:nvSpPr>
          <p:cNvPr id="29" name="vis:promptcap"/>
          <p:cNvSpPr txBox="1"/>
          <p:nvPr/>
        </p:nvSpPr>
        <p:spPr>
          <a:xfrm>
            <a:off x="777240" y="4106671"/>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"Hardest first" and "do not soften them" are what make this useful.</a:t>
            </a:r>
          </a:p>
        </p:txBody>
      </p:sp>
      <p:sp>
        <p:nvSpPr>
          <p:cNvPr id="30" name="seclabel"/>
          <p:cNvSpPr txBox="1"/>
          <p:nvPr/>
        </p:nvSpPr>
        <p:spPr>
          <a:xfrm>
            <a:off x="7803910" y="248716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1" name="vis:icon"/>
          <p:cNvCxnSpPr/>
          <p:nvPr/>
        </p:nvCxnSpPr>
        <p:spPr>
          <a:xfrm>
            <a:off x="7850361" y="30306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2970336"/>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287121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find your weakest reason before the room does.</a:t>
            </a:r>
          </a:p>
        </p:txBody>
      </p:sp>
      <p:cxnSp>
        <p:nvCxnSpPr>
          <p:cNvPr id="34" name="vis:icon"/>
          <p:cNvCxnSpPr/>
          <p:nvPr/>
        </p:nvCxnSpPr>
        <p:spPr>
          <a:xfrm>
            <a:off x="7850361" y="396337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390302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380390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"What evidence would answer it" tells you what to go and get.</a:t>
            </a:r>
          </a:p>
        </p:txBody>
      </p:sp>
      <p:cxnSp>
        <p:nvCxnSpPr>
          <p:cNvPr id="37" name="vis:icon"/>
          <p:cNvCxnSpPr/>
          <p:nvPr/>
        </p:nvCxnSpPr>
        <p:spPr>
          <a:xfrm>
            <a:off x="7850361" y="489606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483571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473659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Three of the five usually get asked, almost word for word.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PREPARING FOR QUESTIONS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Speaker notes you can say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For each slide title below, write speaker notes as spoken sentences, maximum 40 words per slide. Write them the way somebody would actually say them out loud, not the way they would be written. No bullet points and no formal phrasing.</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Notes you can read aloud beat notes you have to translate.</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Forty spoken words per slide, in sentences you could say without editing.</a:t>
            </a:r>
          </a:p>
          <a:p>
            <a:pPr algn="l">
              <a:lnSpc>
                <a:spcPts val="1690"/>
              </a:lnSpc>
              <a:spcBef>
                <a:spcPts val="0"/>
              </a:spcBef>
              <a:spcAft>
                <a:spcPts val="600"/>
              </a:spcAft>
            </a:pPr>
            <a:r>
              <a:rPr sz="1300" b="0">
                <a:solidFill>
                  <a:srgbClr val="2A3547"/>
                </a:solidFill>
                <a:latin typeface="Segoe UI"/>
              </a:rPr>
              <a:t>No "it should be noted that", because you asked for spoken English.</a:t>
            </a:r>
          </a:p>
          <a:p>
            <a:pPr algn="l">
              <a:lnSpc>
                <a:spcPts val="1690"/>
              </a:lnSpc>
              <a:spcBef>
                <a:spcPts val="0"/>
              </a:spcBef>
              <a:spcAft>
                <a:spcPts val="600"/>
              </a:spcAft>
            </a:pPr>
            <a:r>
              <a:rPr sz="1300" b="0">
                <a:solidFill>
                  <a:srgbClr val="2A3547"/>
                </a:solidFill>
                <a:latin typeface="Segoe UI"/>
              </a:rPr>
              <a:t>Something you can actually glance at while talking.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outline a deck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Take the next presentation you owe someone.</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your rough notes in any order, for five minutes.</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Run the ten-line argument prompt on them.</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Fix anything marked [WEAK] before you open PowerPoint.</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my notes into an argument: THE POINT (one sentence), THREE REASONS (one line each), EVIDENCE (one line each), THE ASK (one sentence). Use only my notes, add no figures, and mark any unevidenced reason [WEAK].</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Ten minutes here saves two evenings of building.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not to paste in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 review deck usually contains the most commercially sensitive material you handle.</a:t>
            </a:r>
          </a:p>
          <a:p>
            <a:pPr algn="l">
              <a:lnSpc>
                <a:spcPts val="1755"/>
              </a:lnSpc>
              <a:spcBef>
                <a:spcPts val="0"/>
              </a:spcBef>
              <a:spcAft>
                <a:spcPts val="0"/>
              </a:spcAft>
            </a:pPr>
            <a:r>
              <a:rPr sz="1350" b="0">
                <a:solidFill>
                  <a:srgbClr val="FFFFFF"/>
                </a:solidFill>
                <a:latin typeface="Segoe UI"/>
              </a:rPr>
              <a:t>Describe the shape of the numbers instead of pasting them.</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Customer names against revenue or margin</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Unpublished results, forecasts or board figures</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Employee names against performance</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from a contract or a tender response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Opening PowerPoint first</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spend the evening on layout and discover the argument has a hole in the meeting.</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AI to "make a presentation"</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thirty generic slides with headings and no position in any of them.</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Topic titles instead of sentences</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"Q3 Performance" makes the reader do the work. Forwarded without you, it says nothing.</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Using generated images on customer slides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Almost-words and odd details read as carelessness about everything else.</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Skipping the question rehearsal</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hardest question is entirely predictable, and you had ten minutes to predict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Should AI build the slides?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Does the deck carry a decision or a number?</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571079" y="3937040"/>
            <a:ext cx="66568"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637647" y="3860231"/>
            <a:ext cx="122896"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Draft it freely</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Team updates, training material, internal explainers. Let it draft structure and notes, then edit hard.</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7730026"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7863163" y="3967764"/>
            <a:ext cx="61448"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You build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Board papers, customer proposals, budget reviews. Use AI for the argument, the outline and the questions. Build the slides yourself.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good preparation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Ten lines of argument</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Written and tested before anything is designed.</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Eight slide titles</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Each a full sentence that states a point.</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0E6E75"/>
                </a:solidFill>
                <a:latin typeface="Segoe UI Semibold"/>
              </a:rPr>
              <a:t>Five questions rehearsed</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Hardest first, with the evidence located.</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Thirty minutes of this beats two evenings of building, and it is the part that decides whether the meeting goes well.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presentation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If the titles alone do not tell the story, the deck is not finished.</a:t>
            </a:r>
          </a:p>
          <a:p>
            <a:pPr algn="l">
              <a:lnSpc>
                <a:spcPts val="1755"/>
              </a:lnSpc>
              <a:spcBef>
                <a:spcPts val="0"/>
              </a:spcBef>
              <a:spcAft>
                <a:spcPts val="0"/>
              </a:spcAft>
            </a:pPr>
            <a:r>
              <a:rPr sz="1350" b="0">
                <a:solidFill>
                  <a:srgbClr val="FFFFFF"/>
                </a:solidFill>
                <a:latin typeface="Segoe UI"/>
              </a:rPr>
              <a:t>Slides get forwarded without you far more often than you present them.</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Argument first — always.</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slide, one point.</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Titles that say something.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Review week, Tuesday evening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The quarterly review is on Thursday. You have a folder of charts, no structure, and two evenings before you present.</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Start building slides now — there is a lot to get through.</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the ten-line argument first, then build only what supports it.</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AI to generate the whole presentation from your charts.</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Two evenings, and the hole is still there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build 34 slides. On Thursday you are stopped on slide four and asked why rejections rose. The deck covers what happened in detail and never once addresses why, because nobody wrote the argument down.</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Building is not thinking. It only feels like it.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Thirty minutes of thinking, one evening of building</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argument prompt marks one reason [WEAK] — the rejection cause you had assumed. You spend Wednesday morning finding out the real one. The deck is eight slides, and the question you feared is answered on slide three.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Find the hole at your desk. It is much cheaper there.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Fast, generic, and still yours to defend</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thirty tidy slides with topic headings and no position in any of them. It is a starting point, but every slide still needs your judgement, and you have not saved the part that mattered.</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can shape an argument you have. It cannot have one for you.</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Thirteen minutes on AI decks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The Top 1% Build AI Presentations Differently. Here's How.</a:t>
            </a:r>
          </a:p>
        </p:txBody>
      </p:sp>
      <p:sp>
        <p:nvSpPr>
          <p:cNvPr id="19" name="vis:chip"/>
          <p:cNvSpPr/>
          <p:nvPr/>
        </p:nvSpPr>
        <p:spPr>
          <a:xfrm>
            <a:off x="868680" y="3858768"/>
            <a:ext cx="110451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79362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JEFF SU</a:t>
            </a:r>
          </a:p>
        </p:txBody>
      </p:sp>
      <p:sp>
        <p:nvSpPr>
          <p:cNvPr id="21" name="vis:chip"/>
          <p:cNvSpPr/>
          <p:nvPr/>
        </p:nvSpPr>
        <p:spPr>
          <a:xfrm>
            <a:off x="2119503" y="3858768"/>
            <a:ext cx="130200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274951" y="3895344"/>
            <a:ext cx="9911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12:52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comes before opening PowerPoint?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Choosing a template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point, three reasons, evidence and the ask</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Gathering all the charts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Booking the room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Choosing a template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Templates are the last decision, not the first. A beautiful deck with no argument fails in exactly the same way as an ugly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Ten lines of argument.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point, three reasons, evidence and the ask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Ten lines you can test at your desk. If they do not convince you, no amount of slide building will convince the room.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Ten lines of argument.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Gathering all the charts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will gather charts you never use and miss the one you need. The argument tells you which evidence matters.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Ten lines of argument.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Booking the room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Necessary, and it has nothing to do with whether the presentation will work.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Ten lines of argument.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 good slide title?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names the topic in two words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states the point as a full sentence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matches the chart underneath</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short enough to fit on one line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names the topic in two words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"Q3 Performance" makes every reader work out your point for themselves, and they will each reach a different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sentence that states the point.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states the point as a full sentence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"Volumes held, but rejections doubled" carries the message on its own. Read the titles in order and you have the whole argument.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sentence that states the point.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matches the chart underneath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Describing the chart wastes the title. The chart is already visible — the title should say what it means.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sentence that states the point.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is short enough to fit on one 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Useful for layout, irrelevant to whether the title communicates anything. A two-line sentence beats a one-word label.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sentence that states the point.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[WEAK] tell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wording needs improving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 have a reason with no evidence behind it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slide should be deleted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tool disagrees with your reason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wording needs improving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not about wording. It marks a reason you have asserted without evidence, which is a research problem rather than a writing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Which reason will get you stopped.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You have a reason with no evidence behind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exactly where a senior manager will stop you. Finding it at your desk on Tuesday costs you a morning. Finding it on Thursday costs you the meeting.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Which reason will get you stopped.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slide should be deleted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Often the reason is sound and simply unevidenced. Go and get the evidence before deciding to drop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Which reason will get you stopped.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tool disagrees with your reason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has no view on whether you are right. It is flagging that your own notes contain no support for the claim.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Which reason will get you stopped.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does extra detail belong?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main deck, in case it is needed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an appendix after the final slide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Deleted — if it is not central it is not needed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 the speaker notes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In the main deck, in case it is needed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how a six-slide argument becomes 34 slides. Everything you might need buries everything you definitely need.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an appendix, not in the main deck.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In an appendix after the final slide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Ready if asked, invisible if not. It also makes cutting psychologically easy, because nothing is being thrown away.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an appendix, not in the main deck.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Deleted — if it is not central it is not needed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Then you have nothing when the detailed question comes, and detailed questions do come. Move it, do not destroy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an appendix, not in the main deck.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In the speaker notes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Notes are for what you will say, not for evidence you may need to show. A table in a note cannot be put on screen.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In an appendix, not in the main deck.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deck should you build yourself?</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internal training explainer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customer proposal with pricing</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team update on last month's activity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how-to session for new joiners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An internal training explainer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Low risk and repeated. Let it draft the structure and notes, then edit. Nothing here binds the company.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carrying a decision or a number.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customer proposal with pricing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carries commitments and figures, and the material itself should never be pasted anywhere. Use AI for the argument and the likely questions only.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carrying a decision or a number.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team update on last month's activity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Routine and factual. As long as you supply the figures and it adds no causes, this is a good drafting case.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carrying a decision or a number.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how-to session for new joiners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Ideal drafting territory. Structure, outline and spoken notes all save real time, and nothing confidential is involved.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carrying a decision or a number.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Presentations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Argument before slides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Point, three reasons, evidence, ask. Ten lines, at your desk.</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Fix [WEAK] before you build</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 unevidenced reason is where you will be stopped.</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slide, one point</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Eight slides for a routine review is usually plenty.</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Titles that say something</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Read the titles alone and the argument should be complete.</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Appendix, not delete</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Move detail out of the way instead of throwing it away.</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Rehearse the five questions</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Hardest first, with the evidence located before the meeting.</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If the titles alone do not tell the story, the deck is not finished.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400838"/>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19478"/>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863910" y="2480720"/>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930478" y="2499359"/>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863910" y="2560602"/>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930478" y="2579241"/>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4"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ten-line argument prompt</a:t>
            </a:r>
          </a:p>
        </p:txBody>
      </p:sp>
      <p:sp>
        <p:nvSpPr>
          <p:cNvPr id="25"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Point, reasons, evidence, ask, with [WEAK] flags.</a:t>
            </a:r>
          </a:p>
        </p:txBody>
      </p:sp>
      <p:sp>
        <p:nvSpPr>
          <p:cNvPr id="26"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893200" y="3284407"/>
            <a:ext cx="170414" cy="234320"/>
          </a:xfrm>
          <a:prstGeom prst="roundRect">
            <a:avLst>
              <a:gd name="adj" fmla="val 26828"/>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930478" y="3358964"/>
            <a:ext cx="9585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a:off x="930478" y="3401568"/>
            <a:ext cx="9585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a:off x="930478" y="3444171"/>
            <a:ext cx="63906"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slide outline prompt</a:t>
            </a:r>
          </a:p>
        </p:txBody>
      </p:sp>
      <p:sp>
        <p:nvSpPr>
          <p:cNvPr id="33"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Eight sentence titles and what each visual shows.</a:t>
            </a:r>
          </a:p>
        </p:txBody>
      </p:sp>
      <p:sp>
        <p:nvSpPr>
          <p:cNvPr id="34"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927816" y="4189278"/>
            <a:ext cx="101183" cy="101183"/>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871898" y="4330403"/>
            <a:ext cx="213019" cy="93195"/>
          </a:xfrm>
          <a:custGeom>
            <a:avLst/>
            <a:gdLst/>
            <a:ahLst/>
            <a:cxnLst/>
            <a:rect l="l" t="t" r="r" b="b"/>
            <a:pathLst>
              <a:path w="213019" h="93195">
                <a:moveTo>
                  <a:pt x="0" y="93195"/>
                </a:moveTo>
                <a:lnTo>
                  <a:pt x="15977" y="0"/>
                </a:lnTo>
                <a:lnTo>
                  <a:pt x="197042" y="0"/>
                </a:lnTo>
                <a:lnTo>
                  <a:pt x="213019" y="93195"/>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hard-questions prompt</a:t>
            </a:r>
          </a:p>
        </p:txBody>
      </p:sp>
      <p:sp>
        <p:nvSpPr>
          <p:cNvPr id="39"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Five questions, hardest first, unsoftened.</a:t>
            </a:r>
          </a:p>
        </p:txBody>
      </p:sp>
      <p:sp>
        <p:nvSpPr>
          <p:cNvPr id="40"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41"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5"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6"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50"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51"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3"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54"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5"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6"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8"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DW-07, Documentation with AI. Writing an SOP somebody can actually follow without ringing you.</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DW-06  ·  Presentations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Argument</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point you want agreed, the reasons for it, and what you are asking for.</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Sentence title</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slide heading that states the point rather than naming the topic.</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Appendix</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Slides kept after the end, ready if asked, invisible if not.</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Speaker notes</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you will actually say, written as spoken sentences.</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[WEAK]</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marker showing a reason you have asserted without evidence.</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notes, the structure and the constraints.</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