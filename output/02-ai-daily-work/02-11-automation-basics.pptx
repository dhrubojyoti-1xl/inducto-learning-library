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dFSnam97YbQ"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automation.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20320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8" name="title:cover"/>
          <p:cNvSpPr txBox="1"/>
          <p:nvPr/>
        </p:nvSpPr>
        <p:spPr>
          <a:xfrm>
            <a:off x="841248" y="66040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Automation Basics</a:t>
            </a:r>
          </a:p>
        </p:txBody>
      </p:sp>
      <p:cxnSp>
        <p:nvCxnSpPr>
          <p:cNvPr id="9" name="vis:rule"/>
          <p:cNvCxnSpPr/>
          <p:nvPr/>
        </p:nvCxnSpPr>
        <p:spPr>
          <a:xfrm>
            <a:off x="841248" y="244246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716784"/>
            <a:ext cx="4187952" cy="150774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Spotting the jobs worth automating, and describing one clearly enough that somebody can actually build it.</a:t>
            </a:r>
          </a:p>
        </p:txBody>
      </p:sp>
      <p:sp>
        <p:nvSpPr>
          <p:cNvPr id="11" name="vis:chip"/>
          <p:cNvSpPr/>
          <p:nvPr/>
        </p:nvSpPr>
        <p:spPr>
          <a:xfrm>
            <a:off x="841248" y="4626864"/>
            <a:ext cx="9927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4"/>
            <a:ext cx="6818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DW-11</a:t>
            </a:r>
          </a:p>
        </p:txBody>
      </p:sp>
      <p:sp>
        <p:nvSpPr>
          <p:cNvPr id="13" name="vis:chip"/>
          <p:cNvSpPr/>
          <p:nvPr/>
        </p:nvSpPr>
        <p:spPr>
          <a:xfrm>
            <a:off x="1980311"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35759" y="4672584"/>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DW-11  ·  Automation Basics</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same report, 240 times a year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17049" y="2252257"/>
            <a:ext cx="288477" cy="269731"/>
          </a:xfrm>
          <a:custGeom>
            <a:avLst/>
            <a:gdLst/>
            <a:ahLst/>
            <a:cxnLst/>
            <a:rect l="l" t="t" r="r" b="b"/>
            <a:pathLst>
              <a:path w="288477" h="269731">
                <a:moveTo>
                  <a:pt x="216513" y="0"/>
                </a:moveTo>
                <a:lnTo>
                  <a:pt x="252916" y="29875"/>
                </a:lnTo>
                <a:lnTo>
                  <a:pt x="277784" y="69866"/>
                </a:lnTo>
                <a:lnTo>
                  <a:pt x="288477" y="115729"/>
                </a:lnTo>
                <a:lnTo>
                  <a:pt x="283861" y="162594"/>
                </a:lnTo>
                <a:lnTo>
                  <a:pt x="264426" y="205489"/>
                </a:lnTo>
                <a:lnTo>
                  <a:pt x="232234" y="239860"/>
                </a:lnTo>
                <a:lnTo>
                  <a:pt x="190702" y="262060"/>
                </a:lnTo>
                <a:lnTo>
                  <a:pt x="144239" y="269731"/>
                </a:lnTo>
                <a:lnTo>
                  <a:pt x="97775" y="262060"/>
                </a:lnTo>
                <a:lnTo>
                  <a:pt x="56243" y="239860"/>
                </a:lnTo>
                <a:lnTo>
                  <a:pt x="24051" y="205489"/>
                </a:lnTo>
                <a:lnTo>
                  <a:pt x="4616" y="162594"/>
                </a:lnTo>
                <a:lnTo>
                  <a:pt x="0" y="115729"/>
                </a:lnTo>
                <a:lnTo>
                  <a:pt x="10693" y="69866"/>
                </a:lnTo>
                <a:lnTo>
                  <a:pt x="35561" y="29875"/>
                </a:lnTo>
                <a:lnTo>
                  <a:pt x="71964"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072752" y="2223496"/>
            <a:ext cx="66492" cy="57096"/>
          </a:xfrm>
          <a:custGeom>
            <a:avLst/>
            <a:gdLst/>
            <a:ahLst/>
            <a:cxnLst/>
            <a:rect l="l" t="t" r="r" b="b"/>
            <a:pathLst>
              <a:path w="66492" h="57096">
                <a:moveTo>
                  <a:pt x="66492" y="0"/>
                </a:moveTo>
                <a:lnTo>
                  <a:pt x="32523" y="57096"/>
                </a:lnTo>
                <a:lnTo>
                  <a:pt x="0" y="722"/>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Every weekday, someone in a Chennai office downloads two files, pastes them into a third, deletes four columns, and emails the result to six people. It takes 25 minutes. It has been done this way for three years.</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About 100 hours a year, on copying and deleting.</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You do not need to build it. You need to describe it well enough.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25094" y="1969559"/>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19431" y="2034415"/>
            <a:ext cx="82544" cy="8254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Spot which of your regular jobs is worth automating</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30990" y="2842086"/>
            <a:ext cx="259426" cy="259426"/>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69315" y="2880411"/>
            <a:ext cx="182777" cy="18277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4"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the ones that should never be automated</a:t>
            </a:r>
          </a:p>
        </p:txBody>
      </p:sp>
      <p:sp>
        <p:nvSpPr>
          <p:cNvPr id="25"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966367" y="3738198"/>
            <a:ext cx="188673" cy="259426"/>
          </a:xfrm>
          <a:prstGeom prst="roundRect">
            <a:avLst>
              <a:gd name="adj" fmla="val 2423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1007639" y="3820743"/>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a:off x="1007639" y="3867911"/>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a:off x="1007639" y="3915080"/>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1"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request clear enough for somebody to build from</a:t>
            </a:r>
          </a:p>
        </p:txBody>
      </p:sp>
      <p:sp>
        <p:nvSpPr>
          <p:cNvPr id="32"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933938" y="4654947"/>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1007639" y="4675583"/>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6" name="vis:icon"/>
          <p:cNvSpPr/>
          <p:nvPr/>
        </p:nvSpPr>
        <p:spPr>
          <a:xfrm>
            <a:off x="933938" y="4743387"/>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7639" y="4764024"/>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vis:icon"/>
          <p:cNvSpPr/>
          <p:nvPr/>
        </p:nvSpPr>
        <p:spPr>
          <a:xfrm>
            <a:off x="933938" y="4831828"/>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1007639" y="4852464"/>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Describe a process as triggers, steps and exceptions</a:t>
            </a:r>
          </a:p>
        </p:txBody>
      </p:sp>
      <p:sp>
        <p:nvSpPr>
          <p:cNvPr id="41"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933938" y="5527474"/>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what a running automation must never be allowed to 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can be automated</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Rules, not judgement</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Spotting a candidate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Four questions</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Describing it properly</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Trigger, steps, exceptions</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must stay manual</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Where automation hurts</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Describe one real job</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process-review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7-minute outside overview</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CAN BE AUTOMATED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Rules can be automated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If you can write the job as "when this happens, do exactly that", it can be automated. If you cannot, it cannot.</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1702242"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391346"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AUTOMATABLE</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Same input, same action</a:t>
            </a:r>
          </a:p>
        </p:txBody>
      </p:sp>
      <p:cxnSp>
        <p:nvCxnSpPr>
          <p:cNvPr id="21" name="vis:icon"/>
          <p:cNvCxnSpPr/>
          <p:nvPr/>
        </p:nvCxnSpPr>
        <p:spPr>
          <a:xfrm>
            <a:off x="811987" y="414131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V="1">
            <a:off x="859536" y="4086453"/>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Move files that arrive into a dated folder</a:t>
            </a:r>
          </a:p>
        </p:txBody>
      </p:sp>
      <p:cxnSp>
        <p:nvCxnSpPr>
          <p:cNvPr id="24" name="vis:icon"/>
          <p:cNvCxnSpPr/>
          <p:nvPr/>
        </p:nvCxnSpPr>
        <p:spPr>
          <a:xfrm>
            <a:off x="811987" y="458937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859536" y="4534509"/>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Email a report every Monday at eight</a:t>
            </a:r>
          </a:p>
        </p:txBody>
      </p:sp>
      <p:cxnSp>
        <p:nvCxnSpPr>
          <p:cNvPr id="27" name="vis:icon"/>
          <p:cNvCxnSpPr/>
          <p:nvPr/>
        </p:nvCxnSpPr>
        <p:spPr>
          <a:xfrm>
            <a:off x="811987" y="503742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59536" y="4982565"/>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Flag any invoice over a set value</a:t>
            </a:r>
          </a:p>
        </p:txBody>
      </p:sp>
      <p:cxnSp>
        <p:nvCxnSpPr>
          <p:cNvPr id="30" name="vis:icon"/>
          <p:cNvCxnSpPr/>
          <p:nvPr/>
        </p:nvCxnSpPr>
        <p:spPr>
          <a:xfrm>
            <a:off x="811987" y="548548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859536" y="5430621"/>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Copy fields from a form into a sheet</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2103463"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179256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NOT AUTOMATABLE</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Requires a judgement</a:t>
            </a:r>
          </a:p>
        </p:txBody>
      </p:sp>
      <p:cxnSp>
        <p:nvCxnSpPr>
          <p:cNvPr id="38" name="vis:icon"/>
          <p:cNvCxnSpPr/>
          <p:nvPr/>
        </p:nvCxnSpPr>
        <p:spPr>
          <a:xfrm>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H="1">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Decide whether a complaint deserves a credit</a:t>
            </a:r>
          </a:p>
        </p:txBody>
      </p:sp>
      <p:cxnSp>
        <p:nvCxnSpPr>
          <p:cNvPr id="41" name="vis:icon"/>
          <p:cNvCxnSpPr/>
          <p:nvPr/>
        </p:nvCxnSpPr>
        <p:spPr>
          <a:xfrm>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H="1">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Choose which supplier to trust this quarter</a:t>
            </a:r>
          </a:p>
        </p:txBody>
      </p:sp>
      <p:cxnSp>
        <p:nvCxnSpPr>
          <p:cNvPr id="44" name="vis:icon"/>
          <p:cNvCxnSpPr/>
          <p:nvPr/>
        </p:nvCxnSpPr>
        <p:spPr>
          <a:xfrm>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H="1">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Word a difficult message to a client</a:t>
            </a:r>
          </a:p>
        </p:txBody>
      </p:sp>
      <p:cxnSp>
        <p:nvCxnSpPr>
          <p:cNvPr id="47" name="vis:icon"/>
          <p:cNvCxnSpPr/>
          <p:nvPr/>
        </p:nvCxnSpPr>
        <p:spPr>
          <a:xfrm>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H="1">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Decide when a rule should be broken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CAN BE AUTOMATED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three parts of any automation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A trigger</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starts it. A time, a file, an email, a form.</a:t>
            </a:r>
          </a:p>
        </p:txBody>
      </p:sp>
      <p:cxnSp>
        <p:nvCxnSpPr>
          <p:cNvPr id="20" name="vis:flowarrow"/>
          <p:cNvCxnSpPr/>
          <p:nvPr/>
        </p:nvCxnSpPr>
        <p:spPr>
          <a:xfrm>
            <a:off x="3093643"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Steps</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Exactly what happens, in order, with no choices.</a:t>
            </a:r>
          </a:p>
        </p:txBody>
      </p:sp>
      <p:cxnSp>
        <p:nvCxnSpPr>
          <p:cNvPr id="26" name="vis:flowarrow"/>
          <p:cNvCxnSpPr/>
          <p:nvPr/>
        </p:nvCxnSpPr>
        <p:spPr>
          <a:xfrm>
            <a:off x="5986119"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Exceptions</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to do when reality does not match the rule.</a:t>
            </a:r>
          </a:p>
        </p:txBody>
      </p:sp>
      <p:cxnSp>
        <p:nvCxnSpPr>
          <p:cNvPr id="32" name="vis:flowarrow"/>
          <p:cNvCxnSpPr/>
          <p:nvPr/>
        </p:nvCxnSpPr>
        <p:spPr>
          <a:xfrm>
            <a:off x="8878595"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A human</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Who gets told when an exception happens.</a:t>
            </a:r>
          </a:p>
        </p:txBody>
      </p:sp>
      <p:sp>
        <p:nvSpPr>
          <p:cNvPr id="38"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9" name="vis:chip"/>
          <p:cNvSpPr/>
          <p:nvPr/>
        </p:nvSpPr>
        <p:spPr>
          <a:xfrm>
            <a:off x="2221991" y="5660136"/>
            <a:ext cx="1370583"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chiptext"/>
          <p:cNvSpPr txBox="1"/>
          <p:nvPr/>
        </p:nvSpPr>
        <p:spPr>
          <a:xfrm>
            <a:off x="2377439" y="5687568"/>
            <a:ext cx="105968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TRIGGER  ?</a:t>
            </a:r>
          </a:p>
        </p:txBody>
      </p:sp>
      <p:sp>
        <p:nvSpPr>
          <p:cNvPr id="41" name="nav:gloss">
            <a:hlinkClick action="ppaction://hlinksldjump" r:id="rId3"/>
          </p:cNvPr>
          <p:cNvSpPr/>
          <p:nvPr/>
        </p:nvSpPr>
        <p:spPr>
          <a:xfrm>
            <a:off x="2221991" y="5660136"/>
            <a:ext cx="1370583"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SPOTTING A CANDIDATE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questions that find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 I do this more than twice a week?</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 I do it exactly the same way every time?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Would a colleague do it identically from my instructions?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Does it move or reshape data rather than judge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SPOTTING A CANDIDATE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yeses is a candidate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69776" y="2222270"/>
            <a:ext cx="273295" cy="255534"/>
          </a:xfrm>
          <a:custGeom>
            <a:avLst/>
            <a:gdLst/>
            <a:ahLst/>
            <a:cxnLst/>
            <a:rect l="l" t="t" r="r" b="b"/>
            <a:pathLst>
              <a:path w="273295" h="255534">
                <a:moveTo>
                  <a:pt x="205118" y="0"/>
                </a:moveTo>
                <a:lnTo>
                  <a:pt x="239605" y="28302"/>
                </a:lnTo>
                <a:lnTo>
                  <a:pt x="263164" y="66189"/>
                </a:lnTo>
                <a:lnTo>
                  <a:pt x="273295" y="109637"/>
                </a:lnTo>
                <a:lnTo>
                  <a:pt x="268922" y="154036"/>
                </a:lnTo>
                <a:lnTo>
                  <a:pt x="250509" y="194674"/>
                </a:lnTo>
                <a:lnTo>
                  <a:pt x="220012" y="227236"/>
                </a:lnTo>
                <a:lnTo>
                  <a:pt x="180666" y="248267"/>
                </a:lnTo>
                <a:lnTo>
                  <a:pt x="136648" y="255534"/>
                </a:lnTo>
                <a:lnTo>
                  <a:pt x="92629" y="248267"/>
                </a:lnTo>
                <a:lnTo>
                  <a:pt x="53283" y="227236"/>
                </a:lnTo>
                <a:lnTo>
                  <a:pt x="22786" y="194674"/>
                </a:lnTo>
                <a:lnTo>
                  <a:pt x="4373" y="154036"/>
                </a:lnTo>
                <a:lnTo>
                  <a:pt x="0" y="109637"/>
                </a:lnTo>
                <a:lnTo>
                  <a:pt x="10131" y="66189"/>
                </a:lnTo>
                <a:lnTo>
                  <a:pt x="33690" y="28302"/>
                </a:lnTo>
                <a:lnTo>
                  <a:pt x="68177"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22547" y="2195022"/>
            <a:ext cx="62993" cy="54091"/>
          </a:xfrm>
          <a:custGeom>
            <a:avLst/>
            <a:gdLst/>
            <a:ahLst/>
            <a:cxnLst/>
            <a:rect l="l" t="t" r="r" b="b"/>
            <a:pathLst>
              <a:path w="62993" h="54091">
                <a:moveTo>
                  <a:pt x="62993" y="0"/>
                </a:moveTo>
                <a:lnTo>
                  <a:pt x="30812" y="54091"/>
                </a:lnTo>
                <a:lnTo>
                  <a:pt x="0" y="685"/>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Frequent</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Twice a week is 100 times a year. Twenty-five minutes each is a working fortnight.</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779271" y="2214193"/>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4864859" y="2238158"/>
            <a:ext cx="21225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4779271" y="2316899"/>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4864859" y="2340863"/>
            <a:ext cx="21225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4779271" y="2419604"/>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864859" y="2443569"/>
            <a:ext cx="21225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Identical</a:t>
            </a:r>
          </a:p>
        </p:txBody>
      </p:sp>
      <p:sp>
        <p:nvSpPr>
          <p:cNvPr id="30"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If it varies, write down what varies. That is usually the exception list.</a:t>
            </a:r>
          </a:p>
        </p:txBody>
      </p:sp>
      <p:sp>
        <p:nvSpPr>
          <p:cNvPr id="31"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595906" y="2210770"/>
            <a:ext cx="301269" cy="260187"/>
          </a:xfrm>
          <a:prstGeom prst="roundRect">
            <a:avLst>
              <a:gd name="adj" fmla="val 17571"/>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595906" y="2292934"/>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a:off x="8712305" y="2210770"/>
            <a:ext cx="0" cy="26018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8595906" y="2381946"/>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Mechanical</a:t>
            </a:r>
          </a:p>
        </p:txBody>
      </p:sp>
      <p:sp>
        <p:nvSpPr>
          <p:cNvPr id="38"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Copying, moving, renaming, filtering, sending. No decisions in the middle.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DESCRIBING IT PROPERLY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Describe it, do not build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automation requests fail because the description is vague, not because the tool was wrong.</a:t>
            </a:r>
          </a:p>
        </p:txBody>
      </p:sp>
      <p:sp>
        <p:nvSpPr>
          <p:cNvPr id="16" name="vis:promptcard"/>
          <p:cNvSpPr/>
          <p:nvPr/>
        </p:nvSpPr>
        <p:spPr>
          <a:xfrm>
            <a:off x="502920" y="2706624"/>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description prompt</a:t>
            </a:r>
          </a:p>
        </p:txBody>
      </p:sp>
      <p:sp>
        <p:nvSpPr>
          <p:cNvPr id="28" name="card:prompt"/>
          <p:cNvSpPr txBox="1"/>
          <p:nvPr/>
        </p:nvSpPr>
        <p:spPr>
          <a:xfrm>
            <a:off x="777240" y="3255264"/>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Help me describe a manual process so somebody could automate it. Ask me one question at a time until you have: the trigger, every step in order, every exception, and who should be told when an exception happens. Do not suggest tools yet. Start with your first question.</a:t>
            </a:r>
          </a:p>
        </p:txBody>
      </p:sp>
      <p:sp>
        <p:nvSpPr>
          <p:cNvPr id="29" name="vis:promptcap"/>
          <p:cNvSpPr txBox="1"/>
          <p:nvPr/>
        </p:nvSpPr>
        <p:spPr>
          <a:xfrm>
            <a:off x="777240" y="461213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One question at a time is what makes this work.</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Interviewing you finds steps you would not have written down.</a:t>
            </a:r>
          </a:p>
        </p:txBody>
      </p:sp>
      <p:cxnSp>
        <p:nvCxnSpPr>
          <p:cNvPr id="34" name="vis:icon"/>
          <p:cNvCxnSpPr/>
          <p:nvPr/>
        </p:nvCxnSpPr>
        <p:spPr>
          <a:xfrm>
            <a:off x="7850361" y="423769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 tools yet" keeps the focus on the process.</a:t>
            </a:r>
          </a:p>
        </p:txBody>
      </p:sp>
      <p:cxnSp>
        <p:nvCxnSpPr>
          <p:cNvPr id="37" name="vis:icon"/>
          <p:cNvCxnSpPr/>
          <p:nvPr/>
        </p:nvCxnSpPr>
        <p:spPr>
          <a:xfrm>
            <a:off x="7850361" y="517038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end up with a specification, not a wish.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DESCRIBING IT PROPERLY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Vague request, clear request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776126"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465230"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USUALLY GETS ASKED</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"Can we automate the daily report?"</a:t>
            </a:r>
          </a:p>
          <a:p>
            <a:pPr algn="l">
              <a:lnSpc>
                <a:spcPts val="1690"/>
              </a:lnSpc>
              <a:spcBef>
                <a:spcPts val="0"/>
              </a:spcBef>
              <a:spcAft>
                <a:spcPts val="600"/>
              </a:spcAft>
            </a:pPr>
            <a:r>
              <a:rPr sz="1300" b="0">
                <a:solidFill>
                  <a:srgbClr val="2A3547"/>
                </a:solidFill>
                <a:latin typeface="Segoe UI"/>
              </a:rPr>
              <a:t>Nobody knows which files, which columns, or who receives it.</a:t>
            </a:r>
          </a:p>
          <a:p>
            <a:pPr algn="l">
              <a:lnSpc>
                <a:spcPts val="1690"/>
              </a:lnSpc>
              <a:spcBef>
                <a:spcPts val="0"/>
              </a:spcBef>
              <a:spcAft>
                <a:spcPts val="600"/>
              </a:spcAft>
            </a:pPr>
            <a:r>
              <a:rPr sz="1300" b="0">
                <a:solidFill>
                  <a:srgbClr val="2A3547"/>
                </a:solidFill>
                <a:latin typeface="Segoe UI"/>
              </a:rPr>
              <a:t>Three meetings later it is still being discussed.</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944961"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63406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GETS BUILT</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"Every weekday at 07:00, take the two files from this folder..."</a:t>
            </a:r>
          </a:p>
          <a:p>
            <a:pPr algn="l">
              <a:lnSpc>
                <a:spcPts val="1690"/>
              </a:lnSpc>
              <a:spcBef>
                <a:spcPts val="0"/>
              </a:spcBef>
              <a:spcAft>
                <a:spcPts val="600"/>
              </a:spcAft>
            </a:pPr>
            <a:r>
              <a:rPr sz="1300" b="0">
                <a:solidFill>
                  <a:srgbClr val="2A3547"/>
                </a:solidFill>
                <a:latin typeface="Segoe UI"/>
              </a:rPr>
              <a:t>"...remove columns D, F, H and K, merge on order number, email to this group."</a:t>
            </a:r>
          </a:p>
          <a:p>
            <a:pPr algn="l">
              <a:lnSpc>
                <a:spcPts val="1690"/>
              </a:lnSpc>
              <a:spcBef>
                <a:spcPts val="0"/>
              </a:spcBef>
              <a:spcAft>
                <a:spcPts val="600"/>
              </a:spcAft>
            </a:pPr>
            <a:r>
              <a:rPr sz="1300" b="0">
                <a:solidFill>
                  <a:srgbClr val="2A3547"/>
                </a:solidFill>
                <a:latin typeface="Segoe UI"/>
              </a:rPr>
              <a:t>"If either file is missing at 07:15, email me and stop."</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second one can be built by somebody who has never seen your job. That is the whole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MUST STAY MANUAL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automation hurts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Automating an approval</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approval was the control. Automating it removes the only place a human looked.</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Auto-sending to customers</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bad input becomes 400 wrong emails before anybody notices.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Automating a broken process</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now do the wrong thing reliably, at speed, without anyone watching.</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Hiding the exceptions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If nobody is told when it fails, it fails silently for months.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Automating something one person understands</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When they leave, nobody knows what it does or how to stop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MUST STAY MANUAL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rule about approvals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Automate the work. Never automate the check on the work.</a:t>
            </a:r>
          </a:p>
          <a:p>
            <a:pPr algn="l">
              <a:lnSpc>
                <a:spcPts val="1755"/>
              </a:lnSpc>
              <a:spcBef>
                <a:spcPts val="0"/>
              </a:spcBef>
              <a:spcAft>
                <a:spcPts val="0"/>
              </a:spcAft>
            </a:pPr>
            <a:r>
              <a:rPr sz="1350" b="0">
                <a:solidFill>
                  <a:srgbClr val="FFFFFF"/>
                </a:solidFill>
                <a:latin typeface="Segoe UI"/>
              </a:rPr>
              <a:t>If a step exists so that a human looks at something, that step is the point.</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Payments — a person approves.</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Customer messages — a person sends.</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irreversible — a person decides.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describe one job</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Pick the job you do most often that has no thinking in it.</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the interview prompt and answer its questions honestly.</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Add every exception you can remember from the last year.</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Send the result to [COMPANY INPUT NEEDED: who handles automation requests].</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Interview me one question at a time to document a manual process for automation. I need: the trigger, the steps in order, every exception, and who is told when an exception happens. Do not suggest tools. Do not ask for real data. Begin.</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Twenty minutes of questions produces something buildable.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Exceptions are the hard part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is a process description. List every way this could go wrong in practice: missing input, wrong format, duplicate, late arrival, partial data, and anything else. For each, suggest what the automation should do instead of guessing. One line each.</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Most automations fail on the cases nobody listed.</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Ten to fifteen failure cases, several you had not considered.</a:t>
            </a:r>
          </a:p>
          <a:p>
            <a:pPr algn="l">
              <a:lnSpc>
                <a:spcPts val="1690"/>
              </a:lnSpc>
              <a:spcBef>
                <a:spcPts val="0"/>
              </a:spcBef>
              <a:spcAft>
                <a:spcPts val="600"/>
              </a:spcAft>
            </a:pPr>
            <a:r>
              <a:rPr sz="1300" b="0">
                <a:solidFill>
                  <a:srgbClr val="2A3547"/>
                </a:solidFill>
                <a:latin typeface="Segoe UI"/>
              </a:rPr>
              <a:t>A suggested safe behaviour for each, usually "stop and tell a human".</a:t>
            </a:r>
          </a:p>
          <a:p>
            <a:pPr algn="l">
              <a:lnSpc>
                <a:spcPts val="1690"/>
              </a:lnSpc>
              <a:spcBef>
                <a:spcPts val="0"/>
              </a:spcBef>
              <a:spcAft>
                <a:spcPts val="600"/>
              </a:spcAft>
            </a:pPr>
            <a:r>
              <a:rPr sz="1300" b="0">
                <a:solidFill>
                  <a:srgbClr val="2A3547"/>
                </a:solidFill>
                <a:latin typeface="Segoe UI"/>
              </a:rPr>
              <a:t>The list that turns a fragile script into a reliable 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rules for anything running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must stop and tell someone when reality does not match.</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named person owns it, and anyone can switch it off.</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never sends externally without a human pressing send.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never be in the description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Describing a process needs the shape of the data, never the data itself.</a:t>
            </a:r>
          </a:p>
          <a:p>
            <a:pPr algn="l">
              <a:lnSpc>
                <a:spcPts val="1755"/>
              </a:lnSpc>
              <a:spcBef>
                <a:spcPts val="0"/>
              </a:spcBef>
              <a:spcAft>
                <a:spcPts val="0"/>
              </a:spcAft>
            </a:pPr>
            <a:r>
              <a:rPr sz="1350" b="0">
                <a:solidFill>
                  <a:srgbClr val="FFFFFF"/>
                </a:solidFill>
                <a:latin typeface="Segoe UI"/>
              </a:rPr>
              <a:t>Column names and formats are enough for anyone to build from.</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Real customer records used as the example</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Passwords, API keys or shared login details</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Internal system addresses posted outside the company</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Live financial figures used to illustrate a step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Is it worth automating?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Does this cost more than a day a year?</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Leave it alone</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monthly ten-minute job costs two hours a year. Automating it costs more than that to build, document and maintain.</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Write it up</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Twenty-five minutes a day is a hundred hours a year. Even a rough automation that handles the normal case pays for itself in weeks.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automation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If you cannot write it as rules with no choices in the middle, it is not ready to automate.</a:t>
            </a:r>
          </a:p>
          <a:p>
            <a:pPr algn="l">
              <a:lnSpc>
                <a:spcPts val="1755"/>
              </a:lnSpc>
              <a:spcBef>
                <a:spcPts val="0"/>
              </a:spcBef>
              <a:spcAft>
                <a:spcPts val="0"/>
              </a:spcAft>
            </a:pPr>
            <a:r>
              <a:rPr sz="1350" b="0">
                <a:solidFill>
                  <a:srgbClr val="FFFFFF"/>
                </a:solidFill>
                <a:latin typeface="Segoe UI"/>
              </a:rPr>
              <a:t>The writing is the work. Building is usually the easy part afterwards.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Rules — automate.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Judgement — keep.</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Exceptions — always to a human.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Process review, Wednesday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Your manager asks which of your jobs could be automated. You have the daily report, the monthly reconciliation and the credit note approvals.</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Propose automating the credit note approvals — they take longest.</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Propose the daily report, described as trigger, steps and exceptions.</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Say nothing is automatable — every job needs judgement.</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would be removing the control, not the work</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Approvals take time because somebody is looking. Automate that and credit notes issue themselves against rules that cannot see context. The first disputed one has no human decision behind it at all.</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a step exists so a person looks, that step is the point.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Twenty-five minutes a day, and no judgement in it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write it up properly: 07:00 trigger, named folders, exact columns, the recipient group, and "if a file is missing by 07:15, email me and stop". It is built in two days and saves a hundred hours a year.</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Frequent, identical, mechanical. Four yeses is a candidate.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True of parts, and not of the copying</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Real judgement lives in the approvals and the exceptions. But deleting four columns and merging two files involves no judgement whatsoever, and it is a fortnight of your year.</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Separate the judgement from the copying. Automate only the second.</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Seven minutes on how it fits together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From Idea to AI: Building Applications with Generative AI</a:t>
            </a:r>
          </a:p>
        </p:txBody>
      </p:sp>
      <p:sp>
        <p:nvSpPr>
          <p:cNvPr id="19" name="vis:chip"/>
          <p:cNvSpPr/>
          <p:nvPr/>
        </p:nvSpPr>
        <p:spPr>
          <a:xfrm>
            <a:off x="868680" y="3858768"/>
            <a:ext cx="19591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482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IBM TECHNOLOGY</a:t>
            </a:r>
          </a:p>
        </p:txBody>
      </p:sp>
      <p:sp>
        <p:nvSpPr>
          <p:cNvPr id="21" name="vis:chip"/>
          <p:cNvSpPr/>
          <p:nvPr/>
        </p:nvSpPr>
        <p:spPr>
          <a:xfrm>
            <a:off x="2974163" y="3858768"/>
            <a:ext cx="12016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129611" y="3895344"/>
            <a:ext cx="8907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7:12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Aimed at people building systems. Watch for the overview, not for the rules — those are in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You do not need to build anything yourself.</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for understanding what you are asking for.</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job can be automated?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Deciding whether a complaint deserves a credit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Merging two files and emailing the result each morning</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Choosing which supplier to use this quarter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Wording a reply to an unhappy customer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Deciding whether a complaint deserves a credit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 judgement weighing history, relationship and context. A rule can flag candidates for a person to look at, but it cannot make the call.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Rules yes, judgement no.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Merging two files and emailing the result each morning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Same trigger, same steps, same output, no decisions in the middle. Twenty-five minutes a day is a hundred hours a year for a process with no thinking in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Rules yes, judgement no.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Choosing which supplier to use this quarter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commercial judgement with money and relationships attached. Automation could assemble the comparison, but the choice stays with a person.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Rules yes, judgement no.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Wording a reply to an unhappy customer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 one is different and the tone depends on context a rule cannot see. Draft it with AI by all means, but a person sends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Rules yes, judgement no.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the hard part of a spec?</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Choosing the right tool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Listing what happens when reality does not match</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Writing the steps in order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Estimating the time saved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Choosing the right tool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Tool choice is usually the easiest decision and belongs to whoever builds it. A clear description makes the tool almost obvious.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exceptions, not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Listing what happens when reality does not match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Normal-case steps take ten minutes to write. Missing files, duplicates, wrong formats and late arrivals are where automations actually fail, usually silently.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exceptions, not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Writing the steps in order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already know the order, because you do it every day. Getting it out of your head is quick with a good interview prompt.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exceptions, not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Estimating the time saved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Straightforward arithmetic: minutes times frequency. Useful for making the case, and not the hard part of the specification.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exceptions, not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an automation always do?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Run without any human involvement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Stop and notify a person when something is wrong</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Log everything it does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Be built by the IT team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Run without any human involvement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goal for the normal case and a serious risk for the abnormal one. Something running unattended with no failure route fails silently for months.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Stop and tell someone.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Stop and notify a person when something is wrong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 automation meets a case nobody predicted. Stopping and telling a named person turns a silent failure into a five-minute fix.</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Stop and tell someone.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Log everything it does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Good practice and not sufficient. A log nobody reads does not help when the report has been wrong for three weeks.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Stop and tell someone.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Be built by the IT team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Who builds it matters far less than whether the exceptions were described and somebody is named as its owner.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Stop and tell someone.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should stay manual?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Moving arriving files into dated folders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Approving a payment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Emailing a fixed report to a fixed group</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Flagging invoices over a threshold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Moving arriving files into dated folders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Purely mechanical, high frequency, no judgement. One of the easiest and safest things to automate.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exists so a human looks.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Approving a payment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approval is a control, not a task. Its whole purpose is that a person looked before money moved, and automating it removes the only check in the chain.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exists so a human looks.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Emailing a fixed report to a fixed group</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Fine to automate internally, as long as it stops and tells somebody when an input is missing rather than sending an empty report.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exists so a human looks.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Flagging invoices over a threshold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Flagging is ideal automation — a rule with no judgement. What happens after the flag is where the person comes 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exists so a human looks.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Is a monthly ten-minute job worth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Yes — all repetition should be automated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 — it costs more to build and maintain than it saves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Yes, if it is easy to build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if a customer sees the output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Yes — all repetition should be automated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hours a year does not repay the time to specify, build, document and maintain it. Automations also need looking after, and rare ones get forgotten.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hours a year rarely pays for the build.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No — it costs more to build and maintain than it saves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Ten minutes monthly is two hours a year. Specifying and building it costs more than that, and then somebody has to remember what it does when it breaks next year.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hours a year rarely pays for the build.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Yes, if it is easy to build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Ease of building is only part of the cost. Every running automation carries ongoing maintenance and the risk of failing quietly.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hours a year rarely pays for the build.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Only if a customer sees the output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Customer-facing output is a reason for more caution, not less. It is also a reason to keep a human pressing send.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Two hours a year rarely pays for the build.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Automation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Rules can be automated</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"When this happens, do exactly that." If you cannot write it that way, it is not ready.</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questions find a candidate</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Frequent, identical, transferable, mechanical. Four yeses and it is worth writing up.</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Describe, do not build</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Trigger, steps in order, exceptions, and who gets told.</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Exceptions are the real work</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Missing files, duplicates and wrong formats are where things fail silently.</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automate the check</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If a step exists so a person looks, that step is the whole point.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Someone owns it, someone can stop it</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Named owner, documented purpose, and an off switch anyone can use.</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Automate the copying. Keep the judgement. Send every exception to a human.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6573" y="2403501"/>
            <a:ext cx="223669" cy="149113"/>
          </a:xfrm>
          <a:prstGeom prst="roundRect">
            <a:avLst>
              <a:gd name="adj" fmla="val 30661"/>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909176" y="2552614"/>
            <a:ext cx="10651" cy="5858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09176" y="2552614"/>
            <a:ext cx="58581" cy="5858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interview prompt</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question at a time until the process is documented.</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55922" y="3284407"/>
            <a:ext cx="244971" cy="223670"/>
          </a:xfrm>
          <a:custGeom>
            <a:avLst/>
            <a:gdLst/>
            <a:ahLst/>
            <a:cxnLst/>
            <a:rect l="l" t="t" r="r" b="b"/>
            <a:pathLst>
              <a:path w="244971" h="223670">
                <a:moveTo>
                  <a:pt x="122486" y="0"/>
                </a:moveTo>
                <a:lnTo>
                  <a:pt x="244971" y="223670"/>
                </a:lnTo>
                <a:lnTo>
                  <a:pt x="0" y="223670"/>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3369615"/>
            <a:ext cx="0" cy="6656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5094" y="3460148"/>
            <a:ext cx="26627" cy="26627"/>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exception prompt</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way it could go wrong, and what to do instead.</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82549" y="4309101"/>
            <a:ext cx="69231" cy="6923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951780" y="4229219"/>
            <a:ext cx="127811" cy="149113"/>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four-question test</a:t>
            </a:r>
          </a:p>
        </p:txBody>
      </p:sp>
      <p:sp>
        <p:nvSpPr>
          <p:cNvPr id="35"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Frequent, identical, transferable, mechanical.</a:t>
            </a:r>
          </a:p>
        </p:txBody>
      </p:sp>
      <p:sp>
        <p:nvSpPr>
          <p:cNvPr id="36"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37"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1"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2"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5"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6"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47"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8"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9"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0"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1"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2"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3"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4"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track: PS-01, Business Communication. The skills that decide whether any of this writing actually lands.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DW-11  ·  Automation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Trigger</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starts an automation: a time, a file arriving, an email, a form submission.</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Exception</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case where reality does not match the rule. The automation should stop and tell someone.</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Specification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description clear enough that somebody who has never seen your job could build it.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Owner</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named person responsible for an automation and for switching it off.</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Judgement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decision needing context a rule cannot see. Never automated.</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process description and the constraints.</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