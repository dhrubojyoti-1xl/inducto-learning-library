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9.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49.xml"/><Relationship Id="rId11" Type="http://schemas.openxmlformats.org/officeDocument/2006/relationships/slide" Target="slide5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0.xml"/><Relationship Id="rId4" Type="http://schemas.openxmlformats.org/officeDocument/2006/relationships/slide" Target="slide21.xml"/><Relationship Id="rId5" Type="http://schemas.openxmlformats.org/officeDocument/2006/relationships/slide" Target="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LuHx6KdQPHQ" TargetMode="External"/><Relationship Id="rId3"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5.xml"/><Relationship Id="rId4" Type="http://schemas.openxmlformats.org/officeDocument/2006/relationships/slide" Target="slide26.xml"/><Relationship Id="rId5" Type="http://schemas.openxmlformats.org/officeDocument/2006/relationships/slide" Target="slide27.xml"/><Relationship Id="rId6" Type="http://schemas.openxmlformats.org/officeDocument/2006/relationships/slide" Target="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0.xml"/><Relationship Id="rId4" Type="http://schemas.openxmlformats.org/officeDocument/2006/relationships/slide" Target="slide31.xml"/><Relationship Id="rId5" Type="http://schemas.openxmlformats.org/officeDocument/2006/relationships/slide" Target="slide32.xml"/><Relationship Id="rId6" Type="http://schemas.openxmlformats.org/officeDocument/2006/relationships/slide" Target="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5.xml"/><Relationship Id="rId4" Type="http://schemas.openxmlformats.org/officeDocument/2006/relationships/slide" Target="slide36.xml"/><Relationship Id="rId5" Type="http://schemas.openxmlformats.org/officeDocument/2006/relationships/slide" Target="slide37.xml"/><Relationship Id="rId6" Type="http://schemas.openxmlformats.org/officeDocument/2006/relationships/slide" Target="slide3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0.xml"/><Relationship Id="rId4" Type="http://schemas.openxmlformats.org/officeDocument/2006/relationships/slide" Target="slide41.xml"/><Relationship Id="rId5" Type="http://schemas.openxmlformats.org/officeDocument/2006/relationships/slide" Target="slide42.xml"/><Relationship Id="rId6" Type="http://schemas.openxmlformats.org/officeDocument/2006/relationships/slide" Target="slide4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5.xml"/><Relationship Id="rId4" Type="http://schemas.openxmlformats.org/officeDocument/2006/relationships/slide" Target="slide46.xml"/><Relationship Id="rId5" Type="http://schemas.openxmlformats.org/officeDocument/2006/relationships/slide" Target="slide47.xml"/><Relationship Id="rId6" Type="http://schemas.openxmlformats.org/officeDocument/2006/relationships/slide" Target="slide4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9.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hatgpt.com" TargetMode="External"/><Relationship Id="rId3" Type="http://schemas.openxmlformats.org/officeDocument/2006/relationships/hyperlink" Target="https://copilot.microsof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coverspine"/>
          <p:cNvSpPr/>
          <p:nvPr/>
        </p:nvSpPr>
        <p:spPr>
          <a:xfrm>
            <a:off x="0" y="0"/>
            <a:ext cx="201168" cy="685800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 name="vis:coverline"/>
          <p:cNvCxnSpPr/>
          <p:nvPr/>
        </p:nvCxnSpPr>
        <p:spPr>
          <a:xfrm>
            <a:off x="8203996" y="2278684"/>
            <a:ext cx="998525" cy="658368"/>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cxnSp>
        <p:nvCxnSpPr>
          <p:cNvPr id="5" name="vis:coverline"/>
          <p:cNvCxnSpPr/>
          <p:nvPr/>
        </p:nvCxnSpPr>
        <p:spPr>
          <a:xfrm flipV="1">
            <a:off x="7973568" y="2937052"/>
            <a:ext cx="1228953" cy="658368"/>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cxnSp>
        <p:nvCxnSpPr>
          <p:cNvPr id="6" name="vis:coverline"/>
          <p:cNvCxnSpPr/>
          <p:nvPr/>
        </p:nvCxnSpPr>
        <p:spPr>
          <a:xfrm>
            <a:off x="9202521" y="2937052"/>
            <a:ext cx="76810" cy="1316736"/>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cxnSp>
        <p:nvCxnSpPr>
          <p:cNvPr id="7" name="vis:coverline"/>
          <p:cNvCxnSpPr/>
          <p:nvPr/>
        </p:nvCxnSpPr>
        <p:spPr>
          <a:xfrm flipV="1">
            <a:off x="9202521" y="2212848"/>
            <a:ext cx="1152144" cy="724204"/>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cxnSp>
        <p:nvCxnSpPr>
          <p:cNvPr id="8" name="vis:coverline"/>
          <p:cNvCxnSpPr/>
          <p:nvPr/>
        </p:nvCxnSpPr>
        <p:spPr>
          <a:xfrm>
            <a:off x="9202521" y="2937052"/>
            <a:ext cx="1305763" cy="658368"/>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cxnSp>
        <p:nvCxnSpPr>
          <p:cNvPr id="9" name="vis:coverline"/>
          <p:cNvCxnSpPr/>
          <p:nvPr/>
        </p:nvCxnSpPr>
        <p:spPr>
          <a:xfrm>
            <a:off x="10354665" y="2212848"/>
            <a:ext cx="921715" cy="658368"/>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cxnSp>
        <p:nvCxnSpPr>
          <p:cNvPr id="10" name="vis:coverline"/>
          <p:cNvCxnSpPr/>
          <p:nvPr/>
        </p:nvCxnSpPr>
        <p:spPr>
          <a:xfrm flipV="1">
            <a:off x="10508284" y="2871216"/>
            <a:ext cx="768096" cy="724204"/>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cxnSp>
        <p:nvCxnSpPr>
          <p:cNvPr id="11" name="vis:coverline"/>
          <p:cNvCxnSpPr/>
          <p:nvPr/>
        </p:nvCxnSpPr>
        <p:spPr>
          <a:xfrm flipV="1">
            <a:off x="9279331" y="3595420"/>
            <a:ext cx="1228953" cy="658368"/>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2" name="vis:covernode"/>
          <p:cNvSpPr/>
          <p:nvPr/>
        </p:nvSpPr>
        <p:spPr>
          <a:xfrm>
            <a:off x="8139988" y="2214676"/>
            <a:ext cx="128016" cy="12801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3" name="vis:covernode"/>
          <p:cNvSpPr/>
          <p:nvPr/>
        </p:nvSpPr>
        <p:spPr>
          <a:xfrm>
            <a:off x="7909560" y="3531412"/>
            <a:ext cx="128016" cy="12801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 name="vis:covernode"/>
          <p:cNvSpPr/>
          <p:nvPr/>
        </p:nvSpPr>
        <p:spPr>
          <a:xfrm>
            <a:off x="9065361" y="2799892"/>
            <a:ext cx="274320" cy="27432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covernode"/>
          <p:cNvSpPr/>
          <p:nvPr/>
        </p:nvSpPr>
        <p:spPr>
          <a:xfrm>
            <a:off x="9215323" y="4189780"/>
            <a:ext cx="128016" cy="12801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overnode"/>
          <p:cNvSpPr/>
          <p:nvPr/>
        </p:nvSpPr>
        <p:spPr>
          <a:xfrm>
            <a:off x="10263225" y="2121408"/>
            <a:ext cx="182880" cy="18288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overnode"/>
          <p:cNvSpPr/>
          <p:nvPr/>
        </p:nvSpPr>
        <p:spPr>
          <a:xfrm>
            <a:off x="10416844" y="3503980"/>
            <a:ext cx="182880" cy="18288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overnode"/>
          <p:cNvSpPr/>
          <p:nvPr/>
        </p:nvSpPr>
        <p:spPr>
          <a:xfrm>
            <a:off x="11212372" y="2807208"/>
            <a:ext cx="128016" cy="12801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seclabel"/>
          <p:cNvSpPr txBox="1"/>
          <p:nvPr/>
        </p:nvSpPr>
        <p:spPr>
          <a:xfrm>
            <a:off x="960120" y="932434"/>
            <a:ext cx="5501487"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AI FOR DAY-TO-DAY WORK</a:t>
            </a:r>
          </a:p>
        </p:txBody>
      </p:sp>
      <p:sp>
        <p:nvSpPr>
          <p:cNvPr id="20" name="title:cover"/>
          <p:cNvSpPr txBox="1"/>
          <p:nvPr/>
        </p:nvSpPr>
        <p:spPr>
          <a:xfrm>
            <a:off x="960120" y="1389634"/>
            <a:ext cx="5501487" cy="150774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Brainstorming with AI</a:t>
            </a:r>
          </a:p>
        </p:txBody>
      </p:sp>
      <p:cxnSp>
        <p:nvCxnSpPr>
          <p:cNvPr id="21" name="vis:rule"/>
          <p:cNvCxnSpPr/>
          <p:nvPr/>
        </p:nvCxnSpPr>
        <p:spPr>
          <a:xfrm>
            <a:off x="960120" y="3171698"/>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2" name="body:coversub"/>
          <p:cNvSpPr txBox="1"/>
          <p:nvPr/>
        </p:nvSpPr>
        <p:spPr>
          <a:xfrm>
            <a:off x="960120" y="3446018"/>
            <a:ext cx="5501487" cy="114452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Twenty options in two minutes, and a way to tell which three are actually worth your time.</a:t>
            </a:r>
          </a:p>
        </p:txBody>
      </p:sp>
      <p:sp>
        <p:nvSpPr>
          <p:cNvPr id="23" name="vis:chip"/>
          <p:cNvSpPr/>
          <p:nvPr/>
        </p:nvSpPr>
        <p:spPr>
          <a:xfrm>
            <a:off x="960120" y="4992878"/>
            <a:ext cx="1043559" cy="310896"/>
          </a:xfrm>
          <a:prstGeom prst="roundRect">
            <a:avLst>
              <a:gd name="adj" fmla="val 14705"/>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chiptext"/>
          <p:cNvSpPr txBox="1"/>
          <p:nvPr/>
        </p:nvSpPr>
        <p:spPr>
          <a:xfrm>
            <a:off x="1115568" y="5038598"/>
            <a:ext cx="73266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DW-09</a:t>
            </a:r>
          </a:p>
        </p:txBody>
      </p:sp>
      <p:sp>
        <p:nvSpPr>
          <p:cNvPr id="25" name="vis:chip"/>
          <p:cNvSpPr/>
          <p:nvPr/>
        </p:nvSpPr>
        <p:spPr>
          <a:xfrm>
            <a:off x="2149983" y="4992878"/>
            <a:ext cx="145630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text"/>
          <p:cNvSpPr txBox="1"/>
          <p:nvPr/>
        </p:nvSpPr>
        <p:spPr>
          <a:xfrm>
            <a:off x="2305431" y="5038598"/>
            <a:ext cx="11454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16 MINUTES</a:t>
            </a:r>
          </a:p>
        </p:txBody>
      </p:sp>
      <p:sp>
        <p:nvSpPr>
          <p:cNvPr id="27" name="vis:chip"/>
          <p:cNvSpPr/>
          <p:nvPr/>
        </p:nvSpPr>
        <p:spPr>
          <a:xfrm>
            <a:off x="3752596" y="4992878"/>
            <a:ext cx="230202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chiptext"/>
          <p:cNvSpPr txBox="1"/>
          <p:nvPr/>
        </p:nvSpPr>
        <p:spPr>
          <a:xfrm>
            <a:off x="3908044" y="5038598"/>
            <a:ext cx="19911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NEW JOINERS + STAFF</a:t>
            </a:r>
          </a:p>
        </p:txBody>
      </p:sp>
      <p:sp>
        <p:nvSpPr>
          <p:cNvPr id="29" name="cell:coverhint"/>
          <p:cNvSpPr txBox="1"/>
          <p:nvPr/>
        </p:nvSpPr>
        <p:spPr>
          <a:xfrm>
            <a:off x="960120" y="5724144"/>
            <a:ext cx="5501487"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30"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DW-09  ·  Brainstorming with AI</a:t>
            </a:r>
          </a:p>
        </p:txBody>
      </p:sp>
      <p:sp>
        <p:nvSpPr>
          <p:cNvPr id="31"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same four ideas, every time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52876" y="2218436"/>
            <a:ext cx="216822" cy="21682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103468" y="2464169"/>
            <a:ext cx="11563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1117923" y="2521988"/>
            <a:ext cx="8672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1"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A cost-reduction meeting in Ahmedabad runs every month. The same four ideas come up, in the same order, from the same three people. Everyone knows they are not enough. Nobody arrives with a fifth.</a:t>
            </a:r>
          </a:p>
        </p:txBody>
      </p:sp>
      <p:sp>
        <p:nvSpPr>
          <p:cNvPr id="22"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Twelve meetings a year, four ideas, none of them new.</a:t>
            </a:r>
          </a:p>
        </p:txBody>
      </p:sp>
      <p:sp>
        <p:nvSpPr>
          <p:cNvPr id="28"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AFTER THIS MODULE</a:t>
            </a:r>
          </a:p>
        </p:txBody>
      </p:sp>
      <p:cxnSp>
        <p:nvCxnSpPr>
          <p:cNvPr id="30"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1"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Twenty starting points in two minutes, so the room argues instead of stalling.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72263" y="1945974"/>
            <a:ext cx="176881" cy="176881"/>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13535" y="2146440"/>
            <a:ext cx="94337"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a:off x="1025327" y="2193609"/>
            <a:ext cx="70753"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0"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Get twenty usable starting points in under two minutes</a:t>
            </a:r>
          </a:p>
        </p:txBody>
      </p:sp>
      <p:sp>
        <p:nvSpPr>
          <p:cNvPr id="21"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930990" y="2842086"/>
            <a:ext cx="259426" cy="259426"/>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969315" y="2880411"/>
            <a:ext cx="182777" cy="18277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5"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Ask for bad ideas on purpose, and see why it works</a:t>
            </a:r>
          </a:p>
        </p:txBody>
      </p:sp>
      <p:sp>
        <p:nvSpPr>
          <p:cNvPr id="26"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icon"/>
          <p:cNvSpPr/>
          <p:nvPr/>
        </p:nvSpPr>
        <p:spPr>
          <a:xfrm>
            <a:off x="933938" y="3758835"/>
            <a:ext cx="41272" cy="412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9" name="vis:icon"/>
          <p:cNvCxnSpPr/>
          <p:nvPr/>
        </p:nvCxnSpPr>
        <p:spPr>
          <a:xfrm>
            <a:off x="1007639" y="3779471"/>
            <a:ext cx="18277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0" name="vis:icon"/>
          <p:cNvSpPr/>
          <p:nvPr/>
        </p:nvSpPr>
        <p:spPr>
          <a:xfrm>
            <a:off x="933938" y="3847275"/>
            <a:ext cx="41272" cy="412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1" name="vis:icon"/>
          <p:cNvCxnSpPr/>
          <p:nvPr/>
        </p:nvCxnSpPr>
        <p:spPr>
          <a:xfrm>
            <a:off x="1007639" y="3867911"/>
            <a:ext cx="18277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2" name="vis:icon"/>
          <p:cNvSpPr/>
          <p:nvPr/>
        </p:nvSpPr>
        <p:spPr>
          <a:xfrm>
            <a:off x="933938" y="3935716"/>
            <a:ext cx="41272" cy="412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1007639" y="3956352"/>
            <a:ext cx="18277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4"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Sort twenty ideas down to three without a long debate</a:t>
            </a:r>
          </a:p>
        </p:txBody>
      </p:sp>
      <p:sp>
        <p:nvSpPr>
          <p:cNvPr id="35"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1004691" y="4637258"/>
            <a:ext cx="112024" cy="112024"/>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icon"/>
          <p:cNvSpPr/>
          <p:nvPr/>
        </p:nvSpPr>
        <p:spPr>
          <a:xfrm>
            <a:off x="942782" y="4793504"/>
            <a:ext cx="235843" cy="103181"/>
          </a:xfrm>
          <a:custGeom>
            <a:avLst/>
            <a:gdLst/>
            <a:ahLst/>
            <a:cxnLst/>
            <a:rect l="l" t="t" r="r" b="b"/>
            <a:pathLst>
              <a:path w="235843" h="103181">
                <a:moveTo>
                  <a:pt x="0" y="103181"/>
                </a:moveTo>
                <a:lnTo>
                  <a:pt x="17689" y="0"/>
                </a:lnTo>
                <a:lnTo>
                  <a:pt x="218154" y="0"/>
                </a:lnTo>
                <a:lnTo>
                  <a:pt x="235843" y="103181"/>
                </a:lnTo>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Use it to break a deadlock between two entrenched views</a:t>
            </a:r>
          </a:p>
        </p:txBody>
      </p:sp>
      <p:sp>
        <p:nvSpPr>
          <p:cNvPr id="40"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vis:icon"/>
          <p:cNvSpPr/>
          <p:nvPr/>
        </p:nvSpPr>
        <p:spPr>
          <a:xfrm>
            <a:off x="925094" y="5554007"/>
            <a:ext cx="271219" cy="212257"/>
          </a:xfrm>
          <a:custGeom>
            <a:avLst/>
            <a:gdLst/>
            <a:ahLst/>
            <a:cxnLst/>
            <a:rect l="l" t="t" r="r" b="b"/>
            <a:pathLst>
              <a:path w="271219" h="212257">
                <a:moveTo>
                  <a:pt x="0" y="106129"/>
                </a:moveTo>
                <a:lnTo>
                  <a:pt x="135610" y="0"/>
                </a:lnTo>
                <a:lnTo>
                  <a:pt x="271219" y="106129"/>
                </a:lnTo>
                <a:lnTo>
                  <a:pt x="135610" y="212257"/>
                </a:lnTo>
                <a:close/>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vis:icon"/>
          <p:cNvSpPr/>
          <p:nvPr/>
        </p:nvSpPr>
        <p:spPr>
          <a:xfrm>
            <a:off x="1019431" y="5618863"/>
            <a:ext cx="82544" cy="82544"/>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Recognise the ideas it produces that are quietly impossible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Quantity first</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Why twenty beats four</a:t>
            </a:r>
          </a:p>
        </p:txBody>
      </p:sp>
      <p:cxnSp>
        <p:nvCxnSpPr>
          <p:cNvPr id="13" name="vis:menuarrow"/>
          <p:cNvCxnSpPr/>
          <p:nvPr/>
        </p:nvCxnSpPr>
        <p:spPr>
          <a:xfrm>
            <a:off x="11213287" y="1997049"/>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Asking for range</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Safe, odd and impossible</a:t>
            </a:r>
          </a:p>
        </p:txBody>
      </p:sp>
      <p:cxnSp>
        <p:nvCxnSpPr>
          <p:cNvPr id="19" name="vis:menuarrow"/>
          <p:cNvCxnSpPr/>
          <p:nvPr/>
        </p:nvCxnSpPr>
        <p:spPr>
          <a:xfrm>
            <a:off x="11213287" y="2424988"/>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Sorting fast</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Twenty down to three</a:t>
            </a:r>
          </a:p>
        </p:txBody>
      </p:sp>
      <p:cxnSp>
        <p:nvCxnSpPr>
          <p:cNvPr id="25" name="vis:menuarrow"/>
          <p:cNvCxnSpPr/>
          <p:nvPr/>
        </p:nvCxnSpPr>
        <p:spPr>
          <a:xfrm>
            <a:off x="11213287" y="2852928"/>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Breaking a deadlock</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When two people are stuck</a:t>
            </a:r>
          </a:p>
        </p:txBody>
      </p:sp>
      <p:cxnSp>
        <p:nvCxnSpPr>
          <p:cNvPr id="31" name="vis:menuarrow"/>
          <p:cNvCxnSpPr/>
          <p:nvPr/>
        </p:nvCxnSpPr>
        <p:spPr>
          <a:xfrm>
            <a:off x="11213287" y="3280867"/>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Generate on a real problem</a:t>
            </a:r>
          </a:p>
        </p:txBody>
      </p:sp>
      <p:cxnSp>
        <p:nvCxnSpPr>
          <p:cNvPr id="37" name="vis:menuarrow"/>
          <p:cNvCxnSpPr/>
          <p:nvPr/>
        </p:nvCxnSpPr>
        <p:spPr>
          <a:xfrm>
            <a:off x="11213287" y="3708806"/>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cost-review decision</a:t>
            </a:r>
          </a:p>
        </p:txBody>
      </p:sp>
      <p:cxnSp>
        <p:nvCxnSpPr>
          <p:cNvPr id="43" name="vis:menuarrow"/>
          <p:cNvCxnSpPr/>
          <p:nvPr/>
        </p:nvCxnSpPr>
        <p:spPr>
          <a:xfrm>
            <a:off x="11213287" y="4136745"/>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13-minute outside walkthrough</a:t>
            </a:r>
          </a:p>
        </p:txBody>
      </p:sp>
      <p:cxnSp>
        <p:nvCxnSpPr>
          <p:cNvPr id="49" name="vis:menuarrow"/>
          <p:cNvCxnSpPr/>
          <p:nvPr/>
        </p:nvCxnSpPr>
        <p:spPr>
          <a:xfrm>
            <a:off x="11213287" y="456468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QUANTITY FIRST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Twenty beats four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Meetings stall because people arrive with their best idea, not with twenty rough ones.</a:t>
            </a:r>
          </a:p>
        </p:txBody>
      </p:sp>
      <p:sp>
        <p:nvSpPr>
          <p:cNvPr id="16" name="vis:flowcard"/>
          <p:cNvSpPr/>
          <p:nvPr/>
        </p:nvSpPr>
        <p:spPr>
          <a:xfrm>
            <a:off x="502920"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
          <p:cNvSpPr/>
          <p:nvPr/>
        </p:nvSpPr>
        <p:spPr>
          <a:xfrm>
            <a:off x="685800" y="3026663"/>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flownumtext"/>
          <p:cNvSpPr txBox="1"/>
          <p:nvPr/>
        </p:nvSpPr>
        <p:spPr>
          <a:xfrm>
            <a:off x="685800"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9" name="vis:flowtitle"/>
          <p:cNvSpPr txBox="1"/>
          <p:nvPr/>
        </p:nvSpPr>
        <p:spPr>
          <a:xfrm>
            <a:off x="704088" y="3575303"/>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Four ideas in the room</a:t>
            </a:r>
          </a:p>
        </p:txBody>
      </p:sp>
      <p:sp>
        <p:nvSpPr>
          <p:cNvPr id="20" name="vis:flowsub"/>
          <p:cNvSpPr txBox="1"/>
          <p:nvPr/>
        </p:nvSpPr>
        <p:spPr>
          <a:xfrm>
            <a:off x="704088"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Each one somebody's, so each one gets defended.</a:t>
            </a:r>
          </a:p>
        </p:txBody>
      </p:sp>
      <p:cxnSp>
        <p:nvCxnSpPr>
          <p:cNvPr id="21" name="vis:flowarrow"/>
          <p:cNvCxnSpPr/>
          <p:nvPr/>
        </p:nvCxnSpPr>
        <p:spPr>
          <a:xfrm>
            <a:off x="3093643" y="4169663"/>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vis:flowcard"/>
          <p:cNvSpPr/>
          <p:nvPr/>
        </p:nvSpPr>
        <p:spPr>
          <a:xfrm>
            <a:off x="3395395"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
          <p:cNvSpPr/>
          <p:nvPr/>
        </p:nvSpPr>
        <p:spPr>
          <a:xfrm>
            <a:off x="3578275" y="3026663"/>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flownumtext"/>
          <p:cNvSpPr txBox="1"/>
          <p:nvPr/>
        </p:nvSpPr>
        <p:spPr>
          <a:xfrm>
            <a:off x="3578275"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5" name="vis:flowtitle"/>
          <p:cNvSpPr txBox="1"/>
          <p:nvPr/>
        </p:nvSpPr>
        <p:spPr>
          <a:xfrm>
            <a:off x="3596563" y="3575303"/>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Twenty on a page</a:t>
            </a:r>
          </a:p>
        </p:txBody>
      </p:sp>
      <p:sp>
        <p:nvSpPr>
          <p:cNvPr id="26" name="vis:flowsub"/>
          <p:cNvSpPr txBox="1"/>
          <p:nvPr/>
        </p:nvSpPr>
        <p:spPr>
          <a:xfrm>
            <a:off x="3596563"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Nobody owns them, so nobody defends them.</a:t>
            </a:r>
          </a:p>
        </p:txBody>
      </p:sp>
      <p:cxnSp>
        <p:nvCxnSpPr>
          <p:cNvPr id="27" name="vis:flowarrow"/>
          <p:cNvCxnSpPr/>
          <p:nvPr/>
        </p:nvCxnSpPr>
        <p:spPr>
          <a:xfrm>
            <a:off x="5986119" y="4169663"/>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vis:flowcard"/>
          <p:cNvSpPr/>
          <p:nvPr/>
        </p:nvSpPr>
        <p:spPr>
          <a:xfrm>
            <a:off x="6287871"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
          <p:cNvSpPr/>
          <p:nvPr/>
        </p:nvSpPr>
        <p:spPr>
          <a:xfrm>
            <a:off x="6470751" y="3026663"/>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flownumtext"/>
          <p:cNvSpPr txBox="1"/>
          <p:nvPr/>
        </p:nvSpPr>
        <p:spPr>
          <a:xfrm>
            <a:off x="6470751"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1" name="vis:flowtitle"/>
          <p:cNvSpPr txBox="1"/>
          <p:nvPr/>
        </p:nvSpPr>
        <p:spPr>
          <a:xfrm>
            <a:off x="6489039" y="3575303"/>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The room sorts</a:t>
            </a:r>
          </a:p>
        </p:txBody>
      </p:sp>
      <p:sp>
        <p:nvSpPr>
          <p:cNvPr id="32" name="vis:flowsub"/>
          <p:cNvSpPr txBox="1"/>
          <p:nvPr/>
        </p:nvSpPr>
        <p:spPr>
          <a:xfrm>
            <a:off x="6489039"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Arguing about ideas, not about people.</a:t>
            </a:r>
          </a:p>
        </p:txBody>
      </p:sp>
      <p:cxnSp>
        <p:nvCxnSpPr>
          <p:cNvPr id="33" name="vis:flowarrow"/>
          <p:cNvCxnSpPr/>
          <p:nvPr/>
        </p:nvCxnSpPr>
        <p:spPr>
          <a:xfrm>
            <a:off x="8878595" y="4169663"/>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vis:flowcard"/>
          <p:cNvSpPr/>
          <p:nvPr/>
        </p:nvSpPr>
        <p:spPr>
          <a:xfrm>
            <a:off x="9180347"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
          <p:cNvSpPr/>
          <p:nvPr/>
        </p:nvSpPr>
        <p:spPr>
          <a:xfrm>
            <a:off x="9363227" y="3026663"/>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flownumtext"/>
          <p:cNvSpPr txBox="1"/>
          <p:nvPr/>
        </p:nvSpPr>
        <p:spPr>
          <a:xfrm>
            <a:off x="9363227"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7" name="vis:flowtitle"/>
          <p:cNvSpPr txBox="1"/>
          <p:nvPr/>
        </p:nvSpPr>
        <p:spPr>
          <a:xfrm>
            <a:off x="9381515" y="3575303"/>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Three get tested</a:t>
            </a:r>
          </a:p>
        </p:txBody>
      </p:sp>
      <p:sp>
        <p:nvSpPr>
          <p:cNvPr id="38" name="vis:flowsub"/>
          <p:cNvSpPr txBox="1"/>
          <p:nvPr/>
        </p:nvSpPr>
        <p:spPr>
          <a:xfrm>
            <a:off x="9381515"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Usually including one nobody had thought of.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QUANTITY FIRST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Nobody owns a generated idea</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panel"/>
          <p:cNvSpPr/>
          <p:nvPr/>
        </p:nvSpPr>
        <p:spPr>
          <a:xfrm>
            <a:off x="502920"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anelspine"/>
          <p:cNvSpPr/>
          <p:nvPr/>
        </p:nvSpPr>
        <p:spPr>
          <a:xfrm>
            <a:off x="502920" y="1719072"/>
            <a:ext cx="68580" cy="4297680"/>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77240" y="1956815"/>
            <a:ext cx="2459609"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32688" y="1984247"/>
            <a:ext cx="21487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IDEAS PEOPLE BROUGHT</a:t>
            </a:r>
          </a:p>
        </p:txBody>
      </p:sp>
      <p:sp>
        <p:nvSpPr>
          <p:cNvPr id="19" name="vis:paneltitle"/>
          <p:cNvSpPr txBox="1"/>
          <p:nvPr/>
        </p:nvSpPr>
        <p:spPr>
          <a:xfrm>
            <a:off x="777240"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Attached to a person</a:t>
            </a:r>
          </a:p>
        </p:txBody>
      </p:sp>
      <p:sp>
        <p:nvSpPr>
          <p:cNvPr id="20" name="vis:icon"/>
          <p:cNvSpPr/>
          <p:nvPr/>
        </p:nvSpPr>
        <p:spPr>
          <a:xfrm>
            <a:off x="843076" y="3071469"/>
            <a:ext cx="69494" cy="69494"/>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804672" y="3168396"/>
            <a:ext cx="146304" cy="64007"/>
          </a:xfrm>
          <a:custGeom>
            <a:avLst/>
            <a:gdLst/>
            <a:ahLst/>
            <a:cxnLst/>
            <a:rect l="l" t="t" r="r" b="b"/>
            <a:pathLst>
              <a:path w="146304" h="64007">
                <a:moveTo>
                  <a:pt x="0" y="64007"/>
                </a:moveTo>
                <a:lnTo>
                  <a:pt x="10972" y="0"/>
                </a:lnTo>
                <a:lnTo>
                  <a:pt x="135331" y="0"/>
                </a:lnTo>
                <a:lnTo>
                  <a:pt x="146304" y="64007"/>
                </a:lnTo>
              </a:path>
            </a:pathLst>
          </a:cu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vis:panelitem"/>
          <p:cNvSpPr txBox="1"/>
          <p:nvPr/>
        </p:nvSpPr>
        <p:spPr>
          <a:xfrm>
            <a:off x="1078992"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Rejecting it feels like rejecting them</a:t>
            </a:r>
          </a:p>
        </p:txBody>
      </p:sp>
      <p:sp>
        <p:nvSpPr>
          <p:cNvPr id="23" name="vis:icon"/>
          <p:cNvSpPr/>
          <p:nvPr/>
        </p:nvSpPr>
        <p:spPr>
          <a:xfrm>
            <a:off x="843076" y="3766413"/>
            <a:ext cx="69494" cy="69494"/>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804672" y="3863339"/>
            <a:ext cx="146304" cy="64009"/>
          </a:xfrm>
          <a:custGeom>
            <a:avLst/>
            <a:gdLst/>
            <a:ahLst/>
            <a:cxnLst/>
            <a:rect l="l" t="t" r="r" b="b"/>
            <a:pathLst>
              <a:path w="146304" h="64009">
                <a:moveTo>
                  <a:pt x="0" y="64009"/>
                </a:moveTo>
                <a:lnTo>
                  <a:pt x="10972" y="0"/>
                </a:lnTo>
                <a:lnTo>
                  <a:pt x="135331" y="0"/>
                </a:lnTo>
                <a:lnTo>
                  <a:pt x="146304" y="64009"/>
                </a:lnTo>
              </a:path>
            </a:pathLst>
          </a:cu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vis:panelitem"/>
          <p:cNvSpPr txBox="1"/>
          <p:nvPr/>
        </p:nvSpPr>
        <p:spPr>
          <a:xfrm>
            <a:off x="1078992"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The senior person's idea wins by default</a:t>
            </a:r>
          </a:p>
        </p:txBody>
      </p:sp>
      <p:sp>
        <p:nvSpPr>
          <p:cNvPr id="26" name="vis:icon"/>
          <p:cNvSpPr/>
          <p:nvPr/>
        </p:nvSpPr>
        <p:spPr>
          <a:xfrm>
            <a:off x="843076" y="4461357"/>
            <a:ext cx="69494" cy="69494"/>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804672" y="4558283"/>
            <a:ext cx="146304" cy="64009"/>
          </a:xfrm>
          <a:custGeom>
            <a:avLst/>
            <a:gdLst/>
            <a:ahLst/>
            <a:cxnLst/>
            <a:rect l="l" t="t" r="r" b="b"/>
            <a:pathLst>
              <a:path w="146304" h="64009">
                <a:moveTo>
                  <a:pt x="0" y="64009"/>
                </a:moveTo>
                <a:lnTo>
                  <a:pt x="10972" y="0"/>
                </a:lnTo>
                <a:lnTo>
                  <a:pt x="135331" y="0"/>
                </a:lnTo>
                <a:lnTo>
                  <a:pt x="146304" y="64009"/>
                </a:lnTo>
              </a:path>
            </a:pathLst>
          </a:cu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vis:panelitem"/>
          <p:cNvSpPr txBox="1"/>
          <p:nvPr/>
        </p:nvSpPr>
        <p:spPr>
          <a:xfrm>
            <a:off x="1078992"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People bring one idea, well defended</a:t>
            </a:r>
          </a:p>
        </p:txBody>
      </p:sp>
      <p:sp>
        <p:nvSpPr>
          <p:cNvPr id="29" name="vis:icon"/>
          <p:cNvSpPr/>
          <p:nvPr/>
        </p:nvSpPr>
        <p:spPr>
          <a:xfrm>
            <a:off x="843076" y="5156301"/>
            <a:ext cx="69494" cy="69494"/>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icon"/>
          <p:cNvSpPr/>
          <p:nvPr/>
        </p:nvSpPr>
        <p:spPr>
          <a:xfrm>
            <a:off x="804672" y="5253227"/>
            <a:ext cx="146304" cy="64009"/>
          </a:xfrm>
          <a:custGeom>
            <a:avLst/>
            <a:gdLst/>
            <a:ahLst/>
            <a:cxnLst/>
            <a:rect l="l" t="t" r="r" b="b"/>
            <a:pathLst>
              <a:path w="146304" h="64009">
                <a:moveTo>
                  <a:pt x="0" y="64009"/>
                </a:moveTo>
                <a:lnTo>
                  <a:pt x="10972" y="0"/>
                </a:lnTo>
                <a:lnTo>
                  <a:pt x="135331" y="0"/>
                </a:lnTo>
                <a:lnTo>
                  <a:pt x="146304" y="64009"/>
                </a:lnTo>
              </a:path>
            </a:pathLst>
          </a:cu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vis:panelitem"/>
          <p:cNvSpPr txBox="1"/>
          <p:nvPr/>
        </p:nvSpPr>
        <p:spPr>
          <a:xfrm>
            <a:off x="1078992"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Quiet people bring none at all</a:t>
            </a:r>
          </a:p>
        </p:txBody>
      </p:sp>
      <p:sp>
        <p:nvSpPr>
          <p:cNvPr id="32" name="vis:panel"/>
          <p:cNvSpPr/>
          <p:nvPr/>
        </p:nvSpPr>
        <p:spPr>
          <a:xfrm>
            <a:off x="6251295"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panelspine"/>
          <p:cNvSpPr/>
          <p:nvPr/>
        </p:nvSpPr>
        <p:spPr>
          <a:xfrm>
            <a:off x="6251295" y="1719072"/>
            <a:ext cx="68580" cy="42976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chip"/>
          <p:cNvSpPr/>
          <p:nvPr/>
        </p:nvSpPr>
        <p:spPr>
          <a:xfrm>
            <a:off x="6525615" y="1956815"/>
            <a:ext cx="1827784"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text"/>
          <p:cNvSpPr txBox="1"/>
          <p:nvPr/>
        </p:nvSpPr>
        <p:spPr>
          <a:xfrm>
            <a:off x="6681063" y="1984247"/>
            <a:ext cx="151688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IDEAS ON A LIST</a:t>
            </a:r>
          </a:p>
        </p:txBody>
      </p:sp>
      <p:sp>
        <p:nvSpPr>
          <p:cNvPr id="36" name="vis:paneltitle"/>
          <p:cNvSpPr txBox="1"/>
          <p:nvPr/>
        </p:nvSpPr>
        <p:spPr>
          <a:xfrm>
            <a:off x="6525615"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Attached to nobody</a:t>
            </a:r>
          </a:p>
        </p:txBody>
      </p:sp>
      <p:cxnSp>
        <p:nvCxnSpPr>
          <p:cNvPr id="37" name="vis:icon"/>
          <p:cNvCxnSpPr/>
          <p:nvPr/>
        </p:nvCxnSpPr>
        <p:spPr>
          <a:xfrm>
            <a:off x="6560362" y="3153765"/>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flipV="1">
            <a:off x="6607911" y="3098901"/>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9" name="vis:panelitem"/>
          <p:cNvSpPr txBox="1"/>
          <p:nvPr/>
        </p:nvSpPr>
        <p:spPr>
          <a:xfrm>
            <a:off x="6827367"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Anyone can dismiss any of them freely</a:t>
            </a:r>
          </a:p>
        </p:txBody>
      </p:sp>
      <p:cxnSp>
        <p:nvCxnSpPr>
          <p:cNvPr id="40" name="vis:icon"/>
          <p:cNvCxnSpPr/>
          <p:nvPr/>
        </p:nvCxnSpPr>
        <p:spPr>
          <a:xfrm>
            <a:off x="6560362" y="3848709"/>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1" name="vis:icon"/>
          <p:cNvCxnSpPr/>
          <p:nvPr/>
        </p:nvCxnSpPr>
        <p:spPr>
          <a:xfrm flipV="1">
            <a:off x="6607911" y="3793845"/>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2" name="vis:panelitem"/>
          <p:cNvSpPr txBox="1"/>
          <p:nvPr/>
        </p:nvSpPr>
        <p:spPr>
          <a:xfrm>
            <a:off x="6827367"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Seniority stops deciding which survive</a:t>
            </a:r>
          </a:p>
        </p:txBody>
      </p:sp>
      <p:cxnSp>
        <p:nvCxnSpPr>
          <p:cNvPr id="43" name="vis:icon"/>
          <p:cNvCxnSpPr/>
          <p:nvPr/>
        </p:nvCxnSpPr>
        <p:spPr>
          <a:xfrm>
            <a:off x="6560362" y="4543653"/>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4" name="vis:icon"/>
          <p:cNvCxnSpPr/>
          <p:nvPr/>
        </p:nvCxnSpPr>
        <p:spPr>
          <a:xfrm flipV="1">
            <a:off x="6607911" y="4488789"/>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5" name="vis:panelitem"/>
          <p:cNvSpPr txBox="1"/>
          <p:nvPr/>
        </p:nvSpPr>
        <p:spPr>
          <a:xfrm>
            <a:off x="6827367"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Twenty options, none of them precious</a:t>
            </a:r>
          </a:p>
        </p:txBody>
      </p:sp>
      <p:cxnSp>
        <p:nvCxnSpPr>
          <p:cNvPr id="46" name="vis:icon"/>
          <p:cNvCxnSpPr/>
          <p:nvPr/>
        </p:nvCxnSpPr>
        <p:spPr>
          <a:xfrm>
            <a:off x="6560362" y="5238597"/>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7" name="vis:icon"/>
          <p:cNvCxnSpPr/>
          <p:nvPr/>
        </p:nvCxnSpPr>
        <p:spPr>
          <a:xfrm flipV="1">
            <a:off x="6607911" y="5183733"/>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8" name="vis:panelitem"/>
          <p:cNvSpPr txBox="1"/>
          <p:nvPr/>
        </p:nvSpPr>
        <p:spPr>
          <a:xfrm>
            <a:off x="6827367"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Quiet people argue as easily as loud ones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ASKING FOR RANGE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Ask for the bad ones too</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promptcard"/>
          <p:cNvSpPr/>
          <p:nvPr/>
        </p:nvSpPr>
        <p:spPr>
          <a:xfrm>
            <a:off x="502920" y="1719072"/>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7" name="card:prompt"/>
          <p:cNvSpPr txBox="1"/>
          <p:nvPr/>
        </p:nvSpPr>
        <p:spPr>
          <a:xfrm>
            <a:off x="777240" y="2267712"/>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Give me twenty ways to reduce packaging cost in a warehouse. Number them. Include five that are obvious, ten that are unusual, and five that are probably impractical. Do not explain them and do not recommend any. One line each.</a:t>
            </a:r>
          </a:p>
        </p:txBody>
      </p:sp>
      <p:sp>
        <p:nvSpPr>
          <p:cNvPr id="28" name="vis:promptcap"/>
          <p:cNvSpPr txBox="1"/>
          <p:nvPr/>
        </p:nvSpPr>
        <p:spPr>
          <a:xfrm>
            <a:off x="777240" y="3393440"/>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The five impractical ones are the point, not padding.</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Impractical ideas are where the unusual ones come from.</a:t>
            </a:r>
          </a:p>
        </p:txBody>
      </p:sp>
      <p:cxnSp>
        <p:nvCxnSpPr>
          <p:cNvPr id="33" name="vis:icon"/>
          <p:cNvCxnSpPr/>
          <p:nvPr/>
        </p:nvCxnSpPr>
        <p:spPr>
          <a:xfrm>
            <a:off x="7850361" y="3250143"/>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"Do not recommend any" stops it filtering for you.</a:t>
            </a:r>
          </a:p>
        </p:txBody>
      </p:sp>
      <p:cxnSp>
        <p:nvCxnSpPr>
          <p:cNvPr id="36" name="vis:icon"/>
          <p:cNvCxnSpPr/>
          <p:nvPr/>
        </p:nvCxnSpPr>
        <p:spPr>
          <a:xfrm>
            <a:off x="7850361" y="4182831"/>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One line each keeps it scannable in the meeting.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ASKING FOR RANGE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impossible ideas help</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2550414"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223951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ASKING FOR GOOD IDEAS</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"Give me ten good ways to reduce packaging cost."</a:t>
            </a:r>
          </a:p>
          <a:p>
            <a:pPr algn="l">
              <a:lnSpc>
                <a:spcPts val="1690"/>
              </a:lnSpc>
              <a:spcBef>
                <a:spcPts val="0"/>
              </a:spcBef>
              <a:spcAft>
                <a:spcPts val="600"/>
              </a:spcAft>
            </a:pPr>
            <a:r>
              <a:rPr sz="1300" b="0">
                <a:solidFill>
                  <a:srgbClr val="2A3547"/>
                </a:solidFill>
                <a:latin typeface="Segoe UI"/>
              </a:rPr>
              <a:t>You get ten sensible, familiar suggestions.</a:t>
            </a:r>
          </a:p>
          <a:p>
            <a:pPr algn="l">
              <a:lnSpc>
                <a:spcPts val="1690"/>
              </a:lnSpc>
              <a:spcBef>
                <a:spcPts val="0"/>
              </a:spcBef>
              <a:spcAft>
                <a:spcPts val="600"/>
              </a:spcAft>
            </a:pPr>
            <a:r>
              <a:rPr sz="1300" b="0">
                <a:solidFill>
                  <a:srgbClr val="2A3547"/>
                </a:solidFill>
                <a:latin typeface="Segoe UI"/>
              </a:rPr>
              <a:t>Nine of them were already on the whiteboard last month.</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2093214"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178231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ASKING FOR RANGE</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"Five obvious, ten unusual, five probably impractical."</a:t>
            </a:r>
          </a:p>
          <a:p>
            <a:pPr algn="l">
              <a:lnSpc>
                <a:spcPts val="1690"/>
              </a:lnSpc>
              <a:spcBef>
                <a:spcPts val="0"/>
              </a:spcBef>
              <a:spcAft>
                <a:spcPts val="600"/>
              </a:spcAft>
            </a:pPr>
            <a:r>
              <a:rPr sz="1300" b="0">
                <a:solidFill>
                  <a:srgbClr val="2A3547"/>
                </a:solidFill>
                <a:latin typeface="Segoe UI"/>
              </a:rPr>
              <a:t>The impractical ones include "stop packaging entirely for local deliveries".</a:t>
            </a:r>
          </a:p>
          <a:p>
            <a:pPr algn="l">
              <a:lnSpc>
                <a:spcPts val="1690"/>
              </a:lnSpc>
              <a:spcBef>
                <a:spcPts val="0"/>
              </a:spcBef>
              <a:spcAft>
                <a:spcPts val="600"/>
              </a:spcAft>
            </a:pPr>
            <a:r>
              <a:rPr sz="1300" b="0">
                <a:solidFill>
                  <a:srgbClr val="2A3547"/>
                </a:solidFill>
                <a:latin typeface="Segoe UI"/>
              </a:rPr>
              <a:t>That is impractical everywhere except two routes, where it works.</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Nobody says an impossible thing out loud in a meeting. That is exactly why the good version of it never gets found.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SORTING FAST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Twenty down to three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STRIKE — anything we have already tried and rejected</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STRIKE — anything needing money we do not have this year</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KEEP — anything one person could test in a week</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KEEP — anything that made somebody in the room react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SORTING FAST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sorting prompt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promptcard"/>
          <p:cNvSpPr/>
          <p:nvPr/>
        </p:nvSpPr>
        <p:spPr>
          <a:xfrm>
            <a:off x="502920" y="1719072"/>
            <a:ext cx="5816644"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5816644"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4459395"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464300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4661660" y="189536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4661660" y="192334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4661660"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4870875"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3298107"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7" name="card:prompt"/>
          <p:cNvSpPr txBox="1"/>
          <p:nvPr/>
        </p:nvSpPr>
        <p:spPr>
          <a:xfrm>
            <a:off x="777240" y="2267712"/>
            <a:ext cx="5268004"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Sort the twenty ideas below into three groups. GROUP 1: could be tested by one person within a week. GROUP 2: would need budget or approval. GROUP 3: not worth pursuing. Put every idea in exactly one group. Do not explain and do not add new ideas.</a:t>
            </a:r>
          </a:p>
        </p:txBody>
      </p:sp>
      <p:sp>
        <p:nvSpPr>
          <p:cNvPr id="28" name="vis:promptcap"/>
          <p:cNvSpPr txBox="1"/>
          <p:nvPr/>
        </p:nvSpPr>
        <p:spPr>
          <a:xfrm>
            <a:off x="777240" y="3624579"/>
            <a:ext cx="5268004"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Group 1 is where you start, every time.</a:t>
            </a:r>
          </a:p>
        </p:txBody>
      </p:sp>
      <p:sp>
        <p:nvSpPr>
          <p:cNvPr id="29" name="vis:outcard"/>
          <p:cNvSpPr/>
          <p:nvPr/>
        </p:nvSpPr>
        <p:spPr>
          <a:xfrm>
            <a:off x="6685324" y="1719072"/>
            <a:ext cx="5003450" cy="2377947"/>
          </a:xfrm>
          <a:prstGeom prst="roundRect">
            <a:avLst>
              <a:gd name="adj" fmla="val 38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outspine"/>
          <p:cNvSpPr/>
          <p:nvPr/>
        </p:nvSpPr>
        <p:spPr>
          <a:xfrm>
            <a:off x="6685324" y="1719072"/>
            <a:ext cx="68580" cy="2377947"/>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ip"/>
          <p:cNvSpPr/>
          <p:nvPr/>
        </p:nvSpPr>
        <p:spPr>
          <a:xfrm>
            <a:off x="6941356" y="1920240"/>
            <a:ext cx="2087885"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text"/>
          <p:cNvSpPr txBox="1"/>
          <p:nvPr/>
        </p:nvSpPr>
        <p:spPr>
          <a:xfrm>
            <a:off x="7096804" y="1947672"/>
            <a:ext cx="177698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COMES BACK</a:t>
            </a:r>
          </a:p>
        </p:txBody>
      </p:sp>
      <p:sp>
        <p:nvSpPr>
          <p:cNvPr id="33" name="vis:outbody"/>
          <p:cNvSpPr txBox="1"/>
          <p:nvPr/>
        </p:nvSpPr>
        <p:spPr>
          <a:xfrm>
            <a:off x="6941356" y="2359152"/>
            <a:ext cx="4491386" cy="1518411"/>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Three clean groups, with group one usually holding four or five ideas.</a:t>
            </a:r>
          </a:p>
          <a:p>
            <a:pPr algn="l">
              <a:lnSpc>
                <a:spcPts val="1690"/>
              </a:lnSpc>
              <a:spcBef>
                <a:spcPts val="0"/>
              </a:spcBef>
              <a:spcAft>
                <a:spcPts val="600"/>
              </a:spcAft>
            </a:pPr>
            <a:r>
              <a:rPr sz="1300" b="0">
                <a:solidFill>
                  <a:srgbClr val="2A3547"/>
                </a:solidFill>
                <a:latin typeface="Segoe UI"/>
              </a:rPr>
              <a:t>No commentary, so the meeting argues about the sorting rather than reading.</a:t>
            </a:r>
          </a:p>
          <a:p>
            <a:pPr algn="l">
              <a:lnSpc>
                <a:spcPts val="1690"/>
              </a:lnSpc>
              <a:spcBef>
                <a:spcPts val="0"/>
              </a:spcBef>
              <a:spcAft>
                <a:spcPts val="600"/>
              </a:spcAft>
            </a:pPr>
            <a:r>
              <a:rPr sz="1300" b="0">
                <a:solidFill>
                  <a:srgbClr val="2A3547"/>
                </a:solidFill>
                <a:latin typeface="Segoe UI"/>
              </a:rPr>
              <a:t>Twenty ideas triaged in about thirty seconds.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BREAKING A DEADLOCK</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When two people are stuck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Deadlocks are rarely about the options. They are about two people having stated a position out loud.</a:t>
            </a:r>
          </a:p>
        </p:txBody>
      </p:sp>
      <p:sp>
        <p:nvSpPr>
          <p:cNvPr id="16" name="vis:promptcard"/>
          <p:cNvSpPr/>
          <p:nvPr/>
        </p:nvSpPr>
        <p:spPr>
          <a:xfrm>
            <a:off x="502920" y="2706624"/>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romptbar"/>
          <p:cNvSpPr/>
          <p:nvPr/>
        </p:nvSpPr>
        <p:spPr>
          <a:xfrm>
            <a:off x="502920" y="2706624"/>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739932" y="2828787"/>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H="1">
            <a:off x="775045" y="2951683"/>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775045" y="2951683"/>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vis:copybtn"/>
          <p:cNvSpPr/>
          <p:nvPr/>
        </p:nvSpPr>
        <p:spPr>
          <a:xfrm>
            <a:off x="5577981" y="2779776"/>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5761592" y="2845612"/>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5780246" y="2882920"/>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2910900"/>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a:off x="5780246" y="2938881"/>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6" name="vis:copytext"/>
          <p:cNvSpPr txBox="1"/>
          <p:nvPr/>
        </p:nvSpPr>
        <p:spPr>
          <a:xfrm>
            <a:off x="5989461" y="2839212"/>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7" name="vis:prompthdr"/>
          <p:cNvSpPr txBox="1"/>
          <p:nvPr/>
        </p:nvSpPr>
        <p:spPr>
          <a:xfrm>
            <a:off x="1051560" y="2816352"/>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deadlock prompt</a:t>
            </a:r>
          </a:p>
        </p:txBody>
      </p:sp>
      <p:sp>
        <p:nvSpPr>
          <p:cNvPr id="28" name="card:prompt"/>
          <p:cNvSpPr txBox="1"/>
          <p:nvPr/>
        </p:nvSpPr>
        <p:spPr>
          <a:xfrm>
            <a:off x="777240" y="3255264"/>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Two people disagree. Option A is to insource the packing line. Option B is to renegotiate with the current vendor. Give me five options that are neither A nor B, and two ways of combining A and B. One line each, no recommendation.</a:t>
            </a:r>
          </a:p>
        </p:txBody>
      </p:sp>
      <p:sp>
        <p:nvSpPr>
          <p:cNvPr id="29" name="vis:promptcap"/>
          <p:cNvSpPr txBox="1"/>
          <p:nvPr/>
        </p:nvSpPr>
        <p:spPr>
          <a:xfrm>
            <a:off x="777240" y="4380992"/>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Seven new things to argue about, none of them anybody's position.</a:t>
            </a:r>
          </a:p>
        </p:txBody>
      </p:sp>
      <p:sp>
        <p:nvSpPr>
          <p:cNvPr id="30" name="seclabel"/>
          <p:cNvSpPr txBox="1"/>
          <p:nvPr/>
        </p:nvSpPr>
        <p:spPr>
          <a:xfrm>
            <a:off x="7803910" y="2761488"/>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THIS WORKS</a:t>
            </a:r>
          </a:p>
        </p:txBody>
      </p:sp>
      <p:cxnSp>
        <p:nvCxnSpPr>
          <p:cNvPr id="31" name="vis:icon"/>
          <p:cNvCxnSpPr/>
          <p:nvPr/>
        </p:nvCxnSpPr>
        <p:spPr>
          <a:xfrm>
            <a:off x="7850361" y="3305007"/>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2" name="vis:icon"/>
          <p:cNvCxnSpPr/>
          <p:nvPr/>
        </p:nvCxnSpPr>
        <p:spPr>
          <a:xfrm flipV="1">
            <a:off x="7902665" y="3244656"/>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3" name="cell:why"/>
          <p:cNvSpPr txBox="1"/>
          <p:nvPr/>
        </p:nvSpPr>
        <p:spPr>
          <a:xfrm>
            <a:off x="8187958" y="3145536"/>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moves the argument off the two stated positions.</a:t>
            </a:r>
          </a:p>
        </p:txBody>
      </p:sp>
      <p:cxnSp>
        <p:nvCxnSpPr>
          <p:cNvPr id="34" name="vis:icon"/>
          <p:cNvCxnSpPr/>
          <p:nvPr/>
        </p:nvCxnSpPr>
        <p:spPr>
          <a:xfrm>
            <a:off x="7850361" y="4237695"/>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5" name="vis:icon"/>
          <p:cNvCxnSpPr/>
          <p:nvPr/>
        </p:nvCxnSpPr>
        <p:spPr>
          <a:xfrm flipV="1">
            <a:off x="7902665" y="4177344"/>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6" name="cell:why"/>
          <p:cNvSpPr txBox="1"/>
          <p:nvPr/>
        </p:nvSpPr>
        <p:spPr>
          <a:xfrm>
            <a:off x="8187958" y="407822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Combinations are what neither side proposes on their own.</a:t>
            </a:r>
          </a:p>
        </p:txBody>
      </p:sp>
      <p:cxnSp>
        <p:nvCxnSpPr>
          <p:cNvPr id="37" name="vis:icon"/>
          <p:cNvCxnSpPr/>
          <p:nvPr/>
        </p:nvCxnSpPr>
        <p:spPr>
          <a:xfrm>
            <a:off x="7850361" y="5170383"/>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flipV="1">
            <a:off x="7902665" y="5110032"/>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9" name="cell:why"/>
          <p:cNvSpPr txBox="1"/>
          <p:nvPr/>
        </p:nvSpPr>
        <p:spPr>
          <a:xfrm>
            <a:off x="8187958" y="501091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Nobody has to lose to accept a third option.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BREAKING A DEADLOCK</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Ideas that are quietly impossible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It does not know our contracts, our plant or our regulator.</a:t>
            </a:r>
          </a:p>
          <a:p>
            <a:pPr algn="l">
              <a:lnSpc>
                <a:spcPts val="1755"/>
              </a:lnSpc>
              <a:spcBef>
                <a:spcPts val="0"/>
              </a:spcBef>
              <a:spcAft>
                <a:spcPts val="0"/>
              </a:spcAft>
            </a:pPr>
            <a:r>
              <a:rPr sz="1350" b="0">
                <a:solidFill>
                  <a:srgbClr val="FFFFFF"/>
                </a:solidFill>
                <a:latin typeface="Segoe UI"/>
              </a:rPr>
              <a:t>Some ideas will be excellent and completely unavailable to us.</a:t>
            </a:r>
          </a:p>
        </p:txBody>
      </p:sp>
      <p:sp>
        <p:nvSpPr>
          <p:cNvPr id="20" name="vis:checktile"/>
          <p:cNvSpPr/>
          <p:nvPr/>
        </p:nvSpPr>
        <p:spPr>
          <a:xfrm>
            <a:off x="502920" y="2953512"/>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608313"/>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Things our supplier contract already prohibits</a:t>
            </a:r>
          </a:p>
        </p:txBody>
      </p:sp>
      <p:sp>
        <p:nvSpPr>
          <p:cNvPr id="25" name="vis:checktile"/>
          <p:cNvSpPr/>
          <p:nvPr/>
        </p:nvSpPr>
        <p:spPr>
          <a:xfrm>
            <a:off x="6205575" y="2953512"/>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6425031"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6504035"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6526621"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6863943" y="3099816"/>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Things the site licence or regulator does not permit</a:t>
            </a:r>
          </a:p>
        </p:txBody>
      </p:sp>
      <p:sp>
        <p:nvSpPr>
          <p:cNvPr id="30" name="vis:checktile"/>
          <p:cNvSpPr/>
          <p:nvPr/>
        </p:nvSpPr>
        <p:spPr>
          <a:xfrm>
            <a:off x="502920" y="4590288"/>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722376" y="514349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01380" y="5222504"/>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23965" y="5245089"/>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1161288" y="4736592"/>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Things requiring equipment we do not have</a:t>
            </a:r>
          </a:p>
        </p:txBody>
      </p:sp>
      <p:sp>
        <p:nvSpPr>
          <p:cNvPr id="35" name="vis:checktile"/>
          <p:cNvSpPr/>
          <p:nvPr/>
        </p:nvSpPr>
        <p:spPr>
          <a:xfrm>
            <a:off x="6205575" y="4590288"/>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eckdot"/>
          <p:cNvSpPr/>
          <p:nvPr/>
        </p:nvSpPr>
        <p:spPr>
          <a:xfrm>
            <a:off x="6425031" y="514349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6504035" y="5222504"/>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8" name="vis:icon"/>
          <p:cNvCxnSpPr/>
          <p:nvPr/>
        </p:nvCxnSpPr>
        <p:spPr>
          <a:xfrm>
            <a:off x="6526621" y="5245089"/>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9" name="cell:checkitem"/>
          <p:cNvSpPr txBox="1"/>
          <p:nvPr/>
        </p:nvSpPr>
        <p:spPr>
          <a:xfrm>
            <a:off x="6863943" y="4736592"/>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Things another team tried and rejected last year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generate twenty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tepnum"/>
          <p:cNvSpPr/>
          <p:nvPr/>
        </p:nvSpPr>
        <p:spPr>
          <a:xfrm>
            <a:off x="502920" y="2027681"/>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Take a problem your team keeps circling.</a:t>
            </a:r>
          </a:p>
        </p:txBody>
      </p:sp>
      <p:sp>
        <p:nvSpPr>
          <p:cNvPr id="19" name="vis:stepnum"/>
          <p:cNvSpPr/>
          <p:nvPr/>
        </p:nvSpPr>
        <p:spPr>
          <a:xfrm>
            <a:off x="502920" y="3138677"/>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Write it in one sentence, with no names or figures.</a:t>
            </a:r>
          </a:p>
        </p:txBody>
      </p:sp>
      <p:sp>
        <p:nvSpPr>
          <p:cNvPr id="23" name="vis:stepnum"/>
          <p:cNvSpPr/>
          <p:nvPr/>
        </p:nvSpPr>
        <p:spPr>
          <a:xfrm>
            <a:off x="502920" y="4249674"/>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Run the twenty-ideas prompt on it.</a:t>
            </a:r>
          </a:p>
        </p:txBody>
      </p:sp>
      <p:sp>
        <p:nvSpPr>
          <p:cNvPr id="27" name="vis:stepnum"/>
          <p:cNvSpPr/>
          <p:nvPr/>
        </p:nvSpPr>
        <p:spPr>
          <a:xfrm>
            <a:off x="502920" y="5360670"/>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Strike everything already tried, then sort what is left.</a:t>
            </a:r>
          </a:p>
        </p:txBody>
      </p:sp>
      <p:sp>
        <p:nvSpPr>
          <p:cNvPr id="30" name="vis:promptcard"/>
          <p:cNvSpPr/>
          <p:nvPr/>
        </p:nvSpPr>
        <p:spPr>
          <a:xfrm>
            <a:off x="6461607" y="1719072"/>
            <a:ext cx="5227167"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Give me twenty ways to [PROBLEM IN ONE SENTENCE]. Number them. Five obvious, ten unusual, five probably impractical. One line each. Do not explain them, do not recommend any, and do not group them.</a:t>
            </a:r>
          </a:p>
        </p:txBody>
      </p:sp>
      <p:sp>
        <p:nvSpPr>
          <p:cNvPr id="43" name="vis:promptcap"/>
          <p:cNvSpPr txBox="1"/>
          <p:nvPr/>
        </p:nvSpPr>
        <p:spPr>
          <a:xfrm>
            <a:off x="6735927" y="362457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Two minutes. Bring the page to the meeting instead of your one idea.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habits for idea sessions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Generate before the meeting, not during it.</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Print or share the list so nobody owns any of it.</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Strike first, discuss second. Striking is fast.</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Pick one to test this week, not three to plan.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Asking for "good ideas"</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You get the familiar ones. The useful ones live next to the impractical ones.</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Letting it recommend an option</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has no view worth having. Recommending is the part the room is for.</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Treating the list as a plan</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Twenty ideas is raw material. Nothing on it has been checked against reality.</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Describing the problem with real figures</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Cost structures and margins do not need to leave the company to generate ideas.</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Generating in the meeting itself</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Everyone reads instead of thinking. Bring the list already made.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When brainstorming is the wrong tool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Is the problem a shortage of options, or of agreement?</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1774909" y="3026664"/>
            <a:ext cx="1482929"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1930357" y="3054096"/>
            <a:ext cx="11720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AGREEMENT</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571079" y="3834627"/>
            <a:ext cx="153619" cy="153619"/>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704216" y="3967764"/>
            <a:ext cx="61447" cy="61448"/>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Decide instead</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Everybody knows what should happen and nobody will commit. More options make that worse. What is needed is a decision and an owner.</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062736" y="3026664"/>
            <a:ext cx="122516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218184" y="3054096"/>
            <a:ext cx="9142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Generate</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You keep circling the same four ideas and none of them is good enough. Twenty rough starting points is exactly what is missing.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good use looks like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nest"/>
          <p:cNvSpPr/>
          <p:nvPr/>
        </p:nvSpPr>
        <p:spPr>
          <a:xfrm>
            <a:off x="502920" y="2221991"/>
            <a:ext cx="6264078" cy="3291840"/>
          </a:xfrm>
          <a:prstGeom prst="roundRect">
            <a:avLst>
              <a:gd name="adj" fmla="val 2777"/>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nestlabel"/>
          <p:cNvSpPr txBox="1"/>
          <p:nvPr/>
        </p:nvSpPr>
        <p:spPr>
          <a:xfrm>
            <a:off x="722376" y="2368296"/>
            <a:ext cx="5825166"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Twenty ideas, generated alone</a:t>
            </a:r>
          </a:p>
        </p:txBody>
      </p:sp>
      <p:sp>
        <p:nvSpPr>
          <p:cNvPr id="17" name="vis:nestsub"/>
          <p:cNvSpPr txBox="1"/>
          <p:nvPr/>
        </p:nvSpPr>
        <p:spPr>
          <a:xfrm>
            <a:off x="722376" y="2679191"/>
            <a:ext cx="5825166"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Two minutes, before anybody is in the room.</a:t>
            </a:r>
          </a:p>
        </p:txBody>
      </p:sp>
      <p:sp>
        <p:nvSpPr>
          <p:cNvPr id="18" name="vis:nest"/>
          <p:cNvSpPr/>
          <p:nvPr/>
        </p:nvSpPr>
        <p:spPr>
          <a:xfrm>
            <a:off x="832104" y="3081527"/>
            <a:ext cx="5605710" cy="2157984"/>
          </a:xfrm>
          <a:prstGeom prst="roundRect">
            <a:avLst>
              <a:gd name="adj" fmla="val 4237"/>
            </a:avLst>
          </a:prstGeom>
          <a:solidFill>
            <a:srgbClr val="FFFFFF"/>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nestlabel"/>
          <p:cNvSpPr txBox="1"/>
          <p:nvPr/>
        </p:nvSpPr>
        <p:spPr>
          <a:xfrm>
            <a:off x="1051560" y="3227832"/>
            <a:ext cx="5166798"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Struck down to eight</a:t>
            </a:r>
          </a:p>
        </p:txBody>
      </p:sp>
      <p:sp>
        <p:nvSpPr>
          <p:cNvPr id="20" name="vis:nestsub"/>
          <p:cNvSpPr txBox="1"/>
          <p:nvPr/>
        </p:nvSpPr>
        <p:spPr>
          <a:xfrm>
            <a:off x="1051560" y="3538727"/>
            <a:ext cx="5166798"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Already tried, not affordable, not permitted.</a:t>
            </a:r>
          </a:p>
        </p:txBody>
      </p:sp>
      <p:sp>
        <p:nvSpPr>
          <p:cNvPr id="21" name="vis:nest"/>
          <p:cNvSpPr/>
          <p:nvPr/>
        </p:nvSpPr>
        <p:spPr>
          <a:xfrm>
            <a:off x="1161288" y="3941063"/>
            <a:ext cx="4947342" cy="1024128"/>
          </a:xfrm>
          <a:prstGeom prst="roundRect">
            <a:avLst>
              <a:gd name="adj" fmla="val 8928"/>
            </a:avLst>
          </a:prstGeom>
          <a:solidFill>
            <a:srgbClr val="F3F6FB"/>
          </a:solid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nestlabel"/>
          <p:cNvSpPr txBox="1"/>
          <p:nvPr/>
        </p:nvSpPr>
        <p:spPr>
          <a:xfrm>
            <a:off x="1380744" y="4087368"/>
            <a:ext cx="4508430"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0E6E75"/>
                </a:solidFill>
                <a:latin typeface="Segoe UI Semibold"/>
              </a:rPr>
              <a:t>One tested this week</a:t>
            </a:r>
          </a:p>
        </p:txBody>
      </p:sp>
      <p:sp>
        <p:nvSpPr>
          <p:cNvPr id="23" name="vis:nestsub"/>
          <p:cNvSpPr txBox="1"/>
          <p:nvPr/>
        </p:nvSpPr>
        <p:spPr>
          <a:xfrm>
            <a:off x="1380744" y="4398264"/>
            <a:ext cx="4508430"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By one person, with a date.</a:t>
            </a:r>
          </a:p>
        </p:txBody>
      </p:sp>
      <p:sp>
        <p:nvSpPr>
          <p:cNvPr id="24" name="body:nestnote"/>
          <p:cNvSpPr txBox="1"/>
          <p:nvPr/>
        </p:nvSpPr>
        <p:spPr>
          <a:xfrm>
            <a:off x="7438150" y="2368296"/>
            <a:ext cx="4250624" cy="299923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5B6779"/>
                </a:solidFill>
                <a:latin typeface="Segoe UI"/>
              </a:rPr>
              <a:t>The tool contributes the first layer only. Everything that makes it useful happens after that, in the room and on the floor.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brainstorming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alertband"/>
          <p:cNvSpPr/>
          <p:nvPr/>
        </p:nvSpPr>
        <p:spPr>
          <a:xfrm>
            <a:off x="0" y="1719072"/>
            <a:ext cx="12191695" cy="96012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Use it for quantity. Use the room for judgement.</a:t>
            </a:r>
          </a:p>
          <a:p>
            <a:pPr algn="l">
              <a:lnSpc>
                <a:spcPts val="1755"/>
              </a:lnSpc>
              <a:spcBef>
                <a:spcPts val="0"/>
              </a:spcBef>
              <a:spcAft>
                <a:spcPts val="0"/>
              </a:spcAft>
            </a:pPr>
            <a:r>
              <a:rPr sz="1350" b="0">
                <a:solidFill>
                  <a:srgbClr val="FFFFFF"/>
                </a:solidFill>
                <a:latin typeface="Segoe UI"/>
              </a:rPr>
              <a:t>It is genuinely good at producing options and has no idea which of them we can actually do.</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Twenty options — its job.</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Striking and sorting — yours.</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Testing one — this week.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Cost review, Monday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The monthly cost meeting is at two. The same four packaging ideas will be raised, as they have been for five months. You have twenty minutes free.</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Go in as usual and hope somebody has something new.</a:t>
            </a:r>
          </a:p>
        </p:txBody>
      </p:sp>
      <p:cxnSp>
        <p:nvCxnSpPr>
          <p:cNvPr id="23" name="vis:choicearrow"/>
          <p:cNvCxnSpPr/>
          <p:nvPr/>
        </p:nvCxnSpPr>
        <p:spPr>
          <a:xfrm>
            <a:off x="758952"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Generate twenty options first, strike the known ones, bring the rest.</a:t>
            </a:r>
          </a:p>
        </p:txBody>
      </p:sp>
      <p:cxnSp>
        <p:nvCxnSpPr>
          <p:cNvPr id="29" name="vis:choicearrow"/>
          <p:cNvCxnSpPr/>
          <p:nvPr/>
        </p:nvCxnSpPr>
        <p:spPr>
          <a:xfrm>
            <a:off x="4566818"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Paste last year's cost breakdown in and ask for savings.</a:t>
            </a:r>
          </a:p>
        </p:txBody>
      </p:sp>
      <p:cxnSp>
        <p:nvCxnSpPr>
          <p:cNvPr id="35" name="vis:choicearrow"/>
          <p:cNvCxnSpPr/>
          <p:nvPr/>
        </p:nvCxnSpPr>
        <p:spPr>
          <a:xfrm>
            <a:off x="8374684"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Month six of the same four ideas</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same three people raise the same four options. Two of them are rejected for the same reasons as last month. The meeting ends with an agreement to think about it, and nothing is different in December.</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meeting cannot generate what nobody brought into it.</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Two minutes of preparation changes the meeting</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bring a page of sixteen surviving ideas that belong to nobody. The room strikes nine immediately, argues productively about four, and picks one to test. It is one nobody in the room had said out loud before.</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Bring options nobody owns and the room starts choosing instead of defending.</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Good ideas, and our cost structure is now outside</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suggestions are sharper because they use real figures. Those figures are our margins, our vendor rates and our volumes, and they now sit on a system we do not control. The ideas were available without any of it.</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Describe the problem. Never paste the cost sheet.</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Thirteen minutes, three methods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3 Ways to Brainstorm ANYTHING in ChatGPT! (+ Free Prompt!)</a:t>
            </a:r>
          </a:p>
        </p:txBody>
      </p:sp>
      <p:sp>
        <p:nvSpPr>
          <p:cNvPr id="19" name="vis:chip"/>
          <p:cNvSpPr/>
          <p:nvPr/>
        </p:nvSpPr>
        <p:spPr>
          <a:xfrm>
            <a:off x="868680" y="3858768"/>
            <a:ext cx="1914580"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160368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AI FOUNDATIONS</a:t>
            </a:r>
          </a:p>
        </p:txBody>
      </p:sp>
      <p:sp>
        <p:nvSpPr>
          <p:cNvPr id="21" name="vis:chip"/>
          <p:cNvSpPr/>
          <p:nvPr/>
        </p:nvSpPr>
        <p:spPr>
          <a:xfrm>
            <a:off x="2929564" y="3858768"/>
            <a:ext cx="130517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3085012" y="3895344"/>
            <a:ext cx="99428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12:43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not company material. Where it differs from this module, follow this module.</a:t>
            </a:r>
          </a:p>
        </p:txBody>
      </p:sp>
      <p:sp>
        <p:nvSpPr>
          <p:cNvPr id="25" name="nav:videobtn">
            <a:hlinkClick r:id="rId2"/>
          </p:cNvPr>
          <p:cNvSpPr/>
          <p:nvPr/>
        </p:nvSpPr>
        <p:spPr>
          <a:xfrm>
            <a:off x="868680" y="5230368"/>
            <a:ext cx="3017520" cy="493776"/>
          </a:xfrm>
          <a:prstGeom prst="roundRect">
            <a:avLst>
              <a:gd name="adj" fmla="val 11111"/>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Everything you need is already in this deck.</a:t>
            </a:r>
          </a:p>
        </p:txBody>
      </p:sp>
      <p:cxnSp>
        <p:nvCxnSpPr>
          <p:cNvPr id="35" name="vis:icon"/>
          <p:cNvCxnSpPr/>
          <p:nvPr/>
        </p:nvCxnSpPr>
        <p:spPr>
          <a:xfrm>
            <a:off x="8439424" y="3743919"/>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 prefer watching to reading.</a:t>
            </a:r>
          </a:p>
        </p:txBody>
      </p:sp>
      <p:cxnSp>
        <p:nvCxnSpPr>
          <p:cNvPr id="38" name="vis:icon"/>
          <p:cNvCxnSpPr/>
          <p:nvPr/>
        </p:nvCxnSpPr>
        <p:spPr>
          <a:xfrm>
            <a:off x="8439424" y="4859487"/>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ask for impractical ideas?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To make the list look longer</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Impractical ideas point at unusual workable ones</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shows the tool's limitations</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They are easier to strike, which feels productive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To make the list look longer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Length is not the aim. If you wanted twenty sensible ideas you could ask for twenty sensible ideas and get twenty familiar ones.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unusual ones live next to the impossible ones.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Impractical ideas point at unusual workable ones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"Stop packaging entirely" is impossible everywhere except on two short local routes, where it works. Nobody says that out loud in a meeting, so the workable version never gets found.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unusual ones live next to the impossible ones.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It shows the tool's limitations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not what is happening. It produces the impractical ones perfectly well on request — the point is what they suggest to the humans reading them.</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unusual ones live next to the impossible ones.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They are easier to strike, which feels productive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Striking is fast either way. The value is that some of them survive contact with a specific route, product or site.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unusual ones live next to the impossible ones.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is an unowned idea useful?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is more likely to be correct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People can reject it without rejecting a colleague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saves the meeting time</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has already been checked for feasibility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It is more likely to be correct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Correctness is unaffected by who suggested it. What changes is how freely the room can dismiss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Nobody has to lose to reject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People can reject it without rejecting a colleague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Most meeting deadlocks are social rather than analytical. A list nobody authored removes seniority and ego from the sorting entirely.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Nobody has to lose to reject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It saves the meeting time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usually does save time, but as a consequence. The mechanism is that people stop defending positions.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Nobody has to lose to reject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It has already been checked for feasibility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opposite — nothing on the list has been checked against contracts, licences or equipment. That is the room's job.</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Nobody has to lose to reject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idea should you test first?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one with the biggest possible saving</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one a single person could test within a week</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one everybody agrees with</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most unusual one on the list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The one with the biggest possible saving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Biggest usually means slowest and most political. Six months later nothing has been learned and the meeting is still monthly.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one one person can try in a week.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The one a single person could test within a week</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week-long test by one person produces real information quickly, without budget or approval. Two of those beat one twelve-month proposal.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one one person can try in a week.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The one everybody agrees with</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Universal agreement usually means it is familiar, which usually means it has already been tried in some form.</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one one person can try in a week.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The most unusual one on the list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Unusual is worth keeping on the list, not necessarily worth doing first. Testability is the better sorting criterion.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one one person can try in a week.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must not go in the prompt?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one-sentence description of the problem</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Our margins, vendor rates and volumes</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type of operation, such as a warehouse</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constraint that there is no budget this year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 one-sentence description of the problem</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Essential. Without it you get generic ideas about cost reduction in general, which is exactly what you already had.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Ideas do not need our real figures.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Our margins, vendor rates and volumes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They would sharpen the suggestions slightly and they are among the most commercially sensitive numbers we hold. The ideas are available without them.</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Ideas do not need our real figures.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The type of operation, such as a warehouse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General context with nothing confidential in it. It makes the ideas relevant without identifying anything about us.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Ideas do not need our real figures.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The constraint that there is no budget this year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useful constraint and not a secret. It stops half the list being capital projects you cannot pursue.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Ideas do not need our real figures.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When is generating the wrong move?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the problem is technical</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everybody knows what to do and nobody will commit</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the meeting is short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you already have four ideas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When the problem is technical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Technical problems benefit from range as much as any other. You simply need somebody technical to strike the impossible ones afterwards.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More options do not fix a lack of commitment.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When everybody knows what to do and nobody will commit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a decision problem, not an options problem. Twenty more ideas give the room something new to avoid deciding about.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More options do not fix a lack of commitment.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When the meeting is short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short meeting is where a pre-made list helps most. Generate beforehand and spend the meeting sorting.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More options do not fix a lack of commitment.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When you already have four ideas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Four ideas that keep failing is the textbook case for generating twenty. That is precisely the situation this is for.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More options do not fix a lack of commitment.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Brainstorming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Twenty beats four</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Meetings stall because people bring their best idea, not twenty rough ones.</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Ask for range deliberately</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Five obvious, ten unusual, five impractical. The last five earn their place.</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Nobody owns a generated idea</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Seniority and ego stop deciding which options survive.</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Strike before you discuss</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Already tried, no budget, not permitted. Striking is fast.</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Test what one person can try in a week</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Two quick tests beat one twelve-month proposal.</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It does not know our constraints</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Contracts, licences and equipment are the room's job, not its own.</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51979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51979C"/>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51979C"/>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600"/>
              </a:lnSpc>
              <a:spcBef>
                <a:spcPts val="0"/>
              </a:spcBef>
              <a:spcAft>
                <a:spcPts val="0"/>
              </a:spcAft>
            </a:pPr>
            <a:r>
              <a:rPr sz="2000" b="0">
                <a:solidFill>
                  <a:srgbClr val="FFFFFF"/>
                </a:solidFill>
                <a:latin typeface="Segoe UI Semibold"/>
              </a:rPr>
              <a:t>Use it for quantity. Use the room for judgement.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98526" y="2382199"/>
            <a:ext cx="159763" cy="159763"/>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935804" y="2563265"/>
            <a:ext cx="85207"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946455" y="2605869"/>
            <a:ext cx="63905"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1"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twenty-ideas prompt</a:t>
            </a:r>
          </a:p>
        </p:txBody>
      </p:sp>
      <p:sp>
        <p:nvSpPr>
          <p:cNvPr id="22"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Five obvious, ten unusual, five impractical.</a:t>
            </a:r>
          </a:p>
        </p:txBody>
      </p:sp>
      <p:sp>
        <p:nvSpPr>
          <p:cNvPr id="23"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863910" y="3303046"/>
            <a:ext cx="37278" cy="3727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6" name="vis:icon"/>
          <p:cNvCxnSpPr/>
          <p:nvPr/>
        </p:nvCxnSpPr>
        <p:spPr>
          <a:xfrm>
            <a:off x="930478" y="3321686"/>
            <a:ext cx="165090"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7" name="vis:icon"/>
          <p:cNvSpPr/>
          <p:nvPr/>
        </p:nvSpPr>
        <p:spPr>
          <a:xfrm>
            <a:off x="863910" y="3382928"/>
            <a:ext cx="37278" cy="3727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930478" y="3401568"/>
            <a:ext cx="165090"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9" name="vis:icon"/>
          <p:cNvSpPr/>
          <p:nvPr/>
        </p:nvSpPr>
        <p:spPr>
          <a:xfrm>
            <a:off x="863910" y="3462810"/>
            <a:ext cx="37278" cy="3727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0" name="vis:icon"/>
          <p:cNvCxnSpPr/>
          <p:nvPr/>
        </p:nvCxnSpPr>
        <p:spPr>
          <a:xfrm>
            <a:off x="930478" y="3481449"/>
            <a:ext cx="165090"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1"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sorting prompt</a:t>
            </a:r>
          </a:p>
        </p:txBody>
      </p:sp>
      <p:sp>
        <p:nvSpPr>
          <p:cNvPr id="32"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Testable in a week, needs budget, not worth pursuing.</a:t>
            </a:r>
          </a:p>
        </p:txBody>
      </p:sp>
      <p:sp>
        <p:nvSpPr>
          <p:cNvPr id="33"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icon"/>
          <p:cNvSpPr/>
          <p:nvPr/>
        </p:nvSpPr>
        <p:spPr>
          <a:xfrm>
            <a:off x="872126" y="4211536"/>
            <a:ext cx="212563" cy="198749"/>
          </a:xfrm>
          <a:custGeom>
            <a:avLst/>
            <a:gdLst/>
            <a:ahLst/>
            <a:cxnLst/>
            <a:rect l="l" t="t" r="r" b="b"/>
            <a:pathLst>
              <a:path w="212563" h="198749">
                <a:moveTo>
                  <a:pt x="159536" y="0"/>
                </a:moveTo>
                <a:lnTo>
                  <a:pt x="186359" y="22013"/>
                </a:lnTo>
                <a:lnTo>
                  <a:pt x="204683" y="51480"/>
                </a:lnTo>
                <a:lnTo>
                  <a:pt x="212563" y="85273"/>
                </a:lnTo>
                <a:lnTo>
                  <a:pt x="209162" y="119806"/>
                </a:lnTo>
                <a:lnTo>
                  <a:pt x="194841" y="151413"/>
                </a:lnTo>
                <a:lnTo>
                  <a:pt x="171120" y="176739"/>
                </a:lnTo>
                <a:lnTo>
                  <a:pt x="140518" y="193096"/>
                </a:lnTo>
                <a:lnTo>
                  <a:pt x="106282" y="198749"/>
                </a:lnTo>
                <a:lnTo>
                  <a:pt x="72045" y="193096"/>
                </a:lnTo>
                <a:lnTo>
                  <a:pt x="41443" y="176739"/>
                </a:lnTo>
                <a:lnTo>
                  <a:pt x="17722" y="151413"/>
                </a:lnTo>
                <a:lnTo>
                  <a:pt x="3401" y="119806"/>
                </a:lnTo>
                <a:lnTo>
                  <a:pt x="0" y="85273"/>
                </a:lnTo>
                <a:lnTo>
                  <a:pt x="7880" y="51480"/>
                </a:lnTo>
                <a:lnTo>
                  <a:pt x="26204" y="22013"/>
                </a:lnTo>
                <a:lnTo>
                  <a:pt x="53027" y="0"/>
                </a:lnTo>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vis:icon"/>
          <p:cNvSpPr/>
          <p:nvPr/>
        </p:nvSpPr>
        <p:spPr>
          <a:xfrm>
            <a:off x="913171" y="4190343"/>
            <a:ext cx="48994" cy="42071"/>
          </a:xfrm>
          <a:custGeom>
            <a:avLst/>
            <a:gdLst/>
            <a:ahLst/>
            <a:cxnLst/>
            <a:rect l="l" t="t" r="r" b="b"/>
            <a:pathLst>
              <a:path w="48994" h="42071">
                <a:moveTo>
                  <a:pt x="48994" y="0"/>
                </a:moveTo>
                <a:lnTo>
                  <a:pt x="23964" y="42071"/>
                </a:lnTo>
                <a:lnTo>
                  <a:pt x="0" y="533"/>
                </a:lnTo>
                <a:close/>
              </a:path>
            </a:pathLst>
          </a:cu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deadlock prompt</a:t>
            </a:r>
          </a:p>
        </p:txBody>
      </p:sp>
      <p:sp>
        <p:nvSpPr>
          <p:cNvPr id="38"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Five options that are neither A nor B, plus two combinations.</a:t>
            </a:r>
          </a:p>
        </p:txBody>
      </p:sp>
      <p:sp>
        <p:nvSpPr>
          <p:cNvPr id="39"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LINKS THAT WORK</a:t>
            </a:r>
          </a:p>
        </p:txBody>
      </p:sp>
      <p:sp>
        <p:nvSpPr>
          <p:cNvPr id="40"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339937" y="2300630"/>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8482584" y="2443276"/>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3"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44"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chatgpt.com</a:t>
            </a:r>
          </a:p>
        </p:txBody>
      </p:sp>
      <p:sp>
        <p:nvSpPr>
          <p:cNvPr id="45"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icon"/>
          <p:cNvSpPr/>
          <p:nvPr/>
        </p:nvSpPr>
        <p:spPr>
          <a:xfrm>
            <a:off x="8339937" y="2977286"/>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7" name="vis:icon"/>
          <p:cNvCxnSpPr/>
          <p:nvPr/>
        </p:nvCxnSpPr>
        <p:spPr>
          <a:xfrm>
            <a:off x="8482584" y="3119932"/>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8"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49"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copilot.microsoft.com</a:t>
            </a:r>
          </a:p>
        </p:txBody>
      </p:sp>
      <p:sp>
        <p:nvSpPr>
          <p:cNvPr id="50"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icon"/>
          <p:cNvSpPr/>
          <p:nvPr/>
        </p:nvSpPr>
        <p:spPr>
          <a:xfrm>
            <a:off x="8339937" y="3653942"/>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2" name="vis:icon"/>
          <p:cNvCxnSpPr/>
          <p:nvPr/>
        </p:nvCxnSpPr>
        <p:spPr>
          <a:xfrm>
            <a:off x="8482584" y="3796588"/>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53"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54"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gemini.google.com</a:t>
            </a:r>
          </a:p>
        </p:txBody>
      </p:sp>
      <p:sp>
        <p:nvSpPr>
          <p:cNvPr id="55"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6"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DO THIS NEXT</a:t>
            </a:r>
          </a:p>
        </p:txBody>
      </p:sp>
      <p:sp>
        <p:nvSpPr>
          <p:cNvPr id="57"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module: DW-10, Planning &amp; Personal Productivity. Turning a long list of intentions into a week you can actually finish.</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DW-09  ·  Brainstorming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Divergent thinking</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Producing many options without judging them. The part AI does well.</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Convergent thinking</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Narrowing many options down to a decision. The part the room does.</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Constraint</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Something that rules an option out: a contract, a licence, a budget, a piece of equipment.</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Prompt</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Everything you type in: the problem, the range you want and the format.</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Output</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comes back. Raw material, none of which has been checked against reality.</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Deadlock</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Two stated positions and no movement. Usually social rather than analytical.</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