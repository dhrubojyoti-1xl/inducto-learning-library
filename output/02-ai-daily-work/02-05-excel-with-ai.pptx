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Rj7yrivdPbc"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block"/>
          <p:cNvSpPr/>
          <p:nvPr/>
        </p:nvSpPr>
        <p:spPr>
          <a:xfrm>
            <a:off x="7589520"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 name="vis:coverline"/>
          <p:cNvCxnSpPr/>
          <p:nvPr/>
        </p:nvCxnSpPr>
        <p:spPr>
          <a:xfrm flipV="1">
            <a:off x="8355787"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vis:coverblock"/>
          <p:cNvSpPr/>
          <p:nvPr/>
        </p:nvSpPr>
        <p:spPr>
          <a:xfrm>
            <a:off x="8626449" y="2838297"/>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7" name="vis:coverline"/>
          <p:cNvCxnSpPr/>
          <p:nvPr/>
        </p:nvCxnSpPr>
        <p:spPr>
          <a:xfrm>
            <a:off x="9392716" y="3152064"/>
            <a:ext cx="234087"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vis:coverblock"/>
          <p:cNvSpPr/>
          <p:nvPr/>
        </p:nvSpPr>
        <p:spPr>
          <a:xfrm>
            <a:off x="9663379"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coverline"/>
          <p:cNvCxnSpPr/>
          <p:nvPr/>
        </p:nvCxnSpPr>
        <p:spPr>
          <a:xfrm flipV="1">
            <a:off x="10429646"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vis:coverblock"/>
          <p:cNvSpPr/>
          <p:nvPr/>
        </p:nvSpPr>
        <p:spPr>
          <a:xfrm>
            <a:off x="10700308" y="2838297"/>
            <a:ext cx="729691" cy="627534"/>
          </a:xfrm>
          <a:prstGeom prst="roundRect">
            <a:avLst>
              <a:gd name="adj" fmla="val 1457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seclabel"/>
          <p:cNvSpPr txBox="1"/>
          <p:nvPr/>
        </p:nvSpPr>
        <p:spPr>
          <a:xfrm>
            <a:off x="960120" y="1295654"/>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12" name="title:cover"/>
          <p:cNvSpPr txBox="1"/>
          <p:nvPr/>
        </p:nvSpPr>
        <p:spPr>
          <a:xfrm>
            <a:off x="960120" y="1752854"/>
            <a:ext cx="5501487" cy="78130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Excel with AI</a:t>
            </a:r>
          </a:p>
        </p:txBody>
      </p:sp>
      <p:cxnSp>
        <p:nvCxnSpPr>
          <p:cNvPr id="13" name="vis:rule"/>
          <p:cNvCxnSpPr/>
          <p:nvPr/>
        </p:nvCxnSpPr>
        <p:spPr>
          <a:xfrm>
            <a:off x="960120" y="280847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4" name="body:coversub"/>
          <p:cNvSpPr txBox="1"/>
          <p:nvPr/>
        </p:nvSpPr>
        <p:spPr>
          <a:xfrm>
            <a:off x="960120" y="3082798"/>
            <a:ext cx="5501487"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Formulas written for you, messy data cleaned up, and every one of them tested on a single row first.</a:t>
            </a:r>
          </a:p>
        </p:txBody>
      </p:sp>
      <p:sp>
        <p:nvSpPr>
          <p:cNvPr id="15" name="vis:chip"/>
          <p:cNvSpPr/>
          <p:nvPr/>
        </p:nvSpPr>
        <p:spPr>
          <a:xfrm>
            <a:off x="960120" y="4629658"/>
            <a:ext cx="1043559"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1115568" y="4675378"/>
            <a:ext cx="73266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DW-05</a:t>
            </a:r>
          </a:p>
        </p:txBody>
      </p:sp>
      <p:sp>
        <p:nvSpPr>
          <p:cNvPr id="17" name="vis:chip"/>
          <p:cNvSpPr/>
          <p:nvPr/>
        </p:nvSpPr>
        <p:spPr>
          <a:xfrm>
            <a:off x="2149983" y="4629658"/>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2305431" y="4675378"/>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19 MINUTES</a:t>
            </a:r>
          </a:p>
        </p:txBody>
      </p:sp>
      <p:sp>
        <p:nvSpPr>
          <p:cNvPr id="19" name="vis:chip"/>
          <p:cNvSpPr/>
          <p:nvPr/>
        </p:nvSpPr>
        <p:spPr>
          <a:xfrm>
            <a:off x="3752596" y="462965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3908044" y="467537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21"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2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DW-05  ·  Excel with AI</a:t>
            </a:r>
          </a:p>
        </p:txBody>
      </p:sp>
      <p:sp>
        <p:nvSpPr>
          <p:cNvPr id="2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Suresh gives up on VLOOKUP again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40119"/>
            <a:ext cx="318006" cy="274641"/>
          </a:xfrm>
          <a:prstGeom prst="roundRect">
            <a:avLst>
              <a:gd name="adj" fmla="val 16647"/>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02284" y="2326848"/>
            <a:ext cx="31800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125150" y="2240119"/>
            <a:ext cx="0" cy="27464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1002284" y="2420804"/>
            <a:ext cx="31800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Suresh schedules maintenance for a Coimbatore plant. He needs to match 600 machine codes against a service history sheet. He knows what he wants. He has never got VLOOKUP to work, so he does it by hand every quarter.</a:t>
            </a:r>
          </a:p>
        </p:txBody>
      </p:sp>
      <p:sp>
        <p:nvSpPr>
          <p:cNvPr id="23"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Two days a quarter, matching rows by eye.</a:t>
            </a:r>
          </a:p>
        </p:txBody>
      </p:sp>
      <p:sp>
        <p:nvSpPr>
          <p:cNvPr id="29"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31"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2"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Describe the match in plain English. Test it on one row.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0990" y="1963663"/>
            <a:ext cx="259426" cy="224049"/>
          </a:xfrm>
          <a:prstGeom prst="roundRect">
            <a:avLst>
              <a:gd name="adj" fmla="val 20406"/>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930990" y="2034415"/>
            <a:ext cx="25942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31223" y="1963663"/>
            <a:ext cx="0" cy="22404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30990" y="2111064"/>
            <a:ext cx="25942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Describe what you want and get a working formula back</a:t>
            </a:r>
          </a:p>
        </p:txBody>
      </p:sp>
      <p:sp>
        <p:nvSpPr>
          <p:cNvPr id="22"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954575" y="2977696"/>
            <a:ext cx="76648" cy="76648"/>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1031223" y="2889255"/>
            <a:ext cx="141505" cy="16508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6"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Test any formula on one row before applying it to a column</a:t>
            </a:r>
          </a:p>
        </p:txBody>
      </p:sp>
      <p:sp>
        <p:nvSpPr>
          <p:cNvPr id="27"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943035" y="3765789"/>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vis:icon"/>
          <p:cNvSpPr/>
          <p:nvPr/>
        </p:nvSpPr>
        <p:spPr>
          <a:xfrm>
            <a:off x="988477" y="3742326"/>
            <a:ext cx="54244" cy="46578"/>
          </a:xfrm>
          <a:custGeom>
            <a:avLst/>
            <a:gdLst/>
            <a:ahLst/>
            <a:cxnLst/>
            <a:rect l="l" t="t" r="r" b="b"/>
            <a:pathLst>
              <a:path w="54244" h="46578">
                <a:moveTo>
                  <a:pt x="54244" y="0"/>
                </a:moveTo>
                <a:lnTo>
                  <a:pt x="26532" y="46578"/>
                </a:lnTo>
                <a:lnTo>
                  <a:pt x="0" y="589"/>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Fix a formula error without understanding the error message</a:t>
            </a:r>
          </a:p>
        </p:txBody>
      </p:sp>
      <p:sp>
        <p:nvSpPr>
          <p:cNvPr id="32"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966367" y="4634310"/>
            <a:ext cx="188673" cy="259426"/>
          </a:xfrm>
          <a:prstGeom prst="roundRect">
            <a:avLst>
              <a:gd name="adj" fmla="val 24232"/>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1007639" y="4716855"/>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a:off x="1007639" y="4764024"/>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a:off x="1007639" y="4811192"/>
            <a:ext cx="7075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Clean messy data without retyping a single cell</a:t>
            </a:r>
          </a:p>
        </p:txBody>
      </p:sp>
      <p:sp>
        <p:nvSpPr>
          <p:cNvPr id="39"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933938" y="5527474"/>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Get Excel help without pasting the actual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Describe, do not remember</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Plain English to formula</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one-row test</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Before you fill down</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Fixing errors</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Paste the message, not the sheet</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Cleaning messy data</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Without retyping</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Solve one real Excel problem</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quarter-end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An 8-minute outside walkthrough</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DESCRIBE, DO NOT REMEMBER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Describe it in plain English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You do not need to remember the syntax. You need to describe the job precisely.</a:t>
            </a:r>
          </a:p>
        </p:txBody>
      </p:sp>
      <p:sp>
        <p:nvSpPr>
          <p:cNvPr id="16" name="vis:flowcard"/>
          <p:cNvSpPr/>
          <p:nvPr/>
        </p:nvSpPr>
        <p:spPr>
          <a:xfrm>
            <a:off x="502920"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Name the columns</a:t>
            </a:r>
          </a:p>
        </p:txBody>
      </p:sp>
      <p:sp>
        <p:nvSpPr>
          <p:cNvPr id="20" name="vis:flowsub"/>
          <p:cNvSpPr txBox="1"/>
          <p:nvPr/>
        </p:nvSpPr>
        <p:spPr>
          <a:xfrm>
            <a:off x="704088"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"Machine code is in column A, dates in column D."</a:t>
            </a:r>
          </a:p>
        </p:txBody>
      </p:sp>
      <p:cxnSp>
        <p:nvCxnSpPr>
          <p:cNvPr id="21" name="vis:flowarrow"/>
          <p:cNvCxnSpPr/>
          <p:nvPr/>
        </p:nvCxnSpPr>
        <p:spPr>
          <a:xfrm>
            <a:off x="3093643" y="389534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Say what you want</a:t>
            </a:r>
          </a:p>
        </p:txBody>
      </p:sp>
      <p:sp>
        <p:nvSpPr>
          <p:cNvPr id="26" name="vis:flowsub"/>
          <p:cNvSpPr txBox="1"/>
          <p:nvPr/>
        </p:nvSpPr>
        <p:spPr>
          <a:xfrm>
            <a:off x="3596563"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"Find the last service date for each code."</a:t>
            </a:r>
          </a:p>
        </p:txBody>
      </p:sp>
      <p:cxnSp>
        <p:nvCxnSpPr>
          <p:cNvPr id="27" name="vis:flowarrow"/>
          <p:cNvCxnSpPr/>
          <p:nvPr/>
        </p:nvCxnSpPr>
        <p:spPr>
          <a:xfrm>
            <a:off x="5986119" y="389534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Say what if missing</a:t>
            </a:r>
          </a:p>
        </p:txBody>
      </p:sp>
      <p:sp>
        <p:nvSpPr>
          <p:cNvPr id="32" name="vis:flowsub"/>
          <p:cNvSpPr txBox="1"/>
          <p:nvPr/>
        </p:nvSpPr>
        <p:spPr>
          <a:xfrm>
            <a:off x="6489039"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"Show 'no record' rather than an error."</a:t>
            </a:r>
          </a:p>
        </p:txBody>
      </p:sp>
      <p:cxnSp>
        <p:nvCxnSpPr>
          <p:cNvPr id="33" name="vis:flowarrow"/>
          <p:cNvCxnSpPr/>
          <p:nvPr/>
        </p:nvCxnSpPr>
        <p:spPr>
          <a:xfrm>
            <a:off x="8878595" y="389534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Ask for one formula</a:t>
            </a:r>
          </a:p>
        </p:txBody>
      </p:sp>
      <p:sp>
        <p:nvSpPr>
          <p:cNvPr id="38" name="vis:flowsub"/>
          <p:cNvSpPr txBox="1"/>
          <p:nvPr/>
        </p:nvSpPr>
        <p:spPr>
          <a:xfrm>
            <a:off x="9381515"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"Give me the formula only, no explanation."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DESCRIBE, DO NOT REMEMBER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formula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have machine codes in column A of Sheet1, and a service history in Sheet2 with codes in column A and dates in column D. In Sheet1 column B I want the most recent service date for each code, and the words "no record" if there is no match. Give me the formula only, for Excel, with no explanation.</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Columns, sheets, what you want, what if missing.</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Naming sheets and columns removes all the guesswork.</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Saying what to show when there is no match avoids #N/A everywhere.</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"Formula only" saves you scrolling past three paragraphs.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ONE-ROW TEST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Test it on one row first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the formula into a single cell, not the whole column.</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Pick a row where you already know the correct answer.</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Check the result matches what you know, exactly.</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Only then fill it down the column.</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The formula you gave me returns 14 March for machine code M-2201, but the service sheet shows 2 April for that code. Tell me what is wrong with the formula and give me a corrected version. Formula only.</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Naming a row you know the answer for is the whole technique.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ONE-ROW TEST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the one-row test matters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45643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14553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FILLED STRAIGHT DOWN</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The formula looks right and produces 600 dates.</a:t>
            </a:r>
          </a:p>
          <a:p>
            <a:pPr algn="l">
              <a:lnSpc>
                <a:spcPts val="1690"/>
              </a:lnSpc>
              <a:spcBef>
                <a:spcPts val="0"/>
              </a:spcBef>
              <a:spcAft>
                <a:spcPts val="600"/>
              </a:spcAft>
            </a:pPr>
            <a:r>
              <a:rPr sz="1300" b="0">
                <a:solidFill>
                  <a:srgbClr val="2A3547"/>
                </a:solidFill>
                <a:latin typeface="Segoe UI"/>
              </a:rPr>
              <a:t>It has matched on the wrong column, so 600 dates are plausible and wrong.</a:t>
            </a:r>
          </a:p>
          <a:p>
            <a:pPr algn="l">
              <a:lnSpc>
                <a:spcPts val="1690"/>
              </a:lnSpc>
              <a:spcBef>
                <a:spcPts val="0"/>
              </a:spcBef>
              <a:spcAft>
                <a:spcPts val="600"/>
              </a:spcAft>
            </a:pPr>
            <a:r>
              <a:rPr sz="1300" b="0">
                <a:solidFill>
                  <a:srgbClr val="2A3547"/>
                </a:solidFill>
                <a:latin typeface="Segoe UI"/>
              </a:rPr>
              <a:t>The maintenance schedule is built on them before anyone notices.</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77952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4686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ONE ROW FIRST</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test it on M-2201, where you know the answer is 2 April.</a:t>
            </a:r>
          </a:p>
          <a:p>
            <a:pPr algn="l">
              <a:lnSpc>
                <a:spcPts val="1690"/>
              </a:lnSpc>
              <a:spcBef>
                <a:spcPts val="0"/>
              </a:spcBef>
              <a:spcAft>
                <a:spcPts val="600"/>
              </a:spcAft>
            </a:pPr>
            <a:r>
              <a:rPr sz="1300" b="0">
                <a:solidFill>
                  <a:srgbClr val="2A3547"/>
                </a:solidFill>
                <a:latin typeface="Segoe UI"/>
              </a:rPr>
              <a:t>It returns 14 March, so you catch it in ten seconds.</a:t>
            </a:r>
          </a:p>
          <a:p>
            <a:pPr algn="l">
              <a:lnSpc>
                <a:spcPts val="1690"/>
              </a:lnSpc>
              <a:spcBef>
                <a:spcPts val="0"/>
              </a:spcBef>
              <a:spcAft>
                <a:spcPts val="600"/>
              </a:spcAft>
            </a:pPr>
            <a:r>
              <a:rPr sz="1300" b="0">
                <a:solidFill>
                  <a:srgbClr val="2A3547"/>
                </a:solidFill>
                <a:latin typeface="Segoe UI"/>
              </a:rPr>
              <a:t>One correction, then 600 correct dates.</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 wrong formula does not error. It produces six hundred confident, wrong answers.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FIXING ERRORS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Paste the error, not the sheet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anel"/>
          <p:cNvSpPr/>
          <p:nvPr/>
        </p:nvSpPr>
        <p:spPr>
          <a:xfrm>
            <a:off x="502920" y="1719072"/>
            <a:ext cx="5437479" cy="3822192"/>
          </a:xfrm>
          <a:prstGeom prst="roundRect">
            <a:avLst>
              <a:gd name="adj" fmla="val 23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3822192"/>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703075"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39217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SAFE TO PASTE</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About the structure</a:t>
            </a:r>
          </a:p>
        </p:txBody>
      </p:sp>
      <p:cxnSp>
        <p:nvCxnSpPr>
          <p:cNvPr id="20" name="vis:icon"/>
          <p:cNvCxnSpPr/>
          <p:nvPr/>
        </p:nvCxnSpPr>
        <p:spPr>
          <a:xfrm>
            <a:off x="811987"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V="1">
            <a:off x="859536" y="3098901"/>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formula itself</a:t>
            </a:r>
          </a:p>
        </p:txBody>
      </p:sp>
      <p:cxnSp>
        <p:nvCxnSpPr>
          <p:cNvPr id="23" name="vis:icon"/>
          <p:cNvCxnSpPr/>
          <p:nvPr/>
        </p:nvCxnSpPr>
        <p:spPr>
          <a:xfrm>
            <a:off x="811987" y="372983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859536" y="3674973"/>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593591"/>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error message: #N/A, #REF!, #VALUE!</a:t>
            </a:r>
          </a:p>
        </p:txBody>
      </p:sp>
      <p:cxnSp>
        <p:nvCxnSpPr>
          <p:cNvPr id="26" name="vis:icon"/>
          <p:cNvCxnSpPr/>
          <p:nvPr/>
        </p:nvCxnSpPr>
        <p:spPr>
          <a:xfrm>
            <a:off x="811987" y="43059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V="1">
            <a:off x="859536" y="4251045"/>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169663"/>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Column letters and what each holds</a:t>
            </a:r>
          </a:p>
        </p:txBody>
      </p:sp>
      <p:cxnSp>
        <p:nvCxnSpPr>
          <p:cNvPr id="29" name="vis:icon"/>
          <p:cNvCxnSpPr/>
          <p:nvPr/>
        </p:nvCxnSpPr>
        <p:spPr>
          <a:xfrm>
            <a:off x="811987" y="4881981"/>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V="1">
            <a:off x="859536" y="4827117"/>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4745736"/>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One made-up example row</a:t>
            </a:r>
          </a:p>
        </p:txBody>
      </p:sp>
      <p:sp>
        <p:nvSpPr>
          <p:cNvPr id="32" name="vis:panel"/>
          <p:cNvSpPr/>
          <p:nvPr/>
        </p:nvSpPr>
        <p:spPr>
          <a:xfrm>
            <a:off x="6251295" y="1719072"/>
            <a:ext cx="5437479" cy="3822192"/>
          </a:xfrm>
          <a:prstGeom prst="roundRect">
            <a:avLst>
              <a:gd name="adj" fmla="val 23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382219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572365"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26146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NEVER PASTE</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actual data</a:t>
            </a:r>
          </a:p>
        </p:txBody>
      </p:sp>
      <p:cxnSp>
        <p:nvCxnSpPr>
          <p:cNvPr id="37" name="vis:icon"/>
          <p:cNvCxnSpPr/>
          <p:nvPr/>
        </p:nvCxnSpPr>
        <p:spPr>
          <a:xfrm>
            <a:off x="6567677" y="309158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H="1">
            <a:off x="6567677" y="309158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Customer names against values</a:t>
            </a:r>
          </a:p>
        </p:txBody>
      </p:sp>
      <p:cxnSp>
        <p:nvCxnSpPr>
          <p:cNvPr id="40" name="vis:icon"/>
          <p:cNvCxnSpPr/>
          <p:nvPr/>
        </p:nvCxnSpPr>
        <p:spPr>
          <a:xfrm>
            <a:off x="6567677" y="366765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H="1">
            <a:off x="6567677" y="366765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593591"/>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Employee names, salaries or attendance</a:t>
            </a:r>
          </a:p>
        </p:txBody>
      </p:sp>
      <p:cxnSp>
        <p:nvCxnSpPr>
          <p:cNvPr id="43" name="vis:icon"/>
          <p:cNvCxnSpPr/>
          <p:nvPr/>
        </p:nvCxnSpPr>
        <p:spPr>
          <a:xfrm>
            <a:off x="6567677" y="424373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H="1">
            <a:off x="6567677" y="424373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169663"/>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Real account or invoice numbers</a:t>
            </a:r>
          </a:p>
        </p:txBody>
      </p:sp>
      <p:cxnSp>
        <p:nvCxnSpPr>
          <p:cNvPr id="46" name="vis:icon"/>
          <p:cNvCxnSpPr/>
          <p:nvPr/>
        </p:nvCxnSpPr>
        <p:spPr>
          <a:xfrm>
            <a:off x="6567677" y="4819802"/>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H="1">
            <a:off x="6567677" y="4819802"/>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4745736"/>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whole sheet, "so it has context"</a:t>
            </a:r>
          </a:p>
        </p:txBody>
      </p:sp>
      <p:sp>
        <p:nvSpPr>
          <p:cNvPr id="49"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50" name="vis:chip"/>
          <p:cNvSpPr/>
          <p:nvPr/>
        </p:nvSpPr>
        <p:spPr>
          <a:xfrm>
            <a:off x="2221991" y="5660136"/>
            <a:ext cx="2019841"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chiptext"/>
          <p:cNvSpPr txBox="1"/>
          <p:nvPr/>
        </p:nvSpPr>
        <p:spPr>
          <a:xfrm>
            <a:off x="2377439" y="5687568"/>
            <a:ext cx="170894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PERSONAL DATA  ?</a:t>
            </a:r>
          </a:p>
        </p:txBody>
      </p:sp>
      <p:sp>
        <p:nvSpPr>
          <p:cNvPr id="52" name="nav:gloss">
            <a:hlinkClick action="ppaction://hlinksldjump" r:id="rId3"/>
          </p:cNvPr>
          <p:cNvSpPr/>
          <p:nvPr/>
        </p:nvSpPr>
        <p:spPr>
          <a:xfrm>
            <a:off x="2221991" y="5660136"/>
            <a:ext cx="2019841"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FIXING ERRORS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error-fixing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This formula returns #N/A: [paste the formula]. Column A holds machine codes like M-2201 as text. Column D holds dates. Tell me the two most likely causes and give me a corrected formula for each. Formulas only, one line of explanation each.</a:t>
            </a:r>
          </a:p>
        </p:txBody>
      </p:sp>
      <p:sp>
        <p:nvSpPr>
          <p:cNvPr id="28" name="vis:promptcap"/>
          <p:cNvSpPr txBox="1"/>
          <p:nvPr/>
        </p:nvSpPr>
        <p:spPr>
          <a:xfrm>
            <a:off x="777240" y="362457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Describe what the columns hold. Never paste what is in them.</a:t>
            </a:r>
          </a:p>
        </p:txBody>
      </p:sp>
      <p:sp>
        <p:nvSpPr>
          <p:cNvPr id="29" name="vis:outcard"/>
          <p:cNvSpPr/>
          <p:nvPr/>
        </p:nvSpPr>
        <p:spPr>
          <a:xfrm>
            <a:off x="6685324" y="1719072"/>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94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Two likely causes, usually including a text-versus-number mismatch.</a:t>
            </a:r>
          </a:p>
          <a:p>
            <a:pPr algn="l">
              <a:lnSpc>
                <a:spcPts val="1690"/>
              </a:lnSpc>
              <a:spcBef>
                <a:spcPts val="0"/>
              </a:spcBef>
              <a:spcAft>
                <a:spcPts val="600"/>
              </a:spcAft>
            </a:pPr>
            <a:r>
              <a:rPr sz="1300" b="0">
                <a:solidFill>
                  <a:srgbClr val="2A3547"/>
                </a:solidFill>
                <a:latin typeface="Segoe UI"/>
              </a:rPr>
              <a:t>A corrected formula for each, ready to test on one row.</a:t>
            </a:r>
          </a:p>
          <a:p>
            <a:pPr algn="l">
              <a:lnSpc>
                <a:spcPts val="1690"/>
              </a:lnSpc>
              <a:spcBef>
                <a:spcPts val="0"/>
              </a:spcBef>
              <a:spcAft>
                <a:spcPts val="600"/>
              </a:spcAft>
            </a:pPr>
            <a:r>
              <a:rPr sz="1300" b="0">
                <a:solidFill>
                  <a:srgbClr val="2A3547"/>
                </a:solidFill>
                <a:latin typeface="Segoe UI"/>
              </a:rPr>
              <a:t>No data left your laptop, because you described it instead.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CLEANING MESSY DATA</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Cleaning without retyping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SPLIT — "separate the code from the description in column A"</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STANDARDISE — "make every date show as DD-MM-YYYY"</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TRIM — "remove trailing spaces and double spaces"</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FLAG — "mark rows where the code does not match the pattern"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CLEANING MESSY DATA</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Ask for the steps, not the result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For cleaning, the instructions are more useful than an answer, because you keep control of the sheet.</a:t>
            </a:r>
          </a:p>
        </p:txBody>
      </p:sp>
      <p:sp>
        <p:nvSpPr>
          <p:cNvPr id="16" name="vis:tile"/>
          <p:cNvSpPr/>
          <p:nvPr/>
        </p:nvSpPr>
        <p:spPr>
          <a:xfrm>
            <a:off x="502920" y="270662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77240" y="299923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59212" y="3201745"/>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44800" y="3225710"/>
            <a:ext cx="21225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959212" y="3304451"/>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44800" y="3328415"/>
            <a:ext cx="21225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959212" y="3407156"/>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1044800" y="3431121"/>
            <a:ext cx="21225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4" name="cell:tilelabel"/>
          <p:cNvSpPr txBox="1"/>
          <p:nvPr/>
        </p:nvSpPr>
        <p:spPr>
          <a:xfrm>
            <a:off x="777240" y="384048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Ask for the method</a:t>
            </a:r>
          </a:p>
        </p:txBody>
      </p:sp>
      <p:sp>
        <p:nvSpPr>
          <p:cNvPr id="25" name="cell:tilesub"/>
          <p:cNvSpPr txBox="1"/>
          <p:nvPr/>
        </p:nvSpPr>
        <p:spPr>
          <a:xfrm>
            <a:off x="777240" y="448056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"Give me the Excel steps to split this column" beats pasting the column in.</a:t>
            </a:r>
          </a:p>
        </p:txBody>
      </p:sp>
      <p:sp>
        <p:nvSpPr>
          <p:cNvPr id="26" name="vis:tile"/>
          <p:cNvSpPr/>
          <p:nvPr/>
        </p:nvSpPr>
        <p:spPr>
          <a:xfrm>
            <a:off x="4322978" y="270662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4597298" y="299923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4775847" y="3198322"/>
            <a:ext cx="301269" cy="260187"/>
          </a:xfrm>
          <a:prstGeom prst="roundRect">
            <a:avLst>
              <a:gd name="adj" fmla="val 17571"/>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4775847" y="3280486"/>
            <a:ext cx="30126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a:off x="4892247" y="3198322"/>
            <a:ext cx="0" cy="26018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a:off x="4775847" y="3369498"/>
            <a:ext cx="30126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tilelabel"/>
          <p:cNvSpPr txBox="1"/>
          <p:nvPr/>
        </p:nvSpPr>
        <p:spPr>
          <a:xfrm>
            <a:off x="4597298" y="384048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Ask for a formula</a:t>
            </a:r>
          </a:p>
        </p:txBody>
      </p:sp>
      <p:sp>
        <p:nvSpPr>
          <p:cNvPr id="33" name="cell:tilesub"/>
          <p:cNvSpPr txBox="1"/>
          <p:nvPr/>
        </p:nvSpPr>
        <p:spPr>
          <a:xfrm>
            <a:off x="4597298" y="448056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formula you paste in works on all 600 rows and leaves the data where it is.</a:t>
            </a:r>
          </a:p>
        </p:txBody>
      </p:sp>
      <p:sp>
        <p:nvSpPr>
          <p:cNvPr id="34" name="vis:tile"/>
          <p:cNvSpPr/>
          <p:nvPr/>
        </p:nvSpPr>
        <p:spPr>
          <a:xfrm>
            <a:off x="8143036" y="270662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badge"/>
          <p:cNvSpPr/>
          <p:nvPr/>
        </p:nvSpPr>
        <p:spPr>
          <a:xfrm>
            <a:off x="8417356" y="299923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8623294" y="3335263"/>
            <a:ext cx="89011" cy="8901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8712305" y="3232557"/>
            <a:ext cx="164329" cy="19171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tilelabel"/>
          <p:cNvSpPr txBox="1"/>
          <p:nvPr/>
        </p:nvSpPr>
        <p:spPr>
          <a:xfrm>
            <a:off x="8417356" y="384048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Test on one row</a:t>
            </a:r>
          </a:p>
        </p:txBody>
      </p:sp>
      <p:sp>
        <p:nvSpPr>
          <p:cNvPr id="39" name="cell:tilesub"/>
          <p:cNvSpPr txBox="1"/>
          <p:nvPr/>
        </p:nvSpPr>
        <p:spPr>
          <a:xfrm>
            <a:off x="8417356" y="448056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Same rule as always. One known answer before you fill anything down.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solve one problem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Think of the Excel job you currently do by hand.</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down which columns hold what, using letters.</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the prompt on the right with your description in it.</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Test the formula on one row you already know the answer to.</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In Excel, [column letters and what each holds]. I want [what you want to happen] in column [letter]. If there is no match, show [what instead]. Give me the formula only, no explanation. Do not ask me to paste my data.</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Five brackets. Covers most lookup and matching jobs.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with Excel and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Describe your columns. Never paste their contents.</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Always test on one row where you know the answer.</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Say what should happen when there is no match.</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Keep the formulas that worked in a notes file.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Filling down before testing</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wrong formula does not error. It gives six hundred plausible wrong answers.</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Pasting the sheet to "give it context"</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Customer names, values and account numbers all leave in one paste.</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it to calculate instead of writing a formula</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formula is checkable and repeatable. Its arithmetic is neither.</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Not saying what to do when there is no match</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get #N/A across half the column and assume the formula is broken.</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Accepting a formula you cannot read at all</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do not need to write it, but you do need to be able to test and describe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Formula or macro?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Will I need to do this again next month?</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Ask for steps</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For a genuine one-off, the menu steps are faster and leave nothing behind for a colleague to puzzle over later.</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Ask for a formula</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formula lives in the sheet, updates when the data changes, and anyone can see what it does. Save the prompt that produced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good use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You describe the sheet</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Column letters and what each one holds.</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It writes the formula</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Syntax you never have to memorise.</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0E6E75"/>
                </a:solidFill>
                <a:latin typeface="Segoe UI Semibold"/>
              </a:rPr>
              <a:t>You test one row</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step that turns a guess into a result.</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Two days of matching rows by eye becomes twenty minutes, and the sheet still contains every check a colleague would want to see.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Excel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Describe the sheet. Never paste the sheet. Always test one row.</a:t>
            </a:r>
          </a:p>
          <a:p>
            <a:pPr algn="l">
              <a:lnSpc>
                <a:spcPts val="1755"/>
              </a:lnSpc>
              <a:spcBef>
                <a:spcPts val="0"/>
              </a:spcBef>
              <a:spcAft>
                <a:spcPts val="0"/>
              </a:spcAft>
            </a:pPr>
            <a:r>
              <a:rPr sz="1350" b="0">
                <a:solidFill>
                  <a:srgbClr val="FFFFFF"/>
                </a:solidFill>
                <a:latin typeface="Segoe UI"/>
              </a:rPr>
              <a:t>Those three habits cover every safe use of AI with a spreadsheet.</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Columns described — safe.</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Data pasted — a breach.</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 row tested — trustworthy.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Quarter-end, 11:00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Six hundred machine codes need matching to their last service date. You have the two sheets open and no idea how to write the lookup.</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Paste both sheets in and ask it to do the matching.</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Describe the columns, get a formula, test it on one known row.</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Match them by hand again, as you did last quarter.</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Two problems, and one of them is permanent</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Six hundred rows of asset data leave the company, and the matching it returns was produced as text rather than calculated. You cannot check six hundred results, so you check none of them.</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paste the sheet. Never accept a result the sheet did not calculate.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Twenty minutes, and the sheet does the work</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describe the two sheets in three lines. The formula comes back, you test it on M-2201 where you know the answer, correct one thing, and fill down. Six hundred correct dates, and nothing left your laptop.</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structure, test one row, then fill down.</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Reliable, and it costs you two days</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result is right, because you checked every row. It also takes two days every quarter, and next quarter it will take two days again, because nothing was left behind in the sheet.</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formula is the version of the work that survives to next quarter.</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Eight minutes, shown on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Excel Tutorial for Beginners — Learn with Copilot AI (Free Tool!)</a:t>
            </a:r>
          </a:p>
        </p:txBody>
      </p:sp>
      <p:sp>
        <p:nvSpPr>
          <p:cNvPr id="19" name="vis:chip"/>
          <p:cNvSpPr/>
          <p:nvPr/>
        </p:nvSpPr>
        <p:spPr>
          <a:xfrm>
            <a:off x="868680" y="3858768"/>
            <a:ext cx="1945110"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63421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KEVIN STRATVERT</a:t>
            </a:r>
          </a:p>
        </p:txBody>
      </p:sp>
      <p:sp>
        <p:nvSpPr>
          <p:cNvPr id="21" name="vis:chip"/>
          <p:cNvSpPr/>
          <p:nvPr/>
        </p:nvSpPr>
        <p:spPr>
          <a:xfrm>
            <a:off x="2960094" y="3858768"/>
            <a:ext cx="122707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115542" y="3895344"/>
            <a:ext cx="9161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7:35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Follow this module's rules on what you may paste.</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prompts in this deck work as written.</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learn Excel better by watching than reading.</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must you do before filling down?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Check the formula looks correct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Test it on one row where you know the answer</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the tool whether the formula is right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Save a backup of the file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Check the formula looks correct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formula that looks correct can match on the wrong column and still return plausible dates for every row. Looking is not testing.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Test one row where you know the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Test it on one row where you know the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Ten seconds, and it is the only step that distinguishes a working formula from one producing six hundred confident errors.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Test one row where you know the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Ask the tool whether the formula is right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will say yes, in the same confident voice it used to give you the formula. It cannot see your sheet or your data.</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Test one row where you know the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Save a backup of the file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Sensible generally, but it does not tell you whether the formula works. You would simply have a backup of a file with wrong results in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Test one row where you know the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is safe to paste for Excel help?</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whole sheet, so it has full context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formula, the error message and what each column holds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Twenty representative rows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Just the customer column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whole sheet, so it has full context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never needs the contents to write a formula. What leaves the company in that paste is every customer, value and account number in the file.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columns. Never their contents.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formula, the error message and what each column holds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everything required to diagnose a formula problem, and none of it identifies anyone or reveals any commercial figure.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columns. Never their contents.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Twenty representative rows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Twenty real rows is still twenty real records. If you genuinely need to show a row, invent one with the same shape.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columns. Never their contents.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Just the customer column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a customer list. It is one of the most sensitive single columns in the sheet, not the safest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columns. Never their contents.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say what to show when no match?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makes the formula shorter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Otherwise you get errors you cannot interpret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tool will refuse without it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stops the formula being slow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makes the formula shorter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makes it slightly longer. The gain is that the result is readable rather than a column of error codes.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Otherwise half the column reads #N/A.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Otherwise you get errors you cannot interpret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Without it, every unmatched row shows #N/A, and you cannot tell whether the formula is broken or the code genuinely has no service record.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Otherwise half the column reads #N/A.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tool will refuse without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will happily give you a formula without it. You then spend twenty minutes wondering why half your column looks broken.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Otherwise half the column reads #N/A.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stops the formula being slow</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Speed is unaffected on any realistic sheet. The benefit is entirely about being able to read the result.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Otherwise half the column reads #N/A.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Formula or calculated answer?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for the calculated answer — it is faster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for a formula and put it in the sheet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for both and compare them</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it to check your existing numbers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Ask for the calculated answer — it is faster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faster once and wrong at unpredictable intervals. It also leaves nothing in the sheet, so next quarter you start again from nothing.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formula is checkable and repeats itself.</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Ask for a formula and put it in the sheet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Excel does the arithmetic, so it is correct. It updates when the data changes, a colleague can see what it does, and next quarter is already solved.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formula is checkable and repeats itself.</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Ask for both and compare them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comparison tells you little, and you have now spent longer than writing the formula would have taken. Trust the sheet, not the text.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formula is checkable and repeats itself.</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 it to check your existing numbers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cannot check arithmetic reliably. If you want a check, build a second formula that should agree with the first.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formula is checkable and repeats itself.</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formula returns the wrong date.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You tested it on a row where you know the answer, and it does not match.</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it to try a completely different approach</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Tell it the code, what you expected and what you got</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Paste the two sheets so it can see the problem</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Fill it down anyway and check a few rows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Ask it to try a completely different approach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throw away a formula that may be one argument from correct, and invite a new one with a new set of problems to diagnose.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Give it the row, the expected value and the actual 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Tell it the code, what you expected and what you got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enough to identify the fault almost every time — usually an exact-match argument or a text versus number mismatch. Ask for the corrected formula only.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Give it the row, the expected value and the actual 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Paste the two sheets so it can see the problem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cannot see your sheets in any useful way, and you would be exporting the data to solve a formula problem that needs three lines of description.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Give it the row, the expected value and the actual 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Fill it down anyway and check a few rows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already know it is wrong on a row where you knew the answer. Filling down multiplies a known error six hundred times.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Give it the row, the expected value and the actual 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Excel with AI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Describe, do not remember</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Name the sheets, the columns and what you want. Syntax is its job.</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Say what to do when nothing matches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Otherwise half the column shows an error code you then misdiagnose.</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Test one row, every time</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wrong formula does not error. It returns six hundred plausible answers.</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Paste the error, never the sheet</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formula and the column descriptions are all it needs.</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Prefer a formula to an answer</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lives in the sheet, updates itself, and solves next quarter too.</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Keep the ones that worked</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notes file of five working formulas saves the same fight twice.</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Describe the sheet. Never paste the sheet. Always test one row.</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1247" y="2398176"/>
            <a:ext cx="234320" cy="202367"/>
          </a:xfrm>
          <a:prstGeom prst="roundRect">
            <a:avLst>
              <a:gd name="adj" fmla="val 22592"/>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861247" y="2462081"/>
            <a:ext cx="234321"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51780" y="2398176"/>
            <a:ext cx="0" cy="20236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861247" y="2531312"/>
            <a:ext cx="234321"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formula prompt</a:t>
            </a:r>
          </a:p>
        </p:txBody>
      </p:sp>
      <p:sp>
        <p:nvSpPr>
          <p:cNvPr id="23"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Columns, what you want, what if missing, formula only.</a:t>
            </a:r>
          </a:p>
        </p:txBody>
      </p:sp>
      <p:sp>
        <p:nvSpPr>
          <p:cNvPr id="24"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872126" y="3309328"/>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vis:icon"/>
          <p:cNvSpPr/>
          <p:nvPr/>
        </p:nvSpPr>
        <p:spPr>
          <a:xfrm>
            <a:off x="913171" y="3288135"/>
            <a:ext cx="48994" cy="42071"/>
          </a:xfrm>
          <a:custGeom>
            <a:avLst/>
            <a:gdLst/>
            <a:ahLst/>
            <a:cxnLst/>
            <a:rect l="l" t="t" r="r" b="b"/>
            <a:pathLst>
              <a:path w="48994" h="42071">
                <a:moveTo>
                  <a:pt x="48994" y="0"/>
                </a:moveTo>
                <a:lnTo>
                  <a:pt x="23964" y="42071"/>
                </a:lnTo>
                <a:lnTo>
                  <a:pt x="0" y="533"/>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error-fixing prompt</a:t>
            </a:r>
          </a:p>
        </p:txBody>
      </p:sp>
      <p:sp>
        <p:nvSpPr>
          <p:cNvPr id="29"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formula, the error, and what the columns hold.</a:t>
            </a:r>
          </a:p>
        </p:txBody>
      </p:sp>
      <p:sp>
        <p:nvSpPr>
          <p:cNvPr id="30"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82549" y="4309101"/>
            <a:ext cx="69231" cy="6923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951780" y="4229219"/>
            <a:ext cx="127811" cy="149113"/>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one-row test</a:t>
            </a:r>
          </a:p>
        </p:txBody>
      </p:sp>
      <p:sp>
        <p:nvSpPr>
          <p:cNvPr id="35"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 row you know the answer to, before you fill down.</a:t>
            </a:r>
          </a:p>
        </p:txBody>
      </p:sp>
      <p:sp>
        <p:nvSpPr>
          <p:cNvPr id="36"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37"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1"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42"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4"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5"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6"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47"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8"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9"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50"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1"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2"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3"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4"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DW-06, Presentations with AI. Getting a structure and a story before you open PowerPoint at all.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DW-05  ·  Excel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Formula</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 instruction Excel calculates itself. Checkable, repeatable and safe.</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Lookup</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Matching a value in one sheet against a table in another, such as VLOOKUP or XLOOKUP.</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#N/A</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Excel's way of saying it found no match. Usually a text versus number problem.</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One-row test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Checking a formula against a row whose answer you already know, before filling down.</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Personal data</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Anything identifying a person: a name, a phone number, an account, an employee number.</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your column descriptions and what you want to happen.</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