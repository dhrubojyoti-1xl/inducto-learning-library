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 Id="rId3" Type="http://schemas.openxmlformats.org/officeDocument/2006/relationships/slide" Target="slide7.xml"/><Relationship Id="rId4" Type="http://schemas.openxmlformats.org/officeDocument/2006/relationships/slide" Target="slide9.xml"/><Relationship Id="rId5" Type="http://schemas.openxmlformats.org/officeDocument/2006/relationships/slide" Target="slide11.xml"/><Relationship Id="rId6" Type="http://schemas.openxmlformats.org/officeDocument/2006/relationships/slide" Target="slide13.xml"/><Relationship Id="rId7" Type="http://schemas.openxmlformats.org/officeDocument/2006/relationships/slide" Target="slide19.xml"/><Relationship Id="rId8" Type="http://schemas.openxmlformats.org/officeDocument/2006/relationships/slide" Target="slide23.xml"/><Relationship Id="rId9" Type="http://schemas.openxmlformats.org/officeDocument/2006/relationships/slide" Target="slide24.xml"/><Relationship Id="rId10" Type="http://schemas.openxmlformats.org/officeDocument/2006/relationships/slide" Target="slide49.xml"/><Relationship Id="rId11" Type="http://schemas.openxmlformats.org/officeDocument/2006/relationships/slide" Target="slide5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0.xml"/><Relationship Id="rId4" Type="http://schemas.openxmlformats.org/officeDocument/2006/relationships/slide" Target="slide21.xml"/><Relationship Id="rId5" Type="http://schemas.openxmlformats.org/officeDocument/2006/relationships/slide" Target="slide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bCvWzct5SCc" TargetMode="External"/><Relationship Id="rId3" Type="http://schemas.openxmlformats.org/officeDocument/2006/relationships/slide" Target="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5.xml"/><Relationship Id="rId4" Type="http://schemas.openxmlformats.org/officeDocument/2006/relationships/slide" Target="slide26.xml"/><Relationship Id="rId5" Type="http://schemas.openxmlformats.org/officeDocument/2006/relationships/slide" Target="slide27.xml"/><Relationship Id="rId6" Type="http://schemas.openxmlformats.org/officeDocument/2006/relationships/slide" Target="slide2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0.xml"/><Relationship Id="rId4" Type="http://schemas.openxmlformats.org/officeDocument/2006/relationships/slide" Target="slide31.xml"/><Relationship Id="rId5" Type="http://schemas.openxmlformats.org/officeDocument/2006/relationships/slide" Target="slide32.xml"/><Relationship Id="rId6" Type="http://schemas.openxmlformats.org/officeDocument/2006/relationships/slide" Target="slide3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5.xml"/><Relationship Id="rId4" Type="http://schemas.openxmlformats.org/officeDocument/2006/relationships/slide" Target="slide36.xml"/><Relationship Id="rId5" Type="http://schemas.openxmlformats.org/officeDocument/2006/relationships/slide" Target="slide37.xml"/><Relationship Id="rId6" Type="http://schemas.openxmlformats.org/officeDocument/2006/relationships/slide" Target="slide3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0.xml"/><Relationship Id="rId4" Type="http://schemas.openxmlformats.org/officeDocument/2006/relationships/slide" Target="slide41.xml"/><Relationship Id="rId5" Type="http://schemas.openxmlformats.org/officeDocument/2006/relationships/slide" Target="slide42.xml"/><Relationship Id="rId6" Type="http://schemas.openxmlformats.org/officeDocument/2006/relationships/slide" Target="slide4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5.xml"/><Relationship Id="rId4" Type="http://schemas.openxmlformats.org/officeDocument/2006/relationships/slide" Target="slide46.xml"/><Relationship Id="rId5" Type="http://schemas.openxmlformats.org/officeDocument/2006/relationships/slide" Target="slide47.xml"/><Relationship Id="rId6" Type="http://schemas.openxmlformats.org/officeDocument/2006/relationships/slide" Target="slide4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9.xml"/><Relationship Id="rId3" Type="http://schemas.openxmlformats.org/officeDocument/2006/relationships/slide" Target="slide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pilot.microsoft.com" TargetMode="External"/><Relationship Id="rId3" Type="http://schemas.openxmlformats.org/officeDocument/2006/relationships/hyperlink" Target="https://chatgpt.com" TargetMode="External"/><Relationship Id="rId4" Type="http://schemas.openxmlformats.org/officeDocument/2006/relationships/hyperlink" Target="https://gemini.google.com" TargetMode="External"/><Relationship Id="rId5" Type="http://schemas.openxmlformats.org/officeDocument/2006/relationships/slide" Target="slide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vis:bg"/>
          <p:cNvSpPr/>
          <p:nvPr/>
        </p:nvSpPr>
        <p:spPr>
          <a:xfrm>
            <a:off x="0" y="0"/>
            <a:ext cx="12191695"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pic>
        <p:nvPicPr>
          <p:cNvPr id="3" name="vis:coverphoto" descr="hero-email-ai.jpg"/>
          <p:cNvPicPr>
            <a:picLocks noChangeAspect="1"/>
          </p:cNvPicPr>
          <p:nvPr/>
        </p:nvPicPr>
        <p:blipFill>
          <a:blip r:embed="rId2"/>
          <a:srcRect l="22674" r="22674"/>
          <a:stretch>
            <a:fillRect/>
          </a:stretch>
        </p:blipFill>
        <p:spPr>
          <a:xfrm>
            <a:off x="5532120" y="0"/>
            <a:ext cx="6659575" cy="6858000"/>
          </a:xfrm>
          <a:prstGeom prst="rect">
            <a:avLst/>
          </a:prstGeom>
        </p:spPr>
      </p:pic>
      <p:sp>
        <p:nvSpPr>
          <p:cNvPr id="4" name="vis:coverpanel"/>
          <p:cNvSpPr/>
          <p:nvPr/>
        </p:nvSpPr>
        <p:spPr>
          <a:xfrm>
            <a:off x="0" y="0"/>
            <a:ext cx="5532120"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 name="vis:coveredge"/>
          <p:cNvSpPr/>
          <p:nvPr/>
        </p:nvSpPr>
        <p:spPr>
          <a:xfrm>
            <a:off x="5532120" y="0"/>
            <a:ext cx="64008" cy="685800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vis:coverspine"/>
          <p:cNvSpPr/>
          <p:nvPr/>
        </p:nvSpPr>
        <p:spPr>
          <a:xfrm>
            <a:off x="0" y="0"/>
            <a:ext cx="201168" cy="685800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 name="seclabel"/>
          <p:cNvSpPr txBox="1"/>
          <p:nvPr/>
        </p:nvSpPr>
        <p:spPr>
          <a:xfrm>
            <a:off x="841248" y="203200"/>
            <a:ext cx="418795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51979C"/>
                </a:solidFill>
                <a:latin typeface="Segoe UI Semibold"/>
              </a:rPr>
              <a:t>AI FOR DAY-TO-DAY WORK</a:t>
            </a:r>
          </a:p>
        </p:txBody>
      </p:sp>
      <p:sp>
        <p:nvSpPr>
          <p:cNvPr id="8" name="title:cover"/>
          <p:cNvSpPr txBox="1"/>
          <p:nvPr/>
        </p:nvSpPr>
        <p:spPr>
          <a:xfrm>
            <a:off x="841248" y="660400"/>
            <a:ext cx="4187952" cy="1507744"/>
          </a:xfrm>
          <a:prstGeom prst="rect">
            <a:avLst/>
          </a:prstGeom>
          <a:noFill/>
        </p:spPr>
        <p:txBody>
          <a:bodyPr wrap="square" lIns="0" rIns="0" tIns="0" bIns="0" anchor="t">
            <a:spAutoFit/>
          </a:bodyPr>
          <a:lstStyle/>
          <a:p>
            <a:pPr algn="l">
              <a:lnSpc>
                <a:spcPts val="5720"/>
              </a:lnSpc>
              <a:spcBef>
                <a:spcPts val="0"/>
              </a:spcBef>
              <a:spcAft>
                <a:spcPts val="0"/>
              </a:spcAft>
            </a:pPr>
            <a:r>
              <a:rPr sz="4400" b="0">
                <a:solidFill>
                  <a:srgbClr val="FFFFFF"/>
                </a:solidFill>
                <a:latin typeface="Segoe UI Semibold"/>
              </a:rPr>
              <a:t>Email Writing with AI</a:t>
            </a:r>
          </a:p>
        </p:txBody>
      </p:sp>
      <p:cxnSp>
        <p:nvCxnSpPr>
          <p:cNvPr id="9" name="vis:rule"/>
          <p:cNvCxnSpPr/>
          <p:nvPr/>
        </p:nvCxnSpPr>
        <p:spPr>
          <a:xfrm>
            <a:off x="841248" y="2442464"/>
            <a:ext cx="3606698"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10" name="body:coversub"/>
          <p:cNvSpPr txBox="1"/>
          <p:nvPr/>
        </p:nvSpPr>
        <p:spPr>
          <a:xfrm>
            <a:off x="841248" y="2716784"/>
            <a:ext cx="4187952" cy="1507744"/>
          </a:xfrm>
          <a:prstGeom prst="rect">
            <a:avLst/>
          </a:prstGeom>
          <a:noFill/>
        </p:spPr>
        <p:txBody>
          <a:bodyPr wrap="square" lIns="0" rIns="0" tIns="0" bIns="0" anchor="t">
            <a:spAutoFit/>
          </a:bodyPr>
          <a:lstStyle/>
          <a:p>
            <a:pPr algn="l">
              <a:lnSpc>
                <a:spcPts val="2860"/>
              </a:lnSpc>
              <a:spcBef>
                <a:spcPts val="0"/>
              </a:spcBef>
              <a:spcAft>
                <a:spcPts val="0"/>
              </a:spcAft>
            </a:pPr>
            <a:r>
              <a:rPr sz="2200" b="0">
                <a:solidFill>
                  <a:srgbClr val="C9D1DE"/>
                </a:solidFill>
                <a:latin typeface="Segoe UI"/>
              </a:rPr>
              <a:t>Thirty emails a day, written in a third of the time, without sounding like a robot wrote them.</a:t>
            </a:r>
          </a:p>
        </p:txBody>
      </p:sp>
      <p:sp>
        <p:nvSpPr>
          <p:cNvPr id="11" name="vis:chip"/>
          <p:cNvSpPr/>
          <p:nvPr/>
        </p:nvSpPr>
        <p:spPr>
          <a:xfrm>
            <a:off x="841248" y="4626864"/>
            <a:ext cx="1018159" cy="310896"/>
          </a:xfrm>
          <a:prstGeom prst="roundRect">
            <a:avLst>
              <a:gd name="adj" fmla="val 14705"/>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vis:chiptext"/>
          <p:cNvSpPr txBox="1"/>
          <p:nvPr/>
        </p:nvSpPr>
        <p:spPr>
          <a:xfrm>
            <a:off x="996696" y="4672584"/>
            <a:ext cx="70726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DW-01</a:t>
            </a:r>
          </a:p>
        </p:txBody>
      </p:sp>
      <p:sp>
        <p:nvSpPr>
          <p:cNvPr id="13" name="vis:chip"/>
          <p:cNvSpPr/>
          <p:nvPr/>
        </p:nvSpPr>
        <p:spPr>
          <a:xfrm>
            <a:off x="2005711" y="4626864"/>
            <a:ext cx="145630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4" name="vis:chiptext"/>
          <p:cNvSpPr txBox="1"/>
          <p:nvPr/>
        </p:nvSpPr>
        <p:spPr>
          <a:xfrm>
            <a:off x="2161159" y="4672584"/>
            <a:ext cx="114541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18 MINUTES</a:t>
            </a:r>
          </a:p>
        </p:txBody>
      </p:sp>
      <p:sp>
        <p:nvSpPr>
          <p:cNvPr id="15" name="vis:chip"/>
          <p:cNvSpPr/>
          <p:nvPr/>
        </p:nvSpPr>
        <p:spPr>
          <a:xfrm>
            <a:off x="841248" y="5047488"/>
            <a:ext cx="230202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iptext"/>
          <p:cNvSpPr txBox="1"/>
          <p:nvPr/>
        </p:nvSpPr>
        <p:spPr>
          <a:xfrm>
            <a:off x="996696" y="5093208"/>
            <a:ext cx="199113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NEW JOINERS + STAFF</a:t>
            </a:r>
          </a:p>
        </p:txBody>
      </p:sp>
      <p:sp>
        <p:nvSpPr>
          <p:cNvPr id="17" name="cell:coverhint"/>
          <p:cNvSpPr txBox="1"/>
          <p:nvPr/>
        </p:nvSpPr>
        <p:spPr>
          <a:xfrm>
            <a:off x="841248" y="5724144"/>
            <a:ext cx="4187952" cy="43891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Start here  →  the next slide shows what this saves you.</a:t>
            </a:r>
          </a:p>
        </p:txBody>
      </p:sp>
      <p:sp>
        <p:nvSpPr>
          <p:cNvPr id="18"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DW-01  ·  Email Writing with AI</a:t>
            </a:r>
          </a:p>
        </p:txBody>
      </p:sp>
      <p:sp>
        <p:nvSpPr>
          <p:cNvPr id="19"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848D9A"/>
                </a:solidFill>
                <a:latin typeface="Segoe UI"/>
              </a:rPr>
              <a:t>Inducto Learning Library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WHY THIS MATTERS TO YOU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Imran writes thirty emails a day</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DW-01  ·  Email Writing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story"/>
          <p:cNvSpPr/>
          <p:nvPr/>
        </p:nvSpPr>
        <p:spPr>
          <a:xfrm>
            <a:off x="502920" y="1719072"/>
            <a:ext cx="6448882" cy="3273552"/>
          </a:xfrm>
          <a:prstGeom prst="roundRect">
            <a:avLst>
              <a:gd name="adj" fmla="val 279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oryspine"/>
          <p:cNvSpPr/>
          <p:nvPr/>
        </p:nvSpPr>
        <p:spPr>
          <a:xfrm>
            <a:off x="502920" y="1719072"/>
            <a:ext cx="68580" cy="327355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813816" y="2029967"/>
            <a:ext cx="694944" cy="694944"/>
          </a:xfrm>
          <a:prstGeom prst="roundRect">
            <a:avLst>
              <a:gd name="adj" fmla="val 131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1002284" y="2269028"/>
            <a:ext cx="318006" cy="216822"/>
          </a:xfrm>
          <a:prstGeom prst="roundRect">
            <a:avLst>
              <a:gd name="adj" fmla="val 21086"/>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02284" y="2283483"/>
            <a:ext cx="159004" cy="115639"/>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flipV="1">
            <a:off x="1161288" y="2283483"/>
            <a:ext cx="159003" cy="115639"/>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1" name="body:scenario"/>
          <p:cNvSpPr txBox="1"/>
          <p:nvPr/>
        </p:nvSpPr>
        <p:spPr>
          <a:xfrm>
            <a:off x="813816" y="2944368"/>
            <a:ext cx="5827090" cy="1792224"/>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101826"/>
                </a:solidFill>
                <a:latin typeface="Segoe UI"/>
              </a:rPr>
              <a:t>Imran coordinates logistics from Sharjah. Most of his day is emails: chasing a truck, explaining a delay, refusing a discount, confirming a slot. He knows what to say every time. Finding the words is what takes the day.</a:t>
            </a:r>
          </a:p>
        </p:txBody>
      </p:sp>
      <p:sp>
        <p:nvSpPr>
          <p:cNvPr id="22" name="vis:cost"/>
          <p:cNvSpPr/>
          <p:nvPr/>
        </p:nvSpPr>
        <p:spPr>
          <a:xfrm>
            <a:off x="502920" y="5230368"/>
            <a:ext cx="6448882" cy="786384"/>
          </a:xfrm>
          <a:prstGeom prst="roundRect">
            <a:avLst>
              <a:gd name="adj" fmla="val 9302"/>
            </a:avLst>
          </a:prstGeom>
          <a:solidFill>
            <a:srgbClr val="FFFFFF"/>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ostspine"/>
          <p:cNvSpPr/>
          <p:nvPr/>
        </p:nvSpPr>
        <p:spPr>
          <a:xfrm>
            <a:off x="502920" y="5230368"/>
            <a:ext cx="68580" cy="786384"/>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826983" y="5478719"/>
            <a:ext cx="302849" cy="276514"/>
          </a:xfrm>
          <a:custGeom>
            <a:avLst/>
            <a:gdLst/>
            <a:ahLst/>
            <a:cxnLst/>
            <a:rect l="l" t="t" r="r" b="b"/>
            <a:pathLst>
              <a:path w="302849" h="276514">
                <a:moveTo>
                  <a:pt x="151425" y="0"/>
                </a:moveTo>
                <a:lnTo>
                  <a:pt x="302849" y="276514"/>
                </a:lnTo>
                <a:lnTo>
                  <a:pt x="0" y="276514"/>
                </a:lnTo>
                <a:close/>
              </a:path>
            </a:pathLst>
          </a:cu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vis:icon"/>
          <p:cNvCxnSpPr/>
          <p:nvPr/>
        </p:nvCxnSpPr>
        <p:spPr>
          <a:xfrm>
            <a:off x="978408" y="5584057"/>
            <a:ext cx="0" cy="82296"/>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6" name="vis:icon"/>
          <p:cNvSpPr/>
          <p:nvPr/>
        </p:nvSpPr>
        <p:spPr>
          <a:xfrm>
            <a:off x="961948" y="5695980"/>
            <a:ext cx="32918" cy="32918"/>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body:cost"/>
          <p:cNvSpPr txBox="1"/>
          <p:nvPr/>
        </p:nvSpPr>
        <p:spPr>
          <a:xfrm>
            <a:off x="1362456" y="5358383"/>
            <a:ext cx="5315026" cy="530352"/>
          </a:xfrm>
          <a:prstGeom prst="rect">
            <a:avLst/>
          </a:prstGeom>
          <a:noFill/>
        </p:spPr>
        <p:txBody>
          <a:bodyPr wrap="square" lIns="0" rIns="0" tIns="0" bIns="0" anchor="ctr">
            <a:spAutoFit/>
          </a:bodyPr>
          <a:lstStyle/>
          <a:p>
            <a:pPr algn="l">
              <a:lnSpc>
                <a:spcPts val="2080"/>
              </a:lnSpc>
              <a:spcBef>
                <a:spcPts val="0"/>
              </a:spcBef>
              <a:spcAft>
                <a:spcPts val="0"/>
              </a:spcAft>
            </a:pPr>
            <a:r>
              <a:rPr sz="1600" b="0">
                <a:solidFill>
                  <a:srgbClr val="C62828"/>
                </a:solidFill>
                <a:latin typeface="Segoe UI Semibold"/>
              </a:rPr>
              <a:t>Roughly two and a half hours a day, on wording alone.</a:t>
            </a:r>
          </a:p>
        </p:txBody>
      </p:sp>
      <p:sp>
        <p:nvSpPr>
          <p:cNvPr id="28" name="vis:fix"/>
          <p:cNvSpPr/>
          <p:nvPr/>
        </p:nvSpPr>
        <p:spPr>
          <a:xfrm>
            <a:off x="8082076" y="1719072"/>
            <a:ext cx="3606698" cy="4297680"/>
          </a:xfrm>
          <a:prstGeom prst="roundRect">
            <a:avLst>
              <a:gd name="adj" fmla="val 253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seclabel"/>
          <p:cNvSpPr txBox="1"/>
          <p:nvPr/>
        </p:nvSpPr>
        <p:spPr>
          <a:xfrm>
            <a:off x="8411260" y="2066543"/>
            <a:ext cx="2948330"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51979C"/>
                </a:solidFill>
                <a:latin typeface="Segoe UI Semibold"/>
              </a:rPr>
              <a:t>AFTER THIS MODULE</a:t>
            </a:r>
          </a:p>
        </p:txBody>
      </p:sp>
      <p:cxnSp>
        <p:nvCxnSpPr>
          <p:cNvPr id="30" name="vis:rule"/>
          <p:cNvCxnSpPr/>
          <p:nvPr/>
        </p:nvCxnSpPr>
        <p:spPr>
          <a:xfrm>
            <a:off x="8411260" y="2505456"/>
            <a:ext cx="2948331"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1" name="body:fix"/>
          <p:cNvSpPr txBox="1"/>
          <p:nvPr/>
        </p:nvSpPr>
        <p:spPr>
          <a:xfrm>
            <a:off x="8411260" y="2724912"/>
            <a:ext cx="2948330" cy="292608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Four email shapes, ready to paste, that cover most of a week.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WHAT YOU'LL BE ABLE TO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By the end, you can do these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DW-01  ·  Email Writing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outcome"/>
          <p:cNvSpPr/>
          <p:nvPr/>
        </p:nvSpPr>
        <p:spPr>
          <a:xfrm>
            <a:off x="502920" y="1719072"/>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1792224"/>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30990" y="1987247"/>
            <a:ext cx="259426" cy="176881"/>
          </a:xfrm>
          <a:prstGeom prst="roundRect">
            <a:avLst>
              <a:gd name="adj" fmla="val 25847"/>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930990" y="1999039"/>
            <a:ext cx="129714" cy="9433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1060704" y="1999039"/>
            <a:ext cx="129713" cy="9433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0" name="cell:outcome"/>
          <p:cNvSpPr txBox="1"/>
          <p:nvPr/>
        </p:nvSpPr>
        <p:spPr>
          <a:xfrm>
            <a:off x="1545336" y="1828800"/>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Draft any routine work email in under 60 seconds</a:t>
            </a:r>
          </a:p>
        </p:txBody>
      </p:sp>
      <p:sp>
        <p:nvSpPr>
          <p:cNvPr id="21" name="vis:outcome"/>
          <p:cNvSpPr/>
          <p:nvPr/>
        </p:nvSpPr>
        <p:spPr>
          <a:xfrm>
            <a:off x="502920" y="2615184"/>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badge"/>
          <p:cNvSpPr/>
          <p:nvPr/>
        </p:nvSpPr>
        <p:spPr>
          <a:xfrm>
            <a:off x="777240" y="2688336"/>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icon"/>
          <p:cNvSpPr/>
          <p:nvPr/>
        </p:nvSpPr>
        <p:spPr>
          <a:xfrm>
            <a:off x="936886" y="2865671"/>
            <a:ext cx="247634" cy="165089"/>
          </a:xfrm>
          <a:prstGeom prst="roundRect">
            <a:avLst>
              <a:gd name="adj" fmla="val 27694"/>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4" name="vis:icon"/>
          <p:cNvCxnSpPr/>
          <p:nvPr/>
        </p:nvCxnSpPr>
        <p:spPr>
          <a:xfrm flipH="1">
            <a:off x="984055" y="3030760"/>
            <a:ext cx="11792" cy="6485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flipV="1">
            <a:off x="984055" y="3030760"/>
            <a:ext cx="64856" cy="6485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6" name="cell:outcome"/>
          <p:cNvSpPr txBox="1"/>
          <p:nvPr/>
        </p:nvSpPr>
        <p:spPr>
          <a:xfrm>
            <a:off x="1545336" y="2724912"/>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Set a tone deliberately instead of hoping it lands right</a:t>
            </a:r>
          </a:p>
        </p:txBody>
      </p:sp>
      <p:sp>
        <p:nvSpPr>
          <p:cNvPr id="27" name="vis:outcome"/>
          <p:cNvSpPr/>
          <p:nvPr/>
        </p:nvSpPr>
        <p:spPr>
          <a:xfrm>
            <a:off x="502920" y="3511296"/>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badge"/>
          <p:cNvSpPr/>
          <p:nvPr/>
        </p:nvSpPr>
        <p:spPr>
          <a:xfrm>
            <a:off x="777240" y="3584448"/>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icon"/>
          <p:cNvSpPr/>
          <p:nvPr/>
        </p:nvSpPr>
        <p:spPr>
          <a:xfrm>
            <a:off x="943035" y="3765789"/>
            <a:ext cx="235337" cy="220044"/>
          </a:xfrm>
          <a:custGeom>
            <a:avLst/>
            <a:gdLst/>
            <a:ahLst/>
            <a:cxnLst/>
            <a:rect l="l" t="t" r="r" b="b"/>
            <a:pathLst>
              <a:path w="235337" h="220044">
                <a:moveTo>
                  <a:pt x="176629" y="0"/>
                </a:moveTo>
                <a:lnTo>
                  <a:pt x="206326" y="24372"/>
                </a:lnTo>
                <a:lnTo>
                  <a:pt x="226613" y="56996"/>
                </a:lnTo>
                <a:lnTo>
                  <a:pt x="235337" y="94410"/>
                </a:lnTo>
                <a:lnTo>
                  <a:pt x="231571" y="132643"/>
                </a:lnTo>
                <a:lnTo>
                  <a:pt x="215716" y="167636"/>
                </a:lnTo>
                <a:lnTo>
                  <a:pt x="189454" y="195676"/>
                </a:lnTo>
                <a:lnTo>
                  <a:pt x="155573" y="213785"/>
                </a:lnTo>
                <a:lnTo>
                  <a:pt x="117669" y="220044"/>
                </a:lnTo>
                <a:lnTo>
                  <a:pt x="79764" y="213785"/>
                </a:lnTo>
                <a:lnTo>
                  <a:pt x="45883" y="195676"/>
                </a:lnTo>
                <a:lnTo>
                  <a:pt x="19621" y="167636"/>
                </a:lnTo>
                <a:lnTo>
                  <a:pt x="3766" y="132643"/>
                </a:lnTo>
                <a:lnTo>
                  <a:pt x="0" y="94410"/>
                </a:lnTo>
                <a:lnTo>
                  <a:pt x="8724" y="56996"/>
                </a:lnTo>
                <a:lnTo>
                  <a:pt x="29011" y="24372"/>
                </a:lnTo>
                <a:lnTo>
                  <a:pt x="58708" y="0"/>
                </a:lnTo>
              </a:path>
            </a:pathLst>
          </a:cu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vis:icon"/>
          <p:cNvSpPr/>
          <p:nvPr/>
        </p:nvSpPr>
        <p:spPr>
          <a:xfrm>
            <a:off x="988477" y="3742326"/>
            <a:ext cx="54244" cy="46578"/>
          </a:xfrm>
          <a:custGeom>
            <a:avLst/>
            <a:gdLst/>
            <a:ahLst/>
            <a:cxnLst/>
            <a:rect l="l" t="t" r="r" b="b"/>
            <a:pathLst>
              <a:path w="54244" h="46578">
                <a:moveTo>
                  <a:pt x="54244" y="0"/>
                </a:moveTo>
                <a:lnTo>
                  <a:pt x="26532" y="46578"/>
                </a:lnTo>
                <a:lnTo>
                  <a:pt x="0" y="589"/>
                </a:lnTo>
                <a:close/>
              </a:path>
            </a:pathLst>
          </a:cu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cell:outcome"/>
          <p:cNvSpPr txBox="1"/>
          <p:nvPr/>
        </p:nvSpPr>
        <p:spPr>
          <a:xfrm>
            <a:off x="1545336" y="3621024"/>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Turn a long thread into a reply without reading it twice</a:t>
            </a:r>
          </a:p>
        </p:txBody>
      </p:sp>
      <p:sp>
        <p:nvSpPr>
          <p:cNvPr id="32" name="vis:outcome"/>
          <p:cNvSpPr/>
          <p:nvPr/>
        </p:nvSpPr>
        <p:spPr>
          <a:xfrm>
            <a:off x="502920" y="4407408"/>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badge"/>
          <p:cNvSpPr/>
          <p:nvPr/>
        </p:nvSpPr>
        <p:spPr>
          <a:xfrm>
            <a:off x="777240" y="4480560"/>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icon"/>
          <p:cNvSpPr/>
          <p:nvPr/>
        </p:nvSpPr>
        <p:spPr>
          <a:xfrm>
            <a:off x="933938" y="4631362"/>
            <a:ext cx="253531" cy="265323"/>
          </a:xfrm>
          <a:custGeom>
            <a:avLst/>
            <a:gdLst/>
            <a:ahLst/>
            <a:cxnLst/>
            <a:rect l="l" t="t" r="r" b="b"/>
            <a:pathLst>
              <a:path w="253531" h="265323">
                <a:moveTo>
                  <a:pt x="126766" y="0"/>
                </a:moveTo>
                <a:lnTo>
                  <a:pt x="253531" y="56013"/>
                </a:lnTo>
                <a:lnTo>
                  <a:pt x="232894" y="191622"/>
                </a:lnTo>
                <a:lnTo>
                  <a:pt x="126766" y="265323"/>
                </a:lnTo>
                <a:lnTo>
                  <a:pt x="20637" y="191622"/>
                </a:lnTo>
                <a:lnTo>
                  <a:pt x="0" y="56013"/>
                </a:lnTo>
                <a:close/>
              </a:path>
            </a:pathLst>
          </a:cu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cell:outcome"/>
          <p:cNvSpPr txBox="1"/>
          <p:nvPr/>
        </p:nvSpPr>
        <p:spPr>
          <a:xfrm>
            <a:off x="1545336" y="4517136"/>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Write about a customer without ever naming them</a:t>
            </a:r>
          </a:p>
        </p:txBody>
      </p:sp>
      <p:sp>
        <p:nvSpPr>
          <p:cNvPr id="36" name="vis:outcome"/>
          <p:cNvSpPr/>
          <p:nvPr/>
        </p:nvSpPr>
        <p:spPr>
          <a:xfrm>
            <a:off x="502920" y="5303520"/>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badge"/>
          <p:cNvSpPr/>
          <p:nvPr/>
        </p:nvSpPr>
        <p:spPr>
          <a:xfrm>
            <a:off x="777240" y="5376672"/>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icon"/>
          <p:cNvSpPr/>
          <p:nvPr/>
        </p:nvSpPr>
        <p:spPr>
          <a:xfrm>
            <a:off x="984055" y="5542214"/>
            <a:ext cx="153297" cy="247634"/>
          </a:xfrm>
          <a:prstGeom prst="roundRect">
            <a:avLst>
              <a:gd name="adj" fmla="val 29824"/>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9" name="vis:icon"/>
          <p:cNvCxnSpPr/>
          <p:nvPr/>
        </p:nvCxnSpPr>
        <p:spPr>
          <a:xfrm>
            <a:off x="1019431" y="5612967"/>
            <a:ext cx="82545"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40" name="vis:icon"/>
          <p:cNvCxnSpPr/>
          <p:nvPr/>
        </p:nvCxnSpPr>
        <p:spPr>
          <a:xfrm>
            <a:off x="1019431" y="5666032"/>
            <a:ext cx="82545"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41" name="vis:icon"/>
          <p:cNvCxnSpPr/>
          <p:nvPr/>
        </p:nvCxnSpPr>
        <p:spPr>
          <a:xfrm>
            <a:off x="1019431" y="5719096"/>
            <a:ext cx="58961"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42" name="cell:outcome"/>
          <p:cNvSpPr txBox="1"/>
          <p:nvPr/>
        </p:nvSpPr>
        <p:spPr>
          <a:xfrm>
            <a:off x="1545336" y="5413248"/>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Keep four email prompts you will use every week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INTERACTIVE MENU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Tap any line to jump straight there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DW-01  ·  Email Writing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cell:menuhint"/>
          <p:cNvSpPr txBox="1"/>
          <p:nvPr/>
        </p:nvSpPr>
        <p:spPr>
          <a:xfrm>
            <a:off x="502920" y="1554480"/>
            <a:ext cx="1118585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Every slide has a Menu button in the top-right corner to bring you back here.</a:t>
            </a:r>
          </a:p>
        </p:txBody>
      </p:sp>
      <p:sp>
        <p:nvSpPr>
          <p:cNvPr id="8" name="nav:menurow">
            <a:hlinkClick action="ppaction://hlinksldjump" r:id="rId2"/>
          </p:cNvPr>
          <p:cNvSpPr/>
          <p:nvPr/>
        </p:nvSpPr>
        <p:spPr>
          <a:xfrm>
            <a:off x="502920" y="1828800"/>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vis:menubar"/>
          <p:cNvSpPr/>
          <p:nvPr/>
        </p:nvSpPr>
        <p:spPr>
          <a:xfrm>
            <a:off x="502920" y="1828800"/>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vis:menunum"/>
          <p:cNvSpPr txBox="1"/>
          <p:nvPr/>
        </p:nvSpPr>
        <p:spPr>
          <a:xfrm>
            <a:off x="813816" y="1883664"/>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01</a:t>
            </a:r>
          </a:p>
        </p:txBody>
      </p:sp>
      <p:sp>
        <p:nvSpPr>
          <p:cNvPr id="11" name="cell:menulabel"/>
          <p:cNvSpPr txBox="1"/>
          <p:nvPr/>
        </p:nvSpPr>
        <p:spPr>
          <a:xfrm>
            <a:off x="1344168" y="1883664"/>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The four email shapes</a:t>
            </a:r>
          </a:p>
        </p:txBody>
      </p:sp>
      <p:sp>
        <p:nvSpPr>
          <p:cNvPr id="12" name="cell:menusub"/>
          <p:cNvSpPr txBox="1"/>
          <p:nvPr/>
        </p:nvSpPr>
        <p:spPr>
          <a:xfrm>
            <a:off x="7134682" y="1883664"/>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What most of your week is</a:t>
            </a:r>
          </a:p>
        </p:txBody>
      </p:sp>
      <p:cxnSp>
        <p:nvCxnSpPr>
          <p:cNvPr id="13" name="vis:menuarrow"/>
          <p:cNvCxnSpPr/>
          <p:nvPr/>
        </p:nvCxnSpPr>
        <p:spPr>
          <a:xfrm>
            <a:off x="11213287" y="1997049"/>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nav:menurow">
            <a:hlinkClick action="ppaction://hlinksldjump" r:id="rId3"/>
          </p:cNvPr>
          <p:cNvSpPr/>
          <p:nvPr/>
        </p:nvSpPr>
        <p:spPr>
          <a:xfrm>
            <a:off x="502920" y="2256739"/>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menubar"/>
          <p:cNvSpPr/>
          <p:nvPr/>
        </p:nvSpPr>
        <p:spPr>
          <a:xfrm>
            <a:off x="502920" y="2256739"/>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enunum"/>
          <p:cNvSpPr txBox="1"/>
          <p:nvPr/>
        </p:nvSpPr>
        <p:spPr>
          <a:xfrm>
            <a:off x="813816" y="2311603"/>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02</a:t>
            </a:r>
          </a:p>
        </p:txBody>
      </p:sp>
      <p:sp>
        <p:nvSpPr>
          <p:cNvPr id="17" name="cell:menulabel"/>
          <p:cNvSpPr txBox="1"/>
          <p:nvPr/>
        </p:nvSpPr>
        <p:spPr>
          <a:xfrm>
            <a:off x="1344168" y="2311603"/>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Setting the tone</a:t>
            </a:r>
          </a:p>
        </p:txBody>
      </p:sp>
      <p:sp>
        <p:nvSpPr>
          <p:cNvPr id="18" name="cell:menusub"/>
          <p:cNvSpPr txBox="1"/>
          <p:nvPr/>
        </p:nvSpPr>
        <p:spPr>
          <a:xfrm>
            <a:off x="7134682" y="2311603"/>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Firm, warm, or neutral</a:t>
            </a:r>
          </a:p>
        </p:txBody>
      </p:sp>
      <p:cxnSp>
        <p:nvCxnSpPr>
          <p:cNvPr id="19" name="vis:menuarrow"/>
          <p:cNvCxnSpPr/>
          <p:nvPr/>
        </p:nvCxnSpPr>
        <p:spPr>
          <a:xfrm>
            <a:off x="11213287" y="2424988"/>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nav:menurow">
            <a:hlinkClick action="ppaction://hlinksldjump" r:id="rId4"/>
          </p:cNvPr>
          <p:cNvSpPr/>
          <p:nvPr/>
        </p:nvSpPr>
        <p:spPr>
          <a:xfrm>
            <a:off x="502920" y="2684678"/>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menubar"/>
          <p:cNvSpPr/>
          <p:nvPr/>
        </p:nvSpPr>
        <p:spPr>
          <a:xfrm>
            <a:off x="502920" y="2684678"/>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menunum"/>
          <p:cNvSpPr txBox="1"/>
          <p:nvPr/>
        </p:nvSpPr>
        <p:spPr>
          <a:xfrm>
            <a:off x="813816" y="2739542"/>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03</a:t>
            </a:r>
          </a:p>
        </p:txBody>
      </p:sp>
      <p:sp>
        <p:nvSpPr>
          <p:cNvPr id="23" name="cell:menulabel"/>
          <p:cNvSpPr txBox="1"/>
          <p:nvPr/>
        </p:nvSpPr>
        <p:spPr>
          <a:xfrm>
            <a:off x="1344168" y="2739542"/>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Replying to a long thread</a:t>
            </a:r>
          </a:p>
        </p:txBody>
      </p:sp>
      <p:sp>
        <p:nvSpPr>
          <p:cNvPr id="24" name="cell:menusub"/>
          <p:cNvSpPr txBox="1"/>
          <p:nvPr/>
        </p:nvSpPr>
        <p:spPr>
          <a:xfrm>
            <a:off x="7134682" y="2739542"/>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Without reading it twice</a:t>
            </a:r>
          </a:p>
        </p:txBody>
      </p:sp>
      <p:cxnSp>
        <p:nvCxnSpPr>
          <p:cNvPr id="25" name="vis:menuarrow"/>
          <p:cNvCxnSpPr/>
          <p:nvPr/>
        </p:nvCxnSpPr>
        <p:spPr>
          <a:xfrm>
            <a:off x="11213287" y="2852928"/>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nav:menurow">
            <a:hlinkClick action="ppaction://hlinksldjump" r:id="rId5"/>
          </p:cNvPr>
          <p:cNvSpPr/>
          <p:nvPr/>
        </p:nvSpPr>
        <p:spPr>
          <a:xfrm>
            <a:off x="502920" y="3112617"/>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menubar"/>
          <p:cNvSpPr/>
          <p:nvPr/>
        </p:nvSpPr>
        <p:spPr>
          <a:xfrm>
            <a:off x="502920" y="3112617"/>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menunum"/>
          <p:cNvSpPr txBox="1"/>
          <p:nvPr/>
        </p:nvSpPr>
        <p:spPr>
          <a:xfrm>
            <a:off x="813816" y="3167481"/>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04</a:t>
            </a:r>
          </a:p>
        </p:txBody>
      </p:sp>
      <p:sp>
        <p:nvSpPr>
          <p:cNvPr id="29" name="cell:menulabel"/>
          <p:cNvSpPr txBox="1"/>
          <p:nvPr/>
        </p:nvSpPr>
        <p:spPr>
          <a:xfrm>
            <a:off x="1344168" y="3167481"/>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The subject line</a:t>
            </a:r>
          </a:p>
        </p:txBody>
      </p:sp>
      <p:sp>
        <p:nvSpPr>
          <p:cNvPr id="30" name="cell:menusub"/>
          <p:cNvSpPr txBox="1"/>
          <p:nvPr/>
        </p:nvSpPr>
        <p:spPr>
          <a:xfrm>
            <a:off x="7134682" y="3167481"/>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Where most emails fail</a:t>
            </a:r>
          </a:p>
        </p:txBody>
      </p:sp>
      <p:cxnSp>
        <p:nvCxnSpPr>
          <p:cNvPr id="31" name="vis:menuarrow"/>
          <p:cNvCxnSpPr/>
          <p:nvPr/>
        </p:nvCxnSpPr>
        <p:spPr>
          <a:xfrm>
            <a:off x="11213287" y="3280867"/>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nav:menurow">
            <a:hlinkClick action="ppaction://hlinksldjump" r:id="rId6"/>
          </p:cNvPr>
          <p:cNvSpPr/>
          <p:nvPr/>
        </p:nvSpPr>
        <p:spPr>
          <a:xfrm>
            <a:off x="502920" y="354055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menubar"/>
          <p:cNvSpPr/>
          <p:nvPr/>
        </p:nvSpPr>
        <p:spPr>
          <a:xfrm>
            <a:off x="502920" y="3540556"/>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menunum"/>
          <p:cNvSpPr txBox="1"/>
          <p:nvPr/>
        </p:nvSpPr>
        <p:spPr>
          <a:xfrm>
            <a:off x="813816" y="3595420"/>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05</a:t>
            </a:r>
          </a:p>
        </p:txBody>
      </p:sp>
      <p:sp>
        <p:nvSpPr>
          <p:cNvPr id="35" name="cell:menulabel"/>
          <p:cNvSpPr txBox="1"/>
          <p:nvPr/>
        </p:nvSpPr>
        <p:spPr>
          <a:xfrm>
            <a:off x="1344168" y="3595420"/>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Do this now</a:t>
            </a:r>
          </a:p>
        </p:txBody>
      </p:sp>
      <p:sp>
        <p:nvSpPr>
          <p:cNvPr id="36" name="cell:menusub"/>
          <p:cNvSpPr txBox="1"/>
          <p:nvPr/>
        </p:nvSpPr>
        <p:spPr>
          <a:xfrm>
            <a:off x="7134682" y="3595420"/>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Write a real one</a:t>
            </a:r>
          </a:p>
        </p:txBody>
      </p:sp>
      <p:cxnSp>
        <p:nvCxnSpPr>
          <p:cNvPr id="37" name="vis:menuarrow"/>
          <p:cNvCxnSpPr/>
          <p:nvPr/>
        </p:nvCxnSpPr>
        <p:spPr>
          <a:xfrm>
            <a:off x="11213287" y="3708806"/>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8" name="nav:menurow">
            <a:hlinkClick action="ppaction://hlinksldjump" r:id="rId7"/>
          </p:cNvPr>
          <p:cNvSpPr/>
          <p:nvPr/>
        </p:nvSpPr>
        <p:spPr>
          <a:xfrm>
            <a:off x="502920" y="396849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enubar"/>
          <p:cNvSpPr/>
          <p:nvPr/>
        </p:nvSpPr>
        <p:spPr>
          <a:xfrm>
            <a:off x="502920" y="3968496"/>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menunum"/>
          <p:cNvSpPr txBox="1"/>
          <p:nvPr/>
        </p:nvSpPr>
        <p:spPr>
          <a:xfrm>
            <a:off x="813816" y="402335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06</a:t>
            </a:r>
          </a:p>
        </p:txBody>
      </p:sp>
      <p:sp>
        <p:nvSpPr>
          <p:cNvPr id="41" name="cell:menulabel"/>
          <p:cNvSpPr txBox="1"/>
          <p:nvPr/>
        </p:nvSpPr>
        <p:spPr>
          <a:xfrm>
            <a:off x="1344168" y="402335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Choose what you'd do</a:t>
            </a:r>
          </a:p>
        </p:txBody>
      </p:sp>
      <p:sp>
        <p:nvSpPr>
          <p:cNvPr id="42" name="cell:menusub"/>
          <p:cNvSpPr txBox="1"/>
          <p:nvPr/>
        </p:nvSpPr>
        <p:spPr>
          <a:xfrm>
            <a:off x="7134682" y="402335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Tuesday morning decision</a:t>
            </a:r>
          </a:p>
        </p:txBody>
      </p:sp>
      <p:cxnSp>
        <p:nvCxnSpPr>
          <p:cNvPr id="43" name="vis:menuarrow"/>
          <p:cNvCxnSpPr/>
          <p:nvPr/>
        </p:nvCxnSpPr>
        <p:spPr>
          <a:xfrm>
            <a:off x="11213287" y="4136745"/>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4" name="nav:menurow">
            <a:hlinkClick action="ppaction://hlinksldjump" r:id="rId8"/>
          </p:cNvPr>
          <p:cNvSpPr/>
          <p:nvPr/>
        </p:nvSpPr>
        <p:spPr>
          <a:xfrm>
            <a:off x="502920" y="4396435"/>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enubar"/>
          <p:cNvSpPr/>
          <p:nvPr/>
        </p:nvSpPr>
        <p:spPr>
          <a:xfrm>
            <a:off x="502920" y="4396435"/>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enunum"/>
          <p:cNvSpPr txBox="1"/>
          <p:nvPr/>
        </p:nvSpPr>
        <p:spPr>
          <a:xfrm>
            <a:off x="813816" y="445129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07</a:t>
            </a:r>
          </a:p>
        </p:txBody>
      </p:sp>
      <p:sp>
        <p:nvSpPr>
          <p:cNvPr id="47" name="cell:menulabel"/>
          <p:cNvSpPr txBox="1"/>
          <p:nvPr/>
        </p:nvSpPr>
        <p:spPr>
          <a:xfrm>
            <a:off x="1344168" y="445129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Watch this</a:t>
            </a:r>
          </a:p>
        </p:txBody>
      </p:sp>
      <p:sp>
        <p:nvSpPr>
          <p:cNvPr id="48" name="cell:menusub"/>
          <p:cNvSpPr txBox="1"/>
          <p:nvPr/>
        </p:nvSpPr>
        <p:spPr>
          <a:xfrm>
            <a:off x="7134682" y="445129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6-minute outside walkthrough</a:t>
            </a:r>
          </a:p>
        </p:txBody>
      </p:sp>
      <p:cxnSp>
        <p:nvCxnSpPr>
          <p:cNvPr id="49" name="vis:menuarrow"/>
          <p:cNvCxnSpPr/>
          <p:nvPr/>
        </p:nvCxnSpPr>
        <p:spPr>
          <a:xfrm>
            <a:off x="11213287" y="4564684"/>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0" name="nav:menurow">
            <a:hlinkClick action="ppaction://hlinksldjump" r:id="rId9"/>
          </p:cNvPr>
          <p:cNvSpPr/>
          <p:nvPr/>
        </p:nvSpPr>
        <p:spPr>
          <a:xfrm>
            <a:off x="502920" y="4824374"/>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menubar"/>
          <p:cNvSpPr/>
          <p:nvPr/>
        </p:nvSpPr>
        <p:spPr>
          <a:xfrm>
            <a:off x="502920" y="4824374"/>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vis:menunum"/>
          <p:cNvSpPr txBox="1"/>
          <p:nvPr/>
        </p:nvSpPr>
        <p:spPr>
          <a:xfrm>
            <a:off x="813816" y="4879238"/>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08</a:t>
            </a:r>
          </a:p>
        </p:txBody>
      </p:sp>
      <p:sp>
        <p:nvSpPr>
          <p:cNvPr id="53" name="cell:menulabel"/>
          <p:cNvSpPr txBox="1"/>
          <p:nvPr/>
        </p:nvSpPr>
        <p:spPr>
          <a:xfrm>
            <a:off x="1344168" y="4879238"/>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Quiz</a:t>
            </a:r>
          </a:p>
        </p:txBody>
      </p:sp>
      <p:sp>
        <p:nvSpPr>
          <p:cNvPr id="54" name="cell:menusub"/>
          <p:cNvSpPr txBox="1"/>
          <p:nvPr/>
        </p:nvSpPr>
        <p:spPr>
          <a:xfrm>
            <a:off x="7134682" y="4879238"/>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5 questions, instant feedback</a:t>
            </a:r>
          </a:p>
        </p:txBody>
      </p:sp>
      <p:cxnSp>
        <p:nvCxnSpPr>
          <p:cNvPr id="55" name="vis:menuarrow"/>
          <p:cNvCxnSpPr/>
          <p:nvPr/>
        </p:nvCxnSpPr>
        <p:spPr>
          <a:xfrm>
            <a:off x="11213287" y="4992624"/>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6" name="nav:menurow">
            <a:hlinkClick action="ppaction://hlinksldjump" r:id="rId10"/>
          </p:cNvPr>
          <p:cNvSpPr/>
          <p:nvPr/>
        </p:nvSpPr>
        <p:spPr>
          <a:xfrm>
            <a:off x="502920" y="5252313"/>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7" name="vis:menubar"/>
          <p:cNvSpPr/>
          <p:nvPr/>
        </p:nvSpPr>
        <p:spPr>
          <a:xfrm>
            <a:off x="502920" y="5252313"/>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8" name="vis:menunum"/>
          <p:cNvSpPr txBox="1"/>
          <p:nvPr/>
        </p:nvSpPr>
        <p:spPr>
          <a:xfrm>
            <a:off x="813816" y="5307177"/>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09</a:t>
            </a:r>
          </a:p>
        </p:txBody>
      </p:sp>
      <p:sp>
        <p:nvSpPr>
          <p:cNvPr id="59" name="cell:menulabel"/>
          <p:cNvSpPr txBox="1"/>
          <p:nvPr/>
        </p:nvSpPr>
        <p:spPr>
          <a:xfrm>
            <a:off x="1344168" y="5307177"/>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Recap card</a:t>
            </a:r>
          </a:p>
        </p:txBody>
      </p:sp>
      <p:sp>
        <p:nvSpPr>
          <p:cNvPr id="60" name="cell:menusub"/>
          <p:cNvSpPr txBox="1"/>
          <p:nvPr/>
        </p:nvSpPr>
        <p:spPr>
          <a:xfrm>
            <a:off x="7134682" y="5307177"/>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whole topic on one screen</a:t>
            </a:r>
          </a:p>
        </p:txBody>
      </p:sp>
      <p:cxnSp>
        <p:nvCxnSpPr>
          <p:cNvPr id="61" name="vis:menuarrow"/>
          <p:cNvCxnSpPr/>
          <p:nvPr/>
        </p:nvCxnSpPr>
        <p:spPr>
          <a:xfrm>
            <a:off x="11213287" y="5420563"/>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2" name="nav:menurow">
            <a:hlinkClick action="ppaction://hlinksldjump" r:id="rId11"/>
          </p:cNvPr>
          <p:cNvSpPr/>
          <p:nvPr/>
        </p:nvSpPr>
        <p:spPr>
          <a:xfrm>
            <a:off x="502920" y="5680252"/>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3" name="vis:menubar"/>
          <p:cNvSpPr/>
          <p:nvPr/>
        </p:nvSpPr>
        <p:spPr>
          <a:xfrm>
            <a:off x="502920" y="5680252"/>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4" name="vis:menunum"/>
          <p:cNvSpPr txBox="1"/>
          <p:nvPr/>
        </p:nvSpPr>
        <p:spPr>
          <a:xfrm>
            <a:off x="813816" y="5735116"/>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10</a:t>
            </a:r>
          </a:p>
        </p:txBody>
      </p:sp>
      <p:sp>
        <p:nvSpPr>
          <p:cNvPr id="65" name="cell:menulabel"/>
          <p:cNvSpPr txBox="1"/>
          <p:nvPr/>
        </p:nvSpPr>
        <p:spPr>
          <a:xfrm>
            <a:off x="1344168" y="5735116"/>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Your toolkit</a:t>
            </a:r>
          </a:p>
        </p:txBody>
      </p:sp>
      <p:sp>
        <p:nvSpPr>
          <p:cNvPr id="66" name="cell:menusub"/>
          <p:cNvSpPr txBox="1"/>
          <p:nvPr/>
        </p:nvSpPr>
        <p:spPr>
          <a:xfrm>
            <a:off x="7134682" y="5735116"/>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Templates, links, what to do next</a:t>
            </a:r>
          </a:p>
        </p:txBody>
      </p:sp>
      <p:cxnSp>
        <p:nvCxnSpPr>
          <p:cNvPr id="67" name="vis:menuarrow"/>
          <p:cNvCxnSpPr/>
          <p:nvPr/>
        </p:nvCxnSpPr>
        <p:spPr>
          <a:xfrm>
            <a:off x="11213287" y="5848502"/>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FOUR EMAIL SHAPES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shapes cover your week</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DW-01  ·  Email Writing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Almost every routine work email is one of these. Each has a prompt you fill in once and reuse.</a:t>
            </a:r>
          </a:p>
        </p:txBody>
      </p:sp>
      <p:sp>
        <p:nvSpPr>
          <p:cNvPr id="16" name="vis:checktile"/>
          <p:cNvSpPr/>
          <p:nvPr/>
        </p:nvSpPr>
        <p:spPr>
          <a:xfrm>
            <a:off x="502920" y="2834640"/>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eckdot"/>
          <p:cNvSpPr/>
          <p:nvPr/>
        </p:nvSpPr>
        <p:spPr>
          <a:xfrm>
            <a:off x="722376" y="3387852"/>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815279" y="3546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860450" y="3494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cell:checkitem"/>
          <p:cNvSpPr txBox="1"/>
          <p:nvPr/>
        </p:nvSpPr>
        <p:spPr>
          <a:xfrm>
            <a:off x="1161288" y="2980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BAD NEWS — a delay, a shortage, a price rise</a:t>
            </a:r>
          </a:p>
        </p:txBody>
      </p:sp>
      <p:sp>
        <p:nvSpPr>
          <p:cNvPr id="21" name="vis:checktile"/>
          <p:cNvSpPr/>
          <p:nvPr/>
        </p:nvSpPr>
        <p:spPr>
          <a:xfrm>
            <a:off x="6205575" y="2834640"/>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eckdot"/>
          <p:cNvSpPr/>
          <p:nvPr/>
        </p:nvSpPr>
        <p:spPr>
          <a:xfrm>
            <a:off x="6425031" y="3387852"/>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6517934" y="3546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flipV="1">
            <a:off x="6563106" y="3494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cell:checkitem"/>
          <p:cNvSpPr txBox="1"/>
          <p:nvPr/>
        </p:nvSpPr>
        <p:spPr>
          <a:xfrm>
            <a:off x="6863943" y="2980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CHASING — a payment, a document, a decision</a:t>
            </a:r>
          </a:p>
        </p:txBody>
      </p:sp>
      <p:sp>
        <p:nvSpPr>
          <p:cNvPr id="26" name="vis:checktile"/>
          <p:cNvSpPr/>
          <p:nvPr/>
        </p:nvSpPr>
        <p:spPr>
          <a:xfrm>
            <a:off x="502920" y="4471416"/>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eckdot"/>
          <p:cNvSpPr/>
          <p:nvPr/>
        </p:nvSpPr>
        <p:spPr>
          <a:xfrm>
            <a:off x="722376" y="5024628"/>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815279" y="5183550"/>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9" name="vis:icon"/>
          <p:cNvCxnSpPr/>
          <p:nvPr/>
        </p:nvCxnSpPr>
        <p:spPr>
          <a:xfrm flipV="1">
            <a:off x="860450" y="5131429"/>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0" name="cell:checkitem"/>
          <p:cNvSpPr txBox="1"/>
          <p:nvPr/>
        </p:nvSpPr>
        <p:spPr>
          <a:xfrm>
            <a:off x="1161288" y="4617720"/>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REFUSING — a discount, a deadline, a special request</a:t>
            </a:r>
          </a:p>
        </p:txBody>
      </p:sp>
      <p:sp>
        <p:nvSpPr>
          <p:cNvPr id="31" name="vis:checktile"/>
          <p:cNvSpPr/>
          <p:nvPr/>
        </p:nvSpPr>
        <p:spPr>
          <a:xfrm>
            <a:off x="6205575" y="4471416"/>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eckdot"/>
          <p:cNvSpPr/>
          <p:nvPr/>
        </p:nvSpPr>
        <p:spPr>
          <a:xfrm>
            <a:off x="6425031" y="5024628"/>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6517934" y="5183550"/>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563106" y="5131429"/>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cell:checkitem"/>
          <p:cNvSpPr txBox="1"/>
          <p:nvPr/>
        </p:nvSpPr>
        <p:spPr>
          <a:xfrm>
            <a:off x="6863943" y="4617720"/>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CONFIRMING — a slot, a change, an agreement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FOUR EMAIL SHAPES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every shape needs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DW-01  ·  Email Writing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flowcard"/>
          <p:cNvSpPr/>
          <p:nvPr/>
        </p:nvSpPr>
        <p:spPr>
          <a:xfrm>
            <a:off x="502920"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flownum"/>
          <p:cNvSpPr/>
          <p:nvPr/>
        </p:nvSpPr>
        <p:spPr>
          <a:xfrm>
            <a:off x="685800" y="2039111"/>
            <a:ext cx="384048" cy="38404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flownumtext"/>
          <p:cNvSpPr txBox="1"/>
          <p:nvPr/>
        </p:nvSpPr>
        <p:spPr>
          <a:xfrm>
            <a:off x="685800"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sp>
        <p:nvSpPr>
          <p:cNvPr id="18" name="vis:flowtitle"/>
          <p:cNvSpPr txBox="1"/>
          <p:nvPr/>
        </p:nvSpPr>
        <p:spPr>
          <a:xfrm>
            <a:off x="704088"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The facts</a:t>
            </a:r>
          </a:p>
        </p:txBody>
      </p:sp>
      <p:sp>
        <p:nvSpPr>
          <p:cNvPr id="19" name="vis:flowsub"/>
          <p:cNvSpPr txBox="1"/>
          <p:nvPr/>
        </p:nvSpPr>
        <p:spPr>
          <a:xfrm>
            <a:off x="704088"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Order number, dates, amounts, the actual reason.</a:t>
            </a:r>
          </a:p>
        </p:txBody>
      </p:sp>
      <p:cxnSp>
        <p:nvCxnSpPr>
          <p:cNvPr id="20" name="vis:flowarrow"/>
          <p:cNvCxnSpPr/>
          <p:nvPr/>
        </p:nvCxnSpPr>
        <p:spPr>
          <a:xfrm>
            <a:off x="3093643" y="3182111"/>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vis:flowcard"/>
          <p:cNvSpPr/>
          <p:nvPr/>
        </p:nvSpPr>
        <p:spPr>
          <a:xfrm>
            <a:off x="3395395"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flownum"/>
          <p:cNvSpPr/>
          <p:nvPr/>
        </p:nvSpPr>
        <p:spPr>
          <a:xfrm>
            <a:off x="3578275" y="2039111"/>
            <a:ext cx="384048" cy="38404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flownumtext"/>
          <p:cNvSpPr txBox="1"/>
          <p:nvPr/>
        </p:nvSpPr>
        <p:spPr>
          <a:xfrm>
            <a:off x="3578275"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sp>
        <p:nvSpPr>
          <p:cNvPr id="24" name="vis:flowtitle"/>
          <p:cNvSpPr txBox="1"/>
          <p:nvPr/>
        </p:nvSpPr>
        <p:spPr>
          <a:xfrm>
            <a:off x="3596563"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Your position</a:t>
            </a:r>
          </a:p>
        </p:txBody>
      </p:sp>
      <p:sp>
        <p:nvSpPr>
          <p:cNvPr id="25" name="vis:flowsub"/>
          <p:cNvSpPr txBox="1"/>
          <p:nvPr/>
        </p:nvSpPr>
        <p:spPr>
          <a:xfrm>
            <a:off x="3596563"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What you will and will not offer.</a:t>
            </a:r>
          </a:p>
        </p:txBody>
      </p:sp>
      <p:cxnSp>
        <p:nvCxnSpPr>
          <p:cNvPr id="26" name="vis:flowarrow"/>
          <p:cNvCxnSpPr/>
          <p:nvPr/>
        </p:nvCxnSpPr>
        <p:spPr>
          <a:xfrm>
            <a:off x="5986119" y="3182111"/>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vis:flowcard"/>
          <p:cNvSpPr/>
          <p:nvPr/>
        </p:nvSpPr>
        <p:spPr>
          <a:xfrm>
            <a:off x="6287871"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flownum"/>
          <p:cNvSpPr/>
          <p:nvPr/>
        </p:nvSpPr>
        <p:spPr>
          <a:xfrm>
            <a:off x="6470751" y="2039111"/>
            <a:ext cx="384048" cy="38404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flownumtext"/>
          <p:cNvSpPr txBox="1"/>
          <p:nvPr/>
        </p:nvSpPr>
        <p:spPr>
          <a:xfrm>
            <a:off x="6470751"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sp>
        <p:nvSpPr>
          <p:cNvPr id="30" name="vis:flowtitle"/>
          <p:cNvSpPr txBox="1"/>
          <p:nvPr/>
        </p:nvSpPr>
        <p:spPr>
          <a:xfrm>
            <a:off x="6489039"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The tone</a:t>
            </a:r>
          </a:p>
        </p:txBody>
      </p:sp>
      <p:sp>
        <p:nvSpPr>
          <p:cNvPr id="31" name="vis:flowsub"/>
          <p:cNvSpPr txBox="1"/>
          <p:nvPr/>
        </p:nvSpPr>
        <p:spPr>
          <a:xfrm>
            <a:off x="6489039"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Firm, warm or neutral. Choose it on purpose.</a:t>
            </a:r>
          </a:p>
        </p:txBody>
      </p:sp>
      <p:cxnSp>
        <p:nvCxnSpPr>
          <p:cNvPr id="32" name="vis:flowarrow"/>
          <p:cNvCxnSpPr/>
          <p:nvPr/>
        </p:nvCxnSpPr>
        <p:spPr>
          <a:xfrm>
            <a:off x="8878595" y="3182111"/>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3" name="vis:flowcard"/>
          <p:cNvSpPr/>
          <p:nvPr/>
        </p:nvSpPr>
        <p:spPr>
          <a:xfrm>
            <a:off x="9180347"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flownum"/>
          <p:cNvSpPr/>
          <p:nvPr/>
        </p:nvSpPr>
        <p:spPr>
          <a:xfrm>
            <a:off x="9363227" y="2039111"/>
            <a:ext cx="384048" cy="38404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flownumtext"/>
          <p:cNvSpPr txBox="1"/>
          <p:nvPr/>
        </p:nvSpPr>
        <p:spPr>
          <a:xfrm>
            <a:off x="9363227"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36" name="vis:flowtitle"/>
          <p:cNvSpPr txBox="1"/>
          <p:nvPr/>
        </p:nvSpPr>
        <p:spPr>
          <a:xfrm>
            <a:off x="9381515"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The ask</a:t>
            </a:r>
          </a:p>
        </p:txBody>
      </p:sp>
      <p:sp>
        <p:nvSpPr>
          <p:cNvPr id="37" name="vis:flowsub"/>
          <p:cNvSpPr txBox="1"/>
          <p:nvPr/>
        </p:nvSpPr>
        <p:spPr>
          <a:xfrm>
            <a:off x="9381515"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One clear thing you want them to do next.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SETTING THE TONE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Choose the tone on purpose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DW-01  ·  Email Writing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panel"/>
          <p:cNvSpPr/>
          <p:nvPr/>
        </p:nvSpPr>
        <p:spPr>
          <a:xfrm>
            <a:off x="502920" y="1719072"/>
            <a:ext cx="5437479" cy="4297680"/>
          </a:xfrm>
          <a:prstGeom prst="roundRect">
            <a:avLst>
              <a:gd name="adj" fmla="val 212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anelspine"/>
          <p:cNvSpPr/>
          <p:nvPr/>
        </p:nvSpPr>
        <p:spPr>
          <a:xfrm>
            <a:off x="502920" y="1719072"/>
            <a:ext cx="68580" cy="429768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77240" y="1956815"/>
            <a:ext cx="1541736"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32688" y="1984247"/>
            <a:ext cx="1230840"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VAGUE TONE</a:t>
            </a:r>
          </a:p>
        </p:txBody>
      </p:sp>
      <p:sp>
        <p:nvSpPr>
          <p:cNvPr id="19" name="vis:paneltitle"/>
          <p:cNvSpPr txBox="1"/>
          <p:nvPr/>
        </p:nvSpPr>
        <p:spPr>
          <a:xfrm>
            <a:off x="777240" y="2377439"/>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"Make it professional"</a:t>
            </a:r>
          </a:p>
        </p:txBody>
      </p:sp>
      <p:cxnSp>
        <p:nvCxnSpPr>
          <p:cNvPr id="20" name="vis:icon"/>
          <p:cNvCxnSpPr/>
          <p:nvPr/>
        </p:nvCxnSpPr>
        <p:spPr>
          <a:xfrm>
            <a:off x="819302" y="3091586"/>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1" name="vis:icon"/>
          <p:cNvCxnSpPr/>
          <p:nvPr/>
        </p:nvCxnSpPr>
        <p:spPr>
          <a:xfrm flipH="1">
            <a:off x="819302" y="3091586"/>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2" name="vis:panelitem"/>
          <p:cNvSpPr txBox="1"/>
          <p:nvPr/>
        </p:nvSpPr>
        <p:spPr>
          <a:xfrm>
            <a:off x="1078992" y="3017520"/>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Produces the same neutral letter every time</a:t>
            </a:r>
          </a:p>
        </p:txBody>
      </p:sp>
      <p:cxnSp>
        <p:nvCxnSpPr>
          <p:cNvPr id="23" name="vis:icon"/>
          <p:cNvCxnSpPr/>
          <p:nvPr/>
        </p:nvCxnSpPr>
        <p:spPr>
          <a:xfrm>
            <a:off x="819302" y="3786530"/>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flipH="1">
            <a:off x="819302" y="3786530"/>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5" name="vis:panelitem"/>
          <p:cNvSpPr txBox="1"/>
          <p:nvPr/>
        </p:nvSpPr>
        <p:spPr>
          <a:xfrm>
            <a:off x="1078992" y="3712463"/>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Over-apologises when you did nothing wrong</a:t>
            </a:r>
          </a:p>
        </p:txBody>
      </p:sp>
      <p:cxnSp>
        <p:nvCxnSpPr>
          <p:cNvPr id="26" name="vis:icon"/>
          <p:cNvCxnSpPr/>
          <p:nvPr/>
        </p:nvCxnSpPr>
        <p:spPr>
          <a:xfrm>
            <a:off x="819302" y="4481474"/>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7" name="vis:icon"/>
          <p:cNvCxnSpPr/>
          <p:nvPr/>
        </p:nvCxnSpPr>
        <p:spPr>
          <a:xfrm flipH="1">
            <a:off x="819302" y="4481474"/>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8" name="vis:panelitem"/>
          <p:cNvSpPr txBox="1"/>
          <p:nvPr/>
        </p:nvSpPr>
        <p:spPr>
          <a:xfrm>
            <a:off x="1078992" y="4407407"/>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Softens a refusal until it reads as a maybe</a:t>
            </a:r>
          </a:p>
        </p:txBody>
      </p:sp>
      <p:cxnSp>
        <p:nvCxnSpPr>
          <p:cNvPr id="29" name="vis:icon"/>
          <p:cNvCxnSpPr/>
          <p:nvPr/>
        </p:nvCxnSpPr>
        <p:spPr>
          <a:xfrm>
            <a:off x="819302" y="5176418"/>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30" name="vis:icon"/>
          <p:cNvCxnSpPr/>
          <p:nvPr/>
        </p:nvCxnSpPr>
        <p:spPr>
          <a:xfrm flipH="1">
            <a:off x="819302" y="5176418"/>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31" name="vis:panelitem"/>
          <p:cNvSpPr txBox="1"/>
          <p:nvPr/>
        </p:nvSpPr>
        <p:spPr>
          <a:xfrm>
            <a:off x="1078992" y="5102351"/>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Adds pleasantries nobody reads</a:t>
            </a:r>
          </a:p>
        </p:txBody>
      </p:sp>
      <p:sp>
        <p:nvSpPr>
          <p:cNvPr id="32" name="vis:panel"/>
          <p:cNvSpPr/>
          <p:nvPr/>
        </p:nvSpPr>
        <p:spPr>
          <a:xfrm>
            <a:off x="6251295" y="1719072"/>
            <a:ext cx="5437479" cy="4297680"/>
          </a:xfrm>
          <a:prstGeom prst="roundRect">
            <a:avLst>
              <a:gd name="adj" fmla="val 212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panelspine"/>
          <p:cNvSpPr/>
          <p:nvPr/>
        </p:nvSpPr>
        <p:spPr>
          <a:xfrm>
            <a:off x="6251295" y="1719072"/>
            <a:ext cx="68580" cy="42976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chip"/>
          <p:cNvSpPr/>
          <p:nvPr/>
        </p:nvSpPr>
        <p:spPr>
          <a:xfrm>
            <a:off x="6525615" y="1956815"/>
            <a:ext cx="159590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chiptext"/>
          <p:cNvSpPr txBox="1"/>
          <p:nvPr/>
        </p:nvSpPr>
        <p:spPr>
          <a:xfrm>
            <a:off x="6681063" y="1984247"/>
            <a:ext cx="128501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NAMED TONE</a:t>
            </a:r>
          </a:p>
        </p:txBody>
      </p:sp>
      <p:sp>
        <p:nvSpPr>
          <p:cNvPr id="36" name="vis:paneltitle"/>
          <p:cNvSpPr txBox="1"/>
          <p:nvPr/>
        </p:nvSpPr>
        <p:spPr>
          <a:xfrm>
            <a:off x="6525615" y="2377439"/>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"Firm, no apology, warm close"</a:t>
            </a:r>
          </a:p>
        </p:txBody>
      </p:sp>
      <p:cxnSp>
        <p:nvCxnSpPr>
          <p:cNvPr id="37" name="vis:icon"/>
          <p:cNvCxnSpPr/>
          <p:nvPr/>
        </p:nvCxnSpPr>
        <p:spPr>
          <a:xfrm>
            <a:off x="6560362" y="3153765"/>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flipV="1">
            <a:off x="6607911" y="3098901"/>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9" name="vis:panelitem"/>
          <p:cNvSpPr txBox="1"/>
          <p:nvPr/>
        </p:nvSpPr>
        <p:spPr>
          <a:xfrm>
            <a:off x="6827367" y="3017520"/>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Firm — states the position without hedging</a:t>
            </a:r>
          </a:p>
        </p:txBody>
      </p:sp>
      <p:cxnSp>
        <p:nvCxnSpPr>
          <p:cNvPr id="40" name="vis:icon"/>
          <p:cNvCxnSpPr/>
          <p:nvPr/>
        </p:nvCxnSpPr>
        <p:spPr>
          <a:xfrm>
            <a:off x="6560362" y="3848709"/>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1" name="vis:icon"/>
          <p:cNvCxnSpPr/>
          <p:nvPr/>
        </p:nvCxnSpPr>
        <p:spPr>
          <a:xfrm flipV="1">
            <a:off x="6607911" y="3793845"/>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2" name="vis:panelitem"/>
          <p:cNvSpPr txBox="1"/>
          <p:nvPr/>
        </p:nvSpPr>
        <p:spPr>
          <a:xfrm>
            <a:off x="6827367" y="3712463"/>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Warm — acknowledges the person, not the problem</a:t>
            </a:r>
          </a:p>
        </p:txBody>
      </p:sp>
      <p:cxnSp>
        <p:nvCxnSpPr>
          <p:cNvPr id="43" name="vis:icon"/>
          <p:cNvCxnSpPr/>
          <p:nvPr/>
        </p:nvCxnSpPr>
        <p:spPr>
          <a:xfrm>
            <a:off x="6560362" y="4543653"/>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4" name="vis:icon"/>
          <p:cNvCxnSpPr/>
          <p:nvPr/>
        </p:nvCxnSpPr>
        <p:spPr>
          <a:xfrm flipV="1">
            <a:off x="6607911" y="4488789"/>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5" name="vis:panelitem"/>
          <p:cNvSpPr txBox="1"/>
          <p:nvPr/>
        </p:nvSpPr>
        <p:spPr>
          <a:xfrm>
            <a:off x="6827367" y="4407407"/>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Neutral — facts only, for a record</a:t>
            </a:r>
          </a:p>
        </p:txBody>
      </p:sp>
      <p:cxnSp>
        <p:nvCxnSpPr>
          <p:cNvPr id="46" name="vis:icon"/>
          <p:cNvCxnSpPr/>
          <p:nvPr/>
        </p:nvCxnSpPr>
        <p:spPr>
          <a:xfrm>
            <a:off x="6560362" y="5238597"/>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7" name="vis:icon"/>
          <p:cNvCxnSpPr/>
          <p:nvPr/>
        </p:nvCxnSpPr>
        <p:spPr>
          <a:xfrm flipV="1">
            <a:off x="6607911" y="5183733"/>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8" name="vis:panelitem"/>
          <p:cNvSpPr txBox="1"/>
          <p:nvPr/>
        </p:nvSpPr>
        <p:spPr>
          <a:xfrm>
            <a:off x="6827367" y="5102351"/>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Apologetic — once, specifically, then move 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SETTING THE TONE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bad-news email prompt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DW-01  ·  Email Writing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promptcard"/>
          <p:cNvSpPr/>
          <p:nvPr/>
        </p:nvSpPr>
        <p:spPr>
          <a:xfrm>
            <a:off x="502920" y="1719072"/>
            <a:ext cx="6935230"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5577981" y="1792224"/>
            <a:ext cx="1677289" cy="256032"/>
          </a:xfrm>
          <a:prstGeom prst="roundRect">
            <a:avLst>
              <a:gd name="adj" fmla="val 1785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5761592"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5780246"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5780246"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5989461"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27" name="card:prompt"/>
          <p:cNvSpPr txBox="1"/>
          <p:nvPr/>
        </p:nvSpPr>
        <p:spPr>
          <a:xfrm>
            <a:off x="777240" y="2267712"/>
            <a:ext cx="6386590"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Write an email telling a customer their delivery has slipped. Facts: promised 12 March, now 15 March, delayed by a transport strike, no cost to them. Tone: apologetic once and then factual, not grovelling. Under 110 words. End by confirming the new date. No opening pleasantries.</a:t>
            </a:r>
          </a:p>
        </p:txBody>
      </p:sp>
      <p:sp>
        <p:nvSpPr>
          <p:cNvPr id="28" name="vis:promptcap"/>
          <p:cNvSpPr txBox="1"/>
          <p:nvPr/>
        </p:nvSpPr>
        <p:spPr>
          <a:xfrm>
            <a:off x="777240" y="3624579"/>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Works as written. Swap in your own dates and reason.</a:t>
            </a:r>
          </a:p>
        </p:txBody>
      </p:sp>
      <p:sp>
        <p:nvSpPr>
          <p:cNvPr id="29" name="seclabel"/>
          <p:cNvSpPr txBox="1"/>
          <p:nvPr/>
        </p:nvSpPr>
        <p:spPr>
          <a:xfrm>
            <a:off x="7803910" y="1773936"/>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WHY THIS WORKS</a:t>
            </a:r>
          </a:p>
        </p:txBody>
      </p:sp>
      <p:cxnSp>
        <p:nvCxnSpPr>
          <p:cNvPr id="30" name="vis:icon"/>
          <p:cNvCxnSpPr/>
          <p:nvPr/>
        </p:nvCxnSpPr>
        <p:spPr>
          <a:xfrm>
            <a:off x="7850361" y="2317455"/>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V="1">
            <a:off x="7902665" y="2257104"/>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2" name="cell:why"/>
          <p:cNvSpPr txBox="1"/>
          <p:nvPr/>
        </p:nvSpPr>
        <p:spPr>
          <a:xfrm>
            <a:off x="8187958" y="215798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"Apologetic once" stops the triple apology.</a:t>
            </a:r>
          </a:p>
        </p:txBody>
      </p:sp>
      <p:cxnSp>
        <p:nvCxnSpPr>
          <p:cNvPr id="33" name="vis:icon"/>
          <p:cNvCxnSpPr/>
          <p:nvPr/>
        </p:nvCxnSpPr>
        <p:spPr>
          <a:xfrm>
            <a:off x="7850361" y="3250143"/>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902665" y="3189792"/>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5" name="cell:why"/>
          <p:cNvSpPr txBox="1"/>
          <p:nvPr/>
        </p:nvSpPr>
        <p:spPr>
          <a:xfrm>
            <a:off x="8187958" y="309067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"No opening pleasantries" removes forty wasted words.</a:t>
            </a:r>
          </a:p>
        </p:txBody>
      </p:sp>
      <p:cxnSp>
        <p:nvCxnSpPr>
          <p:cNvPr id="36" name="vis:icon"/>
          <p:cNvCxnSpPr/>
          <p:nvPr/>
        </p:nvCxnSpPr>
        <p:spPr>
          <a:xfrm>
            <a:off x="7850361" y="4182831"/>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flipV="1">
            <a:off x="7902665" y="4122480"/>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8" name="cell:why"/>
          <p:cNvSpPr txBox="1"/>
          <p:nvPr/>
        </p:nvSpPr>
        <p:spPr>
          <a:xfrm>
            <a:off x="8187958" y="4023360"/>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Ending on the new date is what the customer wants first.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REPLYING TO A LONG THREAD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twelve-message thread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DW-01  ·  Email Writing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You have been added to a thread with a decision buried in it. You have four minutes.</a:t>
            </a:r>
          </a:p>
        </p:txBody>
      </p:sp>
      <p:sp>
        <p:nvSpPr>
          <p:cNvPr id="16" name="vis:promptcard"/>
          <p:cNvSpPr/>
          <p:nvPr/>
        </p:nvSpPr>
        <p:spPr>
          <a:xfrm>
            <a:off x="502920" y="2706624"/>
            <a:ext cx="5816644"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romptbar"/>
          <p:cNvSpPr/>
          <p:nvPr/>
        </p:nvSpPr>
        <p:spPr>
          <a:xfrm>
            <a:off x="502920" y="2706624"/>
            <a:ext cx="5816644"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739932" y="2828787"/>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flipH="1">
            <a:off x="775045" y="2951683"/>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flipV="1">
            <a:off x="775045" y="2951683"/>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vis:copybtn"/>
          <p:cNvSpPr/>
          <p:nvPr/>
        </p:nvSpPr>
        <p:spPr>
          <a:xfrm>
            <a:off x="4459395" y="2779776"/>
            <a:ext cx="1677289" cy="256032"/>
          </a:xfrm>
          <a:prstGeom prst="roundRect">
            <a:avLst>
              <a:gd name="adj" fmla="val 1785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4643007" y="2845612"/>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4661660" y="2882920"/>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4661660" y="2910900"/>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a:off x="4661660" y="2938881"/>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6" name="vis:copytext"/>
          <p:cNvSpPr txBox="1"/>
          <p:nvPr/>
        </p:nvSpPr>
        <p:spPr>
          <a:xfrm>
            <a:off x="4870875" y="2839212"/>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7" name="vis:prompthdr"/>
          <p:cNvSpPr txBox="1"/>
          <p:nvPr/>
        </p:nvSpPr>
        <p:spPr>
          <a:xfrm>
            <a:off x="1051560" y="2816352"/>
            <a:ext cx="3298107"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28" name="card:prompt"/>
          <p:cNvSpPr txBox="1"/>
          <p:nvPr/>
        </p:nvSpPr>
        <p:spPr>
          <a:xfrm>
            <a:off x="777240" y="3255264"/>
            <a:ext cx="5268004"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Below is an email thread. Tell me three things and nothing else. One: what has actually been agreed. Two: what is still open. Three: what I am being asked to do. Use one short line for each. Do not summarise the whole conversation.</a:t>
            </a:r>
          </a:p>
        </p:txBody>
      </p:sp>
      <p:sp>
        <p:nvSpPr>
          <p:cNvPr id="29" name="vis:promptcap"/>
          <p:cNvSpPr txBox="1"/>
          <p:nvPr/>
        </p:nvSpPr>
        <p:spPr>
          <a:xfrm>
            <a:off x="777240" y="4612132"/>
            <a:ext cx="5268004"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Strip the names out of the thread before you paste it.</a:t>
            </a:r>
          </a:p>
        </p:txBody>
      </p:sp>
      <p:sp>
        <p:nvSpPr>
          <p:cNvPr id="30" name="vis:outcard"/>
          <p:cNvSpPr/>
          <p:nvPr/>
        </p:nvSpPr>
        <p:spPr>
          <a:xfrm>
            <a:off x="6685324" y="2706624"/>
            <a:ext cx="5003450" cy="2377947"/>
          </a:xfrm>
          <a:prstGeom prst="roundRect">
            <a:avLst>
              <a:gd name="adj" fmla="val 38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outspine"/>
          <p:cNvSpPr/>
          <p:nvPr/>
        </p:nvSpPr>
        <p:spPr>
          <a:xfrm>
            <a:off x="6685324" y="2706624"/>
            <a:ext cx="68580" cy="2377947"/>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
          <p:cNvSpPr/>
          <p:nvPr/>
        </p:nvSpPr>
        <p:spPr>
          <a:xfrm>
            <a:off x="6941356" y="2907792"/>
            <a:ext cx="2087885" cy="274320"/>
          </a:xfrm>
          <a:prstGeom prst="roundRect">
            <a:avLst>
              <a:gd name="adj" fmla="val 16666"/>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chiptext"/>
          <p:cNvSpPr txBox="1"/>
          <p:nvPr/>
        </p:nvSpPr>
        <p:spPr>
          <a:xfrm>
            <a:off x="7096804" y="2935224"/>
            <a:ext cx="177698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WHAT COMES BACK</a:t>
            </a:r>
          </a:p>
        </p:txBody>
      </p:sp>
      <p:sp>
        <p:nvSpPr>
          <p:cNvPr id="34" name="vis:outbody"/>
          <p:cNvSpPr txBox="1"/>
          <p:nvPr/>
        </p:nvSpPr>
        <p:spPr>
          <a:xfrm>
            <a:off x="6941356" y="3346704"/>
            <a:ext cx="4491386" cy="1518411"/>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Three short lines instead of twelve messages.</a:t>
            </a:r>
          </a:p>
          <a:p>
            <a:pPr algn="l">
              <a:lnSpc>
                <a:spcPts val="1690"/>
              </a:lnSpc>
              <a:spcBef>
                <a:spcPts val="0"/>
              </a:spcBef>
              <a:spcAft>
                <a:spcPts val="600"/>
              </a:spcAft>
            </a:pPr>
            <a:r>
              <a:rPr sz="1300" b="0">
                <a:solidFill>
                  <a:srgbClr val="2A3547"/>
                </a:solidFill>
                <a:latin typeface="Segoe UI"/>
              </a:rPr>
              <a:t>The open question you would have missed on a fast read.</a:t>
            </a:r>
          </a:p>
          <a:p>
            <a:pPr algn="l">
              <a:lnSpc>
                <a:spcPts val="1690"/>
              </a:lnSpc>
              <a:spcBef>
                <a:spcPts val="0"/>
              </a:spcBef>
              <a:spcAft>
                <a:spcPts val="600"/>
              </a:spcAft>
            </a:pPr>
            <a:r>
              <a:rPr sz="1300" b="0">
                <a:solidFill>
                  <a:srgbClr val="2A3547"/>
                </a:solidFill>
                <a:latin typeface="Segoe UI"/>
              </a:rPr>
              <a:t>Four minutes of reading turned into forty seconds.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REPLYING TO A LONG THREAD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Strip it before you paste it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DW-01  ·  Email Writing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alertband"/>
          <p:cNvSpPr/>
          <p:nvPr/>
        </p:nvSpPr>
        <p:spPr>
          <a:xfrm>
            <a:off x="0" y="1719072"/>
            <a:ext cx="12191695" cy="9601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A pasted thread carries every name, address and signature block in it.</a:t>
            </a:r>
          </a:p>
          <a:p>
            <a:pPr algn="l">
              <a:lnSpc>
                <a:spcPts val="1755"/>
              </a:lnSpc>
              <a:spcBef>
                <a:spcPts val="0"/>
              </a:spcBef>
              <a:spcAft>
                <a:spcPts val="0"/>
              </a:spcAft>
            </a:pPr>
            <a:r>
              <a:rPr sz="1350" b="0">
                <a:solidFill>
                  <a:srgbClr val="FFFFFF"/>
                </a:solidFill>
                <a:latin typeface="Segoe UI"/>
              </a:rPr>
              <a:t>Describe the situation, or delete the identifying lines first.</a:t>
            </a:r>
          </a:p>
        </p:txBody>
      </p:sp>
      <p:sp>
        <p:nvSpPr>
          <p:cNvPr id="20" name="vis:checktile"/>
          <p:cNvSpPr/>
          <p:nvPr/>
        </p:nvSpPr>
        <p:spPr>
          <a:xfrm>
            <a:off x="502920" y="2953512"/>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80138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823965" y="3608313"/>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Signature blocks with phone numbers and addresses</a:t>
            </a:r>
          </a:p>
        </p:txBody>
      </p:sp>
      <p:sp>
        <p:nvSpPr>
          <p:cNvPr id="25" name="vis:checktile"/>
          <p:cNvSpPr/>
          <p:nvPr/>
        </p:nvSpPr>
        <p:spPr>
          <a:xfrm>
            <a:off x="6205575" y="2953512"/>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6425031"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icon"/>
          <p:cNvSpPr/>
          <p:nvPr/>
        </p:nvSpPr>
        <p:spPr>
          <a:xfrm>
            <a:off x="6504035"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6526621" y="3608313"/>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6863943" y="3099816"/>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Customer names in every quoted reply</a:t>
            </a:r>
          </a:p>
        </p:txBody>
      </p:sp>
      <p:sp>
        <p:nvSpPr>
          <p:cNvPr id="30" name="vis:checktile"/>
          <p:cNvSpPr/>
          <p:nvPr/>
        </p:nvSpPr>
        <p:spPr>
          <a:xfrm>
            <a:off x="502920" y="4590288"/>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722376" y="514349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801380" y="5222504"/>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823965" y="5245089"/>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1161288" y="4736592"/>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Internal comments colleagues added along the way</a:t>
            </a:r>
          </a:p>
        </p:txBody>
      </p:sp>
      <p:sp>
        <p:nvSpPr>
          <p:cNvPr id="35" name="vis:checktile"/>
          <p:cNvSpPr/>
          <p:nvPr/>
        </p:nvSpPr>
        <p:spPr>
          <a:xfrm>
            <a:off x="6205575" y="4590288"/>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checkdot"/>
          <p:cNvSpPr/>
          <p:nvPr/>
        </p:nvSpPr>
        <p:spPr>
          <a:xfrm>
            <a:off x="6425031" y="514349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icon"/>
          <p:cNvSpPr/>
          <p:nvPr/>
        </p:nvSpPr>
        <p:spPr>
          <a:xfrm>
            <a:off x="6504035" y="5222504"/>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8" name="vis:icon"/>
          <p:cNvCxnSpPr/>
          <p:nvPr/>
        </p:nvCxnSpPr>
        <p:spPr>
          <a:xfrm>
            <a:off x="6526621" y="5245089"/>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9" name="cell:checkitem"/>
          <p:cNvSpPr txBox="1"/>
          <p:nvPr/>
        </p:nvSpPr>
        <p:spPr>
          <a:xfrm>
            <a:off x="6863943" y="4736592"/>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Attachments, prices and account references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SUBJECT LINE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Where most emails fail</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DW-01  ·  Email Writing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outcard"/>
          <p:cNvSpPr/>
          <p:nvPr/>
        </p:nvSpPr>
        <p:spPr>
          <a:xfrm>
            <a:off x="502920"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outspine"/>
          <p:cNvSpPr/>
          <p:nvPr/>
        </p:nvSpPr>
        <p:spPr>
          <a:xfrm>
            <a:off x="502920" y="1719072"/>
            <a:ext cx="68580" cy="329184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58952" y="1920240"/>
            <a:ext cx="1782500"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14400" y="1947672"/>
            <a:ext cx="1471604"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VAGUE SUBJECT</a:t>
            </a:r>
          </a:p>
        </p:txBody>
      </p:sp>
      <p:sp>
        <p:nvSpPr>
          <p:cNvPr id="19" name="vis:outbody"/>
          <p:cNvSpPr txBox="1"/>
          <p:nvPr/>
        </p:nvSpPr>
        <p:spPr>
          <a:xfrm>
            <a:off x="758952"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Subject: Update</a:t>
            </a:r>
          </a:p>
          <a:p>
            <a:pPr algn="l">
              <a:lnSpc>
                <a:spcPts val="1690"/>
              </a:lnSpc>
              <a:spcBef>
                <a:spcPts val="0"/>
              </a:spcBef>
              <a:spcAft>
                <a:spcPts val="600"/>
              </a:spcAft>
            </a:pPr>
            <a:r>
              <a:rPr sz="1300" b="0">
                <a:solidFill>
                  <a:srgbClr val="2A3547"/>
                </a:solidFill>
                <a:latin typeface="Segoe UI"/>
              </a:rPr>
              <a:t>Sits unopened for two days in a full inbox.</a:t>
            </a:r>
          </a:p>
          <a:p>
            <a:pPr algn="l">
              <a:lnSpc>
                <a:spcPts val="1690"/>
              </a:lnSpc>
              <a:spcBef>
                <a:spcPts val="0"/>
              </a:spcBef>
              <a:spcAft>
                <a:spcPts val="600"/>
              </a:spcAft>
            </a:pPr>
            <a:r>
              <a:rPr sz="1300" b="0">
                <a:solidFill>
                  <a:srgbClr val="2A3547"/>
                </a:solidFill>
                <a:latin typeface="Segoe UI"/>
              </a:rPr>
              <a:t>When it is opened, nobody knows what is being asked.</a:t>
            </a:r>
          </a:p>
        </p:txBody>
      </p:sp>
      <p:sp>
        <p:nvSpPr>
          <p:cNvPr id="20" name="vis:outcard"/>
          <p:cNvSpPr/>
          <p:nvPr/>
        </p:nvSpPr>
        <p:spPr>
          <a:xfrm>
            <a:off x="6278727"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outspine"/>
          <p:cNvSpPr/>
          <p:nvPr/>
        </p:nvSpPr>
        <p:spPr>
          <a:xfrm>
            <a:off x="6278727" y="1719072"/>
            <a:ext cx="68580" cy="329184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
          <p:cNvSpPr/>
          <p:nvPr/>
        </p:nvSpPr>
        <p:spPr>
          <a:xfrm>
            <a:off x="6534759" y="1920240"/>
            <a:ext cx="193128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hiptext"/>
          <p:cNvSpPr txBox="1"/>
          <p:nvPr/>
        </p:nvSpPr>
        <p:spPr>
          <a:xfrm>
            <a:off x="6690207" y="1947672"/>
            <a:ext cx="162039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SPECIFIC SUBJECT</a:t>
            </a:r>
          </a:p>
        </p:txBody>
      </p:sp>
      <p:sp>
        <p:nvSpPr>
          <p:cNvPr id="24" name="vis:outbody"/>
          <p:cNvSpPr txBox="1"/>
          <p:nvPr/>
        </p:nvSpPr>
        <p:spPr>
          <a:xfrm>
            <a:off x="6534759"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Subject: Order 4471 — new delivery date 15 March, no action needed</a:t>
            </a:r>
          </a:p>
          <a:p>
            <a:pPr algn="l">
              <a:lnSpc>
                <a:spcPts val="1690"/>
              </a:lnSpc>
              <a:spcBef>
                <a:spcPts val="0"/>
              </a:spcBef>
              <a:spcAft>
                <a:spcPts val="600"/>
              </a:spcAft>
            </a:pPr>
            <a:r>
              <a:rPr sz="1300" b="0">
                <a:solidFill>
                  <a:srgbClr val="2A3547"/>
                </a:solidFill>
                <a:latin typeface="Segoe UI"/>
              </a:rPr>
              <a:t>The whole message is readable without opening it.</a:t>
            </a:r>
          </a:p>
          <a:p>
            <a:pPr algn="l">
              <a:lnSpc>
                <a:spcPts val="1690"/>
              </a:lnSpc>
              <a:spcBef>
                <a:spcPts val="0"/>
              </a:spcBef>
              <a:spcAft>
                <a:spcPts val="600"/>
              </a:spcAft>
            </a:pPr>
            <a:r>
              <a:rPr sz="1300" b="0">
                <a:solidFill>
                  <a:srgbClr val="2A3547"/>
                </a:solidFill>
                <a:latin typeface="Segoe UI"/>
              </a:rPr>
              <a:t>It gets filed correctly and found again in June.</a:t>
            </a:r>
          </a:p>
        </p:txBody>
      </p:sp>
      <p:sp>
        <p:nvSpPr>
          <p:cNvPr id="25" name="cell:banote"/>
          <p:cNvSpPr txBox="1"/>
          <p:nvPr/>
        </p:nvSpPr>
        <p:spPr>
          <a:xfrm>
            <a:off x="502920" y="5193792"/>
            <a:ext cx="11185855" cy="34747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A good subject line says what it is about and whether the reader has to do anything.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SUBJECT LINE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Ask for ten, keep one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DW-01  ·  Email Writing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promptcard"/>
          <p:cNvSpPr/>
          <p:nvPr/>
        </p:nvSpPr>
        <p:spPr>
          <a:xfrm>
            <a:off x="502920" y="1719072"/>
            <a:ext cx="6935230" cy="2103120"/>
          </a:xfrm>
          <a:prstGeom prst="roundRect">
            <a:avLst>
              <a:gd name="adj" fmla="val 434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5577981" y="1792224"/>
            <a:ext cx="1677289" cy="256032"/>
          </a:xfrm>
          <a:prstGeom prst="roundRect">
            <a:avLst>
              <a:gd name="adj" fmla="val 1785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5761592"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5780246"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5780246"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5989461"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subject-line prompt</a:t>
            </a:r>
          </a:p>
        </p:txBody>
      </p:sp>
      <p:sp>
        <p:nvSpPr>
          <p:cNvPr id="27" name="card:prompt"/>
          <p:cNvSpPr txBox="1"/>
          <p:nvPr/>
        </p:nvSpPr>
        <p:spPr>
          <a:xfrm>
            <a:off x="777240" y="2267712"/>
            <a:ext cx="6386590" cy="880871"/>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Consolas"/>
              </a:rPr>
              <a:t>Give me ten subject lines for the email below. Each under nine words. Each must say what it is about and whether the reader needs to act. Number them. No explanation and no commentary.</a:t>
            </a:r>
          </a:p>
        </p:txBody>
      </p:sp>
      <p:sp>
        <p:nvSpPr>
          <p:cNvPr id="28" name="vis:promptcap"/>
          <p:cNvSpPr txBox="1"/>
          <p:nvPr/>
        </p:nvSpPr>
        <p:spPr>
          <a:xfrm>
            <a:off x="777240" y="3349752"/>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Choosing from ten takes ten seconds. Inventing one takes two minutes.</a:t>
            </a:r>
          </a:p>
        </p:txBody>
      </p:sp>
      <p:sp>
        <p:nvSpPr>
          <p:cNvPr id="29" name="seclabel"/>
          <p:cNvSpPr txBox="1"/>
          <p:nvPr/>
        </p:nvSpPr>
        <p:spPr>
          <a:xfrm>
            <a:off x="7803910" y="1773936"/>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WHY THIS WORKS</a:t>
            </a:r>
          </a:p>
        </p:txBody>
      </p:sp>
      <p:cxnSp>
        <p:nvCxnSpPr>
          <p:cNvPr id="30" name="vis:icon"/>
          <p:cNvCxnSpPr/>
          <p:nvPr/>
        </p:nvCxnSpPr>
        <p:spPr>
          <a:xfrm>
            <a:off x="7850361" y="2317455"/>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V="1">
            <a:off x="7902665" y="2257104"/>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2" name="cell:why"/>
          <p:cNvSpPr txBox="1"/>
          <p:nvPr/>
        </p:nvSpPr>
        <p:spPr>
          <a:xfrm>
            <a:off x="8187958" y="215798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Ten options cost the same as one.</a:t>
            </a:r>
          </a:p>
        </p:txBody>
      </p:sp>
      <p:cxnSp>
        <p:nvCxnSpPr>
          <p:cNvPr id="33" name="vis:icon"/>
          <p:cNvCxnSpPr/>
          <p:nvPr/>
        </p:nvCxnSpPr>
        <p:spPr>
          <a:xfrm>
            <a:off x="7850361" y="3250143"/>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902665" y="3189792"/>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5" name="cell:why"/>
          <p:cNvSpPr txBox="1"/>
          <p:nvPr/>
        </p:nvSpPr>
        <p:spPr>
          <a:xfrm>
            <a:off x="8187958" y="309067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"Whether the reader needs to act" is the useful half.</a:t>
            </a:r>
          </a:p>
        </p:txBody>
      </p:sp>
      <p:cxnSp>
        <p:nvCxnSpPr>
          <p:cNvPr id="36" name="vis:icon"/>
          <p:cNvCxnSpPr/>
          <p:nvPr/>
        </p:nvCxnSpPr>
        <p:spPr>
          <a:xfrm>
            <a:off x="7850361" y="4182831"/>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flipV="1">
            <a:off x="7902665" y="4122480"/>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8" name="cell:why"/>
          <p:cNvSpPr txBox="1"/>
          <p:nvPr/>
        </p:nvSpPr>
        <p:spPr>
          <a:xfrm>
            <a:off x="8187958" y="4023360"/>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Numbered lines make picking one instant.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Do this now: write a real one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DW-01  ·  Email Writing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stepnum"/>
          <p:cNvSpPr/>
          <p:nvPr/>
        </p:nvSpPr>
        <p:spPr>
          <a:xfrm>
            <a:off x="502920" y="2027681"/>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epnumtext"/>
          <p:cNvSpPr txBox="1"/>
          <p:nvPr/>
        </p:nvSpPr>
        <p:spPr>
          <a:xfrm>
            <a:off x="502920" y="2105406"/>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cxnSp>
        <p:nvCxnSpPr>
          <p:cNvPr id="17" name="vis:line"/>
          <p:cNvCxnSpPr/>
          <p:nvPr/>
        </p:nvCxnSpPr>
        <p:spPr>
          <a:xfrm>
            <a:off x="676656" y="2375154"/>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18" name="cell:step"/>
          <p:cNvSpPr txBox="1"/>
          <p:nvPr/>
        </p:nvSpPr>
        <p:spPr>
          <a:xfrm>
            <a:off x="1051560" y="1719072"/>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Open the email you have been putting off since yesterday.</a:t>
            </a:r>
          </a:p>
        </p:txBody>
      </p:sp>
      <p:sp>
        <p:nvSpPr>
          <p:cNvPr id="19" name="vis:stepnum"/>
          <p:cNvSpPr/>
          <p:nvPr/>
        </p:nvSpPr>
        <p:spPr>
          <a:xfrm>
            <a:off x="502920" y="3138677"/>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stepnumtext"/>
          <p:cNvSpPr txBox="1"/>
          <p:nvPr/>
        </p:nvSpPr>
        <p:spPr>
          <a:xfrm>
            <a:off x="502920" y="3216401"/>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cxnSp>
        <p:nvCxnSpPr>
          <p:cNvPr id="21" name="vis:line"/>
          <p:cNvCxnSpPr/>
          <p:nvPr/>
        </p:nvCxnSpPr>
        <p:spPr>
          <a:xfrm>
            <a:off x="676656" y="3486150"/>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2" name="cell:step"/>
          <p:cNvSpPr txBox="1"/>
          <p:nvPr/>
        </p:nvSpPr>
        <p:spPr>
          <a:xfrm>
            <a:off x="1051560" y="2830068"/>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Write down the facts, your position, the tone and the ask.</a:t>
            </a:r>
          </a:p>
        </p:txBody>
      </p:sp>
      <p:sp>
        <p:nvSpPr>
          <p:cNvPr id="23" name="vis:stepnum"/>
          <p:cNvSpPr/>
          <p:nvPr/>
        </p:nvSpPr>
        <p:spPr>
          <a:xfrm>
            <a:off x="502920" y="4249674"/>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stepnumtext"/>
          <p:cNvSpPr txBox="1"/>
          <p:nvPr/>
        </p:nvSpPr>
        <p:spPr>
          <a:xfrm>
            <a:off x="502920" y="4327398"/>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cxnSp>
        <p:nvCxnSpPr>
          <p:cNvPr id="25" name="vis:line"/>
          <p:cNvCxnSpPr/>
          <p:nvPr/>
        </p:nvCxnSpPr>
        <p:spPr>
          <a:xfrm>
            <a:off x="676656" y="4597146"/>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6" name="cell:step"/>
          <p:cNvSpPr txBox="1"/>
          <p:nvPr/>
        </p:nvSpPr>
        <p:spPr>
          <a:xfrm>
            <a:off x="1051560" y="3941064"/>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Paste the prompt on the right with those four things in it.</a:t>
            </a:r>
          </a:p>
        </p:txBody>
      </p:sp>
      <p:sp>
        <p:nvSpPr>
          <p:cNvPr id="27" name="vis:stepnum"/>
          <p:cNvSpPr/>
          <p:nvPr/>
        </p:nvSpPr>
        <p:spPr>
          <a:xfrm>
            <a:off x="502920" y="5360670"/>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stepnumtext"/>
          <p:cNvSpPr txBox="1"/>
          <p:nvPr/>
        </p:nvSpPr>
        <p:spPr>
          <a:xfrm>
            <a:off x="502920" y="5438394"/>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29" name="cell:step"/>
          <p:cNvSpPr txBox="1"/>
          <p:nvPr/>
        </p:nvSpPr>
        <p:spPr>
          <a:xfrm>
            <a:off x="1051560" y="5052060"/>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Check the dates, add the name yourself in Outlook, send.</a:t>
            </a:r>
          </a:p>
        </p:txBody>
      </p:sp>
      <p:sp>
        <p:nvSpPr>
          <p:cNvPr id="30" name="vis:promptcard"/>
          <p:cNvSpPr/>
          <p:nvPr/>
        </p:nvSpPr>
        <p:spPr>
          <a:xfrm>
            <a:off x="6461607" y="1719072"/>
            <a:ext cx="5227167" cy="2609087"/>
          </a:xfrm>
          <a:prstGeom prst="roundRect">
            <a:avLst>
              <a:gd name="adj" fmla="val 3504"/>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promptbar"/>
          <p:cNvSpPr/>
          <p:nvPr/>
        </p:nvSpPr>
        <p:spPr>
          <a:xfrm>
            <a:off x="6461607" y="1719072"/>
            <a:ext cx="5227167"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6698620"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flipH="1">
            <a:off x="6733733"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733733"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vis:copybtn"/>
          <p:cNvSpPr/>
          <p:nvPr/>
        </p:nvSpPr>
        <p:spPr>
          <a:xfrm>
            <a:off x="9828606" y="1792224"/>
            <a:ext cx="1677289" cy="256032"/>
          </a:xfrm>
          <a:prstGeom prst="roundRect">
            <a:avLst>
              <a:gd name="adj" fmla="val 1785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1001221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10030871"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a:off x="10030871"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a:off x="10030871"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0" name="vis:copytext"/>
          <p:cNvSpPr txBox="1"/>
          <p:nvPr/>
        </p:nvSpPr>
        <p:spPr>
          <a:xfrm>
            <a:off x="10240086"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41" name="vis:prompthdr"/>
          <p:cNvSpPr txBox="1"/>
          <p:nvPr/>
        </p:nvSpPr>
        <p:spPr>
          <a:xfrm>
            <a:off x="7010247" y="1828800"/>
            <a:ext cx="2708630"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42" name="card:prompt"/>
          <p:cNvSpPr txBox="1"/>
          <p:nvPr/>
        </p:nvSpPr>
        <p:spPr>
          <a:xfrm>
            <a:off x="6735927" y="2267712"/>
            <a:ext cx="4678527" cy="138683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Write a work email. Facts: [dates, numbers, what happened]. My position: [what I will and will not offer]. Tone: [firm / warm / neutral], one apology at most. Under [number] words. End with one clear ask. No opening pleasantries, no restating my request.</a:t>
            </a:r>
          </a:p>
        </p:txBody>
      </p:sp>
      <p:sp>
        <p:nvSpPr>
          <p:cNvPr id="43" name="vis:promptcap"/>
          <p:cNvSpPr txBox="1"/>
          <p:nvPr/>
        </p:nvSpPr>
        <p:spPr>
          <a:xfrm>
            <a:off x="6735927" y="3855719"/>
            <a:ext cx="4678527"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Four brackets. This is the only email prompt most people need.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habits that keep it human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DW-01  ·  Email Writing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Read it aloud in your head before sending. Robotic sentences are obvious.</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Cut the first sentence. It is almost always throat-clearing.</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Put the name and greeting in yourself, in Outlook.</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If it sounds nothing like you, change three words until it does.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Five mistakes people really make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DW-01  ·  Email Writing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mistake"/>
          <p:cNvSpPr/>
          <p:nvPr/>
        </p:nvSpPr>
        <p:spPr>
          <a:xfrm>
            <a:off x="502920" y="1719072"/>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istakebar"/>
          <p:cNvSpPr/>
          <p:nvPr/>
        </p:nvSpPr>
        <p:spPr>
          <a:xfrm>
            <a:off x="502920" y="1719072"/>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num"/>
          <p:cNvSpPr/>
          <p:nvPr/>
        </p:nvSpPr>
        <p:spPr>
          <a:xfrm>
            <a:off x="740664" y="1927555"/>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text"/>
          <p:cNvSpPr txBox="1"/>
          <p:nvPr/>
        </p:nvSpPr>
        <p:spPr>
          <a:xfrm>
            <a:off x="740664" y="1996135"/>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19" name="cell:mistake"/>
          <p:cNvSpPr txBox="1"/>
          <p:nvPr/>
        </p:nvSpPr>
        <p:spPr>
          <a:xfrm>
            <a:off x="1179576" y="1810512"/>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Pasting the customer's email to "give context"</a:t>
            </a:r>
          </a:p>
        </p:txBody>
      </p:sp>
      <p:cxnSp>
        <p:nvCxnSpPr>
          <p:cNvPr id="20" name="vis:line"/>
          <p:cNvCxnSpPr/>
          <p:nvPr/>
        </p:nvCxnSpPr>
        <p:spPr>
          <a:xfrm>
            <a:off x="6008686" y="1865376"/>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1" name="cell:mistakewhy"/>
          <p:cNvSpPr txBox="1"/>
          <p:nvPr/>
        </p:nvSpPr>
        <p:spPr>
          <a:xfrm>
            <a:off x="6173278" y="1810512"/>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Their name, address and phone number leave the company to save you thirty seconds.</a:t>
            </a:r>
          </a:p>
        </p:txBody>
      </p:sp>
      <p:sp>
        <p:nvSpPr>
          <p:cNvPr id="22" name="vis:mistake"/>
          <p:cNvSpPr/>
          <p:nvPr/>
        </p:nvSpPr>
        <p:spPr>
          <a:xfrm>
            <a:off x="502920" y="2611526"/>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mistakebar"/>
          <p:cNvSpPr/>
          <p:nvPr/>
        </p:nvSpPr>
        <p:spPr>
          <a:xfrm>
            <a:off x="502920" y="2611526"/>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num"/>
          <p:cNvSpPr/>
          <p:nvPr/>
        </p:nvSpPr>
        <p:spPr>
          <a:xfrm>
            <a:off x="740664" y="282000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text"/>
          <p:cNvSpPr txBox="1"/>
          <p:nvPr/>
        </p:nvSpPr>
        <p:spPr>
          <a:xfrm>
            <a:off x="740664" y="2888589"/>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6" name="cell:mistake"/>
          <p:cNvSpPr txBox="1"/>
          <p:nvPr/>
        </p:nvSpPr>
        <p:spPr>
          <a:xfrm>
            <a:off x="1179576" y="2702966"/>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Sending it without reading the middle</a:t>
            </a:r>
          </a:p>
        </p:txBody>
      </p:sp>
      <p:cxnSp>
        <p:nvCxnSpPr>
          <p:cNvPr id="27" name="vis:line"/>
          <p:cNvCxnSpPr/>
          <p:nvPr/>
        </p:nvCxnSpPr>
        <p:spPr>
          <a:xfrm>
            <a:off x="6008686" y="2757830"/>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8" name="cell:mistakewhy"/>
          <p:cNvSpPr txBox="1"/>
          <p:nvPr/>
        </p:nvSpPr>
        <p:spPr>
          <a:xfrm>
            <a:off x="6173278" y="2702966"/>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invented commitment is never in the first line or the last.</a:t>
            </a:r>
          </a:p>
        </p:txBody>
      </p:sp>
      <p:sp>
        <p:nvSpPr>
          <p:cNvPr id="29" name="vis:mistake"/>
          <p:cNvSpPr/>
          <p:nvPr/>
        </p:nvSpPr>
        <p:spPr>
          <a:xfrm>
            <a:off x="502920" y="3503980"/>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mistakebar"/>
          <p:cNvSpPr/>
          <p:nvPr/>
        </p:nvSpPr>
        <p:spPr>
          <a:xfrm>
            <a:off x="502920" y="3503980"/>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num"/>
          <p:cNvSpPr/>
          <p:nvPr/>
        </p:nvSpPr>
        <p:spPr>
          <a:xfrm>
            <a:off x="740664" y="3712463"/>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text"/>
          <p:cNvSpPr txBox="1"/>
          <p:nvPr/>
        </p:nvSpPr>
        <p:spPr>
          <a:xfrm>
            <a:off x="740664" y="3781044"/>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3" name="cell:mistake"/>
          <p:cNvSpPr txBox="1"/>
          <p:nvPr/>
        </p:nvSpPr>
        <p:spPr>
          <a:xfrm>
            <a:off x="1179576" y="3595420"/>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Asking for "a professional email"</a:t>
            </a:r>
          </a:p>
        </p:txBody>
      </p:sp>
      <p:cxnSp>
        <p:nvCxnSpPr>
          <p:cNvPr id="34" name="vis:line"/>
          <p:cNvCxnSpPr/>
          <p:nvPr/>
        </p:nvCxnSpPr>
        <p:spPr>
          <a:xfrm>
            <a:off x="6008686" y="3650284"/>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5" name="cell:mistakewhy"/>
          <p:cNvSpPr txBox="1"/>
          <p:nvPr/>
        </p:nvSpPr>
        <p:spPr>
          <a:xfrm>
            <a:off x="6173278" y="3595420"/>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You get the same neutral letter every time, and it matches no situation exactly.</a:t>
            </a:r>
          </a:p>
        </p:txBody>
      </p:sp>
      <p:sp>
        <p:nvSpPr>
          <p:cNvPr id="36" name="vis:mistake"/>
          <p:cNvSpPr/>
          <p:nvPr/>
        </p:nvSpPr>
        <p:spPr>
          <a:xfrm>
            <a:off x="502920" y="4396435"/>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mistakebar"/>
          <p:cNvSpPr/>
          <p:nvPr/>
        </p:nvSpPr>
        <p:spPr>
          <a:xfrm>
            <a:off x="502920" y="4396435"/>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mistakenum"/>
          <p:cNvSpPr/>
          <p:nvPr/>
        </p:nvSpPr>
        <p:spPr>
          <a:xfrm>
            <a:off x="740664" y="460491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istakenumtext"/>
          <p:cNvSpPr txBox="1"/>
          <p:nvPr/>
        </p:nvSpPr>
        <p:spPr>
          <a:xfrm>
            <a:off x="740664" y="4673498"/>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4</a:t>
            </a:r>
          </a:p>
        </p:txBody>
      </p:sp>
      <p:sp>
        <p:nvSpPr>
          <p:cNvPr id="40" name="cell:mistake"/>
          <p:cNvSpPr txBox="1"/>
          <p:nvPr/>
        </p:nvSpPr>
        <p:spPr>
          <a:xfrm>
            <a:off x="1179576" y="4487875"/>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Letting it apologise three times</a:t>
            </a:r>
          </a:p>
        </p:txBody>
      </p:sp>
      <p:cxnSp>
        <p:nvCxnSpPr>
          <p:cNvPr id="41" name="vis:line"/>
          <p:cNvCxnSpPr/>
          <p:nvPr/>
        </p:nvCxnSpPr>
        <p:spPr>
          <a:xfrm>
            <a:off x="6008686" y="4542739"/>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2" name="cell:mistakewhy"/>
          <p:cNvSpPr txBox="1"/>
          <p:nvPr/>
        </p:nvSpPr>
        <p:spPr>
          <a:xfrm>
            <a:off x="6173278" y="4487875"/>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triple apology reads as an admission. Say "one apology at most".</a:t>
            </a:r>
          </a:p>
        </p:txBody>
      </p:sp>
      <p:sp>
        <p:nvSpPr>
          <p:cNvPr id="43" name="vis:mistake"/>
          <p:cNvSpPr/>
          <p:nvPr/>
        </p:nvSpPr>
        <p:spPr>
          <a:xfrm>
            <a:off x="502920" y="5288889"/>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mistakebar"/>
          <p:cNvSpPr/>
          <p:nvPr/>
        </p:nvSpPr>
        <p:spPr>
          <a:xfrm>
            <a:off x="502920" y="5288889"/>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istakenum"/>
          <p:cNvSpPr/>
          <p:nvPr/>
        </p:nvSpPr>
        <p:spPr>
          <a:xfrm>
            <a:off x="740664" y="549737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istakenumtext"/>
          <p:cNvSpPr txBox="1"/>
          <p:nvPr/>
        </p:nvSpPr>
        <p:spPr>
          <a:xfrm>
            <a:off x="740664" y="5565952"/>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5</a:t>
            </a:r>
          </a:p>
        </p:txBody>
      </p:sp>
      <p:sp>
        <p:nvSpPr>
          <p:cNvPr id="47" name="cell:mistake"/>
          <p:cNvSpPr txBox="1"/>
          <p:nvPr/>
        </p:nvSpPr>
        <p:spPr>
          <a:xfrm>
            <a:off x="1179576" y="5380329"/>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Keeping the AI subject line unread</a:t>
            </a:r>
          </a:p>
        </p:txBody>
      </p:sp>
      <p:cxnSp>
        <p:nvCxnSpPr>
          <p:cNvPr id="48" name="vis:line"/>
          <p:cNvCxnSpPr/>
          <p:nvPr/>
        </p:nvCxnSpPr>
        <p:spPr>
          <a:xfrm>
            <a:off x="6008686" y="5435193"/>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9" name="cell:mistakewhy"/>
          <p:cNvSpPr txBox="1"/>
          <p:nvPr/>
        </p:nvSpPr>
        <p:spPr>
          <a:xfrm>
            <a:off x="6173278" y="5380329"/>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"Update Regarding Your Recent Order" is how an email goes unopened for two days.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When not to use it at all</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DW-01  ·  Email Writing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treeq"/>
          <p:cNvSpPr/>
          <p:nvPr/>
        </p:nvSpPr>
        <p:spPr>
          <a:xfrm>
            <a:off x="3746818" y="1810512"/>
            <a:ext cx="4698059" cy="841248"/>
          </a:xfrm>
          <a:prstGeom prst="roundRect">
            <a:avLst>
              <a:gd name="adj" fmla="val 1086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treeqtext"/>
          <p:cNvSpPr txBox="1"/>
          <p:nvPr/>
        </p:nvSpPr>
        <p:spPr>
          <a:xfrm>
            <a:off x="3947986" y="1938528"/>
            <a:ext cx="4295723" cy="585216"/>
          </a:xfrm>
          <a:prstGeom prst="rect">
            <a:avLst/>
          </a:prstGeom>
          <a:noFill/>
        </p:spPr>
        <p:txBody>
          <a:bodyPr wrap="square" lIns="0" rIns="0" tIns="0" bIns="0" anchor="ctr">
            <a:spAutoFit/>
          </a:bodyPr>
          <a:lstStyle/>
          <a:p>
            <a:pPr algn="ctr">
              <a:lnSpc>
                <a:spcPts val="1950"/>
              </a:lnSpc>
              <a:spcBef>
                <a:spcPts val="0"/>
              </a:spcBef>
              <a:spcAft>
                <a:spcPts val="0"/>
              </a:spcAft>
            </a:pPr>
            <a:r>
              <a:rPr sz="1500" b="0">
                <a:solidFill>
                  <a:srgbClr val="FFFFFF"/>
                </a:solidFill>
                <a:latin typeface="Segoe UI Semibold"/>
              </a:rPr>
              <a:t>Would I want this read out in a dispute?</a:t>
            </a:r>
          </a:p>
        </p:txBody>
      </p:sp>
      <p:cxnSp>
        <p:nvCxnSpPr>
          <p:cNvPr id="17" name="vis:line"/>
          <p:cNvCxnSpPr/>
          <p:nvPr/>
        </p:nvCxnSpPr>
        <p:spPr>
          <a:xfrm>
            <a:off x="6095847" y="2651760"/>
            <a:ext cx="0" cy="237743"/>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8" name="vis:line"/>
          <p:cNvCxnSpPr/>
          <p:nvPr/>
        </p:nvCxnSpPr>
        <p:spPr>
          <a:xfrm>
            <a:off x="2516373" y="2889503"/>
            <a:ext cx="7158948" cy="0"/>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9" name="vis:line"/>
          <p:cNvCxnSpPr/>
          <p:nvPr/>
        </p:nvCxnSpPr>
        <p:spPr>
          <a:xfrm>
            <a:off x="2516373"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vis:chip"/>
          <p:cNvSpPr/>
          <p:nvPr/>
        </p:nvSpPr>
        <p:spPr>
          <a:xfrm>
            <a:off x="2138739" y="3026664"/>
            <a:ext cx="75526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2294187" y="3054096"/>
            <a:ext cx="44437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NO</a:t>
            </a:r>
          </a:p>
        </p:txBody>
      </p:sp>
      <p:sp>
        <p:nvSpPr>
          <p:cNvPr id="22" name="vis:treebox"/>
          <p:cNvSpPr/>
          <p:nvPr/>
        </p:nvSpPr>
        <p:spPr>
          <a:xfrm>
            <a:off x="279202"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treebar"/>
          <p:cNvSpPr/>
          <p:nvPr/>
        </p:nvSpPr>
        <p:spPr>
          <a:xfrm>
            <a:off x="279202" y="3493008"/>
            <a:ext cx="4474342" cy="685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4" name="vis:icon"/>
          <p:cNvCxnSpPr/>
          <p:nvPr/>
        </p:nvCxnSpPr>
        <p:spPr>
          <a:xfrm>
            <a:off x="571079" y="3937040"/>
            <a:ext cx="66568" cy="66568"/>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flipV="1">
            <a:off x="637647" y="3860231"/>
            <a:ext cx="122896" cy="143377"/>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26" name="vis:treelabel"/>
          <p:cNvSpPr txBox="1"/>
          <p:nvPr/>
        </p:nvSpPr>
        <p:spPr>
          <a:xfrm>
            <a:off x="900994"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Draft it with AI</a:t>
            </a:r>
          </a:p>
        </p:txBody>
      </p:sp>
      <p:sp>
        <p:nvSpPr>
          <p:cNvPr id="27" name="vis:treedetail"/>
          <p:cNvSpPr txBox="1"/>
          <p:nvPr/>
        </p:nvSpPr>
        <p:spPr>
          <a:xfrm>
            <a:off x="535234"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Delays, confirmations, chasers, routine refusals. This is most of your inbox, and it is exactly where the time goes.</a:t>
            </a:r>
          </a:p>
        </p:txBody>
      </p:sp>
      <p:cxnSp>
        <p:nvCxnSpPr>
          <p:cNvPr id="28" name="vis:line"/>
          <p:cNvCxnSpPr/>
          <p:nvPr/>
        </p:nvCxnSpPr>
        <p:spPr>
          <a:xfrm>
            <a:off x="9675321"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vis:chip"/>
          <p:cNvSpPr/>
          <p:nvPr/>
        </p:nvSpPr>
        <p:spPr>
          <a:xfrm>
            <a:off x="9282446" y="3026664"/>
            <a:ext cx="785749" cy="274320"/>
          </a:xfrm>
          <a:prstGeom prst="roundRect">
            <a:avLst>
              <a:gd name="adj" fmla="val 16666"/>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chiptext"/>
          <p:cNvSpPr txBox="1"/>
          <p:nvPr/>
        </p:nvSpPr>
        <p:spPr>
          <a:xfrm>
            <a:off x="9437894" y="3054096"/>
            <a:ext cx="47485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YES</a:t>
            </a:r>
          </a:p>
        </p:txBody>
      </p:sp>
      <p:sp>
        <p:nvSpPr>
          <p:cNvPr id="31" name="vis:treebox"/>
          <p:cNvSpPr/>
          <p:nvPr/>
        </p:nvSpPr>
        <p:spPr>
          <a:xfrm>
            <a:off x="7438150"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treebar"/>
          <p:cNvSpPr/>
          <p:nvPr/>
        </p:nvSpPr>
        <p:spPr>
          <a:xfrm>
            <a:off x="7438150" y="3493008"/>
            <a:ext cx="4474342" cy="68580"/>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icon"/>
          <p:cNvSpPr/>
          <p:nvPr/>
        </p:nvSpPr>
        <p:spPr>
          <a:xfrm>
            <a:off x="7730026" y="3834627"/>
            <a:ext cx="153619" cy="153619"/>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4" name="vis:icon"/>
          <p:cNvCxnSpPr/>
          <p:nvPr/>
        </p:nvCxnSpPr>
        <p:spPr>
          <a:xfrm>
            <a:off x="7863163" y="3967764"/>
            <a:ext cx="61448" cy="61448"/>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5" name="vis:treelabel"/>
          <p:cNvSpPr txBox="1"/>
          <p:nvPr/>
        </p:nvSpPr>
        <p:spPr>
          <a:xfrm>
            <a:off x="8059942"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Write it yourself</a:t>
            </a:r>
          </a:p>
        </p:txBody>
      </p:sp>
      <p:sp>
        <p:nvSpPr>
          <p:cNvPr id="36" name="vis:treedetail"/>
          <p:cNvSpPr txBox="1"/>
          <p:nvPr/>
        </p:nvSpPr>
        <p:spPr>
          <a:xfrm>
            <a:off x="7694182"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Disciplinary matters, contract commitments, anything about a person. Use the tool to check the wording afterwards, not to compose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good use looks like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DW-01  ·  Email Writing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tile"/>
          <p:cNvSpPr/>
          <p:nvPr/>
        </p:nvSpPr>
        <p:spPr>
          <a:xfrm>
            <a:off x="502920"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55789" y="2190229"/>
            <a:ext cx="301269" cy="301269"/>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V="1">
            <a:off x="1106424" y="2251852"/>
            <a:ext cx="0" cy="89011"/>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a:off x="1106424" y="2340863"/>
            <a:ext cx="75317" cy="27389"/>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0" name="cell:tilelabel"/>
          <p:cNvSpPr txBox="1"/>
          <p:nvPr/>
        </p:nvSpPr>
        <p:spPr>
          <a:xfrm>
            <a:off x="777240"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Sixty seconds</a:t>
            </a:r>
          </a:p>
        </p:txBody>
      </p:sp>
      <p:sp>
        <p:nvSpPr>
          <p:cNvPr id="21" name="cell:tilesub"/>
          <p:cNvSpPr txBox="1"/>
          <p:nvPr/>
        </p:nvSpPr>
        <p:spPr>
          <a:xfrm>
            <a:off x="777240"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Facts in, draft out, dates checked, sent. Not five minutes of staring at a blank reply.</a:t>
            </a:r>
          </a:p>
        </p:txBody>
      </p:sp>
      <p:sp>
        <p:nvSpPr>
          <p:cNvPr id="22" name="vis:tile"/>
          <p:cNvSpPr/>
          <p:nvPr/>
        </p:nvSpPr>
        <p:spPr>
          <a:xfrm>
            <a:off x="4322978"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badge"/>
          <p:cNvSpPr/>
          <p:nvPr/>
        </p:nvSpPr>
        <p:spPr>
          <a:xfrm>
            <a:off x="4597298"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4782694" y="2217617"/>
            <a:ext cx="287575" cy="191716"/>
          </a:xfrm>
          <a:prstGeom prst="roundRect">
            <a:avLst>
              <a:gd name="adj" fmla="val 23847"/>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flipH="1">
            <a:off x="4837471" y="2409334"/>
            <a:ext cx="13694" cy="7531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26" name="vis:icon"/>
          <p:cNvCxnSpPr/>
          <p:nvPr/>
        </p:nvCxnSpPr>
        <p:spPr>
          <a:xfrm flipV="1">
            <a:off x="4837471" y="2409334"/>
            <a:ext cx="75317" cy="7531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7" name="cell:tilelabel"/>
          <p:cNvSpPr txBox="1"/>
          <p:nvPr/>
        </p:nvSpPr>
        <p:spPr>
          <a:xfrm>
            <a:off x="4597298"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Tone you chose</a:t>
            </a:r>
          </a:p>
        </p:txBody>
      </p:sp>
      <p:sp>
        <p:nvSpPr>
          <p:cNvPr id="28" name="cell:tilesub"/>
          <p:cNvSpPr txBox="1"/>
          <p:nvPr/>
        </p:nvSpPr>
        <p:spPr>
          <a:xfrm>
            <a:off x="4597298"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Firm when firm is right, warm when it is not. Decided on purpose rather than by mood.</a:t>
            </a:r>
          </a:p>
        </p:txBody>
      </p:sp>
      <p:sp>
        <p:nvSpPr>
          <p:cNvPr id="29" name="vis:tile"/>
          <p:cNvSpPr/>
          <p:nvPr/>
        </p:nvSpPr>
        <p:spPr>
          <a:xfrm>
            <a:off x="8143036"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badge"/>
          <p:cNvSpPr/>
          <p:nvPr/>
        </p:nvSpPr>
        <p:spPr>
          <a:xfrm>
            <a:off x="8417356"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icon"/>
          <p:cNvSpPr/>
          <p:nvPr/>
        </p:nvSpPr>
        <p:spPr>
          <a:xfrm>
            <a:off x="8681494" y="2193652"/>
            <a:ext cx="130093" cy="130093"/>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8609600" y="2375099"/>
            <a:ext cx="273881" cy="119823"/>
          </a:xfrm>
          <a:custGeom>
            <a:avLst/>
            <a:gdLst/>
            <a:ahLst/>
            <a:cxnLst/>
            <a:rect l="l" t="t" r="r" b="b"/>
            <a:pathLst>
              <a:path w="273881" h="119823">
                <a:moveTo>
                  <a:pt x="0" y="119823"/>
                </a:moveTo>
                <a:lnTo>
                  <a:pt x="20541" y="0"/>
                </a:lnTo>
                <a:lnTo>
                  <a:pt x="253340" y="0"/>
                </a:lnTo>
                <a:lnTo>
                  <a:pt x="273881" y="119823"/>
                </a:lnTo>
              </a:path>
            </a:pathLst>
          </a:cu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cell:tilelabel"/>
          <p:cNvSpPr txBox="1"/>
          <p:nvPr/>
        </p:nvSpPr>
        <p:spPr>
          <a:xfrm>
            <a:off x="8417356"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Still sounds like you</a:t>
            </a:r>
          </a:p>
        </p:txBody>
      </p:sp>
      <p:sp>
        <p:nvSpPr>
          <p:cNvPr id="34" name="cell:tilesub"/>
          <p:cNvSpPr txBox="1"/>
          <p:nvPr/>
        </p:nvSpPr>
        <p:spPr>
          <a:xfrm>
            <a:off x="8417356"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Three words changed and your greeting added is usually all it takes.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email rule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DW-01  ·  Email Writing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alertband"/>
          <p:cNvSpPr/>
          <p:nvPr/>
        </p:nvSpPr>
        <p:spPr>
          <a:xfrm>
            <a:off x="0" y="1719072"/>
            <a:ext cx="12191695" cy="96012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You supply the facts, the position and the ask. It supplies the sentences.</a:t>
            </a:r>
          </a:p>
          <a:p>
            <a:pPr algn="l">
              <a:lnSpc>
                <a:spcPts val="1755"/>
              </a:lnSpc>
              <a:spcBef>
                <a:spcPts val="0"/>
              </a:spcBef>
              <a:spcAft>
                <a:spcPts val="0"/>
              </a:spcAft>
            </a:pPr>
            <a:r>
              <a:rPr sz="1350" b="0">
                <a:solidFill>
                  <a:srgbClr val="FFFFFF"/>
                </a:solidFill>
                <a:latin typeface="Segoe UI"/>
              </a:rPr>
              <a:t>Every good AI email comes from that split. Every bad one comes from skipping it.</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81527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860450"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Facts and position — yours.</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461704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4662220" y="3613525"/>
            <a:ext cx="83394"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Wording and tone — its job.</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418819" y="3665646"/>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63991"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The final read — always yours.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CHOOSE WHAT YOU'D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Tuesday, 8:40 am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DW-01  ·  Email Writing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sccard"/>
          <p:cNvSpPr/>
          <p:nvPr/>
        </p:nvSpPr>
        <p:spPr>
          <a:xfrm>
            <a:off x="502920" y="1719072"/>
            <a:ext cx="11185855" cy="1097280"/>
          </a:xfrm>
          <a:prstGeom prst="roundRect">
            <a:avLst>
              <a:gd name="adj" fmla="val 8333"/>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942929" y="2063252"/>
            <a:ext cx="180685" cy="180685"/>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843076" y="2315260"/>
            <a:ext cx="380391" cy="166421"/>
          </a:xfrm>
          <a:custGeom>
            <a:avLst/>
            <a:gdLst/>
            <a:ahLst/>
            <a:cxnLst/>
            <a:rect l="l" t="t" r="r" b="b"/>
            <a:pathLst>
              <a:path w="380391" h="166421">
                <a:moveTo>
                  <a:pt x="0" y="166421"/>
                </a:moveTo>
                <a:lnTo>
                  <a:pt x="28530" y="0"/>
                </a:lnTo>
                <a:lnTo>
                  <a:pt x="351861" y="0"/>
                </a:lnTo>
                <a:lnTo>
                  <a:pt x="380391" y="166421"/>
                </a:lnTo>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situation"/>
          <p:cNvSpPr txBox="1"/>
          <p:nvPr/>
        </p:nvSpPr>
        <p:spPr>
          <a:xfrm>
            <a:off x="1472184" y="1901952"/>
            <a:ext cx="9905695" cy="731520"/>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FFFFFF"/>
                </a:solidFill>
                <a:latin typeface="Segoe UI"/>
              </a:rPr>
              <a:t>A customer emails at length, unhappy that a shipment is short by two cartons. They want a credit note today. Your policy is replacement, not credit.</a:t>
            </a:r>
          </a:p>
        </p:txBody>
      </p:sp>
      <p:sp>
        <p:nvSpPr>
          <p:cNvPr id="19" name="quiz:choice">
            <a:hlinkClick action="ppaction://hlinksldjump" r:id="rId3"/>
          </p:cNvPr>
          <p:cNvSpPr/>
          <p:nvPr/>
        </p:nvSpPr>
        <p:spPr>
          <a:xfrm>
            <a:off x="502920"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
          <p:cNvSpPr/>
          <p:nvPr/>
        </p:nvSpPr>
        <p:spPr>
          <a:xfrm>
            <a:off x="758952" y="3364991"/>
            <a:ext cx="1296924" cy="274320"/>
          </a:xfrm>
          <a:prstGeom prst="roundRect">
            <a:avLst>
              <a:gd name="adj" fmla="val 16666"/>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914400" y="3392423"/>
            <a:ext cx="98602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A</a:t>
            </a:r>
          </a:p>
        </p:txBody>
      </p:sp>
      <p:sp>
        <p:nvSpPr>
          <p:cNvPr id="22" name="cell:choice"/>
          <p:cNvSpPr txBox="1"/>
          <p:nvPr/>
        </p:nvSpPr>
        <p:spPr>
          <a:xfrm>
            <a:off x="758952"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Forward their whole email into the tool and ask for a reply.</a:t>
            </a:r>
          </a:p>
        </p:txBody>
      </p:sp>
      <p:cxnSp>
        <p:nvCxnSpPr>
          <p:cNvPr id="23" name="vis:choicearrow"/>
          <p:cNvCxnSpPr/>
          <p:nvPr/>
        </p:nvCxnSpPr>
        <p:spPr>
          <a:xfrm>
            <a:off x="758952" y="5632704"/>
            <a:ext cx="292608"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cell:choicego"/>
          <p:cNvSpPr txBox="1"/>
          <p:nvPr/>
        </p:nvSpPr>
        <p:spPr>
          <a:xfrm>
            <a:off x="1161288"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See what happens</a:t>
            </a:r>
          </a:p>
        </p:txBody>
      </p:sp>
      <p:sp>
        <p:nvSpPr>
          <p:cNvPr id="25" name="quiz:choice">
            <a:hlinkClick action="ppaction://hlinksldjump" r:id="rId4"/>
          </p:cNvPr>
          <p:cNvSpPr/>
          <p:nvPr/>
        </p:nvSpPr>
        <p:spPr>
          <a:xfrm>
            <a:off x="4310786"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ip"/>
          <p:cNvSpPr/>
          <p:nvPr/>
        </p:nvSpPr>
        <p:spPr>
          <a:xfrm>
            <a:off x="4566818" y="3364991"/>
            <a:ext cx="1287399" cy="274320"/>
          </a:xfrm>
          <a:prstGeom prst="roundRect">
            <a:avLst>
              <a:gd name="adj" fmla="val 16666"/>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iptext"/>
          <p:cNvSpPr txBox="1"/>
          <p:nvPr/>
        </p:nvSpPr>
        <p:spPr>
          <a:xfrm>
            <a:off x="4722266" y="3392423"/>
            <a:ext cx="97650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B</a:t>
            </a:r>
          </a:p>
        </p:txBody>
      </p:sp>
      <p:sp>
        <p:nvSpPr>
          <p:cNvPr id="28" name="cell:choice"/>
          <p:cNvSpPr txBox="1"/>
          <p:nvPr/>
        </p:nvSpPr>
        <p:spPr>
          <a:xfrm>
            <a:off x="4566818"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Type the facts, your position and the tone, with no names.</a:t>
            </a:r>
          </a:p>
        </p:txBody>
      </p:sp>
      <p:cxnSp>
        <p:nvCxnSpPr>
          <p:cNvPr id="29" name="vis:choicearrow"/>
          <p:cNvCxnSpPr/>
          <p:nvPr/>
        </p:nvCxnSpPr>
        <p:spPr>
          <a:xfrm>
            <a:off x="4566818" y="5632704"/>
            <a:ext cx="292608"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cell:choicego"/>
          <p:cNvSpPr txBox="1"/>
          <p:nvPr/>
        </p:nvSpPr>
        <p:spPr>
          <a:xfrm>
            <a:off x="4969154"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See what happens</a:t>
            </a:r>
          </a:p>
        </p:txBody>
      </p:sp>
      <p:sp>
        <p:nvSpPr>
          <p:cNvPr id="31" name="quiz:choice">
            <a:hlinkClick action="ppaction://hlinksldjump" r:id="rId5"/>
          </p:cNvPr>
          <p:cNvSpPr/>
          <p:nvPr/>
        </p:nvSpPr>
        <p:spPr>
          <a:xfrm>
            <a:off x="8118652"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
          <p:cNvSpPr/>
          <p:nvPr/>
        </p:nvSpPr>
        <p:spPr>
          <a:xfrm>
            <a:off x="8374684" y="3364991"/>
            <a:ext cx="1290574" cy="274320"/>
          </a:xfrm>
          <a:prstGeom prst="roundRect">
            <a:avLst>
              <a:gd name="adj" fmla="val 16666"/>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chiptext"/>
          <p:cNvSpPr txBox="1"/>
          <p:nvPr/>
        </p:nvSpPr>
        <p:spPr>
          <a:xfrm>
            <a:off x="8530132" y="3392423"/>
            <a:ext cx="97967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C</a:t>
            </a:r>
          </a:p>
        </p:txBody>
      </p:sp>
      <p:sp>
        <p:nvSpPr>
          <p:cNvPr id="34" name="cell:choice"/>
          <p:cNvSpPr txBox="1"/>
          <p:nvPr/>
        </p:nvSpPr>
        <p:spPr>
          <a:xfrm>
            <a:off x="8374684"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Write it yourself, as you always have.</a:t>
            </a:r>
          </a:p>
        </p:txBody>
      </p:sp>
      <p:cxnSp>
        <p:nvCxnSpPr>
          <p:cNvPr id="35" name="vis:choicearrow"/>
          <p:cNvCxnSpPr/>
          <p:nvPr/>
        </p:nvCxnSpPr>
        <p:spPr>
          <a:xfrm>
            <a:off x="8374684" y="5632704"/>
            <a:ext cx="292608"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cell:choicego"/>
          <p:cNvSpPr txBox="1"/>
          <p:nvPr/>
        </p:nvSpPr>
        <p:spPr>
          <a:xfrm>
            <a:off x="8777020"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See what happens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The reply is good. The paste was not.</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Their name, company, site address, phone number and order history all leave the company in one paste. The reply you get back could have been produced from three lines of description with none of that in it.</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Describe the situation. Never forward the email.</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DW-01  ·  Email Writing with AI</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Ninety seconds, and nothing left the building</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"Shipment short by two cartons. We will replace, not credit. Customer is annoyed and long-standing. Firm but warm, one apology, under 100 words, end by confirming the replacement date." The reply lands first time.</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Facts, position, tone, ask. Nothing that identifies anyone.</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DW-01  ·  Email Writing with AI</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vis:icon"/>
          <p:cNvSpPr/>
          <p:nvPr/>
        </p:nvSpPr>
        <p:spPr>
          <a:xfrm>
            <a:off x="519744" y="409285"/>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vis:icon"/>
          <p:cNvCxnSpPr/>
          <p:nvPr/>
        </p:nvCxnSpPr>
        <p:spPr>
          <a:xfrm>
            <a:off x="713232" y="543885"/>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vis:icon"/>
          <p:cNvSpPr/>
          <p:nvPr/>
        </p:nvSpPr>
        <p:spPr>
          <a:xfrm>
            <a:off x="692200" y="686897"/>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Fine, and it will take eleven minutes</a:t>
            </a:r>
          </a:p>
        </p:txBody>
      </p:sp>
      <p:sp>
        <p:nvSpPr>
          <p:cNvPr id="7"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email is good, because you know the situation. It also takes eleven minutes you did not have on a Tuesday morning, and the same conversation happens four more times this week.</a:t>
            </a:r>
          </a:p>
        </p:txBody>
      </p:sp>
      <p:sp>
        <p:nvSpPr>
          <p:cNvPr id="8"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RULE</a:t>
            </a:r>
          </a:p>
        </p:txBody>
      </p:sp>
      <p:sp>
        <p:nvSpPr>
          <p:cNvPr id="10"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Save your own writing for the emails that genuinely need it.</a:t>
            </a:r>
          </a:p>
        </p:txBody>
      </p:sp>
      <p:sp>
        <p:nvSpPr>
          <p:cNvPr id="11" name="nav:scback">
            <a:hlinkClick action="ppaction://hlinksldjump" r:id="rId2"/>
          </p:cNvPr>
          <p:cNvSpPr/>
          <p:nvPr/>
        </p:nvSpPr>
        <p:spPr>
          <a:xfrm>
            <a:off x="502920" y="4718304"/>
            <a:ext cx="301752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DW-01  ·  Email Writing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WATCH THIS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Six minutes, watched over the shoulder</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DW-01  ·  Email Writing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3"/>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nav:video">
            <a:hlinkClick r:id="rId2"/>
          </p:cNvPr>
          <p:cNvSpPr/>
          <p:nvPr/>
        </p:nvSpPr>
        <p:spPr>
          <a:xfrm>
            <a:off x="502920" y="1719072"/>
            <a:ext cx="6448882" cy="4297680"/>
          </a:xfrm>
          <a:prstGeom prst="roundRect">
            <a:avLst>
              <a:gd name="adj" fmla="val 212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lay"/>
          <p:cNvSpPr/>
          <p:nvPr/>
        </p:nvSpPr>
        <p:spPr>
          <a:xfrm>
            <a:off x="1161288" y="2432303"/>
            <a:ext cx="950976" cy="95097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laytri"/>
          <p:cNvSpPr/>
          <p:nvPr/>
        </p:nvSpPr>
        <p:spPr>
          <a:xfrm>
            <a:off x="1499616" y="2679191"/>
            <a:ext cx="384048" cy="457200"/>
          </a:xfrm>
          <a:custGeom>
            <a:avLst/>
            <a:gdLst/>
            <a:ahLst/>
            <a:cxnLst/>
            <a:rect l="l" t="t" r="r" b="b"/>
            <a:pathLst>
              <a:path w="384048" h="457200">
                <a:moveTo>
                  <a:pt x="0" y="0"/>
                </a:moveTo>
                <a:lnTo>
                  <a:pt x="384048" y="228600"/>
                </a:lnTo>
                <a:lnTo>
                  <a:pt x="0" y="457200"/>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videotitle"/>
          <p:cNvSpPr txBox="1"/>
          <p:nvPr/>
        </p:nvSpPr>
        <p:spPr>
          <a:xfrm>
            <a:off x="2514600" y="2231136"/>
            <a:ext cx="4126306" cy="137160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Write Better Emails to Your Boss with AI</a:t>
            </a:r>
          </a:p>
        </p:txBody>
      </p:sp>
      <p:sp>
        <p:nvSpPr>
          <p:cNvPr id="19" name="vis:chip"/>
          <p:cNvSpPr/>
          <p:nvPr/>
        </p:nvSpPr>
        <p:spPr>
          <a:xfrm>
            <a:off x="868680" y="3858768"/>
            <a:ext cx="1113409"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text"/>
          <p:cNvSpPr txBox="1"/>
          <p:nvPr/>
        </p:nvSpPr>
        <p:spPr>
          <a:xfrm>
            <a:off x="1024128" y="3895344"/>
            <a:ext cx="80251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W/KMO</a:t>
            </a:r>
          </a:p>
        </p:txBody>
      </p:sp>
      <p:sp>
        <p:nvSpPr>
          <p:cNvPr id="21" name="vis:chip"/>
          <p:cNvSpPr/>
          <p:nvPr/>
        </p:nvSpPr>
        <p:spPr>
          <a:xfrm>
            <a:off x="2128393" y="3858768"/>
            <a:ext cx="1204849"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text"/>
          <p:cNvSpPr txBox="1"/>
          <p:nvPr/>
        </p:nvSpPr>
        <p:spPr>
          <a:xfrm>
            <a:off x="2283841" y="3895344"/>
            <a:ext cx="89395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5:51 MIN</a:t>
            </a:r>
          </a:p>
        </p:txBody>
      </p:sp>
      <p:cxnSp>
        <p:nvCxnSpPr>
          <p:cNvPr id="23" name="vis:rule"/>
          <p:cNvCxnSpPr/>
          <p:nvPr/>
        </p:nvCxnSpPr>
        <p:spPr>
          <a:xfrm>
            <a:off x="868680" y="4425696"/>
            <a:ext cx="5717362"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4" name="body:videonote"/>
          <p:cNvSpPr txBox="1"/>
          <p:nvPr/>
        </p:nvSpPr>
        <p:spPr>
          <a:xfrm>
            <a:off x="868680" y="4645152"/>
            <a:ext cx="5717362" cy="548640"/>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848D9A"/>
                </a:solidFill>
                <a:latin typeface="Segoe UI"/>
              </a:rPr>
              <a:t>An outside video, not company material. Where it differs from this module, follow this module.</a:t>
            </a:r>
          </a:p>
        </p:txBody>
      </p:sp>
      <p:sp>
        <p:nvSpPr>
          <p:cNvPr id="25" name="nav:videobtn">
            <a:hlinkClick r:id="rId2"/>
          </p:cNvPr>
          <p:cNvSpPr/>
          <p:nvPr/>
        </p:nvSpPr>
        <p:spPr>
          <a:xfrm>
            <a:off x="868680" y="5230368"/>
            <a:ext cx="3017520" cy="493776"/>
          </a:xfrm>
          <a:prstGeom prst="roundRect">
            <a:avLst>
              <a:gd name="adj" fmla="val 11111"/>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1069116" y="5370819"/>
            <a:ext cx="153619" cy="153619"/>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1202253" y="5503956"/>
            <a:ext cx="61447" cy="61448"/>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8" name="nav:videobtntext"/>
          <p:cNvSpPr txBox="1"/>
          <p:nvPr/>
        </p:nvSpPr>
        <p:spPr>
          <a:xfrm>
            <a:off x="1417320" y="5358384"/>
            <a:ext cx="2286000"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Click to open on YouTube</a:t>
            </a:r>
          </a:p>
        </p:txBody>
      </p:sp>
      <p:sp>
        <p:nvSpPr>
          <p:cNvPr id="29" name="vis:videohow"/>
          <p:cNvSpPr/>
          <p:nvPr/>
        </p:nvSpPr>
        <p:spPr>
          <a:xfrm>
            <a:off x="8082076" y="1719072"/>
            <a:ext cx="3606698" cy="4297680"/>
          </a:xfrm>
          <a:prstGeom prst="roundRect">
            <a:avLst>
              <a:gd name="adj" fmla="val 253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videospine"/>
          <p:cNvSpPr/>
          <p:nvPr/>
        </p:nvSpPr>
        <p:spPr>
          <a:xfrm>
            <a:off x="8082076" y="1719072"/>
            <a:ext cx="68580" cy="429768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seclabel"/>
          <p:cNvSpPr txBox="1"/>
          <p:nvPr/>
        </p:nvSpPr>
        <p:spPr>
          <a:xfrm>
            <a:off x="8392972" y="2029967"/>
            <a:ext cx="2984906"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HOW TO USE IT</a:t>
            </a:r>
          </a:p>
        </p:txBody>
      </p:sp>
      <p:cxnSp>
        <p:nvCxnSpPr>
          <p:cNvPr id="32" name="vis:icon"/>
          <p:cNvCxnSpPr/>
          <p:nvPr/>
        </p:nvCxnSpPr>
        <p:spPr>
          <a:xfrm>
            <a:off x="8439424" y="2628351"/>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91728" y="2568000"/>
            <a:ext cx="96560"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4" name="cell:why"/>
          <p:cNvSpPr txBox="1"/>
          <p:nvPr/>
        </p:nvSpPr>
        <p:spPr>
          <a:xfrm>
            <a:off x="8777020" y="2468879"/>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Optional. The prompts in this deck work as written.</a:t>
            </a:r>
          </a:p>
        </p:txBody>
      </p:sp>
      <p:cxnSp>
        <p:nvCxnSpPr>
          <p:cNvPr id="35" name="vis:icon"/>
          <p:cNvCxnSpPr/>
          <p:nvPr/>
        </p:nvCxnSpPr>
        <p:spPr>
          <a:xfrm>
            <a:off x="8439424" y="3743919"/>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flipV="1">
            <a:off x="8491728" y="3683568"/>
            <a:ext cx="96560"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7" name="cell:why"/>
          <p:cNvSpPr txBox="1"/>
          <p:nvPr/>
        </p:nvSpPr>
        <p:spPr>
          <a:xfrm>
            <a:off x="8777020" y="3584448"/>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Useful if you prefer seeing someone do it live.</a:t>
            </a:r>
          </a:p>
        </p:txBody>
      </p:sp>
      <p:cxnSp>
        <p:nvCxnSpPr>
          <p:cNvPr id="38" name="vis:icon"/>
          <p:cNvCxnSpPr/>
          <p:nvPr/>
        </p:nvCxnSpPr>
        <p:spPr>
          <a:xfrm>
            <a:off x="8439424" y="4859487"/>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8491728" y="4799136"/>
            <a:ext cx="96560"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40" name="cell:why"/>
          <p:cNvSpPr txBox="1"/>
          <p:nvPr/>
        </p:nvSpPr>
        <p:spPr>
          <a:xfrm>
            <a:off x="8777020" y="4700016"/>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opens in your browser. Turn the sound 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1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should never go in the prompt?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DW-01  ·  Email Writing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delivery dates</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customer's original email, pasted whole</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Your position on the discount</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tone you want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The delivery dates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Dates are exactly what it needs and they identify nobody. Without them you get a vague apology with no commitment in it.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Describe the situation. Never paste the email.</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DW-01  ·  Email Writing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The customer's original email, pasted whole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carries their name, company, address, phone number and signature block. All of that leaves the company, and none of it improves the reply you get back.</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Describe the situation. Never paste the email.</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DW-01  ·  Email Writing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Your position on the discount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Essential. Without it the tool guesses, and it usually guesses generously, which is a difficult email to unsend.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Describe the situation. Never paste the email.</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DW-01  ·  Email Writing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The tone you want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One of the most useful lines in the prompt. Without it you get the same neutral register regardless of the situation.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Describe the situation. Never paste the email.</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DW-01  ·  Email Writing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2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Which tone instruction works?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DW-01  ·  Email Writing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"Make it professional"</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"Firm, one apology at most, warm close"</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"Sound friendly"</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"Use business English"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"Make it professional"</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Professional means something different to everyone, including the tool. You get its neutral default, which fits no particular situation well.</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Name the register, and cap the apologies.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DW-01  ·  Email Writing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"Firm, one apology at most, warm close"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Three specific instructions it can act on. The apology cap is the important one — without it a routine delay note apologises three times and reads as an admission.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Name the register, and cap the apologies.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DW-01  ·  Email Writing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"Sound friendly"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Friendly usually arrives as pleasantries and exclamation marks. If you mean warm, say warm, and say what to leave out.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Name the register, and cap the apologies.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DW-01  ·  Email Writing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"Use business English"</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already does. This instruction spends words without changing anything about the output.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Name the register, and cap the apologies.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DW-01  ·  Email Writing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3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makes a good subject line?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DW-01  ·  Email Writing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is short</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names the topic and says if action is needed</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sounds urgent</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matches the first line of the email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It is short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Short and empty is worse than slightly longer and specific. "Update" is very short and tells the reader nothing at all.</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What it is about, and whether they must act.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DW-01  ·  Email Writing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It names the topic and says if action is needed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"Order 4471 — new date 15 March, no action needed" can be read without opening the email, filed correctly, and found again months later.</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What it is about, and whether they must act.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DW-01  ·  Email Writing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It sounds urgent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Manufactured urgency stops working after the second time, and it makes the genuinely urgent ones invisible.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What it is about, and whether they must act.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DW-01  ·  Email Writing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It matches the first line of the email</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Duplication wastes the one line most likely to be read. The subject should carry information the first line then builds on.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What it is about, and whether they must act.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DW-01  ·  Email Writing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4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Twelve-message thread. Best move?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DW-01  ·  Email Writing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Ask for a summary of the whole thread</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Ask for what is agreed, what is open, what you must do</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Read all twelve messages properly</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Reply to the last message and hope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Ask for a summary of the whole thread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get a fair summary weighted to whatever was longest. The decision you actually needed is usually one line in the middle of it.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Ask for agreed, open, and your action.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DW-01  ·  Email Writing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Ask for what is agreed, what is open, what you must do</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Three specific questions produce three usable lines. It also surfaces the open item, which is the thing people miss on a fast read.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Ask for agreed, open, and your action.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DW-01  ·  Email Writing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Read all twelve messages properly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Thorough, and it costs you four minutes you may not have. Use the three-question prompt, then read only the message it points you at.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Ask for agreed, open, and your action.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DW-01  ·  Email Writing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Reply to the last message and hope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last message is rarely where the decision is. This is how open questions sit unanswered for another week.</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Ask for agreed, open, and your action.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DW-01  ·  Email Writing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5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Which email should you write yourself?</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DW-01  ·  Email Writing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delay notification</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note about a colleague's performance</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slot confirmation</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payment chaser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A delay notification</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Routine, factual and repeated. This is the ideal case for a stored prompt — you supply four facts and check two dates.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Anything about a person, or anything binding.</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DW-01  ·  Email Writing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A note about a colleague's performance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concerns a named person, it may be read back in a formal process, and it should carry your judgement in your words. Use the tool to check the wording afterwards at most.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Anything about a person, or anything binding.</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See the recap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DW-01  ·  Email Writing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A slot confirmation</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Three facts and a confirmation. Exactly the sort of email that eats a morning and should take forty seconds.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Anything about a person, or anything binding.</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DW-01  ·  Email Writing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A payment chaser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Routine and easily templated, as long as you describe the situation rather than pasting the account statement.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Anything about a person, or anything binding.</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DW-01  ·  Email Writing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RECAP CARD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Email with AI on one screen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DW-01  ·  Email Writing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cell:recaphint"/>
          <p:cNvSpPr txBox="1"/>
          <p:nvPr/>
        </p:nvSpPr>
        <p:spPr>
          <a:xfrm>
            <a:off x="502920" y="1591056"/>
            <a:ext cx="11185855"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Screenshot this slide. It is the whole module in one screen.</a:t>
            </a:r>
          </a:p>
        </p:txBody>
      </p:sp>
      <p:sp>
        <p:nvSpPr>
          <p:cNvPr id="16" name="vis:recaptile"/>
          <p:cNvSpPr/>
          <p:nvPr/>
        </p:nvSpPr>
        <p:spPr>
          <a:xfrm>
            <a:off x="502920"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recapbar"/>
          <p:cNvSpPr/>
          <p:nvPr/>
        </p:nvSpPr>
        <p:spPr>
          <a:xfrm>
            <a:off x="502920" y="190195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cell:recaphead"/>
          <p:cNvSpPr txBox="1"/>
          <p:nvPr/>
        </p:nvSpPr>
        <p:spPr>
          <a:xfrm>
            <a:off x="740664"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Four shapes cover the week</a:t>
            </a:r>
          </a:p>
        </p:txBody>
      </p:sp>
      <p:sp>
        <p:nvSpPr>
          <p:cNvPr id="19" name="cell:recapsub"/>
          <p:cNvSpPr txBox="1"/>
          <p:nvPr/>
        </p:nvSpPr>
        <p:spPr>
          <a:xfrm>
            <a:off x="740664"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Bad news, chasing, refusing, confirming. One prompt each.</a:t>
            </a:r>
          </a:p>
        </p:txBody>
      </p:sp>
      <p:sp>
        <p:nvSpPr>
          <p:cNvPr id="20" name="vis:recaptile"/>
          <p:cNvSpPr/>
          <p:nvPr/>
        </p:nvSpPr>
        <p:spPr>
          <a:xfrm>
            <a:off x="6178143"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recapbar"/>
          <p:cNvSpPr/>
          <p:nvPr/>
        </p:nvSpPr>
        <p:spPr>
          <a:xfrm>
            <a:off x="6178143" y="190195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cell:recaphead"/>
          <p:cNvSpPr txBox="1"/>
          <p:nvPr/>
        </p:nvSpPr>
        <p:spPr>
          <a:xfrm>
            <a:off x="6415887"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Facts, position, tone, ask</a:t>
            </a:r>
          </a:p>
        </p:txBody>
      </p:sp>
      <p:sp>
        <p:nvSpPr>
          <p:cNvPr id="23" name="cell:recapsub"/>
          <p:cNvSpPr txBox="1"/>
          <p:nvPr/>
        </p:nvSpPr>
        <p:spPr>
          <a:xfrm>
            <a:off x="6415887"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Give it all four and the first draft is usually sendable.</a:t>
            </a:r>
          </a:p>
        </p:txBody>
      </p:sp>
      <p:sp>
        <p:nvSpPr>
          <p:cNvPr id="24" name="vis:recaptile"/>
          <p:cNvSpPr/>
          <p:nvPr/>
        </p:nvSpPr>
        <p:spPr>
          <a:xfrm>
            <a:off x="502920"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recapbar"/>
          <p:cNvSpPr/>
          <p:nvPr/>
        </p:nvSpPr>
        <p:spPr>
          <a:xfrm>
            <a:off x="502920" y="302971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cell:recaphead"/>
          <p:cNvSpPr txBox="1"/>
          <p:nvPr/>
        </p:nvSpPr>
        <p:spPr>
          <a:xfrm>
            <a:off x="740664"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Name the tone, cap the apologies</a:t>
            </a:r>
          </a:p>
        </p:txBody>
      </p:sp>
      <p:sp>
        <p:nvSpPr>
          <p:cNvPr id="27" name="cell:recapsub"/>
          <p:cNvSpPr txBox="1"/>
          <p:nvPr/>
        </p:nvSpPr>
        <p:spPr>
          <a:xfrm>
            <a:off x="740664"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"Firm, one apology at most" beats "make it professional".</a:t>
            </a:r>
          </a:p>
        </p:txBody>
      </p:sp>
      <p:sp>
        <p:nvSpPr>
          <p:cNvPr id="28" name="vis:recaptile"/>
          <p:cNvSpPr/>
          <p:nvPr/>
        </p:nvSpPr>
        <p:spPr>
          <a:xfrm>
            <a:off x="6178143"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recapbar"/>
          <p:cNvSpPr/>
          <p:nvPr/>
        </p:nvSpPr>
        <p:spPr>
          <a:xfrm>
            <a:off x="6178143" y="302971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cell:recaphead"/>
          <p:cNvSpPr txBox="1"/>
          <p:nvPr/>
        </p:nvSpPr>
        <p:spPr>
          <a:xfrm>
            <a:off x="6415887"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Never paste the customer's email</a:t>
            </a:r>
          </a:p>
        </p:txBody>
      </p:sp>
      <p:sp>
        <p:nvSpPr>
          <p:cNvPr id="31" name="cell:recapsub"/>
          <p:cNvSpPr txBox="1"/>
          <p:nvPr/>
        </p:nvSpPr>
        <p:spPr>
          <a:xfrm>
            <a:off x="6415887"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Describe the situation instead. The reply is just as good.</a:t>
            </a:r>
          </a:p>
        </p:txBody>
      </p:sp>
      <p:sp>
        <p:nvSpPr>
          <p:cNvPr id="32" name="vis:recaptile"/>
          <p:cNvSpPr/>
          <p:nvPr/>
        </p:nvSpPr>
        <p:spPr>
          <a:xfrm>
            <a:off x="502920"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recapbar"/>
          <p:cNvSpPr/>
          <p:nvPr/>
        </p:nvSpPr>
        <p:spPr>
          <a:xfrm>
            <a:off x="502920" y="415747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cell:recaphead"/>
          <p:cNvSpPr txBox="1"/>
          <p:nvPr/>
        </p:nvSpPr>
        <p:spPr>
          <a:xfrm>
            <a:off x="740664"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Subject lines carry the message</a:t>
            </a:r>
          </a:p>
        </p:txBody>
      </p:sp>
      <p:sp>
        <p:nvSpPr>
          <p:cNvPr id="35" name="cell:recapsub"/>
          <p:cNvSpPr txBox="1"/>
          <p:nvPr/>
        </p:nvSpPr>
        <p:spPr>
          <a:xfrm>
            <a:off x="740664"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Topic plus whether they must act. Ask for ten, keep one.</a:t>
            </a:r>
          </a:p>
        </p:txBody>
      </p:sp>
      <p:sp>
        <p:nvSpPr>
          <p:cNvPr id="36" name="vis:recaptile"/>
          <p:cNvSpPr/>
          <p:nvPr/>
        </p:nvSpPr>
        <p:spPr>
          <a:xfrm>
            <a:off x="6178143"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recapbar"/>
          <p:cNvSpPr/>
          <p:nvPr/>
        </p:nvSpPr>
        <p:spPr>
          <a:xfrm>
            <a:off x="6178143" y="415747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cell:recaphead"/>
          <p:cNvSpPr txBox="1"/>
          <p:nvPr/>
        </p:nvSpPr>
        <p:spPr>
          <a:xfrm>
            <a:off x="6415887"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Read the middle before sending</a:t>
            </a:r>
          </a:p>
        </p:txBody>
      </p:sp>
      <p:sp>
        <p:nvSpPr>
          <p:cNvPr id="39" name="cell:recapsub"/>
          <p:cNvSpPr txBox="1"/>
          <p:nvPr/>
        </p:nvSpPr>
        <p:spPr>
          <a:xfrm>
            <a:off x="6415887"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Openings and closings get checked. Middles carry the invented line.</a:t>
            </a:r>
          </a:p>
        </p:txBody>
      </p:sp>
      <p:sp>
        <p:nvSpPr>
          <p:cNvPr id="40" name="vis:recapline"/>
          <p:cNvSpPr/>
          <p:nvPr/>
        </p:nvSpPr>
        <p:spPr>
          <a:xfrm>
            <a:off x="502920" y="5266944"/>
            <a:ext cx="11185855" cy="749808"/>
          </a:xfrm>
          <a:prstGeom prst="roundRect">
            <a:avLst>
              <a:gd name="adj" fmla="val 1219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75995" y="5464820"/>
            <a:ext cx="241401" cy="241401"/>
          </a:xfrm>
          <a:prstGeom prst="ellipse">
            <a:avLst/>
          </a:prstGeom>
          <a:noFill/>
          <a:ln w="19050">
            <a:solidFill>
              <a:srgbClr val="51979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932322" y="5738408"/>
            <a:ext cx="128747" cy="0"/>
          </a:xfrm>
          <a:prstGeom prst="line">
            <a:avLst/>
          </a:prstGeom>
          <a:ln w="19050">
            <a:solidFill>
              <a:srgbClr val="51979C"/>
            </a:solidFill>
          </a:ln>
          <a:effectLst/>
        </p:spPr>
        <p:style>
          <a:lnRef idx="2">
            <a:schemeClr val="accent1"/>
          </a:lnRef>
          <a:fillRef idx="0">
            <a:schemeClr val="accent1"/>
          </a:fillRef>
          <a:effectRef idx="1">
            <a:schemeClr val="accent1"/>
          </a:effectRef>
          <a:fontRef idx="minor">
            <a:schemeClr val="tx1"/>
          </a:fontRef>
        </p:style>
      </p:cxnSp>
      <p:cxnSp>
        <p:nvCxnSpPr>
          <p:cNvPr id="43" name="vis:icon"/>
          <p:cNvCxnSpPr/>
          <p:nvPr/>
        </p:nvCxnSpPr>
        <p:spPr>
          <a:xfrm>
            <a:off x="948415" y="5802782"/>
            <a:ext cx="96561" cy="0"/>
          </a:xfrm>
          <a:prstGeom prst="line">
            <a:avLst/>
          </a:prstGeom>
          <a:ln w="19050">
            <a:solidFill>
              <a:srgbClr val="51979C"/>
            </a:solidFill>
          </a:ln>
          <a:effectLst/>
        </p:spPr>
        <p:style>
          <a:lnRef idx="2">
            <a:schemeClr val="accent1"/>
          </a:lnRef>
          <a:fillRef idx="0">
            <a:schemeClr val="accent1"/>
          </a:fillRef>
          <a:effectRef idx="1">
            <a:schemeClr val="accent1"/>
          </a:effectRef>
          <a:fontRef idx="minor">
            <a:schemeClr val="tx1"/>
          </a:fontRef>
        </p:style>
      </p:cxnSp>
      <p:sp>
        <p:nvSpPr>
          <p:cNvPr id="44" name="cell:recapone"/>
          <p:cNvSpPr txBox="1"/>
          <p:nvPr/>
        </p:nvSpPr>
        <p:spPr>
          <a:xfrm>
            <a:off x="1417320" y="5394959"/>
            <a:ext cx="9960559" cy="493776"/>
          </a:xfrm>
          <a:prstGeom prst="rect">
            <a:avLst/>
          </a:prstGeom>
          <a:noFill/>
        </p:spPr>
        <p:txBody>
          <a:bodyPr wrap="square" lIns="0" rIns="0" tIns="0" bIns="0" anchor="ctr">
            <a:spAutoFit/>
          </a:bodyPr>
          <a:lstStyle/>
          <a:p>
            <a:pPr algn="l">
              <a:lnSpc>
                <a:spcPts val="2600"/>
              </a:lnSpc>
              <a:spcBef>
                <a:spcPts val="0"/>
              </a:spcBef>
              <a:spcAft>
                <a:spcPts val="0"/>
              </a:spcAft>
            </a:pPr>
            <a:r>
              <a:rPr sz="2000" b="0">
                <a:solidFill>
                  <a:srgbClr val="FFFFFF"/>
                </a:solidFill>
                <a:latin typeface="Segoe UI Semibold"/>
              </a:rPr>
              <a:t>You supply the facts, the position and the ask. It supplies the sentences in between.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YOUR TOOLKIT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Take these three things with you</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DW-01  ·  Email Writing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5"/>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seclabel"/>
          <p:cNvSpPr txBox="1"/>
          <p:nvPr/>
        </p:nvSpPr>
        <p:spPr>
          <a:xfrm>
            <a:off x="502920" y="1719072"/>
            <a:ext cx="644888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TEMPLATES YOU CAN REUSE TODAY</a:t>
            </a:r>
          </a:p>
        </p:txBody>
      </p:sp>
      <p:sp>
        <p:nvSpPr>
          <p:cNvPr id="16" name="vis:tk"/>
          <p:cNvSpPr/>
          <p:nvPr/>
        </p:nvSpPr>
        <p:spPr>
          <a:xfrm>
            <a:off x="502920" y="2121408"/>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722376" y="2243328"/>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861247" y="2419478"/>
            <a:ext cx="234320" cy="159763"/>
          </a:xfrm>
          <a:prstGeom prst="roundRect">
            <a:avLst>
              <a:gd name="adj" fmla="val 28617"/>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861247" y="2430128"/>
            <a:ext cx="117161" cy="85208"/>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flipV="1">
            <a:off x="978408" y="2430128"/>
            <a:ext cx="117160" cy="85208"/>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1" name="cell:tkname"/>
          <p:cNvSpPr txBox="1"/>
          <p:nvPr/>
        </p:nvSpPr>
        <p:spPr>
          <a:xfrm>
            <a:off x="1417320" y="2212848"/>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four-bracket email prompt</a:t>
            </a:r>
          </a:p>
        </p:txBody>
      </p:sp>
      <p:sp>
        <p:nvSpPr>
          <p:cNvPr id="22" name="cell:tksub"/>
          <p:cNvSpPr txBox="1"/>
          <p:nvPr/>
        </p:nvSpPr>
        <p:spPr>
          <a:xfrm>
            <a:off x="1417320" y="2517648"/>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Facts, position, tone, ask. Covers most of a week.</a:t>
            </a:r>
          </a:p>
        </p:txBody>
      </p:sp>
      <p:sp>
        <p:nvSpPr>
          <p:cNvPr id="23" name="vis:tk"/>
          <p:cNvSpPr/>
          <p:nvPr/>
        </p:nvSpPr>
        <p:spPr>
          <a:xfrm>
            <a:off x="502920" y="3023616"/>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badge"/>
          <p:cNvSpPr/>
          <p:nvPr/>
        </p:nvSpPr>
        <p:spPr>
          <a:xfrm>
            <a:off x="722376" y="3145536"/>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icon"/>
          <p:cNvSpPr/>
          <p:nvPr/>
        </p:nvSpPr>
        <p:spPr>
          <a:xfrm>
            <a:off x="863910" y="3303046"/>
            <a:ext cx="37278" cy="3727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6" name="vis:icon"/>
          <p:cNvCxnSpPr/>
          <p:nvPr/>
        </p:nvCxnSpPr>
        <p:spPr>
          <a:xfrm>
            <a:off x="930478" y="3321686"/>
            <a:ext cx="165090"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7" name="vis:icon"/>
          <p:cNvSpPr/>
          <p:nvPr/>
        </p:nvSpPr>
        <p:spPr>
          <a:xfrm>
            <a:off x="863910" y="3382928"/>
            <a:ext cx="37278" cy="3727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930478" y="3401568"/>
            <a:ext cx="165090"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9" name="vis:icon"/>
          <p:cNvSpPr/>
          <p:nvPr/>
        </p:nvSpPr>
        <p:spPr>
          <a:xfrm>
            <a:off x="863910" y="3462810"/>
            <a:ext cx="37278" cy="3727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0" name="vis:icon"/>
          <p:cNvCxnSpPr/>
          <p:nvPr/>
        </p:nvCxnSpPr>
        <p:spPr>
          <a:xfrm>
            <a:off x="930478" y="3481449"/>
            <a:ext cx="165090"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1" name="cell:tkname"/>
          <p:cNvSpPr txBox="1"/>
          <p:nvPr/>
        </p:nvSpPr>
        <p:spPr>
          <a:xfrm>
            <a:off x="1417320" y="3115056"/>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thread prompt</a:t>
            </a:r>
          </a:p>
        </p:txBody>
      </p:sp>
      <p:sp>
        <p:nvSpPr>
          <p:cNvPr id="32" name="cell:tksub"/>
          <p:cNvSpPr txBox="1"/>
          <p:nvPr/>
        </p:nvSpPr>
        <p:spPr>
          <a:xfrm>
            <a:off x="1417320" y="3419856"/>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Agreed, open, my action. Three lines, forty seconds.</a:t>
            </a:r>
          </a:p>
        </p:txBody>
      </p:sp>
      <p:sp>
        <p:nvSpPr>
          <p:cNvPr id="33" name="vis:tk"/>
          <p:cNvSpPr/>
          <p:nvPr/>
        </p:nvSpPr>
        <p:spPr>
          <a:xfrm>
            <a:off x="502920" y="3925823"/>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badge"/>
          <p:cNvSpPr/>
          <p:nvPr/>
        </p:nvSpPr>
        <p:spPr>
          <a:xfrm>
            <a:off x="722376" y="4047743"/>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icon"/>
          <p:cNvSpPr/>
          <p:nvPr/>
        </p:nvSpPr>
        <p:spPr>
          <a:xfrm>
            <a:off x="866573" y="4207917"/>
            <a:ext cx="223669" cy="149113"/>
          </a:xfrm>
          <a:prstGeom prst="roundRect">
            <a:avLst>
              <a:gd name="adj" fmla="val 30661"/>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6" name="vis:icon"/>
          <p:cNvCxnSpPr/>
          <p:nvPr/>
        </p:nvCxnSpPr>
        <p:spPr>
          <a:xfrm flipH="1">
            <a:off x="909176" y="4357030"/>
            <a:ext cx="10651" cy="5858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flipV="1">
            <a:off x="909176" y="4357030"/>
            <a:ext cx="58581" cy="5858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8" name="cell:tkname"/>
          <p:cNvSpPr txBox="1"/>
          <p:nvPr/>
        </p:nvSpPr>
        <p:spPr>
          <a:xfrm>
            <a:off x="1417320" y="4017263"/>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ten subject lines prompt</a:t>
            </a:r>
          </a:p>
        </p:txBody>
      </p:sp>
      <p:sp>
        <p:nvSpPr>
          <p:cNvPr id="39" name="cell:tksub"/>
          <p:cNvSpPr txBox="1"/>
          <p:nvPr/>
        </p:nvSpPr>
        <p:spPr>
          <a:xfrm>
            <a:off x="1417320" y="4322063"/>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Under nine words each, action or no action.</a:t>
            </a:r>
          </a:p>
        </p:txBody>
      </p:sp>
      <p:sp>
        <p:nvSpPr>
          <p:cNvPr id="40" name="seclabel"/>
          <p:cNvSpPr txBox="1"/>
          <p:nvPr/>
        </p:nvSpPr>
        <p:spPr>
          <a:xfrm>
            <a:off x="8082076" y="1719072"/>
            <a:ext cx="3606698"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LINKS THAT WORK</a:t>
            </a:r>
          </a:p>
        </p:txBody>
      </p:sp>
      <p:sp>
        <p:nvSpPr>
          <p:cNvPr id="41" name="nav:link">
            <a:hlinkClick r:id="rId2"/>
          </p:cNvPr>
          <p:cNvSpPr/>
          <p:nvPr/>
        </p:nvSpPr>
        <p:spPr>
          <a:xfrm>
            <a:off x="8082076" y="2121408"/>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2" name="vis:icon"/>
          <p:cNvSpPr/>
          <p:nvPr/>
        </p:nvSpPr>
        <p:spPr>
          <a:xfrm>
            <a:off x="8339937" y="2300630"/>
            <a:ext cx="164592" cy="164592"/>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3" name="vis:icon"/>
          <p:cNvCxnSpPr/>
          <p:nvPr/>
        </p:nvCxnSpPr>
        <p:spPr>
          <a:xfrm>
            <a:off x="8482584" y="2443276"/>
            <a:ext cx="65836" cy="6583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44" name="cell:linklabel"/>
          <p:cNvSpPr txBox="1"/>
          <p:nvPr/>
        </p:nvSpPr>
        <p:spPr>
          <a:xfrm>
            <a:off x="8703868" y="2203703"/>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Microsoft Copilot</a:t>
            </a:r>
          </a:p>
        </p:txBody>
      </p:sp>
      <p:sp>
        <p:nvSpPr>
          <p:cNvPr id="45" name="cell:linkurl"/>
          <p:cNvSpPr txBox="1"/>
          <p:nvPr/>
        </p:nvSpPr>
        <p:spPr>
          <a:xfrm>
            <a:off x="8703868" y="2423160"/>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a:rPr>
              <a:t>copilot.microsoft.com</a:t>
            </a:r>
          </a:p>
        </p:txBody>
      </p:sp>
      <p:sp>
        <p:nvSpPr>
          <p:cNvPr id="46" name="nav:link">
            <a:hlinkClick r:id="rId3"/>
          </p:cNvPr>
          <p:cNvSpPr/>
          <p:nvPr/>
        </p:nvSpPr>
        <p:spPr>
          <a:xfrm>
            <a:off x="8082076" y="2798063"/>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7" name="vis:icon"/>
          <p:cNvSpPr/>
          <p:nvPr/>
        </p:nvSpPr>
        <p:spPr>
          <a:xfrm>
            <a:off x="8339937" y="2977286"/>
            <a:ext cx="164592" cy="164592"/>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8" name="vis:icon"/>
          <p:cNvCxnSpPr/>
          <p:nvPr/>
        </p:nvCxnSpPr>
        <p:spPr>
          <a:xfrm>
            <a:off x="8482584" y="3119932"/>
            <a:ext cx="65836" cy="6583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49" name="cell:linklabel"/>
          <p:cNvSpPr txBox="1"/>
          <p:nvPr/>
        </p:nvSpPr>
        <p:spPr>
          <a:xfrm>
            <a:off x="8703868" y="2880359"/>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ChatGPT</a:t>
            </a:r>
          </a:p>
        </p:txBody>
      </p:sp>
      <p:sp>
        <p:nvSpPr>
          <p:cNvPr id="50" name="cell:linkurl"/>
          <p:cNvSpPr txBox="1"/>
          <p:nvPr/>
        </p:nvSpPr>
        <p:spPr>
          <a:xfrm>
            <a:off x="8703868" y="3099815"/>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a:rPr>
              <a:t>chatgpt.com</a:t>
            </a:r>
          </a:p>
        </p:txBody>
      </p:sp>
      <p:sp>
        <p:nvSpPr>
          <p:cNvPr id="51" name="nav:link">
            <a:hlinkClick r:id="rId4"/>
          </p:cNvPr>
          <p:cNvSpPr/>
          <p:nvPr/>
        </p:nvSpPr>
        <p:spPr>
          <a:xfrm>
            <a:off x="8082076" y="3474720"/>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vis:icon"/>
          <p:cNvSpPr/>
          <p:nvPr/>
        </p:nvSpPr>
        <p:spPr>
          <a:xfrm>
            <a:off x="8339937" y="3653942"/>
            <a:ext cx="164592" cy="164592"/>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53" name="vis:icon"/>
          <p:cNvCxnSpPr/>
          <p:nvPr/>
        </p:nvCxnSpPr>
        <p:spPr>
          <a:xfrm>
            <a:off x="8482584" y="3796588"/>
            <a:ext cx="65836" cy="6583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54" name="cell:linklabel"/>
          <p:cNvSpPr txBox="1"/>
          <p:nvPr/>
        </p:nvSpPr>
        <p:spPr>
          <a:xfrm>
            <a:off x="8703868" y="3557015"/>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Google Gemini</a:t>
            </a:r>
          </a:p>
        </p:txBody>
      </p:sp>
      <p:sp>
        <p:nvSpPr>
          <p:cNvPr id="55" name="cell:linkurl"/>
          <p:cNvSpPr txBox="1"/>
          <p:nvPr/>
        </p:nvSpPr>
        <p:spPr>
          <a:xfrm>
            <a:off x="8703868" y="3776472"/>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a:rPr>
              <a:t>gemini.google.com</a:t>
            </a:r>
          </a:p>
        </p:txBody>
      </p:sp>
      <p:sp>
        <p:nvSpPr>
          <p:cNvPr id="56" name="vis:next"/>
          <p:cNvSpPr/>
          <p:nvPr/>
        </p:nvSpPr>
        <p:spPr>
          <a:xfrm>
            <a:off x="8082076" y="4297680"/>
            <a:ext cx="3606698" cy="1719072"/>
          </a:xfrm>
          <a:prstGeom prst="roundRect">
            <a:avLst>
              <a:gd name="adj" fmla="val 425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7" name="seclabel"/>
          <p:cNvSpPr txBox="1"/>
          <p:nvPr/>
        </p:nvSpPr>
        <p:spPr>
          <a:xfrm>
            <a:off x="8338108" y="4480560"/>
            <a:ext cx="3094634"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51979C"/>
                </a:solidFill>
                <a:latin typeface="Segoe UI Semibold"/>
              </a:rPr>
              <a:t>DO THIS NEXT</a:t>
            </a:r>
          </a:p>
        </p:txBody>
      </p:sp>
      <p:sp>
        <p:nvSpPr>
          <p:cNvPr id="58" name="cell:next"/>
          <p:cNvSpPr txBox="1"/>
          <p:nvPr/>
        </p:nvSpPr>
        <p:spPr>
          <a:xfrm>
            <a:off x="8338108" y="4809744"/>
            <a:ext cx="3094634" cy="987551"/>
          </a:xfrm>
          <a:prstGeom prst="rect">
            <a:avLst/>
          </a:prstGeom>
          <a:noFill/>
        </p:spPr>
        <p:txBody>
          <a:bodyPr wrap="square" lIns="0" rIns="0" tIns="0" bIns="0" anchor="t">
            <a:spAutoFit/>
          </a:bodyPr>
          <a:lstStyle/>
          <a:p>
            <a:pPr algn="l">
              <a:lnSpc>
                <a:spcPts val="1885"/>
              </a:lnSpc>
              <a:spcBef>
                <a:spcPts val="0"/>
              </a:spcBef>
              <a:spcAft>
                <a:spcPts val="0"/>
              </a:spcAft>
            </a:pPr>
            <a:r>
              <a:rPr sz="1450" b="0">
                <a:solidFill>
                  <a:srgbClr val="FFFFFF"/>
                </a:solidFill>
                <a:latin typeface="Segoe UI"/>
              </a:rPr>
              <a:t>Next module: DW-02, Research with AI. How to use it to find the questions worth asking, without letting it invent the answers.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GLOSSARY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Words people use around AI</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DW-01  ·  Email Writing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gloss"/>
          <p:cNvSpPr/>
          <p:nvPr/>
        </p:nvSpPr>
        <p:spPr>
          <a:xfrm>
            <a:off x="502920"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glossbar"/>
          <p:cNvSpPr/>
          <p:nvPr/>
        </p:nvSpPr>
        <p:spPr>
          <a:xfrm>
            <a:off x="502920" y="1719072"/>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cell:glossterm"/>
          <p:cNvSpPr txBox="1"/>
          <p:nvPr/>
        </p:nvSpPr>
        <p:spPr>
          <a:xfrm>
            <a:off x="740664"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Tone</a:t>
            </a:r>
          </a:p>
        </p:txBody>
      </p:sp>
      <p:sp>
        <p:nvSpPr>
          <p:cNvPr id="18" name="cell:glossdef"/>
          <p:cNvSpPr txBox="1"/>
          <p:nvPr/>
        </p:nvSpPr>
        <p:spPr>
          <a:xfrm>
            <a:off x="740664"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register of a message: firm, warm, neutral, apologetic. Name it rather than hoping.</a:t>
            </a:r>
          </a:p>
        </p:txBody>
      </p:sp>
      <p:sp>
        <p:nvSpPr>
          <p:cNvPr id="19" name="vis:gloss"/>
          <p:cNvSpPr/>
          <p:nvPr/>
        </p:nvSpPr>
        <p:spPr>
          <a:xfrm>
            <a:off x="6178143"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glossbar"/>
          <p:cNvSpPr/>
          <p:nvPr/>
        </p:nvSpPr>
        <p:spPr>
          <a:xfrm>
            <a:off x="6178143" y="1719072"/>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cell:glossterm"/>
          <p:cNvSpPr txBox="1"/>
          <p:nvPr/>
        </p:nvSpPr>
        <p:spPr>
          <a:xfrm>
            <a:off x="6415887"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Thread</a:t>
            </a:r>
          </a:p>
        </p:txBody>
      </p:sp>
      <p:sp>
        <p:nvSpPr>
          <p:cNvPr id="22" name="cell:glossdef"/>
          <p:cNvSpPr txBox="1"/>
          <p:nvPr/>
        </p:nvSpPr>
        <p:spPr>
          <a:xfrm>
            <a:off x="6415887"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An email conversation with replies stacked inside it. Full of names and signature blocks.</a:t>
            </a:r>
          </a:p>
        </p:txBody>
      </p:sp>
      <p:sp>
        <p:nvSpPr>
          <p:cNvPr id="23" name="vis:gloss"/>
          <p:cNvSpPr/>
          <p:nvPr/>
        </p:nvSpPr>
        <p:spPr>
          <a:xfrm>
            <a:off x="502920"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glossbar"/>
          <p:cNvSpPr/>
          <p:nvPr/>
        </p:nvSpPr>
        <p:spPr>
          <a:xfrm>
            <a:off x="502920" y="2962656"/>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cell:glossterm"/>
          <p:cNvSpPr txBox="1"/>
          <p:nvPr/>
        </p:nvSpPr>
        <p:spPr>
          <a:xfrm>
            <a:off x="740664"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Prompt</a:t>
            </a:r>
          </a:p>
        </p:txBody>
      </p:sp>
      <p:sp>
        <p:nvSpPr>
          <p:cNvPr id="26" name="cell:glossdef"/>
          <p:cNvSpPr txBox="1"/>
          <p:nvPr/>
        </p:nvSpPr>
        <p:spPr>
          <a:xfrm>
            <a:off x="740664"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Everything you type in: the facts, your position, the tone and the ask.</a:t>
            </a:r>
          </a:p>
        </p:txBody>
      </p:sp>
      <p:sp>
        <p:nvSpPr>
          <p:cNvPr id="27" name="vis:gloss"/>
          <p:cNvSpPr/>
          <p:nvPr/>
        </p:nvSpPr>
        <p:spPr>
          <a:xfrm>
            <a:off x="6178143"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glossbar"/>
          <p:cNvSpPr/>
          <p:nvPr/>
        </p:nvSpPr>
        <p:spPr>
          <a:xfrm>
            <a:off x="6178143" y="2962656"/>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cell:glossterm"/>
          <p:cNvSpPr txBox="1"/>
          <p:nvPr/>
        </p:nvSpPr>
        <p:spPr>
          <a:xfrm>
            <a:off x="6415887"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Template</a:t>
            </a:r>
          </a:p>
        </p:txBody>
      </p:sp>
      <p:sp>
        <p:nvSpPr>
          <p:cNvPr id="30" name="cell:glossdef"/>
          <p:cNvSpPr txBox="1"/>
          <p:nvPr/>
        </p:nvSpPr>
        <p:spPr>
          <a:xfrm>
            <a:off x="6415887"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prompt with brackets where the specifics go, so you reuse it without rewriting.</a:t>
            </a:r>
          </a:p>
        </p:txBody>
      </p:sp>
      <p:sp>
        <p:nvSpPr>
          <p:cNvPr id="31" name="vis:gloss"/>
          <p:cNvSpPr/>
          <p:nvPr/>
        </p:nvSpPr>
        <p:spPr>
          <a:xfrm>
            <a:off x="502920"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glossbar"/>
          <p:cNvSpPr/>
          <p:nvPr/>
        </p:nvSpPr>
        <p:spPr>
          <a:xfrm>
            <a:off x="502920" y="4206240"/>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cell:glossterm"/>
          <p:cNvSpPr txBox="1"/>
          <p:nvPr/>
        </p:nvSpPr>
        <p:spPr>
          <a:xfrm>
            <a:off x="740664"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Personal data</a:t>
            </a:r>
          </a:p>
        </p:txBody>
      </p:sp>
      <p:sp>
        <p:nvSpPr>
          <p:cNvPr id="34" name="cell:glossdef"/>
          <p:cNvSpPr txBox="1"/>
          <p:nvPr/>
        </p:nvSpPr>
        <p:spPr>
          <a:xfrm>
            <a:off x="740664"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Anything identifying a person: a name, a phone number, an address, an account.</a:t>
            </a:r>
          </a:p>
        </p:txBody>
      </p:sp>
      <p:sp>
        <p:nvSpPr>
          <p:cNvPr id="35" name="vis:gloss"/>
          <p:cNvSpPr/>
          <p:nvPr/>
        </p:nvSpPr>
        <p:spPr>
          <a:xfrm>
            <a:off x="6178143"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glossbar"/>
          <p:cNvSpPr/>
          <p:nvPr/>
        </p:nvSpPr>
        <p:spPr>
          <a:xfrm>
            <a:off x="6178143" y="4206240"/>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cell:glossterm"/>
          <p:cNvSpPr txBox="1"/>
          <p:nvPr/>
        </p:nvSpPr>
        <p:spPr>
          <a:xfrm>
            <a:off x="6415887"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Output</a:t>
            </a:r>
          </a:p>
        </p:txBody>
      </p:sp>
      <p:sp>
        <p:nvSpPr>
          <p:cNvPr id="38" name="cell:glossdef"/>
          <p:cNvSpPr txBox="1"/>
          <p:nvPr/>
        </p:nvSpPr>
        <p:spPr>
          <a:xfrm>
            <a:off x="6415887"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What comes back. Your draft, which you are responsible for checking.</a:t>
            </a:r>
          </a:p>
        </p:txBody>
      </p:sp>
      <p:sp>
        <p:nvSpPr>
          <p:cNvPr id="39" name="nav:glossback">
            <a:hlinkClick action="ppaction://hlinksldjump" r:id="rId2"/>
          </p:cNvPr>
          <p:cNvSpPr/>
          <p:nvPr/>
        </p:nvSpPr>
        <p:spPr>
          <a:xfrm>
            <a:off x="502920" y="5504688"/>
            <a:ext cx="2651760" cy="512064"/>
          </a:xfrm>
          <a:prstGeom prst="roundRect">
            <a:avLst>
              <a:gd name="adj" fmla="val 10714"/>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nav:glossbacktext"/>
          <p:cNvSpPr txBox="1"/>
          <p:nvPr/>
        </p:nvSpPr>
        <p:spPr>
          <a:xfrm>
            <a:off x="758952" y="5650992"/>
            <a:ext cx="2139696"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menu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