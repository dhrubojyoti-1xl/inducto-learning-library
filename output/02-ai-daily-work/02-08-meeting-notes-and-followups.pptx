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56pilLKRGJc"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meetings.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Meeting Notes &amp; Follow-ups</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Turning an hour of discussion into decisions and owners, before anyone leaves the room.</a:t>
            </a:r>
          </a:p>
        </p:txBody>
      </p:sp>
      <p:sp>
        <p:nvSpPr>
          <p:cNvPr id="11" name="vis:chip"/>
          <p:cNvSpPr/>
          <p:nvPr/>
        </p:nvSpPr>
        <p:spPr>
          <a:xfrm>
            <a:off x="841248" y="4626864"/>
            <a:ext cx="10435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7326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DW-08</a:t>
            </a:r>
          </a:p>
        </p:txBody>
      </p:sp>
      <p:sp>
        <p:nvSpPr>
          <p:cNvPr id="13" name="vis:chip"/>
          <p:cNvSpPr/>
          <p:nvPr/>
        </p:nvSpPr>
        <p:spPr>
          <a:xfrm>
            <a:off x="2031111" y="4626864"/>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86559" y="4672583"/>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DW-08  ·  Meeting Notes &amp; Follow-ups</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Nobody remembers who agreed what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92627" y="2222050"/>
            <a:ext cx="137320" cy="137320"/>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icon"/>
          <p:cNvSpPr/>
          <p:nvPr/>
        </p:nvSpPr>
        <p:spPr>
          <a:xfrm>
            <a:off x="1016739" y="2413577"/>
            <a:ext cx="289097" cy="126479"/>
          </a:xfrm>
          <a:custGeom>
            <a:avLst/>
            <a:gdLst/>
            <a:ahLst/>
            <a:cxnLst/>
            <a:rect l="l" t="t" r="r" b="b"/>
            <a:pathLst>
              <a:path w="289097" h="126479">
                <a:moveTo>
                  <a:pt x="0" y="126479"/>
                </a:moveTo>
                <a:lnTo>
                  <a:pt x="21682" y="0"/>
                </a:lnTo>
                <a:lnTo>
                  <a:pt x="267415" y="0"/>
                </a:lnTo>
                <a:lnTo>
                  <a:pt x="289097" y="126479"/>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A weekly production meeting in Pune runs for an hour. Everyone leaves clear about the decisions. Nine days later, two of the four actions have not started, and each person believed somebody else owned them.</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Nine days lost, and the same discussion happening again.</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Three columns — decision, owner, date — sent within the hour.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rough notes into decisions and owners in five minutes</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04691" y="2845034"/>
            <a:ext cx="112024" cy="11202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942782" y="3001280"/>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actions nobody can misread as somebody else's job</a:t>
            </a:r>
          </a:p>
        </p:txBody>
      </p:sp>
      <p:sp>
        <p:nvSpPr>
          <p:cNvPr id="29"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930990" y="3738198"/>
            <a:ext cx="259426" cy="259426"/>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flipV="1">
            <a:off x="1060704" y="3791263"/>
            <a:ext cx="0" cy="7664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a:off x="1060704" y="3867911"/>
            <a:ext cx="64856" cy="2358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Send follow-ups the same day, every time</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33938" y="4631362"/>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Take useful notes without recording anyone unlawfully</a:t>
            </a:r>
          </a:p>
        </p:txBody>
      </p:sp>
      <p:sp>
        <p:nvSpPr>
          <p:cNvPr id="39"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943035" y="5558013"/>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vis:icon"/>
          <p:cNvSpPr/>
          <p:nvPr/>
        </p:nvSpPr>
        <p:spPr>
          <a:xfrm>
            <a:off x="988477" y="5534550"/>
            <a:ext cx="54244" cy="46578"/>
          </a:xfrm>
          <a:custGeom>
            <a:avLst/>
            <a:gdLst/>
            <a:ahLst/>
            <a:cxnLst/>
            <a:rect l="l" t="t" r="r" b="b"/>
            <a:pathLst>
              <a:path w="54244" h="46578">
                <a:moveTo>
                  <a:pt x="54244" y="0"/>
                </a:moveTo>
                <a:lnTo>
                  <a:pt x="26532" y="46578"/>
                </a:lnTo>
                <a:lnTo>
                  <a:pt x="0" y="589"/>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Chase an overdue action without starting an argument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Notes nobody uses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Why minutes fail</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Decisions, owners, dates</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only three columns</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Rough notes to actions</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Five minutes after the meeting</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Recording and consent</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Before you press record</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Process a real meeting</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Friday afternoon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4-minute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NOTES NOBODY USES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minutes fail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meeting notes record the conversation. Almost nobody needs the conversation.</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22156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9047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GETS WRITTEN</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discussion</a:t>
            </a:r>
          </a:p>
        </p:txBody>
      </p:sp>
      <p:cxnSp>
        <p:nvCxnSpPr>
          <p:cNvPr id="21" name="vis:icon"/>
          <p:cNvCxnSpPr/>
          <p:nvPr/>
        </p:nvCxnSpPr>
        <p:spPr>
          <a:xfrm>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H="1">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Who said what, in order</a:t>
            </a:r>
          </a:p>
        </p:txBody>
      </p:sp>
      <p:cxnSp>
        <p:nvCxnSpPr>
          <p:cNvPr id="24" name="vis:icon"/>
          <p:cNvCxnSpPr/>
          <p:nvPr/>
        </p:nvCxnSpPr>
        <p:spPr>
          <a:xfrm>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H="1">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Points raised and considered</a:t>
            </a:r>
          </a:p>
        </p:txBody>
      </p:sp>
      <p:cxnSp>
        <p:nvCxnSpPr>
          <p:cNvPr id="27" name="vis:icon"/>
          <p:cNvCxnSpPr/>
          <p:nvPr/>
        </p:nvCxnSpPr>
        <p:spPr>
          <a:xfrm>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H="1">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Background nobody disputed</a:t>
            </a:r>
          </a:p>
        </p:txBody>
      </p:sp>
      <p:cxnSp>
        <p:nvCxnSpPr>
          <p:cNvPr id="30" name="vis:icon"/>
          <p:cNvCxnSpPr/>
          <p:nvPr/>
        </p:nvCxnSpPr>
        <p:spPr>
          <a:xfrm>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H="1">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"It was agreed to look into it"</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1911455"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160055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GETS USED</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decisions</a:t>
            </a:r>
          </a:p>
        </p:txBody>
      </p:sp>
      <p:cxnSp>
        <p:nvCxnSpPr>
          <p:cNvPr id="38" name="vis:icon"/>
          <p:cNvCxnSpPr/>
          <p:nvPr/>
        </p:nvCxnSpPr>
        <p:spPr>
          <a:xfrm>
            <a:off x="6560362" y="414131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6607911" y="408645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was actually decided</a:t>
            </a:r>
          </a:p>
        </p:txBody>
      </p:sp>
      <p:cxnSp>
        <p:nvCxnSpPr>
          <p:cNvPr id="41" name="vis:icon"/>
          <p:cNvCxnSpPr/>
          <p:nvPr/>
        </p:nvCxnSpPr>
        <p:spPr>
          <a:xfrm>
            <a:off x="6560362" y="458937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6607911" y="453450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One named owner per action</a:t>
            </a:r>
          </a:p>
        </p:txBody>
      </p:sp>
      <p:cxnSp>
        <p:nvCxnSpPr>
          <p:cNvPr id="44" name="vis:icon"/>
          <p:cNvCxnSpPr/>
          <p:nvPr/>
        </p:nvCxnSpPr>
        <p:spPr>
          <a:xfrm>
            <a:off x="6560362" y="503742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V="1">
            <a:off x="6607911" y="498256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date, not "next week"</a:t>
            </a:r>
          </a:p>
        </p:txBody>
      </p:sp>
      <p:cxnSp>
        <p:nvCxnSpPr>
          <p:cNvPr id="47" name="vis:icon"/>
          <p:cNvCxnSpPr/>
          <p:nvPr/>
        </p:nvCxnSpPr>
        <p:spPr>
          <a:xfrm>
            <a:off x="6560362" y="548548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V="1">
            <a:off x="6607911" y="543062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is still open, and who will close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NOTES NOBODY USES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"We agreed to look into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04807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7371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UNOWNED ACTION</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"The team will review the supplier issue and revert."</a:t>
            </a:r>
          </a:p>
          <a:p>
            <a:pPr algn="l">
              <a:lnSpc>
                <a:spcPts val="1690"/>
              </a:lnSpc>
              <a:spcBef>
                <a:spcPts val="0"/>
              </a:spcBef>
              <a:spcAft>
                <a:spcPts val="600"/>
              </a:spcAft>
            </a:pPr>
            <a:r>
              <a:rPr sz="1300" b="0">
                <a:solidFill>
                  <a:srgbClr val="2A3547"/>
                </a:solidFill>
                <a:latin typeface="Segoe UI"/>
              </a:rPr>
              <a:t>Four people read it. Each assumes one of the others owns it.</a:t>
            </a:r>
          </a:p>
          <a:p>
            <a:pPr algn="l">
              <a:lnSpc>
                <a:spcPts val="1690"/>
              </a:lnSpc>
              <a:spcBef>
                <a:spcPts val="0"/>
              </a:spcBef>
              <a:spcAft>
                <a:spcPts val="600"/>
              </a:spcAft>
            </a:pPr>
            <a:r>
              <a:rPr sz="1300" b="0">
                <a:solidFill>
                  <a:srgbClr val="2A3547"/>
                </a:solidFill>
                <a:latin typeface="Segoe UI"/>
              </a:rPr>
              <a:t>Nine days later nothing has started and nobody is at fault.</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79979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48889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OWNED ACTION</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"Priya to get written confirmation of the revised lead time. By Thursday 14th."</a:t>
            </a:r>
          </a:p>
          <a:p>
            <a:pPr algn="l">
              <a:lnSpc>
                <a:spcPts val="1690"/>
              </a:lnSpc>
              <a:spcBef>
                <a:spcPts val="0"/>
              </a:spcBef>
              <a:spcAft>
                <a:spcPts val="600"/>
              </a:spcAft>
            </a:pPr>
            <a:r>
              <a:rPr sz="1300" b="0">
                <a:solidFill>
                  <a:srgbClr val="2A3547"/>
                </a:solidFill>
                <a:latin typeface="Segoe UI"/>
              </a:rPr>
              <a:t>One name, one deliverable, one date.</a:t>
            </a:r>
          </a:p>
          <a:p>
            <a:pPr algn="l">
              <a:lnSpc>
                <a:spcPts val="1690"/>
              </a:lnSpc>
              <a:spcBef>
                <a:spcPts val="0"/>
              </a:spcBef>
              <a:spcAft>
                <a:spcPts val="600"/>
              </a:spcAft>
            </a:pPr>
            <a:r>
              <a:rPr sz="1300" b="0">
                <a:solidFill>
                  <a:srgbClr val="2A3547"/>
                </a:solidFill>
                <a:latin typeface="Segoe UI"/>
              </a:rPr>
              <a:t>If it slips, everybody knows on Friday morning.</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team" is not an owner. Every action needs one person's name on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DECISIONS, OWNERS, DATES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Only three columns matter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DECISION — what was settled, in one sentence</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OWNER — one person, by name, never a team</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DATE — a specific day, never "next week"</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OPEN — what was not settled, and who will bring it 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DECISIONS, OWNERS, DATES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Everything else is optional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983177" y="2347711"/>
            <a:ext cx="89011" cy="8901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1072188" y="2245005"/>
            <a:ext cx="164329" cy="1917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9"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Decisions carry</a:t>
            </a:r>
          </a:p>
        </p:txBody>
      </p:sp>
      <p:sp>
        <p:nvSpPr>
          <p:cNvPr id="20"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Six months later, this is the only part anyone goes back to read.</a:t>
            </a:r>
          </a:p>
        </p:txBody>
      </p:sp>
      <p:sp>
        <p:nvSpPr>
          <p:cNvPr id="21"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4861435" y="2193652"/>
            <a:ext cx="130093" cy="13009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Owners prevent drift</a:t>
            </a:r>
          </a:p>
        </p:txBody>
      </p:sp>
      <p:sp>
        <p:nvSpPr>
          <p:cNvPr id="26"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action with two owners has none. An action with a team has fewer.</a:t>
            </a:r>
          </a:p>
        </p:txBody>
      </p:sp>
      <p:sp>
        <p:nvSpPr>
          <p:cNvPr id="27"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8595906" y="2190229"/>
            <a:ext cx="301269" cy="301269"/>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flipV="1">
            <a:off x="8746540" y="2251852"/>
            <a:ext cx="0" cy="8901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a:off x="8746540" y="2340863"/>
            <a:ext cx="75318" cy="2738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Dates create movement</a:t>
            </a:r>
          </a:p>
        </p:txBody>
      </p:sp>
      <p:sp>
        <p:nvSpPr>
          <p:cNvPr id="33"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"Soon" and "next week" are both read as "whenever".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ROUGH NOTES TO ACTIONS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minutes after the meeting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Below are my rough notes from a meeting. Produce three sections and nothing else. DECISIONS: one line each. ACTIONS: one line each, with the owner's name and a date. OPEN: anything not settled. Use only my notes. Where no owner or date was given, write [OWNER?] or [DATE?].</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Type your notes however rough. Order does not matter.</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[OWNER?] shows you exactly what to chase before you send it.</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Three sections stop it summarising the discussion.</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Five minutes now saves the nine days later.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ROUGH NOTES TO ACTIONS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markers are the point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440"/>
          </a:xfrm>
          <a:prstGeom prst="roundRect">
            <a:avLst>
              <a:gd name="adj" fmla="val 3846"/>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19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Send me back only the lines containing [OWNER?] or [DATE?], as questions I can ask in one message. Keep them short and put them in the order they came up in the meeting.</a:t>
            </a:r>
          </a:p>
        </p:txBody>
      </p:sp>
      <p:sp>
        <p:nvSpPr>
          <p:cNvPr id="28" name="vis:promptcap"/>
          <p:cNvSpPr txBox="1"/>
          <p:nvPr/>
        </p:nvSpPr>
        <p:spPr>
          <a:xfrm>
            <a:off x="777240" y="362407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One message to the group closes every gap at once.</a:t>
            </a:r>
          </a:p>
        </p:txBody>
      </p:sp>
      <p:sp>
        <p:nvSpPr>
          <p:cNvPr id="29" name="vis:outcard"/>
          <p:cNvSpPr/>
          <p:nvPr/>
        </p:nvSpPr>
        <p:spPr>
          <a:xfrm>
            <a:off x="6685324" y="1719072"/>
            <a:ext cx="5003450" cy="2377440"/>
          </a:xfrm>
          <a:prstGeom prst="roundRect">
            <a:avLst>
              <a:gd name="adj" fmla="val 384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44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79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Three or four short questions you can send in a single message.</a:t>
            </a:r>
          </a:p>
          <a:p>
            <a:pPr algn="l">
              <a:lnSpc>
                <a:spcPts val="1690"/>
              </a:lnSpc>
              <a:spcBef>
                <a:spcPts val="0"/>
              </a:spcBef>
              <a:spcAft>
                <a:spcPts val="600"/>
              </a:spcAft>
            </a:pPr>
            <a:r>
              <a:rPr sz="1300" b="0">
                <a:solidFill>
                  <a:srgbClr val="2A3547"/>
                </a:solidFill>
                <a:latin typeface="Segoe UI"/>
              </a:rPr>
              <a:t>Usually one action everybody assumed somebody else was doing.</a:t>
            </a:r>
          </a:p>
          <a:p>
            <a:pPr algn="l">
              <a:lnSpc>
                <a:spcPts val="1690"/>
              </a:lnSpc>
              <a:spcBef>
                <a:spcPts val="0"/>
              </a:spcBef>
              <a:spcAft>
                <a:spcPts val="600"/>
              </a:spcAft>
            </a:pPr>
            <a:r>
              <a:rPr sz="1300" b="0">
                <a:solidFill>
                  <a:srgbClr val="2A3547"/>
                </a:solidFill>
                <a:latin typeface="Segoe UI"/>
              </a:rPr>
              <a:t>The notes go out complete, the same afternoon.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RECORDING AND CONSENT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Before you press record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recording or transcript of a meeting is personal data about everyone in it.</a:t>
            </a:r>
          </a:p>
          <a:p>
            <a:pPr algn="l">
              <a:lnSpc>
                <a:spcPts val="1755"/>
              </a:lnSpc>
              <a:spcBef>
                <a:spcPts val="0"/>
              </a:spcBef>
              <a:spcAft>
                <a:spcPts val="0"/>
              </a:spcAft>
            </a:pPr>
            <a:r>
              <a:rPr sz="1350" b="0">
                <a:solidFill>
                  <a:srgbClr val="FFFFFF"/>
                </a:solidFill>
                <a:latin typeface="Segoe UI"/>
              </a:rPr>
              <a:t>Consent, storage and who can access it all have to be settled first.</a:t>
            </a:r>
          </a:p>
        </p:txBody>
      </p:sp>
      <p:sp>
        <p:nvSpPr>
          <p:cNvPr id="20" name="vis:checktile"/>
          <p:cNvSpPr/>
          <p:nvPr/>
        </p:nvSpPr>
        <p:spPr>
          <a:xfrm>
            <a:off x="502920" y="2953512"/>
            <a:ext cx="5483199" cy="1184148"/>
          </a:xfrm>
          <a:prstGeom prst="roundRect">
            <a:avLst>
              <a:gd name="adj" fmla="val 772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39013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469142"/>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491727"/>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891540"/>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Tell everyone before recording starts, not afterwards</a:t>
            </a:r>
          </a:p>
        </p:txBody>
      </p:sp>
      <p:sp>
        <p:nvSpPr>
          <p:cNvPr id="25" name="vis:checktile"/>
          <p:cNvSpPr/>
          <p:nvPr/>
        </p:nvSpPr>
        <p:spPr>
          <a:xfrm>
            <a:off x="6205575" y="2953512"/>
            <a:ext cx="5483199" cy="1184148"/>
          </a:xfrm>
          <a:prstGeom prst="roundRect">
            <a:avLst>
              <a:gd name="adj" fmla="val 772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39013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469142"/>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491727"/>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891540"/>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Use only the tool the company has approved for this</a:t>
            </a:r>
          </a:p>
        </p:txBody>
      </p:sp>
      <p:sp>
        <p:nvSpPr>
          <p:cNvPr id="30" name="vis:checktile"/>
          <p:cNvSpPr/>
          <p:nvPr/>
        </p:nvSpPr>
        <p:spPr>
          <a:xfrm>
            <a:off x="502920" y="4357116"/>
            <a:ext cx="5483199" cy="1184148"/>
          </a:xfrm>
          <a:prstGeom prst="roundRect">
            <a:avLst>
              <a:gd name="adj" fmla="val 772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479374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4872746"/>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4895331"/>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503420"/>
            <a:ext cx="4605375" cy="891540"/>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upload a recording to a personal AI account</a:t>
            </a:r>
          </a:p>
        </p:txBody>
      </p:sp>
      <p:sp>
        <p:nvSpPr>
          <p:cNvPr id="35" name="vis:checktile"/>
          <p:cNvSpPr/>
          <p:nvPr/>
        </p:nvSpPr>
        <p:spPr>
          <a:xfrm>
            <a:off x="6205575" y="4357116"/>
            <a:ext cx="5483199" cy="1184148"/>
          </a:xfrm>
          <a:prstGeom prst="roundRect">
            <a:avLst>
              <a:gd name="adj" fmla="val 772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479374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4872746"/>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4895331"/>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503420"/>
            <a:ext cx="4605375" cy="891540"/>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record a conversation about a person's performance</a:t>
            </a:r>
          </a:p>
        </p:txBody>
      </p:sp>
      <p:sp>
        <p:nvSpPr>
          <p:cNvPr id="40"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41" name="vis:chip"/>
          <p:cNvSpPr/>
          <p:nvPr/>
        </p:nvSpPr>
        <p:spPr>
          <a:xfrm>
            <a:off x="2221991" y="5660136"/>
            <a:ext cx="2019841"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chiptext"/>
          <p:cNvSpPr txBox="1"/>
          <p:nvPr/>
        </p:nvSpPr>
        <p:spPr>
          <a:xfrm>
            <a:off x="2377439" y="5687568"/>
            <a:ext cx="170894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PERSONAL DATA  ?</a:t>
            </a:r>
          </a:p>
        </p:txBody>
      </p:sp>
      <p:sp>
        <p:nvSpPr>
          <p:cNvPr id="43" name="nav:gloss">
            <a:hlinkClick action="ppaction://hlinksldjump" r:id="rId3"/>
          </p:cNvPr>
          <p:cNvSpPr/>
          <p:nvPr/>
        </p:nvSpPr>
        <p:spPr>
          <a:xfrm>
            <a:off x="2221991" y="5660136"/>
            <a:ext cx="2019841"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RECORDING AND CONSENT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Notes are usually enough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 I need every word, or just the decisions?</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1735856" y="3026664"/>
            <a:ext cx="156103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1891304" y="3054096"/>
            <a:ext cx="12501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EVERY WORD</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Get approval first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Disputes, formal processes, customer commitments. Tell everyone, use the approved tool, and check with [COMPANY INPUT NEEDED: who approves meeting recordings].</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8773494" y="3026664"/>
            <a:ext cx="180365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8928942" y="3054096"/>
            <a:ext cx="149275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JUST DECISIONS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Type rough notes</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For almost every internal meeting, five bullet points typed as you go are enough. No consent question, no storage question, no transcript to protect.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process a meeting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the notes from your most recent meeting.</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Remove any customer names and replace them with roles.</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Run the three-section prompt on them.</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Send one message asking about every [OWNER?] and [DATE?].</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my notes into three sections and nothing else. DECISIONS, one line each. ACTIONS, one line each with an owner and a date. OPEN, what is unsettled. Use only my notes. Mark missing owners [OWNER?] and missing dates [DATE?].</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 single most useful five minutes after any meeting.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Chasing without an argument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chaser</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a short message chasing an action that is three days overdue. Facts: agreed at the review on the 6th, due the 14th, no update received. Tone: neutral and factual, not passive-aggressive, no apology from me. Under 50 words. End by asking for a new date.</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Neutral is a real instruction and it works.</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"Not passive-aggressive" removes the usual edge.</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 apology from me" stops it softening your position.</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Asking for a new date gives them something easy to 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after every meeting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Write the actions before you leave the room or the call.</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Read the owners and dates aloud while everyone is still there.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Send the notes the same day, not the next morning.</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Put the open items at the top of the next agenda.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Writing "the team will"</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Four people read it and each assumes one of the others owns it.</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Recording without telling people</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transcript is personal data about everyone in the room, taken without consent.</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Minuting the discussion instead of the decisions</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Two pages nobody reads, and the one decision buried in the middle.</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Sending notes three days later</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By then people have half-remembered a different version and started acting on it.</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Using "next week" as a deadline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is read as "whenever", and it always 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follow-up that ends a meeting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message, same day</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Decisions, actions with owners, open items.</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No discussion in it</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Nobody re-reads who argued what, ever.</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0E6E75"/>
                </a:solidFill>
                <a:latin typeface="Segoe UI Semibold"/>
              </a:rPr>
              <a:t>Under 150 words</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Long enough to be complete, short enough to be read.</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The whole value of a meeting is what happens in the nine days afterwards. This message is what decides whether anything does.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meeting notes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Every action needs one name and one date, or it is not an action.</a:t>
            </a:r>
          </a:p>
          <a:p>
            <a:pPr algn="l">
              <a:lnSpc>
                <a:spcPts val="1755"/>
              </a:lnSpc>
              <a:spcBef>
                <a:spcPts val="0"/>
              </a:spcBef>
              <a:spcAft>
                <a:spcPts val="0"/>
              </a:spcAft>
            </a:pPr>
            <a:r>
              <a:rPr sz="1350" b="0">
                <a:solidFill>
                  <a:srgbClr val="FFFFFF"/>
                </a:solidFill>
                <a:latin typeface="Segoe UI"/>
              </a:rPr>
              <a:t>That single test removes most of what goes wrong after meetings.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name — nobody does it.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date — nobody hurries.</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Sent tomorrow — already too late.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Friday, 4:50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The weekly review has just finished. You have a page of scribbled notes, four actions somewhere in them, and ten minutes before you want to leave.</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Send the raw notes to everyone and tidy them Monday.</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Run the three-section prompt, chase the gaps, send it by five.</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Upload the meeting recording to an AI tool for a full transcript.</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Monday's version will be a different meeting</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Over the weekend, four people read four different things into the same scribbles. On Monday two have started work nobody asked for and one has not started the thing they own. Your tidy version now contradicts what people already did.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Ambiguous notes do not stay neutral. People fill the gaps.</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Eight minutes, and the week actually moves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prompt produces four decisions, four actions and two [OWNER?] markers. You ask both questions in one message, get answers within three minutes because everyone is still at their desk, and send the final note at 4:58.</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gaps are closeable while people are still in the building.</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just shared everyone's voice and words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recording is personal data about six people, none of whom agreed to it leaving the company. It also produces four pages of transcript when what you needed was four lines of action.</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transcript is rarely what you need and always more than you should share.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minutes on meeting minutes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How to Use ChatGPT for Meeting Minutes in 2025</a:t>
            </a:r>
          </a:p>
        </p:txBody>
      </p:sp>
      <p:sp>
        <p:nvSpPr>
          <p:cNvPr id="19" name="vis:chip"/>
          <p:cNvSpPr/>
          <p:nvPr/>
        </p:nvSpPr>
        <p:spPr>
          <a:xfrm>
            <a:off x="868680" y="3858768"/>
            <a:ext cx="1089715"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77881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TACTIQ</a:t>
            </a:r>
          </a:p>
        </p:txBody>
      </p:sp>
      <p:sp>
        <p:nvSpPr>
          <p:cNvPr id="21" name="vis:chip"/>
          <p:cNvSpPr/>
          <p:nvPr/>
        </p:nvSpPr>
        <p:spPr>
          <a:xfrm>
            <a:off x="2104699" y="3858768"/>
            <a:ext cx="123659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260147" y="3895344"/>
            <a:ext cx="92570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4:24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from a tool vendor. Follow this module's rules on recording and consent regardless of what it shows.</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three-section prompt is the core.</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Ignore the product pitch; watch the method.</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an action real?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written in the minutes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names one person and one date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Everybody agreed to 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has a clear description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written in the minutes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Being written down is necessary and nowhere near sufficient. "The team will review this" is written down and will not happen.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name, one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names one person and one date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An action with two owners has none, and one with no date is read as "whenever". Both gaps are invisible in the room and obvious nine days later.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name, one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Everybody agreed to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Agreement in the room is exactly what everyone remembers afterwards. Ownership is the part that gets forgotten.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name, one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has a clear description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clearly described action with no owner still does not happen. Description is the easy half.</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name, one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mark [OWNER?] rather than guess?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makes the notes shorter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guessed owner will be quietly ignored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cannot read names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shows you were paying attention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makes the notes shorter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unaffected. The value is that a gap you can see is a gap you can close before sending.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guessed owner is worse than a visible gap.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guessed owner will be quietly ignored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the tool assigns an owner nobody agreed to, that person either does not read it or resents it. Either way the action does not happen and now there is friction too.</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guessed owner is worse than a visible gap.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tool cannot read names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reads names in your notes perfectly well. The marker is for cases where your notes genuinely do not say who agreed to do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guessed owner is worse than a visible gap.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shows you were paying attention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not about appearances. It is about closing four real gaps in one message while people are still at their desks.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guessed owner is worse than a visible gap.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Before recording a meeting, what first?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Check the audio quality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 everyone, and check the tool is approved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your manager afterwards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Nothing — internal meetings are fine to record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Check the audio quality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Practical and beside the point. The question that has to be settled first is whether you may record these people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Tell everyone, and use an approved tool.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Tell everyone, and check the tool is approved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recording is personal data about every person in the room. Consent, an approved tool and a known storage location all have to be settled before you press the button.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Tell everyone, and use an approved tool.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Ask your manager afterwards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Afterwards is far too late. The recording already exists and the people in it were never given the chance to object.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Tell everyone, and use an approved tool.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Nothing — internal meetings are fine to record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Internal does not remove the consent question. Colleagues have the same rights over their own voice and words as anyone else.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Tell everyone, and use an approved tool.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should notes go out?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Within a week is fine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same day, while people can still answer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after your manager reviews them</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At the start of the next meeting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Within a week is fine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By then everybody has half-remembered a different version and some have acted on it. Your notes now contradict work already done.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same day, before people leave.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same day, while people can still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Two things matter: the meeting is fresh, and the people who can close your [OWNER?] gaps are still at their desks. Both stop being true overnight.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same day, before people leave.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Only after your manager reviews them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Sensible for board minutes, unnecessary for a weekly review, and it usually means they go out three days late or not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same day, before people leave.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At the start of the next meeting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 week of nothing happening, followed by a discussion about why nothing happened.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same day, before people leave.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do you chase without friction?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Copy in their manager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State the dates, stay neutral, ask for a new date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Apologise for chasing</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Wait — they will get to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Copy in their manager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escalates a three-day slip into a formal problem. Keep it between you first, and it usually resolves the same day.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Neutral, factual, and ask for a new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State the dates, stay neutral, ask for a new date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Facts remove the accusation, and asking for a new date gives them something easy to reply to. Most overdue actions are forgotten, not refused.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Neutral, factual, and ask for a new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Apologise for chasing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have nothing to apologise for, and it makes the message read as optional. "No apology from me" is a genuinely useful instruction 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Neutral, factual, and ask for a new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Wait — they will get to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Sometimes true, and the cost of being wrong is another week. A fifty-word neutral message costs almost nothing.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Neutral, factual, and ask for a new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Meeting notes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Record decisions, not discussion</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Nobody ever goes back to read who said what.</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name, one date</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team will" is not an action. It is a gap with a sentence around it.</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Mark the gaps, do not guess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[OWNER?] and [DATE?] get closed in one message the same afternoon.</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Send it the same day</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Overnight, people half-remember a different meeting and act on it.</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Recording needs consent</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transcript is personal data about everyone in the room.</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Chase neutrally</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State the dates, ask for a new one, and skip the apology.</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Every action needs one name and one date, or it is not an action.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400838"/>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19478"/>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863910" y="2480720"/>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930478" y="2499359"/>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863910" y="2560602"/>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930478" y="2579241"/>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4"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three-section prompt</a:t>
            </a:r>
          </a:p>
        </p:txBody>
      </p:sp>
      <p:sp>
        <p:nvSpPr>
          <p:cNvPr id="25"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Decisions, actions with owners, open items.</a:t>
            </a:r>
          </a:p>
        </p:txBody>
      </p:sp>
      <p:sp>
        <p:nvSpPr>
          <p:cNvPr id="26"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927816" y="3287070"/>
            <a:ext cx="101183" cy="10118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871898" y="3428195"/>
            <a:ext cx="213019" cy="93195"/>
          </a:xfrm>
          <a:custGeom>
            <a:avLst/>
            <a:gdLst/>
            <a:ahLst/>
            <a:cxnLst/>
            <a:rect l="l" t="t" r="r" b="b"/>
            <a:pathLst>
              <a:path w="213019" h="93195">
                <a:moveTo>
                  <a:pt x="0" y="93195"/>
                </a:moveTo>
                <a:lnTo>
                  <a:pt x="15977" y="0"/>
                </a:lnTo>
                <a:lnTo>
                  <a:pt x="197042" y="0"/>
                </a:lnTo>
                <a:lnTo>
                  <a:pt x="213019" y="93195"/>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gap-closing message</a:t>
            </a:r>
          </a:p>
        </p:txBody>
      </p:sp>
      <p:sp>
        <p:nvSpPr>
          <p:cNvPr id="31"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[OWNER?] and [DATE?] as one short question set.</a:t>
            </a:r>
          </a:p>
        </p:txBody>
      </p:sp>
      <p:sp>
        <p:nvSpPr>
          <p:cNvPr id="32"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861247" y="4186615"/>
            <a:ext cx="234320" cy="234320"/>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flipV="1">
            <a:off x="978408" y="4234544"/>
            <a:ext cx="0" cy="6923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978408" y="4303775"/>
            <a:ext cx="58580" cy="21302"/>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neutral chaser</a:t>
            </a:r>
          </a:p>
        </p:txBody>
      </p:sp>
      <p:sp>
        <p:nvSpPr>
          <p:cNvPr id="38"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Dates stated, no apology, new date requested.</a:t>
            </a:r>
          </a:p>
        </p:txBody>
      </p:sp>
      <p:sp>
        <p:nvSpPr>
          <p:cNvPr id="39"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40"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3"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4"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5"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8"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9"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50"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3"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4"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5"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6"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7"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DW-09, Brainstorming with AI. Getting twenty ideas in two minutes, and knowing which three are worth keeping.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DW-08  ·  Meeting Notes &amp; Follow-ups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Action</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Something one named person will do by a stated date. Anything else is a discussion point.</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Owner</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single person accountable. Never a team, never two people.</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Open item</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Something not settled, with a named person bringing it back.</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Transcript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written record of everything said. Personal data about everyone present.</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Personal data</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Anything identifying a person, including their recorded voice and words.</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rough notes and the structure you want back.</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